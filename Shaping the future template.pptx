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5"/>
  </p:notesMasterIdLst>
  <p:handoutMasterIdLst>
    <p:handoutMasterId r:id="rId16"/>
  </p:handoutMasterIdLst>
  <p:sldIdLst>
    <p:sldId id="1519" r:id="rId5"/>
    <p:sldId id="1539" r:id="rId6"/>
    <p:sldId id="1530" r:id="rId7"/>
    <p:sldId id="1523" r:id="rId8"/>
    <p:sldId id="1538" r:id="rId9"/>
    <p:sldId id="1536" r:id="rId10"/>
    <p:sldId id="1540" r:id="rId11"/>
    <p:sldId id="1532" r:id="rId12"/>
    <p:sldId id="1535" r:id="rId13"/>
    <p:sldId id="153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702"/>
  </p:normalViewPr>
  <p:slideViewPr>
    <p:cSldViewPr snapToGrid="0">
      <p:cViewPr varScale="1">
        <p:scale>
          <a:sx n="79" d="100"/>
          <a:sy n="79" d="100"/>
        </p:scale>
        <p:origin x="1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Shaping the future </a:t>
            </a:r>
            <a:br>
              <a:rPr lang="en-US" dirty="0"/>
            </a:br>
            <a:r>
              <a:rPr lang="en-US" dirty="0"/>
              <a:t>of our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Rene Magi</a:t>
            </a:r>
          </a:p>
        </p:txBody>
      </p:sp>
      <p:pic>
        <p:nvPicPr>
          <p:cNvPr id="13" name="Picture Placeholder 6" descr="A field of grass and a blue sky">
            <a:extLst>
              <a:ext uri="{FF2B5EF4-FFF2-40B4-BE49-F238E27FC236}">
                <a16:creationId xmlns:a16="http://schemas.microsoft.com/office/drawing/2014/main" id="{F9DB484A-0F6D-AA40-DDC0-A88846E223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8716B-A604-F5E9-7C40-88916FA13E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4/29/20XX</a:t>
            </a:r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FE40C1-5CCB-20D7-1C24-4FFE916D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630AB-9822-6C40-1BBA-9BB97DFC475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4E26F-A06C-57D1-E195-30A94EFC62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09C41-614B-C031-6C74-39405795C9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BB0CD-0B68-1056-857B-9CB9460BFF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/>
          <a:lstStyle/>
          <a:p>
            <a:r>
              <a:rPr lang="en-US" dirty="0"/>
              <a:t>I’m Rene Magi, COO of Proseware, Inc.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Leader in AI-driven business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Passionate about scaling startups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15+ years in tech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Speaker at Global Tech Summit</a:t>
            </a:r>
          </a:p>
        </p:txBody>
      </p:sp>
      <p:pic>
        <p:nvPicPr>
          <p:cNvPr id="9" name="Picture Placeholder 8" descr="A close up of a plant">
            <a:extLst>
              <a:ext uri="{FF2B5EF4-FFF2-40B4-BE49-F238E27FC236}">
                <a16:creationId xmlns:a16="http://schemas.microsoft.com/office/drawing/2014/main" id="{BC0F1B81-EB42-26A4-CA8C-DCB5277234C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" r="101"/>
          <a:stretch/>
        </p:blipFill>
        <p:spPr>
          <a:xfrm>
            <a:off x="-1" y="4509435"/>
            <a:ext cx="12192000" cy="2348564"/>
          </a:xfrm>
        </p:spPr>
      </p:pic>
    </p:spTree>
    <p:extLst>
      <p:ext uri="{BB962C8B-B14F-4D97-AF65-F5344CB8AC3E}">
        <p14:creationId xmlns:p14="http://schemas.microsoft.com/office/powerpoint/2010/main" val="164061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88FD18-8D56-7519-9AC7-9E4F0572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/>
          <a:lstStyle/>
          <a:p>
            <a:r>
              <a:rPr lang="en-US" dirty="0"/>
              <a:t>of businesses say digital transformation is essential </a:t>
            </a:r>
            <a:br>
              <a:rPr lang="en-US" dirty="0"/>
            </a:br>
            <a:r>
              <a:rPr lang="en-US" dirty="0"/>
              <a:t>to their survival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79F6F-AF45-30D5-224D-DC00671F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0069D8-676C-26B7-F36C-5E375638F8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1106243"/>
            <a:ext cx="5289168" cy="4206240"/>
          </a:xfrm>
        </p:spPr>
        <p:txBody>
          <a:bodyPr/>
          <a:lstStyle/>
          <a:p>
            <a:r>
              <a:rPr lang="en-US" dirty="0"/>
              <a:t>85%</a:t>
            </a:r>
          </a:p>
        </p:txBody>
      </p:sp>
    </p:spTree>
    <p:extLst>
      <p:ext uri="{BB962C8B-B14F-4D97-AF65-F5344CB8AC3E}">
        <p14:creationId xmlns:p14="http://schemas.microsoft.com/office/powerpoint/2010/main" val="307556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F6C45D1-AA06-893C-3F9A-0618FD14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F885-DE4F-AC20-D627-AEF5DAC5E92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1F84BEA7-95DA-A14C-BB92-A0ACB886C621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BBFB6-01CF-85ED-B9C4-0E7EB0F0BF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AF806-23B3-78F5-EBFC-26C29DF059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649A-0C9C-A44A-55A5-C6D665686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1188720"/>
            <a:ext cx="8266176" cy="5605272"/>
          </a:xfrm>
        </p:spPr>
        <p:txBody>
          <a:bodyPr/>
          <a:lstStyle/>
          <a:p>
            <a:r>
              <a:rPr lang="en-US" dirty="0"/>
              <a:t>Innovation is the foundation of success.</a:t>
            </a:r>
          </a:p>
        </p:txBody>
      </p:sp>
    </p:spTree>
    <p:extLst>
      <p:ext uri="{BB962C8B-B14F-4D97-AF65-F5344CB8AC3E}">
        <p14:creationId xmlns:p14="http://schemas.microsoft.com/office/powerpoint/2010/main" val="38177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DD1CA39-2462-65AC-9478-EA9B600A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/>
          <a:lstStyle/>
          <a:p>
            <a:r>
              <a:rPr lang="en-US" dirty="0"/>
              <a:t>Thriving in uncertainty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72D36-34E4-3C95-E20D-11ECB31358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/>
          <a:p>
            <a:r>
              <a:rPr lang="en-US" b="1" dirty="0"/>
              <a:t>Adapting to change</a:t>
            </a:r>
          </a:p>
          <a:p>
            <a:r>
              <a:rPr lang="en-US" dirty="0"/>
              <a:t>Businesses that embrace agility respond more quickly and effectively to market shifts, customer demands, and unforeseen challenges.</a:t>
            </a:r>
          </a:p>
          <a:p>
            <a:r>
              <a:rPr lang="en-US" b="1" dirty="0"/>
              <a:t>Real-world impact</a:t>
            </a:r>
          </a:p>
          <a:p>
            <a:r>
              <a:rPr lang="en-US" dirty="0"/>
              <a:t>Industry leaders who stay ahead of disruption are those who proactively embrace change and continuously innovate.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CCA7D-E1DD-F463-FAA1-CE8CEC8A17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DCD5-A6AA-1DC6-680C-C9342BF71D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Placeholder 11" descr="A person in a blanket on a horse">
            <a:extLst>
              <a:ext uri="{FF2B5EF4-FFF2-40B4-BE49-F238E27FC236}">
                <a16:creationId xmlns:a16="http://schemas.microsoft.com/office/drawing/2014/main" id="{1F8A4773-B380-738B-100D-9FCA71091C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" r="607"/>
          <a:stretch/>
        </p:blipFill>
        <p:spPr>
          <a:xfrm>
            <a:off x="7805393" y="843539"/>
            <a:ext cx="4120983" cy="5761544"/>
          </a:xfrm>
        </p:spPr>
      </p:pic>
    </p:spTree>
    <p:extLst>
      <p:ext uri="{BB962C8B-B14F-4D97-AF65-F5344CB8AC3E}">
        <p14:creationId xmlns:p14="http://schemas.microsoft.com/office/powerpoint/2010/main" val="132067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F13861-4C6F-03D6-BD41-379221B59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/>
          <a:lstStyle/>
          <a:p>
            <a:r>
              <a:rPr lang="en-US" dirty="0"/>
              <a:t>Where do we go from here?</a:t>
            </a:r>
          </a:p>
        </p:txBody>
      </p:sp>
      <p:pic>
        <p:nvPicPr>
          <p:cNvPr id="11" name="Picture Placeholder 10" descr="A person riding a horse">
            <a:extLst>
              <a:ext uri="{FF2B5EF4-FFF2-40B4-BE49-F238E27FC236}">
                <a16:creationId xmlns:a16="http://schemas.microsoft.com/office/drawing/2014/main" id="{B0C09140-67D4-AC19-60B7-AFF86DC91C6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0" y="0"/>
            <a:ext cx="5895374" cy="6858000"/>
          </a:xfrm>
        </p:spPr>
      </p:pic>
    </p:spTree>
    <p:extLst>
      <p:ext uri="{BB962C8B-B14F-4D97-AF65-F5344CB8AC3E}">
        <p14:creationId xmlns:p14="http://schemas.microsoft.com/office/powerpoint/2010/main" val="286239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28F342-60C8-BBF7-7069-0315C4F6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957755" cy="4940661"/>
          </a:xfrm>
        </p:spPr>
        <p:txBody>
          <a:bodyPr/>
          <a:lstStyle/>
          <a:p>
            <a:r>
              <a:rPr lang="en-US" dirty="0"/>
              <a:t>Industry case studies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C902-4CA8-2945-890E-C918CD2E58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9426-0FE7-8BB2-EF7A-3D0DC9B5A4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12664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FB6D-7E77-138D-E1CA-4554F4F807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5B131F8D-47E4-B7D2-52C8-1394CCC54E0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95655346"/>
              </p:ext>
            </p:extLst>
          </p:nvPr>
        </p:nvGraphicFramePr>
        <p:xfrm>
          <a:off x="5394960" y="1005840"/>
          <a:ext cx="6558606" cy="5627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202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2186202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2186202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140696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Company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Challenge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Outcome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14069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Adatum Corporation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Digital transformation resistance	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Increased efficiency by 40%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14069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Contoso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Market competition &amp; innovation gaps	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Launched a new product line, 2x revenue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14069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Relecloud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Workforce adaptation to new technologies	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Reduced costs by 25%, improved retention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48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US" dirty="0"/>
              <a:t>Albert Einstein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“Strive not to </a:t>
            </a:r>
            <a:br>
              <a:rPr lang="en-US" dirty="0"/>
            </a:br>
            <a:r>
              <a:rPr lang="en-US" dirty="0"/>
              <a:t>be a success, </a:t>
            </a:r>
            <a:br>
              <a:rPr lang="en-US" dirty="0"/>
            </a:br>
            <a:r>
              <a:rPr lang="en-US" dirty="0"/>
              <a:t>but rather to be </a:t>
            </a:r>
            <a:br>
              <a:rPr lang="en-US" dirty="0"/>
            </a:br>
            <a:r>
              <a:rPr lang="en-US" dirty="0"/>
              <a:t>of value.”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89F893-5ED9-E887-BCC6-D0E6A7C7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/>
          <a:lstStyle/>
          <a:p>
            <a:r>
              <a:rPr lang="en-US" dirty="0"/>
              <a:t>Embrace change. Lead the future.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E63F-0148-B043-8F7A-E617BF92D8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/>
          <a:lstStyle/>
          <a:p>
            <a:r>
              <a:rPr lang="en-US" dirty="0"/>
              <a:t>The world is shifting and those who adapt and innovate will be the ones to lead the way. </a:t>
            </a:r>
          </a:p>
        </p:txBody>
      </p:sp>
      <p:pic>
        <p:nvPicPr>
          <p:cNvPr id="6" name="Picture Placeholder 5" descr="A cactus in a desert with Superstition Mountains in the background">
            <a:extLst>
              <a:ext uri="{FF2B5EF4-FFF2-40B4-BE49-F238E27FC236}">
                <a16:creationId xmlns:a16="http://schemas.microsoft.com/office/drawing/2014/main" id="{4714A920-A0E2-FD4C-E5D9-A6A3DF11D9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/>
          <a:stretch/>
        </p:blipFill>
        <p:spPr>
          <a:xfrm>
            <a:off x="6296626" y="0"/>
            <a:ext cx="5895374" cy="6858000"/>
          </a:xfrm>
        </p:spPr>
      </p:pic>
    </p:spTree>
    <p:extLst>
      <p:ext uri="{BB962C8B-B14F-4D97-AF65-F5344CB8AC3E}">
        <p14:creationId xmlns:p14="http://schemas.microsoft.com/office/powerpoint/2010/main" val="180170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CA3FF9-45ED-FB61-F93E-5C065B7F7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5B102-6E3A-D2D2-F1D2-59FCF5314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/>
          <a:lstStyle/>
          <a:p>
            <a:r>
              <a:rPr lang="en-US" dirty="0"/>
              <a:t>Panel discussion session</a:t>
            </a:r>
          </a:p>
        </p:txBody>
      </p:sp>
      <p:pic>
        <p:nvPicPr>
          <p:cNvPr id="10" name="Picture Placeholder 9" descr="A field of grass and a blue sky">
            <a:extLst>
              <a:ext uri="{FF2B5EF4-FFF2-40B4-BE49-F238E27FC236}">
                <a16:creationId xmlns:a16="http://schemas.microsoft.com/office/drawing/2014/main" id="{EB060EBB-A7D3-C46C-BB96-74F0EA27476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0" y="0"/>
            <a:ext cx="12191999" cy="5425440"/>
          </a:xfrm>
        </p:spPr>
      </p:pic>
    </p:spTree>
    <p:extLst>
      <p:ext uri="{BB962C8B-B14F-4D97-AF65-F5344CB8AC3E}">
        <p14:creationId xmlns:p14="http://schemas.microsoft.com/office/powerpoint/2010/main" val="3539365837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{8B157BB9-85D6-40DC-973F-ACEA2F447286}a66659d7-4ae5-4a84-bda5-01ae08d386fc-TF10983434-e67f-4eff-8398-e28d8d6c35c5ce98279b_win32</Template>
  <TotalTime>0</TotalTime>
  <Words>260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Southwestern</vt:lpstr>
      <vt:lpstr>Shaping the future  of our industry</vt:lpstr>
      <vt:lpstr>Welcome</vt:lpstr>
      <vt:lpstr>of businesses say digital transformation is essential  to their survival</vt:lpstr>
      <vt:lpstr>Quote</vt:lpstr>
      <vt:lpstr>Thriving in uncertainty</vt:lpstr>
      <vt:lpstr>Where do we go from here?</vt:lpstr>
      <vt:lpstr>Industry case studies</vt:lpstr>
      <vt:lpstr>Albert Einstein</vt:lpstr>
      <vt:lpstr>Embrace change. Lead the future.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1</cp:revision>
  <dcterms:created xsi:type="dcterms:W3CDTF">2026-10-17T12:54:14Z</dcterms:created>
  <dcterms:modified xsi:type="dcterms:W3CDTF">2026-10-17T12:54:35Z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