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percentStacked"/>
        <c:ser>
          <c:idx val="0"/>
          <c:order val="0"/>
          <c:tx>
            <c:strRef>
              <c:f>Sheet1!$B$1</c:f>
              <c:strCache>
                <c:ptCount val="1"/>
                <c:pt idx="0">
                  <c:v>Light (≤ 8 tm)</c:v>
                </c:pt>
              </c:strCache>
            </c:strRef>
          </c:tx>
          <c:spPr>
            <a:solidFill>
              <a:srgbClr val="D9D9D9"/>
            </a:solidFill>
            <a:ln>
              <a:solidFill>
                <a:srgbClr val="FFFFFF"/>
              </a:solidFill>
            </a:ln>
          </c:spPr>
          <c:dLbls>
            <c:numFmt formatCode="0%" sourceLinked="0"/>
            <c:txPr>
              <a:bodyPr/>
              <a:lstStyle/>
              <a:p>
                <a:pPr>
                  <a:defRPr sz="1300" b="1">
                    <a:solidFill>
                      <a:srgbClr val="000000"/>
                    </a:solidFill>
                    <a:latin typeface="Neue Haas Grotesk Text Pro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Units</c:v>
                </c:pt>
                <c:pt idx="1">
                  <c:v>Value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0.2774294670846395</c:v>
                </c:pt>
                <c:pt idx="1">
                  <c:v>0.12274469849253919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Small (8–25 tm)</c:v>
                </c:pt>
              </c:strCache>
            </c:strRef>
          </c:tx>
          <c:spPr>
            <a:solidFill>
              <a:srgbClr val="BFBFBF"/>
            </a:solidFill>
            <a:ln>
              <a:solidFill>
                <a:srgbClr val="FFFFFF"/>
              </a:solidFill>
            </a:ln>
          </c:spPr>
          <c:dLbls>
            <c:numFmt formatCode="0%" sourceLinked="0"/>
            <c:txPr>
              <a:bodyPr/>
              <a:lstStyle/>
              <a:p>
                <a:pPr>
                  <a:defRPr sz="1300" b="1">
                    <a:solidFill>
                      <a:srgbClr val="000000"/>
                    </a:solidFill>
                    <a:latin typeface="Neue Haas Grotesk Text Pro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Units</c:v>
                </c:pt>
                <c:pt idx="1">
                  <c:v>Value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0.31347962382445144</c:v>
                </c:pt>
                <c:pt idx="1">
                  <c:v>0.23632591994272445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Medium (25–45 tm)</c:v>
                </c:pt>
              </c:strCache>
            </c:strRef>
          </c:tx>
          <c:spPr>
            <a:solidFill>
              <a:srgbClr val="595959"/>
            </a:solidFill>
            <a:ln>
              <a:solidFill>
                <a:srgbClr val="FFFFFF"/>
              </a:solidFill>
            </a:ln>
          </c:spPr>
          <c:dLbls>
            <c:numFmt formatCode="0%" sourceLinked="0"/>
            <c:txPr>
              <a:bodyPr/>
              <a:lstStyle/>
              <a:p>
                <a:pPr>
                  <a:defRPr sz="1300" b="1">
                    <a:solidFill>
                      <a:srgbClr val="FFFFFF"/>
                    </a:solidFill>
                    <a:latin typeface="Neue Haas Grotesk Text Pro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Units</c:v>
                </c:pt>
                <c:pt idx="1">
                  <c:v>Value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0.3072100313479624</c:v>
                </c:pt>
                <c:pt idx="1">
                  <c:v>0.362035362760486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Heavy (&gt; 45 tm)</c:v>
                </c:pt>
              </c:strCache>
            </c:strRef>
          </c:tx>
          <c:spPr>
            <a:solidFill>
              <a:srgbClr val="000000"/>
            </a:solidFill>
            <a:ln>
              <a:solidFill>
                <a:srgbClr val="FFFFFF"/>
              </a:solidFill>
            </a:ln>
          </c:spPr>
          <c:dLbls>
            <c:numFmt formatCode="0%" sourceLinked="0"/>
            <c:txPr>
              <a:bodyPr/>
              <a:lstStyle/>
              <a:p>
                <a:pPr>
                  <a:defRPr sz="1300" b="1">
                    <a:solidFill>
                      <a:srgbClr val="FFFFFF"/>
                    </a:solidFill>
                    <a:latin typeface="Neue Haas Grotesk Text Pro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Units</c:v>
                </c:pt>
                <c:pt idx="1">
                  <c:v>Value</c:v>
                </c:pt>
              </c:strCache>
            </c: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0.10188087774294671</c:v>
                </c:pt>
                <c:pt idx="1">
                  <c:v>0.2788940188042504</c:v>
                </c:pt>
              </c:numCache>
            </c:numRef>
          </c:val>
        </c:ser>
        <c:gapWidth val="60"/>
        <c:overlap val="100"/>
        <c:serLines>
          <c:spPr>
            <a:ln w="9525">
              <a:solidFill>
                <a:srgbClr val="7F7F7F"/>
              </a:solidFill>
            </a:ln>
          </c:spPr>
        </c:serLine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400" b="1">
                <a:latin typeface="Neue Haas Grotesk Text Pro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/>
      <c:overlay val="0"/>
      <c:txPr>
        <a:bodyPr/>
        <a:lstStyle/>
        <a:p>
          <a:pPr>
            <a:defRPr sz="1200">
              <a:latin typeface="Neue Haas Grotesk Text Pro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2900" y="381000"/>
            <a:ext cx="114300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Neue Haas Grotesk Text Pro"/>
              </a:rPr>
              <a:t>Heavy cranes are 10% of units but 28% of value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2900" y="952500"/>
            <a:ext cx="11430000" cy="247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6B6B"/>
                </a:solidFill>
                <a:latin typeface="Neue Haas Grotesk Text Pro"/>
              </a:rPr>
              <a:t>Indonesia knuckle boom crane imports by class, Jan 2023 – 14 Aug 2026 (100% = 638 units; Rp 326,8 B)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342900" y="1333500"/>
          <a:ext cx="7239000" cy="5143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096250" y="1619250"/>
            <a:ext cx="36195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  <a:latin typeface="Neue Haas Grotesk Text Pro"/>
              </a:rPr>
              <a:t>Key takeaways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96250" y="2047875"/>
            <a:ext cx="3619500" cy="53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Neue Haas Grotesk Text Pro"/>
              </a:rPr>
              <a:t>10% → 28%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96250" y="2619375"/>
            <a:ext cx="36195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  <a:latin typeface="Neue Haas Grotesk Text Pro"/>
              </a:rPr>
              <a:t>Heavy: 65 of 638 units, but Rp 91,2 B of Rp 326,8 B value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6250" y="3476625"/>
            <a:ext cx="3619500" cy="53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Neue Haas Grotesk Text Pro"/>
              </a:rPr>
              <a:t>41% → 64%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6250" y="4048125"/>
            <a:ext cx="36195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  <a:latin typeface="Neue Haas Grotesk Text Pro"/>
              </a:rPr>
              <a:t>Medium + Heavy: 261 units, Rp 209,5 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6250" y="4905375"/>
            <a:ext cx="3619500" cy="53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Neue Haas Grotesk Text Pro"/>
              </a:rPr>
              <a:t>6,2x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6250" y="5476875"/>
            <a:ext cx="36195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  <a:latin typeface="Neue Haas Grotesk Text Pro"/>
              </a:rPr>
              <a:t>Heavy value per unit vs Light (Rp 1,40 B vs Rp 0,23 B)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" y="6572250"/>
            <a:ext cx="11430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Neue Haas Grotesk Text Pro"/>
              </a:rPr>
              <a:t>Source: Indonesia import records HS 84269100 + 84264900; value = import value (IDR).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