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4.9</c:v>
                </c:pt>
                <c:pt idx="2">
                  <c:v>7.2</c:v>
                </c:pt>
                <c:pt idx="3">
                  <c:v>13.2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</c:v>
                </c:pt>
                <c:pt idx="1">
                  <c:v>11.1</c:v>
                </c:pt>
                <c:pt idx="2">
                  <c:v>29.7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47800"/>
            <a:ext cx="400050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47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4C · BUSINESS LANDSCAPE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714500"/>
            <a:ext cx="4000500" cy="12858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9600" y="1762125"/>
            <a:ext cx="3848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CHANGE (PESTLE · MARKET)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905000"/>
            <a:ext cx="3848100" cy="1076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truck cranes, so Triatra has no crane brand.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Medium + Heavy = 41% of units but 64% of value (2023 – Aug 2026). Value per unit ≈ 2.6× Light + Small (Rp 803 jt vs Rp 311 jt).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Heavy units rose 12 → 17 → 35 (2023 – 2025); 2026 slower (2 Heavy units to Aug).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3105150"/>
            <a:ext cx="4000500" cy="10191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9600" y="3152775"/>
            <a:ext cx="3848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COMPETITOR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295650"/>
            <a:ext cx="3848100" cy="809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Two players lead (2025): Sany Palfinger in Medium (47% of value, 30 units), Palfinger in Heavy (62% of value, 22 units).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One model, Palfinger PK 53002, sold 39 of 65 Heavy units (2023 – 2026).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91000"/>
            <a:ext cx="4000500" cy="14573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9600" y="4238625"/>
            <a:ext cx="3848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4381500"/>
            <a:ext cx="3848100" cy="1247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Buyers count price and uptime, not brand. 88% of Medium + Heavy cranes go on trucks GVW ≥ 24 t (mining, construction, heavy logistics).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Medium = price oriented: China brands hold 73% of value. Heavy = quality oriented: European brands hold 85% of value.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Want: lower price than Europe, right capacity, fast site service. Worry: Europe too expensive; China doubted on durability and after-sales.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715000"/>
            <a:ext cx="4000500" cy="733425"/>
          </a:xfrm>
          <a:prstGeom prst="rect">
            <a:avLst/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9600" y="5762625"/>
            <a:ext cx="3848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COMPANY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905500"/>
            <a:ext cx="3848100" cy="523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must partner F.lli Ferrari and XCMG to serve price-oriented (XCMG) and quality-oriented (Ferrari) customers.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62475" y="4095750"/>
            <a:ext cx="1524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4743450" y="1447800"/>
            <a:ext cx="3143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38700" y="144780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STP · WHO WE FIGHT, WITH WHAT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43450" y="1714500"/>
            <a:ext cx="3143250" cy="10191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19650" y="1762125"/>
            <a:ext cx="2990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9650" y="1905000"/>
            <a:ext cx="2990850" cy="809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Medium (25 – 45 tm, 4 tiers) and Heavy (&gt; 45 tm, 6 tiers), analysed separately.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Each 5-tm tier: units and value 2023 – Aug 2026.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43450" y="2838450"/>
            <a:ext cx="3143250" cy="1152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19650" y="2886075"/>
            <a:ext cx="2990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9650" y="3028950"/>
            <a:ext cx="2990850" cy="942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Top 1 model of each tier: Sany Palfinger in Medium, Palfinger in Heavy.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Top 1 brand has no model in the tier: next-largest brand (Amco Veba 25–30, 45–50; Sany Palfinger 60–65).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43450" y="4057650"/>
            <a:ext cx="3143250" cy="23907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819650" y="4105275"/>
            <a:ext cx="29908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POSITIONING · CHALLENGER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9650" y="4248150"/>
            <a:ext cx="2990850" cy="2181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Ferrari first, if cheaper than the Top 1.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Otherwise XCMG with the closest price and the highest qty.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No challenger yet: suggest a Ferrari model from the price list.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No model at all: "No challenger" (85 – 90 tm).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Result: XCMG at 30–35 and 35–40 tm; Ferrari at 25–30, 40–45 tm and all Heavy tiers.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15275" y="4095750"/>
            <a:ext cx="1524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8096250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91500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4P · PER CHALLENGER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6250" y="1714500"/>
            <a:ext cx="3562350" cy="5905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72450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PRODUCT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2450" y="1905000"/>
            <a:ext cx="34099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Winning features = only features the challenger has and the Top 1 lacks. Never list competitor-only features.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6250" y="2362200"/>
            <a:ext cx="3562350" cy="13144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72450" y="24098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PRICE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2450" y="2552700"/>
            <a:ext cx="3409950" cy="1104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Green = cheaper, yellow = up to +30%, red = over +30% (≈2×).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Red tiers (40–45, 50–55, 70–75 tm): negotiate price with Ferrari.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XCMG: negotiate a special price, also at 35–40 tm (already −9%).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96250" y="3733800"/>
            <a:ext cx="3562350" cy="11715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72450" y="37814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PLACE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2450" y="3924300"/>
            <a:ext cx="3409950" cy="962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Ferrari: sell on availability, mainly Heavy (leaders are built in Europe). Ferrari stocks units at its China factory (~14 weeks) and parts in Malaysia.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XCMG: special-price deal (official distributor: GM Tractors).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96250" y="4962525"/>
            <a:ext cx="3562350" cy="14763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172450" y="5010150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50">
                <a:solidFill>
                  <a:srgbClr val="076932"/>
                </a:solidFill>
                <a:latin typeface="Arial"/>
              </a:rPr>
              <a:t>PROMOTION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72450" y="5153025"/>
            <a:ext cx="340995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Ferrari: crane + flatdeck + installation + 2-year warranty.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XCMG: crane + flatdeck + installation (no warranty).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Both: exhibitions with a Marcom sales kit.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11181C"/>
                </a:solidFill>
                <a:latin typeface="Arial"/>
              </a:rPr>
              <a:t>Fassi stays for Petrosea only (key account).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6438900"/>
            <a:ext cx="11125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Detail per tier: slides 12 – 16 (Medium and Heavy STP + 4P tables) and the Excel 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Medium 2025: 54 units · Rp 28,0 M.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Heavy 2025: 35 units · Rp 48,0 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Both leaders are far ahead of the next brand in value: Sany Palfinger 1.8× XCMG in Medium, Palfinger 2.7× Amco Veba in Heavy.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