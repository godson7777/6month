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1C8CD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49</c:v>
                </c:pt>
                <c:pt idx="2">
                  <c:v>49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889096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</c:v>
                </c:pt>
                <c:pt idx="1">
                  <c:v>51</c:v>
                </c:pt>
                <c:pt idx="2">
                  <c:v>66</c:v>
                </c:pt>
                <c:pt idx="3">
                  <c:v>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22C96A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58</c:v>
                </c:pt>
                <c:pt idx="2">
                  <c:v>54</c:v>
                </c:pt>
                <c:pt idx="3">
                  <c:v>19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76932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35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>
                  <a:solidFill>
                    <a:srgbClr val="4D555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DBDF"/>
            </a:solidFill>
          </a:ln>
        </c:spPr>
        <c:txPr>
          <a:bodyPr/>
          <a:lstStyle/>
          <a:p>
            <a:pPr>
              <a:defRPr sz="900">
                <a:solidFill>
                  <a:srgbClr val="4D55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solidFill>
                <a:srgbClr val="697177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Rp M</c:v>
                </c:pt>
              </c:strCache>
            </c:strRef>
          </c:tx>
          <c:dPt>
            <c:idx val="0"/>
            <c:spPr>
              <a:solidFill>
                <a:srgbClr val="C1C8CD"/>
              </a:solidFill>
            </c:spPr>
          </c:dPt>
          <c:dPt>
            <c:idx val="1"/>
            <c:spPr>
              <a:solidFill>
                <a:srgbClr val="C1C8CD"/>
              </a:solidFill>
            </c:spPr>
          </c:dPt>
          <c:dPt>
            <c:idx val="2"/>
            <c:spPr>
              <a:solidFill>
                <a:srgbClr val="C1C8CD"/>
              </a:solidFill>
            </c:spPr>
          </c:dPt>
          <c:dPt>
            <c:idx val="3"/>
            <c:spPr>
              <a:solidFill>
                <a:srgbClr val="076932"/>
              </a:solidFill>
            </c:spPr>
          </c:dPt>
          <c:cat>
            <c:strRef>
              <c:f>Sheet1!$A$2:$A$5</c:f>
              <c:strCache>
                <c:ptCount val="4"/>
                <c:pt idx="0">
                  <c:v>Amco Veba</c:v>
                </c:pt>
                <c:pt idx="1">
                  <c:v>Palfinger</c:v>
                </c:pt>
                <c:pt idx="2">
                  <c:v>XCMG</c:v>
                </c:pt>
                <c:pt idx="3">
                  <c:v>Sany Palfinger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4.9</c:v>
                </c:pt>
                <c:pt idx="2">
                  <c:v>7.2</c:v>
                </c:pt>
                <c:pt idx="3">
                  <c:v>13.2</c:v>
                </c:pt>
              </c:numCache>
            </c:numRef>
          </c:val>
        </c:ser>
        <c:dLbls>
          <c:numFmt formatCode="&quot;Rp &quot;0.0&quot; M&quot;" sourceLinked="0"/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7DBDF"/>
            </a:solidFill>
          </a:ln>
        </c:spPr>
        <c:txPr>
          <a:bodyPr/>
          <a:lstStyle/>
          <a:p>
            <a:pPr>
              <a:defRPr sz="950">
                <a:solidFill>
                  <a:srgbClr val="11181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Rp M</c:v>
                </c:pt>
              </c:strCache>
            </c:strRef>
          </c:tx>
          <c:dPt>
            <c:idx val="0"/>
            <c:spPr>
              <a:solidFill>
                <a:srgbClr val="C1C8CD"/>
              </a:solidFill>
            </c:spPr>
          </c:dPt>
          <c:dPt>
            <c:idx val="1"/>
            <c:spPr>
              <a:solidFill>
                <a:srgbClr val="C1C8CD"/>
              </a:solidFill>
            </c:spPr>
          </c:dPt>
          <c:dPt>
            <c:idx val="2"/>
            <c:spPr>
              <a:solidFill>
                <a:srgbClr val="076932"/>
              </a:solidFill>
            </c:spPr>
          </c:dPt>
          <c:cat>
            <c:strRef>
              <c:f>Sheet1!$A$2:$A$4</c:f>
              <c:strCache>
                <c:ptCount val="3"/>
                <c:pt idx="0">
                  <c:v>XCMG</c:v>
                </c:pt>
                <c:pt idx="1">
                  <c:v>Amco Veba</c:v>
                </c:pt>
                <c:pt idx="2">
                  <c:v>Palfinger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</c:v>
                </c:pt>
                <c:pt idx="1">
                  <c:v>11.1</c:v>
                </c:pt>
                <c:pt idx="2">
                  <c:v>29.7</c:v>
                </c:pt>
              </c:numCache>
            </c:numRef>
          </c:val>
        </c:ser>
        <c:dLbls>
          <c:numFmt formatCode="&quot;Rp &quot;0.0&quot; M&quot;" sourceLinked="0"/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7DBDF"/>
            </a:solidFill>
          </a:ln>
        </c:spPr>
        <c:txPr>
          <a:bodyPr/>
          <a:lstStyle/>
          <a:p>
            <a:pPr>
              <a:defRPr sz="950">
                <a:solidFill>
                  <a:srgbClr val="11181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181C"/>
              </a:gs>
              <a:gs pos="100000">
                <a:srgbClr val="23343C"/>
              </a:gs>
            </a:gsLst>
            <a:lin scaled="0" ang="18900000"/>
          </a:gra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" name="Picture 2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1000"/>
            <a:ext cx="540131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3812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3E7AE"/>
                </a:solidFill>
                <a:latin typeface="Arial"/>
              </a:rPr>
              <a:t>PART 01 · 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90800"/>
            <a:ext cx="109537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FFFFFF"/>
                </a:solidFill>
                <a:latin typeface="Georgia"/>
              </a:rPr>
              <a:t>Who I am and </a:t>
            </a:r>
            <a:r>
              <a:rPr sz="4000" b="0" i="1">
                <a:solidFill>
                  <a:srgbClr val="83E7AE"/>
                </a:solidFill>
                <a:latin typeface="Georgia"/>
              </a:rPr>
              <a:t>what I bring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 to Triatra.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005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1C8CD"/>
                </a:solidFill>
                <a:latin typeface="Arial"/>
              </a:rPr>
              <a:t>About me  ·  Onboarding  ·  Company  ·  Role  · 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515100"/>
            <a:ext cx="10972800" cy="0"/>
          </a:xfrm>
          <a:prstGeom prst="line">
            <a:avLst/>
          </a:prstGeom>
          <a:ln w="9525">
            <a:solidFill>
              <a:srgbClr val="30393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600" y="659130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7D868C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659130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7D868C"/>
                </a:solidFill>
                <a:latin typeface="Arial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PERSONAL INFORMATION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PERSONAL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A management graduate now running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Small Suppeq and Truck Others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02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524000"/>
            <a:ext cx="2857500" cy="495300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6750" y="1628775"/>
            <a:ext cx="2590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180975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1181C"/>
                </a:solidFill>
                <a:latin typeface="Georgia"/>
              </a:rPr>
              <a:t>Tiberias Krisgaharu Simu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057400"/>
            <a:ext cx="2571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76932"/>
                </a:solidFill>
                <a:latin typeface="Arial"/>
              </a:rPr>
              <a:t>PT Triatra Sinergia Pratama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4384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89096"/>
                </a:solidFill>
                <a:latin typeface="Arial"/>
              </a:rPr>
              <a:t>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581275"/>
            <a:ext cx="2571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1181C"/>
                </a:solidFill>
                <a:latin typeface="Arial"/>
              </a:rPr>
              <a:t>Marketing Strategic 2 Associate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6750" y="2819400"/>
            <a:ext cx="25908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66750" y="29527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89096"/>
                </a:solidFill>
                <a:latin typeface="Arial"/>
              </a:rPr>
              <a:t>DIVISION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095625"/>
            <a:ext cx="2571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1181C"/>
                </a:solidFill>
                <a:latin typeface="Arial"/>
              </a:rPr>
              <a:t>Marketing Unit &amp; Strategic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6750" y="3333750"/>
            <a:ext cx="25908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66750" y="34671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89096"/>
                </a:solidFill>
                <a:latin typeface="Arial"/>
              </a:rPr>
              <a:t>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3609975"/>
            <a:ext cx="2571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1181C"/>
                </a:solidFill>
                <a:latin typeface="Arial"/>
              </a:rPr>
              <a:t>Small Suppeq · Truck Others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6750" y="3848100"/>
            <a:ext cx="25908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66750" y="39814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89096"/>
                </a:solidFill>
                <a:latin typeface="Arial"/>
              </a:rPr>
              <a:t>PLACE, DATE OF BIRTH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4124325"/>
            <a:ext cx="2571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1181C"/>
                </a:solidFill>
                <a:latin typeface="Arial"/>
              </a:rPr>
              <a:t>Kupang, 22 April 2001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6750" y="4362450"/>
            <a:ext cx="25908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66750" y="44958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89096"/>
                </a:solidFill>
                <a:latin typeface="Arial"/>
              </a:rPr>
              <a:t>PHONE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4638675"/>
            <a:ext cx="2571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1181C"/>
                </a:solidFill>
                <a:latin typeface="Arial"/>
              </a:rPr>
              <a:t>0822 7222 2463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6750" y="4876800"/>
            <a:ext cx="25908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29" name="Rounded Rectangle 28"/>
          <p:cNvSpPr/>
          <p:nvPr/>
        </p:nvSpPr>
        <p:spPr>
          <a:xfrm>
            <a:off x="3543300" y="1524000"/>
            <a:ext cx="4762500" cy="914400"/>
          </a:xfrm>
          <a:prstGeom prst="roundRect">
            <a:avLst>
              <a:gd name="adj" fmla="val 10416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676650" y="1628775"/>
            <a:ext cx="449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EDUCATION</a:t>
            </a:r>
          </a:p>
        </p:txBody>
      </p:sp>
      <p:pic>
        <p:nvPicPr>
          <p:cNvPr id="31" name="Picture 30" descr="f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1814497"/>
            <a:ext cx="438150" cy="42865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48150" y="1866900"/>
            <a:ext cx="3905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Universitas Sanata Dharma, Yogyakarta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8150" y="2038350"/>
            <a:ext cx="3905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Bachelor (S1) · Management · Faculty of Economics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43300" y="2552700"/>
            <a:ext cx="4762500" cy="2400300"/>
          </a:xfrm>
          <a:prstGeom prst="roundRect">
            <a:avLst>
              <a:gd name="adj" fmla="val 3968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76650" y="2657475"/>
            <a:ext cx="449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WORK EXPERIENCE</a:t>
            </a:r>
          </a:p>
        </p:txBody>
      </p:sp>
      <p:pic>
        <p:nvPicPr>
          <p:cNvPr id="36" name="Picture 35" descr="f2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700" y="2878264"/>
            <a:ext cx="533400" cy="30137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43400" y="287655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PT Triatra Sinergia Pratama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3038475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Marketing Strategic 2 Associate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34250" y="291465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22C9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34250" y="291465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2026 – now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95700" y="3390900"/>
            <a:ext cx="447675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pic>
        <p:nvPicPr>
          <p:cNvPr id="42" name="Picture 41" descr="f2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3658298"/>
            <a:ext cx="533400" cy="11290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343400" y="356235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Outlier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724275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Team Lead Data Annotator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34250" y="360045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96A"/>
            </a:solidFill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34250" y="360045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Arial"/>
              </a:rPr>
              <a:t>2023 – 2025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95700" y="4076700"/>
            <a:ext cx="447675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pic>
        <p:nvPicPr>
          <p:cNvPr id="48" name="Picture 47" descr="f2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429" y="4210050"/>
            <a:ext cx="317942" cy="381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343400" y="424815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Krishma International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4410075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Marketing Coordinator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34250" y="428625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96A"/>
            </a:solidFill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334250" y="428625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Arial"/>
              </a:rPr>
              <a:t>2021 – 2023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43300" y="5067300"/>
            <a:ext cx="4762500" cy="1409700"/>
          </a:xfrm>
          <a:prstGeom prst="roundRect">
            <a:avLst>
              <a:gd name="adj" fmla="val 6756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676650" y="5172075"/>
            <a:ext cx="4495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ORGANIZATION</a:t>
            </a:r>
          </a:p>
        </p:txBody>
      </p:sp>
      <p:pic>
        <p:nvPicPr>
          <p:cNvPr id="55" name="Picture 54" descr="f2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6428" y="5410200"/>
            <a:ext cx="436694" cy="4381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248150" y="546735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HMJM Universitas Sanata Dharma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48150" y="56388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President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34250" y="550545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96A"/>
            </a:solidFill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334250" y="550545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Arial"/>
              </a:rPr>
              <a:t>2021 – 2022</a:t>
            </a:r>
          </a:p>
        </p:txBody>
      </p:sp>
      <p:pic>
        <p:nvPicPr>
          <p:cNvPr id="60" name="Picture 59" descr="f2_6.png"/>
          <p:cNvPicPr>
            <a:picLocks noChangeAspect="1"/>
          </p:cNvPicPr>
          <p:nvPr/>
        </p:nvPicPr>
        <p:blipFill>
          <a:blip r:embed="rId8"/>
          <a:srcRect l="1538" r="1538"/>
          <a:stretch>
            <a:fillRect/>
          </a:stretch>
        </p:blipFill>
        <p:spPr>
          <a:xfrm>
            <a:off x="8458200" y="1524000"/>
            <a:ext cx="3200400" cy="495300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ONBOARDING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ONBOARDING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Two programs built my base;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AHEMCE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comes next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03 / 18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2950" y="1676400"/>
            <a:ext cx="10706100" cy="0"/>
          </a:xfrm>
          <a:prstGeom prst="line">
            <a:avLst/>
          </a:prstGeom>
          <a:ln w="15875">
            <a:solidFill>
              <a:srgbClr val="D7DBD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666750" y="1619250"/>
            <a:ext cx="114300" cy="114300"/>
          </a:xfrm>
          <a:prstGeom prst="ellipse">
            <a:avLst/>
          </a:prstGeom>
          <a:solidFill>
            <a:srgbClr val="22C96A"/>
          </a:solidFill>
          <a:ln w="19050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400" y="1866900"/>
            <a:ext cx="3556000" cy="4610100"/>
          </a:xfrm>
          <a:prstGeom prst="roundRect">
            <a:avLst>
              <a:gd name="adj" fmla="val 2678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000250"/>
            <a:ext cx="279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1C"/>
                </a:solidFill>
                <a:latin typeface="Georgia"/>
              </a:rPr>
              <a:t>Basic Technical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0750" y="2038350"/>
            <a:ext cx="476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spc="100">
                <a:solidFill>
                  <a:srgbClr val="076932"/>
                </a:solidFill>
                <a:latin typeface="Arial"/>
              </a:rPr>
              <a:t>DONE</a:t>
            </a:r>
          </a:p>
        </p:txBody>
      </p:sp>
      <p:pic>
        <p:nvPicPr>
          <p:cNvPr id="15" name="Picture 14" descr="s3_4.jpg"/>
          <p:cNvPicPr>
            <a:picLocks noChangeAspect="1"/>
          </p:cNvPicPr>
          <p:nvPr/>
        </p:nvPicPr>
        <p:blipFill>
          <a:blip r:embed="rId3"/>
          <a:srcRect l="12963" r="12963"/>
          <a:stretch>
            <a:fillRect/>
          </a:stretch>
        </p:blipFill>
        <p:spPr>
          <a:xfrm>
            <a:off x="685800" y="2324100"/>
            <a:ext cx="1587500" cy="2857500"/>
          </a:xfrm>
          <a:prstGeom prst="roundRect">
            <a:avLst>
              <a:gd name="adj" fmla="val 4000"/>
            </a:avLst>
          </a:prstGeom>
        </p:spPr>
      </p:pic>
      <p:pic>
        <p:nvPicPr>
          <p:cNvPr id="16" name="Picture 15" descr="s3_5.jpg"/>
          <p:cNvPicPr>
            <a:picLocks noChangeAspect="1"/>
          </p:cNvPicPr>
          <p:nvPr/>
        </p:nvPicPr>
        <p:blipFill>
          <a:blip r:embed="rId4"/>
          <a:srcRect l="617" r="617"/>
          <a:stretch>
            <a:fillRect/>
          </a:stretch>
        </p:blipFill>
        <p:spPr>
          <a:xfrm>
            <a:off x="2349500" y="2324100"/>
            <a:ext cx="1587500" cy="2857500"/>
          </a:xfrm>
          <a:prstGeom prst="roundRect">
            <a:avLst>
              <a:gd name="adj" fmla="val 4000"/>
            </a:avLst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53340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89096"/>
                </a:solidFill>
                <a:latin typeface="Arial"/>
              </a:rPr>
              <a:t>WHAT I LEARNED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05450"/>
            <a:ext cx="325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Engine basics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Electrical system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Axle, wheel and suspension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Final drive and undercarriage</a:t>
            </a:r>
          </a:p>
        </p:txBody>
      </p:sp>
      <p:sp>
        <p:nvSpPr>
          <p:cNvPr id="19" name="Oval 18"/>
          <p:cNvSpPr/>
          <p:nvPr/>
        </p:nvSpPr>
        <p:spPr>
          <a:xfrm>
            <a:off x="4451350" y="1619250"/>
            <a:ext cx="114300" cy="114300"/>
          </a:xfrm>
          <a:prstGeom prst="ellipse">
            <a:avLst/>
          </a:prstGeom>
          <a:solidFill>
            <a:srgbClr val="22C96A"/>
          </a:solidFill>
          <a:ln w="19050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8000" y="1866900"/>
            <a:ext cx="3556000" cy="4610100"/>
          </a:xfrm>
          <a:prstGeom prst="roundRect">
            <a:avLst>
              <a:gd name="adj" fmla="val 2678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70400" y="2000250"/>
            <a:ext cx="279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1C"/>
                </a:solidFill>
                <a:latin typeface="Georgia"/>
              </a:rPr>
              <a:t>B-One · Orientation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5350" y="2038350"/>
            <a:ext cx="476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spc="100">
                <a:solidFill>
                  <a:srgbClr val="076932"/>
                </a:solidFill>
                <a:latin typeface="Arial"/>
              </a:rPr>
              <a:t>DONE</a:t>
            </a:r>
          </a:p>
        </p:txBody>
      </p:sp>
      <p:pic>
        <p:nvPicPr>
          <p:cNvPr id="23" name="Picture 22" descr="s3_7.jpg"/>
          <p:cNvPicPr>
            <a:picLocks noChangeAspect="1"/>
          </p:cNvPicPr>
          <p:nvPr/>
        </p:nvPicPr>
        <p:blipFill>
          <a:blip r:embed="rId5"/>
          <a:srcRect l="34371" r="34371"/>
          <a:stretch>
            <a:fillRect/>
          </a:stretch>
        </p:blipFill>
        <p:spPr>
          <a:xfrm>
            <a:off x="4470400" y="2324100"/>
            <a:ext cx="1587500" cy="2857500"/>
          </a:xfrm>
          <a:prstGeom prst="roundRect">
            <a:avLst>
              <a:gd name="adj" fmla="val 4000"/>
            </a:avLst>
          </a:prstGeom>
        </p:spPr>
      </p:pic>
      <p:pic>
        <p:nvPicPr>
          <p:cNvPr id="24" name="Picture 23" descr="s3_6.jpg"/>
          <p:cNvPicPr>
            <a:picLocks noChangeAspect="1"/>
          </p:cNvPicPr>
          <p:nvPr/>
        </p:nvPicPr>
        <p:blipFill>
          <a:blip r:embed="rId6"/>
          <a:srcRect l="34371" r="34371"/>
          <a:stretch>
            <a:fillRect/>
          </a:stretch>
        </p:blipFill>
        <p:spPr>
          <a:xfrm>
            <a:off x="6134100" y="2324100"/>
            <a:ext cx="1587500" cy="2857500"/>
          </a:xfrm>
          <a:prstGeom prst="roundRect">
            <a:avLst>
              <a:gd name="adj" fmla="val 4000"/>
            </a:avLst>
          </a:prstGeom>
        </p:spPr>
      </p:pic>
      <p:sp>
        <p:nvSpPr>
          <p:cNvPr id="25" name="TextBox 24"/>
          <p:cNvSpPr txBox="1"/>
          <p:nvPr/>
        </p:nvSpPr>
        <p:spPr>
          <a:xfrm>
            <a:off x="4470400" y="53340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89096"/>
                </a:solidFill>
                <a:latin typeface="Arial"/>
              </a:rPr>
              <a:t>WHAT I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0400" y="5505450"/>
            <a:ext cx="325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8 Astra competencies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AI at work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Teamwork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Corporate bootcamp</a:t>
            </a:r>
          </a:p>
        </p:txBody>
      </p:sp>
      <p:sp>
        <p:nvSpPr>
          <p:cNvPr id="27" name="Oval 26"/>
          <p:cNvSpPr/>
          <p:nvPr/>
        </p:nvSpPr>
        <p:spPr>
          <a:xfrm>
            <a:off x="8235950" y="16192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02600" y="1866900"/>
            <a:ext cx="3556000" cy="46101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9525">
            <a:solidFill>
              <a:srgbClr val="D7DBDF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55000" y="2000250"/>
            <a:ext cx="279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1181C"/>
                </a:solidFill>
                <a:latin typeface="Georgia"/>
              </a:rPr>
              <a:t>AHEMCE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29950" y="2038350"/>
            <a:ext cx="476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spc="100">
                <a:solidFill>
                  <a:srgbClr val="076932"/>
                </a:solidFill>
                <a:latin typeface="Arial"/>
              </a:rPr>
              <a:t>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5000" y="3143250"/>
            <a:ext cx="3251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4D555C"/>
                </a:solidFill>
                <a:latin typeface="Georgia"/>
              </a:rPr>
              <a:t>Astra Heavy Equipment, Mining, Construction and Energy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5000" y="53340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89096"/>
                </a:solidFill>
                <a:latin typeface="Arial"/>
              </a:rPr>
              <a:t>WHAT I WILL 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5000" y="5505450"/>
            <a:ext cx="325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Heavy equipment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Mining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Contracting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50" b="0" i="0">
                <a:solidFill>
                  <a:srgbClr val="4D555C"/>
                </a:solidFill>
                <a:latin typeface="Arial"/>
              </a:rPr>
              <a:t>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COMPANY PROFILE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Triatra sells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PATRIA and ULTRA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to four industries for the UTPE group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5049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CORPORATE ENTITY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16954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/>
        </p:txBody>
      </p:sp>
      <p:pic>
        <p:nvPicPr>
          <p:cNvPr id="12" name="Picture 11" descr="f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83" y="1771650"/>
            <a:ext cx="93198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66900" y="1790700"/>
            <a:ext cx="3619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Astra International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900" y="1952625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Heavy Equipment, Mining, Construction and Energy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5150" y="21907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533400" y="236220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/>
        </p:txBody>
      </p:sp>
      <p:pic>
        <p:nvPicPr>
          <p:cNvPr id="17" name="Picture 16" descr="f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507060"/>
            <a:ext cx="1047750" cy="2055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66900" y="2457450"/>
            <a:ext cx="3619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United 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900" y="2619375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Construction machinery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5150" y="285750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533400" y="30289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/>
        </p:txBody>
      </p:sp>
      <p:pic>
        <p:nvPicPr>
          <p:cNvPr id="22" name="Picture 21" descr="f5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46" y="3105150"/>
            <a:ext cx="489857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6900" y="3124200"/>
            <a:ext cx="3619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UTPE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6900" y="3286125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Engineering solution and marine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5150" y="35242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1390650" y="3810000"/>
            <a:ext cx="3429000" cy="0"/>
          </a:xfrm>
          <a:prstGeom prst="line">
            <a:avLst/>
          </a:prstGeom>
          <a:ln w="9525">
            <a:solidFill>
              <a:srgbClr val="D7DBDF"/>
            </a:solidFill>
          </a:ln>
        </p:spPr>
      </p:cxnSp>
      <p:sp>
        <p:nvSpPr>
          <p:cNvPr id="27" name="Rounded Rectangle 26"/>
          <p:cNvSpPr/>
          <p:nvPr/>
        </p:nvSpPr>
        <p:spPr>
          <a:xfrm>
            <a:off x="5334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E1F9EC"/>
          </a:solidFill>
          <a:ln w="15875">
            <a:solidFill>
              <a:srgbClr val="22C96A"/>
            </a:solidFill>
          </a:ln>
        </p:spPr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971550" y="3829050"/>
            <a:ext cx="762000" cy="152400"/>
          </a:xfrm>
          <a:prstGeom prst="roundRect">
            <a:avLst>
              <a:gd name="adj" fmla="val 50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1550" y="382905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 spc="100">
                <a:solidFill>
                  <a:srgbClr val="FFFFFF"/>
                </a:solidFill>
                <a:latin typeface="Arial"/>
              </a:rPr>
              <a:t>MY COMPANY</a:t>
            </a:r>
          </a:p>
        </p:txBody>
      </p:sp>
      <p:pic>
        <p:nvPicPr>
          <p:cNvPr id="30" name="Picture 29" descr="f5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75" y="4057650"/>
            <a:ext cx="708949" cy="400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0550" y="4552950"/>
            <a:ext cx="1524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Arial"/>
              </a:rPr>
              <a:t>Distribution and trading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3" name="Picture 32" descr="f5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641" y="4057650"/>
            <a:ext cx="809018" cy="4000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43150" y="4552950"/>
            <a:ext cx="1524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owner and operator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386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6" name="Picture 35" descr="f5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732" y="4057650"/>
            <a:ext cx="734037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095750" y="4552950"/>
            <a:ext cx="1524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building and repair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4953000"/>
            <a:ext cx="5143500" cy="15240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6750" y="5057775"/>
            <a:ext cx="48768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WHAT TRIATRA DOES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50" y="51816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D555C"/>
                </a:solidFill>
                <a:latin typeface="Arial"/>
              </a:rPr>
              <a:t>Distributor of PATRIA and ULTRA products for mining, construction, agriculture, forestry and maritime. Sells units and full after-sales support.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/>
        </p:txBody>
      </p:sp>
      <p:pic>
        <p:nvPicPr>
          <p:cNvPr id="42" name="Picture 41" descr="f5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936119"/>
            <a:ext cx="762000" cy="1864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582930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6000750"/>
            <a:ext cx="1333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Trader of UTPE units, local and export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51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/>
        </p:txBody>
      </p:sp>
      <p:pic>
        <p:nvPicPr>
          <p:cNvPr id="46" name="Picture 45" descr="f5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5916839"/>
            <a:ext cx="762000" cy="22497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38600" y="582930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Parts, components and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8600" y="6000750"/>
            <a:ext cx="1333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Maintenance and remanufacturing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5049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INDUSTRY COVERAGE</a:t>
            </a:r>
          </a:p>
        </p:txBody>
      </p:sp>
      <p:pic>
        <p:nvPicPr>
          <p:cNvPr id="50" name="Picture 49" descr="f5_9.png"/>
          <p:cNvPicPr>
            <a:picLocks noChangeAspect="1"/>
          </p:cNvPicPr>
          <p:nvPr/>
        </p:nvPicPr>
        <p:blipFill>
          <a:blip r:embed="rId11"/>
          <a:srcRect l="15530" r="15530"/>
          <a:stretch>
            <a:fillRect/>
          </a:stretch>
        </p:blipFill>
        <p:spPr>
          <a:xfrm>
            <a:off x="594360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1" name="Rectangle 50"/>
          <p:cNvSpPr/>
          <p:nvPr/>
        </p:nvSpPr>
        <p:spPr>
          <a:xfrm>
            <a:off x="594360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057900" y="3562350"/>
            <a:ext cx="25717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01   Coal and mineral mining</a:t>
            </a:r>
          </a:p>
        </p:txBody>
      </p:sp>
      <p:pic>
        <p:nvPicPr>
          <p:cNvPr id="53" name="Picture 52" descr="f5_10.png"/>
          <p:cNvPicPr>
            <a:picLocks noChangeAspect="1"/>
          </p:cNvPicPr>
          <p:nvPr/>
        </p:nvPicPr>
        <p:blipFill>
          <a:blip r:embed="rId12"/>
          <a:srcRect l="10868" r="10868"/>
          <a:stretch>
            <a:fillRect/>
          </a:stretch>
        </p:blipFill>
        <p:spPr>
          <a:xfrm>
            <a:off x="885825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4" name="Rectangle 53"/>
          <p:cNvSpPr/>
          <p:nvPr/>
        </p:nvSpPr>
        <p:spPr>
          <a:xfrm>
            <a:off x="885825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972550" y="3562350"/>
            <a:ext cx="25717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02   Construction</a:t>
            </a:r>
          </a:p>
        </p:txBody>
      </p:sp>
      <p:pic>
        <p:nvPicPr>
          <p:cNvPr id="56" name="Picture 55" descr="f5_11.png"/>
          <p:cNvPicPr>
            <a:picLocks noChangeAspect="1"/>
          </p:cNvPicPr>
          <p:nvPr/>
        </p:nvPicPr>
        <p:blipFill>
          <a:blip r:embed="rId13"/>
          <a:srcRect l="22914" r="22914"/>
          <a:stretch>
            <a:fillRect/>
          </a:stretch>
        </p:blipFill>
        <p:spPr>
          <a:xfrm>
            <a:off x="594360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7" name="Rectangle 56"/>
          <p:cNvSpPr/>
          <p:nvPr/>
        </p:nvSpPr>
        <p:spPr>
          <a:xfrm>
            <a:off x="594360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057900" y="5981700"/>
            <a:ext cx="25717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03   Forestry and agro-industry</a:t>
            </a:r>
          </a:p>
        </p:txBody>
      </p:sp>
      <p:pic>
        <p:nvPicPr>
          <p:cNvPr id="59" name="Picture 58" descr="f5_12.png"/>
          <p:cNvPicPr>
            <a:picLocks noChangeAspect="1"/>
          </p:cNvPicPr>
          <p:nvPr/>
        </p:nvPicPr>
        <p:blipFill>
          <a:blip r:embed="rId14"/>
          <a:srcRect l="5764" r="5764"/>
          <a:stretch>
            <a:fillRect/>
          </a:stretch>
        </p:blipFill>
        <p:spPr>
          <a:xfrm>
            <a:off x="885825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60" name="Rectangle 59"/>
          <p:cNvSpPr/>
          <p:nvPr/>
        </p:nvSpPr>
        <p:spPr>
          <a:xfrm>
            <a:off x="885825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972550" y="5981700"/>
            <a:ext cx="25717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04   Maritime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01350" y="4229100"/>
            <a:ext cx="742950" cy="171450"/>
          </a:xfrm>
          <a:prstGeom prst="roundRect">
            <a:avLst>
              <a:gd name="adj" fmla="val 50000"/>
            </a:avLst>
          </a:prstGeom>
          <a:solidFill>
            <a:srgbClr val="22C9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801350" y="4229100"/>
            <a:ext cx="7429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NEW ·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SITE OPERATION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SITE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Triatra serves customers from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16 points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across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57300"/>
            <a:ext cx="11125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05 / 18</a:t>
            </a:r>
          </a:p>
        </p:txBody>
      </p:sp>
      <p:pic>
        <p:nvPicPr>
          <p:cNvPr id="11" name="Picture 10" descr="map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1525429"/>
            <a:ext cx="9334500" cy="3407093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807333" y="3931651"/>
            <a:ext cx="171450" cy="171450"/>
          </a:xfrm>
          <a:prstGeom prst="ellipse">
            <a:avLst/>
          </a:prstGeom>
          <a:solidFill>
            <a:srgbClr val="076932"/>
          </a:solidFill>
          <a:ln w="9525">
            <a:solidFill>
              <a:srgbClr val="076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3638379" y="3790938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3096044" y="3385494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617184" y="2526566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5295252" y="3298273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5473541" y="3381065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5465140" y="3062843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5592089" y="2992657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8</a:t>
            </a:r>
          </a:p>
        </p:txBody>
      </p:sp>
      <p:sp>
        <p:nvSpPr>
          <p:cNvPr id="20" name="Oval 19"/>
          <p:cNvSpPr/>
          <p:nvPr/>
        </p:nvSpPr>
        <p:spPr>
          <a:xfrm>
            <a:off x="5355927" y="2820939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9</a:t>
            </a:r>
          </a:p>
        </p:txBody>
      </p:sp>
      <p:sp>
        <p:nvSpPr>
          <p:cNvPr id="21" name="Oval 20"/>
          <p:cNvSpPr/>
          <p:nvPr/>
        </p:nvSpPr>
        <p:spPr>
          <a:xfrm>
            <a:off x="5750776" y="2878519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2" name="Oval 21"/>
          <p:cNvSpPr/>
          <p:nvPr/>
        </p:nvSpPr>
        <p:spPr>
          <a:xfrm>
            <a:off x="5547284" y="2675797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11</a:t>
            </a:r>
          </a:p>
        </p:txBody>
      </p:sp>
      <p:sp>
        <p:nvSpPr>
          <p:cNvPr id="23" name="Oval 22"/>
          <p:cNvSpPr/>
          <p:nvPr/>
        </p:nvSpPr>
        <p:spPr>
          <a:xfrm>
            <a:off x="5588356" y="2518049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12</a:t>
            </a:r>
          </a:p>
        </p:txBody>
      </p:sp>
      <p:sp>
        <p:nvSpPr>
          <p:cNvPr id="24" name="Oval 23"/>
          <p:cNvSpPr/>
          <p:nvPr/>
        </p:nvSpPr>
        <p:spPr>
          <a:xfrm>
            <a:off x="5886126" y="2195738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13</a:t>
            </a:r>
          </a:p>
        </p:txBody>
      </p:sp>
      <p:sp>
        <p:nvSpPr>
          <p:cNvPr id="25" name="Oval 24"/>
          <p:cNvSpPr/>
          <p:nvPr/>
        </p:nvSpPr>
        <p:spPr>
          <a:xfrm>
            <a:off x="5897328" y="2527929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26" name="Oval 25"/>
          <p:cNvSpPr/>
          <p:nvPr/>
        </p:nvSpPr>
        <p:spPr>
          <a:xfrm>
            <a:off x="6439662" y="4452596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1181C"/>
                </a:solidFill>
                <a:latin typeface="Arial"/>
              </a:rPr>
              <a:t>15</a:t>
            </a:r>
          </a:p>
        </p:txBody>
      </p:sp>
      <p:sp>
        <p:nvSpPr>
          <p:cNvPr id="27" name="Oval 26"/>
          <p:cNvSpPr/>
          <p:nvPr/>
        </p:nvSpPr>
        <p:spPr>
          <a:xfrm>
            <a:off x="9832753" y="3579699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28" name="Oval 27"/>
          <p:cNvSpPr/>
          <p:nvPr/>
        </p:nvSpPr>
        <p:spPr>
          <a:xfrm>
            <a:off x="8572500" y="1333500"/>
            <a:ext cx="95250" cy="95250"/>
          </a:xfrm>
          <a:prstGeom prst="ellipse">
            <a:avLst/>
          </a:prstGeom>
          <a:solidFill>
            <a:srgbClr val="076932"/>
          </a:solidFill>
          <a:ln w="9525">
            <a:solidFill>
              <a:srgbClr val="076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850" y="1314450"/>
            <a:ext cx="9144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Head Office</a:t>
            </a:r>
          </a:p>
        </p:txBody>
      </p:sp>
      <p:sp>
        <p:nvSpPr>
          <p:cNvPr id="30" name="Oval 29"/>
          <p:cNvSpPr/>
          <p:nvPr/>
        </p:nvSpPr>
        <p:spPr>
          <a:xfrm>
            <a:off x="9620250" y="1333500"/>
            <a:ext cx="95250" cy="952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3600" y="1314450"/>
            <a:ext cx="9144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Operation</a:t>
            </a:r>
          </a:p>
        </p:txBody>
      </p:sp>
      <p:sp>
        <p:nvSpPr>
          <p:cNvPr id="32" name="Oval 31"/>
          <p:cNvSpPr/>
          <p:nvPr/>
        </p:nvSpPr>
        <p:spPr>
          <a:xfrm>
            <a:off x="10668000" y="1333500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1350" y="1314450"/>
            <a:ext cx="9144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Representative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33400" y="5029200"/>
          <a:ext cx="5486401" cy="1500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5778"/>
                <a:gridCol w="1128889"/>
                <a:gridCol w="745067"/>
                <a:gridCol w="3386667"/>
              </a:tblGrid>
              <a:tr h="166688">
                <a:tc>
                  <a:txBody>
                    <a:bodyPr wrap="square"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Arial"/>
                        </a:rPr>
                        <a:t>#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Arial"/>
                        </a:rPr>
                        <a:t>SITE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Arial"/>
                        </a:rPr>
                        <a:t>TYPE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Arial"/>
                        </a:rPr>
                        <a:t>ADDRESS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1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Head Office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Head office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Raya Bekasi KM 22, Cakung, Jakarta Timur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2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Jakarta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Raya Bekasi KM 22, Cakung, Jakarta Timur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3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Tanjung Enim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Lingga Raya 10, Muara Enim, Sumatera Selatan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Pekanbaru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Soekarno Hatta KM 3,5 No. 151, Riau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5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Banjarmasin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Ahmad Yani KM 13,5 Gambut, Kalimantan Selatan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6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Sungai Danau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Ds. Karang Indah, Angsana, Tanah Bumbu, Kalsel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7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Tanjung Tabalong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A. Yani KM 7,5 Maburai, Tabalong, Kalsel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8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Batu Kajang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Negara KM 140, Batu Sopang, Paser,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72200" y="5029200"/>
          <a:ext cx="5486401" cy="1500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5778"/>
                <a:gridCol w="1128889"/>
                <a:gridCol w="745067"/>
                <a:gridCol w="3386667"/>
              </a:tblGrid>
              <a:tr h="166688">
                <a:tc>
                  <a:txBody>
                    <a:bodyPr wrap="square"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Arial"/>
                        </a:rPr>
                        <a:t>#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Arial"/>
                        </a:rPr>
                        <a:t>SITE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Arial"/>
                        </a:rPr>
                        <a:t>TYPE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Arial"/>
                        </a:rPr>
                        <a:t>ADDRESS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9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Muara Teweh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Ahmad Yani No. 85, Barito Utara, Kalteng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10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Balikpapan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Jend. Sudirman No. 844, Balikpapan,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11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Melak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Hauling Road Trubaindo, Kutai Barat,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12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Tabang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Workshop Buma Km 6, Hauling Road,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13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Tanjung Redeb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Gunung Panjang No. 101B, Berau,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14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Sangatta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HDRS Tango Delta KPC, Kutai Timur,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15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Sumbawa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Memco Area Tongo, Sekongkang, Sumbawa Barat, NTB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66688"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16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Timika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Jl. Kuala Tembaga E-4, Kuala Kencana, Papua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ORGANIZATION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I work in Marketing Strategic 2, under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Ignatius Indrawan 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06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8250" y="1428750"/>
            <a:ext cx="2095500" cy="38100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05400" y="1485900"/>
            <a:ext cx="1981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Ceisar Centiaga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1628775"/>
            <a:ext cx="1981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76932"/>
                </a:solidFill>
                <a:latin typeface="Arial"/>
              </a:rPr>
              <a:t>DIRECTOR IN CHARGE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1809750"/>
            <a:ext cx="0" cy="11430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5048250" y="1924050"/>
            <a:ext cx="2095500" cy="38100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05400" y="1981200"/>
            <a:ext cx="1981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Ricardo Tanada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2124075"/>
            <a:ext cx="1981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76932"/>
                </a:solidFill>
                <a:latin typeface="Arial"/>
              </a:rPr>
              <a:t>MKT UNIT &amp; STRATEGIC DIV HEAD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47800" y="2495550"/>
            <a:ext cx="9296400" cy="0"/>
          </a:xfrm>
          <a:prstGeom prst="line">
            <a:avLst/>
          </a:prstGeom>
          <a:ln w="12700">
            <a:solidFill>
              <a:srgbClr val="D7DBDF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6096000" y="2305050"/>
            <a:ext cx="0" cy="19050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1866900" y="2495550"/>
            <a:ext cx="0" cy="15240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533400" y="2667000"/>
            <a:ext cx="2667000" cy="38100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0550" y="27241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Kresnanto A.W.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8670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76932"/>
                </a:solidFill>
                <a:latin typeface="Arial"/>
              </a:rPr>
              <a:t>MKT STRATEGIC 1 HEAD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" y="31623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0550" y="32194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Satrio F.R.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" y="33623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Big Suppeq, Big Vessel, Bucket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400" y="379095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0550" y="384810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M. Fawwaz J.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399097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Cabin, Forestry, Agro, Forklift, Towerlamp, Pump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86300" y="2495550"/>
            <a:ext cx="0" cy="15240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3276600" y="2590800"/>
            <a:ext cx="2819400" cy="3924300"/>
          </a:xfrm>
          <a:prstGeom prst="roundRect">
            <a:avLst>
              <a:gd name="adj" fmla="val 2702"/>
            </a:avLst>
          </a:prstGeom>
          <a:noFill/>
          <a:ln w="15875">
            <a:solidFill>
              <a:srgbClr val="22C96A"/>
            </a:solidFill>
          </a:ln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352800" y="2667000"/>
            <a:ext cx="2667000" cy="38100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09950" y="27241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Ricardo Tanada (c)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9950" y="28670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76932"/>
                </a:solidFill>
                <a:latin typeface="Arial"/>
              </a:rPr>
              <a:t>MKT STRATEGIC 2 HEAD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2800" y="31623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09950" y="32194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Ignatius Indrawan 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9950" y="33623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76932"/>
                </a:solidFill>
                <a:latin typeface="Arial"/>
              </a:rPr>
              <a:t>DEPUTY HEAD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52800" y="379095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409950" y="384810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Ervin Bahar 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9950" y="399097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Medium Vessel, Man Hauler, Bus Scania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52800" y="44196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E1F9EC"/>
          </a:solidFill>
          <a:ln w="15875">
            <a:solidFill>
              <a:srgbClr val="22C96A"/>
            </a:solidFill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409950" y="44767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Tiberias K.S.  ◄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9950" y="46196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76932"/>
                </a:solidFill>
                <a:latin typeface="Arial"/>
              </a:rPr>
              <a:t>Small Suppeq, Truck Others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52800" y="504825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409950" y="510540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Eurico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09950" y="524827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Mining / Non-mining Trailer, Overseas Zone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52800" y="56769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409950" y="57340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Nandu Narpati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09950" y="58769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05700" y="2495550"/>
            <a:ext cx="0" cy="15240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50" name="Rounded Rectangle 49"/>
          <p:cNvSpPr/>
          <p:nvPr/>
        </p:nvSpPr>
        <p:spPr>
          <a:xfrm>
            <a:off x="6172200" y="2667000"/>
            <a:ext cx="2667000" cy="38100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229350" y="27241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Ugik Praseno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29350" y="28670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76932"/>
                </a:solidFill>
                <a:latin typeface="Arial"/>
              </a:rPr>
              <a:t>MKT STRATEGIC 3 HEAD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72200" y="31623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29350" y="32194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Baihaqi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29350" y="33623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Mineral Processing, EPC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79095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229350" y="384810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Yuda Prana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29350" y="399097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Maritime, Renewable Energy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44196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29350" y="44767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Celine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29350" y="46196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Ultra Product Support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200" y="504825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229350" y="510540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Hanifa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29350" y="524827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Automation, EV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0325100" y="2495550"/>
            <a:ext cx="0" cy="15240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66" name="Rounded Rectangle 65"/>
          <p:cNvSpPr/>
          <p:nvPr/>
        </p:nvSpPr>
        <p:spPr>
          <a:xfrm>
            <a:off x="8991600" y="2667000"/>
            <a:ext cx="2667000" cy="38100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048750" y="27241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Marketing Communication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48750" y="28670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076932"/>
                </a:solidFill>
                <a:latin typeface="Arial"/>
              </a:rPr>
              <a:t>MARCOMM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91600" y="31623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048750" y="32194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Karina Audina 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8750" y="33623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Marcomm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91600" y="379095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048750" y="384810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Adinda Siti K.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48750" y="399097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Marcomm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91600" y="44196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9048750" y="4476750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1181C"/>
                </a:solidFill>
                <a:latin typeface="Arial"/>
              </a:rPr>
              <a:t>Rahma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8750" y="4619625"/>
            <a:ext cx="2552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97177"/>
                </a:solidFill>
                <a:latin typeface="Arial"/>
              </a:rPr>
              <a:t>Graphic Designer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ROLES &amp; RESPONSIBILITY · SUPPLY CHAIN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ROLES &amp; RESPONSIBILITY ·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I take every order from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inquiry to delivery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for two product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57300"/>
            <a:ext cx="11125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Five steps from customer inquiry to factory acceptance test (FAT), for Small Suppeq and Truck Others.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07 / 18</a:t>
            </a:r>
          </a:p>
        </p:txBody>
      </p:sp>
      <p:sp>
        <p:nvSpPr>
          <p:cNvPr id="11" name="Pentagon 10"/>
          <p:cNvSpPr/>
          <p:nvPr/>
        </p:nvSpPr>
        <p:spPr>
          <a:xfrm>
            <a:off x="533400" y="1504950"/>
            <a:ext cx="2308860" cy="381000"/>
          </a:xfrm>
          <a:prstGeom prst="homePlate">
            <a:avLst>
              <a:gd name="adj" fmla="val 28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01  Inquiry &amp; opportunity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675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171700"/>
            <a:ext cx="190881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Business Consultant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Application Engineering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Marketing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675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spec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buying reason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project location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expected price and lead time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urgency and expected PO date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2785110" y="1504950"/>
            <a:ext cx="2308860" cy="381000"/>
          </a:xfrm>
          <a:prstGeom prst="chevron">
            <a:avLst>
              <a:gd name="adj" fmla="val 28000"/>
            </a:avLst>
          </a:prstGeom>
          <a:solidFill>
            <a:srgbClr val="0A7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466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02  Preliminary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511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1846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8460" y="2171700"/>
            <a:ext cx="190881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Business Consultant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Application Engineering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Marketing Unit Triatra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511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1846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846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if repeat order or new preliminary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unit function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main components: find the critical ones for price and lead time</a:t>
            </a:r>
          </a:p>
        </p:txBody>
      </p:sp>
      <p:sp>
        <p:nvSpPr>
          <p:cNvPr id="27" name="Chevron 26"/>
          <p:cNvSpPr/>
          <p:nvPr/>
        </p:nvSpPr>
        <p:spPr>
          <a:xfrm>
            <a:off x="5036820" y="1504950"/>
            <a:ext cx="2308860" cy="381000"/>
          </a:xfrm>
          <a:prstGeom prst="chevron">
            <a:avLst>
              <a:gd name="adj" fmla="val 28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4637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03  Pricing / Quotation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3682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7017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0170" y="2171700"/>
            <a:ext cx="190881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Marketing Unit Triatra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Marketing Unit UTPE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3682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7017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017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Request quote from UTE with preliminary, expected price, expected lead time and customer info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UTE standard GP (signed by marketing associate and manager = standard GP)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actual SLA (repeat, minor, major); escalate to the superior if too long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Fill PCR in CRM</a:t>
            </a:r>
          </a:p>
        </p:txBody>
      </p:sp>
      <p:sp>
        <p:nvSpPr>
          <p:cNvPr id="35" name="Chevron 34"/>
          <p:cNvSpPr/>
          <p:nvPr/>
        </p:nvSpPr>
        <p:spPr>
          <a:xfrm>
            <a:off x="7288530" y="1504950"/>
            <a:ext cx="2308860" cy="381000"/>
          </a:xfrm>
          <a:prstGeom prst="chevron">
            <a:avLst>
              <a:gd name="adj" fmla="val 28000"/>
            </a:avLst>
          </a:prstGeom>
          <a:solidFill>
            <a:srgbClr val="0A7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04  Negotiation &amp; CPO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8853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42188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1880" y="2171700"/>
            <a:ext cx="190881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Business Consultant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Marketing Unit Triatra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Marketing Unit UTPE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8853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2188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188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PO / PJB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PO matches the preliminary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Request PN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Request QFD and painting style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CPO: Sales Manager → Mkt Unit Triatra → Mkt Unit Manager → GM Marketing Triatra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PO interco approval: Mkt Unit Triatra → GM Mkt Unit → Director Mkt Unit Triatra</a:t>
            </a:r>
          </a:p>
        </p:txBody>
      </p:sp>
      <p:sp>
        <p:nvSpPr>
          <p:cNvPr id="43" name="Chevron 42"/>
          <p:cNvSpPr/>
          <p:nvPr/>
        </p:nvSpPr>
        <p:spPr>
          <a:xfrm>
            <a:off x="9540240" y="1504950"/>
            <a:ext cx="2118360" cy="381000"/>
          </a:xfrm>
          <a:prstGeom prst="chevron">
            <a:avLst>
              <a:gd name="adj" fmla="val 28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4979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05  Production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4024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67359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3590" y="2171700"/>
            <a:ext cx="190881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Business Consultant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Marketing Unit Triatra</a:t>
            </a:r>
          </a:p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1181C"/>
                </a:solidFill>
                <a:latin typeface="Arial"/>
              </a:rPr>
              <a:t>Marketing Unit UTPE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4024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67359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359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Make sure production follows the QFD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Weekly production update to BC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Escalate major production problems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Oversee FAT and report issues to Marketing Unit UTPE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" y="48006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UNITS I HANDLE · SMALL SUPPEQ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33400" y="4953000"/>
            <a:ext cx="54864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pic>
        <p:nvPicPr>
          <p:cNvPr id="53" name="Picture 52" descr="ft_fuel_truck.webp.png"/>
          <p:cNvPicPr>
            <a:picLocks noChangeAspect="1"/>
          </p:cNvPicPr>
          <p:nvPr/>
        </p:nvPicPr>
        <p:blipFill>
          <a:blip r:embed="rId3"/>
          <a:srcRect l="14981" r="14981"/>
          <a:stretch>
            <a:fillRect/>
          </a:stretch>
        </p:blipFill>
        <p:spPr>
          <a:xfrm>
            <a:off x="533400" y="5029200"/>
            <a:ext cx="1778000" cy="142875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5334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096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Fuel truck</a:t>
            </a:r>
          </a:p>
        </p:txBody>
      </p:sp>
      <p:pic>
        <p:nvPicPr>
          <p:cNvPr id="56" name="Picture 55" descr="wt_water_truck_clean.png"/>
          <p:cNvPicPr>
            <a:picLocks noChangeAspect="1"/>
          </p:cNvPicPr>
          <p:nvPr/>
        </p:nvPicPr>
        <p:blipFill>
          <a:blip r:embed="rId4"/>
          <a:srcRect l="15000" r="15000"/>
          <a:stretch>
            <a:fillRect/>
          </a:stretch>
        </p:blipFill>
        <p:spPr>
          <a:xfrm>
            <a:off x="2387600" y="5029200"/>
            <a:ext cx="1778000" cy="142875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23876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4638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Water truck</a:t>
            </a:r>
          </a:p>
        </p:txBody>
      </p:sp>
      <p:pic>
        <p:nvPicPr>
          <p:cNvPr id="59" name="Picture 58" descr="lt_lube_truck.webp.png"/>
          <p:cNvPicPr>
            <a:picLocks noChangeAspect="1"/>
          </p:cNvPicPr>
          <p:nvPr/>
        </p:nvPicPr>
        <p:blipFill>
          <a:blip r:embed="rId5"/>
          <a:srcRect l="15000" r="15000"/>
          <a:stretch>
            <a:fillRect/>
          </a:stretch>
        </p:blipFill>
        <p:spPr>
          <a:xfrm>
            <a:off x="4241800" y="5029200"/>
            <a:ext cx="1778000" cy="142875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42418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3180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Lube truck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48006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UNITS I HANDLE · TRUCK OTHERS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172200" y="4953000"/>
            <a:ext cx="54864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pic>
        <p:nvPicPr>
          <p:cNvPr id="64" name="Picture 63" descr="crane_truck_crop.png"/>
          <p:cNvPicPr>
            <a:picLocks noChangeAspect="1"/>
          </p:cNvPicPr>
          <p:nvPr/>
        </p:nvPicPr>
        <p:blipFill>
          <a:blip r:embed="rId6"/>
          <a:srcRect l="5308" r="5308"/>
          <a:stretch>
            <a:fillRect/>
          </a:stretch>
        </p:blipFill>
        <p:spPr>
          <a:xfrm>
            <a:off x="6172200" y="5029200"/>
            <a:ext cx="1778000" cy="142875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61722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2484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Crane truck</a:t>
            </a:r>
          </a:p>
        </p:txBody>
      </p:sp>
      <p:pic>
        <p:nvPicPr>
          <p:cNvPr id="67" name="Picture 66" descr="mixer_truck.webp.png"/>
          <p:cNvPicPr>
            <a:picLocks noChangeAspect="1"/>
          </p:cNvPicPr>
          <p:nvPr/>
        </p:nvPicPr>
        <p:blipFill>
          <a:blip r:embed="rId7"/>
          <a:srcRect l="3212" r="3212"/>
          <a:stretch>
            <a:fillRect/>
          </a:stretch>
        </p:blipFill>
        <p:spPr>
          <a:xfrm>
            <a:off x="8026400" y="5029200"/>
            <a:ext cx="1778000" cy="1428750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80264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1026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Mixer truck</a:t>
            </a:r>
          </a:p>
        </p:txBody>
      </p:sp>
      <p:pic>
        <p:nvPicPr>
          <p:cNvPr id="70" name="Picture 69" descr="st_stemming_truck.webp.png"/>
          <p:cNvPicPr>
            <a:picLocks noChangeAspect="1"/>
          </p:cNvPicPr>
          <p:nvPr/>
        </p:nvPicPr>
        <p:blipFill>
          <a:blip r:embed="rId8"/>
          <a:srcRect l="3212" r="3212"/>
          <a:stretch>
            <a:fillRect/>
          </a:stretch>
        </p:blipFill>
        <p:spPr>
          <a:xfrm>
            <a:off x="9880600" y="5029200"/>
            <a:ext cx="1778000" cy="142875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98806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9568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Stemming truck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STRATEGIC · 4C → STP → 4P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STRATEGIC · 4C → STP → 4P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Partner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F.lli Ferrari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for quality buyers and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XCMG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for price buyers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08 / 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04950"/>
          <a:ext cx="11125200" cy="49101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62000"/>
                <a:gridCol w="1333500"/>
                <a:gridCol w="3143250"/>
                <a:gridCol w="5886450"/>
              </a:tblGrid>
              <a:tr h="24765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Step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Item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Key point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Supporting data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</a:tr>
              <a:tr h="423862">
                <a:tc rowSpan="4">
                  <a:txBody>
                    <a:bodyPr wrap="square"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Arial"/>
                        </a:rPr>
                        <a:t>4C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Change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HYVA has left; value sits in Medium + Heavy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Triatra has no crane brand since HYVA stopped. Medium + Heavy = 41% of units, 64% of value (2023 – 2026). Heavy units 12 → 17 → 35 (2023 – 2025).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Competitor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Two leaders, one per class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Medium: Sany Palfinger, 38% of value. Heavy: Palfinger, 66% of value; PK 53002 alone sold 39 of 65 units (2023 – 2026).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Customer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Medium buys on price, Heavy buys on quality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China brands take 73% of Medium value; European brands take 85% of Heavy value. 88% go on trucks ≥ 24 t GVW (mining, construction).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Company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Partner two brands to serve both buyers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XCMG for price-oriented buyers. F.lli Ferrari for quality-oriented buyers.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423862">
                <a:tc rowSpan="3">
                  <a:txBody>
                    <a:bodyPr wrap="square"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Arial"/>
                        </a:rPr>
                        <a:t>STP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Segmentation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Two classes, ten 5-tm tiers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Medium 25 – 45 tm: 196 units, Rp 156 M. Heavy &gt; 45 tm: 65 units, Rp 115 M.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Targeting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Take share from the Top 1 model in each tier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Medium: Sany Palfinger SPK32080, SPK36080, SPK42502. Heavy: Palfinger PK 53002, PK 76002, PK 88002.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Positioning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Two clear promises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XCMG: same capacity, lower price (SQZ365.4 −9% vs SPK36080). Ferrari: European features, cheaper where it wins (−23% at 25 – 30 tm, −32% at 45 – 50 tm) and faster delivery from China stock (~14 weeks).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rowSpan="4">
                  <a:txBody>
                    <a:bodyPr wrap="square"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Arial"/>
                        </a:rPr>
                        <a:t>4P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Product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Offer Ferrari models that beat the Top 1 on features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Red Power (more working range), SDV (less boom flex), Magic Touch (auto open/stow): Sany Palfinger has none. PB, RS, ECM: equal to Palfinger.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Price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Negotiate a better price with Ferrari and XCMG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Ferrari: lower price on 746 A4 (+48%), 9601CR A8 (+85%), 990R (+79%). XCMG: Triatra special price on SQZ325.4 and SQZ365.4.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Place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Negotiate stock to cut lead time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Ferrari stocks 268 A4 and FBR450R A4 in China (14-week lead time) and main components in Malaysia. XCMG via GM Tractors.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Promotion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Sell a ready-to-work package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(+2-year warranty on Ferrari). Exhibitions and customer visits with a Marcom sales kit.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PROJECT CHARTER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PROJECT CHARTER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Sell the first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Ferrari and XCMG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challenger cranes by March 2027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09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142875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8650" y="142875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PROJECT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1657350"/>
            <a:ext cx="5391150" cy="2476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8650" y="1704975"/>
            <a:ext cx="5200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1181C"/>
                </a:solidFill>
                <a:latin typeface="Arial"/>
              </a:rPr>
              <a:t>Multi-brand Crane Challenger: F.lli Ferrari and XCMG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198120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8650" y="198120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2209800"/>
            <a:ext cx="5391150" cy="8191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8650" y="2257425"/>
            <a:ext cx="520065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HYVA stopped making cranes, so Triatra has no crane brand. From Jan 2023 to Aug 2026 Indonesia imported 638 knuckle boom cranes; Medium and Heavy (&gt; 25 tm) are 41% of units but 64% of value, led by Sany Palfinger (Medium) and Palfinger (Heavy). This project puts a challenger brand against the Top 1 of each tm tier.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308610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8650" y="308610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3314700"/>
            <a:ext cx="5391150" cy="571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8650" y="3362325"/>
            <a:ext cx="52006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1. Map Medium and Heavy cranes by tm tier, brand and model (4C)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2. Pick one challenger per tier: XCMG for price buyers, Ferrari for quality buyers (STP)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3. Set Product, Price, Place and Promotion per tier and sell the first unit (4P)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394335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8650" y="394335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PROJECT SCOPE · MEDIUM AND HEAVY CLASS (&gt; 25 TM)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4171950"/>
            <a:ext cx="5391150" cy="3619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8650" y="4219575"/>
            <a:ext cx="5200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1181C"/>
                </a:solidFill>
                <a:latin typeface="Arial"/>
              </a:rPr>
              <a:t>1. Market size and brand leaders   2. Top 1 vs challenger per tier   3. Feature and price comparison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1181C"/>
                </a:solidFill>
                <a:latin typeface="Arial"/>
              </a:rPr>
              <a:t>4. Brand negotiation (Ferrari, XCMG)   5. Sales kit, exhibition and first sale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4648200"/>
            <a:ext cx="39052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8650" y="4648200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KPI / METRIC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5800" y="4648200"/>
            <a:ext cx="14287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91050" y="4648200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400" y="4876800"/>
            <a:ext cx="3905250" cy="87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650" y="4924425"/>
            <a:ext cx="3714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1. 4C, STP, 4P approved (Aug 2026)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2. Ferrari and XCMG terms signed (Dec 2026)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3. Sales kit ready (Dec 2026)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4. Quotations sent (Feb 2027)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5. First unit sold (Mar 2027)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5800" y="4876800"/>
            <a:ext cx="1428750" cy="87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91050" y="4924425"/>
            <a:ext cx="1238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1181C"/>
                </a:solidFill>
                <a:latin typeface="Arial"/>
              </a:rPr>
              <a:t>First Ferrari or XCMG challenger crane sold by March 2027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581025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8650" y="581025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SUPPORT REQUIRED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400" y="6038850"/>
            <a:ext cx="5391150" cy="2476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8650" y="6086475"/>
            <a:ext cx="5200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1181C"/>
                </a:solidFill>
                <a:latin typeface="Arial"/>
              </a:rPr>
              <a:t>Marcom (sales kit, exhibition) · F.lli Ferrari (stock, parts, price) · XCMG (special price) · UTPE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76950" y="1428750"/>
            <a:ext cx="55816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172200" y="1428750"/>
            <a:ext cx="5391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PROJECT TIMEFRAME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076950" y="1657350"/>
          <a:ext cx="5581650" cy="1524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0975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  <a:gridCol w="377190"/>
              </a:tblGrid>
              <a:tr h="190500">
                <a:tc rowSpan="2"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Activity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gridSpan="7"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2026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2027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Jun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Jul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Aug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Sep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Oct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Nov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Dec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Jan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Feb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Mar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Arial"/>
                        </a:rPr>
                        <a:t>Market study (4C)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Arial"/>
                        </a:rPr>
                        <a:t>STP and challenger choice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Arial"/>
                        </a:rPr>
                        <a:t>Negotiate with Ferrari and XCMG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Arial"/>
                        </a:rPr>
                        <a:t>Sales kit with Marcom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Arial"/>
                        </a:rPr>
                        <a:t>Exhibition and customer visits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Arial"/>
                        </a:rPr>
                        <a:t>Quotation → PO → first unit sold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6076950" y="3257550"/>
            <a:ext cx="55816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172200" y="3257550"/>
            <a:ext cx="5391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BENEFIT OF PROJECT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76950" y="3486150"/>
            <a:ext cx="5581650" cy="381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172200" y="3533775"/>
            <a:ext cx="5391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Arial"/>
              </a:rPr>
              <a:t>Triatra gets a crane brand for every Medium and Heavy tier again: XCMG for price buyers, Ferrari for quality buyers, with a clear 4P to win units from the Top 1.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76950" y="3943350"/>
            <a:ext cx="55816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172200" y="3943350"/>
            <a:ext cx="5391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PROJECT TEAM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76950" y="4171950"/>
            <a:ext cx="5581650" cy="87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72200" y="4210050"/>
            <a:ext cx="1333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Executive sponsor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700" y="4210050"/>
            <a:ext cx="4057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: Ricardo Tanada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4371975"/>
            <a:ext cx="1333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Advisor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05700" y="4371975"/>
            <a:ext cx="4057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: Ricardo Tanada / Ignatius Indrawan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533900"/>
            <a:ext cx="1333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Coordinator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05700" y="4533900"/>
            <a:ext cx="4057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: Ignatius Indrawan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695825"/>
            <a:ext cx="1333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Project lead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05700" y="4695825"/>
            <a:ext cx="4057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: Tiberias Krisgaharu Simu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4857750"/>
            <a:ext cx="1333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Team members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05700" y="4857750"/>
            <a:ext cx="4057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Arial"/>
              </a:rPr>
              <a:t>: Marketing Unit · Application Engineering · UTPE · Business Consultant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76950" y="5105400"/>
            <a:ext cx="55816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172200" y="5105400"/>
            <a:ext cx="5391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Arial"/>
              </a:rPr>
              <a:t>PROJECT APPROVAL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15050" y="5372100"/>
            <a:ext cx="1352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1C"/>
                </a:solidFill>
                <a:latin typeface="Arial"/>
              </a:rPr>
              <a:t>Lead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15050" y="5505450"/>
            <a:ext cx="13525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Date: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76950" y="5657850"/>
            <a:ext cx="13525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076950" y="6134100"/>
            <a:ext cx="1352550" cy="209550"/>
          </a:xfrm>
          <a:prstGeom prst="rect">
            <a:avLst/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134100" y="6134100"/>
            <a:ext cx="1276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181C"/>
                </a:solidFill>
                <a:latin typeface="Arial"/>
              </a:rPr>
              <a:t>Tiberias Krisgaharu Simu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4750" y="5372100"/>
            <a:ext cx="1352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1C"/>
                </a:solidFill>
                <a:latin typeface="Arial"/>
              </a:rPr>
              <a:t>Coordinator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4750" y="5505450"/>
            <a:ext cx="13525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Date: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86650" y="5657850"/>
            <a:ext cx="13525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7486650" y="6134100"/>
            <a:ext cx="1352550" cy="209550"/>
          </a:xfrm>
          <a:prstGeom prst="rect">
            <a:avLst/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543800" y="6134100"/>
            <a:ext cx="1276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181C"/>
                </a:solidFill>
                <a:latin typeface="Arial"/>
              </a:rPr>
              <a:t>Ignatius Indrawan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34450" y="5372100"/>
            <a:ext cx="1352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1C"/>
                </a:solidFill>
                <a:latin typeface="Arial"/>
              </a:rPr>
              <a:t>Advisor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34450" y="5505450"/>
            <a:ext cx="13525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Date: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96350" y="5657850"/>
            <a:ext cx="13525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8896350" y="6134100"/>
            <a:ext cx="1352550" cy="209550"/>
          </a:xfrm>
          <a:prstGeom prst="rect">
            <a:avLst/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953500" y="6134100"/>
            <a:ext cx="1276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181C"/>
                </a:solidFill>
                <a:latin typeface="Arial"/>
              </a:rPr>
              <a:t>Ricardo Tanada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44150" y="5372100"/>
            <a:ext cx="1352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1C"/>
                </a:solidFill>
                <a:latin typeface="Arial"/>
              </a:rPr>
              <a:t>Executive Sponsor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44150" y="5505450"/>
            <a:ext cx="13525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Date: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06050" y="5657850"/>
            <a:ext cx="13525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0306050" y="6134100"/>
            <a:ext cx="1352550" cy="209550"/>
          </a:xfrm>
          <a:prstGeom prst="rect">
            <a:avLst/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0363200" y="6134100"/>
            <a:ext cx="1276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181C"/>
                </a:solidFill>
                <a:latin typeface="Arial"/>
              </a:rPr>
              <a:t>Ricardo Tanada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STUDY · MARKET SIZE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STUDY · MARKET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Focus on Medium and Heavy: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64% of value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from 41% of units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10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5049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UNITS IMPORTED PER YEAR BY CLASS · 2023 – 2026*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3400" y="1657350"/>
          <a:ext cx="6096000" cy="2857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3400" y="46291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TOTAL UNITS AND IMPORT VALUE · 2023 – 14 AUG 2026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3400" y="4800600"/>
          <a:ext cx="6096001" cy="16573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75765"/>
                <a:gridCol w="1314824"/>
                <a:gridCol w="836706"/>
                <a:gridCol w="2032000"/>
                <a:gridCol w="836706"/>
              </a:tblGrid>
              <a:tr h="276225"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CLASS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LIFTING MOMENT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UNITS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IMPORT VALUE (IDR)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SHARE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276225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Light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≤ 8 tm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177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Rp 40.118.000.000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12%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76225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Small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8 – 25 tm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200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Rp 77.241.000.000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24%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76225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Medium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25 – 45 tm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196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Rp 118.328.000.000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36%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276225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Heavy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&gt; 45 tm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65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Rp 91.154.000.000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Arial"/>
                        </a:rPr>
                        <a:t>28%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276225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Total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638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Rp 326.841.000.000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100%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934200" y="1524000"/>
            <a:ext cx="2286000" cy="990600"/>
          </a:xfrm>
          <a:prstGeom prst="roundRect">
            <a:avLst>
              <a:gd name="adj" fmla="val 9615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86600" y="163830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76932"/>
                </a:solidFill>
                <a:latin typeface="Georgia"/>
              </a:rPr>
              <a:t>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19075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97177"/>
                </a:solidFill>
                <a:latin typeface="Arial"/>
              </a:rPr>
              <a:t>Medium + Heavy units / year ·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1524000"/>
            <a:ext cx="2286000" cy="990600"/>
          </a:xfrm>
          <a:prstGeom prst="roundRect">
            <a:avLst>
              <a:gd name="adj" fmla="val 9615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486900" y="1638300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1181C"/>
                </a:solidFill>
                <a:latin typeface="Georgia"/>
              </a:rPr>
              <a:t>104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6900" y="219075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97177"/>
                </a:solidFill>
                <a:latin typeface="Arial"/>
              </a:rPr>
              <a:t>Light + Small units / year · not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4200" y="2667000"/>
            <a:ext cx="4724400" cy="2857500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67550" y="2771775"/>
            <a:ext cx="44577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KEY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933700"/>
            <a:ext cx="443865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20000"/>
              </a:lnSpc>
              <a:buChar char="•"/>
            </a:pPr>
            <a:r>
              <a:rPr sz="1100" b="0" i="0">
                <a:solidFill>
                  <a:srgbClr val="11181C"/>
                </a:solidFill>
                <a:latin typeface="Arial"/>
              </a:rPr>
              <a:t>Medium + Heavy: 41% of units, 64% of import value</a:t>
            </a:r>
          </a:p>
          <a:p>
            <a:pPr algn="l" marL="127000" indent="-127000">
              <a:lnSpc>
                <a:spcPct val="120000"/>
              </a:lnSpc>
              <a:spcBef>
                <a:spcPts val="200"/>
              </a:spcBef>
              <a:buChar char="•"/>
            </a:pPr>
            <a:r>
              <a:rPr sz="1100" b="0" i="0">
                <a:solidFill>
                  <a:srgbClr val="11181C"/>
                </a:solidFill>
                <a:latin typeface="Arial"/>
              </a:rPr>
              <a:t>Value per unit: Rp 803 jt vs Rp 311 jt for Light + Small</a:t>
            </a:r>
          </a:p>
          <a:p>
            <a:pPr algn="l" marL="127000" indent="-127000">
              <a:lnSpc>
                <a:spcPct val="120000"/>
              </a:lnSpc>
              <a:spcBef>
                <a:spcPts val="200"/>
              </a:spcBef>
              <a:buChar char="•"/>
            </a:pPr>
            <a:r>
              <a:rPr sz="1100" b="0" i="0">
                <a:solidFill>
                  <a:srgbClr val="11181C"/>
                </a:solidFill>
                <a:latin typeface="Arial"/>
              </a:rPr>
              <a:t>88% of Medium and Heavy cranes go on trucks GVW ≥ 24 t: mining, construction, heavy logistics</a:t>
            </a:r>
          </a:p>
          <a:p>
            <a:pPr algn="l" marL="127000" indent="-127000">
              <a:lnSpc>
                <a:spcPct val="120000"/>
              </a:lnSpc>
              <a:spcBef>
                <a:spcPts val="200"/>
              </a:spcBef>
              <a:buChar char="•"/>
            </a:pPr>
            <a:r>
              <a:rPr sz="1100" b="0" i="0">
                <a:solidFill>
                  <a:srgbClr val="11181C"/>
                </a:solidFill>
                <a:latin typeface="Arial"/>
              </a:rPr>
              <a:t>2026 is partial: only 12 Medium and 1 Heavy unit to 14 Aug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5676900"/>
            <a:ext cx="4724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889096"/>
                </a:solidFill>
                <a:latin typeface="Arial"/>
              </a:rPr>
              <a:t>*2026 annualised (Jan – 14 Aug × 1.61). Source: Indonesia import records HS 84269100 + 84264900; truck-mounted knuckle boom cranes; Zoomlion and Hyva excluded; USD 1 = Rp 17.803.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STUDY · BRAND LEADERS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STUDY · BRAND LEADERS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Two leaders to beat: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Sany Palfinger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in Medium,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Palfinger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in Heavy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11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504950"/>
            <a:ext cx="5448300" cy="247650"/>
          </a:xfrm>
          <a:prstGeom prst="roundRect">
            <a:avLst>
              <a:gd name="adj" fmla="val 23076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7700" y="1504950"/>
            <a:ext cx="52197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100">
                <a:solidFill>
                  <a:srgbClr val="076932"/>
                </a:solidFill>
                <a:latin typeface="Arial"/>
              </a:rPr>
              <a:t>MEDIUM · 25 – 45 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8669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IMPORT VALUE BY BRAND · 2025 · RP M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33400" y="2019300"/>
          <a:ext cx="5448300" cy="21907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3400" y="4343400"/>
          <a:ext cx="5448299" cy="106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4395"/>
                <a:gridCol w="1801967"/>
                <a:gridCol w="635988"/>
                <a:gridCol w="2119961"/>
                <a:gridCol w="635988"/>
              </a:tblGrid>
              <a:tr h="266700"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#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BRAND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UNITS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IMPORT VALUE (IDR)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SHARE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Sany Palfinger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30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Rp 13.226.000.000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47%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14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Rp 7.197.000.000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26%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3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Rp 4.869.000.000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17%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3400" y="548640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Total Medium 2025: 54 units · Rp 28,0 M. Sany Palfinger = Sany–Palfinger JV, made in China.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300" y="1504950"/>
            <a:ext cx="5448300" cy="247650"/>
          </a:xfrm>
          <a:prstGeom prst="roundRect">
            <a:avLst>
              <a:gd name="adj" fmla="val 23076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24600" y="1504950"/>
            <a:ext cx="52197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100">
                <a:solidFill>
                  <a:srgbClr val="076932"/>
                </a:solidFill>
                <a:latin typeface="Arial"/>
              </a:rPr>
              <a:t>HEAVY · &gt; 45 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300" y="18669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IMPORT VALUE BY BRAND · 2025 · RP M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210300" y="2019300"/>
          <a:ext cx="5448300" cy="21907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10300" y="4343400"/>
          <a:ext cx="5448299" cy="106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4395"/>
                <a:gridCol w="1801967"/>
                <a:gridCol w="635988"/>
                <a:gridCol w="2119961"/>
                <a:gridCol w="635988"/>
              </a:tblGrid>
              <a:tr h="266700"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#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BRAND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UNITS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IMPORT VALUE (IDR)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SHARE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Palfinger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22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Rp 29.738.000.000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62%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Amco Veba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7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Rp 11.065.000.000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23%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3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4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Rp 4.647.000.000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sz="1000" b="0">
                          <a:solidFill>
                            <a:srgbClr val="11181C"/>
                          </a:solidFill>
                          <a:latin typeface="Arial"/>
                        </a:rPr>
                        <a:t>10%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10300" y="548640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Total Heavy 2025: 35 units · Rp 48,0 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5886450"/>
            <a:ext cx="11125200" cy="590550"/>
          </a:xfrm>
          <a:prstGeom prst="roundRect">
            <a:avLst>
              <a:gd name="adj" fmla="val 16129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5981700"/>
            <a:ext cx="10820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Both leaders are far ahead of the next brand in value: Sany Palfinger 1.8× XCMG in Medium, Palfinger 2.7× Amco Veba in Heavy.</a:t>
            </a:r>
          </a:p>
          <a:p>
            <a:pPr algn="l" marL="127000" indent="-127000"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Scope is 2025 only, so figures are smaller than the 2023 – 2026 totals.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STP · MEDIUM CLASS 25–45 TM · 1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STP · MEDIUM CLASS 25–45 TM · 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Medium: target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Sany Palfinger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with XCMG at 30–40 tm and Ferrari at 25–30 tm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12 / 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24000"/>
          <a:ext cx="11125200" cy="33337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8386"/>
                <a:gridCol w="532944"/>
                <a:gridCol w="799416"/>
                <a:gridCol w="1310153"/>
                <a:gridCol w="1310153"/>
                <a:gridCol w="532944"/>
                <a:gridCol w="688386"/>
                <a:gridCol w="1421183"/>
                <a:gridCol w="1088093"/>
                <a:gridCol w="1332359"/>
                <a:gridCol w="1421183"/>
              </a:tblGrid>
              <a:tr h="247650">
                <a:tc gridSpan="11"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Medium Class Crane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11181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228600"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TM Class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Market Size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5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Top 1 Competitor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30480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Market Share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Share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</a:tr>
              <a:tr h="638175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25 – 30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49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19%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Amco Veba*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V825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31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69%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650.000.000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268 A4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500.000.000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638175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30 – 35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62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31%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Sany Palfinger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SPK32080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33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36%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530.000.000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SQZ325.4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550.000.000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</a:tr>
              <a:tr h="638175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35 – 40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66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38%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Sany Palfinger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SPK36080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37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41%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660.000.000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SQZ365.4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600.000.000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638175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40 – 45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19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12%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Sany Palfinger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SPK42502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18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93%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960.000.000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746 A4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1.420.000.000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3400" y="5029200"/>
            <a:ext cx="3606800" cy="1104900"/>
          </a:xfrm>
          <a:prstGeom prst="roundRect">
            <a:avLst>
              <a:gd name="adj" fmla="val 862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6750" y="5133975"/>
            <a:ext cx="334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257800"/>
            <a:ext cx="33401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1181C"/>
                </a:solidFill>
                <a:latin typeface="Arial"/>
              </a:rPr>
              <a:t>Medium class split into 4 tm tiers. 30–40 tm holds 65% of Medium units (128 of 196) and 69% of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600" y="5029200"/>
            <a:ext cx="3606800" cy="1104900"/>
          </a:xfrm>
          <a:prstGeom prst="roundRect">
            <a:avLst>
              <a:gd name="adj" fmla="val 862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25950" y="5133975"/>
            <a:ext cx="334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TARGETING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950" y="5257800"/>
            <a:ext cx="33401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1181C"/>
                </a:solidFill>
                <a:latin typeface="Arial"/>
              </a:rPr>
              <a:t>Top 1 model of each tier: Sany Palfinger at 30–45 tm. At 25–30 tm Sany Palfinger has no model, so Amco Veba V825 is the target.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1800" y="5029200"/>
            <a:ext cx="3606800" cy="1104900"/>
          </a:xfrm>
          <a:prstGeom prst="roundRect">
            <a:avLst>
              <a:gd name="adj" fmla="val 8620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85150" y="5133975"/>
            <a:ext cx="334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5150" y="5257800"/>
            <a:ext cx="33401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1181C"/>
                </a:solidFill>
                <a:latin typeface="Arial"/>
              </a:rPr>
              <a:t>XCMG: same capacity as Sany Palfinger at a lower price. Ferrari 268 A4: European features, 23% cheaper than Amco Veba V825.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210300"/>
            <a:ext cx="11125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97177"/>
                </a:solidFill>
                <a:latin typeface="Arial"/>
              </a:rPr>
              <a:t>Period Jan 2023 – 14 Aug 2026. Market share = tier value / class value; value = units × highest import unit price per model (estimate, incl. duty &amp; tax). Top 1 share = Top 1 model value / tier value. * Top 1 brand has no model in this tier: next-largest brand shown. Fill: green = challenger cheaper, yellow = up to +30%, red = over +30%.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4P · MEDIUM CLASS 25–45 TM · 2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4P · MEDIUM CLASS 25–45 TM · 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Medium: XCMG wins on price;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renegotiate Ferrari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before selling 40–45 tm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13 / 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24000"/>
          <a:ext cx="11125200" cy="4191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71500"/>
                <a:gridCol w="704850"/>
                <a:gridCol w="628650"/>
                <a:gridCol w="933450"/>
                <a:gridCol w="2419350"/>
                <a:gridCol w="2209800"/>
                <a:gridCol w="685800"/>
                <a:gridCol w="742950"/>
                <a:gridCol w="1104900"/>
                <a:gridCol w="1123950"/>
              </a:tblGrid>
              <a:tr h="228600">
                <a:tc gridSpan="10"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Medium Class Crane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11181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209550"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TM Class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Product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Place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Promotion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Special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2"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Equal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Winning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Competitor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992947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25 – 30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268 A4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Rp 500.000.000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Linkage: Ferrari Red Power = Amco Veba Articulated Powerlink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Power boost: Ferrari PB = Amco Veba AVPS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Ferrari ECM = Amco Veba EBB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Auto fold: Ferrari Magic Touch = Amco Veba Magic Touch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Extension speed: Ferrari RS; Amco Veba: none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Oscillation: Ferrari SDV (Smooth Descent Valve: less boom flex and dynamic load); Amco Veba: none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−23%</a:t>
                      </a:r>
                      <a:endParaRPr sz="1000"/>
                    </a:p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vs Top 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Europe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Ferrari stocks units in China (~14 weeks) and parts in Malaysia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+ 2-year warranty;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610124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30 – 35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SQZ325.4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Rp 550.000.000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XCMG Load limiter* = Sany Palfinger Paltronic 50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No extra named feature. Needs a special price to beat Sany Palfinger (now +4%)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AB6400"/>
                          </a:solidFill>
                          <a:latin typeface="Arial"/>
                        </a:rPr>
                        <a:t>+4%</a:t>
                      </a:r>
                      <a:endParaRPr sz="1000"/>
                    </a:p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AB6400"/>
                          </a:solidFill>
                          <a:latin typeface="Arial"/>
                        </a:rPr>
                        <a:t>vs Top 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China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Negotiate special price with XCMG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610124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35 – 40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SQZ365.4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Rp 600.000.000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XCMG Load limiter* = Sany Palfinger Paltronic 50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No extra named feature. Wins on price: −9% vs Sany Palfinger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−9%</a:t>
                      </a:r>
                      <a:endParaRPr sz="1000"/>
                    </a:p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vs Top 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China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Negotiate special price with XCMG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120555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40 – 45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746 A4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Rp 1.420.000.000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Power boost: Ferrari PB = Sany Palfinger HPLS (MH)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Extension speed: Ferrari RS = Sany Palfinger High speed ext. (ROU)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Ferrari ECM = Sany Palfinger Paltronic 50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Linkage: Ferrari Red Power; Sany Palfinger: none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Oscillation: Ferrari SDV (Smooth Descent Valve: less boom flex and dynamic load); Sany Palfinger: none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Auto fold: Ferrari Magic Touch (opens and stows the crane automatically); Sany Palfinger: none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CE2C31"/>
                          </a:solidFill>
                          <a:latin typeface="Arial"/>
                        </a:rPr>
                        <a:t>+48%</a:t>
                      </a:r>
                      <a:endParaRPr sz="1000"/>
                    </a:p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CE2C31"/>
                          </a:solidFill>
                          <a:latin typeface="Arial"/>
                        </a:rPr>
                        <a:t>vs Top 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China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Negotiate price with Ferrari. Ferrari stocks units in China (~14 weeks) and parts in Malaysia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+ 2-year warranty;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340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E1F9EC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532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Green = challenger cheaper than Top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15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FF7C2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8607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Yellow = up to +30%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EEBEC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0532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Red = over +30%: negotiate price with F.lli Ferrari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343650"/>
            <a:ext cx="11125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97177"/>
                </a:solidFill>
                <a:latin typeface="Arial"/>
              </a:rPr>
              <a:t>Price = challenger price vs Top 1 model price. Equal features = both brands have the system (challenger name = Top 1 name). Winning features = only the challenger has it. * XCMG feature names to be verified with the XCMG datasheet.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STP · HEAVY CLASS &gt; 45 TM · 1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STP · HEAVY CLASS &gt; 45 TM · 1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Heavy: Ferrari is the only challenger and is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cheaper only at 45–50 tm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14 / 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24000"/>
          <a:ext cx="11125200" cy="33337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8386"/>
                <a:gridCol w="532944"/>
                <a:gridCol w="799416"/>
                <a:gridCol w="1310153"/>
                <a:gridCol w="1310153"/>
                <a:gridCol w="532944"/>
                <a:gridCol w="688386"/>
                <a:gridCol w="1421183"/>
                <a:gridCol w="1088093"/>
                <a:gridCol w="1332359"/>
                <a:gridCol w="1421183"/>
              </a:tblGrid>
              <a:tr h="247650">
                <a:tc gridSpan="11"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Heavy Class Crane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11181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228600"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TM Class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Market Size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5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Top 1 Competitor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30480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Market Share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Share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</a:tr>
              <a:tr h="425450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45 – 50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17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26%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Amco Veba*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V950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12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81%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1.990.000.000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FBR450R A4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1.350.000.000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425450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50 – 55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40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63%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PK 53002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39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95%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1.760.000.000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9601CR A8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3.260.000.000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</a:tr>
              <a:tr h="425450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60 – 65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Sany Palfinger*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SPK61502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100%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1.400.000.000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9661C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TBC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5450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70 – 75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4%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PK 76002 EH D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100%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2.290.000.000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990R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4.110.000.000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</a:tr>
              <a:tr h="425450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80 – 85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2%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PK 88002 EH C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100%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2.220.000.000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TBC (price list)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TBC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5450"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85 – 90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4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5%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11181C"/>
                          </a:solidFill>
                          <a:latin typeface="Arial"/>
                        </a:rPr>
                        <a:t>XCMG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GSQZ880.6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2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50%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Rp 1.320.000.000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1">
                          <a:solidFill>
                            <a:srgbClr val="697177"/>
                          </a:solidFill>
                          <a:latin typeface="Arial"/>
                        </a:rPr>
                        <a:t>No challenger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–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sz="1050" b="0">
                          <a:solidFill>
                            <a:srgbClr val="11181C"/>
                          </a:solidFill>
                          <a:latin typeface="Arial"/>
                        </a:rPr>
                        <a:t>–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3400" y="5029200"/>
            <a:ext cx="3606800" cy="1104900"/>
          </a:xfrm>
          <a:prstGeom prst="roundRect">
            <a:avLst>
              <a:gd name="adj" fmla="val 862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6750" y="5133975"/>
            <a:ext cx="334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257800"/>
            <a:ext cx="33401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1181C"/>
                </a:solidFill>
                <a:latin typeface="Arial"/>
              </a:rPr>
              <a:t>Heavy class split into 6 tm tiers. 50–55 tm holds 62% of Heavy units (40 of 65), almost all Palfinger PK 53002.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600" y="5029200"/>
            <a:ext cx="3606800" cy="1104900"/>
          </a:xfrm>
          <a:prstGeom prst="roundRect">
            <a:avLst>
              <a:gd name="adj" fmla="val 862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25950" y="5133975"/>
            <a:ext cx="334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TARGETING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950" y="5257800"/>
            <a:ext cx="33401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1181C"/>
                </a:solidFill>
                <a:latin typeface="Arial"/>
              </a:rPr>
              <a:t>Top 1 model of each tier: Palfinger at 50–55, 70–75 and 80–85 tm. Amco Veba (45–50) and Sany Palfinger (60–65) where Palfinger has no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1800" y="5029200"/>
            <a:ext cx="3606800" cy="1104900"/>
          </a:xfrm>
          <a:prstGeom prst="roundRect">
            <a:avLst>
              <a:gd name="adj" fmla="val 8620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85150" y="5133975"/>
            <a:ext cx="334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5150" y="5257800"/>
            <a:ext cx="33401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1181C"/>
                </a:solidFill>
                <a:latin typeface="Arial"/>
              </a:rPr>
              <a:t>Ferrari: the same European features as Palfinger, delivered faster from stock in China (~14 weeks) against Europe-built leaders.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210300"/>
            <a:ext cx="11125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97177"/>
                </a:solidFill>
                <a:latin typeface="Arial"/>
              </a:rPr>
              <a:t>Period Jan 2023 – 14 Aug 2026. Market share = tier value / class value; value = units × highest import unit price per model (estimate, incl. duty &amp; tax). Top 1 share = Top 1 model value / tier value. * Top 1 brand has no model in this tier: next-largest brand shown. Fill: green = challenger cheaper, yellow = up to +30%, red = over +30%.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4P · HEAVY CLASS 45–65 TM · 2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4P · HEAVY CLASS 45–65 TM · 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Heavy 45–65 tm: Ferrari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matches or beats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the leader on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15 / 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24000"/>
          <a:ext cx="11125200" cy="4191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71500"/>
                <a:gridCol w="704850"/>
                <a:gridCol w="628650"/>
                <a:gridCol w="933450"/>
                <a:gridCol w="2419350"/>
                <a:gridCol w="2209800"/>
                <a:gridCol w="685800"/>
                <a:gridCol w="742950"/>
                <a:gridCol w="1104900"/>
                <a:gridCol w="1123950"/>
              </a:tblGrid>
              <a:tr h="228600">
                <a:tc gridSpan="10"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Heavy Class Crane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11181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209550"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TM Class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Product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Place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Promotion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Special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2"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Equal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Winning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Competitor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948690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45 – 50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FBR450R A4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Rp 1.350.000.000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Linkage: Ferrari Red Power = Amco Veba Articulated Powerlink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Power boost: Ferrari PB = Amco Veba AVPS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Ferrari ECM = Amco Veba EBB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Auto fold: Ferrari Magic Touch = Amco Veba Magic Touch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Extension speed: Ferrari RS; Amco Veba: none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Oscillation: Ferrari SDV (Smooth Descent Valve: less boom flex and dynamic load); Amco Veba: none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−32%</a:t>
                      </a:r>
                      <a:endParaRPr sz="1000"/>
                    </a:p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076932"/>
                          </a:solidFill>
                          <a:latin typeface="Arial"/>
                        </a:rPr>
                        <a:t>vs Top 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Europe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Ferrari stocks units in China (~14 weeks) and parts in Malaysia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+ 2-year warranty;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314450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50 – 55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9601CR A8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Rp 3.260.000.000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Linkage: Ferrari Red Power = Palfinger Power Link Plus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Power boost: Ferrari PB = Palfinger HPLS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Extension speed: Ferrari RS = Palfinger High Speed Extension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Oscillation: Ferrari SDV = Palfinger AOS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Ferrari ECM = Palfinger PALTRONIC 150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Auto fold: Ferrari Magic Touch = Palfinger P-Fold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No extra named feature. Wins on delivery: stock in China (~14 weeks) vs Palfinger built in Europe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CE2C31"/>
                          </a:solidFill>
                          <a:latin typeface="Arial"/>
                        </a:rPr>
                        <a:t>+85%</a:t>
                      </a:r>
                      <a:endParaRPr sz="1000"/>
                    </a:p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CE2C31"/>
                          </a:solidFill>
                          <a:latin typeface="Arial"/>
                        </a:rPr>
                        <a:t>vs Top 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Europe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Negotiate price with Ferrari. Ferrari stocks units in China (~14 weeks) and parts in Malaysia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+ 2-year warranty;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070610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60 – 65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9661C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TBC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Power boost: Ferrari PB = Sany Palfinger HPLS (MH)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Extension speed: Ferrari RS = Sany Palfinger High speed ext. (ROU)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Ferrari ECM = Sany Palfinger Paltronic 50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Linkage: Ferrari Red Power; Sany Palfinger: none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Oscillation: Ferrari SDV (Smooth Descent Valve: less boom flex and dynamic load); Sany Palfinger: none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Auto fold: Ferrari Magic Touch (opens and stows the crane automatically); Sany Palfinger: none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697177"/>
                          </a:solidFill>
                          <a:latin typeface="Arial"/>
                        </a:rPr>
                        <a:t>TBC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China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Ferrari stocks units in China (~14 weeks) and parts in Malaysia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+ 2-year warranty;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340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E1F9EC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532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Green = challenger cheaper than Top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15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FF7C2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8607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Yellow = up to +30%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EEBEC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0532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Red = over +30%: negotiate price with F.lli Ferrari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343650"/>
            <a:ext cx="11125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97177"/>
                </a:solidFill>
                <a:latin typeface="Arial"/>
              </a:rPr>
              <a:t>Price = challenger price vs Top 1 model price. Equal features = both brands have the system (challenger name = Top 1 name). Winning features = only the challenger has it. * XCMG feature names to be verified with the XCMG datasheet.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4P · HEAVY CLASS 70–90 TM · 3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4P · HEAVY CLASS 70–90 TM · 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Heavy 70–90 tm: same features as Palfinger, so win on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delivery time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16 / 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24000"/>
          <a:ext cx="11125200" cy="4191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71500"/>
                <a:gridCol w="704850"/>
                <a:gridCol w="628650"/>
                <a:gridCol w="933450"/>
                <a:gridCol w="2419350"/>
                <a:gridCol w="2209800"/>
                <a:gridCol w="685800"/>
                <a:gridCol w="742950"/>
                <a:gridCol w="1104900"/>
                <a:gridCol w="1123950"/>
              </a:tblGrid>
              <a:tr h="228600">
                <a:tc gridSpan="10"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Heavy Class Crane</a:t>
                      </a:r>
                      <a:endParaRPr sz="10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11181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209550"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TM Class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Product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Place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3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Promotion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Special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2"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Equal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Winning features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Competitor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/>
                      </a:pPr>
                      <a:r>
                        <a:rPr sz="9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</a:tr>
              <a:tr h="1476436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70 – 75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990R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Rp 4.110.000.000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Linkage: Ferrari Red Power = Palfinger Power Link Plus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Power boost: Ferrari PB = Palfinger HPLS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Extension speed: Ferrari RS = Palfinger High Speed Extension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Oscillation: Ferrari SDV = Palfinger AOS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Ferrari ECM = Palfinger PALTRONIC 150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Auto fold: Ferrari Magic Touch = Palfinger P-Fold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No extra named feature. Wins on delivery: stock in China (~14 weeks) vs Palfinger built in Europe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CE2C31"/>
                          </a:solidFill>
                          <a:latin typeface="Arial"/>
                        </a:rPr>
                        <a:t>+79%</a:t>
                      </a:r>
                      <a:endParaRPr sz="1000"/>
                    </a:p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CE2C31"/>
                          </a:solidFill>
                          <a:latin typeface="Arial"/>
                        </a:rPr>
                        <a:t>vs Top 1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FEEB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Europe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Negotiate price with Ferrari. Ferrari stocks units in China (~14 weeks) and parts in Malaysia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+ 2-year warranty;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476436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80 – 85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TBC (price list)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TBC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Linkage: Ferrari Red Power = Palfinger Power Link Plus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Power boost: Ferrari PB = Palfinger HPLS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Extension speed: Ferrari RS = Palfinger High Speed Extension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Oscillation: Ferrari SDV = Palfinger AOS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Electronic control: Ferrari ECM = Palfinger PALTRONIC 150</a:t>
                      </a:r>
                      <a:endParaRPr sz="800"/>
                    </a:p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Auto fold: Ferrari Magic Touch = Palfinger P-Fold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No extra named feature. Wins on delivery: stock in China (~14 weeks) vs Palfinger built in Europe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697177"/>
                          </a:solidFill>
                          <a:latin typeface="Arial"/>
                        </a:rPr>
                        <a:t>TBC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Europe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Ferrari stocks units in China (~14 weeks) and parts in Malaysia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+ 2-year warranty; exhibition with Marcom sales kit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380878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85 – 90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697177"/>
                          </a:solidFill>
                          <a:latin typeface="Arial"/>
                        </a:rPr>
                        <a:t>No challenger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–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–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–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Arial"/>
                        </a:rPr>
                        <a:t>–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697177"/>
                          </a:solidFill>
                          <a:latin typeface="Arial"/>
                        </a:rPr>
                        <a:t>–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Made in China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–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Arial"/>
                        </a:rPr>
                        <a:t>–</a:t>
                      </a:r>
                      <a:endParaRPr sz="800"/>
                    </a:p>
                  </a:txBody>
                  <a:tcPr marL="50800" marR="50800" marT="25400" marB="25400" anchor="t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340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E1F9EC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532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Green = challenger cheaper than Top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15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FF7C2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8607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Yellow = up to +30%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61912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EEBEC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05325" y="617220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D555C"/>
                </a:solidFill>
                <a:latin typeface="Arial"/>
              </a:rPr>
              <a:t>Red = over +30%: negotiate price with F.lli Ferrari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343650"/>
            <a:ext cx="11125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97177"/>
                </a:solidFill>
                <a:latin typeface="Arial"/>
              </a:rPr>
              <a:t>Price = challenger price vs Top 1 model price. Equal features = both brands have the system (challenger name = Top 1 name). Winning features = only the challenger has it. * XCMG feature names to be verified with the XCMG datasheet.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Partner with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F.lli Ferrari and XCMG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; keep Fassi for Petrosea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17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85900"/>
            <a:ext cx="3429000" cy="3238500"/>
          </a:xfrm>
          <a:prstGeom prst="roundRect">
            <a:avLst>
              <a:gd name="adj" fmla="val 2941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3124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81C"/>
                </a:solidFill>
                <a:latin typeface="Georgia"/>
              </a:rPr>
              <a:t>XCMG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431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MEDIUM · PRICE BUYERS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33600"/>
          <a:ext cx="3124200" cy="54292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69471"/>
                <a:gridCol w="1673679"/>
                <a:gridCol w="781050"/>
              </a:tblGrid>
              <a:tr h="180975"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TM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MODEL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VS TOP 1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30 – 35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SQZ325.4 vs SPK32080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AB6400"/>
                          </a:solidFill>
                          <a:latin typeface="Arial"/>
                        </a:rPr>
                        <a:t>+4%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35 – 40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SQZ365.4 vs SPK36080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076932"/>
                          </a:solidFill>
                          <a:latin typeface="Arial"/>
                        </a:rPr>
                        <a:t>−9%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2771775"/>
            <a:ext cx="3124200" cy="1895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10000"/>
              </a:lnSpc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30–40 tm is 65% of Medium units and 69% of value</a:t>
            </a:r>
          </a:p>
          <a:p>
            <a:pPr algn="l" marL="127000" indent="-127000">
              <a:lnSpc>
                <a:spcPct val="110000"/>
              </a:lnSpc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Ask XCMG for a special price at both tiers</a:t>
            </a:r>
          </a:p>
          <a:p>
            <a:pPr algn="l" marL="127000" indent="-127000">
              <a:lnSpc>
                <a:spcPct val="110000"/>
              </a:lnSpc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Partnership terms needed: GM Tractors is XCMG's official distributor in Indonesia</a:t>
            </a:r>
          </a:p>
          <a:p>
            <a:pPr algn="l" marL="127000" indent="-127000">
              <a:lnSpc>
                <a:spcPct val="110000"/>
              </a:lnSpc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Bundle crane + flatdeck + installation; exhibitions with Marcom sales kit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485900"/>
            <a:ext cx="4953000" cy="3238500"/>
          </a:xfrm>
          <a:prstGeom prst="roundRect">
            <a:avLst>
              <a:gd name="adj" fmla="val 2941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67200" y="1600200"/>
            <a:ext cx="4648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81C"/>
                </a:solidFill>
                <a:latin typeface="Georgia"/>
              </a:rPr>
              <a:t>F.lli Ferrari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19431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HEAVY · QUALITY BUYERS · PLUS 25–30 AND 40–45 TM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267200" y="2133600"/>
          <a:ext cx="4648200" cy="1447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96043"/>
                <a:gridCol w="2490107"/>
                <a:gridCol w="1162050"/>
              </a:tblGrid>
              <a:tr h="180975"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TM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MODEL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Arial"/>
                        </a:rPr>
                        <a:t>VS TOP 1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25 – 30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268 A4 vs V825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076932"/>
                          </a:solidFill>
                          <a:latin typeface="Arial"/>
                        </a:rPr>
                        <a:t>−23%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40 – 45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746 A4 vs SPK42502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CE2C31"/>
                          </a:solidFill>
                          <a:latin typeface="Arial"/>
                        </a:rPr>
                        <a:t>+48%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45 – 50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FBR450R A4 vs V950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076932"/>
                          </a:solidFill>
                          <a:latin typeface="Arial"/>
                        </a:rPr>
                        <a:t>−32%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50 – 55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9601CR A8 vs PK 53002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CE2C31"/>
                          </a:solidFill>
                          <a:latin typeface="Arial"/>
                        </a:rPr>
                        <a:t>+85%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60 – 65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9661C vs SPK61502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697177"/>
                          </a:solidFill>
                          <a:latin typeface="Arial"/>
                        </a:rPr>
                        <a:t>TBC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70 – 75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990R vs PK 76002 EH D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CE2C31"/>
                          </a:solidFill>
                          <a:latin typeface="Arial"/>
                        </a:rPr>
                        <a:t>+79%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180975"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80 – 85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/>
                      </a:pPr>
                      <a:r>
                        <a:rPr sz="900" b="0">
                          <a:solidFill>
                            <a:srgbClr val="11181C"/>
                          </a:solidFill>
                          <a:latin typeface="Arial"/>
                        </a:rPr>
                        <a:t>TBC (price list) vs PK 88002 EH C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900"/>
                      </a:pPr>
                      <a:r>
                        <a:rPr sz="900" b="1">
                          <a:solidFill>
                            <a:srgbClr val="697177"/>
                          </a:solidFill>
                          <a:latin typeface="Arial"/>
                        </a:rPr>
                        <a:t>TBC</a:t>
                      </a:r>
                      <a:endParaRPr sz="9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267200" y="3676650"/>
            <a:ext cx="46482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10000"/>
              </a:lnSpc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Negotiate price at the red tiers: 40–45, 50–55 and 70–75 tm</a:t>
            </a:r>
          </a:p>
          <a:p>
            <a:pPr algn="l" marL="127000" indent="-127000">
              <a:lnSpc>
                <a:spcPct val="110000"/>
              </a:lnSpc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Stock units in China (~14 weeks) and parts in Malaysia</a:t>
            </a:r>
          </a:p>
          <a:p>
            <a:pPr algn="l" marL="127000" indent="-127000">
              <a:lnSpc>
                <a:spcPct val="110000"/>
              </a:lnSpc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Bundle + 2-year warranty; exhibitions with Marcom sales kit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0200" y="1485900"/>
            <a:ext cx="2438400" cy="3238500"/>
          </a:xfrm>
          <a:prstGeom prst="roundRect">
            <a:avLst>
              <a:gd name="adj" fmla="val 3906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72600" y="160020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81C"/>
                </a:solidFill>
                <a:latin typeface="Georgia"/>
              </a:rPr>
              <a:t>Fassi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9431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KEY 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133600"/>
            <a:ext cx="2133600" cy="2533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10000"/>
              </a:lnSpc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Petrosea buys Fassi only</a:t>
            </a:r>
          </a:p>
          <a:p>
            <a:pPr algn="l" marL="127000" indent="-127000">
              <a:lnSpc>
                <a:spcPct val="110000"/>
              </a:lnSpc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Keep Fassi supply for this account</a:t>
            </a:r>
          </a:p>
          <a:p>
            <a:pPr algn="l" marL="127000" indent="-127000">
              <a:lnSpc>
                <a:spcPct val="110000"/>
              </a:lnSpc>
              <a:spcBef>
                <a:spcPts val="200"/>
              </a:spcBef>
              <a:buChar char="•"/>
            </a:pPr>
            <a:r>
              <a:rPr sz="1000" b="0" i="0">
                <a:solidFill>
                  <a:srgbClr val="11181C"/>
                </a:solidFill>
                <a:latin typeface="Arial"/>
              </a:rPr>
              <a:t>Outside the Ferrari + XCMG challenger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" y="4857750"/>
            <a:ext cx="11125200" cy="1619250"/>
          </a:xfrm>
          <a:prstGeom prst="roundRect">
            <a:avLst>
              <a:gd name="adj" fmla="val 5882"/>
            </a:avLst>
          </a:prstGeom>
          <a:gradFill rotWithShape="1">
            <a:gsLst>
              <a:gs pos="0">
                <a:srgbClr val="11181C"/>
              </a:gs>
              <a:gs pos="100000">
                <a:srgbClr val="23343C"/>
              </a:gs>
            </a:gsLst>
            <a:lin scaled="0" ang="18900000"/>
          </a:gra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2000" y="50482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3E7AE"/>
                </a:solidFill>
                <a:latin typeface="Arial"/>
              </a:rPr>
              <a:t>DECISIONS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53340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3E7AE"/>
                </a:solidFill>
                <a:latin typeface="Georgia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5772150"/>
            <a:ext cx="3238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Georgia"/>
              </a:rPr>
              <a:t>Approve partnership talks with F.lli Ferrari and XCMG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500" y="53340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3E7AE"/>
                </a:solidFill>
                <a:latin typeface="Georgia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1500" y="5772150"/>
            <a:ext cx="3238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Georgia"/>
              </a:rPr>
              <a:t>Mandate Ferrari price and stock negotiation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3340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3E7AE"/>
                </a:solidFill>
                <a:latin typeface="Georgia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772150"/>
            <a:ext cx="3238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Georgia"/>
              </a:rPr>
              <a:t>Budget for exhibitions and Marcom sales kit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181C"/>
              </a:gs>
              <a:gs pos="100000">
                <a:srgbClr val="23343C"/>
              </a:gs>
            </a:gsLst>
            <a:lin scaled="0" ang="18900000"/>
          </a:gra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" name="Picture 2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1000"/>
            <a:ext cx="540131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3812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83E7AE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90800"/>
            <a:ext cx="109537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FFFFFF"/>
                </a:solidFill>
                <a:latin typeface="Georgia"/>
              </a:rPr>
              <a:t>Questions and </a:t>
            </a:r>
            <a:r>
              <a:rPr sz="4000" b="0" i="1">
                <a:solidFill>
                  <a:srgbClr val="83E7AE"/>
                </a:solidFill>
                <a:latin typeface="Georgia"/>
              </a:rPr>
              <a:t>feedback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 are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005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1C8CD"/>
                </a:solidFill>
                <a:latin typeface="Arial"/>
              </a:rPr>
              <a:t>Tiberias Krisgaharu Simu  ·  Marketing Strategic 2 Associate  ·  PT Triatra Sinergia Pratama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6515100"/>
            <a:ext cx="10972800" cy="0"/>
          </a:xfrm>
          <a:prstGeom prst="line">
            <a:avLst/>
          </a:prstGeom>
          <a:ln w="9525">
            <a:solidFill>
              <a:srgbClr val="30393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600" y="659130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7D868C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659130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7D868C"/>
                </a:solidFill>
                <a:latin typeface="Arial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