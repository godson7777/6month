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1C8CD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49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889096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58</c:v>
                </c:pt>
                <c:pt idx="1">
                  <c:v>51</c:v>
                </c:pt>
                <c:pt idx="2">
                  <c:v>66</c:v>
                </c:pt>
                <c:pt idx="3">
                  <c:v>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22C96A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71</c:v>
                </c:pt>
                <c:pt idx="1">
                  <c:v>58</c:v>
                </c:pt>
                <c:pt idx="2">
                  <c:v>54</c:v>
                </c:pt>
                <c:pt idx="3">
                  <c:v>19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76932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12</c:v>
                </c:pt>
                <c:pt idx="1">
                  <c:v>17</c:v>
                </c:pt>
                <c:pt idx="2">
                  <c:v>35</c:v>
                </c:pt>
                <c:pt idx="3">
                  <c:v>2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>
                  <a:solidFill>
                    <a:srgbClr val="4D555C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00">
                <a:solidFill>
                  <a:srgbClr val="4D555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>
              <a:solidFill>
                <a:srgbClr val="697177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Rp M</c:v>
                </c:pt>
              </c:strCache>
            </c:strRef>
          </c:tx>
          <c:dPt>
            <c:idx val="0"/>
            <c:spPr>
              <a:solidFill>
                <a:srgbClr val="C1C8CD"/>
              </a:solidFill>
            </c:spPr>
          </c:dPt>
          <c:dPt>
            <c:idx val="1"/>
            <c:spPr>
              <a:solidFill>
                <a:srgbClr val="C1C8CD"/>
              </a:solidFill>
            </c:spPr>
          </c:dPt>
          <c:dPt>
            <c:idx val="2"/>
            <c:spPr>
              <a:solidFill>
                <a:srgbClr val="C1C8CD"/>
              </a:solidFill>
            </c:spPr>
          </c:dPt>
          <c:dPt>
            <c:idx val="3"/>
            <c:spPr>
              <a:solidFill>
                <a:srgbClr val="076932"/>
              </a:solidFill>
            </c:spPr>
          </c:dPt>
          <c:cat>
            <c:strRef>
              <c:f>Sheet1!$A$2:$A$5</c:f>
              <c:strCache>
                <c:ptCount val="4"/>
                <c:pt idx="0">
                  <c:v>Amco Veba</c:v>
                </c:pt>
                <c:pt idx="1">
                  <c:v>Palfinger</c:v>
                </c:pt>
                <c:pt idx="2">
                  <c:v>XCMG</c:v>
                </c:pt>
                <c:pt idx="3">
                  <c:v>Sany Palfinger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2.7</c:v>
                </c:pt>
                <c:pt idx="1">
                  <c:v>4.9</c:v>
                </c:pt>
                <c:pt idx="2">
                  <c:v>7.2</c:v>
                </c:pt>
                <c:pt idx="3">
                  <c:v>13.2</c:v>
                </c:pt>
              </c:numCache>
            </c:numRef>
          </c:val>
        </c:ser>
        <c:dLbls>
          <c:numFmt formatCode="&quot;Rp &quot;0.0&quot; M&quot;" sourceLinked="0"/>
          <c:txPr>
            <a:bodyPr/>
            <a:lstStyle/>
            <a:p>
              <a:pPr>
                <a:defRPr sz="9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50">
                <a:solidFill>
                  <a:srgbClr val="11181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Rp M</c:v>
                </c:pt>
              </c:strCache>
            </c:strRef>
          </c:tx>
          <c:dPt>
            <c:idx val="0"/>
            <c:spPr>
              <a:solidFill>
                <a:srgbClr val="C1C8CD"/>
              </a:solidFill>
            </c:spPr>
          </c:dPt>
          <c:dPt>
            <c:idx val="1"/>
            <c:spPr>
              <a:solidFill>
                <a:srgbClr val="C1C8CD"/>
              </a:solidFill>
            </c:spPr>
          </c:dPt>
          <c:dPt>
            <c:idx val="2"/>
            <c:spPr>
              <a:solidFill>
                <a:srgbClr val="076932"/>
              </a:solidFill>
            </c:spPr>
          </c:dPt>
          <c:cat>
            <c:strRef>
              <c:f>Sheet1!$A$2:$A$4</c:f>
              <c:strCache>
                <c:ptCount val="3"/>
                <c:pt idx="0">
                  <c:v>XCMG</c:v>
                </c:pt>
                <c:pt idx="1">
                  <c:v>Amco Veba</c:v>
                </c:pt>
                <c:pt idx="2">
                  <c:v>Palfinger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4.6</c:v>
                </c:pt>
                <c:pt idx="1">
                  <c:v>11.1</c:v>
                </c:pt>
                <c:pt idx="2">
                  <c:v>29.7</c:v>
                </c:pt>
              </c:numCache>
            </c:numRef>
          </c:val>
        </c:ser>
        <c:dLbls>
          <c:numFmt formatCode="&quot;Rp &quot;0.0&quot; M&quot;" sourceLinked="0"/>
          <c:txPr>
            <a:bodyPr/>
            <a:lstStyle/>
            <a:p>
              <a:pPr>
                <a:defRPr sz="9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50">
                <a:solidFill>
                  <a:srgbClr val="11181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" name="Picture 2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81000"/>
            <a:ext cx="540131" cy="2476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2381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PART 01 · PERSONAL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590800"/>
            <a:ext cx="1095375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0" i="0">
                <a:solidFill>
                  <a:srgbClr val="FFFFFF"/>
                </a:solidFill>
                <a:latin typeface="Georgia"/>
              </a:rPr>
              <a:t>Who I am and </a:t>
            </a:r>
            <a:r>
              <a:rPr sz="4000" b="0" i="1">
                <a:solidFill>
                  <a:srgbClr val="83E7AE"/>
                </a:solidFill>
                <a:latin typeface="Georgia"/>
              </a:rPr>
              <a:t>what I bring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 to Triatra.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00050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1C8CD"/>
                </a:solidFill>
                <a:latin typeface="Arial"/>
              </a:rPr>
              <a:t>About me  ·  Onboarding  ·  Company  ·  Role  ·  Project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600" y="6515100"/>
            <a:ext cx="10972800" cy="0"/>
          </a:xfrm>
          <a:prstGeom prst="line">
            <a:avLst/>
          </a:prstGeom>
          <a:ln w="9525">
            <a:solidFill>
              <a:srgbClr val="30393E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09600" y="659130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7D868C"/>
                </a:solidFill>
                <a:latin typeface="Arial"/>
              </a:rPr>
              <a:t>NEDP MID YEAR REVIEW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77400" y="659130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7D868C"/>
                </a:solidFill>
                <a:latin typeface="Arial"/>
              </a:rP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PERSONAL INFORMATION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PERSONAL INFORMATION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A management graduate now running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Small Suppeq and Truck Others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02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524000"/>
            <a:ext cx="2857500" cy="4953000"/>
          </a:xfrm>
          <a:prstGeom prst="roundRect">
            <a:avLst>
              <a:gd name="adj" fmla="val 3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750" y="1628775"/>
            <a:ext cx="2590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750" y="180975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81C"/>
                </a:solidFill>
                <a:latin typeface="Georgia"/>
              </a:rPr>
              <a:t>Tiberias Krisgaharu Simu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2057400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76932"/>
                </a:solidFill>
                <a:latin typeface="Arial"/>
              </a:rPr>
              <a:t>PT Triatra Sinergia Pratama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" y="24384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POSITION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25812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Marketing Strategic 2 Associate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6750" y="28194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666750" y="29527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DIVISION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309562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Marketing Unit &amp; Strategic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66750" y="333375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66750" y="3467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PRODUCTS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" y="36099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Small Suppeq · Truck Others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6750" y="38481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666750" y="39814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PLACE, DATE OF BIRTH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" y="412432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Kupang, 22 April 2001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66750" y="436245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666750" y="44958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PHONE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750" y="46386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0822 7222 2463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66750" y="48768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9" name="Rounded Rectangle 28"/>
          <p:cNvSpPr/>
          <p:nvPr/>
        </p:nvSpPr>
        <p:spPr>
          <a:xfrm>
            <a:off x="3543300" y="1524000"/>
            <a:ext cx="4762500" cy="914400"/>
          </a:xfrm>
          <a:prstGeom prst="roundRect">
            <a:avLst>
              <a:gd name="adj" fmla="val 1041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676650" y="16287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EDUCATION</a:t>
            </a:r>
          </a:p>
        </p:txBody>
      </p:sp>
      <p:pic>
        <p:nvPicPr>
          <p:cNvPr id="31" name="Picture 30" descr="f2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5700" y="1814497"/>
            <a:ext cx="438150" cy="428657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248150" y="1866900"/>
            <a:ext cx="3905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Universitas Sanata Dharma, Yogyakarta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48150" y="2038350"/>
            <a:ext cx="3905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Bachelor (S1) · Management · Faculty of Economics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543300" y="2552700"/>
            <a:ext cx="4762500" cy="2400300"/>
          </a:xfrm>
          <a:prstGeom prst="roundRect">
            <a:avLst>
              <a:gd name="adj" fmla="val 396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676650" y="26574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WORK EXPERIENCE</a:t>
            </a:r>
          </a:p>
        </p:txBody>
      </p:sp>
      <p:pic>
        <p:nvPicPr>
          <p:cNvPr id="36" name="Picture 35" descr="f2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5700" y="2878264"/>
            <a:ext cx="533400" cy="301371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343400" y="28765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PT Triatra Sinergia Pratama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30384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Marketing Strategic 2 Associate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34250" y="29146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334250" y="29146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2026 – now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695700" y="3390900"/>
            <a:ext cx="447675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42" name="Picture 41" descr="f2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5700" y="3658298"/>
            <a:ext cx="533400" cy="112903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343400" y="35623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Outlier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43400" y="37242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Team Lead Data Annotator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34250" y="36004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334250" y="36004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2023 – 2025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695700" y="4076700"/>
            <a:ext cx="447675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48" name="Picture 47" descr="f2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3429" y="4210050"/>
            <a:ext cx="317942" cy="381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4343400" y="42481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Krishma International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43400" y="44100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Marketing Coordinator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334250" y="42862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334250" y="42862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2021 – 2023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543300" y="5067300"/>
            <a:ext cx="4762500" cy="1409700"/>
          </a:xfrm>
          <a:prstGeom prst="roundRect">
            <a:avLst>
              <a:gd name="adj" fmla="val 675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676650" y="51720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ORGANIZATION</a:t>
            </a:r>
          </a:p>
        </p:txBody>
      </p:sp>
      <p:pic>
        <p:nvPicPr>
          <p:cNvPr id="55" name="Picture 54" descr="f2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96428" y="5410200"/>
            <a:ext cx="436694" cy="43815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4248150" y="54673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HMJM Universitas Sanata Dharma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48150" y="56388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President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34250" y="55054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7334250" y="55054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2021 – 2022</a:t>
            </a:r>
          </a:p>
        </p:txBody>
      </p:sp>
      <p:pic>
        <p:nvPicPr>
          <p:cNvPr id="60" name="Picture 59" descr="f2_6.png"/>
          <p:cNvPicPr>
            <a:picLocks noChangeAspect="1"/>
          </p:cNvPicPr>
          <p:nvPr/>
        </p:nvPicPr>
        <p:blipFill>
          <a:blip r:embed="rId8"/>
          <a:srcRect l="1538" r="1538"/>
          <a:stretch>
            <a:fillRect/>
          </a:stretch>
        </p:blipFill>
        <p:spPr>
          <a:xfrm>
            <a:off x="8458200" y="1524000"/>
            <a:ext cx="3200400" cy="4953000"/>
          </a:xfrm>
          <a:prstGeom prst="roundRect">
            <a:avLst>
              <a:gd name="adj" fmla="val 4000"/>
            </a:avLst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ONBOARDING JOURNEY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ONBOARDING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Two programs built my base;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AHEMCE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comes next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03 / 18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2950" y="1676400"/>
            <a:ext cx="10706100" cy="0"/>
          </a:xfrm>
          <a:prstGeom prst="line">
            <a:avLst/>
          </a:prstGeom>
          <a:ln w="15875">
            <a:solidFill>
              <a:srgbClr val="D7DBDF"/>
            </a:solidFill>
          </a:ln>
        </p:spPr>
      </p:cxnSp>
      <p:sp>
        <p:nvSpPr>
          <p:cNvPr id="11" name="Oval 10"/>
          <p:cNvSpPr/>
          <p:nvPr/>
        </p:nvSpPr>
        <p:spPr>
          <a:xfrm>
            <a:off x="666750" y="1619250"/>
            <a:ext cx="114300" cy="114300"/>
          </a:xfrm>
          <a:prstGeom prst="ellipse">
            <a:avLst/>
          </a:prstGeom>
          <a:solidFill>
            <a:srgbClr val="22C96A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34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858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Basic Technical Course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07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DONE</a:t>
            </a:r>
          </a:p>
        </p:txBody>
      </p:sp>
      <p:pic>
        <p:nvPicPr>
          <p:cNvPr id="15" name="Picture 14" descr="s3_4.jpg"/>
          <p:cNvPicPr>
            <a:picLocks noChangeAspect="1"/>
          </p:cNvPicPr>
          <p:nvPr/>
        </p:nvPicPr>
        <p:blipFill>
          <a:blip r:embed="rId3"/>
          <a:srcRect l="12963" r="12963"/>
          <a:stretch>
            <a:fillRect/>
          </a:stretch>
        </p:blipFill>
        <p:spPr>
          <a:xfrm>
            <a:off x="6858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pic>
        <p:nvPicPr>
          <p:cNvPr id="16" name="Picture 15" descr="s3_5.jpg"/>
          <p:cNvPicPr>
            <a:picLocks noChangeAspect="1"/>
          </p:cNvPicPr>
          <p:nvPr/>
        </p:nvPicPr>
        <p:blipFill>
          <a:blip r:embed="rId4"/>
          <a:srcRect l="617" r="617"/>
          <a:stretch>
            <a:fillRect/>
          </a:stretch>
        </p:blipFill>
        <p:spPr>
          <a:xfrm>
            <a:off x="23495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sp>
        <p:nvSpPr>
          <p:cNvPr id="17" name="TextBox 16"/>
          <p:cNvSpPr txBox="1"/>
          <p:nvPr/>
        </p:nvSpPr>
        <p:spPr>
          <a:xfrm>
            <a:off x="6858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LEARNED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Engine basics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Electrical system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Axle, wheel and suspension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Final drive and undercarriage</a:t>
            </a:r>
          </a:p>
        </p:txBody>
      </p:sp>
      <p:sp>
        <p:nvSpPr>
          <p:cNvPr id="19" name="Oval 18"/>
          <p:cNvSpPr/>
          <p:nvPr/>
        </p:nvSpPr>
        <p:spPr>
          <a:xfrm>
            <a:off x="4451350" y="1619250"/>
            <a:ext cx="114300" cy="114300"/>
          </a:xfrm>
          <a:prstGeom prst="ellipse">
            <a:avLst/>
          </a:prstGeom>
          <a:solidFill>
            <a:srgbClr val="22C96A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180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4704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B-One · Orientation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453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DONE</a:t>
            </a:r>
          </a:p>
        </p:txBody>
      </p:sp>
      <p:pic>
        <p:nvPicPr>
          <p:cNvPr id="23" name="Picture 22" descr="s3_7.jpg"/>
          <p:cNvPicPr>
            <a:picLocks noChangeAspect="1"/>
          </p:cNvPicPr>
          <p:nvPr/>
        </p:nvPicPr>
        <p:blipFill>
          <a:blip r:embed="rId5"/>
          <a:srcRect l="34371" r="34371"/>
          <a:stretch>
            <a:fillRect/>
          </a:stretch>
        </p:blipFill>
        <p:spPr>
          <a:xfrm>
            <a:off x="44704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pic>
        <p:nvPicPr>
          <p:cNvPr id="24" name="Picture 23" descr="s3_6.jpg"/>
          <p:cNvPicPr>
            <a:picLocks noChangeAspect="1"/>
          </p:cNvPicPr>
          <p:nvPr/>
        </p:nvPicPr>
        <p:blipFill>
          <a:blip r:embed="rId6"/>
          <a:srcRect l="34371" r="34371"/>
          <a:stretch>
            <a:fillRect/>
          </a:stretch>
        </p:blipFill>
        <p:spPr>
          <a:xfrm>
            <a:off x="61341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sp>
        <p:nvSpPr>
          <p:cNvPr id="25" name="TextBox 24"/>
          <p:cNvSpPr txBox="1"/>
          <p:nvPr/>
        </p:nvSpPr>
        <p:spPr>
          <a:xfrm>
            <a:off x="44704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LEARNED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04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8 Astra competencies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AI at work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Teamwork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Corporate bootcamp</a:t>
            </a:r>
          </a:p>
        </p:txBody>
      </p:sp>
      <p:sp>
        <p:nvSpPr>
          <p:cNvPr id="27" name="Oval 26"/>
          <p:cNvSpPr/>
          <p:nvPr/>
        </p:nvSpPr>
        <p:spPr>
          <a:xfrm>
            <a:off x="8235950" y="1619250"/>
            <a:ext cx="114300" cy="1143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026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9525">
            <a:solidFill>
              <a:srgbClr val="D7DBDF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550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AHEMCE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299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NEXT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5000" y="3143250"/>
            <a:ext cx="32512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4D555C"/>
                </a:solidFill>
                <a:latin typeface="Georgia"/>
              </a:rPr>
              <a:t>Astra Heavy Equipment, Mining, Construction and Energy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50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WILL 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50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Heavy equipment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Mining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Contracting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Energy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COMPANY PROFILE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COMPANY 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Triatra sells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PATRIA and ULTRA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to four industries for the UTPE group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04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CORPORATE ENTITY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400" y="16954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12" name="Picture 11" descr="f5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83" y="1771650"/>
            <a:ext cx="931985" cy="3429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66900" y="179070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Astra International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6900" y="195262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Heavy Equipment, Mining, Construction and Energy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05150" y="21907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533400" y="236220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17" name="Picture 16" descr="f5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" y="2507060"/>
            <a:ext cx="1047750" cy="2055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66900" y="245745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United Tractors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6900" y="261937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Construction machinery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05150" y="285750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533400" y="30289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22" name="Picture 21" descr="f5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646" y="3105150"/>
            <a:ext cx="489857" cy="3429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66900" y="312420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UTPE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6900" y="328612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Engineering solution and marine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05150" y="35242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1390650" y="3810000"/>
            <a:ext cx="3429000" cy="0"/>
          </a:xfrm>
          <a:prstGeom prst="line">
            <a:avLst/>
          </a:prstGeom>
          <a:ln w="9525">
            <a:solidFill>
              <a:srgbClr val="D7DBDF"/>
            </a:solidFill>
          </a:ln>
        </p:spPr>
      </p:cxnSp>
      <p:sp>
        <p:nvSpPr>
          <p:cNvPr id="27" name="Rounded Rectangle 26"/>
          <p:cNvSpPr/>
          <p:nvPr/>
        </p:nvSpPr>
        <p:spPr>
          <a:xfrm>
            <a:off x="5334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971550" y="3829050"/>
            <a:ext cx="762000" cy="152400"/>
          </a:xfrm>
          <a:prstGeom prst="roundRect">
            <a:avLst>
              <a:gd name="adj" fmla="val 50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71550" y="3829050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 spc="100">
                <a:solidFill>
                  <a:srgbClr val="FFFFFF"/>
                </a:solidFill>
                <a:latin typeface="Arial"/>
              </a:rPr>
              <a:t>MY COMPANY</a:t>
            </a:r>
          </a:p>
        </p:txBody>
      </p:sp>
      <p:pic>
        <p:nvPicPr>
          <p:cNvPr id="30" name="Picture 29" descr="f5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075" y="4057650"/>
            <a:ext cx="708949" cy="4000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905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Distribution and trading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3" name="Picture 32" descr="f5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0641" y="4057650"/>
            <a:ext cx="809018" cy="4000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3431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owner and operator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386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6" name="Picture 35" descr="f5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0732" y="4057650"/>
            <a:ext cx="734037" cy="40005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0957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building and repair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3400" y="4953000"/>
            <a:ext cx="5143500" cy="152400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66750" y="5057775"/>
            <a:ext cx="4876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WHAT TRIATRA DOES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750" y="51816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D555C"/>
                </a:solidFill>
                <a:latin typeface="Arial"/>
              </a:rPr>
              <a:t>Distributor of PATRIA and ULTRA products for mining, construction, agriculture, forestry and maritime. Sells units and full after-sales support.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42" name="Picture 41" descr="f5_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5936119"/>
            <a:ext cx="762000" cy="1864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5829300"/>
            <a:ext cx="1333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Unit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6000750"/>
            <a:ext cx="1333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Trader of UTPE units, local and export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051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46" name="Picture 45" descr="f5_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916839"/>
            <a:ext cx="762000" cy="22497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038600" y="5829300"/>
            <a:ext cx="1333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Parts, components and services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38600" y="6000750"/>
            <a:ext cx="1333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Maintenance and remanufacturing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INDUSTRY COVERAGE</a:t>
            </a:r>
          </a:p>
        </p:txBody>
      </p:sp>
      <p:pic>
        <p:nvPicPr>
          <p:cNvPr id="50" name="Picture 49" descr="f5_9.png"/>
          <p:cNvPicPr>
            <a:picLocks noChangeAspect="1"/>
          </p:cNvPicPr>
          <p:nvPr/>
        </p:nvPicPr>
        <p:blipFill>
          <a:blip r:embed="rId11"/>
          <a:srcRect l="15530" r="15530"/>
          <a:stretch>
            <a:fillRect/>
          </a:stretch>
        </p:blipFill>
        <p:spPr>
          <a:xfrm>
            <a:off x="594360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1" name="Rectangle 50"/>
          <p:cNvSpPr/>
          <p:nvPr/>
        </p:nvSpPr>
        <p:spPr>
          <a:xfrm>
            <a:off x="594360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057900" y="356235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01   Coal and mineral mining</a:t>
            </a:r>
          </a:p>
        </p:txBody>
      </p:sp>
      <p:pic>
        <p:nvPicPr>
          <p:cNvPr id="53" name="Picture 52" descr="f5_10.png"/>
          <p:cNvPicPr>
            <a:picLocks noChangeAspect="1"/>
          </p:cNvPicPr>
          <p:nvPr/>
        </p:nvPicPr>
        <p:blipFill>
          <a:blip r:embed="rId12"/>
          <a:srcRect l="10868" r="10868"/>
          <a:stretch>
            <a:fillRect/>
          </a:stretch>
        </p:blipFill>
        <p:spPr>
          <a:xfrm>
            <a:off x="885825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4" name="Rectangle 53"/>
          <p:cNvSpPr/>
          <p:nvPr/>
        </p:nvSpPr>
        <p:spPr>
          <a:xfrm>
            <a:off x="885825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972550" y="356235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02   Construction</a:t>
            </a:r>
          </a:p>
        </p:txBody>
      </p:sp>
      <p:pic>
        <p:nvPicPr>
          <p:cNvPr id="56" name="Picture 55" descr="f5_11.png"/>
          <p:cNvPicPr>
            <a:picLocks noChangeAspect="1"/>
          </p:cNvPicPr>
          <p:nvPr/>
        </p:nvPicPr>
        <p:blipFill>
          <a:blip r:embed="rId13"/>
          <a:srcRect l="22914" r="22914"/>
          <a:stretch>
            <a:fillRect/>
          </a:stretch>
        </p:blipFill>
        <p:spPr>
          <a:xfrm>
            <a:off x="594360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7" name="Rectangle 56"/>
          <p:cNvSpPr/>
          <p:nvPr/>
        </p:nvSpPr>
        <p:spPr>
          <a:xfrm>
            <a:off x="594360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057900" y="598170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03   Forestry and agro-industry</a:t>
            </a:r>
          </a:p>
        </p:txBody>
      </p:sp>
      <p:pic>
        <p:nvPicPr>
          <p:cNvPr id="59" name="Picture 58" descr="f5_12.png"/>
          <p:cNvPicPr>
            <a:picLocks noChangeAspect="1"/>
          </p:cNvPicPr>
          <p:nvPr/>
        </p:nvPicPr>
        <p:blipFill>
          <a:blip r:embed="rId14"/>
          <a:srcRect l="5764" r="5764"/>
          <a:stretch>
            <a:fillRect/>
          </a:stretch>
        </p:blipFill>
        <p:spPr>
          <a:xfrm>
            <a:off x="885825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60" name="Rectangle 59"/>
          <p:cNvSpPr/>
          <p:nvPr/>
        </p:nvSpPr>
        <p:spPr>
          <a:xfrm>
            <a:off x="885825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8972550" y="598170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04   Maritime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801350" y="4229100"/>
            <a:ext cx="742950" cy="1714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0801350" y="4229100"/>
            <a:ext cx="7429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NEW ·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SITE OPERATION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Triatra serves customers from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16 points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across Indonesia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257300"/>
            <a:ext cx="11125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05 / 18</a:t>
            </a:r>
          </a:p>
        </p:txBody>
      </p:sp>
      <p:pic>
        <p:nvPicPr>
          <p:cNvPr id="11" name="Picture 10" descr="map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50" y="1525429"/>
            <a:ext cx="9334500" cy="3407093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3807333" y="3931651"/>
            <a:ext cx="171450" cy="1714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3638379" y="3790938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3096044" y="3385494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3</a:t>
            </a:r>
          </a:p>
        </p:txBody>
      </p:sp>
      <p:sp>
        <p:nvSpPr>
          <p:cNvPr id="15" name="Oval 14"/>
          <p:cNvSpPr/>
          <p:nvPr/>
        </p:nvSpPr>
        <p:spPr>
          <a:xfrm>
            <a:off x="2617184" y="2526566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4</a:t>
            </a:r>
          </a:p>
        </p:txBody>
      </p:sp>
      <p:sp>
        <p:nvSpPr>
          <p:cNvPr id="16" name="Oval 15"/>
          <p:cNvSpPr/>
          <p:nvPr/>
        </p:nvSpPr>
        <p:spPr>
          <a:xfrm>
            <a:off x="5295252" y="3298273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5</a:t>
            </a:r>
          </a:p>
        </p:txBody>
      </p:sp>
      <p:sp>
        <p:nvSpPr>
          <p:cNvPr id="17" name="Oval 16"/>
          <p:cNvSpPr/>
          <p:nvPr/>
        </p:nvSpPr>
        <p:spPr>
          <a:xfrm>
            <a:off x="5473541" y="3381065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6</a:t>
            </a:r>
          </a:p>
        </p:txBody>
      </p:sp>
      <p:sp>
        <p:nvSpPr>
          <p:cNvPr id="18" name="Oval 17"/>
          <p:cNvSpPr/>
          <p:nvPr/>
        </p:nvSpPr>
        <p:spPr>
          <a:xfrm>
            <a:off x="5465140" y="3062843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Oval 18"/>
          <p:cNvSpPr/>
          <p:nvPr/>
        </p:nvSpPr>
        <p:spPr>
          <a:xfrm>
            <a:off x="5592089" y="2992657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8</a:t>
            </a:r>
          </a:p>
        </p:txBody>
      </p:sp>
      <p:sp>
        <p:nvSpPr>
          <p:cNvPr id="20" name="Oval 19"/>
          <p:cNvSpPr/>
          <p:nvPr/>
        </p:nvSpPr>
        <p:spPr>
          <a:xfrm>
            <a:off x="5355927" y="2820939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9</a:t>
            </a:r>
          </a:p>
        </p:txBody>
      </p:sp>
      <p:sp>
        <p:nvSpPr>
          <p:cNvPr id="21" name="Oval 20"/>
          <p:cNvSpPr/>
          <p:nvPr/>
        </p:nvSpPr>
        <p:spPr>
          <a:xfrm>
            <a:off x="5750776" y="287851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22" name="Oval 21"/>
          <p:cNvSpPr/>
          <p:nvPr/>
        </p:nvSpPr>
        <p:spPr>
          <a:xfrm>
            <a:off x="5547284" y="2675797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11</a:t>
            </a:r>
          </a:p>
        </p:txBody>
      </p:sp>
      <p:sp>
        <p:nvSpPr>
          <p:cNvPr id="23" name="Oval 22"/>
          <p:cNvSpPr/>
          <p:nvPr/>
        </p:nvSpPr>
        <p:spPr>
          <a:xfrm>
            <a:off x="5588356" y="2518049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12</a:t>
            </a:r>
          </a:p>
        </p:txBody>
      </p:sp>
      <p:sp>
        <p:nvSpPr>
          <p:cNvPr id="24" name="Oval 23"/>
          <p:cNvSpPr/>
          <p:nvPr/>
        </p:nvSpPr>
        <p:spPr>
          <a:xfrm>
            <a:off x="5886126" y="2195738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13</a:t>
            </a:r>
          </a:p>
        </p:txBody>
      </p:sp>
      <p:sp>
        <p:nvSpPr>
          <p:cNvPr id="25" name="Oval 24"/>
          <p:cNvSpPr/>
          <p:nvPr/>
        </p:nvSpPr>
        <p:spPr>
          <a:xfrm>
            <a:off x="5897328" y="252792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26" name="Oval 25"/>
          <p:cNvSpPr/>
          <p:nvPr/>
        </p:nvSpPr>
        <p:spPr>
          <a:xfrm>
            <a:off x="6439662" y="4452596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15</a:t>
            </a:r>
          </a:p>
        </p:txBody>
      </p:sp>
      <p:sp>
        <p:nvSpPr>
          <p:cNvPr id="27" name="Oval 26"/>
          <p:cNvSpPr/>
          <p:nvPr/>
        </p:nvSpPr>
        <p:spPr>
          <a:xfrm>
            <a:off x="9832753" y="357969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28" name="Oval 27"/>
          <p:cNvSpPr/>
          <p:nvPr/>
        </p:nvSpPr>
        <p:spPr>
          <a:xfrm>
            <a:off x="8572500" y="1333500"/>
            <a:ext cx="95250" cy="952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0585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Head Office</a:t>
            </a:r>
          </a:p>
        </p:txBody>
      </p:sp>
      <p:sp>
        <p:nvSpPr>
          <p:cNvPr id="30" name="Oval 29"/>
          <p:cNvSpPr/>
          <p:nvPr/>
        </p:nvSpPr>
        <p:spPr>
          <a:xfrm>
            <a:off x="9620250" y="1333500"/>
            <a:ext cx="95250" cy="952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5360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32" name="Oval 31"/>
          <p:cNvSpPr/>
          <p:nvPr/>
        </p:nvSpPr>
        <p:spPr>
          <a:xfrm>
            <a:off x="10668000" y="1333500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0135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Representative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33400" y="5029200"/>
          <a:ext cx="5486401" cy="1500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78"/>
                <a:gridCol w="1128889"/>
                <a:gridCol w="745067"/>
                <a:gridCol w="3386667"/>
              </a:tblGrid>
              <a:tr h="166688"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SITE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TYPE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ADDRESS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Head Office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Head office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Raya Bekasi KM 22, Cakung, Jakarta Timur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2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Jakarta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Raya Bekasi KM 22, Cakung, Jakarta Timur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3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Enim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Lingga Raya 10, Muara Enim, Sumatera Selatan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Pekanbaru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Soekarno Hatta KM 3,5 No. 151, Riau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5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Banjarmasin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Ahmad Yani KM 13,5 Gambut, Kalimantan Selatan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6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Sungai Danau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Ds. Karang Indah, Angsana, Tanah Bumbu, Kalsel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7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Tabalong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A. Yani KM 7,5 Maburai, Tabalong, Kalsel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8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Batu Kajang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Negara KM 140, Batu Sopang, Paser,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6172200" y="5029200"/>
          <a:ext cx="5486401" cy="1500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78"/>
                <a:gridCol w="1128889"/>
                <a:gridCol w="745067"/>
                <a:gridCol w="3386667"/>
              </a:tblGrid>
              <a:tr h="166688"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SITE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TYPE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ADDRESS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9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Muara Teweh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Ahmad Yani No. 85, Barito Utara, Kalteng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Balikpapan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Jend. Sudirman No. 844, Balikpapan,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11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Melak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Hauling Road Trubaindo, Kutai Barat,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12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Tabang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Workshop Buma Km 6, Hauling Road,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13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Redeb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Gunung Panjang No. 101B, Berau,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Sangatta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HDRS Tango Delta KPC, Kutai Timur,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15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Sumbawa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Memco Area Tongo, Sekongkang, Sumbawa Barat, NTB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16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Timika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Kuala Tembaga E-4, Kuala Kencana, Papua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ORGANIZATION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ORGANIZATION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I work in Marketing Strategic 2, under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Ignatius Indrawan 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06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48250" y="1428750"/>
            <a:ext cx="20955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05400" y="1485900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Ceisar Centiaga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05400" y="1628775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DIRECTOR IN CHARGE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1809750"/>
            <a:ext cx="0" cy="1143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5048250" y="1924050"/>
            <a:ext cx="20955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105400" y="1981200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Ricardo Tanada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2124075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UNIT &amp; STRATEGIC DIV HEAD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47800" y="2495550"/>
            <a:ext cx="9296400" cy="0"/>
          </a:xfrm>
          <a:prstGeom prst="line">
            <a:avLst/>
          </a:prstGeom>
          <a:ln w="12700">
            <a:solidFill>
              <a:srgbClr val="D7DBDF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6096000" y="2305050"/>
            <a:ext cx="0" cy="1905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19" name="Connector 18"/>
          <p:cNvCxnSpPr/>
          <p:nvPr/>
        </p:nvCxnSpPr>
        <p:spPr>
          <a:xfrm>
            <a:off x="18669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5334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05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Kresnanto A.W.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5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STRATEGIC 1 HEAD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34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05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Satrio F.R.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05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Big Suppeq, Big Vessel, Bucket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34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905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M. Fawwaz J.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05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Cabin, Forestry, Agro, Forklift, Towerlamp, Pump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6863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3276600" y="2590800"/>
            <a:ext cx="2819400" cy="3924300"/>
          </a:xfrm>
          <a:prstGeom prst="roundRect">
            <a:avLst>
              <a:gd name="adj" fmla="val 2702"/>
            </a:avLst>
          </a:prstGeom>
          <a:noFill/>
          <a:ln w="1587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33528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4099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Ricardo Tanada (c)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099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STRATEGIC 2 HEAD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528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4099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Ignatius Indrawan 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099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DEPUTY HEAD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528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4099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Ervin Bahar P.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99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Medium Vessel, Man Hauler, Bus Scania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52800" y="44196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409950" y="44767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Tiberias K.S.  ◄ 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09950" y="46196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Small Suppeq, Truck Others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52800" y="50482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409950" y="51054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Eurico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9950" y="52482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Mining / Non-mining Trailer, Overseas Zone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352800" y="56769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409950" y="57340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Nandu Narpati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09950" y="58769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57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50" name="Rounded Rectangle 49"/>
          <p:cNvSpPr/>
          <p:nvPr/>
        </p:nvSpPr>
        <p:spPr>
          <a:xfrm>
            <a:off x="61722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2293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Ugik Praseno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293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STRATEGIC 3 HEAD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722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2293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Baihaqi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293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Mineral Processing, EPC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722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2293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Yuda Prana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293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Maritime, Renewable Energy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172200" y="44196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229350" y="44767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Celine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29350" y="46196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Ultra Product Support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172200" y="50482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229350" y="51054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Hanifa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29350" y="52482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Automation, EV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03251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66" name="Rounded Rectangle 65"/>
          <p:cNvSpPr/>
          <p:nvPr/>
        </p:nvSpPr>
        <p:spPr>
          <a:xfrm>
            <a:off x="89916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90487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Marketing Communication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487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MARCOMM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9916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90487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Karina Audina E.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487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Marcomm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9916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90487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Adinda Siti K.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487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Marcomm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991600" y="44196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9048750" y="44767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Rahma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48750" y="46196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Graphic Designer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ROLES &amp; RESPONSIBILITY · SUPPLY CHAIN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ROLES &amp; RESPONSIBILITY · SUPPLY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I take every order from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inquiry to delivery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two product 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257300"/>
            <a:ext cx="11125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Five steps from customer inquiry to factory acceptance test (FAT), for Small Suppeq and Truck Others.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07 / 18</a:t>
            </a:r>
          </a:p>
        </p:txBody>
      </p:sp>
      <p:sp>
        <p:nvSpPr>
          <p:cNvPr id="11" name="Pentagon 10"/>
          <p:cNvSpPr/>
          <p:nvPr/>
        </p:nvSpPr>
        <p:spPr>
          <a:xfrm>
            <a:off x="533400" y="1504950"/>
            <a:ext cx="2308860" cy="381000"/>
          </a:xfrm>
          <a:prstGeom prst="homePlate">
            <a:avLst>
              <a:gd name="adj" fmla="val 28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01  Inquiry &amp; opportunity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340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675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Application Engineering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340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6675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spec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buying reason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project location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expected price and lead time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urgency and expected PO date</a:t>
            </a:r>
          </a:p>
        </p:txBody>
      </p:sp>
      <p:sp>
        <p:nvSpPr>
          <p:cNvPr id="19" name="Chevron 18"/>
          <p:cNvSpPr/>
          <p:nvPr/>
        </p:nvSpPr>
        <p:spPr>
          <a:xfrm>
            <a:off x="2785110" y="1504950"/>
            <a:ext cx="2308860" cy="381000"/>
          </a:xfrm>
          <a:prstGeom prst="chevron">
            <a:avLst>
              <a:gd name="adj" fmla="val 28000"/>
            </a:avLst>
          </a:prstGeom>
          <a:solidFill>
            <a:srgbClr val="0A7F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9466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02  Preliminary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8511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91846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1846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Application Engineering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8511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91846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1846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if repeat order or new preliminary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unit function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main components: find the critical ones for price and lead time</a:t>
            </a:r>
          </a:p>
        </p:txBody>
      </p:sp>
      <p:sp>
        <p:nvSpPr>
          <p:cNvPr id="27" name="Chevron 26"/>
          <p:cNvSpPr/>
          <p:nvPr/>
        </p:nvSpPr>
        <p:spPr>
          <a:xfrm>
            <a:off x="5036820" y="1504950"/>
            <a:ext cx="2308860" cy="381000"/>
          </a:xfrm>
          <a:prstGeom prst="chevron">
            <a:avLst>
              <a:gd name="adj" fmla="val 28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4637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03  Pricing / Quotation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3682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7017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7017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3682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17017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7017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Request quote from UTE with preliminary, expected price, expected lead time and customer info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UTE standard GP (signed by marketing associate and manager = standard GP)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actual SLA (repeat, minor, major); escalate to the superior if too long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Fill PCR in CRM</a:t>
            </a:r>
          </a:p>
        </p:txBody>
      </p:sp>
      <p:sp>
        <p:nvSpPr>
          <p:cNvPr id="35" name="Chevron 34"/>
          <p:cNvSpPr/>
          <p:nvPr/>
        </p:nvSpPr>
        <p:spPr>
          <a:xfrm>
            <a:off x="7288530" y="1504950"/>
            <a:ext cx="2308860" cy="381000"/>
          </a:xfrm>
          <a:prstGeom prst="chevron">
            <a:avLst>
              <a:gd name="adj" fmla="val 28000"/>
            </a:avLst>
          </a:prstGeom>
          <a:solidFill>
            <a:srgbClr val="0A7F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04  Negotiation &amp; CPO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8853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42188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2188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8853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42188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2188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PO / PJB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PO matches the preliminary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Request PN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Request QFD and painting style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CPO: Sales Manager → Mkt Unit Triatra → Mkt Unit Manager → GM Marketing Triatra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PO interco approval: Mkt Unit Triatra → GM Mkt Unit → Director Mkt Unit Triatra</a:t>
            </a:r>
          </a:p>
        </p:txBody>
      </p:sp>
      <p:sp>
        <p:nvSpPr>
          <p:cNvPr id="43" name="Chevron 42"/>
          <p:cNvSpPr/>
          <p:nvPr/>
        </p:nvSpPr>
        <p:spPr>
          <a:xfrm>
            <a:off x="9540240" y="1504950"/>
            <a:ext cx="2118360" cy="381000"/>
          </a:xfrm>
          <a:prstGeom prst="chevron">
            <a:avLst>
              <a:gd name="adj" fmla="val 28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4979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05  Production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54024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67359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7359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54024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967359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7359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Make sure production follows the QFD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Weekly production update to BC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Escalate major production problems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Oversee FAT and report issues to Marketing Unit UTPE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3400" y="48006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UNITS I HANDLE · SMALL SUPPEQ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3400" y="4953000"/>
            <a:ext cx="54864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53" name="Picture 52" descr="ft_fuel_truck.webp.png"/>
          <p:cNvPicPr>
            <a:picLocks noChangeAspect="1"/>
          </p:cNvPicPr>
          <p:nvPr/>
        </p:nvPicPr>
        <p:blipFill>
          <a:blip r:embed="rId3"/>
          <a:srcRect l="14981" r="14981"/>
          <a:stretch>
            <a:fillRect/>
          </a:stretch>
        </p:blipFill>
        <p:spPr>
          <a:xfrm>
            <a:off x="533400" y="5029200"/>
            <a:ext cx="1778000" cy="1428750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5334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096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Fuel truck</a:t>
            </a:r>
          </a:p>
        </p:txBody>
      </p:sp>
      <p:pic>
        <p:nvPicPr>
          <p:cNvPr id="56" name="Picture 55" descr="wt_water_truck_clean.png"/>
          <p:cNvPicPr>
            <a:picLocks noChangeAspect="1"/>
          </p:cNvPicPr>
          <p:nvPr/>
        </p:nvPicPr>
        <p:blipFill>
          <a:blip r:embed="rId4"/>
          <a:srcRect l="15000" r="15000"/>
          <a:stretch>
            <a:fillRect/>
          </a:stretch>
        </p:blipFill>
        <p:spPr>
          <a:xfrm>
            <a:off x="2387600" y="5029200"/>
            <a:ext cx="1778000" cy="1428750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23876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24638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Water truck</a:t>
            </a:r>
          </a:p>
        </p:txBody>
      </p:sp>
      <p:pic>
        <p:nvPicPr>
          <p:cNvPr id="59" name="Picture 58" descr="lt_lube_truck.webp.png"/>
          <p:cNvPicPr>
            <a:picLocks noChangeAspect="1"/>
          </p:cNvPicPr>
          <p:nvPr/>
        </p:nvPicPr>
        <p:blipFill>
          <a:blip r:embed="rId5"/>
          <a:srcRect l="15000" r="15000"/>
          <a:stretch>
            <a:fillRect/>
          </a:stretch>
        </p:blipFill>
        <p:spPr>
          <a:xfrm>
            <a:off x="4241800" y="5029200"/>
            <a:ext cx="1778000" cy="142875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42418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43180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Lube truck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72200" y="48006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UNITS I HANDLE · TRUCK OTHERS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172200" y="4953000"/>
            <a:ext cx="54864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64" name="Picture 63" descr="crane_truck_crop.png"/>
          <p:cNvPicPr>
            <a:picLocks noChangeAspect="1"/>
          </p:cNvPicPr>
          <p:nvPr/>
        </p:nvPicPr>
        <p:blipFill>
          <a:blip r:embed="rId6"/>
          <a:srcRect l="5308" r="5308"/>
          <a:stretch>
            <a:fillRect/>
          </a:stretch>
        </p:blipFill>
        <p:spPr>
          <a:xfrm>
            <a:off x="6172200" y="5029200"/>
            <a:ext cx="1778000" cy="1428750"/>
          </a:xfrm>
          <a:prstGeom prst="rect">
            <a:avLst/>
          </a:prstGeom>
        </p:spPr>
      </p:pic>
      <p:sp>
        <p:nvSpPr>
          <p:cNvPr id="65" name="Rectangle 64"/>
          <p:cNvSpPr/>
          <p:nvPr/>
        </p:nvSpPr>
        <p:spPr>
          <a:xfrm>
            <a:off x="61722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2484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Crane truck</a:t>
            </a:r>
          </a:p>
        </p:txBody>
      </p:sp>
      <p:pic>
        <p:nvPicPr>
          <p:cNvPr id="67" name="Picture 66" descr="mixer_truck.webp.png"/>
          <p:cNvPicPr>
            <a:picLocks noChangeAspect="1"/>
          </p:cNvPicPr>
          <p:nvPr/>
        </p:nvPicPr>
        <p:blipFill>
          <a:blip r:embed="rId7"/>
          <a:srcRect l="3212" r="3212"/>
          <a:stretch>
            <a:fillRect/>
          </a:stretch>
        </p:blipFill>
        <p:spPr>
          <a:xfrm>
            <a:off x="8026400" y="5029200"/>
            <a:ext cx="1778000" cy="1428750"/>
          </a:xfrm>
          <a:prstGeom prst="rect">
            <a:avLst/>
          </a:prstGeom>
        </p:spPr>
      </p:pic>
      <p:sp>
        <p:nvSpPr>
          <p:cNvPr id="68" name="Rectangle 67"/>
          <p:cNvSpPr/>
          <p:nvPr/>
        </p:nvSpPr>
        <p:spPr>
          <a:xfrm>
            <a:off x="80264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81026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Mixer truck</a:t>
            </a:r>
          </a:p>
        </p:txBody>
      </p:sp>
      <p:pic>
        <p:nvPicPr>
          <p:cNvPr id="70" name="Picture 69" descr="st_stemming_truck.webp.png"/>
          <p:cNvPicPr>
            <a:picLocks noChangeAspect="1"/>
          </p:cNvPicPr>
          <p:nvPr/>
        </p:nvPicPr>
        <p:blipFill>
          <a:blip r:embed="rId8"/>
          <a:srcRect l="3212" r="3212"/>
          <a:stretch>
            <a:fillRect/>
          </a:stretch>
        </p:blipFill>
        <p:spPr>
          <a:xfrm>
            <a:off x="9880600" y="5029200"/>
            <a:ext cx="1778000" cy="1428750"/>
          </a:xfrm>
          <a:prstGeom prst="rect">
            <a:avLst/>
          </a:prstGeom>
        </p:spPr>
      </p:pic>
      <p:sp>
        <p:nvSpPr>
          <p:cNvPr id="71" name="Rectangle 70"/>
          <p:cNvSpPr/>
          <p:nvPr/>
        </p:nvSpPr>
        <p:spPr>
          <a:xfrm>
            <a:off x="98806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99568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Stemming truck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STRATEGIC · 4C → STP → 4P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STRATEGIC · 4C → STP → 4P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Sell two challenger brands to take share from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Sany Palfinger and Palfinger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08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2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4C · SITUATION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1600" y="152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4P · MARKETING MIX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8500" y="152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STP · WHO WE FIGHT, WITH WHAT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3400" y="1714500"/>
            <a:ext cx="2438400" cy="1085850"/>
          </a:xfrm>
          <a:prstGeom prst="roundRect">
            <a:avLst>
              <a:gd name="adj" fmla="val 877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6750" y="1819275"/>
            <a:ext cx="2171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2000250"/>
            <a:ext cx="21717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1181C"/>
                </a:solidFill>
                <a:latin typeface="Arial"/>
              </a:rPr>
              <a:t>HYVA stopped making cranes. Medium and Heavy hold 64% of value on 41% of units.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3400" y="2914650"/>
            <a:ext cx="2438400" cy="1085850"/>
          </a:xfrm>
          <a:prstGeom prst="roundRect">
            <a:avLst>
              <a:gd name="adj" fmla="val 877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66750" y="3019425"/>
            <a:ext cx="2171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COMPETITOR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3200400"/>
            <a:ext cx="21717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1181C"/>
                </a:solidFill>
                <a:latin typeface="Arial"/>
              </a:rPr>
              <a:t>2025 leaders: Sany Palfinger 47% of Medium, Palfinger 62% of Heavy.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400" y="4114800"/>
            <a:ext cx="2438400" cy="1085850"/>
          </a:xfrm>
          <a:prstGeom prst="roundRect">
            <a:avLst>
              <a:gd name="adj" fmla="val 877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66750" y="4219575"/>
            <a:ext cx="2171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CUSTOMER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" y="4400550"/>
            <a:ext cx="21717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1181C"/>
                </a:solidFill>
                <a:latin typeface="Arial"/>
              </a:rPr>
              <a:t>Medium buyers pick on price (China brands 73%). Heavy buyers pick on quality (Europe 85%).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3400" y="5314950"/>
            <a:ext cx="2438400" cy="1085850"/>
          </a:xfrm>
          <a:prstGeom prst="roundRect">
            <a:avLst>
              <a:gd name="adj" fmla="val 8771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66750" y="5419725"/>
            <a:ext cx="2171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COMPANY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" y="5600700"/>
            <a:ext cx="21717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1181C"/>
                </a:solidFill>
                <a:latin typeface="Arial"/>
              </a:rPr>
              <a:t>Partner F.lli Ferrari and XCMG to serve both buyer types.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1600" y="1714500"/>
            <a:ext cx="2667000" cy="1085850"/>
          </a:xfrm>
          <a:prstGeom prst="roundRect">
            <a:avLst>
              <a:gd name="adj" fmla="val 877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124950" y="1819275"/>
            <a:ext cx="24003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PRODUCT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24950" y="2000250"/>
            <a:ext cx="2400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1181C"/>
                </a:solidFill>
                <a:latin typeface="Arial"/>
              </a:rPr>
              <a:t>One challenger model per tier; show features the leader lacks.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1600" y="2914650"/>
            <a:ext cx="2667000" cy="1085850"/>
          </a:xfrm>
          <a:prstGeom prst="roundRect">
            <a:avLst>
              <a:gd name="adj" fmla="val 877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24950" y="3019425"/>
            <a:ext cx="24003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PRICE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4950" y="3200400"/>
            <a:ext cx="2400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1181C"/>
                </a:solidFill>
                <a:latin typeface="Arial"/>
              </a:rPr>
              <a:t>XCMG: get a special price. Ferrari: cut price where the gap is over 30%.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91600" y="4114800"/>
            <a:ext cx="2667000" cy="1085850"/>
          </a:xfrm>
          <a:prstGeom prst="roundRect">
            <a:avLst>
              <a:gd name="adj" fmla="val 877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124950" y="4219575"/>
            <a:ext cx="24003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PLACE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24950" y="4400550"/>
            <a:ext cx="2400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1181C"/>
                </a:solidFill>
                <a:latin typeface="Arial"/>
              </a:rPr>
              <a:t>Ferrari stocks units in China (~14 weeks) and parts in Malaysia.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91600" y="5314950"/>
            <a:ext cx="2667000" cy="1085850"/>
          </a:xfrm>
          <a:prstGeom prst="roundRect">
            <a:avLst>
              <a:gd name="adj" fmla="val 877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124950" y="5419725"/>
            <a:ext cx="24003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PROMOTION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24950" y="5600700"/>
            <a:ext cx="2400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1181C"/>
                </a:solidFill>
                <a:latin typeface="Arial"/>
              </a:rPr>
              <a:t>Crane + flatdeck + installation bundle (+2-year warranty on Ferrari). Exhibitions with Marcom sales kit.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009900" y="4000500"/>
            <a:ext cx="190500" cy="0"/>
          </a:xfrm>
          <a:prstGeom prst="line">
            <a:avLst/>
          </a:prstGeom>
          <a:ln w="19050">
            <a:solidFill>
              <a:srgbClr val="22C96A"/>
            </a:solidFill>
            <a:tailEnd type="triangle" w="med" len="med"/>
          </a:ln>
        </p:spPr>
      </p:cxnSp>
      <p:cxnSp>
        <p:nvCxnSpPr>
          <p:cNvPr id="38" name="Connector 37"/>
          <p:cNvCxnSpPr/>
          <p:nvPr/>
        </p:nvCxnSpPr>
        <p:spPr>
          <a:xfrm>
            <a:off x="8763000" y="4000500"/>
            <a:ext cx="190500" cy="0"/>
          </a:xfrm>
          <a:prstGeom prst="line">
            <a:avLst/>
          </a:prstGeom>
          <a:ln w="19050">
            <a:solidFill>
              <a:srgbClr val="22C96A"/>
            </a:solidFill>
            <a:tailEnd type="triangle" w="med" len="med"/>
          </a:ln>
        </p:spPr>
      </p:cxnSp>
      <p:sp>
        <p:nvSpPr>
          <p:cNvPr id="39" name="Rounded Rectangle 38"/>
          <p:cNvSpPr/>
          <p:nvPr/>
        </p:nvSpPr>
        <p:spPr>
          <a:xfrm>
            <a:off x="3238500" y="1714500"/>
            <a:ext cx="5486400" cy="876300"/>
          </a:xfrm>
          <a:prstGeom prst="roundRect">
            <a:avLst>
              <a:gd name="adj" fmla="val 10869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3371850" y="182880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76932"/>
                </a:solidFill>
                <a:latin typeface="Georgia"/>
              </a:rPr>
              <a:t>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00450" y="1857375"/>
            <a:ext cx="5029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1181C"/>
                </a:solidFill>
                <a:latin typeface="Arial"/>
              </a:rPr>
              <a:t>Two classes, 10 tm tiers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71850" y="205740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76932"/>
                </a:solidFill>
                <a:latin typeface="Georgia"/>
              </a:rPr>
              <a:t>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00450" y="2085975"/>
            <a:ext cx="5029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1181C"/>
                </a:solidFill>
                <a:latin typeface="Arial"/>
              </a:rPr>
              <a:t>Top 1 model in each tier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1850" y="228600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76932"/>
                </a:solidFill>
                <a:latin typeface="Georgia"/>
              </a:rPr>
              <a:t>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00450" y="2314575"/>
            <a:ext cx="5029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1181C"/>
                </a:solidFill>
                <a:latin typeface="Arial"/>
              </a:rPr>
              <a:t>XCMG: same capacity, lower price · Ferrari: European features, faster delivery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238500" y="2705100"/>
          <a:ext cx="5486400" cy="23336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7516"/>
                <a:gridCol w="555304"/>
                <a:gridCol w="1888032"/>
                <a:gridCol w="1888032"/>
                <a:gridCol w="577516"/>
              </a:tblGrid>
              <a:tr h="23336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TM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CLASS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TOP 1 (TARGET)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CHALLENGER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VS TOP 1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3336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Medium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Amco Veba V825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Ferrari 268 A4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076932"/>
                          </a:solidFill>
                          <a:latin typeface="Arial"/>
                        </a:rPr>
                        <a:t>−23%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3336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Medium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Sany Palfinger SPK32080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XCMG SQZ325.4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AB6400"/>
                          </a:solidFill>
                          <a:latin typeface="Arial"/>
                        </a:rPr>
                        <a:t>+4%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</a:tr>
              <a:tr h="23336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Medium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Sany Palfinger SPK36080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XCMG SQZ365.4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076932"/>
                          </a:solidFill>
                          <a:latin typeface="Arial"/>
                        </a:rPr>
                        <a:t>−9%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3336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Medium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Sany Palfinger SPK42502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Ferrari 746 A4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CE2C31"/>
                          </a:solidFill>
                          <a:latin typeface="Arial"/>
                        </a:rPr>
                        <a:t>+48%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  <a:tr h="23336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Heavy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Amco Veba V950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Ferrari FBR450R A4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076932"/>
                          </a:solidFill>
                          <a:latin typeface="Arial"/>
                        </a:rPr>
                        <a:t>−32%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3336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Heavy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Palfinger PK 53002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Ferrari 9601CR A8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CE2C31"/>
                          </a:solidFill>
                          <a:latin typeface="Arial"/>
                        </a:rPr>
                        <a:t>+85%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  <a:tr h="23336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Heavy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Sany Palfinger SPK61502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Ferrari 9661C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3336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Heavy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Palfinger PK 76002 EH D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Ferrari 990R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CE2C31"/>
                          </a:solidFill>
                          <a:latin typeface="Arial"/>
                        </a:rPr>
                        <a:t>+79%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  <a:tr h="23336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Heavy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Palfinger PK 88002 EH C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Ferrari TBC (price list)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PROJECT CHARTER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PROJECT CHARTER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Sell the first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Ferrari and 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challenger cranes by March 2027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09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524000"/>
            <a:ext cx="5334000" cy="781050"/>
          </a:xfrm>
          <a:prstGeom prst="roundRect">
            <a:avLst>
              <a:gd name="adj" fmla="val 12195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750" y="1628775"/>
            <a:ext cx="50673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BACKGROUND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750" y="1809750"/>
            <a:ext cx="50673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1181C"/>
                </a:solidFill>
                <a:latin typeface="Arial"/>
              </a:rPr>
              <a:t>HYVA no longer makes cranes, so Triatra has no crane brand. Medium and Heavy cranes are 64% of import value, led by Sany Palfinger and Palfinger.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3400" y="2400300"/>
            <a:ext cx="5334000" cy="781050"/>
          </a:xfrm>
          <a:prstGeom prst="roundRect">
            <a:avLst>
              <a:gd name="adj" fmla="val 12195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6750" y="2505075"/>
            <a:ext cx="50673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GOAL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2686050"/>
            <a:ext cx="50673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1181C"/>
                </a:solidFill>
                <a:latin typeface="Arial"/>
              </a:rPr>
              <a:t>Put a cheaper or faster challenger against the Top 1 in each tm tier, and close the first sale.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3400" y="3276600"/>
            <a:ext cx="5334000" cy="781050"/>
          </a:xfrm>
          <a:prstGeom prst="roundRect">
            <a:avLst>
              <a:gd name="adj" fmla="val 12195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66750" y="3381375"/>
            <a:ext cx="50673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3562350"/>
            <a:ext cx="50673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1181C"/>
                </a:solidFill>
                <a:latin typeface="Arial"/>
              </a:rPr>
              <a:t>Medium and Heavy (&gt; 25 tm)  ·  4C → STP → 4P  ·  F.lli Ferrari and XCMG (Fassi for Petrosea only)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400" y="4152900"/>
            <a:ext cx="3429000" cy="2324100"/>
          </a:xfrm>
          <a:prstGeom prst="roundRect">
            <a:avLst>
              <a:gd name="adj" fmla="val 409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66750" y="4257675"/>
            <a:ext cx="31623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KPI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66750" y="4400550"/>
          <a:ext cx="3162301" cy="1828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97644"/>
                <a:gridCol w="2196042"/>
                <a:gridCol w="768615"/>
              </a:tblGrid>
              <a:tr h="30480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MILESTONE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DUE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4C, STP, 4P approved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Aug 2026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Ferrari and XCMG terms signed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Dec 2026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3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Sales kit ready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Dec 2026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4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Quotations sent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Feb 2027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5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First unit sold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Mar 2027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4076700" y="4152900"/>
            <a:ext cx="1790700" cy="2324100"/>
          </a:xfrm>
          <a:prstGeom prst="roundRect">
            <a:avLst>
              <a:gd name="adj" fmla="val 5319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210050" y="42672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10050" y="4533900"/>
            <a:ext cx="1562100" cy="171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 i="0">
                <a:solidFill>
                  <a:srgbClr val="11181C"/>
                </a:solidFill>
                <a:latin typeface="Georgia"/>
              </a:rPr>
              <a:t>First unit sold</a:t>
            </a:r>
          </a:p>
          <a:p>
            <a:pPr algn="l">
              <a:lnSpc>
                <a:spcPct val="110000"/>
              </a:lnSpc>
            </a:pPr>
            <a:r>
              <a:rPr sz="2400" b="0" i="1">
                <a:solidFill>
                  <a:srgbClr val="076932"/>
                </a:solidFill>
                <a:latin typeface="Georgia"/>
              </a:rPr>
              <a:t>March 2027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0" y="152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TIMELINE · JUN 2026 – MAR 2027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096000" y="1695450"/>
          <a:ext cx="5562600" cy="14668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943100"/>
                <a:gridCol w="361950"/>
                <a:gridCol w="361950"/>
                <a:gridCol w="361950"/>
                <a:gridCol w="361950"/>
                <a:gridCol w="361950"/>
                <a:gridCol w="361950"/>
                <a:gridCol w="361950"/>
                <a:gridCol w="361950"/>
                <a:gridCol w="361950"/>
                <a:gridCol w="361950"/>
              </a:tblGrid>
              <a:tr h="20955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ACTIVITY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JUN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JUL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AUG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SEP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OCT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NOV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DEC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JAN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FEB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MAR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0955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Market study (4C)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0955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STP and challenger choice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0955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Negotiate with Ferrari and XCMG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0955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Sales kit with Marcom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0955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Exhibition and customer visits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0955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Quotation → PO → first unit sold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096000" y="34480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TEAM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096000" y="3619500"/>
          <a:ext cx="5562600" cy="1371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38250"/>
                <a:gridCol w="4324350"/>
              </a:tblGrid>
              <a:tr h="22860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ROLE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NAME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697177"/>
                          </a:solidFill>
                          <a:latin typeface="Arial"/>
                        </a:rPr>
                        <a:t>Executive sponsor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Ricardo Tanada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697177"/>
                          </a:solidFill>
                          <a:latin typeface="Arial"/>
                        </a:rPr>
                        <a:t>Advisor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Ricardo Tanada · Ignatius Indrawan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697177"/>
                          </a:solidFill>
                          <a:latin typeface="Arial"/>
                        </a:rPr>
                        <a:t>Coordinator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Ignatius Indrawan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697177"/>
                          </a:solidFill>
                          <a:latin typeface="Arial"/>
                        </a:rPr>
                        <a:t>Project lead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Tiberias Krisgaharu Simu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697177"/>
                          </a:solidFill>
                          <a:latin typeface="Arial"/>
                        </a:rPr>
                        <a:t>Team members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Marketing Unit · Application Engineering · UTPE · Business Consultant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6096000" y="5295900"/>
            <a:ext cx="5562600" cy="1181100"/>
          </a:xfrm>
          <a:prstGeom prst="roundRect">
            <a:avLst>
              <a:gd name="adj" fmla="val 806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29350" y="5400675"/>
            <a:ext cx="52959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SUPPORT NEEDED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29350" y="5581650"/>
            <a:ext cx="5295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11181C"/>
                </a:solidFill>
                <a:latin typeface="Arial"/>
              </a:rPr>
              <a:t>Marcom: sales kit and exhibition material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11181C"/>
                </a:solidFill>
                <a:latin typeface="Arial"/>
              </a:rPr>
              <a:t>F.lli Ferrari: stock in China, parts in Malaysia, price cut on red tiers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11181C"/>
                </a:solidFill>
                <a:latin typeface="Arial"/>
              </a:rPr>
              <a:t>XCMG: special price for Triatra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STUDY · MARKET SIZE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STUDY · MARKET SIZE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Focus on Medium and Heavy: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64% of value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from 41% of units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10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UNITS IMPORTED PER YEAR BY CLASS · 2023 – 2026*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33400" y="1657350"/>
          <a:ext cx="6096000" cy="28575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33400" y="46291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TOTAL UNITS AND IMPORT VALUE · 2023 – 14 AUG 2026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33400" y="4800600"/>
          <a:ext cx="6096001" cy="16573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75765"/>
                <a:gridCol w="1314824"/>
                <a:gridCol w="836706"/>
                <a:gridCol w="2032000"/>
                <a:gridCol w="836706"/>
              </a:tblGrid>
              <a:tr h="27622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CLASS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LIFTING MOMENT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Light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≤ 8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177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Rp 40.118.000.000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12%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Small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8 – 25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200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Rp 77.241.000.000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24%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Medium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25 – 45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196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Rp 118.328.000.000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36%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Heavy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&gt; 45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65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Rp 91.154.000.000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28%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Total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638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Rp 326.841.000.000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6934200" y="1524000"/>
            <a:ext cx="2286000" cy="990600"/>
          </a:xfrm>
          <a:prstGeom prst="roundRect">
            <a:avLst>
              <a:gd name="adj" fmla="val 9615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086600" y="1638300"/>
            <a:ext cx="1905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076932"/>
                </a:solidFill>
                <a:latin typeface="Georgia"/>
              </a:rPr>
              <a:t>67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190750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697177"/>
                </a:solidFill>
                <a:latin typeface="Arial"/>
              </a:rPr>
              <a:t>Medium + Heavy units / year · target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1524000"/>
            <a:ext cx="2286000" cy="990600"/>
          </a:xfrm>
          <a:prstGeom prst="roundRect">
            <a:avLst>
              <a:gd name="adj" fmla="val 9615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486900" y="1638300"/>
            <a:ext cx="1905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11181C"/>
                </a:solidFill>
                <a:latin typeface="Georgia"/>
              </a:rPr>
              <a:t>104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86900" y="2190750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697177"/>
                </a:solidFill>
                <a:latin typeface="Arial"/>
              </a:rPr>
              <a:t>Light + Small units / year · not target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34200" y="2667000"/>
            <a:ext cx="4724400" cy="2857500"/>
          </a:xfrm>
          <a:prstGeom prst="roundRect">
            <a:avLst>
              <a:gd name="adj" fmla="val 3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067550" y="2771775"/>
            <a:ext cx="4457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KEY POINTS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933700"/>
            <a:ext cx="44386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20000"/>
              </a:lnSpc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Medium + Heavy: 41% of units, 64% of import value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Value per unit: Rp 803 jt vs Rp 311 jt for Light + Small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88% of Medium and Heavy cranes go on trucks GVW ≥ 24 t: mining, construction, heavy logistics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2026 is partial: only 12 Medium and 1 Heavy unit to 14 Aug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4200" y="5676900"/>
            <a:ext cx="4724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889096"/>
                </a:solidFill>
                <a:latin typeface="Arial"/>
              </a:rPr>
              <a:t>*2026 annualised (Jan – 14 Aug × 1.61). Source: Indonesia import records HS 84269100 + 84264900; truck-mounted knuckle boom cranes; Zoomlion and Hyva excluded; USD 1 = Rp 17.803.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STUDY · BRAND LEADERS 2025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STUDY · BRAND LEADERS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Two leaders to beat: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Sany 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in Medium,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in Heavy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11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504950"/>
            <a:ext cx="5448300" cy="247650"/>
          </a:xfrm>
          <a:prstGeom prst="roundRect">
            <a:avLst>
              <a:gd name="adj" fmla="val 23076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7700" y="1504950"/>
            <a:ext cx="52197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 spc="100">
                <a:solidFill>
                  <a:srgbClr val="076932"/>
                </a:solidFill>
                <a:latin typeface="Arial"/>
              </a:rPr>
              <a:t>MEDIUM · 25 – 45 TM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18669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IMPORT VALUE BY BRAND · 2025 · RP M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33400" y="2019300"/>
          <a:ext cx="5448300" cy="21907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3400" y="4343400"/>
          <a:ext cx="5448299" cy="1066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54395"/>
                <a:gridCol w="1801967"/>
                <a:gridCol w="635988"/>
                <a:gridCol w="2119961"/>
                <a:gridCol w="635988"/>
              </a:tblGrid>
              <a:tr h="26670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BRAND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Sany 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30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13.226.000.000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47%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7.197.000.000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26%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3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4.869.000.000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17%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33400" y="5486400"/>
            <a:ext cx="54483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Total Medium 2025: 54 units · Rp 28,0 M. Sany Palfinger = Sany–Palfinger JV, made in China.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300" y="1504950"/>
            <a:ext cx="5448300" cy="247650"/>
          </a:xfrm>
          <a:prstGeom prst="roundRect">
            <a:avLst>
              <a:gd name="adj" fmla="val 23076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24600" y="1504950"/>
            <a:ext cx="52197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 spc="100">
                <a:solidFill>
                  <a:srgbClr val="076932"/>
                </a:solidFill>
                <a:latin typeface="Arial"/>
              </a:rPr>
              <a:t>HEAVY · &gt; 45 TM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0300" y="18669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IMPORT VALUE BY BRAND · 2025 · RP M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6210300" y="2019300"/>
          <a:ext cx="5448300" cy="219075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210300" y="4343400"/>
          <a:ext cx="5448299" cy="1066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54395"/>
                <a:gridCol w="1801967"/>
                <a:gridCol w="635988"/>
                <a:gridCol w="2119961"/>
                <a:gridCol w="635988"/>
              </a:tblGrid>
              <a:tr h="26670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BRAND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22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29.738.000.000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62%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Amco Veba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7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11.065.000.000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23%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3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4.647.000.000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10%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210300" y="5486400"/>
            <a:ext cx="54483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Total Heavy 2025: 35 units · Rp 48,0 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3400" y="5886450"/>
            <a:ext cx="11125200" cy="590550"/>
          </a:xfrm>
          <a:prstGeom prst="roundRect">
            <a:avLst>
              <a:gd name="adj" fmla="val 16129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5800" y="5981700"/>
            <a:ext cx="10820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Both leaders are far ahead of the next brand in value: Sany Palfinger 1.8× XCMG in Medium, Palfinger 2.7× Amco Veba in Heavy.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Scope is 2025 only, so figures are smaller than the 2023 – 2026 totals.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STP · MEDIUM CLASS 25–45 TM · 1 /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STP · MEDIUM CLASS 25–45 TM · 1 /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Medium: target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Sany 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with XCMG at 30–40 tm and Ferrari at 25–30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12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33337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88386"/>
                <a:gridCol w="532944"/>
                <a:gridCol w="799416"/>
                <a:gridCol w="1310153"/>
                <a:gridCol w="1310153"/>
                <a:gridCol w="532944"/>
                <a:gridCol w="688386"/>
                <a:gridCol w="1421183"/>
                <a:gridCol w="1088093"/>
                <a:gridCol w="1332359"/>
                <a:gridCol w="1421183"/>
              </a:tblGrid>
              <a:tr h="247650">
                <a:tc gridSpan="11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Medium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28600"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Size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Top 1 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30480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49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19%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Amco Veba*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V825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69%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650.000.000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268 A4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500.000.000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SPK32080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33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36%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530.000.000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SQZ325.4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550.000.000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66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38%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SPK36080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37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660.000.000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SQZ365.4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600.000.000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19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12%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SPK42502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18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93%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960.000.000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746 A4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1.420.000.000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67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SEGMENTATION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Medium class split into 4 tm tiers. 30–40 tm holds 65% of Medium units (128 of 196) and 69% of value.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26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259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TARGETING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9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Top 1 model of each tier: Sany Palfinger at 30–45 tm. At 25–30 tm Sany Palfinger has no model, so Amco Veba V825 is the target.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18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851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POSITIONING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51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XCMG: same capacity as Sany Palfinger at a lower price. Ferrari 268 A4: European features, 23% cheaper than Amco Veba V825.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6210300"/>
            <a:ext cx="111252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Period Jan 2023 – 14 Aug 2026. Market share = tier value / class value; value = units × highest import unit price per model (estimate, incl. duty &amp; tax). Top 1 share = Top 1 model value / tier value. * Top 1 brand has no model in this tier: next-largest brand shown. Fill: green = challenger cheaper, yellow = up to +30%, red = over +30%.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MEDIUM CLASS 25–45 TM · 2 /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MEDIUM CLASS 25–45 TM · 2 /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Medium: XCMG wins on price;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renegotiate Ferrari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before selling 40–45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13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4191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1500"/>
                <a:gridCol w="704850"/>
                <a:gridCol w="628650"/>
                <a:gridCol w="933450"/>
                <a:gridCol w="2419350"/>
                <a:gridCol w="2209800"/>
                <a:gridCol w="685800"/>
                <a:gridCol w="742950"/>
                <a:gridCol w="1104900"/>
                <a:gridCol w="1123950"/>
              </a:tblGrid>
              <a:tr h="228600">
                <a:tc gridSpan="10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Medium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Special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Equal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Winning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992947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268 A4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500.000.000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Amco Veba Articulated Powerlink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Amco Veba AVPS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Amco Veba EBB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Amco Veba Magic Touch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Extension speed: Ferrari RS; Amco Veba: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Amco Veba: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−23%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610124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SQZ325.4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550.000.000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XCMG Load limiter*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Needs a special price to beat Sany Palfinger (now +4%)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AB6400"/>
                          </a:solidFill>
                          <a:latin typeface="Arial"/>
                        </a:rPr>
                        <a:t>+4%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AB6400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special price with XCMG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610124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SQZ365.4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600.000.000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XCMG Load limiter*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price: −9% vs Sany Palfinger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−9%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special price with XCMG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120555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746 A4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1.420.000.000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Sany Palfinger HPLS (MH)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Sany Palfinger High speed ext. (ROU)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Linkage: Ferrari Red Power;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Auto fold: Ferrari Magic Touch (opens and stows the crane automatically); Sany Palfinger: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+48%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Green = challenger 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415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FF7C2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8607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Yellow = 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EEB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0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Red = over +30%: negotiate price with 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343650"/>
            <a:ext cx="11125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Price = challenger price vs Top 1 model price. Equal features = both brands have the system (challenger name = Top 1 name). Winning features = only the challenger has it. * XCMG feature names to be verified with the XCMG datasheet.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STP · HEAVY CLASS &gt; 45 TM · 1 /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STP · HEAVY CLASS &gt; 45 TM · 1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Heavy: Ferrari is the only challenger and is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cheaper only at 45–50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14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33337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88386"/>
                <a:gridCol w="532944"/>
                <a:gridCol w="799416"/>
                <a:gridCol w="1310153"/>
                <a:gridCol w="1310153"/>
                <a:gridCol w="532944"/>
                <a:gridCol w="688386"/>
                <a:gridCol w="1421183"/>
                <a:gridCol w="1088093"/>
                <a:gridCol w="1332359"/>
                <a:gridCol w="1421183"/>
              </a:tblGrid>
              <a:tr h="247650">
                <a:tc gridSpan="11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28600"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Size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Top 1 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30480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17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26%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Amco Veba*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V950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81%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1.990.000.000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FBR450R A4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1.350.000.000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63%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PK 53002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39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95%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1.760.000.000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9601CR A8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3.260.000.000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Palfinger*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SPK61502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1.400.000.000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9661C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PK 76002 EH D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2.290.000.000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990R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4.110.000.000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PK 88002 EH 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2.220.000.000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TBC (price list)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85 – 90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5%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GSQZ880.6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50%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1.320.000.000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697177"/>
                          </a:solidFill>
                          <a:latin typeface="Arial"/>
                        </a:rPr>
                        <a:t>No challenger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67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SEGMENTATION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Heavy class split into 6 tm tiers. 50–55 tm holds 62% of Heavy units (40 of 65), almost all Palfinger PK 53002.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26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259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TARGETING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9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Top 1 model of each tier: Palfinger at 50–55, 70–75 and 80–85 tm. Amco Veba (45–50) and Sany Palfinger (60–65) where Palfinger has no model.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18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851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POSITIONING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51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Ferrari: the same European features as Palfinger, delivered faster from stock in China (~14 weeks) against Europe-built leaders.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6210300"/>
            <a:ext cx="111252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Period Jan 2023 – 14 Aug 2026. Market share = tier value / class value; value = units × highest import unit price per model (estimate, incl. duty &amp; tax). Top 1 share = Top 1 model value / tier value. * Top 1 brand has no model in this tier: next-largest brand shown. Fill: green = challenger cheaper, yellow = up to +30%, red = over +30%.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HEAVY CLASS 45–65 TM · 2 /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HEAVY CLASS 45–65 TM · 2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Heavy 45–65 tm: Ferrari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matches or beats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the leader on features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15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4191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1500"/>
                <a:gridCol w="704850"/>
                <a:gridCol w="628650"/>
                <a:gridCol w="933450"/>
                <a:gridCol w="2419350"/>
                <a:gridCol w="2209800"/>
                <a:gridCol w="685800"/>
                <a:gridCol w="742950"/>
                <a:gridCol w="1104900"/>
                <a:gridCol w="1123950"/>
              </a:tblGrid>
              <a:tr h="228600">
                <a:tc gridSpan="10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Special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Equal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Winning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94869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FBR450R A4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1.350.000.000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Amco Veba Articulated Powerlink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Amco Veba AVPS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Amco Veba EBB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Amco Veba Magic Touch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Extension speed: Ferrari RS; Amco Veba: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Amco Veba: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−32%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31445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9601CR A8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3.260.000.000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Palfinger Power Link Plus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Palfinger HPLS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Palfinger High Speed Extension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Oscillation: Ferrari SDV = Palfinger AOS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Palfinger PALTRONIC 150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Palfinger P-Fold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delivery: stock in China (~14 weeks) vs Palfinger built in Europe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+85%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07061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9661C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Sany Palfinger HPLS (MH)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Sany Palfinger High speed ext. (ROU)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Linkage: Ferrari Red Power;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Auto fold: Ferrari Magic Touch (opens and stows the crane automatically); Sany Palfinger: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Green = challenger 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415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FF7C2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8607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Yellow = 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EEB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0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Red = over +30%: negotiate price with 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343650"/>
            <a:ext cx="11125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Price = challenger price vs Top 1 model price. Equal features = both brands have the system (challenger name = Top 1 name). Winning features = only the challenger has it. * XCMG feature names to be verified with the XCMG datasheet.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HEAVY CLASS 70–90 TM · 3 /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HEAVY CLASS 70–90 TM · 3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Heavy 70–90 tm: same features as Palfinger, so win on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delivery time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16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4191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1500"/>
                <a:gridCol w="704850"/>
                <a:gridCol w="628650"/>
                <a:gridCol w="933450"/>
                <a:gridCol w="2419350"/>
                <a:gridCol w="2209800"/>
                <a:gridCol w="685800"/>
                <a:gridCol w="742950"/>
                <a:gridCol w="1104900"/>
                <a:gridCol w="1123950"/>
              </a:tblGrid>
              <a:tr h="228600">
                <a:tc gridSpan="10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Special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Equal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Winning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1476436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990R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4.110.000.000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Palfinger Power Link Plus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Palfinger HPLS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Palfinger High Speed Extension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Oscillation: Ferrari SDV = Palfinger AOS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Palfinger PALTRONIC 150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Palfinger P-Fold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delivery: stock in China (~14 weeks) vs Palfinger built in Europe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+79%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476436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 (price list)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Palfinger Power Link Plus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Palfinger HPLS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Palfinger High Speed Extension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Oscillation: Ferrari SDV = Palfinger AOS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Palfinger PALTRONIC 150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Palfinger P-Fold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delivery: stock in China (~14 weeks) vs Palfinger built in Europe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80878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85 – 90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697177"/>
                          </a:solidFill>
                          <a:latin typeface="Arial"/>
                        </a:rPr>
                        <a:t>No challenger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697177"/>
                          </a:solidFill>
                          <a:latin typeface="Arial"/>
                        </a:rPr>
                        <a:t>–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Green = challenger 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415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FF7C2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8607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Yellow = 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EEB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0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Red = over +30%: negotiate price with 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343650"/>
            <a:ext cx="11125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Price = challenger price vs Top 1 model price. Equal features = both brands have the system (challenger name = Top 1 name). Winning features = only the challenger has it. * XCMG feature names to be verified with the XCMG datasheet.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CONCLUSION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Partner with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F.lli Ferrari and 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; keep Fassi for Petrosea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17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85900"/>
            <a:ext cx="3429000" cy="3238500"/>
          </a:xfrm>
          <a:prstGeom prst="roundRect">
            <a:avLst>
              <a:gd name="adj" fmla="val 294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1600200"/>
            <a:ext cx="3124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81C"/>
                </a:solidFill>
                <a:latin typeface="Georgia"/>
              </a:rPr>
              <a:t>XCMG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943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MEDIUM · PRICE BUYERS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85800" y="2133600"/>
          <a:ext cx="3124200" cy="542925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69471"/>
                <a:gridCol w="1673679"/>
                <a:gridCol w="781050"/>
              </a:tblGrid>
              <a:tr h="18097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TM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MODEL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VS TOP 1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SQZ325.4 vs SPK32080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AB6400"/>
                          </a:solidFill>
                          <a:latin typeface="Arial"/>
                        </a:rPr>
                        <a:t>+4%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SQZ365.4 vs SPK36080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−9%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85800" y="2771775"/>
            <a:ext cx="3124200" cy="1895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30–40 tm is 65% of Medium units and 69% of value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Ask XCMG for a special price at both tiers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Partnership terms needed: GM Tractors is XCMG's official distributor in Indonesia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Bundle crane + flatdeck + installation; exhibitions with Marcom sales kit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1485900"/>
            <a:ext cx="4953000" cy="3238500"/>
          </a:xfrm>
          <a:prstGeom prst="roundRect">
            <a:avLst>
              <a:gd name="adj" fmla="val 2941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267200" y="1600200"/>
            <a:ext cx="4648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81C"/>
                </a:solidFill>
                <a:latin typeface="Georgia"/>
              </a:rPr>
              <a:t>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1943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HEAVY · QUALITY BUYERS · PLUS 25–30 AND 40–45 TM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267200" y="2133600"/>
          <a:ext cx="4648200" cy="1447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96043"/>
                <a:gridCol w="2490107"/>
                <a:gridCol w="1162050"/>
              </a:tblGrid>
              <a:tr h="18097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TM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MODEL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VS TOP 1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268 A4 vs V825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−23%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746 A4 vs SPK42502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+48%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FBR450R A4 vs V950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−32%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9601CR A8 vs PK 53002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+85%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9661C vs SPK61502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990R vs PK 76002 EH 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+79%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TBC (price list) vs PK 88002 EH C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4267200" y="3676650"/>
            <a:ext cx="4648200" cy="990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Negotiate price at the red tiers: 40–45, 50–55 and 70–75 tm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Stock units in China (~14 weeks) and parts in Malaysia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Bundle + 2-year warranty; exhibitions with Marcom sales kit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20200" y="1485900"/>
            <a:ext cx="2438400" cy="3238500"/>
          </a:xfrm>
          <a:prstGeom prst="roundRect">
            <a:avLst>
              <a:gd name="adj" fmla="val 390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72600" y="1600200"/>
            <a:ext cx="2133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81C"/>
                </a:solidFill>
                <a:latin typeface="Georgia"/>
              </a:rPr>
              <a:t>Fassi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1943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KEY ACCOUNT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133600"/>
            <a:ext cx="2133600" cy="2533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Petrosea buys Fassi only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Keep Fassi supply for this account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Outside the Ferrari + XCMG challenger plan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3400" y="4857750"/>
            <a:ext cx="11125200" cy="1619250"/>
          </a:xfrm>
          <a:prstGeom prst="roundRect">
            <a:avLst>
              <a:gd name="adj" fmla="val 5882"/>
            </a:avLst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2000" y="5048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DECISIONS NEEDED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Approve partnership talks with F.lli Ferrari and XCMG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15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15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Mandate Ferrari price and stock negotiation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Budget for exhibitions and Marcom sales kit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" name="Picture 2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81000"/>
            <a:ext cx="540131" cy="2476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2381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590800"/>
            <a:ext cx="1095375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0" i="0">
                <a:solidFill>
                  <a:srgbClr val="FFFFFF"/>
                </a:solidFill>
                <a:latin typeface="Georgia"/>
              </a:rPr>
              <a:t>Questions and </a:t>
            </a:r>
            <a:r>
              <a:rPr sz="4000" b="0" i="1">
                <a:solidFill>
                  <a:srgbClr val="83E7AE"/>
                </a:solidFill>
                <a:latin typeface="Georgia"/>
              </a:rPr>
              <a:t>feedback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 are welcome.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00050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1C8CD"/>
                </a:solidFill>
                <a:latin typeface="Arial"/>
              </a:rPr>
              <a:t>Tiberias Krisgaharu Simu  ·  Marketing Strategic 2 Associate  ·  PT Triatra Sinergia Pratama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600" y="6515100"/>
            <a:ext cx="10972800" cy="0"/>
          </a:xfrm>
          <a:prstGeom prst="line">
            <a:avLst/>
          </a:prstGeom>
          <a:ln w="9525">
            <a:solidFill>
              <a:srgbClr val="30393E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09600" y="659130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7D868C"/>
                </a:solidFill>
                <a:latin typeface="Arial"/>
              </a:rPr>
              <a:t>NEDP MID YEAR REVIEW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77400" y="659130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7D868C"/>
                </a:solidFill>
                <a:latin typeface="Arial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