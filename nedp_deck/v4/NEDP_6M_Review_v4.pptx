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1C8CD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49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889096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58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22C96A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58</c:v>
                </c:pt>
                <c:pt idx="2">
                  <c:v>54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76932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>
                  <a:solidFill>
                    <a:srgbClr val="4D555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00">
                <a:solidFill>
                  <a:srgbClr val="4D555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69717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C1C8CD"/>
              </a:solidFill>
            </c:spPr>
          </c:dPt>
          <c:dPt>
            <c:idx val="3"/>
            <c:spPr>
              <a:solidFill>
                <a:srgbClr val="076932"/>
              </a:solidFill>
            </c:spPr>
          </c:dPt>
          <c:cat>
            <c:strRef>
              <c:f>Sheet1!$A$2:$A$5</c:f>
              <c:strCache>
                <c:ptCount val="4"/>
                <c:pt idx="0">
                  <c:v>Amco Veba</c:v>
                </c:pt>
                <c:pt idx="1">
                  <c:v>Palfinger</c:v>
                </c:pt>
                <c:pt idx="2">
                  <c:v>XCMG</c:v>
                </c:pt>
                <c:pt idx="3">
                  <c:v>Sany Palfinger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14</c:v>
                </c:pt>
                <c:pt idx="3">
                  <c:v>30</c:v>
                </c:pt>
              </c:numCache>
            </c:numRef>
          </c:val>
        </c:ser>
        <c:dLbls>
          <c:numFmt formatCode="0&quot; units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076932"/>
              </a:solidFill>
            </c:spPr>
          </c:dPt>
          <c:cat>
            <c:strRef>
              <c:f>Sheet1!$A$2:$A$4</c:f>
              <c:strCache>
                <c:ptCount val="3"/>
                <c:pt idx="0">
                  <c:v>XCMG</c:v>
                </c:pt>
                <c:pt idx="1">
                  <c:v>Amco Veba</c:v>
                </c:pt>
                <c:pt idx="2">
                  <c:v>Palfinger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7</c:v>
                </c:pt>
                <c:pt idx="2">
                  <c:v>22</c:v>
                </c:pt>
              </c:numCache>
            </c:numRef>
          </c:val>
        </c:ser>
        <c:dLbls>
          <c:numFmt formatCode="0&quot; units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PART 01 ·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Who I am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what I bring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to Triatra.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About me  ·  Onboarding  ·  Company  ·  Role  · 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PERSONAL INFORMATION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PERSONAL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A management graduate now running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Small Suppeq and Truck Others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24000"/>
            <a:ext cx="2857500" cy="49530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750" y="1628775"/>
            <a:ext cx="2590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180975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81C"/>
                </a:solidFill>
                <a:latin typeface="Georgia"/>
              </a:rPr>
              <a:t>Tiberias Krisgaharu Simu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2057400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76932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24384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5812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6750" y="28194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66750" y="29527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DIVISION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0956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Unit &amp; Strategic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6750" y="33337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66750" y="3467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PRODUCTS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36099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Small Suppeq · Truck Others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6750" y="38481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66750" y="39814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PLACE, DATE OF BIRTH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1243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Kupang, 22 April 2001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6750" y="43624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66750" y="44958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" y="46386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0822 7222 2463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6750" y="48768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3543300" y="1524000"/>
            <a:ext cx="4762500" cy="914400"/>
          </a:xfrm>
          <a:prstGeom prst="roundRect">
            <a:avLst>
              <a:gd name="adj" fmla="val 1041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676650" y="16287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EDUCATION</a:t>
            </a:r>
          </a:p>
        </p:txBody>
      </p:sp>
      <p:pic>
        <p:nvPicPr>
          <p:cNvPr id="31" name="Picture 30" descr="f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1814497"/>
            <a:ext cx="438150" cy="42865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48150" y="1866900"/>
            <a:ext cx="3905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Universitas Sanata Dharma, Yogyakarta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150" y="2038350"/>
            <a:ext cx="3905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Bachelor (S1) · Management · Faculty of Economics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43300" y="2552700"/>
            <a:ext cx="4762500" cy="2400300"/>
          </a:xfrm>
          <a:prstGeom prst="roundRect">
            <a:avLst>
              <a:gd name="adj" fmla="val 396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676650" y="26574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WORK EXPERIENCE</a:t>
            </a:r>
          </a:p>
        </p:txBody>
      </p:sp>
      <p:pic>
        <p:nvPicPr>
          <p:cNvPr id="36" name="Picture 35" descr="f2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700" y="2878264"/>
            <a:ext cx="533400" cy="301371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343400" y="28765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0384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34250" y="29146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34250" y="29146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2026 – now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95700" y="33909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2" name="Picture 41" descr="f2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5700" y="3658298"/>
            <a:ext cx="533400" cy="112903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343400" y="3562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Outlier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37242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Team Lead Data Annotator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4250" y="3600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34250" y="3600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2023 – 2025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95700" y="40767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8" name="Picture 47" descr="f2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429" y="4210050"/>
            <a:ext cx="317942" cy="381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343400" y="42481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Krishma International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43400" y="44100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Coordinator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34250" y="42862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334250" y="42862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43300" y="5067300"/>
            <a:ext cx="4762500" cy="1409700"/>
          </a:xfrm>
          <a:prstGeom prst="roundRect">
            <a:avLst>
              <a:gd name="adj" fmla="val 675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76650" y="51720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pic>
        <p:nvPicPr>
          <p:cNvPr id="55" name="Picture 54" descr="f2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28" y="5410200"/>
            <a:ext cx="436694" cy="4381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248150" y="5467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HMJM Universitas Sanata Dharma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48150" y="56388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President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34250" y="5505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334250" y="5505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2022</a:t>
            </a:r>
          </a:p>
        </p:txBody>
      </p:sp>
      <p:pic>
        <p:nvPicPr>
          <p:cNvPr id="60" name="Picture 59" descr="f2_6.png"/>
          <p:cNvPicPr>
            <a:picLocks noChangeAspect="1"/>
          </p:cNvPicPr>
          <p:nvPr/>
        </p:nvPicPr>
        <p:blipFill>
          <a:blip r:embed="rId8"/>
          <a:srcRect l="1538" r="1538"/>
          <a:stretch>
            <a:fillRect/>
          </a:stretch>
        </p:blipFill>
        <p:spPr>
          <a:xfrm>
            <a:off x="8458200" y="1524000"/>
            <a:ext cx="3200400" cy="4953000"/>
          </a:xfrm>
          <a:prstGeom prst="roundRect">
            <a:avLst>
              <a:gd name="adj" fmla="val 4000"/>
            </a:avLst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ONBOARDING JOURNEY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ONBOARDING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programs built my base;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AHEMCE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comes next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03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2950" y="1676400"/>
            <a:ext cx="10706100" cy="0"/>
          </a:xfrm>
          <a:prstGeom prst="line">
            <a:avLst/>
          </a:prstGeom>
          <a:ln w="15875">
            <a:solidFill>
              <a:srgbClr val="D7DBDF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6667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34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Basic Technical Course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07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15" name="Picture 14" descr="s3_4.jpg"/>
          <p:cNvPicPr>
            <a:picLocks noChangeAspect="1"/>
          </p:cNvPicPr>
          <p:nvPr/>
        </p:nvPicPr>
        <p:blipFill>
          <a:blip r:embed="rId3"/>
          <a:srcRect l="12963" r="12963"/>
          <a:stretch>
            <a:fillRect/>
          </a:stretch>
        </p:blipFill>
        <p:spPr>
          <a:xfrm>
            <a:off x="6858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16" name="Picture 15" descr="s3_5.jpg"/>
          <p:cNvPicPr>
            <a:picLocks noChangeAspect="1"/>
          </p:cNvPicPr>
          <p:nvPr/>
        </p:nvPicPr>
        <p:blipFill>
          <a:blip r:embed="rId4"/>
          <a:srcRect l="617" r="617"/>
          <a:stretch>
            <a:fillRect/>
          </a:stretch>
        </p:blipFill>
        <p:spPr>
          <a:xfrm>
            <a:off x="23495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TextBox 16"/>
          <p:cNvSpPr txBox="1"/>
          <p:nvPr/>
        </p:nvSpPr>
        <p:spPr>
          <a:xfrm>
            <a:off x="6858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Engine basics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Electrical system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Axle, wheel and suspension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Final drive and undercarriage</a:t>
            </a:r>
          </a:p>
        </p:txBody>
      </p:sp>
      <p:sp>
        <p:nvSpPr>
          <p:cNvPr id="19" name="Oval 18"/>
          <p:cNvSpPr/>
          <p:nvPr/>
        </p:nvSpPr>
        <p:spPr>
          <a:xfrm>
            <a:off x="44513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180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704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B-One · Orientation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53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23" name="Picture 22" descr="s3_7.jpg"/>
          <p:cNvPicPr>
            <a:picLocks noChangeAspect="1"/>
          </p:cNvPicPr>
          <p:nvPr/>
        </p:nvPicPr>
        <p:blipFill>
          <a:blip r:embed="rId5"/>
          <a:srcRect l="34371" r="34371"/>
          <a:stretch>
            <a:fillRect/>
          </a:stretch>
        </p:blipFill>
        <p:spPr>
          <a:xfrm>
            <a:off x="44704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24" name="Picture 23" descr="s3_6.jpg"/>
          <p:cNvPicPr>
            <a:picLocks noChangeAspect="1"/>
          </p:cNvPicPr>
          <p:nvPr/>
        </p:nvPicPr>
        <p:blipFill>
          <a:blip r:embed="rId6"/>
          <a:srcRect l="34371" r="34371"/>
          <a:stretch>
            <a:fillRect/>
          </a:stretch>
        </p:blipFill>
        <p:spPr>
          <a:xfrm>
            <a:off x="61341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25" name="TextBox 24"/>
          <p:cNvSpPr txBox="1"/>
          <p:nvPr/>
        </p:nvSpPr>
        <p:spPr>
          <a:xfrm>
            <a:off x="44704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04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8 Astra competencies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AI at 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Teamwork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Corporate bootcamp</a:t>
            </a:r>
          </a:p>
        </p:txBody>
      </p:sp>
      <p:sp>
        <p:nvSpPr>
          <p:cNvPr id="27" name="Oval 26"/>
          <p:cNvSpPr/>
          <p:nvPr/>
        </p:nvSpPr>
        <p:spPr>
          <a:xfrm>
            <a:off x="8235950" y="16192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26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D7DBDF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550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AHEMCE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299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NEXT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0" y="3143250"/>
            <a:ext cx="32512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4D555C"/>
                </a:solidFill>
                <a:latin typeface="Georgia"/>
              </a:rPr>
              <a:t>Astra Heavy Equipment, Mining, Construction and Energy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50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WILL 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50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Heavy equipment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Mining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Contracting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Energy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sells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PATRIA and ULTRA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to four industries for the UTPE group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SITE OPERATION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serves customers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16 points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across Indonesia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05 / 18</a:t>
            </a:r>
          </a:p>
        </p:txBody>
      </p:sp>
      <p:pic>
        <p:nvPicPr>
          <p:cNvPr id="11" name="Picture 10" descr="map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1525429"/>
            <a:ext cx="9334500" cy="3407093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3807333" y="3931651"/>
            <a:ext cx="171450" cy="1714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3638379" y="3790938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3096044" y="3385494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2617184" y="252656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5295252" y="3298273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5473541" y="3381065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6</a:t>
            </a:r>
          </a:p>
        </p:txBody>
      </p:sp>
      <p:sp>
        <p:nvSpPr>
          <p:cNvPr id="18" name="Oval 17"/>
          <p:cNvSpPr/>
          <p:nvPr/>
        </p:nvSpPr>
        <p:spPr>
          <a:xfrm>
            <a:off x="5465140" y="3062843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5592089" y="299265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8</a:t>
            </a:r>
          </a:p>
        </p:txBody>
      </p:sp>
      <p:sp>
        <p:nvSpPr>
          <p:cNvPr id="20" name="Oval 19"/>
          <p:cNvSpPr/>
          <p:nvPr/>
        </p:nvSpPr>
        <p:spPr>
          <a:xfrm>
            <a:off x="5355927" y="282093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9</a:t>
            </a:r>
          </a:p>
        </p:txBody>
      </p:sp>
      <p:sp>
        <p:nvSpPr>
          <p:cNvPr id="21" name="Oval 20"/>
          <p:cNvSpPr/>
          <p:nvPr/>
        </p:nvSpPr>
        <p:spPr>
          <a:xfrm>
            <a:off x="5750776" y="287851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2" name="Oval 21"/>
          <p:cNvSpPr/>
          <p:nvPr/>
        </p:nvSpPr>
        <p:spPr>
          <a:xfrm>
            <a:off x="5547284" y="267579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11</a:t>
            </a:r>
          </a:p>
        </p:txBody>
      </p:sp>
      <p:sp>
        <p:nvSpPr>
          <p:cNvPr id="23" name="Oval 22"/>
          <p:cNvSpPr/>
          <p:nvPr/>
        </p:nvSpPr>
        <p:spPr>
          <a:xfrm>
            <a:off x="5588356" y="251804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5886126" y="2195738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13</a:t>
            </a:r>
          </a:p>
        </p:txBody>
      </p:sp>
      <p:sp>
        <p:nvSpPr>
          <p:cNvPr id="25" name="Oval 24"/>
          <p:cNvSpPr/>
          <p:nvPr/>
        </p:nvSpPr>
        <p:spPr>
          <a:xfrm>
            <a:off x="5897328" y="252792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26" name="Oval 25"/>
          <p:cNvSpPr/>
          <p:nvPr/>
        </p:nvSpPr>
        <p:spPr>
          <a:xfrm>
            <a:off x="6439662" y="445259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9832753" y="357969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28" name="Oval 27"/>
          <p:cNvSpPr/>
          <p:nvPr/>
        </p:nvSpPr>
        <p:spPr>
          <a:xfrm>
            <a:off x="8572500" y="133350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058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30" name="Oval 29"/>
          <p:cNvSpPr/>
          <p:nvPr/>
        </p:nvSpPr>
        <p:spPr>
          <a:xfrm>
            <a:off x="9620250" y="133350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0668000" y="133350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13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334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Jakarta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Enim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Lingga Raya 10, Muara Enim, Sumatera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Pekanbaru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Soekarno Hatta KM 3,5 No. 151, Riau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Banjarmasin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KM 13,5 Gambut, Kalimantan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Sungai Danau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Ds. Karang Indah, Angsana, Tanah Bumbu,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7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Tabalong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A. Yani KM 7,5 Maburai, Tabalong,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Batu Kajang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Negara KM 140, Batu Sopang, Paser,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1722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Muara Teweh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No. 85, Barito Utara, Kalteng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Balikpapan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Jend. Sudirman No. 844, Balikpapan,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Melak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Hauling Road Trubaindo, Kutai Barat,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Tabang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Workshop Buma Km 6, Hauling Road,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Redeb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Gunung Panjang No. 101B, Berau,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Sangatta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HDRS Tango Delta KPC, Kutai Timur,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Sumbawa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Memco Area Tongo, Sekongkang, Sumbawa Barat, NTB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Timika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Kuala Tembaga E-4, Kuala Kencana, Papua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ORGANIZATION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work in Marketing Strategic 2, under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Ignatius Indrawan 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8250" y="14287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05400" y="14859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Ceisar Centiaga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6287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DIRECTOR IN CHARGE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809750"/>
            <a:ext cx="0" cy="1143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5048250" y="19240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05400" y="19812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21240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47800" y="2495550"/>
            <a:ext cx="9296400" cy="0"/>
          </a:xfrm>
          <a:prstGeom prst="line">
            <a:avLst/>
          </a:prstGeom>
          <a:ln w="12700">
            <a:solidFill>
              <a:srgbClr val="D7DBDF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096000" y="2305050"/>
            <a:ext cx="0" cy="1905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18669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334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05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Kresnanto A.W.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5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1 HEAD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34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05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5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34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05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863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276600" y="2590800"/>
            <a:ext cx="2819400" cy="3924300"/>
          </a:xfrm>
          <a:prstGeom prst="roundRect">
            <a:avLst>
              <a:gd name="adj" fmla="val 2702"/>
            </a:avLst>
          </a:prstGeom>
          <a:noFill/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3528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099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 (c)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99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2 HEAD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528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4099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Ignatius Indrawan 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99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DEPUTY HEAD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528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4099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99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528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4099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99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528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099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99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52800" y="56769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409950" y="57340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09950" y="58769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57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61722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2293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Ugik Praseno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93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3 HEAD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722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293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293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22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293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293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722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2293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293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722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293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93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3251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66" name="Rounded Rectangle 65"/>
          <p:cNvSpPr/>
          <p:nvPr/>
        </p:nvSpPr>
        <p:spPr>
          <a:xfrm>
            <a:off x="89916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0487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487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MARCOMM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916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0487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Karina Audina 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487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916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0487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Adinda Siti K.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487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9916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90487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Rahma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487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Graphic Designer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ROLES &amp; RESPONSIBILITY · SUPPLY CHAIN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ROLES &amp; RESPONSIBILITY ·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take every order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inquiry to delivery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two product lines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07 / 18</a:t>
            </a:r>
          </a:p>
        </p:txBody>
      </p:sp>
      <p:sp>
        <p:nvSpPr>
          <p:cNvPr id="10" name="Pentagon 9"/>
          <p:cNvSpPr/>
          <p:nvPr/>
        </p:nvSpPr>
        <p:spPr>
          <a:xfrm>
            <a:off x="533400" y="1409700"/>
            <a:ext cx="5667375" cy="323850"/>
          </a:xfrm>
          <a:prstGeom prst="homePlate">
            <a:avLst>
              <a:gd name="adj" fmla="val 3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1409700"/>
            <a:ext cx="522922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Arial"/>
              </a:rPr>
              <a:t>PRE-SALES</a:t>
            </a:r>
          </a:p>
        </p:txBody>
      </p:sp>
      <p:sp>
        <p:nvSpPr>
          <p:cNvPr id="12" name="Chevron 11"/>
          <p:cNvSpPr/>
          <p:nvPr/>
        </p:nvSpPr>
        <p:spPr>
          <a:xfrm>
            <a:off x="6143625" y="1409700"/>
            <a:ext cx="3797300" cy="323850"/>
          </a:xfrm>
          <a:prstGeom prst="chevron">
            <a:avLst>
              <a:gd name="adj" fmla="val 30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3175" y="1409700"/>
            <a:ext cx="33591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Arial"/>
              </a:rPr>
              <a:t>SALES</a:t>
            </a:r>
          </a:p>
        </p:txBody>
      </p:sp>
      <p:sp>
        <p:nvSpPr>
          <p:cNvPr id="14" name="Chevron 13"/>
          <p:cNvSpPr/>
          <p:nvPr/>
        </p:nvSpPr>
        <p:spPr>
          <a:xfrm>
            <a:off x="9883775" y="1409700"/>
            <a:ext cx="1774825" cy="323850"/>
          </a:xfrm>
          <a:prstGeom prst="chevron">
            <a:avLst>
              <a:gd name="adj" fmla="val 30000"/>
            </a:avLst>
          </a:prstGeom>
          <a:solidFill>
            <a:srgbClr val="0DA5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93325" y="1409700"/>
            <a:ext cx="148907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Arial"/>
              </a:rPr>
              <a:t>AFTER-SALES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9600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01  Inquiry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400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6750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spec and buying reason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project location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target price and lead time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urgency and PO date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Lead / opportunity in CRM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400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66750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03475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479675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02  Preliminary drawing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03475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536825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98725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Repeat order or new drawing?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Request in iServe; MKU Head assigns AE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AE drawing: repeat 1 day, minor 3, major 5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unit function, critical parts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Handle customer revisions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03475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536825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98725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3550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349750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03  Quotation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73550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406900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8800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Request quote to UTPE with drawing and target price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UTPE: price/COGS, lead time, validity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Input standard price; check GP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Submit PCR for approval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Watch SLA; escalate if late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73550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406900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8800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3625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219825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04  Negotiation &amp; CPO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43625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276975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8875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Revise lead time / spec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PO / PJB vs drawing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Validate order; SAP condition type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DP request / confirm order → SO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Extend PN, master data, profit sharing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PO interco: MKU Mgr → GM → Dir.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43625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276975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8875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13700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089900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05  Production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13700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147050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08950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Build follows QFD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Weekly progress to BC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Escalate major problems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Oversee FAT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13700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147050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8950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883775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959975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06  Delivery &amp; handover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83775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0017125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79025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Warehouse receives unit; QC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UTPE repairs if needed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Delivery plan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BAST and SPB signed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Documents to Finance for invoice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83775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0017125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79025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Warehouse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3400" y="4667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SMALL SUPPEQ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33400" y="481965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66" name="Picture 65" descr="ft_fuel_truck.webp.png"/>
          <p:cNvPicPr>
            <a:picLocks noChangeAspect="1"/>
          </p:cNvPicPr>
          <p:nvPr/>
        </p:nvPicPr>
        <p:blipFill>
          <a:blip r:embed="rId3"/>
          <a:srcRect l="18357" r="18357"/>
          <a:stretch>
            <a:fillRect/>
          </a:stretch>
        </p:blipFill>
        <p:spPr>
          <a:xfrm>
            <a:off x="533400" y="4895850"/>
            <a:ext cx="1778000" cy="1581150"/>
          </a:xfrm>
          <a:prstGeom prst="rect">
            <a:avLst/>
          </a:prstGeom>
        </p:spPr>
      </p:pic>
      <p:sp>
        <p:nvSpPr>
          <p:cNvPr id="67" name="Rectangle 66"/>
          <p:cNvSpPr/>
          <p:nvPr/>
        </p:nvSpPr>
        <p:spPr>
          <a:xfrm>
            <a:off x="5334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096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Fuel truck</a:t>
            </a:r>
          </a:p>
        </p:txBody>
      </p:sp>
      <p:pic>
        <p:nvPicPr>
          <p:cNvPr id="69" name="Picture 68" descr="wt_water_truck_clean.png"/>
          <p:cNvPicPr>
            <a:picLocks noChangeAspect="1"/>
          </p:cNvPicPr>
          <p:nvPr/>
        </p:nvPicPr>
        <p:blipFill>
          <a:blip r:embed="rId4"/>
          <a:srcRect l="18373" r="18373"/>
          <a:stretch>
            <a:fillRect/>
          </a:stretch>
        </p:blipFill>
        <p:spPr>
          <a:xfrm>
            <a:off x="2387600" y="4895850"/>
            <a:ext cx="1778000" cy="1581150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23876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24638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Water truck</a:t>
            </a:r>
          </a:p>
        </p:txBody>
      </p:sp>
      <p:pic>
        <p:nvPicPr>
          <p:cNvPr id="72" name="Picture 71" descr="lt_lube_truck.webp.png"/>
          <p:cNvPicPr>
            <a:picLocks noChangeAspect="1"/>
          </p:cNvPicPr>
          <p:nvPr/>
        </p:nvPicPr>
        <p:blipFill>
          <a:blip r:embed="rId5"/>
          <a:srcRect l="18373" r="18373"/>
          <a:stretch>
            <a:fillRect/>
          </a:stretch>
        </p:blipFill>
        <p:spPr>
          <a:xfrm>
            <a:off x="4241800" y="4895850"/>
            <a:ext cx="1778000" cy="1581150"/>
          </a:xfrm>
          <a:prstGeom prst="rect">
            <a:avLst/>
          </a:prstGeom>
        </p:spPr>
      </p:pic>
      <p:sp>
        <p:nvSpPr>
          <p:cNvPr id="73" name="Rectangle 72"/>
          <p:cNvSpPr/>
          <p:nvPr/>
        </p:nvSpPr>
        <p:spPr>
          <a:xfrm>
            <a:off x="42418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3180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Lube truck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200" y="4667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TRUCK OTHERS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172200" y="481965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77" name="Picture 76" descr="crane_truck_crop.png"/>
          <p:cNvPicPr>
            <a:picLocks noChangeAspect="1"/>
          </p:cNvPicPr>
          <p:nvPr/>
        </p:nvPicPr>
        <p:blipFill>
          <a:blip r:embed="rId6"/>
          <a:srcRect l="9615" r="9615"/>
          <a:stretch>
            <a:fillRect/>
          </a:stretch>
        </p:blipFill>
        <p:spPr>
          <a:xfrm>
            <a:off x="6172200" y="4895850"/>
            <a:ext cx="1778000" cy="1581150"/>
          </a:xfrm>
          <a:prstGeom prst="rect">
            <a:avLst/>
          </a:prstGeom>
        </p:spPr>
      </p:pic>
      <p:sp>
        <p:nvSpPr>
          <p:cNvPr id="78" name="Rectangle 77"/>
          <p:cNvSpPr/>
          <p:nvPr/>
        </p:nvSpPr>
        <p:spPr>
          <a:xfrm>
            <a:off x="61722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62484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Crane truck</a:t>
            </a:r>
          </a:p>
        </p:txBody>
      </p:sp>
      <p:pic>
        <p:nvPicPr>
          <p:cNvPr id="80" name="Picture 79" descr="mixer_truck.webp.png"/>
          <p:cNvPicPr>
            <a:picLocks noChangeAspect="1"/>
          </p:cNvPicPr>
          <p:nvPr/>
        </p:nvPicPr>
        <p:blipFill>
          <a:blip r:embed="rId7"/>
          <a:srcRect l="7722" r="7722"/>
          <a:stretch>
            <a:fillRect/>
          </a:stretch>
        </p:blipFill>
        <p:spPr>
          <a:xfrm>
            <a:off x="8026400" y="4895850"/>
            <a:ext cx="1778000" cy="1581150"/>
          </a:xfrm>
          <a:prstGeom prst="rect">
            <a:avLst/>
          </a:prstGeom>
        </p:spPr>
      </p:pic>
      <p:sp>
        <p:nvSpPr>
          <p:cNvPr id="81" name="Rectangle 80"/>
          <p:cNvSpPr/>
          <p:nvPr/>
        </p:nvSpPr>
        <p:spPr>
          <a:xfrm>
            <a:off x="80264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81026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Mixer truck</a:t>
            </a:r>
          </a:p>
        </p:txBody>
      </p:sp>
      <p:pic>
        <p:nvPicPr>
          <p:cNvPr id="83" name="Picture 82" descr="st_stemming_truck.webp.png"/>
          <p:cNvPicPr>
            <a:picLocks noChangeAspect="1"/>
          </p:cNvPicPr>
          <p:nvPr/>
        </p:nvPicPr>
        <p:blipFill>
          <a:blip r:embed="rId8"/>
          <a:srcRect l="7722" r="7722"/>
          <a:stretch>
            <a:fillRect/>
          </a:stretch>
        </p:blipFill>
        <p:spPr>
          <a:xfrm>
            <a:off x="9880600" y="4895850"/>
            <a:ext cx="1778000" cy="1581150"/>
          </a:xfrm>
          <a:prstGeom prst="rect">
            <a:avLst/>
          </a:prstGeom>
        </p:spPr>
      </p:pic>
      <p:sp>
        <p:nvSpPr>
          <p:cNvPr id="84" name="Rectangle 83"/>
          <p:cNvSpPr/>
          <p:nvPr/>
        </p:nvSpPr>
        <p:spPr>
          <a:xfrm>
            <a:off x="98806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9568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Stemming truck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STRATEGIC · 4C → STP → 4P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STRATEGIC · 4C → STP → 4P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quality buyers and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price buyers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08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62000"/>
                <a:gridCol w="1333500"/>
                <a:gridCol w="3143250"/>
                <a:gridCol w="5886450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Step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Item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Key point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Supporting data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3862">
                <a:tc rowSpan="4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4C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Change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HYVA has left; value sits in Medium + Heavy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Triatra has no crane brand since HYVA stopped. Medium + Heavy = 41% of units, 64% of value (2023 – 2026). Heavy units 12 → 17 → 35 (2023 – 2025).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leaders, one per class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Palfinger, 38% of value. Heavy: Palfinger, 66% of value; PK 53002 alone sold 39 of 65 units (2023 – 2026).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Customer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Medium buys on price, Heavy buys on quality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China brands take 73% of Medium value; European brands take 85% of Heavy value. 88% go on trucks ≥ 24 t GVW (mining, construction).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Company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Partner two brands to serve both buyers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XCMG for price-oriented buyers. F.lli Ferrari for quality-oriented buyers.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3862">
                <a:tc rowSpan="3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STP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Segmentation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classes, ten 5-tm tiers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 25 – 45 tm: 196 units, Rp 156 M. Heavy &gt; 45 tm: 65 units, Rp 115 M.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Targeting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Take share from the Top 1 model in each tier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 SPK32080, SPK36080, SPK42502. Heavy: Palfinger PK 53002, PK 76002, PK 88002.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Positioning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clear promises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XCMG: same capacity, lower price (SQZ365.4 −9% vs SPK36080). Ferrari: European features, cheaper where it wins (−23% at 25 – 30 tm, −32% at 45 – 50 tm) and faster delivery from China stock (~14 weeks).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rowSpan="4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4P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Offer Ferrari models that beat the Top 1 on features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Negotiate a better price with Ferrari and 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Ferrari: lower price on 746 A4 (+48%), 9601CR A8 (+85%), 990R (+79%). XCMG: Triatra special price on SQZ325.4 and SQZ365.4.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Negotiate stock to cut lead time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Ferrari stocks 268 A4 and FBR450R A4 in China (14-week lead time) and main components in Malaysia. XCMG via GM Tractors.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Sell a ready-to-work package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(+2-year warranty on Ferrari). Exhibitions and customer visits with a Marcom sales kit.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PROJECT CHARTER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PROJECT CHARTER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Sell the first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challenger cranes by March 2027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09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4287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8650" y="14287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NAME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16573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8650" y="17049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Multi-brand Crane Challenger: F.lli Ferrari and XCMG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19812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650" y="19812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2209800"/>
            <a:ext cx="5391150" cy="8191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2257425"/>
            <a:ext cx="5200650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HYVA stopped making cranes, so Triatra has no crane brand. From Jan 2023 to Aug 2026 Indonesia imported 638 knuckle boom cranes; Medium and Heavy (&gt; 25 tm) are 41% of units but 64% of value, led by Sany Palfinger (Medium) and Palfinger (Heavy). This project puts a challenger brand against the Top 1 of each tm tier.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30861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30861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3314700"/>
            <a:ext cx="5391150" cy="571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8650" y="3362325"/>
            <a:ext cx="520065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Map Medium and Heavy cranes by tm tier, brand and model (4C)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Pick one challenger per tier: XCMG for price buyers, Ferrari for quality buyers (STP)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Set Product, Price, Place and Promotion per tier and sell the first unit (4P)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39433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8650" y="39433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SCOPE · MEDIUM AND HEAVY CLASS (&gt; 25 TM)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4171950"/>
            <a:ext cx="5391150" cy="3619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4219575"/>
            <a:ext cx="5200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1. Market size and brand leaders   2. Top 1 vs challenger per tier   3. Feature and price comparison</a:t>
            </a:r>
          </a:p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4. Brand negotiation (Ferrari, XCMG)   5. Sales kit, exhibition and first sale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4648200"/>
            <a:ext cx="39052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4648200"/>
            <a:ext cx="3714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KPI / METRIC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5800" y="4648200"/>
            <a:ext cx="14287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91050" y="4648200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4876800"/>
            <a:ext cx="39052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924425"/>
            <a:ext cx="37147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4C, STP, 4P approved (Aug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Ferrari and XCMG terms signed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Sales kit ready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4. Quotations sent (Feb 2027)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5. First unit sold (Mar 2027)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95800" y="4876800"/>
            <a:ext cx="14287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91050" y="4924425"/>
            <a:ext cx="12382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1181C"/>
                </a:solidFill>
                <a:latin typeface="Arial"/>
              </a:rPr>
              <a:t>First Ferrari or XCMG challenger crane sold by March 2027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58102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8650" y="58102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SUPPORT REQUIRED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60388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8650" y="60864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Marcom (sales kit, exhibition) · F.lli Ferrari (stock, parts, price) · XCMG (special price) · UTPE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76950" y="14287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172200" y="14287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TIMEFRAME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076950" y="1657350"/>
          <a:ext cx="5581650" cy="1524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0975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</a:tblGrid>
              <a:tr h="190500">
                <a:tc rowSpan="2"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Activity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905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Jul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Aug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Sep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Oct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Nov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Dec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Jan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Feb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Mar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Market study (4C)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STP and challenger choice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Negotiate with Ferrari and XCMG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Sales kit with Marcom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Exhibition and customer visits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Quotation → PO → first unit sold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</a:tr>
            </a:tbl>
          </a:graphicData>
        </a:graphic>
      </p:graphicFrame>
      <p:sp>
        <p:nvSpPr>
          <p:cNvPr id="41" name="Rectangle 40"/>
          <p:cNvSpPr/>
          <p:nvPr/>
        </p:nvSpPr>
        <p:spPr>
          <a:xfrm>
            <a:off x="6076950" y="32575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172200" y="32575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BENEFIT OF PROJECT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76950" y="3486150"/>
            <a:ext cx="5581650" cy="381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172200" y="3533775"/>
            <a:ext cx="53911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Triatra gets a crane brand for every Medium and Heavy tier again: XCMG for price buyers, Ferrari for quality buyers, with a clear 4P to win units from the Top 1.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76950" y="39433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172200" y="39433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TEAM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76950" y="4171950"/>
            <a:ext cx="55816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72200" y="42100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05700" y="42100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2200" y="437197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05700" y="437197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 / Ignatius Indrawan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53390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5700" y="453390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Ignatius Indrawan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469582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Project lead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05700" y="469582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Tiberias Krisgaharu Simu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72200" y="48577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Team members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05700" y="48577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Marketing Unit · Application Engineering · UTPE · Business Consultant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76950" y="510540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172200" y="510540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APPROVAL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150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Lead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150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769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60769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1341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Tiberias Krisgaharu Simu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47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247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866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74866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75438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Ignatius Indrawan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344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344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8963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88963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89535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441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41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060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103060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103632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MARKET SIZE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MARKET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Focus on Medium and Heavy: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64% of value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from 41% of units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10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IMPORTED PER YEAR BY CLASS · 2023 – 2026*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33400" y="1657350"/>
          <a:ext cx="6096000" cy="28575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46291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TOTAL UNITS AND IMPORT VALUE · 2023 – 14 AUG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4800600"/>
          <a:ext cx="6096001" cy="16573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75765"/>
                <a:gridCol w="1314824"/>
                <a:gridCol w="836706"/>
                <a:gridCol w="2032000"/>
                <a:gridCol w="836706"/>
              </a:tblGrid>
              <a:tr h="27622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LIFTING MOMENT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Light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≤ 8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177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40.118.000.000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Small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8 – 25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77.241.000.000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24%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Medium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25 –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196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118.328.000.000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36%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Heavy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&gt;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65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91.154.000.000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28%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Total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638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Rp 326.841.000.000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9342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76932"/>
                </a:solidFill>
                <a:latin typeface="Georgia"/>
              </a:rPr>
              <a:t>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Medium + Heavy units / year · target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4869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11181C"/>
                </a:solidFill>
                <a:latin typeface="Georgia"/>
              </a:rPr>
              <a:t>104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9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Light + Small units / year · not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4200" y="2667000"/>
            <a:ext cx="4724400" cy="28575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67550" y="2771775"/>
            <a:ext cx="4457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KEY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933700"/>
            <a:ext cx="44386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20000"/>
              </a:lnSpc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Medium + Heavy: 41% of units, 64% of import value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Value per unit: Rp 803 jt vs Rp 311 jt for Light + Small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88% of Medium and Heavy cranes go on trucks GVW ≥ 24 t: mining, construction, heavy logistics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2026 is partial: only 12 Medium and 1 Heavy unit to 14 Aug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4200" y="5676900"/>
            <a:ext cx="472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889096"/>
                </a:solidFill>
                <a:latin typeface="Arial"/>
              </a:rPr>
              <a:t>*2026 annualised (Jan – 14 Aug × 1.61). Source: Indonesia import records HS 84269100 + 84264900; truck-mounted knuckle boom cranes; Zoomlion and Hyva excluded; USD 1 = Rp 17.803.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BRAND LEADERS 2025 ONLY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BRAND LEADERS 2025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leaders to beat: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Medium,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Heavy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11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11125200" cy="476250"/>
          </a:xfrm>
          <a:prstGeom prst="roundRect">
            <a:avLst>
              <a:gd name="adj" fmla="val 1600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428750"/>
            <a:ext cx="108204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76932"/>
                </a:solidFill>
                <a:latin typeface="Arial"/>
              </a:rPr>
              <a:t>Why only the top 3 brands: in 2025 they hold 90% of Medium value (49 of 54 units, 91%) and 95% of Heavy value (33 of 35 units, 94%).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20383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25 – 45 TM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2209800"/>
          <a:ext cx="5448299" cy="1485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9540"/>
                <a:gridCol w="1767578"/>
                <a:gridCol w="727826"/>
                <a:gridCol w="2079504"/>
                <a:gridCol w="623851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Sany 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13.226.000.000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7.197.000.000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4.869.000.000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Top 3 brands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49 of 54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25.292.000.000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90%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Total Medium 2025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Rp 28.000.000.000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33400" y="38290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SOLD BY BRAND · 2025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533400" y="3981450"/>
          <a:ext cx="5448300" cy="18669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10300" y="20383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&gt; 45 TM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210300" y="2209800"/>
          <a:ext cx="5448299" cy="1485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9540"/>
                <a:gridCol w="1767578"/>
                <a:gridCol w="727826"/>
                <a:gridCol w="2079504"/>
                <a:gridCol w="623851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22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29.738.000.000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62%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Amco Veba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7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11.065.000.000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23%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4.647.000.000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Top 3 brands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33 of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45.450.000.000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95%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Total Heavy 2025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Rp 48.000.000.000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210300" y="38290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SOLD BY BRAND · 2025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210300" y="3981450"/>
          <a:ext cx="5448300" cy="18669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533400" y="5943600"/>
            <a:ext cx="11125200" cy="552450"/>
          </a:xfrm>
          <a:prstGeom prst="roundRect">
            <a:avLst>
              <a:gd name="adj" fmla="val 172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60198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Leaders are far ahead: Sany Palfinger sold 2.1× XCMG in Medium (30 vs 14 units); Palfinger sold 3.1× Amco Veba in Heavy (22 vs 7 units).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Share = share of import value. Scope is 2025 only, so figures are smaller than the 2023 – 2026 totals.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MEDIUM CLASS 25–45 TM · 1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MEDIUM CLASS 25–45 TM · 1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target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with XCMG at 30–40 tm and Ferrari at 25–30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12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V825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SPK32080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33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530.000.000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38%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SPK36080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SPK42502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960.000.000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Medium class split into 4 tm tiers. 30–40 tm holds 65% of Medium units (128 of 196) and 69% of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Sany Palfinger at 30–45 tm. At 25–30 tm Sany Palfinger has no model, so Amco Veba V825 is the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XCMG: same capacity as Sany Palfinger at a lower price. Ferrari 268 A4: European features, 23% cheaper than Amco Veba V825.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MEDIUM CLASS 25–45 TM · 2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MEDIUM CLASS 25–45 TM · 2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XCMG wins on price;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renegotiate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before selling 40–45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13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92947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Needs a special price to beat Sany Palfinger (now +4%)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price: −9% vs Sany Palfinger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120555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HEAVY CLASS &gt; 45 TM · 1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HEAVY CLASS &gt; 45 TM · 1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Heavy: Ferrari is the only challenger and is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cheaper only at 45–50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14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V950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81%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1.990.000.000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53002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1.760.000.000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SPK61502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76002 EH D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88002 EH 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GSQZ880.6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Heavy class split into 6 tm tiers. 50–55 tm holds 62% of Heavy units (40 of 65), almost all Palfinger PK 53002.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Palfinger at 50–55, 70–75 and 80–85 tm. Amco Veba (45–50) and Sany Palfinger (60–65) where Palfinger has no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Ferrari: the same European features as Palfinger, delivered faster from stock in China (~14 weeks) against Europe-built leaders.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45–65 TM · 2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45–65 TM · 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45–65 tm: Ferrari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matches or beats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the leader on features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15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4869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31445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07061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70–90 TM · 3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70–90 TM · 3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70–90 tm: same features as Palfinger, so win on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delivery time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16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80878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–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with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; keep Fassi for Petrosea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17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85900"/>
            <a:ext cx="3429000" cy="3238500"/>
          </a:xfrm>
          <a:prstGeom prst="roundRect">
            <a:avLst>
              <a:gd name="adj" fmla="val 29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3124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XCMG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PRICE BUYERS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2133600"/>
          <a:ext cx="3124200" cy="54292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69471"/>
                <a:gridCol w="1673679"/>
                <a:gridCol w="781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SQZ325.4 vs SPK32080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SQZ365.4 vs SPK36080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2771775"/>
            <a:ext cx="3124200" cy="1895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30–40 tm is 65% of Medium units and 69% of value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Ask XCMG for a special price at both tiers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Partnership terms needed: GM Tractors is XCMG's official distributor in Indonesia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crane + flatdeck + installation; exhibitions with Marcom sales kit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485900"/>
            <a:ext cx="4953000" cy="3238500"/>
          </a:xfrm>
          <a:prstGeom prst="roundRect">
            <a:avLst>
              <a:gd name="adj" fmla="val 2941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267200" y="1600200"/>
            <a:ext cx="4648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QUALITY BUYERS · PLUS 25–30 AND 40–45 TM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267200" y="2133600"/>
          <a:ext cx="4648200" cy="1447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96043"/>
                <a:gridCol w="2490107"/>
                <a:gridCol w="1162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268 A4 vs V825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746 A4 vs SPK42502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FBR450R A4 vs V950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9601CR A8 vs PK 53002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9661C vs SPK61502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990R vs PK 76002 EH 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TBC (price list) vs PK 88002 EH 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267200" y="3676650"/>
            <a:ext cx="46482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Negotiate price at the red tiers: 40–45, 50–55 and 70–75 tm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Stock units in China (~14 weeks) and parts in Malaysia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+ 2-year warranty; exhibitions with Marcom sales kit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20200" y="1485900"/>
            <a:ext cx="2438400" cy="3238500"/>
          </a:xfrm>
          <a:prstGeom prst="roundRect">
            <a:avLst>
              <a:gd name="adj" fmla="val 390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72600" y="1600200"/>
            <a:ext cx="2133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Fassi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KEY ACCOUNT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33600"/>
            <a:ext cx="2133600" cy="2533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Petrosea buys Fassi only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Keep Fassi supply for this account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Outside the Ferrari + XCMG challenger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" y="4857750"/>
            <a:ext cx="11125200" cy="1619250"/>
          </a:xfrm>
          <a:prstGeom prst="roundRect">
            <a:avLst>
              <a:gd name="adj" fmla="val 5882"/>
            </a:avLst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2000" y="5048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DECISIONS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Approve partnership talks with F.lli Ferrari and XCMG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15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15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Mandate Ferrari price and stock negotiation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Budget for exhibitions and Marcom sales kit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Questions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feedback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are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Tiberias Krisgaharu Simu  ·  Marketing Strategic 2 Associate  ·  PT Triatra Sinergia Pratama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