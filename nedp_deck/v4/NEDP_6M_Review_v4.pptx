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4.9</c:v>
                </c:pt>
                <c:pt idx="2">
                  <c:v>7.2</c:v>
                </c:pt>
                <c:pt idx="3">
                  <c:v>13.2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</c:v>
                </c:pt>
                <c:pt idx="1">
                  <c:v>11.1</c:v>
                </c:pt>
                <c:pt idx="2">
                  <c:v>29.7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18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work in Marketing Strategic 2, under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Ignatius Indrawan 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4287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859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6287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809750"/>
            <a:ext cx="0" cy="1143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048250" y="19240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812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240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7800" y="2495550"/>
            <a:ext cx="9296400" cy="0"/>
          </a:xfrm>
          <a:prstGeom prst="line">
            <a:avLst/>
          </a:prstGeom>
          <a:ln w="12700">
            <a:solidFill>
              <a:srgbClr val="D7DBDF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96000" y="2305050"/>
            <a:ext cx="0" cy="1905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18669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334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1 HEAD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05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4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05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863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276600" y="2590800"/>
            <a:ext cx="2819400" cy="3924300"/>
          </a:xfrm>
          <a:prstGeom prst="roundRect">
            <a:avLst>
              <a:gd name="adj" fmla="val 2702"/>
            </a:avLst>
          </a:prstGeom>
          <a:noFill/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3528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099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 (c)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99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2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528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99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99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DEPUTY HEAD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28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4099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99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28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099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99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28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099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99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2800" y="56769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09950" y="57340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9950" y="58769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57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1722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293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Ugik Praseno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93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3 HEAD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293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293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293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93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293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93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293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93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3251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9916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0487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487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MARCOMM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916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0487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87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916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87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87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916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487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87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Five steps from customer inquiry to factory acceptance test (FAT), for Small Suppeq and Truck Others.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1" name="Pentagon 10"/>
          <p:cNvSpPr/>
          <p:nvPr/>
        </p:nvSpPr>
        <p:spPr>
          <a:xfrm>
            <a:off x="533400" y="1504950"/>
            <a:ext cx="2308860" cy="381000"/>
          </a:xfrm>
          <a:prstGeom prst="homePlate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01  Inquiry &amp; opportunity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spec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buying reason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expected price and lead time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urgency and expected PO date</a:t>
            </a:r>
          </a:p>
        </p:txBody>
      </p:sp>
      <p:sp>
        <p:nvSpPr>
          <p:cNvPr id="19" name="Chevron 18"/>
          <p:cNvSpPr/>
          <p:nvPr/>
        </p:nvSpPr>
        <p:spPr>
          <a:xfrm>
            <a:off x="278511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466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02  Preliminary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511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1846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46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511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1846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846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if repeat order or new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unit function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main components: find the critical ones for price and lead time</a:t>
            </a:r>
          </a:p>
        </p:txBody>
      </p:sp>
      <p:sp>
        <p:nvSpPr>
          <p:cNvPr id="27" name="Chevron 26"/>
          <p:cNvSpPr/>
          <p:nvPr/>
        </p:nvSpPr>
        <p:spPr>
          <a:xfrm>
            <a:off x="503682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637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03  Pricing / Quotation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3682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7017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017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682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7017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017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quote from UTE with preliminary, expected price, expected lead time and customer info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UTE standard GP (signed by marketing associate and manager = standard GP)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actual SLA (repeat, minor, major); escalate to the superior if too long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Fill PCR in CRM</a:t>
            </a:r>
          </a:p>
        </p:txBody>
      </p:sp>
      <p:sp>
        <p:nvSpPr>
          <p:cNvPr id="35" name="Chevron 34"/>
          <p:cNvSpPr/>
          <p:nvPr/>
        </p:nvSpPr>
        <p:spPr>
          <a:xfrm>
            <a:off x="728853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8853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42188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188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8853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2188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188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/ PJB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matches the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PN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QFD and painting style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CPO: Sales Manager → Mkt Unit Triatra → Mkt Unit Manager → GM Marketing Triatra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PO interco approval: Mkt Unit Triatra → GM Mkt Unit → Director Mkt Unit Triatra</a:t>
            </a:r>
          </a:p>
        </p:txBody>
      </p:sp>
      <p:sp>
        <p:nvSpPr>
          <p:cNvPr id="43" name="Chevron 42"/>
          <p:cNvSpPr/>
          <p:nvPr/>
        </p:nvSpPr>
        <p:spPr>
          <a:xfrm>
            <a:off x="9540240" y="1504950"/>
            <a:ext cx="21183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979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4024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67359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359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4024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67359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359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Make sure production follows the QFD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Weekly production update to BC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Escalate major production problems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Oversee FAT and report issues to Marketing Unit UTPE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34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53" name="Picture 52" descr="ft_fuel_truck.webp.png"/>
          <p:cNvPicPr>
            <a:picLocks noChangeAspect="1"/>
          </p:cNvPicPr>
          <p:nvPr/>
        </p:nvPicPr>
        <p:blipFill>
          <a:blip r:embed="rId3"/>
          <a:srcRect l="14981" r="14981"/>
          <a:stretch>
            <a:fillRect/>
          </a:stretch>
        </p:blipFill>
        <p:spPr>
          <a:xfrm>
            <a:off x="533400" y="5029200"/>
            <a:ext cx="1778000" cy="14287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533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09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56" name="Picture 55" descr="wt_water_truck_clean.pn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2387600" y="5029200"/>
            <a:ext cx="1778000" cy="142875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2387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463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59" name="Picture 58" descr="lt_lube_truck.webp.png"/>
          <p:cNvPicPr>
            <a:picLocks noChangeAspect="1"/>
          </p:cNvPicPr>
          <p:nvPr/>
        </p:nvPicPr>
        <p:blipFill>
          <a:blip r:embed="rId5"/>
          <a:srcRect l="15000" r="15000"/>
          <a:stretch>
            <a:fillRect/>
          </a:stretch>
        </p:blipFill>
        <p:spPr>
          <a:xfrm>
            <a:off x="4241800" y="5029200"/>
            <a:ext cx="1778000" cy="14287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2418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3180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4" name="Picture 63" descr="crane_truck_crop.png"/>
          <p:cNvPicPr>
            <a:picLocks noChangeAspect="1"/>
          </p:cNvPicPr>
          <p:nvPr/>
        </p:nvPicPr>
        <p:blipFill>
          <a:blip r:embed="rId6"/>
          <a:srcRect l="5308" r="5308"/>
          <a:stretch>
            <a:fillRect/>
          </a:stretch>
        </p:blipFill>
        <p:spPr>
          <a:xfrm>
            <a:off x="6172200" y="5029200"/>
            <a:ext cx="1778000" cy="14287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61722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84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67" name="Picture 66" descr="mixer_truck.webp.png"/>
          <p:cNvPicPr>
            <a:picLocks noChangeAspect="1"/>
          </p:cNvPicPr>
          <p:nvPr/>
        </p:nvPicPr>
        <p:blipFill>
          <a:blip r:embed="rId7"/>
          <a:srcRect l="3212" r="3212"/>
          <a:stretch>
            <a:fillRect/>
          </a:stretch>
        </p:blipFill>
        <p:spPr>
          <a:xfrm>
            <a:off x="8026400" y="5029200"/>
            <a:ext cx="1778000" cy="14287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8026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02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70" name="Picture 69" descr="st_stemming_truck.webp.png"/>
          <p:cNvPicPr>
            <a:picLocks noChangeAspect="1"/>
          </p:cNvPicPr>
          <p:nvPr/>
        </p:nvPicPr>
        <p:blipFill>
          <a:blip r:embed="rId8"/>
          <a:srcRect l="3212" r="3212"/>
          <a:stretch>
            <a:fillRect/>
          </a:stretch>
        </p:blipFill>
        <p:spPr>
          <a:xfrm>
            <a:off x="9880600" y="5029200"/>
            <a:ext cx="1778000" cy="142875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9880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956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47800"/>
            <a:ext cx="35623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47800"/>
            <a:ext cx="33718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FFFFFF"/>
                </a:solidFill>
                <a:latin typeface="Arial"/>
              </a:rPr>
              <a:t>4C · BUSINESS LANDSCAPE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71450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9600" y="17621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90500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HYVA has left; value sits in Medium + Heavy.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Triatra has no crane brand since HYVA stopped.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41% of units, 64% of value (2023 – 2026).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Heavy units: 12 → 17 → 35 (2023 – 2025).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291465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09600" y="296227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COMPETITOR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10515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Two leaders, one per class.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Medium: Sany Palfinger, 38% of value (2023 – 2026).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Heavy: Palfinger, 66% of value; PK 53002 alone 39 units.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11480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9600" y="41624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CUSTOMER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430530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Medium buys on price, Heavy buys on quality.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Medium: China brands take 73% of value.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Heavy: European brands take 85% of value.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88% go on trucks ≥ 24 t GVW (mining, construction).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5314950"/>
            <a:ext cx="3562350" cy="1133475"/>
          </a:xfrm>
          <a:prstGeom prst="rect">
            <a:avLst/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09600" y="536257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COMPANY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50545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Triatra partners two brands to serve both buyers.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XCMG for price-oriented buyers.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F.lli Ferrari for quality-oriented buyers.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0" y="4095750"/>
            <a:ext cx="180975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4314825" y="1447800"/>
            <a:ext cx="35623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10075" y="1447800"/>
            <a:ext cx="33718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FFFFFF"/>
                </a:solidFill>
                <a:latin typeface="Arial"/>
              </a:rPr>
              <a:t>STP · WHERE WE PLAY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4825" y="1714500"/>
            <a:ext cx="3562350" cy="153352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391025" y="17621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1025" y="1905000"/>
            <a:ext cx="3409950" cy="1323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Two classes, ten 5-tm tiers.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Medium 25 – 45 tm: 196 units, Rp 156 M.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Heavy &gt; 45 tm: 65 units, Rp 115 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14825" y="3314700"/>
            <a:ext cx="3562350" cy="153352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391025" y="33623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1025" y="3505200"/>
            <a:ext cx="3409950" cy="1323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Take share from the Top 1 model in each tier.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Medium: Sany Palfinger SPK32080, SPK36080, SPK42502.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Heavy: Palfinger PK 53002, PK 76002, PK 88002.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4825" y="4914900"/>
            <a:ext cx="3562350" cy="153352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391025" y="49625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1025" y="5105400"/>
            <a:ext cx="3409950" cy="1323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Two clear promises.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XCMG: same capacity as Sany Palfinger, lower price (SQZ365.4: −9% vs SPK36080).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Ferrari: European features at a lower price where it wins (−23% at 25 – 30 tm, −32% at 45 – 50 tm).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Ferrari: faster delivery than Europe-built leaders, from stock in China (~14 weeks).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96225" y="4095750"/>
            <a:ext cx="180975" cy="0"/>
          </a:xfrm>
          <a:prstGeom prst="line">
            <a:avLst/>
          </a:prstGeom>
          <a:ln w="19050">
            <a:solidFill>
              <a:srgbClr val="22C96A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8096250" y="171450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172450" y="17621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PRODUCT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2450" y="190500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One challenger model per tier.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XCMG: 30–40 tm. Ferrari: 25–30, 40–45 tm, all Heavy.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Ferrari adds what leaders lack: RS, SDV, Red Power, Magic Touch.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6250" y="291465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172450" y="296227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PRICE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2450" y="310515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Sell where cheaper; negotiate the rest.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Cheaper now: 25–30 (−23%), 35–40 (−9%), 45–50 tm (−32%).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Ferrari cut: 40–45 (+48%), 50–55 (+85%), 70–75 tm (+79%).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XCMG: special price for Triatra.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6250" y="411480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72450" y="416242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PLACE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2450" y="430530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Win on availability.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Ferrari stocks units in China (~14 weeks) and parts in Malaysia.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XCMG through its official distributor, GM Tractors.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96250" y="5314950"/>
            <a:ext cx="3562350" cy="1133475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72450" y="5362575"/>
            <a:ext cx="34099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50">
                <a:solidFill>
                  <a:srgbClr val="076932"/>
                </a:solidFill>
                <a:latin typeface="Arial"/>
              </a:rPr>
              <a:t>PROMOTION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2450" y="5505450"/>
            <a:ext cx="3409950" cy="923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1181C"/>
                </a:solidFill>
                <a:latin typeface="Arial"/>
              </a:rPr>
              <a:t>Sell a ready-to-work package.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Crane + flatdeck + installation (+2-yr warranty, Ferrari).</a:t>
            </a:r>
          </a:p>
          <a:p>
            <a:pPr marL="127000" indent="-127000">
              <a:spcBef>
                <a:spcPts val="300"/>
              </a:spcBef>
              <a:buChar char="•"/>
            </a:pPr>
            <a:r>
              <a:rPr sz="950">
                <a:solidFill>
                  <a:srgbClr val="4D555C"/>
                </a:solidFill>
                <a:latin typeface="Arial"/>
              </a:rPr>
              <a:t>Exhibitions and customer visits with a Marcom sales kit.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96250" y="1447800"/>
            <a:ext cx="35623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91500" y="1447800"/>
            <a:ext cx="33718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FFFFFF"/>
                </a:solidFill>
                <a:latin typeface="Arial"/>
              </a:rPr>
              <a:t>4P · HOW WE WIN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Multi-brand Crane Challenger: F.lli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cranes, so Triatra has no crane brand. From Jan 2023 to Aug 2026 Indonesia imported 638 knuckle boom cranes; Medium and Heavy (&gt; 25 tm) are 41% of units but 64% of value, led by Sany Palfinger (Medium) and Palfinger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39433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SCOPE · MEDIUM AND HEAVY CLASS (&gt; 25 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1. Market size and brand leaders   2. Top 1 vs challenger per tier   3. Feature and price comparison</a:t>
            </a:r>
          </a:p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4. Brand negotiation (Ferrari, XCMG)   5.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Arial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0975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</a:tblGrid>
              <a:tr h="190500">
                <a:tc rowSpan="2"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905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77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334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34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334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Medium 2025: 54 units · Rp 28,0 M. Sany Palfinger = Sany–Palfinger JV, made in 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3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246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3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103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2103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Heavy 2025: 35 units · Rp 48,0 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886450"/>
            <a:ext cx="11125200" cy="590550"/>
          </a:xfrm>
          <a:prstGeom prst="roundRect">
            <a:avLst>
              <a:gd name="adj" fmla="val 16129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59817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Both leaders are far ahead of the next brand in value: Sany Palfinger 1.8× XCMG in Medium, Palfinger 2.7× Amco Veba in Heavy.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