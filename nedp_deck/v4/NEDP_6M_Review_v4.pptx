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Organization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39065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3827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59067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71650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5048250" y="1905000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526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05025"/>
            <a:ext cx="1981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2860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1581150" y="2438400"/>
            <a:ext cx="90297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1581150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0" name="Rounded Rectangle 19"/>
          <p:cNvSpPr/>
          <p:nvPr/>
        </p:nvSpPr>
        <p:spPr>
          <a:xfrm>
            <a:off x="533400" y="2590800"/>
            <a:ext cx="2095500" cy="400050"/>
          </a:xfrm>
          <a:prstGeom prst="roundRect">
            <a:avLst>
              <a:gd name="adj" fmla="val 11904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6384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790825"/>
            <a:ext cx="1981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8650" y="2990850"/>
            <a:ext cx="0" cy="866775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8650" y="33242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5" name="Rounded Rectangle 24"/>
          <p:cNvSpPr/>
          <p:nvPr/>
        </p:nvSpPr>
        <p:spPr>
          <a:xfrm>
            <a:off x="704850" y="30861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2000" y="31337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32861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8650" y="38576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704850" y="36195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2000" y="36671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8195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83857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3" name="Rounded Rectangle 32"/>
          <p:cNvSpPr/>
          <p:nvPr/>
        </p:nvSpPr>
        <p:spPr>
          <a:xfrm>
            <a:off x="2733675" y="2533650"/>
            <a:ext cx="2209800" cy="3543300"/>
          </a:xfrm>
          <a:prstGeom prst="roundRect">
            <a:avLst>
              <a:gd name="adj" fmla="val 3448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790825" y="2590800"/>
            <a:ext cx="2095500" cy="400050"/>
          </a:xfrm>
          <a:prstGeom prst="roundRect">
            <a:avLst>
              <a:gd name="adj" fmla="val 11904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847975" y="26384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7975" y="2790825"/>
            <a:ext cx="1981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HEAD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886075" y="2990850"/>
            <a:ext cx="0" cy="2790825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2886075" y="33051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9" name="Rounded Rectangle 38"/>
          <p:cNvSpPr/>
          <p:nvPr/>
        </p:nvSpPr>
        <p:spPr>
          <a:xfrm>
            <a:off x="2962275" y="30861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019425" y="31337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9425" y="32861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Deputy Head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6075" y="38004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2962275" y="35814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36290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37814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886075" y="42957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7" name="Rounded Rectangle 46"/>
          <p:cNvSpPr/>
          <p:nvPr/>
        </p:nvSpPr>
        <p:spPr>
          <a:xfrm>
            <a:off x="2962275" y="40767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019425" y="41243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9425" y="42767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886075" y="47910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1" name="Rounded Rectangle 50"/>
          <p:cNvSpPr/>
          <p:nvPr/>
        </p:nvSpPr>
        <p:spPr>
          <a:xfrm>
            <a:off x="2962275" y="45720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019425" y="46196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9425" y="47720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886075" y="52863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2962275" y="50673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19425" y="51149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9425" y="52673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886075" y="578167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58"/>
          <p:cNvSpPr/>
          <p:nvPr/>
        </p:nvSpPr>
        <p:spPr>
          <a:xfrm>
            <a:off x="2962275" y="5562600"/>
            <a:ext cx="1924050" cy="438150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019425" y="56102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9425" y="57626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6000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5048250" y="2590800"/>
            <a:ext cx="2095500" cy="400050"/>
          </a:xfrm>
          <a:prstGeom prst="roundRect">
            <a:avLst>
              <a:gd name="adj" fmla="val 11904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105400" y="26384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05400" y="2790825"/>
            <a:ext cx="1981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143500" y="2990850"/>
            <a:ext cx="0" cy="1933575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5143500" y="33242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8" name="Rounded Rectangle 67"/>
          <p:cNvSpPr/>
          <p:nvPr/>
        </p:nvSpPr>
        <p:spPr>
          <a:xfrm>
            <a:off x="5219700" y="30861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276850" y="31337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76850" y="32861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43500" y="38576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2" name="Rounded Rectangle 71"/>
          <p:cNvSpPr/>
          <p:nvPr/>
        </p:nvSpPr>
        <p:spPr>
          <a:xfrm>
            <a:off x="5219700" y="36195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5276850" y="36671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76850" y="38195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43500" y="43910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6" name="Rounded Rectangle 75"/>
          <p:cNvSpPr/>
          <p:nvPr/>
        </p:nvSpPr>
        <p:spPr>
          <a:xfrm>
            <a:off x="5219700" y="41529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5276850" y="42005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76850" y="43529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143500" y="49244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0" name="Rounded Rectangle 79"/>
          <p:cNvSpPr/>
          <p:nvPr/>
        </p:nvSpPr>
        <p:spPr>
          <a:xfrm>
            <a:off x="5219700" y="46863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5276850" y="47339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76850" y="48863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353425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7305675" y="2590800"/>
            <a:ext cx="2095500" cy="400050"/>
          </a:xfrm>
          <a:prstGeom prst="roundRect">
            <a:avLst>
              <a:gd name="adj" fmla="val 11904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362825" y="26384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62825" y="2790825"/>
            <a:ext cx="1981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400925" y="2990850"/>
            <a:ext cx="0" cy="1933575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88" name="Connector 87"/>
          <p:cNvCxnSpPr/>
          <p:nvPr/>
        </p:nvCxnSpPr>
        <p:spPr>
          <a:xfrm>
            <a:off x="7400925" y="33242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88"/>
          <p:cNvSpPr/>
          <p:nvPr/>
        </p:nvSpPr>
        <p:spPr>
          <a:xfrm>
            <a:off x="7477125" y="30861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7534275" y="31337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34275" y="32861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400925" y="38576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3" name="Rounded Rectangle 92"/>
          <p:cNvSpPr/>
          <p:nvPr/>
        </p:nvSpPr>
        <p:spPr>
          <a:xfrm>
            <a:off x="7477125" y="36195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7534275" y="36671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34275" y="38195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400925" y="43910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7" name="Rounded Rectangle 96"/>
          <p:cNvSpPr/>
          <p:nvPr/>
        </p:nvSpPr>
        <p:spPr>
          <a:xfrm>
            <a:off x="7477125" y="41529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534275" y="42005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34275" y="43529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400925" y="49244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1" name="Rounded Rectangle 100"/>
          <p:cNvSpPr/>
          <p:nvPr/>
        </p:nvSpPr>
        <p:spPr>
          <a:xfrm>
            <a:off x="7477125" y="46863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7534275" y="47339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4275" y="48863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0610850" y="2438400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5" name="Rounded Rectangle 104"/>
          <p:cNvSpPr/>
          <p:nvPr/>
        </p:nvSpPr>
        <p:spPr>
          <a:xfrm>
            <a:off x="9563100" y="2590800"/>
            <a:ext cx="2095500" cy="400050"/>
          </a:xfrm>
          <a:prstGeom prst="roundRect">
            <a:avLst>
              <a:gd name="adj" fmla="val 11904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620250" y="2638425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Marketing Communication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20250" y="2790825"/>
            <a:ext cx="1981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MARCOMM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9658350" y="2990850"/>
            <a:ext cx="0" cy="1400175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09" name="Connector 108"/>
          <p:cNvCxnSpPr/>
          <p:nvPr/>
        </p:nvCxnSpPr>
        <p:spPr>
          <a:xfrm>
            <a:off x="9658350" y="33242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109"/>
          <p:cNvSpPr/>
          <p:nvPr/>
        </p:nvSpPr>
        <p:spPr>
          <a:xfrm>
            <a:off x="9734550" y="30861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9791700" y="31337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91700" y="32861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9658350" y="38576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4" name="Rounded Rectangle 113"/>
          <p:cNvSpPr/>
          <p:nvPr/>
        </p:nvSpPr>
        <p:spPr>
          <a:xfrm>
            <a:off x="9734550" y="36195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9791700" y="36671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91700" y="38195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9658350" y="4391025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8" name="Rounded Rectangle 117"/>
          <p:cNvSpPr/>
          <p:nvPr/>
        </p:nvSpPr>
        <p:spPr>
          <a:xfrm>
            <a:off x="9734550" y="4152900"/>
            <a:ext cx="1924050" cy="4762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9791700" y="4200525"/>
            <a:ext cx="1809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791700" y="4352925"/>
            <a:ext cx="18097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0" name="Pentagon 9"/>
          <p:cNvSpPr/>
          <p:nvPr/>
        </p:nvSpPr>
        <p:spPr>
          <a:xfrm>
            <a:off x="533400" y="1409700"/>
            <a:ext cx="5667375" cy="323850"/>
          </a:xfrm>
          <a:prstGeom prst="homePlate">
            <a:avLst>
              <a:gd name="adj" fmla="val 3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1409700"/>
            <a:ext cx="522922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PRE-SALES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143625" y="1409700"/>
            <a:ext cx="3797300" cy="323850"/>
          </a:xfrm>
          <a:prstGeom prst="chevron">
            <a:avLst>
              <a:gd name="adj" fmla="val 30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3175" y="1409700"/>
            <a:ext cx="33591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SALES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883775" y="1409700"/>
            <a:ext cx="1774825" cy="323850"/>
          </a:xfrm>
          <a:prstGeom prst="chevron">
            <a:avLst>
              <a:gd name="adj" fmla="val 30000"/>
            </a:avLst>
          </a:prstGeom>
          <a:solidFill>
            <a:srgbClr val="0DA5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93325" y="1409700"/>
            <a:ext cx="148907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Arial"/>
              </a:rPr>
              <a:t>AFTER-SALES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96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01  Inquiry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spec and buying reason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target price and lead time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urgency and PO date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Lead / opportunity in CRM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67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34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4796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02  Preliminary drawing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34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5368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87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Repeat order or new drawing?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in iServe; MKU Head assigns AE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AE drawing: repeat 1 day, minor 3, major 5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unit function, critical parts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Handle customer revisions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034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5368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87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355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34975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03  Quotation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355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40690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80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Request quote to UTPE with drawing and target price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UTPE: price/COGS, lead time, validity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Input standard price; check GP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Submit PCR for approval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Watch SLA; escalate if 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355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0690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80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362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1982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362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7697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887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Revise lead time / spec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Check PO / PJB vs drawing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Validate order; SAP condition type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DP request / confirm order → SO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Extend PN, master data, profit sharing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PO interco: MKU Mgr → GM → Dir.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2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27697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3700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089900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700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147050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08950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Build follows QFD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Weekly progress to BC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Escalate major problems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Oversee FAT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13700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47050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8950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83775" y="1809750"/>
            <a:ext cx="1774825" cy="285750"/>
          </a:xfrm>
          <a:prstGeom prst="roundRect">
            <a:avLst>
              <a:gd name="adj" fmla="val 20000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959975" y="1809750"/>
            <a:ext cx="166052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06  Delivery &amp; handover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83775" y="2152650"/>
            <a:ext cx="1774825" cy="1676400"/>
          </a:xfrm>
          <a:prstGeom prst="roundRect">
            <a:avLst>
              <a:gd name="adj" fmla="val 568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017125" y="225742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ACTIVITIES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79025" y="2419350"/>
            <a:ext cx="1622425" cy="139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2000"/>
              </a:lnSpc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Warehouse receives unit; QC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UTPE repairs if needed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Delivery plan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BAST and SPB signed</a:t>
            </a:r>
          </a:p>
          <a:p>
            <a:pPr algn="l" marL="127000" indent="-127000">
              <a:lnSpc>
                <a:spcPct val="102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11181C"/>
                </a:solidFill>
                <a:latin typeface="Arial"/>
              </a:rPr>
              <a:t>Documents to Finance for invoice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83775" y="3886200"/>
            <a:ext cx="1774825" cy="685800"/>
          </a:xfrm>
          <a:prstGeom prst="roundRect">
            <a:avLst>
              <a:gd name="adj" fmla="val 13888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017125" y="3990975"/>
            <a:ext cx="150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79025" y="4133850"/>
            <a:ext cx="16224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Warehouse</a:t>
            </a:r>
          </a:p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1181C"/>
                </a:solidFill>
                <a:latin typeface="Arial"/>
              </a:rPr>
              <a:t>Business Consultant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34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334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6" name="Picture 65" descr="ft_fuel_truck.webp.png"/>
          <p:cNvPicPr>
            <a:picLocks noChangeAspect="1"/>
          </p:cNvPicPr>
          <p:nvPr/>
        </p:nvPicPr>
        <p:blipFill>
          <a:blip r:embed="rId3"/>
          <a:srcRect l="18357" r="18357"/>
          <a:stretch>
            <a:fillRect/>
          </a:stretch>
        </p:blipFill>
        <p:spPr>
          <a:xfrm>
            <a:off x="533400" y="4895850"/>
            <a:ext cx="1778000" cy="158115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533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09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69" name="Picture 68" descr="wt_water_truck_clean.png"/>
          <p:cNvPicPr>
            <a:picLocks noChangeAspect="1"/>
          </p:cNvPicPr>
          <p:nvPr/>
        </p:nvPicPr>
        <p:blipFill>
          <a:blip r:embed="rId4"/>
          <a:srcRect l="18373" r="18373"/>
          <a:stretch>
            <a:fillRect/>
          </a:stretch>
        </p:blipFill>
        <p:spPr>
          <a:xfrm>
            <a:off x="2387600" y="4895850"/>
            <a:ext cx="1778000" cy="158115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2387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2463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72" name="Picture 71" descr="lt_lube_truck.webp.png"/>
          <p:cNvPicPr>
            <a:picLocks noChangeAspect="1"/>
          </p:cNvPicPr>
          <p:nvPr/>
        </p:nvPicPr>
        <p:blipFill>
          <a:blip r:embed="rId5"/>
          <a:srcRect l="18373" r="18373"/>
          <a:stretch>
            <a:fillRect/>
          </a:stretch>
        </p:blipFill>
        <p:spPr>
          <a:xfrm>
            <a:off x="4241800" y="4895850"/>
            <a:ext cx="1778000" cy="158115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42418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3180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667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172200" y="481965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77" name="Picture 76" descr="crane_truck_crop.png"/>
          <p:cNvPicPr>
            <a:picLocks noChangeAspect="1"/>
          </p:cNvPicPr>
          <p:nvPr/>
        </p:nvPicPr>
        <p:blipFill>
          <a:blip r:embed="rId6"/>
          <a:srcRect l="9615" r="9615"/>
          <a:stretch>
            <a:fillRect/>
          </a:stretch>
        </p:blipFill>
        <p:spPr>
          <a:xfrm>
            <a:off x="6172200" y="4895850"/>
            <a:ext cx="1778000" cy="158115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61722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2484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80" name="Picture 79" descr="mixer_truck.webp.png"/>
          <p:cNvPicPr>
            <a:picLocks noChangeAspect="1"/>
          </p:cNvPicPr>
          <p:nvPr/>
        </p:nvPicPr>
        <p:blipFill>
          <a:blip r:embed="rId7"/>
          <a:srcRect l="7722" r="7722"/>
          <a:stretch>
            <a:fillRect/>
          </a:stretch>
        </p:blipFill>
        <p:spPr>
          <a:xfrm>
            <a:off x="8026400" y="4895850"/>
            <a:ext cx="1778000" cy="15811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80264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1026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83" name="Picture 82" descr="st_stemming_truck.webp.png"/>
          <p:cNvPicPr>
            <a:picLocks noChangeAspect="1"/>
          </p:cNvPicPr>
          <p:nvPr/>
        </p:nvPicPr>
        <p:blipFill>
          <a:blip r:embed="rId8"/>
          <a:srcRect l="7722" r="7722"/>
          <a:stretch>
            <a:fillRect/>
          </a:stretch>
        </p:blipFill>
        <p:spPr>
          <a:xfrm>
            <a:off x="9880600" y="4895850"/>
            <a:ext cx="1778000" cy="158115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9880600" y="624840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956800" y="624840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11125200" cy="476250"/>
          </a:xfrm>
          <a:prstGeom prst="roundRect">
            <a:avLst>
              <a:gd name="adj" fmla="val 1600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428750"/>
            <a:ext cx="108204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76932"/>
                </a:solidFill>
                <a:latin typeface="Arial"/>
              </a:rPr>
              <a:t>Why only the top 3 brands: in 2025 they hold 90% of Medium value (49 of 54 units, 91%) and 95% of Heavy value (33 of 35 units, 94%).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49 of 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25.292.000.000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34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334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03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03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33 of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45.450.000.000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95%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2103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33400" y="5943600"/>
            <a:ext cx="11125200" cy="552450"/>
          </a:xfrm>
          <a:prstGeom prst="roundRect">
            <a:avLst>
              <a:gd name="adj" fmla="val 172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60198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Leaders are far ahead: Sany Palfinger sold 2.1× XCMG in Medium (30 vs 14 units); Palfinger sold 3.1× Amco Veba in Heavy (22 vs 7 units).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Share = share of import value. 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