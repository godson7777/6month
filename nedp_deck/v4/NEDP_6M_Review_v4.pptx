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14</c:v>
                </c:pt>
                <c:pt idx="3">
                  <c:v>30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7</c:v>
                </c:pt>
                <c:pt idx="2">
                  <c:v>22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18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Organization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390650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3827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590675"/>
            <a:ext cx="1981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71650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4" name="Rounded Rectangle 13"/>
          <p:cNvSpPr/>
          <p:nvPr/>
        </p:nvSpPr>
        <p:spPr>
          <a:xfrm>
            <a:off x="5048250" y="1905000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5262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05025"/>
            <a:ext cx="1981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2860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143750" y="2095500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9" name="Rounded Rectangle 18"/>
          <p:cNvSpPr/>
          <p:nvPr/>
        </p:nvSpPr>
        <p:spPr>
          <a:xfrm>
            <a:off x="8382000" y="1866900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39150" y="1914525"/>
            <a:ext cx="31623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150" y="2066925"/>
            <a:ext cx="31623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00225" y="2438400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180022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24" name="Rounded Rectangle 23"/>
          <p:cNvSpPr/>
          <p:nvPr/>
        </p:nvSpPr>
        <p:spPr>
          <a:xfrm>
            <a:off x="53340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0550" y="2638425"/>
            <a:ext cx="24193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" y="2790825"/>
            <a:ext cx="24193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8650" y="3009900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62865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70485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2000" y="31527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3051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865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3" name="Rounded Rectangle 32"/>
          <p:cNvSpPr/>
          <p:nvPr/>
        </p:nvSpPr>
        <p:spPr>
          <a:xfrm>
            <a:off x="70485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62000" y="36861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38385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66407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7" name="Rounded Rectangle 36"/>
          <p:cNvSpPr/>
          <p:nvPr/>
        </p:nvSpPr>
        <p:spPr>
          <a:xfrm>
            <a:off x="3340100" y="2533650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339725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454400" y="2638425"/>
            <a:ext cx="24193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4400" y="2790825"/>
            <a:ext cx="24193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92500" y="3009900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349250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356870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625850" y="31527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5850" y="33051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49250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7" name="Rounded Rectangle 46"/>
          <p:cNvSpPr/>
          <p:nvPr/>
        </p:nvSpPr>
        <p:spPr>
          <a:xfrm>
            <a:off x="356870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625850" y="36861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25850" y="38385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492500" y="44005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1" name="Rounded Rectangle 50"/>
          <p:cNvSpPr/>
          <p:nvPr/>
        </p:nvSpPr>
        <p:spPr>
          <a:xfrm>
            <a:off x="3568700" y="41719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625850" y="42195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25850" y="43719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492500" y="49339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54"/>
          <p:cNvSpPr/>
          <p:nvPr/>
        </p:nvSpPr>
        <p:spPr>
          <a:xfrm>
            <a:off x="3568700" y="47053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25850" y="47529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25850" y="49053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492500" y="54673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58"/>
          <p:cNvSpPr/>
          <p:nvPr/>
        </p:nvSpPr>
        <p:spPr>
          <a:xfrm>
            <a:off x="3568700" y="52387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625850" y="52863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25850" y="54387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52792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62"/>
          <p:cNvSpPr/>
          <p:nvPr/>
        </p:nvSpPr>
        <p:spPr>
          <a:xfrm>
            <a:off x="626110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318250" y="2638425"/>
            <a:ext cx="24193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18250" y="2790825"/>
            <a:ext cx="24193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356350" y="3009900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7" name="Connector 66"/>
          <p:cNvCxnSpPr/>
          <p:nvPr/>
        </p:nvCxnSpPr>
        <p:spPr>
          <a:xfrm>
            <a:off x="635635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8" name="Rounded Rectangle 67"/>
          <p:cNvSpPr/>
          <p:nvPr/>
        </p:nvSpPr>
        <p:spPr>
          <a:xfrm>
            <a:off x="643255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489700" y="31527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89700" y="33051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35635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2" name="Rounded Rectangle 71"/>
          <p:cNvSpPr/>
          <p:nvPr/>
        </p:nvSpPr>
        <p:spPr>
          <a:xfrm>
            <a:off x="643255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489700" y="36861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89700" y="38385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356350" y="44005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6" name="Rounded Rectangle 75"/>
          <p:cNvSpPr/>
          <p:nvPr/>
        </p:nvSpPr>
        <p:spPr>
          <a:xfrm>
            <a:off x="6432550" y="41719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6489700" y="42195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89700" y="43719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6356350" y="49339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0" name="Rounded Rectangle 79"/>
          <p:cNvSpPr/>
          <p:nvPr/>
        </p:nvSpPr>
        <p:spPr>
          <a:xfrm>
            <a:off x="6432550" y="47053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489700" y="47529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89700" y="49053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1039177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4" name="Rounded Rectangle 83"/>
          <p:cNvSpPr/>
          <p:nvPr/>
        </p:nvSpPr>
        <p:spPr>
          <a:xfrm>
            <a:off x="912495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182100" y="2638425"/>
            <a:ext cx="24193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2100" y="2790825"/>
            <a:ext cx="24193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220200" y="3009900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88" name="Connector 87"/>
          <p:cNvCxnSpPr/>
          <p:nvPr/>
        </p:nvCxnSpPr>
        <p:spPr>
          <a:xfrm>
            <a:off x="922020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88"/>
          <p:cNvSpPr/>
          <p:nvPr/>
        </p:nvSpPr>
        <p:spPr>
          <a:xfrm>
            <a:off x="929640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353550" y="31527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53550" y="33051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922020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3" name="Rounded Rectangle 92"/>
          <p:cNvSpPr/>
          <p:nvPr/>
        </p:nvSpPr>
        <p:spPr>
          <a:xfrm>
            <a:off x="929640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353550" y="36861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53550" y="38385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9220200" y="44005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7" name="Rounded Rectangle 96"/>
          <p:cNvSpPr/>
          <p:nvPr/>
        </p:nvSpPr>
        <p:spPr>
          <a:xfrm>
            <a:off x="9296400" y="41719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9353550" y="42195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3550" y="43719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9220200" y="49339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1" name="Rounded Rectangle 100"/>
          <p:cNvSpPr/>
          <p:nvPr/>
        </p:nvSpPr>
        <p:spPr>
          <a:xfrm>
            <a:off x="9296400" y="47053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9353550" y="47529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53550" y="49053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0" name="Pentagon 9"/>
          <p:cNvSpPr/>
          <p:nvPr/>
        </p:nvSpPr>
        <p:spPr>
          <a:xfrm>
            <a:off x="533400" y="1409700"/>
            <a:ext cx="5667375" cy="323850"/>
          </a:xfrm>
          <a:prstGeom prst="homePlate">
            <a:avLst>
              <a:gd name="adj" fmla="val 3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1409700"/>
            <a:ext cx="522922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PRE-SALES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143625" y="1409700"/>
            <a:ext cx="3797300" cy="323850"/>
          </a:xfrm>
          <a:prstGeom prst="chevron">
            <a:avLst>
              <a:gd name="adj" fmla="val 30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3175" y="1409700"/>
            <a:ext cx="33591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SALES</a:t>
            </a:r>
          </a:p>
        </p:txBody>
      </p:sp>
      <p:sp>
        <p:nvSpPr>
          <p:cNvPr id="14" name="Chevron 13"/>
          <p:cNvSpPr/>
          <p:nvPr/>
        </p:nvSpPr>
        <p:spPr>
          <a:xfrm>
            <a:off x="9883775" y="1409700"/>
            <a:ext cx="1774825" cy="323850"/>
          </a:xfrm>
          <a:prstGeom prst="chevron">
            <a:avLst>
              <a:gd name="adj" fmla="val 30000"/>
            </a:avLst>
          </a:prstGeom>
          <a:solidFill>
            <a:srgbClr val="0DA5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93325" y="1409700"/>
            <a:ext cx="148907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AFTER-SALES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960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01  Inquiry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40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675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spec and buying reason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target price and lead time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urgency and PO date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Lead / opportunity in CRM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675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0347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47967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02  Preliminary drawing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0347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53682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872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Repeat order or new drawing?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Request in iServe; MKU Head assigns AE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AE drawing: repeat 1 day, minor 3, major 5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unit function, critical parts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Handle customer revisions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0347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53682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9872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355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34975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03  Quotation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355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40690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880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Request quote to UTPE with drawing and target price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UTPE: price/COGS, lead time, validity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Input standard price; check GP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Submit PCR for approval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Watch SLA; escalate if late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7355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40690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880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362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21982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362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27697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887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Revise lead time / spec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PO / PJB vs drawing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Validate order; SAP condition type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DP request / confirm order → SO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Extend PN, master data, profit sharing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PO interco: MKU Mgr → GM → Dir.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4362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27697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887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370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08990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70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14705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0895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Build follows QFD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Weekly progress to BC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Escalate major problems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Oversee FAT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1370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14705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895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8377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95997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06  Delivery &amp; handover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8377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001712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7902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Warehouse receives unit; QC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UTPE repairs if needed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Delivery plan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BAST and SPB signed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Documents to Finance for invoice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8377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001712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7902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Warehouse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3400" y="4667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33400" y="481965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6" name="Picture 65" descr="ft_fuel_truck.webp.png"/>
          <p:cNvPicPr>
            <a:picLocks noChangeAspect="1"/>
          </p:cNvPicPr>
          <p:nvPr/>
        </p:nvPicPr>
        <p:blipFill>
          <a:blip r:embed="rId3"/>
          <a:srcRect l="18357" r="18357"/>
          <a:stretch>
            <a:fillRect/>
          </a:stretch>
        </p:blipFill>
        <p:spPr>
          <a:xfrm>
            <a:off x="533400" y="4895850"/>
            <a:ext cx="1778000" cy="1581150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5334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096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69" name="Picture 68" descr="wt_water_truck_clean.png"/>
          <p:cNvPicPr>
            <a:picLocks noChangeAspect="1"/>
          </p:cNvPicPr>
          <p:nvPr/>
        </p:nvPicPr>
        <p:blipFill>
          <a:blip r:embed="rId4"/>
          <a:srcRect l="18373" r="18373"/>
          <a:stretch>
            <a:fillRect/>
          </a:stretch>
        </p:blipFill>
        <p:spPr>
          <a:xfrm>
            <a:off x="2387600" y="4895850"/>
            <a:ext cx="1778000" cy="158115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23876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24638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72" name="Picture 71" descr="lt_lube_truck.webp.png"/>
          <p:cNvPicPr>
            <a:picLocks noChangeAspect="1"/>
          </p:cNvPicPr>
          <p:nvPr/>
        </p:nvPicPr>
        <p:blipFill>
          <a:blip r:embed="rId5"/>
          <a:srcRect l="18373" r="18373"/>
          <a:stretch>
            <a:fillRect/>
          </a:stretch>
        </p:blipFill>
        <p:spPr>
          <a:xfrm>
            <a:off x="4241800" y="4895850"/>
            <a:ext cx="1778000" cy="158115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42418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3180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667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172200" y="481965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77" name="Picture 76" descr="crane_truck_crop.png"/>
          <p:cNvPicPr>
            <a:picLocks noChangeAspect="1"/>
          </p:cNvPicPr>
          <p:nvPr/>
        </p:nvPicPr>
        <p:blipFill>
          <a:blip r:embed="rId6"/>
          <a:srcRect l="9615" r="9615"/>
          <a:stretch>
            <a:fillRect/>
          </a:stretch>
        </p:blipFill>
        <p:spPr>
          <a:xfrm>
            <a:off x="6172200" y="4895850"/>
            <a:ext cx="1778000" cy="1581150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61722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62484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80" name="Picture 79" descr="mixer_truck.webp.png"/>
          <p:cNvPicPr>
            <a:picLocks noChangeAspect="1"/>
          </p:cNvPicPr>
          <p:nvPr/>
        </p:nvPicPr>
        <p:blipFill>
          <a:blip r:embed="rId7"/>
          <a:srcRect l="7722" r="7722"/>
          <a:stretch>
            <a:fillRect/>
          </a:stretch>
        </p:blipFill>
        <p:spPr>
          <a:xfrm>
            <a:off x="8026400" y="4895850"/>
            <a:ext cx="1778000" cy="158115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80264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1026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83" name="Picture 82" descr="st_stemming_truck.webp.png"/>
          <p:cNvPicPr>
            <a:picLocks noChangeAspect="1"/>
          </p:cNvPicPr>
          <p:nvPr/>
        </p:nvPicPr>
        <p:blipFill>
          <a:blip r:embed="rId8"/>
          <a:srcRect l="7722" r="7722"/>
          <a:stretch>
            <a:fillRect/>
          </a:stretch>
        </p:blipFill>
        <p:spPr>
          <a:xfrm>
            <a:off x="9880600" y="4895850"/>
            <a:ext cx="1778000" cy="1581150"/>
          </a:xfrm>
          <a:prstGeom prst="rect">
            <a:avLst/>
          </a:prstGeom>
        </p:spPr>
      </p:pic>
      <p:sp>
        <p:nvSpPr>
          <p:cNvPr id="84" name="Rectangle 83"/>
          <p:cNvSpPr/>
          <p:nvPr/>
        </p:nvSpPr>
        <p:spPr>
          <a:xfrm>
            <a:off x="98806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9568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62000"/>
                <a:gridCol w="1333500"/>
                <a:gridCol w="3143250"/>
                <a:gridCol w="5886450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Step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Item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Key point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Supporting data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4C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Change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HYVA has left; value sits in Medium + Heavy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Triatra has no crane brand since HYVA stopped. Medium + Heavy = 41% of units, 64% of value (2023 – 2026). Heavy units 12 → 17 → 35 (2023 – 2025).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leaders, one per class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Palfinger, 38% of value. Heavy: Palfinger, 66% of value; PK 53002 alone sold 39 of 65 units (2023 – 2026).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Customer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Medium buys on price, Heavy buys on quality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China brands take 73% of Medium value; European brands take 85% of Heavy value. 88% go on trucks ≥ 24 t GVW (mining, construction).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Company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Partner two brands to serve both buyers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 for price-oriented buyers. F.lli Ferrari for quality-oriented buyers.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3862">
                <a:tc rowSpan="3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STP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Segmentation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classes, ten 5-tm tiers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 25 – 45 tm: 196 units, Rp 156 M. Heavy &gt; 45 tm: 65 units, Rp 115 M.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Targeting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Take share from the Top 1 model in each tier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 SPK32080, SPK36080, SPK42502. Heavy: Palfinger PK 53002, PK 76002, PK 88002.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Positioning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clear promises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XCMG: same capacity, lower price (SQZ365.4 −9% vs SPK36080). Ferrari: European features, cheaper where it wins (−23% at 25 – 30 tm, −32% at 45 – 50 tm) and faster delivery from China stock (~14 weeks).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Offer Ferrari models that beat the Top 1 on features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a better price with Ferrari and 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Ferrari: lower price on 746 A4 (+48%), 9601CR A8 (+85%), 990R (+79%). XCMG: Triatra special price on SQZ325.4 and SQZ365.4.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stock to cut lead time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 stocks 268 A4 and FBR450R A4 in China (14-week lead time) and main components in Malaysia. XCMG via GM Tractors.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Sell a ready-to-work package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(+2-year warranty on Ferrari). Exhibitions and customer visits with a Marcom sales kit.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Multi-brand Crane Challenger: F.lli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cranes, so Triatra has no crane brand. From Jan 2023 to Aug 2026 Indonesia imported 638 knuckle boom cranes; Medium and Heavy (&gt; 25 tm) are 41% of units but 64% of value, led by Sany Palfinger (Medium) and Palfinger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39433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SCOPE · MEDIUM AND HEAVY CLASS (&gt; 25 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1. Market size and brand leaders   2. Top 1 vs challenger per tier   3. Feature and price comparison</a:t>
            </a:r>
          </a:p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4. Brand negotiation (Ferrari, XCMG)   5.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Arial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0975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</a:tblGrid>
              <a:tr h="190500">
                <a:tc rowSpan="2"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905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 ONLY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11125200" cy="476250"/>
          </a:xfrm>
          <a:prstGeom prst="roundRect">
            <a:avLst>
              <a:gd name="adj" fmla="val 1600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428750"/>
            <a:ext cx="108204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76932"/>
                </a:solidFill>
                <a:latin typeface="Arial"/>
              </a:rPr>
              <a:t>Why only the top 3 brands: in 2025 they hold 90% of Medium value (49 of 54 units, 91%) and 95% of Heavy value (33 of 35 units, 94%).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20383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2209800"/>
          <a:ext cx="5448299" cy="1485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540"/>
                <a:gridCol w="1767578"/>
                <a:gridCol w="727826"/>
                <a:gridCol w="2079504"/>
                <a:gridCol w="623851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Top 3 brands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49 of 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25.292.000.000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90%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Medium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28.000.000.000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33400" y="3829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533400" y="3981450"/>
          <a:ext cx="5448300" cy="18669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10300" y="20383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210300" y="2209800"/>
          <a:ext cx="5448299" cy="1485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540"/>
                <a:gridCol w="1767578"/>
                <a:gridCol w="727826"/>
                <a:gridCol w="2079504"/>
                <a:gridCol w="623851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Top 3 brands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33 of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45.450.000.000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95%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Heavy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48.000.000.000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210300" y="3829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3981450"/>
          <a:ext cx="5448300" cy="18669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33400" y="5943600"/>
            <a:ext cx="11125200" cy="552450"/>
          </a:xfrm>
          <a:prstGeom prst="roundRect">
            <a:avLst>
              <a:gd name="adj" fmla="val 172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60198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Leaders are far ahead: Sany Palfinger sold 2.1× XCMG in Medium (30 vs 14 units); Palfinger sold 3.1× Amco Veba in Heavy (22 vs 7 units).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Share = share of import value. 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