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1C8CD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49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889096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58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22C96A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58</c:v>
                </c:pt>
                <c:pt idx="2">
                  <c:v>54</c:v>
                </c:pt>
                <c:pt idx="3">
                  <c:v>19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76932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>
                  <a:solidFill>
                    <a:srgbClr val="4D555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00">
                <a:solidFill>
                  <a:srgbClr val="4D555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>
              <a:solidFill>
                <a:srgbClr val="697177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Rp M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C1C8CD"/>
              </a:solidFill>
            </c:spPr>
          </c:dPt>
          <c:dPt>
            <c:idx val="3"/>
            <c:spPr>
              <a:solidFill>
                <a:srgbClr val="076932"/>
              </a:solidFill>
            </c:spPr>
          </c:dPt>
          <c:cat>
            <c:strRef>
              <c:f>Sheet1!$A$2:$A$5</c:f>
              <c:strCache>
                <c:ptCount val="4"/>
                <c:pt idx="0">
                  <c:v>Amco Veba</c:v>
                </c:pt>
                <c:pt idx="1">
                  <c:v>Palfinger</c:v>
                </c:pt>
                <c:pt idx="2">
                  <c:v>XCMG</c:v>
                </c:pt>
                <c:pt idx="3">
                  <c:v>Sany Palfinger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2.7</c:v>
                </c:pt>
                <c:pt idx="1">
                  <c:v>4.9</c:v>
                </c:pt>
                <c:pt idx="2">
                  <c:v>7.2</c:v>
                </c:pt>
                <c:pt idx="3">
                  <c:v>13.2</c:v>
                </c:pt>
              </c:numCache>
            </c:numRef>
          </c:val>
        </c:ser>
        <c:dLbls>
          <c:numFmt formatCode="&quot;Rp &quot;0.0&quot; M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Rp M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076932"/>
              </a:solidFill>
            </c:spPr>
          </c:dPt>
          <c:cat>
            <c:strRef>
              <c:f>Sheet1!$A$2:$A$4</c:f>
              <c:strCache>
                <c:ptCount val="3"/>
                <c:pt idx="0">
                  <c:v>XCMG</c:v>
                </c:pt>
                <c:pt idx="1">
                  <c:v>Amco Veba</c:v>
                </c:pt>
                <c:pt idx="2">
                  <c:v>Palfinger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4.6</c:v>
                </c:pt>
                <c:pt idx="1">
                  <c:v>11.1</c:v>
                </c:pt>
                <c:pt idx="2">
                  <c:v>29.7</c:v>
                </c:pt>
              </c:numCache>
            </c:numRef>
          </c:val>
        </c:ser>
        <c:dLbls>
          <c:numFmt formatCode="&quot;Rp &quot;0.0&quot; M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PART 01 ·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Who I am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what I bring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to Triatra.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About me  ·  Onboarding  ·  Company  ·  Role  ·  Project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PERSONAL INFORMATION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PERSONAL INFORMATION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A management graduate now running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Small Suppeq and Truck Others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02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524000"/>
            <a:ext cx="2857500" cy="49530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750" y="1628775"/>
            <a:ext cx="2590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" y="180975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81C"/>
                </a:solidFill>
                <a:latin typeface="Georgia"/>
              </a:rPr>
              <a:t>Tiberias Krisgaharu Simu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2057400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76932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" y="24384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5812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Strategic 2 Associate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6750" y="28194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66750" y="29527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DIVISION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30956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Unit &amp; Strategic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66750" y="33337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66750" y="3467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PRODUCTS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36099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Small Suppeq · Truck Others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6750" y="38481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666750" y="39814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PLACE, DATE OF BIRTH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41243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Kupang, 22 April 2001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6750" y="43624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66750" y="44958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PHONE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50" y="46386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0822 7222 2463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66750" y="48768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9" name="Rounded Rectangle 28"/>
          <p:cNvSpPr/>
          <p:nvPr/>
        </p:nvSpPr>
        <p:spPr>
          <a:xfrm>
            <a:off x="3543300" y="1524000"/>
            <a:ext cx="4762500" cy="914400"/>
          </a:xfrm>
          <a:prstGeom prst="roundRect">
            <a:avLst>
              <a:gd name="adj" fmla="val 1041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676650" y="16287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EDUCATION</a:t>
            </a:r>
          </a:p>
        </p:txBody>
      </p:sp>
      <p:pic>
        <p:nvPicPr>
          <p:cNvPr id="31" name="Picture 30" descr="f2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5700" y="1814497"/>
            <a:ext cx="438150" cy="42865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248150" y="1866900"/>
            <a:ext cx="3905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Universitas Sanata Dharma, Yogyakarta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48150" y="2038350"/>
            <a:ext cx="3905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Bachelor (S1) · Management · Faculty of Economics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43300" y="2552700"/>
            <a:ext cx="4762500" cy="2400300"/>
          </a:xfrm>
          <a:prstGeom prst="roundRect">
            <a:avLst>
              <a:gd name="adj" fmla="val 396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676650" y="26574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WORK EXPERIENCE</a:t>
            </a:r>
          </a:p>
        </p:txBody>
      </p:sp>
      <p:pic>
        <p:nvPicPr>
          <p:cNvPr id="36" name="Picture 35" descr="f2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700" y="2878264"/>
            <a:ext cx="533400" cy="301371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343400" y="28765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30384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Strategic 2 Associate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34250" y="29146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334250" y="29146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2026 – now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695700" y="33909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2" name="Picture 41" descr="f2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5700" y="3658298"/>
            <a:ext cx="533400" cy="112903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343400" y="3562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Outlier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37242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Team Lead Data Annotator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34250" y="3600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334250" y="3600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2023 – 2025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695700" y="40767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8" name="Picture 47" descr="f2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3429" y="4210050"/>
            <a:ext cx="317942" cy="381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4343400" y="42481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Krishma International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43400" y="44100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Coordinator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34250" y="42862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334250" y="42862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2023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543300" y="5067300"/>
            <a:ext cx="4762500" cy="1409700"/>
          </a:xfrm>
          <a:prstGeom prst="roundRect">
            <a:avLst>
              <a:gd name="adj" fmla="val 675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676650" y="51720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pic>
        <p:nvPicPr>
          <p:cNvPr id="55" name="Picture 54" descr="f2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6428" y="5410200"/>
            <a:ext cx="436694" cy="43815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4248150" y="5467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HMJM Universitas Sanata Dharma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48150" y="56388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President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34250" y="5505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334250" y="5505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2022</a:t>
            </a:r>
          </a:p>
        </p:txBody>
      </p:sp>
      <p:pic>
        <p:nvPicPr>
          <p:cNvPr id="60" name="Picture 59" descr="f2_6.png"/>
          <p:cNvPicPr>
            <a:picLocks noChangeAspect="1"/>
          </p:cNvPicPr>
          <p:nvPr/>
        </p:nvPicPr>
        <p:blipFill>
          <a:blip r:embed="rId8"/>
          <a:srcRect l="1538" r="1538"/>
          <a:stretch>
            <a:fillRect/>
          </a:stretch>
        </p:blipFill>
        <p:spPr>
          <a:xfrm>
            <a:off x="8458200" y="1524000"/>
            <a:ext cx="3200400" cy="4953000"/>
          </a:xfrm>
          <a:prstGeom prst="roundRect">
            <a:avLst>
              <a:gd name="adj" fmla="val 4000"/>
            </a:avLst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ONBOARDING JOURNEY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ONBOARDING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programs built my base;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AHEMCE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comes next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03 / 15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2950" y="1676400"/>
            <a:ext cx="10706100" cy="0"/>
          </a:xfrm>
          <a:prstGeom prst="line">
            <a:avLst/>
          </a:prstGeom>
          <a:ln w="15875">
            <a:solidFill>
              <a:srgbClr val="D7DBDF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6667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34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858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Basic Technical Course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07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15" name="Picture 14" descr="s3_4.jpg"/>
          <p:cNvPicPr>
            <a:picLocks noChangeAspect="1"/>
          </p:cNvPicPr>
          <p:nvPr/>
        </p:nvPicPr>
        <p:blipFill>
          <a:blip r:embed="rId3"/>
          <a:srcRect l="12963" r="12963"/>
          <a:stretch>
            <a:fillRect/>
          </a:stretch>
        </p:blipFill>
        <p:spPr>
          <a:xfrm>
            <a:off x="6858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16" name="Picture 15" descr="s3_5.jpg"/>
          <p:cNvPicPr>
            <a:picLocks noChangeAspect="1"/>
          </p:cNvPicPr>
          <p:nvPr/>
        </p:nvPicPr>
        <p:blipFill>
          <a:blip r:embed="rId4"/>
          <a:srcRect l="617" r="617"/>
          <a:stretch>
            <a:fillRect/>
          </a:stretch>
        </p:blipFill>
        <p:spPr>
          <a:xfrm>
            <a:off x="23495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17" name="TextBox 16"/>
          <p:cNvSpPr txBox="1"/>
          <p:nvPr/>
        </p:nvSpPr>
        <p:spPr>
          <a:xfrm>
            <a:off x="6858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Engine basics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Electrical system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Axle, wheel and suspension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Final drive and undercarriage</a:t>
            </a:r>
          </a:p>
        </p:txBody>
      </p:sp>
      <p:sp>
        <p:nvSpPr>
          <p:cNvPr id="19" name="Oval 18"/>
          <p:cNvSpPr/>
          <p:nvPr/>
        </p:nvSpPr>
        <p:spPr>
          <a:xfrm>
            <a:off x="44513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180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4704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B-One · Orientation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453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23" name="Picture 22" descr="s3_7.jpg"/>
          <p:cNvPicPr>
            <a:picLocks noChangeAspect="1"/>
          </p:cNvPicPr>
          <p:nvPr/>
        </p:nvPicPr>
        <p:blipFill>
          <a:blip r:embed="rId5"/>
          <a:srcRect l="34371" r="34371"/>
          <a:stretch>
            <a:fillRect/>
          </a:stretch>
        </p:blipFill>
        <p:spPr>
          <a:xfrm>
            <a:off x="44704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24" name="Picture 23" descr="s3_6.jpg"/>
          <p:cNvPicPr>
            <a:picLocks noChangeAspect="1"/>
          </p:cNvPicPr>
          <p:nvPr/>
        </p:nvPicPr>
        <p:blipFill>
          <a:blip r:embed="rId6"/>
          <a:srcRect l="34371" r="34371"/>
          <a:stretch>
            <a:fillRect/>
          </a:stretch>
        </p:blipFill>
        <p:spPr>
          <a:xfrm>
            <a:off x="61341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25" name="TextBox 24"/>
          <p:cNvSpPr txBox="1"/>
          <p:nvPr/>
        </p:nvSpPr>
        <p:spPr>
          <a:xfrm>
            <a:off x="44704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04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8 Astra competencies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AI at 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Teamwork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Corporate bootcamp</a:t>
            </a:r>
          </a:p>
        </p:txBody>
      </p:sp>
      <p:sp>
        <p:nvSpPr>
          <p:cNvPr id="27" name="Oval 26"/>
          <p:cNvSpPr/>
          <p:nvPr/>
        </p:nvSpPr>
        <p:spPr>
          <a:xfrm>
            <a:off x="8235950" y="1619250"/>
            <a:ext cx="114300" cy="114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026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9525">
            <a:solidFill>
              <a:srgbClr val="D7DBDF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550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AHEMCE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299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NEXT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5000" y="3143250"/>
            <a:ext cx="32512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4D555C"/>
                </a:solidFill>
                <a:latin typeface="Georgia"/>
              </a:rPr>
              <a:t>Astra Heavy Equipment, Mining, Construction and Energy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50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WILL 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50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Heavy equipment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Mining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Contracting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Energy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COMPANY PROFILE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COMPANY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sells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PATRIA and ULTRA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to four industries for the UTPE group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04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Arial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SITE OPERATION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serves customers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16 points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across Indonesia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57300"/>
            <a:ext cx="11125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05 / 15</a:t>
            </a:r>
          </a:p>
        </p:txBody>
      </p:sp>
      <p:pic>
        <p:nvPicPr>
          <p:cNvPr id="11" name="Picture 10" descr="map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1525429"/>
            <a:ext cx="9334500" cy="3407093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3807333" y="3931651"/>
            <a:ext cx="171450" cy="1714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3638379" y="3790938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3096044" y="3385494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3</a:t>
            </a:r>
          </a:p>
        </p:txBody>
      </p:sp>
      <p:sp>
        <p:nvSpPr>
          <p:cNvPr id="15" name="Oval 14"/>
          <p:cNvSpPr/>
          <p:nvPr/>
        </p:nvSpPr>
        <p:spPr>
          <a:xfrm>
            <a:off x="2617184" y="252656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4</a:t>
            </a:r>
          </a:p>
        </p:txBody>
      </p:sp>
      <p:sp>
        <p:nvSpPr>
          <p:cNvPr id="16" name="Oval 15"/>
          <p:cNvSpPr/>
          <p:nvPr/>
        </p:nvSpPr>
        <p:spPr>
          <a:xfrm>
            <a:off x="5295252" y="3298273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5</a:t>
            </a:r>
          </a:p>
        </p:txBody>
      </p:sp>
      <p:sp>
        <p:nvSpPr>
          <p:cNvPr id="17" name="Oval 16"/>
          <p:cNvSpPr/>
          <p:nvPr/>
        </p:nvSpPr>
        <p:spPr>
          <a:xfrm>
            <a:off x="5473541" y="3381065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6</a:t>
            </a:r>
          </a:p>
        </p:txBody>
      </p:sp>
      <p:sp>
        <p:nvSpPr>
          <p:cNvPr id="18" name="Oval 17"/>
          <p:cNvSpPr/>
          <p:nvPr/>
        </p:nvSpPr>
        <p:spPr>
          <a:xfrm>
            <a:off x="5465140" y="3062843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5592089" y="299265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8</a:t>
            </a:r>
          </a:p>
        </p:txBody>
      </p:sp>
      <p:sp>
        <p:nvSpPr>
          <p:cNvPr id="20" name="Oval 19"/>
          <p:cNvSpPr/>
          <p:nvPr/>
        </p:nvSpPr>
        <p:spPr>
          <a:xfrm>
            <a:off x="5355927" y="282093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9</a:t>
            </a:r>
          </a:p>
        </p:txBody>
      </p:sp>
      <p:sp>
        <p:nvSpPr>
          <p:cNvPr id="21" name="Oval 20"/>
          <p:cNvSpPr/>
          <p:nvPr/>
        </p:nvSpPr>
        <p:spPr>
          <a:xfrm>
            <a:off x="5750776" y="287851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22" name="Oval 21"/>
          <p:cNvSpPr/>
          <p:nvPr/>
        </p:nvSpPr>
        <p:spPr>
          <a:xfrm>
            <a:off x="5547284" y="267579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11</a:t>
            </a:r>
          </a:p>
        </p:txBody>
      </p:sp>
      <p:sp>
        <p:nvSpPr>
          <p:cNvPr id="23" name="Oval 22"/>
          <p:cNvSpPr/>
          <p:nvPr/>
        </p:nvSpPr>
        <p:spPr>
          <a:xfrm>
            <a:off x="5588356" y="251804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12</a:t>
            </a:r>
          </a:p>
        </p:txBody>
      </p:sp>
      <p:sp>
        <p:nvSpPr>
          <p:cNvPr id="24" name="Oval 23"/>
          <p:cNvSpPr/>
          <p:nvPr/>
        </p:nvSpPr>
        <p:spPr>
          <a:xfrm>
            <a:off x="5886126" y="2195738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13</a:t>
            </a:r>
          </a:p>
        </p:txBody>
      </p:sp>
      <p:sp>
        <p:nvSpPr>
          <p:cNvPr id="25" name="Oval 24"/>
          <p:cNvSpPr/>
          <p:nvPr/>
        </p:nvSpPr>
        <p:spPr>
          <a:xfrm>
            <a:off x="5897328" y="252792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26" name="Oval 25"/>
          <p:cNvSpPr/>
          <p:nvPr/>
        </p:nvSpPr>
        <p:spPr>
          <a:xfrm>
            <a:off x="6439662" y="445259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15</a:t>
            </a:r>
          </a:p>
        </p:txBody>
      </p:sp>
      <p:sp>
        <p:nvSpPr>
          <p:cNvPr id="27" name="Oval 26"/>
          <p:cNvSpPr/>
          <p:nvPr/>
        </p:nvSpPr>
        <p:spPr>
          <a:xfrm>
            <a:off x="9832753" y="357969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28" name="Oval 27"/>
          <p:cNvSpPr/>
          <p:nvPr/>
        </p:nvSpPr>
        <p:spPr>
          <a:xfrm>
            <a:off x="8572500" y="133350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058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Head Office</a:t>
            </a:r>
          </a:p>
        </p:txBody>
      </p:sp>
      <p:sp>
        <p:nvSpPr>
          <p:cNvPr id="30" name="Oval 29"/>
          <p:cNvSpPr/>
          <p:nvPr/>
        </p:nvSpPr>
        <p:spPr>
          <a:xfrm>
            <a:off x="9620250" y="133350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360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32" name="Oval 31"/>
          <p:cNvSpPr/>
          <p:nvPr/>
        </p:nvSpPr>
        <p:spPr>
          <a:xfrm>
            <a:off x="10668000" y="133350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013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Representative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334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Jakarta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Enim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Lingga Raya 10, Muara Enim, Sumatera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Pekanbaru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Soekarno Hatta KM 3,5 No. 151, Riau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Banjarmasin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KM 13,5 Gambut, Kalimantan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Sungai Danau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Ds. Karang Indah, Angsana, Tanah Bumbu,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7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Tabalong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A. Yani KM 7,5 Maburai, Tabalong,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Batu Kajang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Negara KM 140, Batu Sopang, Paser,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1722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9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Muara Teweh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No. 85, Barito Utara, Kalteng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Balikpapan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Jend. Sudirman No. 844, Balikpapan,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Melak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Hauling Road Trubaindo, Kutai Barat,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Tabang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Workshop Buma Km 6, Hauling Road,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Redeb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Gunung Panjang No. 101B, Berau,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Sangatta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HDRS Tango Delta KPC, Kutai Timur,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Sumbawa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Memco Area Tongo, Sekongkang, Sumbawa Barat, NTB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Timika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Kuala Tembaga E-4, Kuala Kencana, Papua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ORGANIZATION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I work in Marketing Strategic 2, under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Ignatius Indrawan 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06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48250" y="1428750"/>
            <a:ext cx="20955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05400" y="1485900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Ceisar Centiaga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5400" y="1628775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DIRECTOR IN CHARGE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809750"/>
            <a:ext cx="0" cy="1143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5048250" y="1924050"/>
            <a:ext cx="20955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105400" y="1981200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2124075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47800" y="2495550"/>
            <a:ext cx="9296400" cy="0"/>
          </a:xfrm>
          <a:prstGeom prst="line">
            <a:avLst/>
          </a:prstGeom>
          <a:ln w="12700">
            <a:solidFill>
              <a:srgbClr val="D7DBDF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6096000" y="2305050"/>
            <a:ext cx="0" cy="1905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18669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5334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05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Kresnanto A.W.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5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1 HEAD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34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05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05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34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905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6863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3276600" y="2590800"/>
            <a:ext cx="2819400" cy="3924300"/>
          </a:xfrm>
          <a:prstGeom prst="roundRect">
            <a:avLst>
              <a:gd name="adj" fmla="val 2702"/>
            </a:avLst>
          </a:prstGeom>
          <a:noFill/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33528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099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Ricardo Tanada (c)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99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2 HEAD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528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4099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Ignatius Indrawan 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099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DEPUTY HEAD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528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4099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99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528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4099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099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52800" y="50482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409950" y="51054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9950" y="52482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52800" y="56769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409950" y="57340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09950" y="58769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57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61722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2293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Ugik Praseno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93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3 HEAD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722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293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293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722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2293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293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722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2293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293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72200" y="50482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229350" y="51054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29350" y="52482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03251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66" name="Rounded Rectangle 65"/>
          <p:cNvSpPr/>
          <p:nvPr/>
        </p:nvSpPr>
        <p:spPr>
          <a:xfrm>
            <a:off x="89916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0487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Marketing Communication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487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MARCOMM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9916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90487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Karina Audina 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487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Marcomm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916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0487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Adinda Siti K.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487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Marcomm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9916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90487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Rahma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487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Graphic Designer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ROLES &amp; RESPONSIBILITY · SUPPLY CHAIN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ROLES &amp; RESPONSIBILITY ·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I take every order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inquiry to delivery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two product 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57300"/>
            <a:ext cx="11125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BC = Business Consultant  ·  AE = Application Engineering  ·  MKT = Marketing Unit (Triatra / UTPE)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07 / 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581150"/>
            <a:ext cx="1981200" cy="2247900"/>
          </a:xfrm>
          <a:prstGeom prst="roundRect">
            <a:avLst>
              <a:gd name="adj" fmla="val 4807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33400" y="1581150"/>
            <a:ext cx="1981200" cy="38100"/>
          </a:xfrm>
          <a:prstGeom prst="rect">
            <a:avLst/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6750" y="1714500"/>
            <a:ext cx="571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076932"/>
                </a:solidFill>
                <a:latin typeface="Georgia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" y="2000250"/>
            <a:ext cx="1714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181C"/>
                </a:solidFill>
                <a:latin typeface="Arial"/>
              </a:rPr>
              <a:t>Inquiry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209800"/>
            <a:ext cx="1714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BC · AE · MKT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6750" y="2400300"/>
            <a:ext cx="17145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66750" y="2495550"/>
            <a:ext cx="17145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950" b="0" i="0">
                <a:solidFill>
                  <a:srgbClr val="4D555C"/>
                </a:solidFill>
                <a:latin typeface="Arial"/>
              </a:rPr>
              <a:t>Spec, buying reason, site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4D555C"/>
                </a:solidFill>
                <a:latin typeface="Arial"/>
              </a:rPr>
              <a:t>Target price and lead time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4D555C"/>
                </a:solidFill>
                <a:latin typeface="Arial"/>
              </a:rPr>
              <a:t>Expected PO date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552700" y="2705100"/>
            <a:ext cx="228600" cy="0"/>
          </a:xfrm>
          <a:prstGeom prst="line">
            <a:avLst/>
          </a:prstGeom>
          <a:ln w="25400">
            <a:solidFill>
              <a:srgbClr val="22C96A"/>
            </a:solidFill>
            <a:tailEnd type="triangle" w="med" len="med"/>
          </a:ln>
        </p:spPr>
      </p:cxnSp>
      <p:sp>
        <p:nvSpPr>
          <p:cNvPr id="19" name="Rounded Rectangle 18"/>
          <p:cNvSpPr/>
          <p:nvPr/>
        </p:nvSpPr>
        <p:spPr>
          <a:xfrm>
            <a:off x="2819400" y="1581150"/>
            <a:ext cx="1981200" cy="2247900"/>
          </a:xfrm>
          <a:prstGeom prst="roundRect">
            <a:avLst>
              <a:gd name="adj" fmla="val 4807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819400" y="1581150"/>
            <a:ext cx="1981200" cy="38100"/>
          </a:xfrm>
          <a:prstGeom prst="rect">
            <a:avLst/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952750" y="1714500"/>
            <a:ext cx="571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076932"/>
                </a:solidFill>
                <a:latin typeface="Georgia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2750" y="2000250"/>
            <a:ext cx="1714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181C"/>
                </a:solidFill>
                <a:latin typeface="Arial"/>
              </a:rPr>
              <a:t>Preliminary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52750" y="2209800"/>
            <a:ext cx="1714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BC · AE · MKT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52750" y="2400300"/>
            <a:ext cx="17145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2952750" y="2495550"/>
            <a:ext cx="17145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950" b="0" i="0">
                <a:solidFill>
                  <a:srgbClr val="4D555C"/>
                </a:solidFill>
                <a:latin typeface="Arial"/>
              </a:rPr>
              <a:t>Repeat order or new drawing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4D555C"/>
                </a:solidFill>
                <a:latin typeface="Arial"/>
              </a:rPr>
              <a:t>Unit function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4D555C"/>
                </a:solidFill>
                <a:latin typeface="Arial"/>
              </a:rPr>
              <a:t>Critical parts: price, lead time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38700" y="2705100"/>
            <a:ext cx="228600" cy="0"/>
          </a:xfrm>
          <a:prstGeom prst="line">
            <a:avLst/>
          </a:prstGeom>
          <a:ln w="25400">
            <a:solidFill>
              <a:srgbClr val="22C96A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5105400" y="1581150"/>
            <a:ext cx="1981200" cy="2247900"/>
          </a:xfrm>
          <a:prstGeom prst="roundRect">
            <a:avLst>
              <a:gd name="adj" fmla="val 4807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105400" y="1581150"/>
            <a:ext cx="1981200" cy="38100"/>
          </a:xfrm>
          <a:prstGeom prst="rect">
            <a:avLst/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238750" y="1714500"/>
            <a:ext cx="571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076932"/>
                </a:solidFill>
                <a:latin typeface="Georgia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38750" y="2000250"/>
            <a:ext cx="1714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181C"/>
                </a:solidFill>
                <a:latin typeface="Arial"/>
              </a:rPr>
              <a:t>Quotation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38750" y="2209800"/>
            <a:ext cx="1714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MKT TRIATRA · MKT UTPE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238750" y="2400300"/>
            <a:ext cx="17145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5238750" y="2495550"/>
            <a:ext cx="17145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950" b="0" i="0">
                <a:solidFill>
                  <a:srgbClr val="4D555C"/>
                </a:solidFill>
                <a:latin typeface="Arial"/>
              </a:rPr>
              <a:t>Quote request to UTE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4D555C"/>
                </a:solidFill>
                <a:latin typeface="Arial"/>
              </a:rPr>
              <a:t>Check standard GP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4D555C"/>
                </a:solidFill>
                <a:latin typeface="Arial"/>
              </a:rPr>
              <a:t>Track SLA; log PCR in CRM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24700" y="2705100"/>
            <a:ext cx="228600" cy="0"/>
          </a:xfrm>
          <a:prstGeom prst="line">
            <a:avLst/>
          </a:prstGeom>
          <a:ln w="25400">
            <a:solidFill>
              <a:srgbClr val="22C96A"/>
            </a:solidFill>
            <a:tailEnd type="triangle" w="med" len="med"/>
          </a:ln>
        </p:spPr>
      </p:cxnSp>
      <p:sp>
        <p:nvSpPr>
          <p:cNvPr id="35" name="Rounded Rectangle 34"/>
          <p:cNvSpPr/>
          <p:nvPr/>
        </p:nvSpPr>
        <p:spPr>
          <a:xfrm>
            <a:off x="7391400" y="1581150"/>
            <a:ext cx="1981200" cy="2247900"/>
          </a:xfrm>
          <a:prstGeom prst="roundRect">
            <a:avLst>
              <a:gd name="adj" fmla="val 4807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7391400" y="1581150"/>
            <a:ext cx="1981200" cy="38100"/>
          </a:xfrm>
          <a:prstGeom prst="rect">
            <a:avLst/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524750" y="1714500"/>
            <a:ext cx="571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076932"/>
                </a:solidFill>
                <a:latin typeface="Georgia"/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4750" y="2000250"/>
            <a:ext cx="1714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181C"/>
                </a:solidFill>
                <a:latin typeface="Arial"/>
              </a:rPr>
              <a:t>Negotiation &amp; CPO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24750" y="2209800"/>
            <a:ext cx="1714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BC · MKT TRIATRA · UTPE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524750" y="2400300"/>
            <a:ext cx="17145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41" name="TextBox 40"/>
          <p:cNvSpPr txBox="1"/>
          <p:nvPr/>
        </p:nvSpPr>
        <p:spPr>
          <a:xfrm>
            <a:off x="7524750" y="2495550"/>
            <a:ext cx="17145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950" b="0" i="0">
                <a:solidFill>
                  <a:srgbClr val="4D555C"/>
                </a:solidFill>
                <a:latin typeface="Arial"/>
              </a:rPr>
              <a:t>Check PO / PJB vs drawing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4D555C"/>
                </a:solidFill>
                <a:latin typeface="Arial"/>
              </a:rPr>
              <a:t>PN, QFD, painting style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4D555C"/>
                </a:solidFill>
                <a:latin typeface="Arial"/>
              </a:rPr>
              <a:t>CPO and PO interco approval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410700" y="2705100"/>
            <a:ext cx="228600" cy="0"/>
          </a:xfrm>
          <a:prstGeom prst="line">
            <a:avLst/>
          </a:prstGeom>
          <a:ln w="25400">
            <a:solidFill>
              <a:srgbClr val="22C96A"/>
            </a:solidFill>
            <a:tailEnd type="triangle" w="med" len="med"/>
          </a:ln>
        </p:spPr>
      </p:cxnSp>
      <p:sp>
        <p:nvSpPr>
          <p:cNvPr id="43" name="Rounded Rectangle 42"/>
          <p:cNvSpPr/>
          <p:nvPr/>
        </p:nvSpPr>
        <p:spPr>
          <a:xfrm>
            <a:off x="9677400" y="1581150"/>
            <a:ext cx="1981200" cy="2247900"/>
          </a:xfrm>
          <a:prstGeom prst="roundRect">
            <a:avLst>
              <a:gd name="adj" fmla="val 4807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9677400" y="1581150"/>
            <a:ext cx="1981200" cy="38100"/>
          </a:xfrm>
          <a:prstGeom prst="rect">
            <a:avLst/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810750" y="1714500"/>
            <a:ext cx="571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076932"/>
                </a:solidFill>
                <a:latin typeface="Georgia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10750" y="2000250"/>
            <a:ext cx="1714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181C"/>
                </a:solidFill>
                <a:latin typeface="Arial"/>
              </a:rPr>
              <a:t>Production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10750" y="2209800"/>
            <a:ext cx="1714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BC · MKT TRIATRA · UTPE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810750" y="2400300"/>
            <a:ext cx="17145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49" name="TextBox 48"/>
          <p:cNvSpPr txBox="1"/>
          <p:nvPr/>
        </p:nvSpPr>
        <p:spPr>
          <a:xfrm>
            <a:off x="9810750" y="2495550"/>
            <a:ext cx="17145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950" b="0" i="0">
                <a:solidFill>
                  <a:srgbClr val="4D555C"/>
                </a:solidFill>
                <a:latin typeface="Arial"/>
              </a:rPr>
              <a:t>Build vs QFD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4D555C"/>
                </a:solidFill>
                <a:latin typeface="Arial"/>
              </a:rPr>
              <a:t>Weekly update to BC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950" b="0" i="0">
                <a:solidFill>
                  <a:srgbClr val="4D555C"/>
                </a:solidFill>
                <a:latin typeface="Arial"/>
              </a:rPr>
              <a:t>Escalate issues; run FAT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3400" y="39814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SMALL SUPPEQ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33400" y="4133850"/>
            <a:ext cx="54483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52" name="Picture 51" descr="ft_fuel_truck.webp.png"/>
          <p:cNvPicPr>
            <a:picLocks noChangeAspect="1"/>
          </p:cNvPicPr>
          <p:nvPr/>
        </p:nvPicPr>
        <p:blipFill>
          <a:blip r:embed="rId3"/>
          <a:srcRect l="24111" r="24111"/>
          <a:stretch>
            <a:fillRect/>
          </a:stretch>
        </p:blipFill>
        <p:spPr>
          <a:xfrm>
            <a:off x="533400" y="4229100"/>
            <a:ext cx="1752600" cy="1905000"/>
          </a:xfrm>
          <a:prstGeom prst="roundRect">
            <a:avLst>
              <a:gd name="adj" fmla="val 5000"/>
            </a:avLst>
          </a:prstGeom>
        </p:spPr>
      </p:pic>
      <p:sp>
        <p:nvSpPr>
          <p:cNvPr id="53" name="TextBox 52"/>
          <p:cNvSpPr txBox="1"/>
          <p:nvPr/>
        </p:nvSpPr>
        <p:spPr>
          <a:xfrm>
            <a:off x="533400" y="6191250"/>
            <a:ext cx="1752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Fuel truck</a:t>
            </a:r>
          </a:p>
        </p:txBody>
      </p:sp>
      <p:pic>
        <p:nvPicPr>
          <p:cNvPr id="54" name="Picture 53" descr="wt_water_truck_clean.png"/>
          <p:cNvPicPr>
            <a:picLocks noChangeAspect="1"/>
          </p:cNvPicPr>
          <p:nvPr/>
        </p:nvPicPr>
        <p:blipFill>
          <a:blip r:embed="rId4"/>
          <a:srcRect l="24125" r="24125"/>
          <a:stretch>
            <a:fillRect/>
          </a:stretch>
        </p:blipFill>
        <p:spPr>
          <a:xfrm>
            <a:off x="2400300" y="4229100"/>
            <a:ext cx="1752600" cy="1905000"/>
          </a:xfrm>
          <a:prstGeom prst="roundRect">
            <a:avLst>
              <a:gd name="adj" fmla="val 5000"/>
            </a:avLst>
          </a:prstGeom>
        </p:spPr>
      </p:pic>
      <p:sp>
        <p:nvSpPr>
          <p:cNvPr id="55" name="TextBox 54"/>
          <p:cNvSpPr txBox="1"/>
          <p:nvPr/>
        </p:nvSpPr>
        <p:spPr>
          <a:xfrm>
            <a:off x="2400300" y="6191250"/>
            <a:ext cx="1752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Water truck</a:t>
            </a:r>
          </a:p>
        </p:txBody>
      </p:sp>
      <p:pic>
        <p:nvPicPr>
          <p:cNvPr id="56" name="Picture 55" descr="lt_lube_truck.webp.png"/>
          <p:cNvPicPr>
            <a:picLocks noChangeAspect="1"/>
          </p:cNvPicPr>
          <p:nvPr/>
        </p:nvPicPr>
        <p:blipFill>
          <a:blip r:embed="rId5"/>
          <a:srcRect l="24125" r="24125"/>
          <a:stretch>
            <a:fillRect/>
          </a:stretch>
        </p:blipFill>
        <p:spPr>
          <a:xfrm>
            <a:off x="4267200" y="4229100"/>
            <a:ext cx="1752600" cy="1905000"/>
          </a:xfrm>
          <a:prstGeom prst="roundRect">
            <a:avLst>
              <a:gd name="adj" fmla="val 5000"/>
            </a:avLst>
          </a:prstGeom>
        </p:spPr>
      </p:pic>
      <p:sp>
        <p:nvSpPr>
          <p:cNvPr id="57" name="TextBox 56"/>
          <p:cNvSpPr txBox="1"/>
          <p:nvPr/>
        </p:nvSpPr>
        <p:spPr>
          <a:xfrm>
            <a:off x="4267200" y="6191250"/>
            <a:ext cx="1752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Lube truck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0300" y="39814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TRUCK OTHERS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210300" y="4133850"/>
            <a:ext cx="54483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60" name="Picture 59" descr="crane_truck_crop.png"/>
          <p:cNvPicPr>
            <a:picLocks noChangeAspect="1"/>
          </p:cNvPicPr>
          <p:nvPr/>
        </p:nvPicPr>
        <p:blipFill>
          <a:blip r:embed="rId6"/>
          <a:srcRect l="16960" r="16960"/>
          <a:stretch>
            <a:fillRect/>
          </a:stretch>
        </p:blipFill>
        <p:spPr>
          <a:xfrm>
            <a:off x="6210300" y="4229100"/>
            <a:ext cx="1752600" cy="1905000"/>
          </a:xfrm>
          <a:prstGeom prst="roundRect">
            <a:avLst>
              <a:gd name="adj" fmla="val 5000"/>
            </a:avLst>
          </a:prstGeom>
        </p:spPr>
      </p:pic>
      <p:sp>
        <p:nvSpPr>
          <p:cNvPr id="61" name="TextBox 60"/>
          <p:cNvSpPr txBox="1"/>
          <p:nvPr/>
        </p:nvSpPr>
        <p:spPr>
          <a:xfrm>
            <a:off x="6210300" y="6191250"/>
            <a:ext cx="1752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Crane truck</a:t>
            </a:r>
          </a:p>
        </p:txBody>
      </p:sp>
      <p:pic>
        <p:nvPicPr>
          <p:cNvPr id="62" name="Picture 61" descr="mixer_truck.webp.png"/>
          <p:cNvPicPr>
            <a:picLocks noChangeAspect="1"/>
          </p:cNvPicPr>
          <p:nvPr/>
        </p:nvPicPr>
        <p:blipFill>
          <a:blip r:embed="rId7"/>
          <a:srcRect l="15410" r="15410"/>
          <a:stretch>
            <a:fillRect/>
          </a:stretch>
        </p:blipFill>
        <p:spPr>
          <a:xfrm>
            <a:off x="8077200" y="4229100"/>
            <a:ext cx="1752600" cy="1905000"/>
          </a:xfrm>
          <a:prstGeom prst="roundRect">
            <a:avLst>
              <a:gd name="adj" fmla="val 5000"/>
            </a:avLst>
          </a:prstGeom>
        </p:spPr>
      </p:pic>
      <p:sp>
        <p:nvSpPr>
          <p:cNvPr id="63" name="TextBox 62"/>
          <p:cNvSpPr txBox="1"/>
          <p:nvPr/>
        </p:nvSpPr>
        <p:spPr>
          <a:xfrm>
            <a:off x="8077200" y="6191250"/>
            <a:ext cx="1752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Mixer truck</a:t>
            </a:r>
          </a:p>
        </p:txBody>
      </p:sp>
      <p:pic>
        <p:nvPicPr>
          <p:cNvPr id="64" name="Picture 63" descr="st_stemming_truck.webp.png"/>
          <p:cNvPicPr>
            <a:picLocks noChangeAspect="1"/>
          </p:cNvPicPr>
          <p:nvPr/>
        </p:nvPicPr>
        <p:blipFill>
          <a:blip r:embed="rId8"/>
          <a:srcRect l="15410" r="15410"/>
          <a:stretch>
            <a:fillRect/>
          </a:stretch>
        </p:blipFill>
        <p:spPr>
          <a:xfrm>
            <a:off x="9944100" y="4229100"/>
            <a:ext cx="1752600" cy="1905000"/>
          </a:xfrm>
          <a:prstGeom prst="roundRect">
            <a:avLst>
              <a:gd name="adj" fmla="val 5000"/>
            </a:avLst>
          </a:prstGeom>
        </p:spPr>
      </p:pic>
      <p:sp>
        <p:nvSpPr>
          <p:cNvPr id="65" name="TextBox 64"/>
          <p:cNvSpPr txBox="1"/>
          <p:nvPr/>
        </p:nvSpPr>
        <p:spPr>
          <a:xfrm>
            <a:off x="9944100" y="6191250"/>
            <a:ext cx="1752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Stemming truck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STRATEGIC · 4C → STP → 4P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STRATEGIC · 4C → STP → 4P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Sell two challenger brands to take share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 and Palfinger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08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2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4C · SITUATION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600" y="152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4P · MARKETING MIX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500" y="152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STP · WHO WE FIGHT, WITH WHAT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1714500"/>
            <a:ext cx="2438400" cy="1085850"/>
          </a:xfrm>
          <a:prstGeom prst="roundRect">
            <a:avLst>
              <a:gd name="adj" fmla="val 877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6750" y="1819275"/>
            <a:ext cx="2171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000250"/>
            <a:ext cx="21717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HYVA stopped making cranes. Medium and Heavy hold 64% of value on 41% of units.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2914650"/>
            <a:ext cx="2438400" cy="1085850"/>
          </a:xfrm>
          <a:prstGeom prst="roundRect">
            <a:avLst>
              <a:gd name="adj" fmla="val 877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6750" y="3019425"/>
            <a:ext cx="2171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COMPETITOR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3200400"/>
            <a:ext cx="21717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2025 leaders: Sany Palfinger 47% of Medium, Palfinger 62% of Heavy.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400" y="4114800"/>
            <a:ext cx="2438400" cy="1085850"/>
          </a:xfrm>
          <a:prstGeom prst="roundRect">
            <a:avLst>
              <a:gd name="adj" fmla="val 877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66750" y="4219575"/>
            <a:ext cx="2171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CUSTOMER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4400550"/>
            <a:ext cx="21717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Medium buyers pick on price (China brands 73%). Heavy buyers pick on quality (Europe 85%).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3400" y="5314950"/>
            <a:ext cx="2438400" cy="1085850"/>
          </a:xfrm>
          <a:prstGeom prst="roundRect">
            <a:avLst>
              <a:gd name="adj" fmla="val 8771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66750" y="5419725"/>
            <a:ext cx="2171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COMPANY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5600700"/>
            <a:ext cx="21717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Partner F.lli Ferrari and XCMG to serve both buyer types.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1600" y="1714500"/>
            <a:ext cx="2667000" cy="1085850"/>
          </a:xfrm>
          <a:prstGeom prst="roundRect">
            <a:avLst>
              <a:gd name="adj" fmla="val 877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124950" y="1819275"/>
            <a:ext cx="24003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PRODUCT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4950" y="2000250"/>
            <a:ext cx="2400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One challenger model per tier; show features the leader lacks.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1600" y="2914650"/>
            <a:ext cx="2667000" cy="1085850"/>
          </a:xfrm>
          <a:prstGeom prst="roundRect">
            <a:avLst>
              <a:gd name="adj" fmla="val 877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24950" y="3019425"/>
            <a:ext cx="24003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4950" y="3200400"/>
            <a:ext cx="2400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XCMG: get a special price. Ferrari: cut price where the gap is over 30%.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91600" y="4114800"/>
            <a:ext cx="2667000" cy="1085850"/>
          </a:xfrm>
          <a:prstGeom prst="roundRect">
            <a:avLst>
              <a:gd name="adj" fmla="val 877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24950" y="4219575"/>
            <a:ext cx="24003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PLACE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4950" y="4400550"/>
            <a:ext cx="2400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Ferrari stocks units in China (~14 weeks) and parts in Malaysia.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91600" y="5314950"/>
            <a:ext cx="2667000" cy="1085850"/>
          </a:xfrm>
          <a:prstGeom prst="roundRect">
            <a:avLst>
              <a:gd name="adj" fmla="val 877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124950" y="5419725"/>
            <a:ext cx="24003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PROMOTION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24950" y="5600700"/>
            <a:ext cx="2400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Crane + flatdeck + installation bundle (+2-year warranty on Ferrari). Exhibitions with Marcom sales kit.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009900" y="4000500"/>
            <a:ext cx="190500" cy="0"/>
          </a:xfrm>
          <a:prstGeom prst="line">
            <a:avLst/>
          </a:prstGeom>
          <a:ln w="19050">
            <a:solidFill>
              <a:srgbClr val="22C96A"/>
            </a:solidFill>
            <a:tailEnd type="triangle" w="med" len="med"/>
          </a:ln>
        </p:spPr>
      </p:cxnSp>
      <p:cxnSp>
        <p:nvCxnSpPr>
          <p:cNvPr id="38" name="Connector 37"/>
          <p:cNvCxnSpPr/>
          <p:nvPr/>
        </p:nvCxnSpPr>
        <p:spPr>
          <a:xfrm>
            <a:off x="8763000" y="4000500"/>
            <a:ext cx="190500" cy="0"/>
          </a:xfrm>
          <a:prstGeom prst="line">
            <a:avLst/>
          </a:prstGeom>
          <a:ln w="19050">
            <a:solidFill>
              <a:srgbClr val="22C96A"/>
            </a:solidFill>
            <a:tailEnd type="triangle" w="med" len="med"/>
          </a:ln>
        </p:spPr>
      </p:cxnSp>
      <p:sp>
        <p:nvSpPr>
          <p:cNvPr id="39" name="Rounded Rectangle 38"/>
          <p:cNvSpPr/>
          <p:nvPr/>
        </p:nvSpPr>
        <p:spPr>
          <a:xfrm>
            <a:off x="3238500" y="1714500"/>
            <a:ext cx="5486400" cy="876300"/>
          </a:xfrm>
          <a:prstGeom prst="roundRect">
            <a:avLst>
              <a:gd name="adj" fmla="val 10869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371850" y="182880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76932"/>
                </a:solidFill>
                <a:latin typeface="Georgia"/>
              </a:rPr>
              <a:t>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00450" y="1857375"/>
            <a:ext cx="5029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1181C"/>
                </a:solidFill>
                <a:latin typeface="Arial"/>
              </a:rPr>
              <a:t>Two classes, 10 tm tiers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71850" y="205740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76932"/>
                </a:solidFill>
                <a:latin typeface="Georgia"/>
              </a:rPr>
              <a:t>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00450" y="2085975"/>
            <a:ext cx="5029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1181C"/>
                </a:solidFill>
                <a:latin typeface="Arial"/>
              </a:rPr>
              <a:t>Top 1 model in each tier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1850" y="228600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76932"/>
                </a:solidFill>
                <a:latin typeface="Georgia"/>
              </a:rPr>
              <a:t>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00450" y="2314575"/>
            <a:ext cx="5029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1181C"/>
                </a:solidFill>
                <a:latin typeface="Arial"/>
              </a:rPr>
              <a:t>XCMG: same capacity, lower price · Ferrari: European features, faster delivery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238500" y="2705100"/>
          <a:ext cx="5486400" cy="23336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7516"/>
                <a:gridCol w="555304"/>
                <a:gridCol w="1888032"/>
                <a:gridCol w="1888032"/>
                <a:gridCol w="577516"/>
              </a:tblGrid>
              <a:tr h="23336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CLASS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TOP 1 (TARGET)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CHALLENGER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Medium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Amco Veba V825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Ferrari 268 A4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Medium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Sany Palfinger SPK32080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XCMG SQZ325.4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Medium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Sany Palfinger SPK36080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XCMG SQZ365.4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Medium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Sany Palfinger SPK42502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Ferrari 746 A4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Heavy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Amco Veba V950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Ferrari FBR450R A4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Heavy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Palfinger PK 53002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Ferrari 9601CR A8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Heavy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Sany Palfinger SPK61502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Ferrari 9661C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Heavy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Palfinger PK 76002 EH D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Ferrari 990R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Heavy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Palfinger PK 88002 EH 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Ferrari TBC (price list)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PROJECT CHARTER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PROJECT CHARTER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Sell the first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challenger cranes by March 2027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09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524000"/>
            <a:ext cx="5334000" cy="781050"/>
          </a:xfrm>
          <a:prstGeom prst="roundRect">
            <a:avLst>
              <a:gd name="adj" fmla="val 12195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750" y="1628775"/>
            <a:ext cx="50673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BACKGROUND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" y="1809750"/>
            <a:ext cx="50673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1181C"/>
                </a:solidFill>
                <a:latin typeface="Arial"/>
              </a:rPr>
              <a:t>HYVA no longer makes cranes, so Triatra has no crane brand. Medium and Heavy cranes are 64% of import value, led by Sany Palfinger and Palfinger.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2400300"/>
            <a:ext cx="5334000" cy="781050"/>
          </a:xfrm>
          <a:prstGeom prst="roundRect">
            <a:avLst>
              <a:gd name="adj" fmla="val 12195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6750" y="2505075"/>
            <a:ext cx="50673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GOAL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686050"/>
            <a:ext cx="50673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1181C"/>
                </a:solidFill>
                <a:latin typeface="Arial"/>
              </a:rPr>
              <a:t>Put a cheaper or faster challenger against the Top 1 in each tm tier, and close the first sale.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3276600"/>
            <a:ext cx="5334000" cy="781050"/>
          </a:xfrm>
          <a:prstGeom prst="roundRect">
            <a:avLst>
              <a:gd name="adj" fmla="val 12195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6750" y="3381375"/>
            <a:ext cx="50673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3562350"/>
            <a:ext cx="50673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1181C"/>
                </a:solidFill>
                <a:latin typeface="Arial"/>
              </a:rPr>
              <a:t>Medium and Heavy (&gt; 25 tm)  ·  4C → STP → 4P  ·  F.lli Ferrari and XCMG (Fassi for Petrosea only)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400" y="4152900"/>
            <a:ext cx="3429000" cy="2324100"/>
          </a:xfrm>
          <a:prstGeom prst="roundRect">
            <a:avLst>
              <a:gd name="adj" fmla="val 409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66750" y="4257675"/>
            <a:ext cx="31623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KPI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66750" y="4400550"/>
          <a:ext cx="3162301" cy="1828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97644"/>
                <a:gridCol w="2196042"/>
                <a:gridCol w="768615"/>
              </a:tblGrid>
              <a:tr h="30480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MILESTONE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DUE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4C, STP, 4P approved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Aug 2026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Ferrari and XCMG terms signed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Dec 2026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Sales kit ready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Dec 2026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Quotations sent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Feb 2027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5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First unit sold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Mar 2027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4076700" y="4152900"/>
            <a:ext cx="1790700" cy="2324100"/>
          </a:xfrm>
          <a:prstGeom prst="roundRect">
            <a:avLst>
              <a:gd name="adj" fmla="val 5319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210050" y="42672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0050" y="4953000"/>
            <a:ext cx="15621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11181C"/>
                </a:solidFill>
                <a:latin typeface="Georgia"/>
              </a:rPr>
              <a:t>First unit sold</a:t>
            </a:r>
          </a:p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076932"/>
                </a:solidFill>
                <a:latin typeface="Georgia"/>
              </a:rPr>
              <a:t>March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0" y="152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TIMELINE · JUN 2026 – MAR 2027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096000" y="1695450"/>
          <a:ext cx="5562600" cy="14668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943100"/>
                <a:gridCol w="361950"/>
                <a:gridCol w="361950"/>
                <a:gridCol w="361950"/>
                <a:gridCol w="361950"/>
                <a:gridCol w="361950"/>
                <a:gridCol w="361950"/>
                <a:gridCol w="361950"/>
                <a:gridCol w="361950"/>
                <a:gridCol w="361950"/>
                <a:gridCol w="361950"/>
              </a:tblGrid>
              <a:tr h="20955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ACTIVITY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JUN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JUL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AUG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SEP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OCT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NOV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DEC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JAN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FEB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MAR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0955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Market study (4C)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0955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STP and challenger choice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0955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Negotiate with Ferrari and XCMG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0955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Sales kit with Marcom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0955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Exhibition and customer visits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0955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Quotation → PO → first unit sold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096000" y="34480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TEAM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096000" y="3619500"/>
          <a:ext cx="5562600" cy="1371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38250"/>
                <a:gridCol w="4324350"/>
              </a:tblGrid>
              <a:tr h="22860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ROLE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NAME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697177"/>
                          </a:solidFill>
                          <a:latin typeface="Arial"/>
                        </a:rPr>
                        <a:t>Executive sponsor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Ricardo Tanada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697177"/>
                          </a:solidFill>
                          <a:latin typeface="Arial"/>
                        </a:rPr>
                        <a:t>Advisor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Ricardo Tanada · Ignatius Indrawan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697177"/>
                          </a:solidFill>
                          <a:latin typeface="Arial"/>
                        </a:rPr>
                        <a:t>Coordinator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Ignatius Indrawan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697177"/>
                          </a:solidFill>
                          <a:latin typeface="Arial"/>
                        </a:rPr>
                        <a:t>Project lead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Tiberias Krisgaharu Simu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697177"/>
                          </a:solidFill>
                          <a:latin typeface="Arial"/>
                        </a:rPr>
                        <a:t>Team members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Marketing Unit · Application Engineering · UTPE · Business Consultant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6096000" y="5295900"/>
            <a:ext cx="5562600" cy="1181100"/>
          </a:xfrm>
          <a:prstGeom prst="roundRect">
            <a:avLst>
              <a:gd name="adj" fmla="val 806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29350" y="5400675"/>
            <a:ext cx="52959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SUPPORT NEEDED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29350" y="5581650"/>
            <a:ext cx="5295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11181C"/>
                </a:solidFill>
                <a:latin typeface="Arial"/>
              </a:rPr>
              <a:t>Marcom: sales kit and exhibition material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11181C"/>
                </a:solidFill>
                <a:latin typeface="Arial"/>
              </a:rPr>
              <a:t>F.lli Ferrari: stock in China, parts in Malaysia, price cut on red tiers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11181C"/>
                </a:solidFill>
                <a:latin typeface="Arial"/>
              </a:rPr>
              <a:t>XCMG: special price for Triatra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MARKET SIZE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MARKET 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Focus on Medium and Heavy: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64% of value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from 41% of units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10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IMPORTED PER YEAR BY CLASS · 2023 – 2026*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33400" y="1657350"/>
          <a:ext cx="6096000" cy="28575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33400" y="46291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TOTAL UNITS AND IMPORT VALUE · 2023 – 14 AUG 2026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3400" y="4800600"/>
          <a:ext cx="6096001" cy="16573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75765"/>
                <a:gridCol w="1314824"/>
                <a:gridCol w="836706"/>
                <a:gridCol w="2032000"/>
                <a:gridCol w="836706"/>
              </a:tblGrid>
              <a:tr h="27622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CLASS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LIFTING MOMENT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Light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≤ 8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177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40.118.000.000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Small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8 – 25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77.241.000.000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24%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Medium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25 –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196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118.328.000.000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36%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Heavy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&gt;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65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91.154.000.000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28%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Total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638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Rp 326.841.000.000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9342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0866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76932"/>
                </a:solidFill>
                <a:latin typeface="Georgia"/>
              </a:rPr>
              <a:t>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Medium + Heavy units / year · target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4869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11181C"/>
                </a:solidFill>
                <a:latin typeface="Georgia"/>
              </a:rPr>
              <a:t>104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869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Light + Small units / year · not target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34200" y="2667000"/>
            <a:ext cx="4724400" cy="28575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67550" y="2771775"/>
            <a:ext cx="4457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KEY 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933700"/>
            <a:ext cx="44386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20000"/>
              </a:lnSpc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Medium + Heavy: 41% of units, 64% of import value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Value per unit: Rp 803 jt vs Rp 311 jt for Light + Small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88% of Medium and Heavy cranes go on trucks GVW ≥ 24 t: mining, construction, heavy logistics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2026 is partial: only 12 Medium and 1 Heavy unit to 14 Aug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4200" y="5676900"/>
            <a:ext cx="472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889096"/>
                </a:solidFill>
                <a:latin typeface="Arial"/>
              </a:rPr>
              <a:t>*2026 annualised (Jan – 14 Aug × 1.61). Source: Indonesia import records HS 84269100 + 84264900; truck-mounted knuckle boom cranes; Zoomlion and Hyva excluded; USD 1 = Rp 17.803.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BRAND LEADERS 2025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BRAND LEADERS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leaders to beat: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Medium,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Heavy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11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504950"/>
            <a:ext cx="5448300" cy="247650"/>
          </a:xfrm>
          <a:prstGeom prst="roundRect">
            <a:avLst>
              <a:gd name="adj" fmla="val 23076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7700" y="1504950"/>
            <a:ext cx="52197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 spc="100">
                <a:solidFill>
                  <a:srgbClr val="076932"/>
                </a:solidFill>
                <a:latin typeface="Arial"/>
              </a:rPr>
              <a:t>MEDIUM · 25 – 45 TM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8669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IMPORT VALUE BY BRAND · 2025 · RP M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33400" y="2019300"/>
          <a:ext cx="5448300" cy="21907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3400" y="4343400"/>
          <a:ext cx="5448299" cy="106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4395"/>
                <a:gridCol w="1801967"/>
                <a:gridCol w="635988"/>
                <a:gridCol w="2119961"/>
                <a:gridCol w="635988"/>
              </a:tblGrid>
              <a:tr h="26670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Sany 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30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13.226.000.000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47%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7.197.000.000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4.869.000.000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33400" y="5486400"/>
            <a:ext cx="54483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Total Medium 2025: 54 units · Rp 28,0 M. Sany Palfinger = Sany–Palfinger JV, made in China.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300" y="1504950"/>
            <a:ext cx="5448300" cy="247650"/>
          </a:xfrm>
          <a:prstGeom prst="roundRect">
            <a:avLst>
              <a:gd name="adj" fmla="val 23076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24600" y="1504950"/>
            <a:ext cx="52197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 spc="100">
                <a:solidFill>
                  <a:srgbClr val="076932"/>
                </a:solidFill>
                <a:latin typeface="Arial"/>
              </a:rPr>
              <a:t>HEAVY · &gt; 45 TM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0300" y="18669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IMPORT VALUE BY BRAND · 2025 · RP M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6210300" y="2019300"/>
          <a:ext cx="5448300" cy="219075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210300" y="4343400"/>
          <a:ext cx="5448299" cy="106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4395"/>
                <a:gridCol w="1801967"/>
                <a:gridCol w="635988"/>
                <a:gridCol w="2119961"/>
                <a:gridCol w="635988"/>
              </a:tblGrid>
              <a:tr h="26670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22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29.738.000.000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62%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Amco Veba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7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11.065.000.000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23%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4.647.000.000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210300" y="5486400"/>
            <a:ext cx="54483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Total Heavy 2025: 35 units · Rp 48,0 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3400" y="5886450"/>
            <a:ext cx="11125200" cy="590550"/>
          </a:xfrm>
          <a:prstGeom prst="roundRect">
            <a:avLst>
              <a:gd name="adj" fmla="val 16129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5800" y="59817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Both leaders are far ahead of the next brand in value: Sany Palfinger 1.8× XCMG in Medium, Palfinger 2.7× Amco Veba in Heavy.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Scope is 2025 only, so figures are smaller than the 2023 – 2026 totals.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+ 4P · MEDIUM CLASS 25–45 TM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+ 4P · MEDIUM CLASS 25–45 TM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Use XCMG at 30–40 tm and Ferrari at 25–30 tm;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renegotiate Ferrari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40–45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12 / 15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1" cy="3200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70908"/>
                <a:gridCol w="333560"/>
                <a:gridCol w="412044"/>
                <a:gridCol w="1020301"/>
                <a:gridCol w="333560"/>
                <a:gridCol w="431666"/>
                <a:gridCol w="627877"/>
                <a:gridCol w="902574"/>
                <a:gridCol w="627877"/>
                <a:gridCol w="490529"/>
                <a:gridCol w="1020301"/>
                <a:gridCol w="1216512"/>
                <a:gridCol w="1569693"/>
                <a:gridCol w="1667799"/>
              </a:tblGrid>
              <a:tr h="533400">
                <a:tc gridSpan="3"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 spc="50">
                          <a:solidFill>
                            <a:srgbClr val="11181C"/>
                          </a:solidFill>
                          <a:latin typeface="Arial"/>
                        </a:rPr>
                        <a:t>SEGMENTATION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7DBD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 spc="50">
                          <a:solidFill>
                            <a:srgbClr val="11181C"/>
                          </a:solidFill>
                          <a:latin typeface="Arial"/>
                        </a:rPr>
                        <a:t>TARGETING · TOP 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7DBD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 spc="50">
                          <a:solidFill>
                            <a:srgbClr val="11181C"/>
                          </a:solidFill>
                          <a:latin typeface="Arial"/>
                        </a:rPr>
                        <a:t>POSITIONING · CHALLENGER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7DBD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 spc="50">
                          <a:solidFill>
                            <a:srgbClr val="076932"/>
                          </a:solidFill>
                          <a:latin typeface="Arial"/>
                        </a:rPr>
                        <a:t>PRODUCT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7DBD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 spc="50">
                          <a:solidFill>
                            <a:srgbClr val="076932"/>
                          </a:solidFill>
                          <a:latin typeface="Arial"/>
                        </a:rPr>
                        <a:t>PLACE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7DB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 spc="50">
                          <a:solidFill>
                            <a:srgbClr val="076932"/>
                          </a:solidFill>
                          <a:latin typeface="Arial"/>
                        </a:rPr>
                        <a:t>PROMOTION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7DBDF"/>
                      </a:solidFill>
                    </a:lnB>
                    <a:noFill/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QTY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VALUE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BRAND · MODEL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QTY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PRICE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BRAND · MODEL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PRICE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EQUAL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ONLY CHALLENGER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49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19%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850"/>
                    </a:p>
                    <a:p>
                      <a:pPr algn="l">
                        <a:defRPr sz="850"/>
                      </a:pPr>
                      <a:r>
                        <a:rPr sz="750" b="0">
                          <a:solidFill>
                            <a:srgbClr val="697177"/>
                          </a:solidFill>
                          <a:latin typeface="Arial"/>
                        </a:rPr>
                        <a:t>V825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31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69%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650 jt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50"/>
                    </a:p>
                    <a:p>
                      <a:pPr algn="l">
                        <a:defRPr sz="850"/>
                      </a:pPr>
                      <a:r>
                        <a:rPr sz="750" b="0">
                          <a:solidFill>
                            <a:srgbClr val="697177"/>
                          </a:solidFill>
                          <a:latin typeface="Arial"/>
                        </a:rPr>
                        <a:t>268 A4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500 jt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Linkage, Power boost, Control, Auto fold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RS, SDV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Stock units in China (~14 wks), parts in Malaysia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 + 2-yr warranty; exhibition with sales kit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62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31%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850"/>
                    </a:p>
                    <a:p>
                      <a:pPr algn="l">
                        <a:defRPr sz="850"/>
                      </a:pPr>
                      <a:r>
                        <a:rPr sz="750" b="0">
                          <a:solidFill>
                            <a:srgbClr val="697177"/>
                          </a:solidFill>
                          <a:latin typeface="Arial"/>
                        </a:rPr>
                        <a:t>SPK32080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33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36%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530 jt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50"/>
                    </a:p>
                    <a:p>
                      <a:pPr algn="l">
                        <a:defRPr sz="850"/>
                      </a:pPr>
                      <a:r>
                        <a:rPr sz="750" b="0">
                          <a:solidFill>
                            <a:srgbClr val="697177"/>
                          </a:solidFill>
                          <a:latin typeface="Arial"/>
                        </a:rPr>
                        <a:t>SQZ325.4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550 jt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Control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Parity: wins on price / delivery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install; exhibition with sales kit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66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38%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850"/>
                    </a:p>
                    <a:p>
                      <a:pPr algn="l">
                        <a:defRPr sz="850"/>
                      </a:pPr>
                      <a:r>
                        <a:rPr sz="750" b="0">
                          <a:solidFill>
                            <a:srgbClr val="697177"/>
                          </a:solidFill>
                          <a:latin typeface="Arial"/>
                        </a:rPr>
                        <a:t>SPK36080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37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41%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660 jt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50"/>
                    </a:p>
                    <a:p>
                      <a:pPr algn="l">
                        <a:defRPr sz="850"/>
                      </a:pPr>
                      <a:r>
                        <a:rPr sz="750" b="0">
                          <a:solidFill>
                            <a:srgbClr val="697177"/>
                          </a:solidFill>
                          <a:latin typeface="Arial"/>
                        </a:rPr>
                        <a:t>SQZ365.4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600 jt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Control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Parity: wins on price / delivery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install; exhibition with sales kit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19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850"/>
                    </a:p>
                    <a:p>
                      <a:pPr algn="l">
                        <a:defRPr sz="850"/>
                      </a:pPr>
                      <a:r>
                        <a:rPr sz="750" b="0">
                          <a:solidFill>
                            <a:srgbClr val="697177"/>
                          </a:solidFill>
                          <a:latin typeface="Arial"/>
                        </a:rPr>
                        <a:t>SPK42502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18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93%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960 jt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50"/>
                    </a:p>
                    <a:p>
                      <a:pPr algn="l">
                        <a:defRPr sz="850"/>
                      </a:pPr>
                      <a:r>
                        <a:rPr sz="750" b="0">
                          <a:solidFill>
                            <a:srgbClr val="697177"/>
                          </a:solidFill>
                          <a:latin typeface="Arial"/>
                        </a:rPr>
                        <a:t>746 A4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1.420 jt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boost, Ext. speed, Control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Red Power, SDV, Magic Touch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Stock units in China (~14 wks), parts in Malaysia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 + 2-yr warranty; exhibition with sales kit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076950"/>
            <a:ext cx="95250" cy="95250"/>
          </a:xfrm>
          <a:prstGeom prst="roundRect">
            <a:avLst>
              <a:gd name="adj" fmla="val 20000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60579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52650" y="6076950"/>
            <a:ext cx="95250" cy="95250"/>
          </a:xfrm>
          <a:prstGeom prst="roundRect">
            <a:avLst>
              <a:gd name="adj" fmla="val 20000"/>
            </a:avLst>
          </a:prstGeom>
          <a:solidFill>
            <a:srgbClr val="FFF7C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305050" y="60579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71900" y="6076950"/>
            <a:ext cx="95250" cy="95250"/>
          </a:xfrm>
          <a:prstGeom prst="roundRect">
            <a:avLst>
              <a:gd name="adj" fmla="val 20000"/>
            </a:avLst>
          </a:prstGeom>
          <a:solidFill>
            <a:srgbClr val="FEEB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924300" y="60579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Over +30%: negotiate price with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248400"/>
            <a:ext cx="111252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889096"/>
                </a:solidFill>
                <a:latin typeface="Arial"/>
              </a:rPr>
              <a:t>Value = units × highest import price per model (estimate), share of class value. * Top 1 brand has no model in this tier: next-largest brand shown. Only challenger = named features the challenger has and the Top 1 lacks.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+ 4P · HEAVY CLASS &gt; 45 TM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+ 4P · HEAVY CLASS &gt; 45 TM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Win Heavy on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delivery time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; cut Ferrari's price to compete at 50–55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13 / 15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1" cy="3352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70908"/>
                <a:gridCol w="333560"/>
                <a:gridCol w="412044"/>
                <a:gridCol w="1020301"/>
                <a:gridCol w="333560"/>
                <a:gridCol w="431666"/>
                <a:gridCol w="627877"/>
                <a:gridCol w="902574"/>
                <a:gridCol w="627877"/>
                <a:gridCol w="490529"/>
                <a:gridCol w="1020301"/>
                <a:gridCol w="1216512"/>
                <a:gridCol w="1569693"/>
                <a:gridCol w="1667799"/>
              </a:tblGrid>
              <a:tr h="419100">
                <a:tc gridSpan="3"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 spc="50">
                          <a:solidFill>
                            <a:srgbClr val="11181C"/>
                          </a:solidFill>
                          <a:latin typeface="Arial"/>
                        </a:rPr>
                        <a:t>SEGMENTATION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7DBD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 spc="50">
                          <a:solidFill>
                            <a:srgbClr val="11181C"/>
                          </a:solidFill>
                          <a:latin typeface="Arial"/>
                        </a:rPr>
                        <a:t>TARGETING · TOP 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7DBD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 spc="50">
                          <a:solidFill>
                            <a:srgbClr val="11181C"/>
                          </a:solidFill>
                          <a:latin typeface="Arial"/>
                        </a:rPr>
                        <a:t>POSITIONING · CHALLENGER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7DBD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 spc="50">
                          <a:solidFill>
                            <a:srgbClr val="076932"/>
                          </a:solidFill>
                          <a:latin typeface="Arial"/>
                        </a:rPr>
                        <a:t>PRODUCT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7DBD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 spc="50">
                          <a:solidFill>
                            <a:srgbClr val="076932"/>
                          </a:solidFill>
                          <a:latin typeface="Arial"/>
                        </a:rPr>
                        <a:t>PLACE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7DB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 spc="50">
                          <a:solidFill>
                            <a:srgbClr val="076932"/>
                          </a:solidFill>
                          <a:latin typeface="Arial"/>
                        </a:rPr>
                        <a:t>PROMOTION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7DBDF"/>
                      </a:solidFill>
                    </a:lnB>
                    <a:noFill/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QTY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VALUE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BRAND · MODEL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QTY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PRICE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BRAND · MODEL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PRICE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EQUAL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ONLY CHALLENGER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17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850"/>
                    </a:p>
                    <a:p>
                      <a:pPr algn="l">
                        <a:defRPr sz="850"/>
                      </a:pPr>
                      <a:r>
                        <a:rPr sz="750" b="0">
                          <a:solidFill>
                            <a:srgbClr val="697177"/>
                          </a:solidFill>
                          <a:latin typeface="Arial"/>
                        </a:rPr>
                        <a:t>V950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12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81%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1.990 jt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50"/>
                    </a:p>
                    <a:p>
                      <a:pPr algn="l">
                        <a:defRPr sz="850"/>
                      </a:pPr>
                      <a:r>
                        <a:rPr sz="750" b="0">
                          <a:solidFill>
                            <a:srgbClr val="697177"/>
                          </a:solidFill>
                          <a:latin typeface="Arial"/>
                        </a:rPr>
                        <a:t>FBR450R A4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1.350 jt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Linkage, Power boost, Control, Auto fold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RS, SDV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Stock units in China (~14 wks), parts in Malaysia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 + 2-yr warranty; exhibition with sales kit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40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63%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850"/>
                    </a:p>
                    <a:p>
                      <a:pPr algn="l">
                        <a:defRPr sz="850"/>
                      </a:pPr>
                      <a:r>
                        <a:rPr sz="750" b="0">
                          <a:solidFill>
                            <a:srgbClr val="697177"/>
                          </a:solidFill>
                          <a:latin typeface="Arial"/>
                        </a:rPr>
                        <a:t>PK 53002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39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95%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1.760 jt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50"/>
                    </a:p>
                    <a:p>
                      <a:pPr algn="l">
                        <a:defRPr sz="850"/>
                      </a:pPr>
                      <a:r>
                        <a:rPr sz="750" b="0">
                          <a:solidFill>
                            <a:srgbClr val="697177"/>
                          </a:solidFill>
                          <a:latin typeface="Arial"/>
                        </a:rPr>
                        <a:t>9601CR A8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3.260 jt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Linkage, Power boost, Ext. speed, Oscillation, Control, Auto fold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Parity: wins on price / delivery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Stock units in China (~14 wks), parts in Malaysia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 + 2-yr warranty; exhibition with sales kit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1%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Sany Palfinger*</a:t>
                      </a:r>
                      <a:endParaRPr sz="850"/>
                    </a:p>
                    <a:p>
                      <a:pPr algn="l">
                        <a:defRPr sz="850"/>
                      </a:pPr>
                      <a:r>
                        <a:rPr sz="750" b="0">
                          <a:solidFill>
                            <a:srgbClr val="697177"/>
                          </a:solidFill>
                          <a:latin typeface="Arial"/>
                        </a:rPr>
                        <a:t>SPK61502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1.400 jt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50"/>
                    </a:p>
                    <a:p>
                      <a:pPr algn="l">
                        <a:defRPr sz="850"/>
                      </a:pPr>
                      <a:r>
                        <a:rPr sz="750" b="0">
                          <a:solidFill>
                            <a:srgbClr val="697177"/>
                          </a:solidFill>
                          <a:latin typeface="Arial"/>
                        </a:rPr>
                        <a:t>9661C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boost, Ext. speed, Control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Red Power, SDV, Magic Touch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Stock units in China (~14 wks), parts in Malaysia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 + 2-yr warranty; exhibition with sales kit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4%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850"/>
                    </a:p>
                    <a:p>
                      <a:pPr algn="l">
                        <a:defRPr sz="850"/>
                      </a:pPr>
                      <a:r>
                        <a:rPr sz="750" b="0">
                          <a:solidFill>
                            <a:srgbClr val="697177"/>
                          </a:solidFill>
                          <a:latin typeface="Arial"/>
                        </a:rPr>
                        <a:t>PK 76002 EH D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2.290 jt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50"/>
                    </a:p>
                    <a:p>
                      <a:pPr algn="l">
                        <a:defRPr sz="850"/>
                      </a:pPr>
                      <a:r>
                        <a:rPr sz="750" b="0">
                          <a:solidFill>
                            <a:srgbClr val="697177"/>
                          </a:solidFill>
                          <a:latin typeface="Arial"/>
                        </a:rPr>
                        <a:t>990R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4.110 jt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Linkage, Power boost, Ext. speed, Oscillation, Control, Auto fold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Parity: wins on price / delivery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Stock units in China (~14 wks), parts in Malaysia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 + 2-yr warranty; exhibition with sales kit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2%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850"/>
                    </a:p>
                    <a:p>
                      <a:pPr algn="l">
                        <a:defRPr sz="850"/>
                      </a:pPr>
                      <a:r>
                        <a:rPr sz="750" b="0">
                          <a:solidFill>
                            <a:srgbClr val="697177"/>
                          </a:solidFill>
                          <a:latin typeface="Arial"/>
                        </a:rPr>
                        <a:t>PK 88002 EH 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2.220 jt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50"/>
                    </a:p>
                    <a:p>
                      <a:pPr algn="l">
                        <a:defRPr sz="850"/>
                      </a:pPr>
                      <a:r>
                        <a:rPr sz="750" b="0">
                          <a:solidFill>
                            <a:srgbClr val="697177"/>
                          </a:solidFill>
                          <a:latin typeface="Arial"/>
                        </a:rPr>
                        <a:t>TBC (price list)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Linkage, Power boost, Ext. speed, Oscillation, Control, Auto fold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Parity: wins on price / delivery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Stock units in China (~14 wks), parts in Malaysia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 + 2-yr warranty; exhibition with sales kit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5%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50"/>
                    </a:p>
                    <a:p>
                      <a:pPr algn="l">
                        <a:defRPr sz="850"/>
                      </a:pPr>
                      <a:r>
                        <a:rPr sz="750" b="0">
                          <a:solidFill>
                            <a:srgbClr val="697177"/>
                          </a:solidFill>
                          <a:latin typeface="Arial"/>
                        </a:rPr>
                        <a:t>GSQZ880.6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50%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1.320 jt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697177"/>
                          </a:solidFill>
                          <a:latin typeface="Arial"/>
                        </a:rPr>
                        <a:t>No challenger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076950"/>
            <a:ext cx="95250" cy="95250"/>
          </a:xfrm>
          <a:prstGeom prst="roundRect">
            <a:avLst>
              <a:gd name="adj" fmla="val 20000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60579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52650" y="6076950"/>
            <a:ext cx="95250" cy="95250"/>
          </a:xfrm>
          <a:prstGeom prst="roundRect">
            <a:avLst>
              <a:gd name="adj" fmla="val 20000"/>
            </a:avLst>
          </a:prstGeom>
          <a:solidFill>
            <a:srgbClr val="FFF7C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305050" y="60579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71900" y="6076950"/>
            <a:ext cx="95250" cy="95250"/>
          </a:xfrm>
          <a:prstGeom prst="roundRect">
            <a:avLst>
              <a:gd name="adj" fmla="val 20000"/>
            </a:avLst>
          </a:prstGeom>
          <a:solidFill>
            <a:srgbClr val="FEEB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924300" y="60579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Over +30%: negotiate price with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248400"/>
            <a:ext cx="111252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889096"/>
                </a:solidFill>
                <a:latin typeface="Arial"/>
              </a:rPr>
              <a:t>Value = units × highest import price per model (estimate), share of class value. * Top 1 brand has no model in this tier: next-largest brand shown. Only challenger = named features the challenger has and the Top 1 lacks.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CONCLUSION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Partner with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F.lli 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; keep Fassi for Petrosea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14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524000"/>
            <a:ext cx="4191000" cy="3143250"/>
          </a:xfrm>
          <a:prstGeom prst="roundRect">
            <a:avLst>
              <a:gd name="adj" fmla="val 303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23900" y="1695450"/>
            <a:ext cx="3810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1181C"/>
                </a:solidFill>
                <a:latin typeface="Georgia"/>
              </a:rPr>
              <a:t>XCMG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20955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MEDIUM · PRICE BUYERS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900" y="2286000"/>
            <a:ext cx="38100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723900" y="2419350"/>
            <a:ext cx="38100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25000"/>
              </a:lnSpc>
              <a:buChar char="•"/>
            </a:pPr>
            <a:r>
              <a:rPr sz="1200" b="0" i="0">
                <a:solidFill>
                  <a:srgbClr val="11181C"/>
                </a:solidFill>
                <a:latin typeface="Arial"/>
              </a:rPr>
              <a:t>Challenger at 30–35 and 35–40 tm</a:t>
            </a:r>
          </a:p>
          <a:p>
            <a:pPr algn="l" marL="127000" indent="-127000">
              <a:lnSpc>
                <a:spcPct val="125000"/>
              </a:lnSpc>
              <a:spcBef>
                <a:spcPts val="200"/>
              </a:spcBef>
              <a:buChar char="•"/>
            </a:pPr>
            <a:r>
              <a:rPr sz="1200" b="0" i="0">
                <a:solidFill>
                  <a:srgbClr val="11181C"/>
                </a:solidFill>
                <a:latin typeface="Arial"/>
              </a:rPr>
              <a:t>SQZ365.4 is 9% cheaper than SPK36080</a:t>
            </a:r>
          </a:p>
          <a:p>
            <a:pPr algn="l" marL="127000" indent="-127000">
              <a:lnSpc>
                <a:spcPct val="125000"/>
              </a:lnSpc>
              <a:spcBef>
                <a:spcPts val="200"/>
              </a:spcBef>
              <a:buChar char="•"/>
            </a:pPr>
            <a:r>
              <a:rPr sz="1200" b="0" i="0">
                <a:solidFill>
                  <a:srgbClr val="11181C"/>
                </a:solidFill>
                <a:latin typeface="Arial"/>
              </a:rPr>
              <a:t>Ask XCMG for a special price</a:t>
            </a:r>
          </a:p>
          <a:p>
            <a:pPr algn="l" marL="127000" indent="-127000">
              <a:lnSpc>
                <a:spcPct val="125000"/>
              </a:lnSpc>
              <a:spcBef>
                <a:spcPts val="200"/>
              </a:spcBef>
              <a:buChar char="•"/>
            </a:pPr>
            <a:r>
              <a:rPr sz="1200" b="0" i="0">
                <a:solidFill>
                  <a:srgbClr val="11181C"/>
                </a:solidFill>
                <a:latin typeface="Arial"/>
              </a:rPr>
              <a:t>Bundle crane + flatdeck + installation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76800" y="1524000"/>
            <a:ext cx="4191000" cy="3143250"/>
          </a:xfrm>
          <a:prstGeom prst="roundRect">
            <a:avLst>
              <a:gd name="adj" fmla="val 303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67300" y="1695450"/>
            <a:ext cx="3810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1181C"/>
                </a:solidFill>
                <a:latin typeface="Georgia"/>
              </a:rPr>
              <a:t>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7300" y="20955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HEAVY · QUALITY BUYERS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67300" y="2286000"/>
            <a:ext cx="38100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067300" y="2419350"/>
            <a:ext cx="38100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25000"/>
              </a:lnSpc>
              <a:buChar char="•"/>
            </a:pPr>
            <a:r>
              <a:rPr sz="1200" b="0" i="0">
                <a:solidFill>
                  <a:srgbClr val="11181C"/>
                </a:solidFill>
                <a:latin typeface="Arial"/>
              </a:rPr>
              <a:t>Cheaper at 25–30 tm (−23%) and 45–50 tm (−32%)</a:t>
            </a:r>
          </a:p>
          <a:p>
            <a:pPr algn="l" marL="127000" indent="-127000">
              <a:lnSpc>
                <a:spcPct val="125000"/>
              </a:lnSpc>
              <a:spcBef>
                <a:spcPts val="200"/>
              </a:spcBef>
              <a:buChar char="•"/>
            </a:pPr>
            <a:r>
              <a:rPr sz="1200" b="0" i="0">
                <a:solidFill>
                  <a:srgbClr val="11181C"/>
                </a:solidFill>
                <a:latin typeface="Arial"/>
              </a:rPr>
              <a:t>Stock units in China (~14 weeks), parts in Malaysia</a:t>
            </a:r>
          </a:p>
          <a:p>
            <a:pPr algn="l" marL="127000" indent="-127000">
              <a:lnSpc>
                <a:spcPct val="125000"/>
              </a:lnSpc>
              <a:spcBef>
                <a:spcPts val="200"/>
              </a:spcBef>
              <a:buChar char="•"/>
            </a:pPr>
            <a:r>
              <a:rPr sz="1200" b="0" i="0">
                <a:solidFill>
                  <a:srgbClr val="11181C"/>
                </a:solidFill>
                <a:latin typeface="Arial"/>
              </a:rPr>
              <a:t>Cut price at 40–45, 50–55 and 70–75 tm</a:t>
            </a:r>
          </a:p>
          <a:p>
            <a:pPr algn="l" marL="127000" indent="-127000">
              <a:lnSpc>
                <a:spcPct val="125000"/>
              </a:lnSpc>
              <a:spcBef>
                <a:spcPts val="200"/>
              </a:spcBef>
              <a:buChar char="•"/>
            </a:pPr>
            <a:r>
              <a:rPr sz="1200" b="0" i="0">
                <a:solidFill>
                  <a:srgbClr val="11181C"/>
                </a:solidFill>
                <a:latin typeface="Arial"/>
              </a:rPr>
              <a:t>Bundle + 2-year warranty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20200" y="1524000"/>
            <a:ext cx="2438400" cy="3143250"/>
          </a:xfrm>
          <a:prstGeom prst="roundRect">
            <a:avLst>
              <a:gd name="adj" fmla="val 390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410700" y="1695450"/>
            <a:ext cx="2057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1181C"/>
                </a:solidFill>
                <a:latin typeface="Georgia"/>
              </a:rPr>
              <a:t>Fassi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0700" y="20955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KEY ACCOUNT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410700" y="2286000"/>
            <a:ext cx="2057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9410700" y="2419350"/>
            <a:ext cx="20574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25000"/>
              </a:lnSpc>
              <a:buChar char="•"/>
            </a:pPr>
            <a:r>
              <a:rPr sz="1200" b="0" i="0">
                <a:solidFill>
                  <a:srgbClr val="11181C"/>
                </a:solidFill>
                <a:latin typeface="Arial"/>
              </a:rPr>
              <a:t>Petrosea buys Fassi only</a:t>
            </a:r>
          </a:p>
          <a:p>
            <a:pPr algn="l" marL="127000" indent="-127000">
              <a:lnSpc>
                <a:spcPct val="125000"/>
              </a:lnSpc>
              <a:spcBef>
                <a:spcPts val="200"/>
              </a:spcBef>
              <a:buChar char="•"/>
            </a:pPr>
            <a:r>
              <a:rPr sz="1200" b="0" i="0">
                <a:solidFill>
                  <a:srgbClr val="11181C"/>
                </a:solidFill>
                <a:latin typeface="Arial"/>
              </a:rPr>
              <a:t>Keep supply for this account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3400" y="4857750"/>
            <a:ext cx="11125200" cy="1619250"/>
          </a:xfrm>
          <a:prstGeom prst="roundRect">
            <a:avLst>
              <a:gd name="adj" fmla="val 5882"/>
            </a:avLst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2000" y="5048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DECISIONS NEEDED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Approve partnership talks with F.lli Ferrari and XCMG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15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15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Mandate Ferrari price and stock negotiation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Budget for exhibitions and Marcom sales kit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Questions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feedback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are welcome.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Tiberias Krisgaharu Simu  ·  Marketing Strategic 2 Associate  ·  PT Triatra Sinergia Pratama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