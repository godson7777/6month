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14</c:v>
                </c:pt>
                <c:pt idx="3">
                  <c:v>30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7</c:v>
                </c:pt>
                <c:pt idx="2">
                  <c:v>22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Five steps from customer inquiry to factory acceptance test (FAT), for Small Suppeq and Truck Others.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3400" y="1504950"/>
            <a:ext cx="2308860" cy="381000"/>
          </a:xfrm>
          <a:prstGeom prst="homePlate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01  Inquiry &amp;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200275"/>
            <a:ext cx="19088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spec and buying reason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target price and lead time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urgency and PO date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Lead / opportunity in CRM</a:t>
            </a:r>
          </a:p>
        </p:txBody>
      </p:sp>
      <p:sp>
        <p:nvSpPr>
          <p:cNvPr id="19" name="Chevron 18"/>
          <p:cNvSpPr/>
          <p:nvPr/>
        </p:nvSpPr>
        <p:spPr>
          <a:xfrm>
            <a:off x="278511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466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02  Preliminary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511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846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460" y="2200275"/>
            <a:ext cx="19088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511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1846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46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Repeat order or new drawing?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drawing in iServe; MKU Head assigns AE (same day)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AE drawing: repeat 1 day, minor 3 days, major 5 days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unit function and critical parts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Handle customer revisions</a:t>
            </a:r>
          </a:p>
        </p:txBody>
      </p:sp>
      <p:sp>
        <p:nvSpPr>
          <p:cNvPr id="27" name="Chevron 26"/>
          <p:cNvSpPr/>
          <p:nvPr/>
        </p:nvSpPr>
        <p:spPr>
          <a:xfrm>
            <a:off x="503682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637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03  Pricing / Quotation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3682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7017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0170" y="2200275"/>
            <a:ext cx="19088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682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017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017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quote to UTPE: drawing, target price, lead time, customer info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UTPE quote: price/COGS, lead time, validity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Input standard price; check standard GP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Submit PCR for approval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Watch SLA; escalate if late</a:t>
            </a:r>
          </a:p>
        </p:txBody>
      </p:sp>
      <p:sp>
        <p:nvSpPr>
          <p:cNvPr id="35" name="Chevron 34"/>
          <p:cNvSpPr/>
          <p:nvPr/>
        </p:nvSpPr>
        <p:spPr>
          <a:xfrm>
            <a:off x="728853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8853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188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1880" y="2200275"/>
            <a:ext cx="19088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853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2188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188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Revise lead time and spec if asked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/ PJB vs drawing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Validate order; fill SAP condition type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DP request or confirm order → SO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Extend PN, master data, sharing profit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PO interco: MKU Manager → GM → Director</a:t>
            </a:r>
          </a:p>
        </p:txBody>
      </p:sp>
      <p:sp>
        <p:nvSpPr>
          <p:cNvPr id="43" name="Chevron 42"/>
          <p:cNvSpPr/>
          <p:nvPr/>
        </p:nvSpPr>
        <p:spPr>
          <a:xfrm>
            <a:off x="9540240" y="1504950"/>
            <a:ext cx="21183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979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05  Production &amp; Delivery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4024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67359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3590" y="2200275"/>
            <a:ext cx="19088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Warehouse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4024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7359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359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Build follows QFD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Weekly progress to BC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Escalate major problems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FAT and QC at warehouse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Delivery plan; BAST and SPB signed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34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3" name="Picture 52" descr="ft_fuel_truck.webp.png"/>
          <p:cNvPicPr>
            <a:picLocks noChangeAspect="1"/>
          </p:cNvPicPr>
          <p:nvPr/>
        </p:nvPicPr>
        <p:blipFill>
          <a:blip r:embed="rId3"/>
          <a:srcRect l="14981" r="14981"/>
          <a:stretch>
            <a:fillRect/>
          </a:stretch>
        </p:blipFill>
        <p:spPr>
          <a:xfrm>
            <a:off x="533400" y="5029200"/>
            <a:ext cx="1778000" cy="14287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33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9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56" name="Picture 55" descr="wt_water_truck_clean.pn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2387600" y="5029200"/>
            <a:ext cx="1778000" cy="142875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2387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463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59" name="Picture 58" descr="lt_lube_truck.webp.png"/>
          <p:cNvPicPr>
            <a:picLocks noChangeAspect="1"/>
          </p:cNvPicPr>
          <p:nvPr/>
        </p:nvPicPr>
        <p:blipFill>
          <a:blip r:embed="rId5"/>
          <a:srcRect l="15000" r="15000"/>
          <a:stretch>
            <a:fillRect/>
          </a:stretch>
        </p:blipFill>
        <p:spPr>
          <a:xfrm>
            <a:off x="4241800" y="5029200"/>
            <a:ext cx="1778000" cy="14287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2418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3180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4" name="Picture 63" descr="crane_truck_crop.png"/>
          <p:cNvPicPr>
            <a:picLocks noChangeAspect="1"/>
          </p:cNvPicPr>
          <p:nvPr/>
        </p:nvPicPr>
        <p:blipFill>
          <a:blip r:embed="rId6"/>
          <a:srcRect l="5308" r="5308"/>
          <a:stretch>
            <a:fillRect/>
          </a:stretch>
        </p:blipFill>
        <p:spPr>
          <a:xfrm>
            <a:off x="6172200" y="5029200"/>
            <a:ext cx="1778000" cy="14287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61722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84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67" name="Picture 66" descr="mixer_truck.webp.png"/>
          <p:cNvPicPr>
            <a:picLocks noChangeAspect="1"/>
          </p:cNvPicPr>
          <p:nvPr/>
        </p:nvPicPr>
        <p:blipFill>
          <a:blip r:embed="rId7"/>
          <a:srcRect l="3212" r="3212"/>
          <a:stretch>
            <a:fillRect/>
          </a:stretch>
        </p:blipFill>
        <p:spPr>
          <a:xfrm>
            <a:off x="8026400" y="5029200"/>
            <a:ext cx="1778000" cy="14287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026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2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70" name="Picture 69" descr="st_stemming_truck.webp.png"/>
          <p:cNvPicPr>
            <a:picLocks noChangeAspect="1"/>
          </p:cNvPicPr>
          <p:nvPr/>
        </p:nvPicPr>
        <p:blipFill>
          <a:blip r:embed="rId8"/>
          <a:srcRect l="3212" r="3212"/>
          <a:stretch>
            <a:fillRect/>
          </a:stretch>
        </p:blipFill>
        <p:spPr>
          <a:xfrm>
            <a:off x="9880600" y="5029200"/>
            <a:ext cx="1778000" cy="142875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9880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956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2000"/>
                <a:gridCol w="1333500"/>
                <a:gridCol w="3143250"/>
                <a:gridCol w="5886450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Change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HYVA has left; value sits in Medium + Heavy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leaders, one per class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Palfinger, 38% of value. Heavy: Palfinger, 66% of value; PK 53002 alone sold 39 of 65 units (2023 – 2026).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Customer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Medium buys on price, Heavy buys on quality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China brands take 73% of Medium value; European brands take 85% of Heavy value. 88% go on trucks ≥ 24 t GVW (mining, construction).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Company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Partner two brands to serve both buyers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 for price-oriented buyers. F.lli Ferrari for quality-oriented buyers.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3862">
                <a:tc rowSpan="3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classes, ten 5-tm tiers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 25 – 45 tm: 196 units, Rp 156 M. Heavy &gt; 45 tm: 65 units, Rp 115 M.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Targeting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Take share from the Top 1 model in each tier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 SPK32080, SPK36080, SPK42502. Heavy: Palfinger PK 53002, PK 76002, PK 88002.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Positioning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clear promises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Offer Ferrari models that beat the Top 1 on features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a better price with Ferrari and 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Ferrari: lower price on 746 A4 (+48%), 9601CR A8 (+85%), 990R (+79%). XCMG: Triatra special price on SQZ325.4 and SQZ365.4.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stock to cut lead time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 stocks 268 A4 and FBR450R A4 in China (14-week lead time) and main components in Malaysia. XCMG via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Sell a ready-to-work package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(+2-year warranty on Ferrari). Exhibitions and customer visits with a Marcom sales kit.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 ONLY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11125200" cy="476250"/>
          </a:xfrm>
          <a:prstGeom prst="roundRect">
            <a:avLst>
              <a:gd name="adj" fmla="val 1600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428750"/>
            <a:ext cx="108204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76932"/>
                </a:solidFill>
                <a:latin typeface="Arial"/>
              </a:rPr>
              <a:t>Why only the top 3 brands: in 2025 they hold 90% of Medium value (49 of 54 units, 91%) and 95% of Heavy value (33 of 35 units, 94%).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49 of 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25.292.000.000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Medium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28.000.000.000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334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334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103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2103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33 of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45.450.000.000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95%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Heavy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48.000.000.000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2103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33400" y="5943600"/>
            <a:ext cx="11125200" cy="552450"/>
          </a:xfrm>
          <a:prstGeom prst="roundRect">
            <a:avLst>
              <a:gd name="adj" fmla="val 172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60198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Leaders are far ahead: Sany Palfinger sold 2.1× XCMG in Medium (30 vs 14 units); Palfinger sold 3.1× Amco Veba in Heavy (22 vs 7 units).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Share = share of import value. 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