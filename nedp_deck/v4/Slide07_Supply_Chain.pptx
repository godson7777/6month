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ROLES &amp; RESPONSIBILITY · SUPPLY CHAIN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ROLES &amp; RESPONSIBILITY ·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I take every order from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inquiry to delivery</a:t>
            </a:r>
            <a:r>
              <a:rPr sz="2100" b="0" i="0">
                <a:solidFill>
                  <a:srgbClr val="11181C"/>
                </a:solidFill>
                <a:latin typeface="Georgia"/>
              </a:rPr>
              <a:t> for two product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57300"/>
            <a:ext cx="11125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Five steps from customer inquiry to factory acceptance test (FAT), for Small Suppeq and Truck Others.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07 / 18</a:t>
            </a:r>
          </a:p>
        </p:txBody>
      </p:sp>
      <p:sp>
        <p:nvSpPr>
          <p:cNvPr id="11" name="Pentagon 10"/>
          <p:cNvSpPr/>
          <p:nvPr/>
        </p:nvSpPr>
        <p:spPr>
          <a:xfrm>
            <a:off x="533400" y="1504950"/>
            <a:ext cx="2308860" cy="381000"/>
          </a:xfrm>
          <a:prstGeom prst="homePlate">
            <a:avLst>
              <a:gd name="adj" fmla="val 28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01  Inquiry &amp; opportunity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675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200275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Business Consultant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Application Engineering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Marketing 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675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spec and buying reason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project location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target price and lead time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urgency and PO date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Lead / opportunity in CRM</a:t>
            </a:r>
          </a:p>
        </p:txBody>
      </p:sp>
      <p:sp>
        <p:nvSpPr>
          <p:cNvPr id="19" name="Chevron 18"/>
          <p:cNvSpPr/>
          <p:nvPr/>
        </p:nvSpPr>
        <p:spPr>
          <a:xfrm>
            <a:off x="2785110" y="1504950"/>
            <a:ext cx="2308860" cy="381000"/>
          </a:xfrm>
          <a:prstGeom prst="chevron">
            <a:avLst>
              <a:gd name="adj" fmla="val 28000"/>
            </a:avLst>
          </a:prstGeom>
          <a:solidFill>
            <a:srgbClr val="0A7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466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02  Preliminary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511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1846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18460" y="2200275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Business Consultant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Application Engineering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Marketing Unit Triatra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511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1846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846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Repeat order or new drawing?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Request drawing in iServe; MKU Head assigns AE (same day)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AE drawing: repeat 1 day, minor 3 days, major 5 days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unit function and critical parts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Handle customer revisions</a:t>
            </a:r>
          </a:p>
        </p:txBody>
      </p:sp>
      <p:sp>
        <p:nvSpPr>
          <p:cNvPr id="27" name="Chevron 26"/>
          <p:cNvSpPr/>
          <p:nvPr/>
        </p:nvSpPr>
        <p:spPr>
          <a:xfrm>
            <a:off x="5036820" y="1504950"/>
            <a:ext cx="2308860" cy="381000"/>
          </a:xfrm>
          <a:prstGeom prst="chevron">
            <a:avLst>
              <a:gd name="adj" fmla="val 28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4637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03  Pricing / Quotation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3682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7017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0170" y="2200275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Marketing Unit Triatra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Marketing Unit UTPE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3682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7017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017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Request quote to UTPE: drawing, target price, lead time, customer info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UTPE quote: price/COGS, lead time, validity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Input standard price; check standard GP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Submit PCR for approval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Watch SLA; escalate if late</a:t>
            </a:r>
          </a:p>
        </p:txBody>
      </p:sp>
      <p:sp>
        <p:nvSpPr>
          <p:cNvPr id="35" name="Chevron 34"/>
          <p:cNvSpPr/>
          <p:nvPr/>
        </p:nvSpPr>
        <p:spPr>
          <a:xfrm>
            <a:off x="7288530" y="1504950"/>
            <a:ext cx="2308860" cy="381000"/>
          </a:xfrm>
          <a:prstGeom prst="chevron">
            <a:avLst>
              <a:gd name="adj" fmla="val 28000"/>
            </a:avLst>
          </a:prstGeom>
          <a:solidFill>
            <a:srgbClr val="0A7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04  Negotiation &amp; CPO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8853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42188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1880" y="2200275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Business Consultant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Marketing Unit Triatra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Marketing Unit UTPE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8853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2188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188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Revise lead time and spec if asked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Check PO / PJB vs drawing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Validate order; fill SAP condition type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DP request or confirm order → SO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Extend PN, master data, sharing profit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PO interco: MKU Manager → GM → Director</a:t>
            </a:r>
          </a:p>
        </p:txBody>
      </p:sp>
      <p:sp>
        <p:nvSpPr>
          <p:cNvPr id="43" name="Chevron 42"/>
          <p:cNvSpPr/>
          <p:nvPr/>
        </p:nvSpPr>
        <p:spPr>
          <a:xfrm>
            <a:off x="9540240" y="1504950"/>
            <a:ext cx="2118360" cy="381000"/>
          </a:xfrm>
          <a:prstGeom prst="chevron">
            <a:avLst>
              <a:gd name="adj" fmla="val 28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49790" y="1504950"/>
            <a:ext cx="18707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05  Production &amp; Delivery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40240" y="1962150"/>
            <a:ext cx="2118360" cy="704850"/>
          </a:xfrm>
          <a:prstGeom prst="roundRect">
            <a:avLst>
              <a:gd name="adj" fmla="val 1351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673590" y="206692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PIC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3590" y="2200275"/>
            <a:ext cx="19088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Business Consultant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Marketing Unit Triatra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Marketing Unit UTPE</a:t>
            </a:r>
          </a:p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1181C"/>
                </a:solidFill>
                <a:latin typeface="Arial"/>
              </a:rPr>
              <a:t>Warehouse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40240" y="2743200"/>
            <a:ext cx="2118360" cy="1962150"/>
          </a:xfrm>
          <a:prstGeom prst="roundRect">
            <a:avLst>
              <a:gd name="adj" fmla="val 485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673590" y="2847975"/>
            <a:ext cx="185166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DETAIL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3590" y="2952750"/>
            <a:ext cx="188976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5000"/>
              </a:lnSpc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Build follows QFD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Weekly progress to BC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Escalate major problems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FAT and QC at warehouse</a:t>
            </a:r>
          </a:p>
          <a:p>
            <a:pPr algn="l" marL="127000" indent="-127000">
              <a:lnSpc>
                <a:spcPct val="105000"/>
              </a:lnSpc>
              <a:spcBef>
                <a:spcPts val="200"/>
              </a:spcBef>
              <a:buChar char="•"/>
            </a:pPr>
            <a:r>
              <a:rPr sz="850" b="0" i="0">
                <a:solidFill>
                  <a:srgbClr val="4D555C"/>
                </a:solidFill>
                <a:latin typeface="Arial"/>
              </a:rPr>
              <a:t>Delivery plan; BAST and SPB signed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400" y="48006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UNITS I HANDLE · SMALL SUPPEQ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33400" y="4953000"/>
            <a:ext cx="54864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pic>
        <p:nvPicPr>
          <p:cNvPr id="53" name="Picture 52" descr="ft_fuel_truck.webp.png"/>
          <p:cNvPicPr>
            <a:picLocks noChangeAspect="1"/>
          </p:cNvPicPr>
          <p:nvPr/>
        </p:nvPicPr>
        <p:blipFill>
          <a:blip r:embed="rId3"/>
          <a:srcRect l="14981" r="14981"/>
          <a:stretch>
            <a:fillRect/>
          </a:stretch>
        </p:blipFill>
        <p:spPr>
          <a:xfrm>
            <a:off x="533400" y="5029200"/>
            <a:ext cx="1778000" cy="142875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5334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096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Fuel truck</a:t>
            </a:r>
          </a:p>
        </p:txBody>
      </p:sp>
      <p:pic>
        <p:nvPicPr>
          <p:cNvPr id="56" name="Picture 55" descr="wt_water_truck_clean.png"/>
          <p:cNvPicPr>
            <a:picLocks noChangeAspect="1"/>
          </p:cNvPicPr>
          <p:nvPr/>
        </p:nvPicPr>
        <p:blipFill>
          <a:blip r:embed="rId4"/>
          <a:srcRect l="15000" r="15000"/>
          <a:stretch>
            <a:fillRect/>
          </a:stretch>
        </p:blipFill>
        <p:spPr>
          <a:xfrm>
            <a:off x="2387600" y="5029200"/>
            <a:ext cx="1778000" cy="142875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23876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4638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Water truck</a:t>
            </a:r>
          </a:p>
        </p:txBody>
      </p:sp>
      <p:pic>
        <p:nvPicPr>
          <p:cNvPr id="59" name="Picture 58" descr="lt_lube_truck.webp.png"/>
          <p:cNvPicPr>
            <a:picLocks noChangeAspect="1"/>
          </p:cNvPicPr>
          <p:nvPr/>
        </p:nvPicPr>
        <p:blipFill>
          <a:blip r:embed="rId5"/>
          <a:srcRect l="15000" r="15000"/>
          <a:stretch>
            <a:fillRect/>
          </a:stretch>
        </p:blipFill>
        <p:spPr>
          <a:xfrm>
            <a:off x="4241800" y="5029200"/>
            <a:ext cx="1778000" cy="142875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42418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3180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Lube truck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48006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UNITS I HANDLE · TRUCK OTHERS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172200" y="4953000"/>
            <a:ext cx="54864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pic>
        <p:nvPicPr>
          <p:cNvPr id="64" name="Picture 63" descr="crane_truck_crop.png"/>
          <p:cNvPicPr>
            <a:picLocks noChangeAspect="1"/>
          </p:cNvPicPr>
          <p:nvPr/>
        </p:nvPicPr>
        <p:blipFill>
          <a:blip r:embed="rId6"/>
          <a:srcRect l="5308" r="5308"/>
          <a:stretch>
            <a:fillRect/>
          </a:stretch>
        </p:blipFill>
        <p:spPr>
          <a:xfrm>
            <a:off x="6172200" y="5029200"/>
            <a:ext cx="1778000" cy="142875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61722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2484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Crane truck</a:t>
            </a:r>
          </a:p>
        </p:txBody>
      </p:sp>
      <p:pic>
        <p:nvPicPr>
          <p:cNvPr id="67" name="Picture 66" descr="mixer_truck.webp.png"/>
          <p:cNvPicPr>
            <a:picLocks noChangeAspect="1"/>
          </p:cNvPicPr>
          <p:nvPr/>
        </p:nvPicPr>
        <p:blipFill>
          <a:blip r:embed="rId7"/>
          <a:srcRect l="3212" r="3212"/>
          <a:stretch>
            <a:fillRect/>
          </a:stretch>
        </p:blipFill>
        <p:spPr>
          <a:xfrm>
            <a:off x="8026400" y="5029200"/>
            <a:ext cx="1778000" cy="1428750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80264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1026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Mixer truck</a:t>
            </a:r>
          </a:p>
        </p:txBody>
      </p:sp>
      <p:pic>
        <p:nvPicPr>
          <p:cNvPr id="70" name="Picture 69" descr="st_stemming_truck.webp.png"/>
          <p:cNvPicPr>
            <a:picLocks noChangeAspect="1"/>
          </p:cNvPicPr>
          <p:nvPr/>
        </p:nvPicPr>
        <p:blipFill>
          <a:blip r:embed="rId8"/>
          <a:srcRect l="3212" r="3212"/>
          <a:stretch>
            <a:fillRect/>
          </a:stretch>
        </p:blipFill>
        <p:spPr>
          <a:xfrm>
            <a:off x="9880600" y="5029200"/>
            <a:ext cx="1778000" cy="1428750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9880600" y="6229350"/>
            <a:ext cx="1778000" cy="2286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956800" y="6229350"/>
            <a:ext cx="1625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Stemming truck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