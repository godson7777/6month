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18</a:t>
            </a:r>
          </a:p>
        </p:txBody>
      </p:sp>
      <p:sp>
        <p:nvSpPr>
          <p:cNvPr id="10" name="Pentagon 9"/>
          <p:cNvSpPr/>
          <p:nvPr/>
        </p:nvSpPr>
        <p:spPr>
          <a:xfrm>
            <a:off x="533400" y="1409700"/>
            <a:ext cx="5667375" cy="323850"/>
          </a:xfrm>
          <a:prstGeom prst="homePlate">
            <a:avLst>
              <a:gd name="adj" fmla="val 3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1409700"/>
            <a:ext cx="522922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Arial"/>
              </a:rPr>
              <a:t>PRE-SALES</a:t>
            </a:r>
          </a:p>
        </p:txBody>
      </p:sp>
      <p:sp>
        <p:nvSpPr>
          <p:cNvPr id="12" name="Chevron 11"/>
          <p:cNvSpPr/>
          <p:nvPr/>
        </p:nvSpPr>
        <p:spPr>
          <a:xfrm>
            <a:off x="6143625" y="1409700"/>
            <a:ext cx="3797300" cy="323850"/>
          </a:xfrm>
          <a:prstGeom prst="chevron">
            <a:avLst>
              <a:gd name="adj" fmla="val 30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3175" y="1409700"/>
            <a:ext cx="33591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Arial"/>
              </a:rPr>
              <a:t>SALES</a:t>
            </a:r>
          </a:p>
        </p:txBody>
      </p:sp>
      <p:sp>
        <p:nvSpPr>
          <p:cNvPr id="14" name="Chevron 13"/>
          <p:cNvSpPr/>
          <p:nvPr/>
        </p:nvSpPr>
        <p:spPr>
          <a:xfrm>
            <a:off x="9883775" y="1409700"/>
            <a:ext cx="1774825" cy="323850"/>
          </a:xfrm>
          <a:prstGeom prst="chevron">
            <a:avLst>
              <a:gd name="adj" fmla="val 30000"/>
            </a:avLst>
          </a:prstGeom>
          <a:solidFill>
            <a:srgbClr val="0DA5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93325" y="1409700"/>
            <a:ext cx="148907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Arial"/>
              </a:rPr>
              <a:t>AFTER-SALES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9600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01  Inquiry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400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6750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spec and buying reason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project location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target price and lead time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urgency and PO date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Lead / opportunity in CRM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400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6750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03475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479675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02  Preliminary drawing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03475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536825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98725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Repeat order or new drawing?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Request in iServe; MKU Head assigns AE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AE drawing: repeat 1 day, minor 3, major 5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unit function, critical parts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Handle customer revisions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03475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536825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98725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3550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349750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03  Quotation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73550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406900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8800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Request quote to UTPE with drawing and target price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UTPE: price/COGS, lead time, validity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Input standard price; check GP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Submit PCR for approval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Watch SLA; escalate if late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73550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406900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8800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3625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219825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04  Negotiation &amp; CPO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43625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276975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8875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Revise lead time / spec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PO / PJB vs drawing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Validate order; SAP condition type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DP request / confirm order → SO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Extend PN, master data, profit sharing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PO interco: MKU Mgr → GM → Dir.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43625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276975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8875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13700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089900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05  Production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700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147050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08950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Build follows QFD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Weekly progress to BC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Escalate major problems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Oversee FAT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13700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147050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8950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883775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959975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06  Delivery &amp; handover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83775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0017125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79025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Warehouse receives unit; QC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UTPE repairs if needed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Delivery plan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BAST and SPB signed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Documents to Finance for invoice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83775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0017125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79025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Warehouse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3400" y="4667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SMALL SUPPEQ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33400" y="481965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6" name="Picture 65" descr="ft_fuel_truck.webp.png"/>
          <p:cNvPicPr>
            <a:picLocks noChangeAspect="1"/>
          </p:cNvPicPr>
          <p:nvPr/>
        </p:nvPicPr>
        <p:blipFill>
          <a:blip r:embed="rId3"/>
          <a:srcRect l="18357" r="18357"/>
          <a:stretch>
            <a:fillRect/>
          </a:stretch>
        </p:blipFill>
        <p:spPr>
          <a:xfrm>
            <a:off x="533400" y="4895850"/>
            <a:ext cx="1778000" cy="1581150"/>
          </a:xfrm>
          <a:prstGeom prst="rect">
            <a:avLst/>
          </a:prstGeom>
        </p:spPr>
      </p:pic>
      <p:sp>
        <p:nvSpPr>
          <p:cNvPr id="67" name="Rectangle 66"/>
          <p:cNvSpPr/>
          <p:nvPr/>
        </p:nvSpPr>
        <p:spPr>
          <a:xfrm>
            <a:off x="5334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096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Fuel truck</a:t>
            </a:r>
          </a:p>
        </p:txBody>
      </p:sp>
      <p:pic>
        <p:nvPicPr>
          <p:cNvPr id="69" name="Picture 68" descr="wt_water_truck_clean.png"/>
          <p:cNvPicPr>
            <a:picLocks noChangeAspect="1"/>
          </p:cNvPicPr>
          <p:nvPr/>
        </p:nvPicPr>
        <p:blipFill>
          <a:blip r:embed="rId4"/>
          <a:srcRect l="18373" r="18373"/>
          <a:stretch>
            <a:fillRect/>
          </a:stretch>
        </p:blipFill>
        <p:spPr>
          <a:xfrm>
            <a:off x="2387600" y="4895850"/>
            <a:ext cx="1778000" cy="158115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23876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24638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Water truck</a:t>
            </a:r>
          </a:p>
        </p:txBody>
      </p:sp>
      <p:pic>
        <p:nvPicPr>
          <p:cNvPr id="72" name="Picture 71" descr="lt_lube_truck.webp.png"/>
          <p:cNvPicPr>
            <a:picLocks noChangeAspect="1"/>
          </p:cNvPicPr>
          <p:nvPr/>
        </p:nvPicPr>
        <p:blipFill>
          <a:blip r:embed="rId5"/>
          <a:srcRect l="18373" r="18373"/>
          <a:stretch>
            <a:fillRect/>
          </a:stretch>
        </p:blipFill>
        <p:spPr>
          <a:xfrm>
            <a:off x="4241800" y="4895850"/>
            <a:ext cx="1778000" cy="1581150"/>
          </a:xfrm>
          <a:prstGeom prst="rect">
            <a:avLst/>
          </a:prstGeom>
        </p:spPr>
      </p:pic>
      <p:sp>
        <p:nvSpPr>
          <p:cNvPr id="73" name="Rectangle 72"/>
          <p:cNvSpPr/>
          <p:nvPr/>
        </p:nvSpPr>
        <p:spPr>
          <a:xfrm>
            <a:off x="42418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3180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Lube truck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667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TRUCK OTHERS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172200" y="481965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77" name="Picture 76" descr="crane_truck_crop.png"/>
          <p:cNvPicPr>
            <a:picLocks noChangeAspect="1"/>
          </p:cNvPicPr>
          <p:nvPr/>
        </p:nvPicPr>
        <p:blipFill>
          <a:blip r:embed="rId6"/>
          <a:srcRect l="9615" r="9615"/>
          <a:stretch>
            <a:fillRect/>
          </a:stretch>
        </p:blipFill>
        <p:spPr>
          <a:xfrm>
            <a:off x="6172200" y="4895850"/>
            <a:ext cx="1778000" cy="1581150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61722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62484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Crane truck</a:t>
            </a:r>
          </a:p>
        </p:txBody>
      </p:sp>
      <p:pic>
        <p:nvPicPr>
          <p:cNvPr id="80" name="Picture 79" descr="mixer_truck.webp.png"/>
          <p:cNvPicPr>
            <a:picLocks noChangeAspect="1"/>
          </p:cNvPicPr>
          <p:nvPr/>
        </p:nvPicPr>
        <p:blipFill>
          <a:blip r:embed="rId7"/>
          <a:srcRect l="7722" r="7722"/>
          <a:stretch>
            <a:fillRect/>
          </a:stretch>
        </p:blipFill>
        <p:spPr>
          <a:xfrm>
            <a:off x="8026400" y="4895850"/>
            <a:ext cx="1778000" cy="158115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80264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1026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Mixer truck</a:t>
            </a:r>
          </a:p>
        </p:txBody>
      </p:sp>
      <p:pic>
        <p:nvPicPr>
          <p:cNvPr id="83" name="Picture 82" descr="st_stemming_truck.webp.png"/>
          <p:cNvPicPr>
            <a:picLocks noChangeAspect="1"/>
          </p:cNvPicPr>
          <p:nvPr/>
        </p:nvPicPr>
        <p:blipFill>
          <a:blip r:embed="rId8"/>
          <a:srcRect l="7722" r="7722"/>
          <a:stretch>
            <a:fillRect/>
          </a:stretch>
        </p:blipFill>
        <p:spPr>
          <a:xfrm>
            <a:off x="9880600" y="4895850"/>
            <a:ext cx="1778000" cy="1581150"/>
          </a:xfrm>
          <a:prstGeom prst="rect">
            <a:avLst/>
          </a:prstGeom>
        </p:spPr>
      </p:pic>
      <p:sp>
        <p:nvSpPr>
          <p:cNvPr id="84" name="Rectangle 83"/>
          <p:cNvSpPr/>
          <p:nvPr/>
        </p:nvSpPr>
        <p:spPr>
          <a:xfrm>
            <a:off x="98806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9568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