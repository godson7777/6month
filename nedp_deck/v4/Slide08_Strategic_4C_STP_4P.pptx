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STRATEGIC · 4C → STP → 4P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STRATEGIC · 4C → STP → 4P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Partner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F.lli Ferrari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for quality buyers and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XCMG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for price buyers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08 / 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3400" y="1504950"/>
          <a:ext cx="11125200" cy="49101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62000"/>
                <a:gridCol w="1333500"/>
                <a:gridCol w="3143250"/>
                <a:gridCol w="5886450"/>
              </a:tblGrid>
              <a:tr h="247650"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Arial"/>
                        </a:rPr>
                        <a:t>Step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Arial"/>
                        </a:rPr>
                        <a:t>Item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Arial"/>
                        </a:rPr>
                        <a:t>Key point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Arial"/>
                        </a:rPr>
                        <a:t>Supporting data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</a:tr>
              <a:tr h="423862">
                <a:tc rowSpan="4">
                  <a:txBody>
                    <a:bodyPr wrap="square"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Arial"/>
                        </a:rPr>
                        <a:t>4C</a:t>
                      </a:r>
                      <a:endParaRPr sz="12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Change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HYVA has left; value sits in Medium + Heavy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Triatra has no crane brand since HYVA stopped. Medium + Heavy = 41% of units, 64% of value (2023 – 2026). Heavy units 12 → 17 → 35 (2023 – 2025).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Competitor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Two leaders, one per class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Medium: Sany Palfinger, 38% of value. Heavy: Palfinger, 66% of value; PK 53002 alone sold 39 of 65 units (2023 – 2026).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Customer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Medium buys on price, Heavy buys on quality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China brands take 73% of Medium value; European brands take 85% of Heavy value. 88% go on trucks ≥ 24 t GVW (mining, construction).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Company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Partner two brands to serve both buyers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XCMG for price-oriented buyers. F.lli Ferrari for quality-oriented buyers.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</a:tr>
              <a:tr h="423862">
                <a:tc rowSpan="3">
                  <a:txBody>
                    <a:bodyPr wrap="square"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Arial"/>
                        </a:rPr>
                        <a:t>STP</a:t>
                      </a:r>
                      <a:endParaRPr sz="12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Segmentation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Two classes, ten 5-tm tiers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Medium 25 – 45 tm: 196 units, Rp 156 M. Heavy &gt; 45 tm: 65 units, Rp 115 M.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Targeting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Take share from the Top 1 model in each tier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Medium: Sany Palfinger SPK32080, SPK36080, SPK42502. Heavy: Palfinger PK 53002, PK 76002, PK 88002.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Positioning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Two clear promises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XCMG: same capacity, lower price (SQZ365.4 −9% vs SPK36080). Ferrari: European features, cheaper where it wins (−23% at 25 – 30 tm, −32% at 45 – 50 tm) and faster delivery from China stock (~14 weeks).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rowSpan="4">
                  <a:txBody>
                    <a:bodyPr wrap="square"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Arial"/>
                        </a:rPr>
                        <a:t>4P</a:t>
                      </a:r>
                      <a:endParaRPr sz="12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Product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Offer Ferrari models that beat the Top 1 on features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Red Power (more working range), SDV (less boom flex), Magic Touch (auto open/stow): Sany Palfinger has none. PB, RS, ECM: equal to Palfinger.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Price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Negotiate a better price with Ferrari and XCMG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Ferrari: lower price on 746 A4 (+48%), 9601CR A8 (+85%), 990R (+79%). XCMG: Triatra special price on SQZ325.4 and SQZ365.4.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Place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Negotiate stock to cut lead time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Ferrari stocks 268 A4 and FBR450R A4 in China (14-week lead time) and main components in Malaysia. XCMG via GM Tractors.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  <a:tr h="423862">
                <a:tc vMerge="1">
                  <a:txBody>
                    <a:bodyPr/>
                    <a:lstStyle/>
                    <a:p/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Promotion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Sell a ready-to-work package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Arial"/>
                        </a:rPr>
                        <a:t>Crane + flatdeck + installation (+2-year warranty on Ferrari). Exhibitions and customer visits with a Marcom sales kit.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