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quality buyers and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price buyers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04950"/>
          <a:ext cx="11125200" cy="49339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62000"/>
                <a:gridCol w="1333500"/>
                <a:gridCol w="3143250"/>
                <a:gridCol w="5886450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Step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Item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Key point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Supporting data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666750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4C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Change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HYVA has left; value sits in Medium + Heavy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Triatra has no crane brand since HYVA stopped. Medium + Heavy = 41% of units, 64% of value (2023 – 2026). Heavy units 12 → 17 → 35 (2023 – 2025).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667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Two leaders, one per class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Palfinger, 38% of value. Heavy: Palfinger, 66% of value; PK 53002 alone sold 39 of 65 units (2023 – 2026).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667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Customer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Medium buys on price, Heavy buys on quality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China brands take 73% of Medium value; European brands take 85% of Heavy value. 88% go on trucks ≥ 24 t GVW (mining, construction).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667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Company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Partner two brands to serve both buyers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 for price-oriented buyers. F.lli Ferrari for quality-oriented buyers.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66750">
                <a:tc rowSpan="3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STP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Segmentation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Two classes, ten 5-tm tiers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Medium 25 – 45 tm: 196 units, Rp 156 M. Heavy &gt; 45 tm: 65 units, Rp 115 M.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667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Targeting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Take share from the Top 1 model in each tier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 SPK32080, SPK36080, SPK42502. Heavy: Palfinger PK 53002, PK 76002, PK 88002.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667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Positioning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Two clear promises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XCMG: same capacity, lower price (SQZ365.4 −9% vs SPK36080). Ferrari: European features, cheaper where it wins (−23% at 25 – 30 tm, −32% at 45 – 50 tm) and faster delivery from China stock (~14 weeks).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ACTION PLAN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ACTION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Four actions to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win the first sale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: features, price, stock and package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09 / 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04950"/>
          <a:ext cx="11125200" cy="4533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47750"/>
                <a:gridCol w="2476500"/>
                <a:gridCol w="2190750"/>
                <a:gridCol w="5410200"/>
              </a:tblGrid>
              <a:tr h="32385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4P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 do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Item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Detail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323850">
                <a:tc rowSpan="6">
                  <a:txBody>
                    <a:bodyPr wrap="square"/>
                    <a:lstStyle/>
                    <a:p>
                      <a:pPr algn="l">
                        <a:defRPr sz="1100"/>
                      </a:pPr>
                      <a:r>
                        <a:rPr sz="1100" b="1">
                          <a:solidFill>
                            <a:srgbClr val="076932"/>
                          </a:solidFill>
                          <a:latin typeface="Arial"/>
                        </a:rPr>
                        <a:t>Product</a:t>
                      </a:r>
                      <a:endParaRPr sz="11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 rowSpan="6"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Offer Ferrari models that beat the Top 1 on features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Red Power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Articulated linkage that adds working range and versatility. Amco Veba and Palfinger have their own version; Sany Palfinger has none.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SDV (Smooth Descent Valve)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Cuts boom flex and dynamic load when lowering. Amco Veba and Sany Palfinger have no equal.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Magic Touch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Opens and stows the crane automatically from the cab. Sany Palfinger has no equal.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PB (Power Boost)*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Extra lifting capacity on demand. Equal to Palfinger HPLS and Amco Veba AVPS.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RS*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Faster boom extension. Equal to Palfinger High Speed Extension; Amco Veba has none.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ECM*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Electronic control and overload protection. Equal to Palfinger PALTRONIC and Amco Veba EBB.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rowSpan="2">
                  <a:txBody>
                    <a:bodyPr wrap="square"/>
                    <a:lstStyle/>
                    <a:p>
                      <a:pPr algn="l">
                        <a:defRPr sz="1100"/>
                      </a:pPr>
                      <a:r>
                        <a:rPr sz="1100" b="1">
                          <a:solidFill>
                            <a:srgbClr val="076932"/>
                          </a:solidFill>
                          <a:latin typeface="Arial"/>
                        </a:rPr>
                        <a:t>Price</a:t>
                      </a:r>
                      <a:endParaRPr sz="11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 rowSpan="2"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Negotiate a better price with F.lli Ferrari and 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Ferrari 746 A4 · 9601CR A8 · 990R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Ask for a lower price: 40–45 tm (+48%), 50–55 tm (+85%), 70–75 tm (+79%) vs the Top 1.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XCMG SQZ325.4 · SQZ365.4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Ask for a Triatra special price: 30–35 tm (+4%), 35–40 tm (−9%).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rowSpan="3">
                  <a:txBody>
                    <a:bodyPr wrap="square"/>
                    <a:lstStyle/>
                    <a:p>
                      <a:pPr algn="l">
                        <a:defRPr sz="1100"/>
                      </a:pPr>
                      <a:r>
                        <a:rPr sz="1100" b="1">
                          <a:solidFill>
                            <a:srgbClr val="076932"/>
                          </a:solidFill>
                          <a:latin typeface="Arial"/>
                        </a:rPr>
                        <a:t>Place</a:t>
                      </a:r>
                      <a:endParaRPr sz="11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 rowSpan="3"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Negotiate stock to cut lead time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Ferrari 268 A4 · FBR450R A4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Stock at the Ferrari China factory for a 14-week lead time (25–30 tm −23%, 45–50 tm −32%).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Ferrari main components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Stock main components and spare parts in Malaysia.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Agree supply terms with its official distributor, GM Tractors.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rowSpan="2">
                  <a:txBody>
                    <a:bodyPr wrap="square"/>
                    <a:lstStyle/>
                    <a:p>
                      <a:pPr algn="l">
                        <a:defRPr sz="1100"/>
                      </a:pPr>
                      <a:r>
                        <a:rPr sz="1100" b="1">
                          <a:solidFill>
                            <a:srgbClr val="076932"/>
                          </a:solidFill>
                          <a:latin typeface="Arial"/>
                        </a:rPr>
                        <a:t>Promotion</a:t>
                      </a:r>
                      <a:endParaRPr sz="11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 rowSpan="2"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Sell a ready-to-work package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Package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as one offer; add a 2-year warranty on Ferrari.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Exhibition and visits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Show 268 A4 and FBR450R A4 at mining exhibitions and customer visits with a Marcom sales kit.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33400" y="6305550"/>
            <a:ext cx="111252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* Meaning of PB, RS and ECM to be confirmed with the F.lli Ferrari datasheet. Price gaps vs the Top 1 model in each tm tier (2023 – Aug 2026 import prices).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