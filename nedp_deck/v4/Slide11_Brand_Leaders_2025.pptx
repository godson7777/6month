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dPt>
            <c:idx val="0"/>
            <c:spPr>
              <a:solidFill>
                <a:srgbClr val="C1C8CD"/>
              </a:solidFill>
            </c:spPr>
          </c:dPt>
          <c:dPt>
            <c:idx val="1"/>
            <c:spPr>
              <a:solidFill>
                <a:srgbClr val="C1C8CD"/>
              </a:solidFill>
            </c:spPr>
          </c:dPt>
          <c:dPt>
            <c:idx val="2"/>
            <c:spPr>
              <a:solidFill>
                <a:srgbClr val="C1C8CD"/>
              </a:solidFill>
            </c:spPr>
          </c:dPt>
          <c:dPt>
            <c:idx val="3"/>
            <c:spPr>
              <a:solidFill>
                <a:srgbClr val="076932"/>
              </a:solidFill>
            </c:spPr>
          </c:dPt>
          <c:cat>
            <c:strRef>
              <c:f>Sheet1!$A$2:$A$5</c:f>
              <c:strCache>
                <c:ptCount val="4"/>
                <c:pt idx="0">
                  <c:v>Amco Veba</c:v>
                </c:pt>
                <c:pt idx="1">
                  <c:v>Palfinger</c:v>
                </c:pt>
                <c:pt idx="2">
                  <c:v>XCMG</c:v>
                </c:pt>
                <c:pt idx="3">
                  <c:v>Sany Palfinger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14</c:v>
                </c:pt>
                <c:pt idx="3">
                  <c:v>30</c:v>
                </c:pt>
              </c:numCache>
            </c:numRef>
          </c:val>
        </c:ser>
        <c:dLbls>
          <c:numFmt formatCode="0&quot; units&quot;" sourceLinked="0"/>
          <c:txPr>
            <a:bodyPr/>
            <a:lstStyle/>
            <a:p>
              <a:pPr>
                <a:defRPr sz="9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7DBDF"/>
            </a:solidFill>
          </a:ln>
        </c:spPr>
        <c:txPr>
          <a:bodyPr/>
          <a:lstStyle/>
          <a:p>
            <a:pPr>
              <a:defRPr sz="950">
                <a:solidFill>
                  <a:srgbClr val="11181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dPt>
            <c:idx val="0"/>
            <c:spPr>
              <a:solidFill>
                <a:srgbClr val="C1C8CD"/>
              </a:solidFill>
            </c:spPr>
          </c:dPt>
          <c:dPt>
            <c:idx val="1"/>
            <c:spPr>
              <a:solidFill>
                <a:srgbClr val="C1C8CD"/>
              </a:solidFill>
            </c:spPr>
          </c:dPt>
          <c:dPt>
            <c:idx val="2"/>
            <c:spPr>
              <a:solidFill>
                <a:srgbClr val="076932"/>
              </a:solidFill>
            </c:spPr>
          </c:dPt>
          <c:cat>
            <c:strRef>
              <c:f>Sheet1!$A$2:$A$4</c:f>
              <c:strCache>
                <c:ptCount val="3"/>
                <c:pt idx="0">
                  <c:v>XCMG</c:v>
                </c:pt>
                <c:pt idx="1">
                  <c:v>Amco Veba</c:v>
                </c:pt>
                <c:pt idx="2">
                  <c:v>Palfinger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7</c:v>
                </c:pt>
                <c:pt idx="2">
                  <c:v>22</c:v>
                </c:pt>
              </c:numCache>
            </c:numRef>
          </c:val>
        </c:ser>
        <c:dLbls>
          <c:numFmt formatCode="0&quot; units&quot;" sourceLinked="0"/>
          <c:txPr>
            <a:bodyPr/>
            <a:lstStyle/>
            <a:p>
              <a:pPr>
                <a:defRPr sz="9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7DBDF"/>
            </a:solidFill>
          </a:ln>
        </c:spPr>
        <c:txPr>
          <a:bodyPr/>
          <a:lstStyle/>
          <a:p>
            <a:pPr>
              <a:defRPr sz="950">
                <a:solidFill>
                  <a:srgbClr val="11181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STUDY · BRAND LEADERS 2025 ONLY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STUDY · BRAND LEADERS 2025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Two leaders to beat: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Sany Palfinger</a:t>
            </a:r>
            <a:r>
              <a:rPr sz="2100" b="0" i="0">
                <a:solidFill>
                  <a:srgbClr val="11181C"/>
                </a:solidFill>
                <a:latin typeface="Georgia"/>
              </a:rPr>
              <a:t> in Medium,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Palfinger</a:t>
            </a:r>
            <a:r>
              <a:rPr sz="2100" b="0" i="0">
                <a:solidFill>
                  <a:srgbClr val="11181C"/>
                </a:solidFill>
                <a:latin typeface="Georgia"/>
              </a:rPr>
              <a:t> in Heavy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11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428750"/>
            <a:ext cx="11125200" cy="476250"/>
          </a:xfrm>
          <a:prstGeom prst="roundRect">
            <a:avLst>
              <a:gd name="adj" fmla="val 16000"/>
            </a:avLst>
          </a:prstGeom>
          <a:solidFill>
            <a:srgbClr val="E1F9E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1428750"/>
            <a:ext cx="108204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76932"/>
                </a:solidFill>
                <a:latin typeface="Arial"/>
              </a:rPr>
              <a:t>Why only the top 3 brands: in 2025 they hold 90% of Medium value (49 of 54 units, 91%) and 95% of Heavy value (33 of 35 units, 94%).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20383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076932"/>
                </a:solidFill>
                <a:latin typeface="Arial"/>
              </a:rPr>
              <a:t>MEDIUM · 25 – 45 TM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33400" y="2209800"/>
          <a:ext cx="5448299" cy="1485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49540"/>
                <a:gridCol w="1767578"/>
                <a:gridCol w="727826"/>
                <a:gridCol w="2079504"/>
                <a:gridCol w="623851"/>
              </a:tblGrid>
              <a:tr h="247650">
                <a:tc>
                  <a:txBody>
                    <a:bodyPr wrap="square"/>
                    <a:lstStyle/>
                    <a:p>
                      <a:pPr algn="l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#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BRAND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UNITS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IMPORT VALUE (IDR)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SHARE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</a:tr>
              <a:tr h="24765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1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Sany Palfinger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30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Rp 13.226.000.000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47%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</a:tr>
              <a:tr h="24765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2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XCMG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14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Rp 7.197.000.000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26%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24765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3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Palfinger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5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Rp 4.869.000.000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17%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24765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Top 3 brands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49 of 54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Rp 25.292.000.000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90%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24765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Total Medium 2025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54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Rp 28.000.000.000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100%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33400" y="38290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UNITS SOLD BY BRAND · 2025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533400" y="3981450"/>
          <a:ext cx="5448300" cy="18669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10300" y="20383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076932"/>
                </a:solidFill>
                <a:latin typeface="Arial"/>
              </a:rPr>
              <a:t>HEAVY · &gt; 45 TM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210300" y="2209800"/>
          <a:ext cx="5448299" cy="1485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49540"/>
                <a:gridCol w="1767578"/>
                <a:gridCol w="727826"/>
                <a:gridCol w="2079504"/>
                <a:gridCol w="623851"/>
              </a:tblGrid>
              <a:tr h="247650">
                <a:tc>
                  <a:txBody>
                    <a:bodyPr wrap="square"/>
                    <a:lstStyle/>
                    <a:p>
                      <a:pPr algn="l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#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BRAND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UNITS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IMPORT VALUE (IDR)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SHARE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</a:tr>
              <a:tr h="24765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1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Palfinger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22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Rp 29.738.000.000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62%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</a:tr>
              <a:tr h="24765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2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Amco Veba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7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Rp 11.065.000.000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23%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24765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3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XCMG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4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Rp 4.647.000.000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10%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24765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Top 3 brands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33 of 35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Rp 45.450.000.000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95%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24765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Total Heavy 2025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35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Rp 48.000.000.000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100%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210300" y="38290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UNITS SOLD BY BRAND · 2025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210300" y="3981450"/>
          <a:ext cx="5448300" cy="18669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533400" y="5943600"/>
            <a:ext cx="11125200" cy="552450"/>
          </a:xfrm>
          <a:prstGeom prst="roundRect">
            <a:avLst>
              <a:gd name="adj" fmla="val 17241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5800" y="6019800"/>
            <a:ext cx="10820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buChar char="•"/>
            </a:pPr>
            <a:r>
              <a:rPr sz="1000" b="0" i="0">
                <a:solidFill>
                  <a:srgbClr val="11181C"/>
                </a:solidFill>
                <a:latin typeface="Arial"/>
              </a:rPr>
              <a:t>Leaders are far ahead: Sany Palfinger sold 2.1× XCMG in Medium (30 vs 14 units); Palfinger sold 3.1× Amco Veba in Heavy (22 vs 7 units).</a:t>
            </a:r>
          </a:p>
          <a:p>
            <a:pPr algn="l" marL="127000" indent="-127000">
              <a:spcBef>
                <a:spcPts val="200"/>
              </a:spcBef>
              <a:buChar char="•"/>
            </a:pPr>
            <a:r>
              <a:rPr sz="1000" b="0" i="0">
                <a:solidFill>
                  <a:srgbClr val="11181C"/>
                </a:solidFill>
                <a:latin typeface="Arial"/>
              </a:rPr>
              <a:t>Share = share of import value. Scope is 2025 only, so figures are smaller than the 2023 – 2026 totals.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