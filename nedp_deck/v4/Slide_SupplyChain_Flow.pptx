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SUPPLY CHAIN · UNIT TRANSACTION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5" name="TextBox 4"/>
          <p:cNvSpPr txBox="1"/>
          <p:nvPr/>
        </p:nvSpPr>
        <p:spPr>
          <a:xfrm>
            <a:off x="533400" y="70485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SUPPLY CHAIN · UNIT TRANSACTION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57250"/>
            <a:ext cx="1112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1181C"/>
                </a:solidFill>
                <a:latin typeface="Georgia"/>
              </a:rPr>
              <a:t>Supply chain runs the order from </a:t>
            </a:r>
            <a:r>
              <a:rPr sz="2100" b="0" i="1">
                <a:solidFill>
                  <a:srgbClr val="076932"/>
                </a:solidFill>
                <a:latin typeface="Georgia"/>
              </a:rPr>
              <a:t>drawing to delivery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01 / 1</a:t>
            </a:r>
          </a:p>
        </p:txBody>
      </p:sp>
      <p:sp>
        <p:nvSpPr>
          <p:cNvPr id="10" name="Pentagon 9"/>
          <p:cNvSpPr/>
          <p:nvPr/>
        </p:nvSpPr>
        <p:spPr>
          <a:xfrm>
            <a:off x="533400" y="1485900"/>
            <a:ext cx="3810000" cy="552450"/>
          </a:xfrm>
          <a:prstGeom prst="homePlate">
            <a:avLst>
              <a:gd name="adj" fmla="val 25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24000"/>
            <a:ext cx="3028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PRE-SALES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71650"/>
            <a:ext cx="3028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1F9EC"/>
                </a:solidFill>
                <a:latin typeface="Arial"/>
              </a:rPr>
              <a:t>Inquiry → quotation sent  ·  Steps 1 – 63</a:t>
            </a:r>
          </a:p>
        </p:txBody>
      </p:sp>
      <p:sp>
        <p:nvSpPr>
          <p:cNvPr id="13" name="Chevron 12"/>
          <p:cNvSpPr/>
          <p:nvPr/>
        </p:nvSpPr>
        <p:spPr>
          <a:xfrm>
            <a:off x="4343400" y="1485900"/>
            <a:ext cx="3810000" cy="552450"/>
          </a:xfrm>
          <a:prstGeom prst="chevron">
            <a:avLst>
              <a:gd name="adj" fmla="val 25000"/>
            </a:avLst>
          </a:prstGeom>
          <a:solidFill>
            <a:srgbClr val="0A7F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9150" y="1524000"/>
            <a:ext cx="3028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1771650"/>
            <a:ext cx="3028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1F9EC"/>
                </a:solidFill>
                <a:latin typeface="Arial"/>
              </a:rPr>
              <a:t>Negotiation → production done  ·  Steps 64 – 133</a:t>
            </a:r>
          </a:p>
        </p:txBody>
      </p:sp>
      <p:sp>
        <p:nvSpPr>
          <p:cNvPr id="16" name="Chevron 15"/>
          <p:cNvSpPr/>
          <p:nvPr/>
        </p:nvSpPr>
        <p:spPr>
          <a:xfrm>
            <a:off x="8153400" y="1485900"/>
            <a:ext cx="3505200" cy="552450"/>
          </a:xfrm>
          <a:prstGeom prst="chevron">
            <a:avLst>
              <a:gd name="adj" fmla="val 25000"/>
            </a:avLst>
          </a:prstGeom>
          <a:solidFill>
            <a:srgbClr val="0DA5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150" y="1524000"/>
            <a:ext cx="30289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AFTER-SALES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150" y="1771650"/>
            <a:ext cx="30289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1F9EC"/>
                </a:solidFill>
                <a:latin typeface="Arial"/>
              </a:rPr>
              <a:t>Delivery → payment  ·  Steps 134 – 154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2190750"/>
            <a:ext cx="3505200" cy="3028950"/>
          </a:xfrm>
          <a:prstGeom prst="roundRect">
            <a:avLst>
              <a:gd name="adj" fmla="val 314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6750" y="2295525"/>
            <a:ext cx="3238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PRE-SALES ACTIVITIES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2438400"/>
            <a:ext cx="3238500" cy="276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8000"/>
              </a:lnSpc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Request preliminary drawing in iServe; MKU Head assigns to AE (same day)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AE drafts drawing; with DE PATRIA if detail needed (repeat 1 day · minor 3 days · major 5 days)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Handle drawing revisions from customer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Request quotation to PATRIA: price/COGS, lead time, validity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Input standard price; submit PCR in DiKantor for approval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400" y="5334000"/>
            <a:ext cx="3505200" cy="1009650"/>
          </a:xfrm>
          <a:prstGeom prst="roundRect">
            <a:avLst>
              <a:gd name="adj" fmla="val 9433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6750" y="5448300"/>
            <a:ext cx="3238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76932"/>
                </a:solidFill>
                <a:latin typeface="Arial"/>
              </a:rPr>
              <a:t>Example: customer asks for a 30 KL water truck → AE sends drawing in 3 days → PATRIA quotes price and 12-week lead time → PCR approved.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190750"/>
            <a:ext cx="3505200" cy="3028950"/>
          </a:xfrm>
          <a:prstGeom prst="roundRect">
            <a:avLst>
              <a:gd name="adj" fmla="val 314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76750" y="2295525"/>
            <a:ext cx="3238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SALES ACTIVITIES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6750" y="2438400"/>
            <a:ext cx="3238500" cy="276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8000"/>
              </a:lnSpc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Revise lead time and spec during negotiation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Validate order and fill SAP condition type; approval MKU Manager → GM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DP request or confirm order → sales order (close won)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Extend PN, maintain master data, calculate sharing profit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Release PO Interco: MKU Manager → GM → Director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Pass PATRIA production progress to BC weekly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5334000"/>
            <a:ext cx="3505200" cy="1009650"/>
          </a:xfrm>
          <a:prstGeom prst="roundRect">
            <a:avLst>
              <a:gd name="adj" fmla="val 9433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76750" y="5448300"/>
            <a:ext cx="3238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76932"/>
                </a:solidFill>
                <a:latin typeface="Arial"/>
              </a:rPr>
              <a:t>Example: PO for 2 lube trucks → new PN created → PO Interco released to PATRIA → weekly progress to BC.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3400" y="2190750"/>
            <a:ext cx="3505200" cy="3028950"/>
          </a:xfrm>
          <a:prstGeom prst="roundRect">
            <a:avLst>
              <a:gd name="adj" fmla="val 3144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86750" y="2295525"/>
            <a:ext cx="32385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076932"/>
                </a:solidFill>
                <a:latin typeface="Arial"/>
              </a:rPr>
              <a:t>AFTER-SALES ACTIVITIES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750" y="2438400"/>
            <a:ext cx="3238500" cy="276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27000" indent="-127000">
              <a:lnSpc>
                <a:spcPct val="108000"/>
              </a:lnSpc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Warehouse receives unit; QC; PATRIA repairs if needed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Issue BAST and SPB/BAPB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MKU creates delivery plan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Deliver unit with BC; customer signs SPB and BAST</a:t>
            </a:r>
          </a:p>
          <a:p>
            <a:pPr algn="l" marL="127000" indent="-127000">
              <a:lnSpc>
                <a:spcPct val="108000"/>
              </a:lnSpc>
              <a:spcBef>
                <a:spcPts val="200"/>
              </a:spcBef>
              <a:buChar char="•"/>
            </a:pPr>
            <a:r>
              <a:rPr sz="1150" b="0" i="0">
                <a:solidFill>
                  <a:srgbClr val="11181C"/>
                </a:solidFill>
                <a:latin typeface="Arial"/>
              </a:rPr>
              <a:t>Documents to Finance for invoice and payment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3400" y="5334000"/>
            <a:ext cx="3505200" cy="1009650"/>
          </a:xfrm>
          <a:prstGeom prst="roundRect">
            <a:avLst>
              <a:gd name="adj" fmla="val 9433"/>
            </a:avLst>
          </a:prstGeom>
          <a:solidFill>
            <a:srgbClr val="E1F9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86750" y="5448300"/>
            <a:ext cx="3238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i="0">
                <a:solidFill>
                  <a:srgbClr val="076932"/>
                </a:solidFill>
                <a:latin typeface="Arial"/>
              </a:rPr>
              <a:t>Example: crane truck passes QC → delivery plan to Sangatta site → BAST signed → invoice issued.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6419850"/>
            <a:ext cx="11125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Source: Flow Transaksi UNIT Tobe (154 steps); supply chain = Marketing Unit, Application Engineering, PATRIA, Warehouse.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