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Five Sections Prove I Know the Company, My Products and How I Execute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AGENDA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" y="1508760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508760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Company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50008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50008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91256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3191256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91256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Organization Chart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32504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4032504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32504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Roles &amp; Responsibility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873752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4873752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73752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Job Description 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08760"/>
            <a:ext cx="3550615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229600" y="1508760"/>
            <a:ext cx="45720" cy="41148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03920" y="1737360"/>
            <a:ext cx="3017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D85A30"/>
                </a:solidFill>
                <a:latin typeface="Neue Haas Grotesk Text Pro"/>
              </a:rPr>
              <a:t>PRESENTER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011680"/>
            <a:ext cx="301752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Tiberias K. Simu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514600"/>
            <a:ext cx="30175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E6C64"/>
                </a:solidFill>
                <a:latin typeface="Neue Haas Grotesk Text Pro"/>
              </a:rPr>
              <a:t>Marketing Strategic 2 Associate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03920" y="3063240"/>
            <a:ext cx="300197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03920" y="3200400"/>
            <a:ext cx="3017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D85A30"/>
                </a:solidFill>
                <a:latin typeface="Neue Haas Grotesk Text Pro"/>
              </a:rPr>
              <a:t>PRODUCTS I 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74720"/>
            <a:ext cx="30175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B19"/>
                </a:solidFill>
                <a:latin typeface="Neue Haas Grotesk Text Pro"/>
              </a:rPr>
              <a:t>Small Suppeq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B19"/>
                </a:solidFill>
                <a:latin typeface="Neue Haas Grotesk Text Pro"/>
              </a:rPr>
              <a:t>Truck Others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03920" y="4343400"/>
            <a:ext cx="300197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03920" y="4480560"/>
            <a:ext cx="301752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PT Triatra Sinergia Pratama
Marketing Unit &amp; Strategic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985455" y="-1463040"/>
            <a:ext cx="5669280" cy="5669280"/>
          </a:xfrm>
          <a:prstGeom prst="ellipse">
            <a:avLst/>
          </a:prstGeom>
          <a:solidFill>
            <a:srgbClr val="FB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Company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Triatra Is Astra's Mining Support Arm — From Unit Selling to After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COMPANY PROFILE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150876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OWNERSHIP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4754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Astra International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12848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Diversified conglomerate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560320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1480" y="2852928"/>
            <a:ext cx="4754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2944368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United Tractors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36976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Heavy equipment, mining &amp; energy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3584448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1480" y="3877056"/>
            <a:ext cx="4754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3968496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UTPE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61104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United Tractors Pandu Engineering — manufacturing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4608576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1480" y="4901184"/>
            <a:ext cx="4754880" cy="731520"/>
          </a:xfrm>
          <a:prstGeom prst="rect">
            <a:avLst/>
          </a:prstGeom>
          <a:solidFill>
            <a:srgbClr val="FBF3EE"/>
          </a:solidFill>
          <a:ln w="1587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4992624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4A1B0C"/>
                </a:solidFill>
                <a:latin typeface="Neue Haas Grotesk Text Pro"/>
              </a:rPr>
              <a:t>PT Triatra Sinergia Pratama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285232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4A1B0C"/>
                </a:solidFill>
                <a:latin typeface="Neue Haas Grotesk Text Pro"/>
              </a:rPr>
              <a:t>Marketing &amp; sales of Patria products and after-sales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50876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BUSINESS LINES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828800"/>
            <a:ext cx="2964027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0" y="1828800"/>
            <a:ext cx="45720" cy="1417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97880" y="1965960"/>
            <a:ext cx="2598267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PATRIA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377439"/>
            <a:ext cx="25982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Unit selling — vessels, trailers, supporting equipment and special-purpose trucks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16187" y="1828800"/>
            <a:ext cx="2964027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816187" y="1828800"/>
            <a:ext cx="45720" cy="1417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44787" y="1965960"/>
            <a:ext cx="2598267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ULTRA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4787" y="2377439"/>
            <a:ext cx="25982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After sales — parts, service and product support for the installed fleet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47472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INDUSTRIES SERVED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3794760"/>
            <a:ext cx="2964027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897880" y="3904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4297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Coal &amp; Mineral Mining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16187" y="3794760"/>
            <a:ext cx="2964027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44787" y="3904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4787" y="4297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Construction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4937760"/>
            <a:ext cx="2964027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897880" y="5047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5440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Agro &amp; Forestry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16187" y="4937760"/>
            <a:ext cx="2964027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44787" y="5047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4787" y="5440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Marine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7985455" y="-1463040"/>
            <a:ext cx="5669280" cy="5669280"/>
          </a:xfrm>
          <a:prstGeom prst="ellipse">
            <a:avLst/>
          </a:prstGeom>
          <a:solidFill>
            <a:srgbClr val="FB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Our Coverage Follows Our Customers — From Head Office to Every Active Mine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SITE OPERATION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" y="1463040"/>
            <a:ext cx="8503920" cy="480060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8503920" cy="4800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Coverage map — paste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463040"/>
            <a:ext cx="268193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098280" y="1463040"/>
            <a:ext cx="45720" cy="14630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299448" y="1664208"/>
            <a:ext cx="146304" cy="146304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37192" y="1600200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Head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1965960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Jakarta — marketing, pricing, coordination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3090672"/>
            <a:ext cx="268193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098280" y="3090672"/>
            <a:ext cx="45720" cy="146304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299448" y="3291840"/>
            <a:ext cx="146304" cy="146304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37192" y="3227832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593591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[ add site list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4718304"/>
            <a:ext cx="268193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098280" y="4718304"/>
            <a:ext cx="45720" cy="146304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299448" y="4919472"/>
            <a:ext cx="146304" cy="146304"/>
          </a:xfrm>
          <a:prstGeom prst="ellipse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37192" y="4855464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Site Representative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5221224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[ add site list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7985455" y="-1463040"/>
            <a:ext cx="5669280" cy="5669280"/>
          </a:xfrm>
          <a:prstGeom prst="ellipse">
            <a:avLst/>
          </a:prstGeom>
          <a:solidFill>
            <a:srgbClr val="FB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Organization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Each Associate Owns a Distinct Product Group — Mine Is Small Suppeq and Truck 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ORGANIZATION CHART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41367" y="1371600"/>
            <a:ext cx="3108960" cy="384048"/>
          </a:xfrm>
          <a:prstGeom prst="rect">
            <a:avLst/>
          </a:prstGeom>
          <a:solidFill>
            <a:srgbClr val="F2F0EA"/>
          </a:solidFill>
          <a:ln w="9525">
            <a:solidFill>
              <a:srgbClr val="D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41367" y="1371600"/>
            <a:ext cx="31089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Ceisar Centiaga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Director in Charge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1755648"/>
            <a:ext cx="0" cy="118871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41367" y="1874519"/>
            <a:ext cx="3108960" cy="384048"/>
          </a:xfrm>
          <a:prstGeom prst="rect">
            <a:avLst/>
          </a:prstGeom>
          <a:solidFill>
            <a:srgbClr val="F2F0EA"/>
          </a:solidFill>
          <a:ln w="9525">
            <a:solidFill>
              <a:srgbClr val="D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41367" y="1874519"/>
            <a:ext cx="31089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Ricardo Tanada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Unit &amp; Strategic Division Head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2258568"/>
            <a:ext cx="0" cy="11887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63991" y="2377440"/>
            <a:ext cx="8663712" cy="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63991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2542032"/>
            <a:ext cx="2705023" cy="457200"/>
          </a:xfrm>
          <a:prstGeom prst="rect">
            <a:avLst/>
          </a:prstGeom>
          <a:solidFill>
            <a:srgbClr val="F2F0EA"/>
          </a:solidFill>
          <a:ln w="9525">
            <a:solidFill>
              <a:srgbClr val="D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11480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Kresnanto A.W.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Strategic 1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072384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1208" y="31272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Satrio F.R.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33192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Big Suppeq, Big Vessel, Bucket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1208" y="37124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M. Fawwaz J.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904487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Cabin, Forestry, Agro, Forklift, Towerlamp, Pump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51895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226231" y="2468879"/>
            <a:ext cx="2851327" cy="3218688"/>
          </a:xfrm>
          <a:prstGeom prst="rect">
            <a:avLst/>
          </a:prstGeom>
          <a:noFill/>
          <a:ln w="1587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99383" y="2542032"/>
            <a:ext cx="2705023" cy="457200"/>
          </a:xfrm>
          <a:prstGeom prst="rect">
            <a:avLst/>
          </a:prstGeom>
          <a:solidFill>
            <a:srgbClr val="F2F0EA"/>
          </a:solidFill>
          <a:ln w="9525">
            <a:solidFill>
              <a:srgbClr val="D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299383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Ricardo Tanada (c)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Strategic 2 Head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9383" y="3072384"/>
            <a:ext cx="2705023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299383" y="3072384"/>
            <a:ext cx="2705023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Ignatius Indrawan S.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Deputy Head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9383" y="3529584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09111" y="35844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Ervin Bahar 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9111" y="37764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Medium Vessel, Man Hauler, Bus Scania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9383" y="4114800"/>
            <a:ext cx="2705023" cy="512064"/>
          </a:xfrm>
          <a:prstGeom prst="rect">
            <a:avLst/>
          </a:prstGeom>
          <a:solidFill>
            <a:srgbClr val="FBF3EE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409111" y="41696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4A1B0C"/>
                </a:solidFill>
                <a:latin typeface="Neue Haas Grotesk Text Pro"/>
              </a:rPr>
              <a:t>Tiberias K.S.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9111" y="4361688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4A1B0C"/>
                </a:solidFill>
                <a:latin typeface="Neue Haas Grotesk Text Pro"/>
              </a:rPr>
              <a:t>Small Suppeq, Truck Others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9383" y="4700016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409111" y="4754879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Eurico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9111" y="4946904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Mining / Non-mining Trailer, Overseas Zone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9383" y="5285231"/>
            <a:ext cx="2705023" cy="329184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299383" y="5285231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8A8880"/>
                </a:solidFill>
                <a:latin typeface="Neue Haas Grotesk Text Pro"/>
              </a:rPr>
              <a:t>Nandu Narpati — Admin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39799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187287" y="2542032"/>
            <a:ext cx="2705023" cy="457200"/>
          </a:xfrm>
          <a:prstGeom prst="rect">
            <a:avLst/>
          </a:prstGeom>
          <a:solidFill>
            <a:srgbClr val="F2F0EA"/>
          </a:solidFill>
          <a:ln w="9525">
            <a:solidFill>
              <a:srgbClr val="D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87287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Ugik Praseno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Strategic 3 Head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7287" y="3072384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97015" y="31272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Baihaqi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7015" y="33192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Mineral Processing, EPC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7287" y="3657600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7015" y="37124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Yuda Prana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7015" y="3904487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Maritime, Renewable Energy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7287" y="4242816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297015" y="4297679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Celine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7015" y="4489704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Ultra Product Support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87287" y="4828031"/>
            <a:ext cx="2705023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7015" y="4882895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Hanifa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7015" y="5074919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Automation, EV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427703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9075191" y="2542032"/>
            <a:ext cx="2705023" cy="457200"/>
          </a:xfrm>
          <a:prstGeom prst="rect">
            <a:avLst/>
          </a:prstGeom>
          <a:solidFill>
            <a:srgbClr val="F2F0EA"/>
          </a:solidFill>
          <a:ln w="9525">
            <a:solidFill>
              <a:srgbClr val="D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75191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Marketing Communication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75191" y="3072384"/>
            <a:ext cx="2705023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75191" y="3072384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Karina Audina 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75191" y="3474720"/>
            <a:ext cx="2705023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075191" y="3474720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Adinda Siti K.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75191" y="3877056"/>
            <a:ext cx="2705023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75191" y="3877056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Rahma — Graphic Designer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7985455" y="-1463040"/>
            <a:ext cx="5669280" cy="5669280"/>
          </a:xfrm>
          <a:prstGeom prst="ellipse">
            <a:avLst/>
          </a:prstGeom>
          <a:solidFill>
            <a:srgbClr val="FB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Roles &amp; 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388620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  <a:latin typeface="Neue Haas Grotesk Text Pro"/>
              </a:rPr>
              <a:t>A — Position &amp;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15384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8A8880"/>
                </a:solidFill>
                <a:latin typeface="Neue Haas Grotesk Text Pro"/>
              </a:rPr>
              <a:t>B — Strategic vs Supply 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I Report Through the Deputy Head and Own Two Product Groups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ROLES &amp; RESPONSIBILITY · POSITION &amp; PRODUCTS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146304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REPORTING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783080"/>
            <a:ext cx="2834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0160" y="1783080"/>
            <a:ext cx="283464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C1B19"/>
                </a:solidFill>
                <a:latin typeface="Neue Haas Grotesk Text Pro"/>
              </a:rPr>
              <a:t>Ricardo Tanada</a:t>
            </a:r>
          </a:p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Dept Head (concurrent)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2386584"/>
            <a:ext cx="0" cy="219456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2606040"/>
            <a:ext cx="3566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356616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C1B19"/>
                </a:solidFill>
                <a:latin typeface="Neue Haas Grotesk Text Pro"/>
              </a:rPr>
              <a:t>Ignatius Indrawan Sumawinata</a:t>
            </a:r>
          </a:p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Deputy Head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3209544"/>
            <a:ext cx="0" cy="219456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73480" y="3429000"/>
            <a:ext cx="3048000" cy="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3000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1480" y="3566160"/>
            <a:ext cx="14630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8463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1C1B19"/>
                </a:solidFill>
                <a:latin typeface="Neue Haas Grotesk Text Pro"/>
              </a:rPr>
              <a:t>Ervin Bahar P.</a:t>
            </a:r>
          </a:p>
          <a:p>
            <a:pPr algn="ctr"/>
            <a:r>
              <a:rPr sz="760" b="0">
                <a:solidFill>
                  <a:srgbClr val="6E6C64"/>
                </a:solidFill>
                <a:latin typeface="Neue Haas Grotesk Text Pro"/>
              </a:rPr>
              <a:t>Medium Vessel, Man Hauler, Bus Scania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79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65960" y="3566160"/>
            <a:ext cx="1463039" cy="1005840"/>
          </a:xfrm>
          <a:prstGeom prst="rect">
            <a:avLst/>
          </a:prstGeom>
          <a:solidFill>
            <a:srgbClr val="FBF3EE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3911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4A1B0C"/>
                </a:solidFill>
                <a:latin typeface="Neue Haas Grotesk Text Pro"/>
              </a:rPr>
              <a:t>Tiberias K. Simu</a:t>
            </a:r>
          </a:p>
          <a:p>
            <a:pPr algn="ctr"/>
            <a:r>
              <a:rPr sz="760" b="0">
                <a:solidFill>
                  <a:srgbClr val="4A1B0C"/>
                </a:solidFill>
                <a:latin typeface="Neue Haas Grotesk Text Pro"/>
              </a:rPr>
              <a:t>Small Suppeq, Truck Others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51960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520440" y="3566160"/>
            <a:ext cx="146303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9359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1C1B19"/>
                </a:solidFill>
                <a:latin typeface="Neue Haas Grotesk Text Pro"/>
              </a:rPr>
              <a:t>Eurico</a:t>
            </a:r>
          </a:p>
          <a:p>
            <a:pPr algn="ctr"/>
            <a:r>
              <a:rPr sz="760" b="0">
                <a:solidFill>
                  <a:srgbClr val="6E6C64"/>
                </a:solidFill>
                <a:latin typeface="Neue Haas Grotesk Text Pro"/>
              </a:rPr>
              <a:t>Trailer, Overseas 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709160"/>
            <a:ext cx="45720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Associate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146304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MY PRODUCTS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1783080"/>
            <a:ext cx="3078327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40680" y="1783080"/>
            <a:ext cx="45720" cy="12344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69280" y="1892807"/>
            <a:ext cx="271256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Small Suppeq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212848"/>
            <a:ext cx="27125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Water Truck (WT20, WT35), Lube Truck (LT08), Fuel Truck (FT20) and similar supporting units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01887" y="1783080"/>
            <a:ext cx="3078327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701887" y="1783080"/>
            <a:ext cx="45720" cy="12344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30487" y="1892807"/>
            <a:ext cx="271256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Truck Others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0487" y="2212848"/>
            <a:ext cx="27125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Mining Crane, Fire Truck, Mixer Truck, Tyre Truck, Steaming Truck and other special-purpose trucks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3200400"/>
            <a:ext cx="6339535" cy="30632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440680" y="3200400"/>
            <a:ext cx="6339535" cy="3063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Product photos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My Work Has Two Sides: Strategic Sets the Direction, Supply Chain Delivers the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ROLES &amp; RESPONSIBILITY · STRATEGIC VS SUPPLY CHAIN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" y="1417320"/>
            <a:ext cx="5592927" cy="274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59292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eue Haas Grotesk Text Pro"/>
              </a:rPr>
              <a:t>A. STRATEGIC</a:t>
            </a:r>
            <a:r>
              <a:rPr sz="760" b="0">
                <a:solidFill>
                  <a:srgbClr val="FFFFFF"/>
                </a:solidFill>
                <a:latin typeface="Neue Haas Grotesk Text Pro"/>
              </a:rPr>
              <a:t>   Decides direction — output feeds management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Pricing &amp; Market Analysis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Market Study &amp; Program Development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Market Program for Support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7943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Performance Reporting (GP, PICA)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Innovation &amp;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417320"/>
            <a:ext cx="5592927" cy="27432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24447" y="1417320"/>
            <a:ext cx="559292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eue Haas Grotesk Text Pro"/>
              </a:rPr>
              <a:t>B. SUPPLY CHAIN</a:t>
            </a:r>
            <a:r>
              <a:rPr sz="760" b="0">
                <a:solidFill>
                  <a:srgbClr val="FFFFFF"/>
                </a:solidFill>
                <a:latin typeface="Neue Haas Grotesk Text Pro"/>
              </a:rPr>
              <a:t>   Runs the transaction — output keeps operations moving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Quotation &amp; Production Coordination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Operational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751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Internal &amp; External Coordination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Routine Meetings &amp;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606040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SIPOC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44774" y="2834640"/>
            <a:ext cx="2045147" cy="1572768"/>
          </a:xfrm>
          <a:prstGeom prst="rect">
            <a:avLst/>
          </a:prstGeom>
          <a:solidFill>
            <a:srgbClr val="EDEBE0"/>
          </a:solidFill>
          <a:ln w="12700">
            <a:solidFill>
              <a:srgbClr val="B0A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554480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9627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4774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9921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5068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CUSTOMER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127248"/>
            <a:ext cx="1051560" cy="58521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11480" y="3127248"/>
            <a:ext cx="1051560" cy="5852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eue Haas Grotesk Text Pro"/>
              </a:rPr>
              <a:t>Supply Chain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54480" y="3090672"/>
            <a:ext cx="10225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27632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BC / Sales, UTE (Patria), non-Patria vendors, forwarders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2779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PCR demand, preliminary drawing, PO / PJB, QFD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7926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1">
                <a:solidFill>
                  <a:srgbClr val="2C2C2A"/>
                </a:solidFill>
                <a:latin typeface="Neue Haas Grotesk Text Pro"/>
              </a:rPr>
              <a:t>Quote request → close won → PO Interco → production monitoring → 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073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Quotation, PO Interco, BAST / BAPB, invoice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8220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Sales team, end customer, Finance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85615"/>
            <a:ext cx="1051560" cy="585216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11480" y="3785615"/>
            <a:ext cx="1051560" cy="5852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eue Haas Grotesk Text Pro"/>
              </a:rPr>
              <a:t>Strategic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54480" y="3749039"/>
            <a:ext cx="10225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27632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CRM, sales &amp; GP data, market sources, UTPE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2779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Market data, competitor specs, price history, GP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7926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1">
                <a:solidFill>
                  <a:srgbClr val="2C2C2A"/>
                </a:solidFill>
                <a:latin typeface="Neue Haas Grotesk Text Pro"/>
              </a:rPr>
              <a:t>Market study, price analysis, sales programs, GP &amp; PICA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63073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Market study, CRM price list, sales tools, GP / PICA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8220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Management / BOD, Sales team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709160"/>
            <a:ext cx="3667658" cy="16002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76072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Dimensions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Financial: non-Patria procurement budget, COGS per unit, target margin per PO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Non-financial: vendors &amp; customers handled, documents verified, report frequency, meetings &amp; site visits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2018" y="4709160"/>
            <a:ext cx="3667658" cy="16002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26610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Working Relationships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6610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Internal: Sales &amp; Marketing, Warehouse, Finance &amp; Accounting, Legal, Procurement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External: customers, Patria &amp; non-Patria vendors, forwarders, UTPE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12556" y="4709160"/>
            <a:ext cx="3667658" cy="16002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77148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Work Challenges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7148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Keep pricing, procurement and report data accurate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Align many functions on tight, shifting deadlines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Adapt to changing market and stakeholder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7985455" y="-1463040"/>
            <a:ext cx="5669280" cy="5669280"/>
          </a:xfrm>
          <a:prstGeom prst="ellipse">
            <a:avLst/>
          </a:prstGeom>
          <a:solidFill>
            <a:srgbClr val="FB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Job Description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388620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  <a:latin typeface="Neue Haas Grotesk Text Pro"/>
              </a:rPr>
              <a:t>Strategic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15384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8A8880"/>
                </a:solidFill>
                <a:latin typeface="Neue Haas Grotesk Text Pro"/>
              </a:rPr>
              <a:t>Supply Chain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Strategy Starts With Data: I Frame the Question Before I Read 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STRATEGIC (1/2)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774375" y="914400"/>
            <a:ext cx="1005840" cy="219456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74375" y="914400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Steps 1–4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2718739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Define Market &amp;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Set the business question for Small Suppeq / Truck Others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Agree scope and target segment with Dept 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4811" y="1463040"/>
            <a:ext cx="2718739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294811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477691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77691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1739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Design Market Study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91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Choose data sources and method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Set timeline and owners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7691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77691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8143" y="1463040"/>
            <a:ext cx="2718739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8143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361023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61023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5071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Collect Internal &amp; External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CRM, PCR, GP history, sales feedback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Competitor specs and price 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1023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61023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61475" y="1463040"/>
            <a:ext cx="2718739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061475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244355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44355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403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Analyse Market &amp; Competitors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355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Market size / share, segmentation, positioning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Map competitor products against 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355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44355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Analysis Only Counts When It Turns Into Tools, Reports and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STRATEGIC (2/2)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774375" y="914400"/>
            <a:ext cx="1005840" cy="219456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74375" y="914400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Steps 5–8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27187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Build Sales Tools &amp; 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Pamphlets, incentive programs, campaigns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Standard price list in CRM, event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4811" y="1463040"/>
            <a:ext cx="27187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294811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477691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77691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1739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Prepare Performance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91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GP Report and Performance Report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PICA analysis on gaps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7691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77691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8143" y="1463040"/>
            <a:ext cx="27187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8143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361023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61023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5071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Interpret Results &amp; Recommend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Turn findings into pricing / program advice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Present to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1023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61023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61475" y="1463040"/>
            <a:ext cx="27187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061475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244355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44355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403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Innovation &amp;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355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Project Charter for innovation projects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Training (Patria Mover), site visit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355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44355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892040"/>
            <a:ext cx="11368735" cy="27432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DELIVERABLES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Market study, sales tools, CRM price list, GP &amp; PICA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0823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DEPARTMENTS INVOLVED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0823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Sales, Finance &amp; Accounting, UTPE, Marketing Communication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253663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33007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CHALLENGES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3007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Scattered data sources; limited competitor price visibility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95847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75191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IMPROVEMENTS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5191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Single dashboard for GP and pipeline; regular competitor mapping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938031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11480" y="6217920"/>
            <a:ext cx="1136873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Before Any Price Goes Out, I Clarify the Demand and Read the Drawing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SUPPLY CHAIN (1/2)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59975" y="914400"/>
            <a:ext cx="1920240" cy="219456"/>
          </a:xfrm>
          <a:prstGeom prst="roundRect">
            <a:avLst>
              <a:gd name="adj" fmla="val 8000"/>
            </a:avLst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59975" y="914400"/>
            <a:ext cx="19202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Main Process · Steps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367985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45720" cy="4846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Demand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See demand rise in PCR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Clarify with BC: reason to buy (expansion / new business / replacement)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Project location; fast or low-cost priority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Expected price and estimated PO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13048"/>
            <a:ext cx="3332378" cy="23317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5922" y="1463040"/>
            <a:ext cx="367985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55922" y="1463040"/>
            <a:ext cx="45720" cy="4846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438802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8802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2850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Preliminary Drawing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8802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unit function and how it works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Flag critical main components on price and lead time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Consult Application Engineering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8802" y="3813048"/>
            <a:ext cx="3332378" cy="23317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38802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0364" y="1463040"/>
            <a:ext cx="367985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100364" y="1463040"/>
            <a:ext cx="45720" cy="4846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283244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83244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292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Request Quote to 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3244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Attach prelim, expected price &amp; lead time, end customer, expected delivery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standard GP (13.6% — pre-negotiation price)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Track SLA, escalate if late; log result in PCR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3244" y="3813048"/>
            <a:ext cx="3332378" cy="23317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83244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Winning the Order Is Half the Job — Monitoring Keeps Delivery on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SUPPLY CHAIN (2/2)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59975" y="914400"/>
            <a:ext cx="1920240" cy="219456"/>
          </a:xfrm>
          <a:prstGeom prst="roundRect">
            <a:avLst>
              <a:gd name="adj" fmla="val 8000"/>
            </a:avLst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59975" y="914400"/>
            <a:ext cx="19202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Main Process · Steps 4–5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5602071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325880"/>
            <a:ext cx="45720" cy="201168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49047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49047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453895"/>
            <a:ext cx="4916271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Close Won → CPO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920240"/>
            <a:ext cx="5282031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PO / prelim / PJB in CRM; request QFD from UTE; collect special requests &amp; painting style from BC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RFD from QFD becomes PO Interco due date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Close won: Sales Mgr → Mkt Associate → Mkt Mgr → GM Mkt · PO Interco approval: Mkt Mgr → GM Mkt → Mkt Director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1325880"/>
            <a:ext cx="5602071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78143" y="1325880"/>
            <a:ext cx="45720" cy="201168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361023" y="149047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1023" y="149047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5071" y="1453895"/>
            <a:ext cx="4916271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3" y="1920240"/>
            <a:ext cx="5282031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Track production and update sales (factory visit or photos from Nandu); match QFD vs actual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Escalate when RFD is at risk; request painting style ≥1 month before RFD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Accompany BC at customer FAT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49300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INTERNAL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9896"/>
            <a:ext cx="273931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11480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Pipeline–OSPO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Dashboard, updated monthly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87953" y="3739896"/>
            <a:ext cx="273931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287953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43401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CRM Staging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3401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No prelim = early talks; prelim = validate &amp; quote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4427" y="3739896"/>
            <a:ext cx="273931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64427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19875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Quote Price to 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9875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Detail, average SLA, initial price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40901" y="3739896"/>
            <a:ext cx="273931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40901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96349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Progress 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6349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Check staging, escalate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617720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BILLING PROCESS CHAIN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892040"/>
            <a:ext cx="914400" cy="41148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11480" y="4892040"/>
            <a:ext cx="91440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At UTE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17320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417320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PO Interco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94890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22906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222906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0476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28492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028492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6063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34079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834079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1649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39665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639665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Drawing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7236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5252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445252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2822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50838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250838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LPPB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8408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6424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056424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33995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2011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862011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Fabrication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39581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67597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667597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Assembly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45168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73184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473184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QC passed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50754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78770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278770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GR Teco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56340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084356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1084356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" y="5532120"/>
            <a:ext cx="914400" cy="4114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11480" y="5532120"/>
            <a:ext cx="91440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At Triatra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17320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417320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13171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41187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2541187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DO / TO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37039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65055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665055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60907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88923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4788923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BAST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84774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12790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5912790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BAST approval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08642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36658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036658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Invoice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