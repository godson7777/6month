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media/image18.jpg" ContentType="image/jpg"/>
  <Override PartName="/ppt/media/image22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9" r:id="rId19"/>
    <p:sldId id="274" r:id="rId20"/>
    <p:sldId id="290" r:id="rId21"/>
    <p:sldId id="258" r:id="rId22"/>
    <p:sldId id="259" r:id="rId23"/>
    <p:sldId id="291" r:id="rId24"/>
    <p:sldId id="278" r:id="rId25"/>
    <p:sldId id="293" r:id="rId26"/>
    <p:sldId id="294" r:id="rId27"/>
    <p:sldId id="295" r:id="rId28"/>
    <p:sldId id="282" r:id="rId29"/>
    <p:sldId id="296" r:id="rId30"/>
    <p:sldId id="288" r:id="rId31"/>
    <p:sldId id="284" r:id="rId32"/>
    <p:sldId id="297" r:id="rId33"/>
    <p:sldId id="29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BERIAS KRISGAHARU SIMU - TRIATRA" userId="791f72e7-0068-479f-a002-7b105970ac9c" providerId="ADAL" clId="{37A0382A-63EB-4356-8671-B6F098109532}"/>
    <pc:docChg chg="undo custSel modSld">
      <pc:chgData name="TIBERIAS KRISGAHARU SIMU - TRIATRA" userId="791f72e7-0068-479f-a002-7b105970ac9c" providerId="ADAL" clId="{37A0382A-63EB-4356-8671-B6F098109532}" dt="2026-10-08T01:44:39.531" v="24" actId="478"/>
      <pc:docMkLst>
        <pc:docMk/>
      </pc:docMkLst>
      <pc:sldChg chg="addSp delSp modSp mod">
        <pc:chgData name="TIBERIAS KRISGAHARU SIMU - TRIATRA" userId="791f72e7-0068-479f-a002-7b105970ac9c" providerId="ADAL" clId="{37A0382A-63EB-4356-8671-B6F098109532}" dt="2026-10-08T01:44:39.531" v="24" actId="478"/>
        <pc:sldMkLst>
          <pc:docMk/>
          <pc:sldMk cId="0" sldId="257"/>
        </pc:sldMkLst>
        <pc:picChg chg="add del mod">
          <ac:chgData name="TIBERIAS KRISGAHARU SIMU - TRIATRA" userId="791f72e7-0068-479f-a002-7b105970ac9c" providerId="ADAL" clId="{37A0382A-63EB-4356-8671-B6F098109532}" dt="2026-10-08T01:44:39.531" v="24" actId="478"/>
          <ac:picMkLst>
            <pc:docMk/>
            <pc:sldMk cId="0" sldId="257"/>
            <ac:picMk id="11" creationId="{5EE55F49-48B8-9C22-E623-62564CE25C33}"/>
          </ac:picMkLst>
        </pc:picChg>
      </pc:sldChg>
      <pc:sldChg chg="addSp modSp mod">
        <pc:chgData name="TIBERIAS KRISGAHARU SIMU - TRIATRA" userId="791f72e7-0068-479f-a002-7b105970ac9c" providerId="ADAL" clId="{37A0382A-63EB-4356-8671-B6F098109532}" dt="2026-10-08T01:39:25.369" v="18" actId="14100"/>
        <pc:sldMkLst>
          <pc:docMk/>
          <pc:sldMk cId="0" sldId="272"/>
        </pc:sldMkLst>
        <pc:picChg chg="add mod modCrop">
          <ac:chgData name="TIBERIAS KRISGAHARU SIMU - TRIATRA" userId="791f72e7-0068-479f-a002-7b105970ac9c" providerId="ADAL" clId="{37A0382A-63EB-4356-8671-B6F098109532}" dt="2026-10-08T01:39:25.369" v="18" actId="14100"/>
          <ac:picMkLst>
            <pc:docMk/>
            <pc:sldMk cId="0" sldId="272"/>
            <ac:picMk id="74" creationId="{ADC0C4CF-A5A1-48F1-7ECC-143587F7845A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5750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E5A55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40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9-4203-9D76-C780F7F8A4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E5A55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9-4203-9D76-C780F7F8A4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E5A55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59</c:v>
                </c:pt>
                <c:pt idx="2">
                  <c:v>54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9-4203-9D76-C780F7F8A4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E5A55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9-4203-9D76-C780F7F8A4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5A55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B1B1B"/>
              </a:solidFill>
              <a:latin typeface="Bahnschrift"/>
              <a:cs typeface="Bahnschrif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8-4F96-B656-BA41016B6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A8-4F96-B656-BA41016B6E3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C7-4E63-A28C-BF16846149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C7-4E63-A28C-BF168461497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5-406F-B178-860AB58E2B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A5-406F-B178-860AB58E2B4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7-4C81-8EF1-577C08EF01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7-4C81-8EF1-577C08EF011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2-4709-A24D-EEF4CC861E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2-4709-A24D-EEF4CC861E0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9-4836-8394-EB55D92736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B9-4836-8394-EB55D92736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B17D0-E1F8-4D2C-A032-98C2FCA2C3FA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D578B-30D0-4F27-B5C4-A2DE9511AF6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503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2933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00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chart" Target="../charts/chart2.xml"/><Relationship Id="rId7" Type="http://schemas.openxmlformats.org/officeDocument/2006/relationships/image" Target="../media/image24.png"/><Relationship Id="rId8" Type="http://schemas.openxmlformats.org/officeDocument/2006/relationships/chart" Target="../charts/chart3.xml"/><Relationship Id="rId9" Type="http://schemas.openxmlformats.org/officeDocument/2006/relationships/image" Target="../media/image25.png"/><Relationship Id="rId10" Type="http://schemas.openxmlformats.org/officeDocument/2006/relationships/chart" Target="../charts/chart4.xml"/><Relationship Id="rId11" Type="http://schemas.openxmlformats.org/officeDocument/2006/relationships/chart" Target="../charts/chart5.xml"/><Relationship Id="rId12" Type="http://schemas.openxmlformats.org/officeDocument/2006/relationships/image" Target="../media/image26.png"/><Relationship Id="rId13" Type="http://schemas.openxmlformats.org/officeDocument/2006/relationships/chart" Target="../charts/chart6.xml"/><Relationship Id="rId14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18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Relationship Id="rId12" Type="http://schemas.openxmlformats.org/officeDocument/2006/relationships/image" Target="../media/image42.jpg"/><Relationship Id="rId13" Type="http://schemas.openxmlformats.org/officeDocument/2006/relationships/image" Target="../media/image43.jpg"/><Relationship Id="rId14" Type="http://schemas.openxmlformats.org/officeDocument/2006/relationships/image" Target="../media/image44.jpg"/><Relationship Id="rId15" Type="http://schemas.openxmlformats.org/officeDocument/2006/relationships/image" Target="../media/image45.jpg"/><Relationship Id="rId16" Type="http://schemas.openxmlformats.org/officeDocument/2006/relationships/image" Target="../media/image46.jpg"/><Relationship Id="rId17" Type="http://schemas.openxmlformats.org/officeDocument/2006/relationships/image" Target="../media/image47.jpg"/><Relationship Id="rId18" Type="http://schemas.openxmlformats.org/officeDocument/2006/relationships/image" Target="../media/image48.jpg"/><Relationship Id="rId19" Type="http://schemas.openxmlformats.org/officeDocument/2006/relationships/image" Target="../media/image49.jpg"/><Relationship Id="rId20" Type="http://schemas.openxmlformats.org/officeDocument/2006/relationships/image" Target="../media/image50.jpg"/><Relationship Id="rId21" Type="http://schemas.openxmlformats.org/officeDocument/2006/relationships/image" Target="../media/image51.jpg"/><Relationship Id="rId22" Type="http://schemas.openxmlformats.org/officeDocument/2006/relationships/image" Target="../media/image52.jpg"/><Relationship Id="rId23" Type="http://schemas.openxmlformats.org/officeDocument/2006/relationships/image" Target="../media/image53.jpg"/><Relationship Id="rId24" Type="http://schemas.openxmlformats.org/officeDocument/2006/relationships/image" Target="../media/image5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Relationship Id="rId13" Type="http://schemas.openxmlformats.org/officeDocument/2006/relationships/image" Target="../media/image63.jpg"/><Relationship Id="rId14" Type="http://schemas.openxmlformats.org/officeDocument/2006/relationships/image" Target="../media/image64.jpg"/><Relationship Id="rId15" Type="http://schemas.openxmlformats.org/officeDocument/2006/relationships/image" Target="../media/image65.jpg"/><Relationship Id="rId16" Type="http://schemas.openxmlformats.org/officeDocument/2006/relationships/image" Target="../media/image29.jpg"/><Relationship Id="rId17" Type="http://schemas.openxmlformats.org/officeDocument/2006/relationships/image" Target="../media/image31.jpg"/><Relationship Id="rId18" Type="http://schemas.openxmlformats.org/officeDocument/2006/relationships/image" Target="../media/image30.jpg"/><Relationship Id="rId19" Type="http://schemas.openxmlformats.org/officeDocument/2006/relationships/image" Target="../media/image66.jpg"/><Relationship Id="rId20" Type="http://schemas.openxmlformats.org/officeDocument/2006/relationships/image" Target="../media/image18.jpg"/><Relationship Id="rId21" Type="http://schemas.openxmlformats.org/officeDocument/2006/relationships/image" Target="../media/image32.jpg"/><Relationship Id="rId22" Type="http://schemas.openxmlformats.org/officeDocument/2006/relationships/image" Target="../media/image67.jpg"/><Relationship Id="rId23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0585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F5A1F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99368"/>
            <a:ext cx="55316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1B1B1B"/>
                </a:solidFill>
                <a:latin typeface="Neue Haas Grotesk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513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571" y="1579435"/>
            <a:ext cx="157177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B1B1B"/>
                </a:solidFill>
                <a:latin typeface="Neue Haas Grotesk"/>
              </a:rPr>
              <a:t>Personal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122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571" y="2189035"/>
            <a:ext cx="12288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Company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7323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571" y="2798635"/>
            <a:ext cx="107420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Site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33419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571" y="3408235"/>
            <a:ext cx="13966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Organization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9515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571" y="4017835"/>
            <a:ext cx="16517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Roles &amp;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561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571" y="4627435"/>
            <a:ext cx="19137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Job Description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5170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571" y="5237035"/>
            <a:ext cx="267438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Project — F.lli Ferrari Crane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061" y="1691830"/>
            <a:ext cx="117166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PRESENTER /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2061" y="1857565"/>
            <a:ext cx="118622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Tiberias K. Simu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2061" y="2205418"/>
            <a:ext cx="269048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A948D"/>
                </a:solidFill>
                <a:latin typeface="Neue Haas Grotesk"/>
              </a:rPr>
              <a:t>MARKETING STRATEGIC 2 ASSOCIATE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2061" y="2749105"/>
            <a:ext cx="1345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PRODUCTS I 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2061" y="2959798"/>
            <a:ext cx="1046761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Small Suppeq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2061" y="3245548"/>
            <a:ext cx="980397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Neue Haas Grotesk"/>
              </a:rPr>
              <a:t>Truck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2061" y="3938968"/>
            <a:ext cx="196534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E5A55"/>
                </a:solidFill>
                <a:latin typeface="Neue Haas Grotesk"/>
              </a:rPr>
              <a:t>PT Triatra Sinergia Pratama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2061" y="4080355"/>
            <a:ext cx="25588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E5A55"/>
                </a:solidFill>
                <a:latin typeface="Neue Haas Grotesk"/>
              </a:rPr>
              <a:t>Marketing Unit &amp; Strategic Division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100" y="6592443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A948D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819" y="6592443"/>
            <a:ext cx="5145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 </a:t>
            </a:r>
            <a:r>
              <a:rPr sz="1400" b="0">
                <a:solidFill>
                  <a:srgbClr val="9A948D"/>
                </a:solidFill>
                <a:latin typeface="Neue Haas Grotesk"/>
              </a:rPr>
              <a:t>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2355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5938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 dirty="0">
                <a:solidFill>
                  <a:srgbClr val="FFFFFF"/>
                </a:solidFill>
                <a:latin typeface="Arial"/>
              </a:rPr>
              <a:t>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95190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FFFFFF"/>
                </a:solidFill>
                <a:latin typeface="Arial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589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FFFFFF"/>
                </a:solidFill>
                <a:latin typeface="Arial"/>
              </a:rPr>
              <a:t>Onboarding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02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6555" y="769620"/>
            <a:ext cx="14998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7262" y="928497"/>
            <a:ext cx="6378475" cy="895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11" b="1">
                <a:solidFill>
                  <a:srgbClr val="1B1B1B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608" y="2023872"/>
            <a:ext cx="463763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6" b="0">
                <a:solidFill>
                  <a:srgbClr val="1B1B1B"/>
                </a:solidFill>
                <a:latin typeface="Arial"/>
              </a:rPr>
              <a:t>Part of the UTPE Group · Distributor of PATRIA and ULTRA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05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3017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01 · 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40759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74470"/>
            <a:ext cx="49144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01 </a:t>
            </a:r>
            <a:r>
              <a:rPr sz="836" b="0">
                <a:solidFill>
                  <a:srgbClr val="5E5A55"/>
                </a:solidFill>
                <a:latin typeface="Arial"/>
              </a:rPr>
              <a:t>Triatra is part of the UTPE Group and AHEMCE, focusing on Distributorship and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975" y="1474470"/>
            <a:ext cx="37193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02 </a:t>
            </a:r>
            <a:r>
              <a:rPr sz="836" b="0">
                <a:solidFill>
                  <a:srgbClr val="5E5A55"/>
                </a:solidFill>
                <a:latin typeface="Arial"/>
              </a:rPr>
              <a:t>Starting in 2025, Triatra develops a new business line in Marine.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896618"/>
            <a:ext cx="22572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CORPORATE ENTITY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067306"/>
            <a:ext cx="53692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PT Triatra Sinergia Pratama is one of the entities within the UTPE Group, part of the UT Group and the AHEMCE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2207204"/>
            <a:ext cx="2278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business line of PT Astra International Tbk.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2587275"/>
            <a:ext cx="139094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Astra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2737330"/>
            <a:ext cx="29659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Astra Heavy Equipment, Mining, Construction, and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3311175"/>
            <a:ext cx="12194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United Tractors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3461230"/>
            <a:ext cx="143157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Construction Machinery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1675" y="4035075"/>
            <a:ext cx="6859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UTPE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1675" y="4185130"/>
            <a:ext cx="173206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Engineering Solution &amp; Marine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863" y="5827466"/>
            <a:ext cx="151938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Distributorship and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8390" y="5827466"/>
            <a:ext cx="13710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Ship Owner &amp;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7332" y="5827466"/>
            <a:ext cx="14294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Ship Building and 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6285" y="1896618"/>
            <a:ext cx="222304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PT TRIATRA SINERGIA PRATAMA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110" y="2172081"/>
            <a:ext cx="573643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Distributor of </a:t>
            </a:r>
            <a:r>
              <a:rPr sz="800" b="1">
                <a:solidFill>
                  <a:srgbClr val="1B1B1B"/>
                </a:solidFill>
                <a:latin typeface="Arial"/>
              </a:rPr>
              <a:t>PATRIA </a:t>
            </a:r>
            <a:r>
              <a:rPr sz="800" b="0">
                <a:solidFill>
                  <a:srgbClr val="5E5A55"/>
                </a:solidFill>
                <a:latin typeface="Arial"/>
              </a:rPr>
              <a:t>and </a:t>
            </a:r>
            <a:r>
              <a:rPr sz="800" b="1">
                <a:solidFill>
                  <a:srgbClr val="1B1B1B"/>
                </a:solidFill>
                <a:latin typeface="Arial"/>
              </a:rPr>
              <a:t>ULTRA </a:t>
            </a:r>
            <a:r>
              <a:rPr sz="800" b="0">
                <a:solidFill>
                  <a:srgbClr val="5E5A55"/>
                </a:solidFill>
                <a:latin typeface="Arial"/>
              </a:rPr>
              <a:t>products for mining, construction, agriculture, forestry and maritime. Triatra offers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110" y="2323885"/>
            <a:ext cx="561677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both equipment units and full after-sales support, from spare parts and remanufacturing to maintenance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6910" y="2731341"/>
            <a:ext cx="6032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6910" y="2881395"/>
            <a:ext cx="185424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International &amp; domestic trader of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6910" y="3011322"/>
            <a:ext cx="8868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UTPE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317" y="2731341"/>
            <a:ext cx="191824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Part, Component &amp;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3317" y="2881395"/>
            <a:ext cx="15540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After-sales maintenance &amp;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317" y="3011322"/>
            <a:ext cx="110370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remanufacturing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6285" y="3342036"/>
            <a:ext cx="16277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INDUSTRY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110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258" y="4698253"/>
            <a:ext cx="15748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Coal &amp; Mineral Mining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6517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666" y="4698253"/>
            <a:ext cx="1092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110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258" y="6199632"/>
            <a:ext cx="16978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Forestry &amp; Agroindustry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6517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666" y="6199632"/>
            <a:ext cx="8511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Maritime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3990826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Site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07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17363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02 · SITE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42081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Site Operation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75232"/>
            <a:ext cx="625777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0">
                <a:solidFill>
                  <a:srgbClr val="5E5A55"/>
                </a:solidFill>
                <a:latin typeface="Arial"/>
              </a:rPr>
              <a:t>Triatra covers many areas in Indonesia, with the Head Office in Jakarta, 5 Site Operations and Site Representatives.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4677918"/>
            <a:ext cx="8838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Head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796254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5137499"/>
            <a:ext cx="6980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Jakarta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5255835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5597080"/>
            <a:ext cx="97259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Tanjung Enim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5715416"/>
            <a:ext cx="259809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Lingga Raya 10, Kel. Muara Enim, Sumatera Selatan, 31711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6056661"/>
            <a:ext cx="84370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Pekanbaru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6174997"/>
            <a:ext cx="249852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Soekarno Hatta KM 3,5 No. 151, Pekanbaru, Riau, 28291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962" y="4677918"/>
            <a:ext cx="92422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Banjarmasin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4796254"/>
            <a:ext cx="27546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Ahmad Yani KM 13,5 Gambut, Banjarmasin, Kalimantan Selatan,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4898945"/>
            <a:ext cx="60081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70652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962" y="5137499"/>
            <a:ext cx="98434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Sungai Danau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962" y="5255835"/>
            <a:ext cx="257621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Ds. Karang Indah RT 12/RW 03, Kec. Angsana, Tanah Bambu,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962" y="5358526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Kalimantan Selatan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962" y="5597080"/>
            <a:ext cx="11467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Tanjung Tabalong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962" y="5715416"/>
            <a:ext cx="261267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A. Yani KM 7,5 Maburai, Kec. Murung Pudak, Kab. Tabalong,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962" y="5818108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Kalimantan Selatan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962" y="6056661"/>
            <a:ext cx="909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Batu Kajang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962" y="6174997"/>
            <a:ext cx="258648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Negara KM 140 Batukajang, Kec. Batu Sopang, Kab. Paser,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962" y="6277689"/>
            <a:ext cx="99595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Kalimantan Timur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4677918"/>
            <a:ext cx="94758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Muara Teweh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796254"/>
            <a:ext cx="270182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Ahmad Yani No. 85, Kel. Melayu, Kab. Barito Utara, Kalimantan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898945"/>
            <a:ext cx="64040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Tengah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5137499"/>
            <a:ext cx="86379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Balikpapan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5255835"/>
            <a:ext cx="279127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Jenderal Sudirman No. 844, Balikpapan, Kalimantan Timur, 76114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5597080"/>
            <a:ext cx="6325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Melak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5715416"/>
            <a:ext cx="281032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D/A PT Tambang Raya Usaha Tama, Hauling Road Trubaindo, Muara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0" y="5818108"/>
            <a:ext cx="166374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Lawa, Kutai Barat, Kalimantan Timur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6056661"/>
            <a:ext cx="6960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Tabang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1750" y="6174997"/>
            <a:ext cx="255835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Site Indonesia Pratama, Workshop Buma Km 6, Hauling Road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6277689"/>
            <a:ext cx="123765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Baratabang, Kec. Muara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537" y="4677918"/>
            <a:ext cx="10278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Tanjung Redeb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537" y="4796254"/>
            <a:ext cx="235088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Gunung Panjang RT.04 No. 101B, Kab. Berau, 77311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537" y="5137499"/>
            <a:ext cx="763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Sangatta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537" y="5255835"/>
            <a:ext cx="274721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HDRS Tango Delta KPC, Mine Site Sangatta, Kutai Timur, 75683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537" y="5597080"/>
            <a:ext cx="8035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Sumbawa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537" y="5715416"/>
            <a:ext cx="271819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Memco Area Tongo, Sekongkang, West Sumbawa, Nusa Tenggara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537" y="5818108"/>
            <a:ext cx="83358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Barat, 84457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537" y="6056661"/>
            <a:ext cx="66615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1B1B1B"/>
                </a:solidFill>
                <a:latin typeface="Arial"/>
              </a:rPr>
              <a:t>Timika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537" y="6174997"/>
            <a:ext cx="2407890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5E5A55"/>
                </a:solidFill>
                <a:latin typeface="Arial"/>
              </a:rPr>
              <a:t>Jl. Kuala Tembaga E-4 LIP Kuala Kencana, Timika, 99920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08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125045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Organization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09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5056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03 · ORGANIZATION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114228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Organization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7935" y="1488757"/>
            <a:ext cx="131698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Ceisar Centiaga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3939" y="1663255"/>
            <a:ext cx="144497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DIRECTOR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121" y="2012632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Ricardo Tanada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262" y="2187130"/>
            <a:ext cx="198432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MKT UNIT &amp; STRATEGIC DIV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909" y="2688907"/>
            <a:ext cx="12915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Kresnanto A.W.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1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MKT STRATEGIC 1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174682"/>
            <a:ext cx="9865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Satrio F.R.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57943"/>
            <a:ext cx="18488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Big Suppeq, Big Vessel, 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697069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M. Fawwaz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880330"/>
            <a:ext cx="26306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Cabin, Forestry, Agro, Forklift, Towerlamp, Pump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977" y="2688907"/>
            <a:ext cx="148649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Ricardo Tanada (c)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65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MKT STRATEGIC 2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5566" y="3174682"/>
            <a:ext cx="15851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Ignatius Indrawan 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759" y="334918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DEPUTY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950" y="3660457"/>
            <a:ext cx="121160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Ervin Bahar 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950" y="3843718"/>
            <a:ext cx="227379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Medium Vessel, Man Hauler, Bus Scania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9950" y="4182844"/>
            <a:ext cx="14579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Tiberias K.S. </a:t>
            </a:r>
            <a:r>
              <a:rPr sz="654" b="1">
                <a:solidFill>
                  <a:srgbClr val="FF5A1F"/>
                </a:solidFill>
                <a:latin typeface="Arial"/>
              </a:rPr>
              <a:t>◄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9950" y="4366105"/>
            <a:ext cx="169128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FF5A1F"/>
                </a:solidFill>
                <a:latin typeface="Arial"/>
              </a:rPr>
              <a:t>Small Suppeq, 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9950" y="4705230"/>
            <a:ext cx="76646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Eurico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9950" y="4888491"/>
            <a:ext cx="240178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Mining / Non-mining Trailer, Overseas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2773" y="5229903"/>
            <a:ext cx="15109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A948D"/>
                </a:solidFill>
                <a:latin typeface="Arial"/>
              </a:rPr>
              <a:t>Nandu Narpati —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8541" y="2688907"/>
            <a:ext cx="117246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Ugik Praseno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92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MKT STRATEGIC 3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174682"/>
            <a:ext cx="8283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Baihaqi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3357943"/>
            <a:ext cx="1545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Mineral Processing, EPC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3697069"/>
            <a:ext cx="10554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Yuda Prana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880330"/>
            <a:ext cx="17262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Maritime, Renewable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4219455"/>
            <a:ext cx="7526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Celine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402716"/>
            <a:ext cx="1388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Ultra Product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4741842"/>
            <a:ext cx="759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Hanifa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925103"/>
            <a:ext cx="110906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Automation, 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3346" y="2688907"/>
            <a:ext cx="19359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Marketing Communication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4245" y="2863405"/>
            <a:ext cx="8940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MARCOMM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3050" y="3174682"/>
            <a:ext cx="13672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Karina Audina 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3050" y="3527107"/>
            <a:ext cx="11858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Adinda Siti 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3050" y="3879532"/>
            <a:ext cx="79399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Rahma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3050" y="4062793"/>
            <a:ext cx="119628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Graphic Designer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10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99643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Roles &amp;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83386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Position &amp;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22042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0028" y="6592443"/>
            <a:ext cx="7338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11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055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76611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Position &amp;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34655"/>
            <a:ext cx="135299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REPORTING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097" y="1736407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Ricardo Tanada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542" y="1910905"/>
            <a:ext cx="17057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DEPT HEAD (CONCURRENT)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5250" y="2431732"/>
            <a:ext cx="219060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Ignatius Indrawan Sumawinata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9160" y="260623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DEPUTY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32" y="3280219"/>
            <a:ext cx="11476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Ervin Bahar 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345" y="3453955"/>
            <a:ext cx="126518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Medium Vessel, Man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54" y="3582543"/>
            <a:ext cx="1191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Hauler, Bus Scania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3194" y="3223069"/>
            <a:ext cx="12745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Tiberias K. Simu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4366" y="3396805"/>
            <a:ext cx="1572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Small Suppeq, Truck 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2589" y="3280219"/>
            <a:ext cx="7366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Eurico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789" y="3453955"/>
            <a:ext cx="13462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Trailer, Overseas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6069" y="3901630"/>
            <a:ext cx="988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ASSOCIATES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851" y="1434655"/>
            <a:ext cx="12072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MY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7726" y="1734883"/>
            <a:ext cx="138871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1B1B1B"/>
                </a:solidFill>
                <a:latin typeface="Arial"/>
              </a:rPr>
              <a:t>Small Suppeq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7726" y="1948243"/>
            <a:ext cx="311169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Water Truck (WT20, WT35), Lube Truck (LT08), Fuel Truck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7726" y="2089630"/>
            <a:ext cx="199995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(FT20) and similar supporting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8351" y="1734883"/>
            <a:ext cx="132114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1B1B1B"/>
                </a:solidFill>
                <a:latin typeface="Arial"/>
              </a:rPr>
              <a:t>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8351" y="1948243"/>
            <a:ext cx="317390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Mining Crane, Fire Truck, Mixer Truck, Tyre Truck, Steaming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8351" y="2089630"/>
            <a:ext cx="2188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E5A55"/>
                </a:solidFill>
                <a:latin typeface="Arial"/>
              </a:rPr>
              <a:t>Truck and other special-purpose trucks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576" y="3555158"/>
            <a:ext cx="106367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Fuel Truck (FT)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576" y="4897588"/>
            <a:ext cx="11607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Water Truck (WT)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576" y="6240018"/>
            <a:ext cx="10883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Lube Truck (LT)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401" y="3555158"/>
            <a:ext cx="9316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Crane Truck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401" y="4897588"/>
            <a:ext cx="9105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Mixer Truck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401" y="6240018"/>
            <a:ext cx="11221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1B1B1B"/>
                </a:solidFill>
                <a:latin typeface="Arial"/>
              </a:rPr>
              <a:t>Stemming Truck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12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107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51011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Strategic vs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025" y="1418082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01508"/>
            <a:ext cx="214357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1B1B1B"/>
                </a:solidFill>
                <a:latin typeface="Arial"/>
              </a:rPr>
              <a:t>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779270"/>
            <a:ext cx="13940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A. STRATEGIC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4169" y="1820418"/>
            <a:ext cx="222185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Sets the direction · for management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9A948D"/>
                </a:solidFill>
                <a:latin typeface="Arial"/>
              </a:rPr>
              <a:t>EXAMPLE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373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9A948D"/>
                </a:solidFill>
                <a:latin typeface="Arial"/>
              </a:rPr>
              <a:t>END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2182814"/>
            <a:ext cx="28441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Pricing &amp; Market Analysis: price &amp; market analysis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3733" y="2182814"/>
            <a:ext cx="15339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2368254"/>
            <a:ext cx="29560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Market Study &amp; Program Development: market data, competitor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2487019"/>
            <a:ext cx="206216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mapping, new product analysis,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3733" y="2368254"/>
            <a:ext cx="27074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Market size / share, segmentation, positioning &amp; 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2672459"/>
            <a:ext cx="31593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Market Program for Support Sales: sales tools (pamphlet), campaign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791223"/>
            <a:ext cx="1777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&amp; project showcase, event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3733" y="2672459"/>
            <a:ext cx="17828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976663"/>
            <a:ext cx="248885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Performance Reporting: PICA analysis, billing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3733" y="2976663"/>
            <a:ext cx="274811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Input for performance evaluation &amp; management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162103"/>
            <a:ext cx="28549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Innovation &amp; Development: innovation project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3733" y="3162103"/>
            <a:ext cx="24382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Innovation framework; field conditions 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1779270"/>
            <a:ext cx="16333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7A45"/>
                </a:solidFill>
                <a:latin typeface="Arial"/>
              </a:rPr>
              <a:t>B. 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350" y="1820418"/>
            <a:ext cx="18447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9A948D"/>
                </a:solidFill>
                <a:latin typeface="Arial"/>
              </a:rPr>
              <a:t>Runs the transaction · for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9A948D"/>
                </a:solidFill>
                <a:latin typeface="Arial"/>
              </a:rPr>
              <a:t>EXAMPLE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78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9A948D"/>
                </a:solidFill>
                <a:latin typeface="Arial"/>
              </a:rPr>
              <a:t>END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6975" y="2182814"/>
            <a:ext cx="29664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Demand Check: rising demand in PCR, buying reason, location,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301579"/>
            <a:ext cx="12936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priority, expected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7783" y="2182814"/>
            <a:ext cx="15647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Clear demand before quoting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975" y="2487019"/>
            <a:ext cx="29255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Preliminary Drawing Review: unit function, critical components,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6975" y="2605784"/>
            <a:ext cx="1341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Application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7783" y="2487019"/>
            <a:ext cx="19706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Critical price / lead-time items 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6975" y="2791223"/>
            <a:ext cx="31934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Request Quote to UTE: full data, standard GP 13.6%, SLA, result into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2909988"/>
            <a:ext cx="5740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PCR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7783" y="2791223"/>
            <a:ext cx="163562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Quote ready for the sales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6975" y="3095428"/>
            <a:ext cx="31240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Close Won → CPO: PO / PJB in CRM, QFD, RFD = PO Interco due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3214193"/>
            <a:ext cx="11938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date, approval 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7783" y="3095428"/>
            <a:ext cx="11074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PO Interco issued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6975" y="3399633"/>
            <a:ext cx="310172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1B1B1B"/>
                </a:solidFill>
                <a:latin typeface="Arial"/>
              </a:rPr>
              <a:t>Monitoring: production follow-up, QFD vs actual, painting style, FAT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7783" y="3399633"/>
            <a:ext cx="2433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5E5A55"/>
                </a:solidFill>
                <a:latin typeface="Arial"/>
              </a:rPr>
              <a:t>Unit delivered on RFD; billing documents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025" y="3735187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3718613"/>
            <a:ext cx="8256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1B1B1B"/>
                </a:solidFill>
                <a:latin typeface="Arial"/>
              </a:rPr>
              <a:t>SIPOC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9250" y="4070086"/>
            <a:ext cx="9721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SUPPLIER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5396" y="4070086"/>
            <a:ext cx="73729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0700" y="4070086"/>
            <a:ext cx="9520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1914" y="4070086"/>
            <a:ext cx="8620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585" y="4070086"/>
            <a:ext cx="10458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CUSTOMER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4357026"/>
            <a:ext cx="12107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7A45"/>
                </a:solidFill>
                <a:latin typeface="Arial"/>
              </a:rPr>
              <a:t>SUPPLY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4299448"/>
            <a:ext cx="18746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BC / Sales, UTE (Patria), non-Patria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9250" y="4425356"/>
            <a:ext cx="120565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vendors, forwarders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45396" y="4299448"/>
            <a:ext cx="204073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PCR demand, preliminary drawing, PO /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5396" y="4425356"/>
            <a:ext cx="8009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PJB, QFD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0700" y="4299448"/>
            <a:ext cx="28592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Quote request → close won → PO Interco → production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0700" y="4425356"/>
            <a:ext cx="12881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monitoring → billing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1914" y="4362402"/>
            <a:ext cx="22465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Quotation, PO Interco, BAST / BAPB, invoice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7585" y="4299448"/>
            <a:ext cx="1485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Sales team, end customer,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47585" y="4425356"/>
            <a:ext cx="71303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300" y="4694568"/>
            <a:ext cx="10234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9250" y="4636990"/>
            <a:ext cx="20337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CRM, sales &amp; GP data, market sources,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9250" y="4762898"/>
            <a:ext cx="62998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UTPE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5396" y="4636990"/>
            <a:ext cx="18850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Market data, competitor specs, price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5396" y="4762898"/>
            <a:ext cx="1134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history, GP 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4636990"/>
            <a:ext cx="28877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Market study, price analysis, sales programs, GP &amp; PICA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4762898"/>
            <a:ext cx="7905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reporting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1914" y="4636990"/>
            <a:ext cx="222021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Market study, CRM price list, sales tools, GP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1914" y="4762898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/ PICA report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47585" y="4636990"/>
            <a:ext cx="14909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Management / BOD, Sales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7585" y="4762898"/>
            <a:ext cx="58846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2025" y="5038921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" y="5022347"/>
            <a:ext cx="415468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1B1B1B"/>
                </a:solidFill>
                <a:latin typeface="Arial"/>
              </a:rPr>
              <a:t>Dimensions, Working Relationships &amp; Work Challenges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925" y="5391346"/>
            <a:ext cx="10288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Dimensions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275" y="5565082"/>
            <a:ext cx="35605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Financial: </a:t>
            </a:r>
            <a:r>
              <a:rPr sz="712" b="0">
                <a:solidFill>
                  <a:srgbClr val="5E5A55"/>
                </a:solidFill>
                <a:latin typeface="Arial"/>
              </a:rPr>
              <a:t>non-Patria procurement budget, COGS per unit, target margin per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275" y="5700367"/>
            <a:ext cx="51583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275" y="5873751"/>
            <a:ext cx="34909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Non-financial: </a:t>
            </a:r>
            <a:r>
              <a:rPr sz="712" b="0">
                <a:solidFill>
                  <a:srgbClr val="5E5A55"/>
                </a:solidFill>
                <a:latin typeface="Arial"/>
              </a:rPr>
              <a:t>vendors &amp; customers, documents verified, report frequency,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275" y="6009036"/>
            <a:ext cx="1252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meetings &amp; site visits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5575" y="5391346"/>
            <a:ext cx="161731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Working Relationships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8925" y="5565082"/>
            <a:ext cx="33185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Internal: </a:t>
            </a:r>
            <a:r>
              <a:rPr sz="712" b="0">
                <a:solidFill>
                  <a:srgbClr val="5E5A55"/>
                </a:solidFill>
                <a:latin typeface="Arial"/>
              </a:rPr>
              <a:t>Sales &amp; Marketing, Warehouse, Finance &amp; Accounting, Legal,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925" y="5700367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Procurement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925" y="5873751"/>
            <a:ext cx="322837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1B1B1B"/>
                </a:solidFill>
                <a:latin typeface="Arial"/>
              </a:rPr>
              <a:t>External: </a:t>
            </a:r>
            <a:r>
              <a:rPr sz="712" b="0">
                <a:solidFill>
                  <a:srgbClr val="5E5A55"/>
                </a:solidFill>
                <a:latin typeface="Arial"/>
              </a:rPr>
              <a:t>customers, Patria &amp; non-Patria vendors, forwarders, UTPE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8225" y="5391346"/>
            <a:ext cx="13062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1B1B1B"/>
                </a:solidFill>
                <a:latin typeface="Arial"/>
              </a:rPr>
              <a:t>Work Challenges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575" y="5565082"/>
            <a:ext cx="26580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Push UTPE marketing to send unit price quotes quickly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575" y="5738467"/>
            <a:ext cx="349314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Push UTPE marketing and escalate to superiors when production problems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575" y="5873751"/>
            <a:ext cx="122664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threaten the timeline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575" y="6047136"/>
            <a:ext cx="32910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5E5A55"/>
                </a:solidFill>
                <a:latin typeface="Arial"/>
              </a:rPr>
              <a:t>Sudden customer quote requests that need a price in a very short 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13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69135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Job Description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1962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Strategic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4707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14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692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05 · JOB DESCRIPTION EXECUTION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4573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Strategic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89726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Pricing &amp; 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1903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Price &amp; market analysis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2137588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254829"/>
            <a:ext cx="164291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7515" y="1541145"/>
            <a:ext cx="182597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Market Study &amp; Program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751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8915" y="1907166"/>
            <a:ext cx="12427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Collect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915" y="2090225"/>
            <a:ext cx="14817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Map competitor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8915" y="2273284"/>
            <a:ext cx="19099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Analyse new product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915" y="2456342"/>
            <a:ext cx="18186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Write the market study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815" y="27171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815" y="2834366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Market size / share, segmentation,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0815" y="2969353"/>
            <a:ext cx="1370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positioning &amp; 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1105" y="1541145"/>
            <a:ext cx="152325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Market Program for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1105" y="1689675"/>
            <a:ext cx="1213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Support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2505" y="1907166"/>
            <a:ext cx="137606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Sales tools (pamphlet)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505" y="2090225"/>
            <a:ext cx="16707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Campaign, portfolio &amp; project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2505" y="2235184"/>
            <a:ext cx="82584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505" y="2418242"/>
            <a:ext cx="16319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Event support (mining expo)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4405" y="26790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4405" y="2796266"/>
            <a:ext cx="19152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4695" y="1600229"/>
            <a:ext cx="175721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Performance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6095" y="1876806"/>
            <a:ext cx="99804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PICA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6095" y="2059864"/>
            <a:ext cx="93702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Billing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7995" y="2320647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7995" y="2437888"/>
            <a:ext cx="1915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Input for performance evaluation &amp;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7995" y="2572875"/>
            <a:ext cx="14095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management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8285" y="1541145"/>
            <a:ext cx="1130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Innovation &amp;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828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9685" y="1907166"/>
            <a:ext cx="186556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Innovation project &amp;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1585" y="2167949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1585" y="2285190"/>
            <a:ext cx="205442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Innovation framework; field conditions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1585" y="2420177"/>
            <a:ext cx="9315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1B1B1B"/>
                </a:solidFill>
                <a:latin typeface="Arial"/>
              </a:rPr>
              <a:t>documented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" y="5950993"/>
            <a:ext cx="12102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" y="6093106"/>
            <a:ext cx="29028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Market study report, competitor mapping, sales tools, GP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6228093"/>
            <a:ext cx="1426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and performance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6612" y="5950993"/>
            <a:ext cx="176123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DEPARTMENTS INVOLVED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6612" y="6093106"/>
            <a:ext cx="29545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Sales, Marketing Communication, Marketing Parts, UTPE,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6612" y="6228093"/>
            <a:ext cx="73684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5950993"/>
            <a:ext cx="11130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CHALLENGES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0300" y="6093106"/>
            <a:ext cx="28661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Keeping market data current, validating competitor data,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300" y="6228093"/>
            <a:ext cx="99253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tight timelines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987" y="5950993"/>
            <a:ext cx="12453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987" y="6093106"/>
            <a:ext cx="29273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Standard report template, automate market data updates,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987" y="6228093"/>
            <a:ext cx="17985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review competitor data regularly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15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7A45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Supply Chain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2756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Demand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221560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Look at which demands are rising in 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59864"/>
            <a:ext cx="33382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Clarify with the Business Consultant why the customer is buying —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4823"/>
            <a:ext cx="21934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expansion, new business or 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87881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where the project is located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70940"/>
            <a:ext cx="26268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whether the customer wants it fast or 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753998"/>
            <a:ext cx="30438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the expected price and when the PO is likely to 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6575" y="1600229"/>
            <a:ext cx="20395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Preliminary Drawing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975" y="1876806"/>
            <a:ext cx="22767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what the unit does and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975" y="2059864"/>
            <a:ext cx="35441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the main components and find which ones are critical on price 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2204823"/>
            <a:ext cx="78685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lead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387881"/>
            <a:ext cx="3427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Consult Application Engineering to understand the unit in more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9225" y="1600229"/>
            <a:ext cx="169500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1B1B1B"/>
                </a:solidFill>
                <a:latin typeface="Arial"/>
              </a:rPr>
              <a:t>Request Quote to 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1876806"/>
            <a:ext cx="3282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Attach the preliminary drawing, expected price and lead time, end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021764"/>
            <a:ext cx="32718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customer name and expected delivery so UTE has the full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2204823"/>
            <a:ext cx="30645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the standard GP (13.6%, the price before negotiation)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2387881"/>
            <a:ext cx="24437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the SLA and escalate if it takes too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25" y="2570940"/>
            <a:ext cx="17653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Enter the quote result into PCR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16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7A45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1B1B1B"/>
                </a:solidFill>
                <a:latin typeface="Arial"/>
              </a:rPr>
              <a:t>Supply Chain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572958"/>
            <a:ext cx="164856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1B1B1B"/>
                </a:solidFill>
                <a:latin typeface="Arial"/>
              </a:rPr>
              <a:t>Close Won → CPO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57756"/>
            <a:ext cx="269334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Check the PO, preliminary drawing and PJB in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30843"/>
            <a:ext cx="48448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 dirty="0">
                <a:solidFill>
                  <a:srgbClr val="5E5A55"/>
                </a:solidFill>
                <a:latin typeface="Arial"/>
              </a:rPr>
              <a:t>Request QFD from UTE and collect special requests and painting style from the Business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3930"/>
            <a:ext cx="32771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The RFD date from QFD becomes the due date of the PO Interco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77017"/>
            <a:ext cx="46834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 dirty="0">
                <a:solidFill>
                  <a:srgbClr val="5E5A55"/>
                </a:solidFill>
                <a:latin typeface="Arial"/>
              </a:rPr>
              <a:t>Close won route: Sales Manager → Marketing Associate → Marketing Manager → GM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50104"/>
            <a:ext cx="39439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PO Interco approval: Marketing Manager → GM Marketing → Marketing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1572958"/>
            <a:ext cx="111903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1B1B1B"/>
                </a:solidFill>
                <a:latin typeface="Arial"/>
              </a:rP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857756"/>
            <a:ext cx="44615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 dirty="0">
                <a:solidFill>
                  <a:srgbClr val="5E5A55"/>
                </a:solidFill>
                <a:latin typeface="Arial"/>
              </a:rPr>
              <a:t>Follow production regularly and update sales — visit the plant or request photos from Nandu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030843"/>
            <a:ext cx="255478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Compare the QFD plan against actual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203930"/>
            <a:ext cx="315515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Escalate any production issue that puts the agreed RFD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2377017"/>
            <a:ext cx="31996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 dirty="0">
                <a:solidFill>
                  <a:srgbClr val="5E5A55"/>
                </a:solidFill>
                <a:latin typeface="Arial"/>
              </a:rPr>
              <a:t>Request and track painting style at least one month before RFD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550104"/>
            <a:ext cx="307910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5E5A55"/>
                </a:solidFill>
                <a:latin typeface="Arial"/>
              </a:rPr>
              <a:t>Join the customer FAT together with the Business 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291113"/>
            <a:ext cx="17235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INTERNAL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" y="4546002"/>
            <a:ext cx="20352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1B1B1B"/>
                </a:solidFill>
                <a:latin typeface="Arial"/>
              </a:rPr>
              <a:t>1. Pipeline–OSPO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4729263"/>
            <a:ext cx="182120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Build it and update it every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7" y="4546002"/>
            <a:ext cx="18826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1B1B1B"/>
                </a:solidFill>
                <a:latin typeface="Arial"/>
              </a:rPr>
              <a:t>2. Staging Pipeline in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4237" y="4729263"/>
            <a:ext cx="28569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 dirty="0">
                <a:solidFill>
                  <a:srgbClr val="5E5A55"/>
                </a:solidFill>
                <a:latin typeface="Arial"/>
              </a:rPr>
              <a:t>No preliminary yet means the deal is still far off; once there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4237" y="4857851"/>
            <a:ext cx="24882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is one, validate it and request a quote from UTPE.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546002"/>
            <a:ext cx="18366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1B1B1B"/>
                </a:solidFill>
                <a:latin typeface="Arial"/>
              </a:rPr>
              <a:t>3. Quote Price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729263"/>
            <a:ext cx="270718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Track the detail, average SLA and initial price of quotes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857851"/>
            <a:ext cx="81498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from 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762" y="4546002"/>
            <a:ext cx="142651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1B1B1B"/>
                </a:solidFill>
                <a:latin typeface="Arial"/>
              </a:rPr>
              <a:t>4. Billing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4729263"/>
            <a:ext cx="28057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Check whether it sits in production, UTE administration 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4857851"/>
            <a:ext cx="24794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5E5A55"/>
                </a:solidFill>
                <a:latin typeface="Arial"/>
              </a:rPr>
              <a:t>Triatra administration, and escalate any blockage.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148363"/>
            <a:ext cx="18262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9A948D"/>
                </a:solidFill>
                <a:latin typeface="Arial"/>
              </a:rPr>
              <a:t>BILLING PROCESS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907" y="5599146"/>
            <a:ext cx="8018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AT 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287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1922" y="5665821"/>
            <a:ext cx="9108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1B1B1B"/>
                </a:solidFill>
                <a:latin typeface="Arial"/>
              </a:rPr>
              <a:t>PO Interco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9998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404" y="5665821"/>
            <a:ext cx="6081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12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8306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424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453" y="5665821"/>
            <a:ext cx="5325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36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608" y="5665821"/>
            <a:ext cx="7944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Drawing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849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0117" y="5665821"/>
            <a:ext cx="62552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BOM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5616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9827" y="5665821"/>
            <a:ext cx="660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LPPB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273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3923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986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1348" y="5665821"/>
            <a:ext cx="94580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Fabrication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3173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297" y="5665821"/>
            <a:ext cx="8761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Assembly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2678" y="5533995"/>
            <a:ext cx="47163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4376" y="5665821"/>
            <a:ext cx="92838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QC 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7420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3560" y="5665821"/>
            <a:ext cx="80411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GR Teco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54544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953" y="5665821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GI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6794" y="6159335"/>
            <a:ext cx="10779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FFFFF"/>
                </a:solidFill>
                <a:latin typeface="Arial"/>
              </a:rPr>
              <a:t>AT TRIATRA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796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3194" y="6226010"/>
            <a:ext cx="5381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GR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511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34854" y="6226010"/>
            <a:ext cx="76914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1B1B1B"/>
                </a:solidFill>
                <a:latin typeface="Arial"/>
              </a:rPr>
              <a:t>DO / 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22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00712" y="6226010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GI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941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0649" y="6226010"/>
            <a:ext cx="6663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BAST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65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34883" y="6226010"/>
            <a:ext cx="11321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1B1B"/>
                </a:solidFill>
                <a:latin typeface="Arial"/>
              </a:rPr>
              <a:t>BAST approval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13715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9A948D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56999" y="6226010"/>
            <a:ext cx="7420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Invoice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9A948D"/>
                </a:solidFill>
                <a:latin typeface="Arial"/>
              </a:rPr>
              <a:t>NEDP MID YEAR REVIEW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17 </a:t>
            </a:r>
            <a:r>
              <a:rPr sz="727" b="0">
                <a:solidFill>
                  <a:srgbClr val="9A948D"/>
                </a:solidFill>
                <a:latin typeface="Arial"/>
              </a:rPr>
              <a:t>/ 31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ADC0C4CF-A5A1-48F1-7ECC-143587F78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51" t="12811" r="751" b="13732"/>
          <a:stretch>
            <a:fillRect/>
          </a:stretch>
        </p:blipFill>
        <p:spPr>
          <a:xfrm>
            <a:off x="6307732" y="2803839"/>
            <a:ext cx="1270557" cy="12913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136427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18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assets/logo_ferr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Indonesia truck-mounted knuckle boom crane import market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2023 – Aug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PT Triatra Sinergia Pratama  ·  October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6339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Market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19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SIZE BY CLASS · 2023 –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cranes are 41% of units but 64% of import value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Imported per Year by Class, 2023 – 2026 (2026 annualised)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417320"/>
          <a:ext cx="71323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Units and Import Value by Class, 2023 – 14 Aug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4407408"/>
          <a:ext cx="694944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Class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Max Lifting Moment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Light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≤ 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40.118.000.000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8 – 25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77.241.000.000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24%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Medium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25 –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118.328.000.000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Heavy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91.154.000.000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28%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Total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326.841.000.000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Average Units Sold per Year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67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+ Heavy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FBF7F2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 + Small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*2026 annualised (Jan – 14 Aug × 1.61); average of 4 years.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CARRY THE VALUE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790956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Bigger value per deal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Fewer units per year, but 64% of the money. Average import value per unit is Rp 803.000.000 vs Rp 311.000.000 for Light + Small.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for heavy-duty sectors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88% of Medium and Heavy cranes need a truck with GVW of 24 t or more. They work in mining, construction and heavy logistics.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 is a partial year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– 14 Aug 2026 shows only 12 Medium and 1 Heavy units, well below the 2025 pace. The cause is not yet known; import records may still be incomplete.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 (JISDOR, 23 Sep 2026). *2026 annualised: Jan – 14 Aug units × 1.61.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749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2011680" cy="6858000"/>
          </a:xfrm>
          <a:prstGeom prst="parallelogram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22376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96112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Focus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Who leads the Medium and Heavy classes in 2025, and with which models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is the latest full year in the data.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2025: Sany Palfinger leads Medium (47% of value), Palfinger leads Heavy (62%)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Scope: 2025 only (one full year), so figures are smaller than the 2023 – 2026 totals. Sany Palfinger is the Sany–Palfinger joint venture; its cranes are made in China.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9963" y="4012861"/>
            <a:ext cx="680314" cy="120227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300277" y="4012861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11480" y="3628813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2.714.000.000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6576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717243" y="3892635"/>
            <a:ext cx="680314" cy="120227"/>
          </a:xfrm>
          <a:prstGeom prst="rect">
            <a:avLst/>
          </a:prstGeom>
          <a:solidFill>
            <a:srgbClr val="F8D898"/>
          </a:solidFill>
          <a:ln w="12700">
            <a:solidFill>
              <a:srgbClr val="F8D89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97557" y="3892635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508760" y="3508587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4.869.000.000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46304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814523" y="3556000"/>
            <a:ext cx="680314" cy="336635"/>
          </a:xfrm>
          <a:prstGeom prst="rect">
            <a:avLst/>
          </a:prstGeom>
          <a:solidFill>
            <a:srgbClr val="F5CC73"/>
          </a:solidFill>
          <a:ln w="12700">
            <a:solidFill>
              <a:srgbClr val="F5CC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94837" y="3556000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2606040" y="317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7.197.000.000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256032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911803" y="2834640"/>
            <a:ext cx="680314" cy="7213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70332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13.226.000.000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365760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009083" y="2834640"/>
            <a:ext cx="680314" cy="1298448"/>
          </a:xfrm>
          <a:prstGeom prst="rect">
            <a:avLst/>
          </a:prstGeom>
          <a:solidFill>
            <a:srgbClr val="FBF7F2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480060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28.006.000.000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475488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08A00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Medium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11480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Sany 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13.226.000.000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7.197.000.000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4.869.000.000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464808" y="4095989"/>
            <a:ext cx="566928" cy="37099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7031736" y="4095989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 txBox="1"/>
          <p:nvPr/>
        </p:nvSpPr>
        <p:spPr>
          <a:xfrm>
            <a:off x="6291072" y="371194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1.235.000.000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6245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7379208" y="4058891"/>
            <a:ext cx="566928" cy="37099"/>
          </a:xfrm>
          <a:prstGeom prst="rect">
            <a:avLst/>
          </a:prstGeom>
          <a:solidFill>
            <a:srgbClr val="AFD1FD"/>
          </a:solidFill>
          <a:ln w="12700">
            <a:solidFill>
              <a:srgbClr val="AFD1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7946136" y="4058891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7205472" y="3674843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1.349.000.000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 txBox="1"/>
          <p:nvPr/>
        </p:nvSpPr>
        <p:spPr>
          <a:xfrm>
            <a:off x="71597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8293608" y="3910497"/>
            <a:ext cx="566928" cy="148394"/>
          </a:xfrm>
          <a:prstGeom prst="rect">
            <a:avLst/>
          </a:prstGeom>
          <a:solidFill>
            <a:srgbClr val="8FC0FC"/>
          </a:solidFill>
          <a:ln w="12700">
            <a:solidFill>
              <a:srgbClr val="8FC0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8860536" y="391049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4"/>
          <p:cNvSpPr txBox="1"/>
          <p:nvPr/>
        </p:nvSpPr>
        <p:spPr>
          <a:xfrm>
            <a:off x="8119872" y="352644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4.647.000.000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5"/>
          <p:cNvSpPr txBox="1"/>
          <p:nvPr/>
        </p:nvSpPr>
        <p:spPr>
          <a:xfrm>
            <a:off x="80741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9208008" y="3650807"/>
            <a:ext cx="566928" cy="259690"/>
          </a:xfrm>
          <a:prstGeom prst="rect">
            <a:avLst/>
          </a:prstGeom>
          <a:solidFill>
            <a:srgbClr val="6FAEFA"/>
          </a:solidFill>
          <a:ln w="12700">
            <a:solidFill>
              <a:srgbClr val="6FAE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9774936" y="365080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8"/>
          <p:cNvSpPr txBox="1"/>
          <p:nvPr/>
        </p:nvSpPr>
        <p:spPr>
          <a:xfrm>
            <a:off x="9034272" y="326675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11.065.000.000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 txBox="1"/>
          <p:nvPr/>
        </p:nvSpPr>
        <p:spPr>
          <a:xfrm>
            <a:off x="89885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10122408" y="2834640"/>
            <a:ext cx="566928" cy="816167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1"/>
          <p:cNvSpPr txBox="1"/>
          <p:nvPr/>
        </p:nvSpPr>
        <p:spPr>
          <a:xfrm>
            <a:off x="99486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29.738.000.000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2"/>
          <p:cNvSpPr txBox="1"/>
          <p:nvPr/>
        </p:nvSpPr>
        <p:spPr>
          <a:xfrm>
            <a:off x="99029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11036808" y="2834640"/>
            <a:ext cx="566928" cy="1298448"/>
          </a:xfrm>
          <a:prstGeom prst="rect">
            <a:avLst/>
          </a:prstGeom>
          <a:solidFill>
            <a:srgbClr val="FBF7F2"/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4"/>
          <p:cNvSpPr txBox="1"/>
          <p:nvPr/>
        </p:nvSpPr>
        <p:spPr>
          <a:xfrm>
            <a:off x="108630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48.034.000.000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10817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F9CF9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Heavy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7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2" name="Table 1"/>
          <p:cNvGraphicFramePr>
            <a:graphicFrameLocks noGrp="1"/>
          </p:cNvGraphicFramePr>
          <p:nvPr/>
        </p:nvGraphicFramePr>
        <p:xfrm>
          <a:off x="6291072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29.738.000.000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Amco Veba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11.065.000.000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4.647.000.000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MODELS OF THE 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2025, each leader sells one main model; PK 53002 alone is 63% of Heavy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SPK42502 ties SPK32080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Chart 1"/>
          <p:cNvGraphicFramePr/>
          <p:nvPr/>
        </p:nvGraphicFramePr>
        <p:xfrm>
          <a:off x="4306824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SQZ325.4 ties KSQZ300.3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3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Chart 2"/>
          <p:cNvGraphicFramePr/>
          <p:nvPr/>
        </p:nvGraphicFramePr>
        <p:xfrm>
          <a:off x="8156448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0" name="Shape 21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4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0" name="Chart 3"/>
          <p:cNvGraphicFramePr/>
          <p:nvPr/>
        </p:nvGraphicFramePr>
        <p:xfrm>
          <a:off x="457200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1" name="Text 30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Palfinger's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5" descr="assets/logo_amcoveb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6" name="Chart 4"/>
          <p:cNvGraphicFramePr/>
          <p:nvPr/>
        </p:nvGraphicFramePr>
        <p:xfrm>
          <a:off x="4306824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7" name="Text 34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Amco Veba's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6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Chart 5"/>
          <p:cNvGraphicFramePr/>
          <p:nvPr/>
        </p:nvGraphicFramePr>
        <p:xfrm>
          <a:off x="8156448" y="452628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53" name="Text 38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Tie on units; GSQZ880.6 highlighted (higher value). Both are 86 – 88 tm.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3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Top 3 brands by 2025 import value per class (previous slide); up to 3 models shown per brand; top model = most units, ties broken by import value.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88528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 dirty="0">
                <a:solidFill>
                  <a:srgbClr val="FFFFFF"/>
                </a:solidFill>
                <a:latin typeface="Arial"/>
              </a:rPr>
              <a:t>Price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833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23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1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25–35 tm: F.lli Ferrari is cheaper head to head on V825, X-CLX 388 and X-CLX 328, 41 of 111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1480" y="1325880"/>
          <a:ext cx="11365990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&gt;25–30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268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V825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25.6 tm · 31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KSQZ300.3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15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510.000.000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SQ12ZK3Q  </a:t>
                      </a:r>
                      <a:r>
                        <a:rPr lang="en-US" sz="1250" b="1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KSQZ300.4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&gt;30–35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FBR350R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32.8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SPK32080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33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530.000.000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V933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+30%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31.9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GSQZ330.4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780.000.000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32080 C  </a:t>
                      </a:r>
                      <a:r>
                        <a:rPr lang="en-US" sz="1250" b="1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388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−25%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34.3 tm · 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SQZ325.4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+98%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32.5 tm · 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328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30.3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1.120.000.000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40887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349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15630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30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87171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472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58713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055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02545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hia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369" y="1403604"/>
            <a:ext cx="502792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08A00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2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35–45 tm: F.lli Ferrari is cheaper head to head on PK 41002, 21 of 85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11480" y="1325880"/>
          <a:ext cx="11365992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&gt;35–40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66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7441C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37.7 tm · estimate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SPK36080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tm · 37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41002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−14%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38.4 tm · 21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+76%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SQZ400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&gt;40–45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746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43.4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SPK42502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42.5 tm · 18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V946B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44.2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531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776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9958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58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94385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60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08811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3042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08A00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HEAVY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Heavy, 45–90 tm: F.lli Ferrari is cheaper head to head on V950, X-HIPRO B58 and F485RA.2.23, 14 of 65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325880"/>
          <a:ext cx="11365992" cy="463829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&gt;45–50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FBR450R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1.350.000.000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V950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45.9 tm · 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1.990.000.000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GSQZ460.4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46 tm · 3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EFFER 525H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1.510.000.000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08A0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F485RA.2.23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1.610.000.000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&gt;50–55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9601CR A8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50.7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3.260.000.000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53002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50.1 tm · 39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1.760.000.000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X-HIPRO B58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50.93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3.370.000.000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&gt;55–60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FBR660R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58.8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2.030.000.000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9A948D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imports of this size in 2023 – 2026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&gt;60–65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9661C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63.2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Price not yet known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SPK61502  </a:t>
                      </a:r>
                      <a:r>
                        <a:rPr lang="en-US" sz="1000" i="1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price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61.5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1.400.000.000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&gt;70–75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990R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4.110.000.000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76002 EH D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71.6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&gt;80–85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88002 EH C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81.6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25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&gt;85–90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GSQZ880.6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+211%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2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GSQZ860.6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5A55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B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87883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760" y="1403604"/>
            <a:ext cx="784592" cy="173736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438454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55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9026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01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39597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hi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796" y="1403604"/>
            <a:ext cx="5027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90168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f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6036" y="1403604"/>
            <a:ext cx="685736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040739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assets/logo_sanypalfing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858" y="1403604"/>
            <a:ext cx="815517" cy="17373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1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3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08A00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820519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F.lli Ferrari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833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27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CRANE ADVANTAGE · JAN 2023 – 14 AUG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Stock the five F.lli Ferrari cranes that win on price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987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Against these competitor cranes, F.lli Ferrari is the same size or bigger and costs less.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&gt;25–30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&gt;30–35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&gt;35–40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&gt;40–45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&gt;45–50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&gt;50–55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&gt;60–65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&gt;70–75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&gt;80–85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&gt;85–90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11480" y="1874520"/>
            <a:ext cx="2141525" cy="425196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1148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1" descr="assets/photo_26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96" y="2029968"/>
            <a:ext cx="1885493" cy="18288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3949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268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185934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53949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539496" y="5102352"/>
            <a:ext cx="1885493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53949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53949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31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187634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717597" y="1874520"/>
            <a:ext cx="2141525" cy="425196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271759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2" descr="assets/photo_7441c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45613" y="2029968"/>
            <a:ext cx="1885493" cy="182880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284561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7441C*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416545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 txBox="1"/>
          <p:nvPr/>
        </p:nvSpPr>
        <p:spPr>
          <a:xfrm>
            <a:off x="284561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2845613" y="5102352"/>
            <a:ext cx="1885493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284561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/>
          <p:cNvSpPr txBox="1"/>
          <p:nvPr/>
        </p:nvSpPr>
        <p:spPr>
          <a:xfrm>
            <a:off x="284561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/>
          <p:cNvSpPr txBox="1"/>
          <p:nvPr/>
        </p:nvSpPr>
        <p:spPr>
          <a:xfrm>
            <a:off x="418246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−14%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5023714" y="1874520"/>
            <a:ext cx="2141525" cy="425196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5023714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3" descr="assets/photo_fbr450r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51730" y="2029968"/>
            <a:ext cx="1885493" cy="182880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5151730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FBR450R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/>
          <p:cNvSpPr txBox="1"/>
          <p:nvPr/>
        </p:nvSpPr>
        <p:spPr>
          <a:xfrm>
            <a:off x="6471575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7"/>
          <p:cNvSpPr txBox="1"/>
          <p:nvPr/>
        </p:nvSpPr>
        <p:spPr>
          <a:xfrm>
            <a:off x="5151730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5151730" y="5102352"/>
            <a:ext cx="1885493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9"/>
          <p:cNvSpPr txBox="1"/>
          <p:nvPr/>
        </p:nvSpPr>
        <p:spPr>
          <a:xfrm>
            <a:off x="5151730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0"/>
          <p:cNvSpPr txBox="1"/>
          <p:nvPr/>
        </p:nvSpPr>
        <p:spPr>
          <a:xfrm>
            <a:off x="5151730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1"/>
          <p:cNvSpPr txBox="1"/>
          <p:nvPr/>
        </p:nvSpPr>
        <p:spPr>
          <a:xfrm>
            <a:off x="6488582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2"/>
          <p:cNvSpPr txBox="1"/>
          <p:nvPr/>
        </p:nvSpPr>
        <p:spPr>
          <a:xfrm>
            <a:off x="5151730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3"/>
          <p:cNvSpPr txBox="1"/>
          <p:nvPr/>
        </p:nvSpPr>
        <p:spPr>
          <a:xfrm>
            <a:off x="6488582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−16%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7329830" y="1874520"/>
            <a:ext cx="2141525" cy="425196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5"/>
          <p:cNvSpPr/>
          <p:nvPr/>
        </p:nvSpPr>
        <p:spPr>
          <a:xfrm>
            <a:off x="732983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4" descr="assets/photo_fbr350r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7846" y="2029968"/>
            <a:ext cx="1885493" cy="182880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45784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FBR350R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7"/>
          <p:cNvSpPr txBox="1"/>
          <p:nvPr/>
        </p:nvSpPr>
        <p:spPr>
          <a:xfrm>
            <a:off x="877769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8"/>
          <p:cNvSpPr txBox="1"/>
          <p:nvPr/>
        </p:nvSpPr>
        <p:spPr>
          <a:xfrm>
            <a:off x="745784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7457846" y="5102352"/>
            <a:ext cx="1885493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0"/>
          <p:cNvSpPr txBox="1"/>
          <p:nvPr/>
        </p:nvSpPr>
        <p:spPr>
          <a:xfrm>
            <a:off x="745784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1"/>
          <p:cNvSpPr txBox="1"/>
          <p:nvPr/>
        </p:nvSpPr>
        <p:spPr>
          <a:xfrm>
            <a:off x="745784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2"/>
          <p:cNvSpPr txBox="1"/>
          <p:nvPr/>
        </p:nvSpPr>
        <p:spPr>
          <a:xfrm>
            <a:off x="879469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3"/>
          <p:cNvSpPr txBox="1"/>
          <p:nvPr/>
        </p:nvSpPr>
        <p:spPr>
          <a:xfrm>
            <a:off x="7457846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4"/>
          <p:cNvSpPr txBox="1"/>
          <p:nvPr/>
        </p:nvSpPr>
        <p:spPr>
          <a:xfrm>
            <a:off x="8794699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5"/>
          <p:cNvSpPr/>
          <p:nvPr/>
        </p:nvSpPr>
        <p:spPr>
          <a:xfrm>
            <a:off x="9635947" y="1874520"/>
            <a:ext cx="2141525" cy="4251960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6"/>
          <p:cNvSpPr/>
          <p:nvPr/>
        </p:nvSpPr>
        <p:spPr>
          <a:xfrm>
            <a:off x="963594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Image 5" descr="assets/photo_9601c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3963" y="2029968"/>
            <a:ext cx="1885493" cy="1828800"/>
          </a:xfrm>
          <a:prstGeom prst="rect">
            <a:avLst/>
          </a:prstGeom>
        </p:spPr>
      </p:pic>
      <p:sp>
        <p:nvSpPr>
          <p:cNvPr id="75" name="Text 67"/>
          <p:cNvSpPr txBox="1"/>
          <p:nvPr/>
        </p:nvSpPr>
        <p:spPr>
          <a:xfrm>
            <a:off x="976396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9601CR A8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8"/>
          <p:cNvSpPr txBox="1"/>
          <p:nvPr/>
        </p:nvSpPr>
        <p:spPr>
          <a:xfrm>
            <a:off x="1108380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69"/>
          <p:cNvSpPr txBox="1"/>
          <p:nvPr/>
        </p:nvSpPr>
        <p:spPr>
          <a:xfrm>
            <a:off x="976396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9763963" y="5102352"/>
            <a:ext cx="1885493" cy="0"/>
          </a:xfrm>
          <a:prstGeom prst="line">
            <a:avLst/>
          </a:prstGeom>
          <a:noFill/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1"/>
          <p:cNvSpPr txBox="1"/>
          <p:nvPr/>
        </p:nvSpPr>
        <p:spPr>
          <a:xfrm>
            <a:off x="976396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2"/>
          <p:cNvSpPr txBox="1"/>
          <p:nvPr/>
        </p:nvSpPr>
        <p:spPr>
          <a:xfrm>
            <a:off x="976396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3"/>
          <p:cNvSpPr txBox="1"/>
          <p:nvPr/>
        </p:nvSpPr>
        <p:spPr>
          <a:xfrm>
            <a:off x="1110081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7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won = Jan 2023 – 14 Aug 2026 imports of the rival model. Head to head = F.lli Ferrari is cheaper and not more than 2 tm smaller; ±0% is not counted. * 7441C price is an estimate.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667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266700"/>
            <a:ext cx="2857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781050"/>
            <a:ext cx="5715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FF5A1F"/>
                </a:solidFill>
                <a:latin typeface="Arial"/>
              </a:rPr>
              <a:t>PROJECT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33450"/>
            <a:ext cx="8572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1">
                <a:solidFill>
                  <a:srgbClr val="1B1B1B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72250"/>
            <a:ext cx="3810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9A948D"/>
                </a:solidFill>
                <a:latin typeface="Arial"/>
              </a:rPr>
              <a:t>F.LLI FERRARI MARKET STRATEGY · PROJECT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5725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9A948D"/>
                </a:solidFill>
                <a:latin typeface="Arial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0200"/>
            <a:ext cx="5715000" cy="246888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627632"/>
            <a:ext cx="5715000" cy="2194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B1B1B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130552"/>
            <a:ext cx="5715000" cy="932688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2157984"/>
            <a:ext cx="5715000" cy="9052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Triatra distributes F.lli Ferrari truck-mounted knuckle boom cranes in Indonesia. From Jan 2023 to Aug 2026, Indonesia imported 638 knuckle boom cranes; </a:t>
            </a:r>
            <a:r>
              <a:rPr sz="900" b="1">
                <a:solidFill>
                  <a:srgbClr val="1B1B1B"/>
                </a:solidFill>
                <a:latin typeface="Bahnschrift"/>
              </a:rPr>
              <a:t>Medium and Heavy cranes (above 25 tm) are 41% of units but 64% of import value</a:t>
            </a:r>
            <a:r>
              <a:rPr sz="900" b="0">
                <a:solidFill>
                  <a:srgbClr val="1B1B1B"/>
                </a:solidFill>
                <a:latin typeface="Bahnschrift"/>
              </a:rPr>
              <a:t>, led by Sany Palfinger and Palfinger. F.lli Ferrari is cheaper than European rivals in five tm classes, but costs more than Chinese brands. </a:t>
            </a:r>
            <a:r>
              <a:rPr sz="900" b="1">
                <a:solidFill>
                  <a:srgbClr val="1B1B1B"/>
                </a:solidFill>
                <a:latin typeface="Bahnschrift"/>
              </a:rPr>
              <a:t>This project is initiated to give a structured assessment of where F.lli Ferrari can compete, which cranes to stock and how to position them</a:t>
            </a:r>
            <a:r>
              <a:rPr sz="900" b="0">
                <a:solidFill>
                  <a:srgbClr val="1B1B1B"/>
                </a:solidFill>
                <a:latin typeface="Bahnschrift"/>
              </a:rPr>
              <a:t>, so the F.lli Ferrari line grows on a sound, data-based footing.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3346704"/>
            <a:ext cx="5715000" cy="530352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3374136"/>
            <a:ext cx="5715000" cy="502919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1.  Map Indonesia's knuckle boom crane market by Max Lifting Moment (tm) class, brand and model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2.  Compare F.lli Ferrari head to head with every competitor model on price, size and features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3.  Define which F.lli Ferrari cranes Triatra should stock and how to position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3931920"/>
            <a:ext cx="5715000" cy="393192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393192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114800"/>
            <a:ext cx="5715000" cy="20116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Bahnschrift"/>
              </a:rPr>
              <a:t>F.LLI FERRARI CRANES, MEDIUM AND HEAVY CLASS (&gt; 25 tm)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325112"/>
            <a:ext cx="5715000" cy="50292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1.  Market size &amp; brand leaders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2.  Price comparison by 5-tm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3.  F.lli Ferrari crane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81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4.  Stock &amp; positioning strategy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5.  Implementation timeline &amp; sales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KPI / METRIC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5111496"/>
            <a:ext cx="4206240" cy="804672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5111496"/>
            <a:ext cx="1472184" cy="804672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5138928"/>
            <a:ext cx="4206240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1.  Market map by tm class, brand and model (2023 – 2026)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2.  Competitor price and specification benchmark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3.  List of F.lli Ferrari cranes that win head to head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4.  Stock recommendation per 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5.  Implementation timeline and sales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38928"/>
            <a:ext cx="1472184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Delivered the F.lli Ferrari market strategy in March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SUPPORT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6199631"/>
            <a:ext cx="5715000" cy="27432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" y="6227064"/>
            <a:ext cx="5715000" cy="24688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Marketing and Sales; United Tractors Pandu Engineering (UTPE); F.lli Ferrari Italia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TIMEFRAME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1B1B"/>
                </a:solidFill>
                <a:latin typeface="Bahnschrift"/>
              </a:rPr>
              <a:t>Activity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B1B1B"/>
                </a:solidFill>
                <a:latin typeface="Bahnschrift"/>
              </a:rPr>
              <a:t>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B1B1B"/>
                </a:solidFill>
                <a:latin typeface="Bahnschrift"/>
              </a:rPr>
              <a:t>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Jun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Jul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Aug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Sep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Oct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Jan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Feb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5E5A55"/>
                </a:solidFill>
                <a:latin typeface="Bahnschrift"/>
              </a:rPr>
              <a:t>Mar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Planning – Framework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7304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0940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71508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233611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95713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95781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319918" y="213055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2020" y="213055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044123" y="213055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406225" y="213055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Observation, Study, and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47304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9406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871508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233611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595713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957816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319918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682020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044123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406225" y="2404872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Analysis and Formulation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47304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509406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871508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233611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595713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957816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319918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82020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44123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1406225" y="267919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Reporting and Evaluation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47304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509406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871508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233611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595713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57816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0319918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682020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044123" y="2953511"/>
            <a:ext cx="362102" cy="274320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406225" y="295351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BENEFIT OF PROJECT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72784" y="3529583"/>
            <a:ext cx="5495544" cy="41148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72784" y="3557015"/>
            <a:ext cx="5495544" cy="3840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Give Triatra a clear, data-based basis to choose which F.lli Ferrari cranes to stock, and to target the tm classes and customers where F.lli Ferrari wins on price and quality.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TEAM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72784" y="4224527"/>
            <a:ext cx="5495544" cy="841248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272784" y="4251959"/>
            <a:ext cx="1371600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Project Lead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B1B1B"/>
                </a:solidFill>
                <a:latin typeface="Bahnschrift"/>
              </a:rPr>
              <a:t>Team Member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8664" y="4251959"/>
            <a:ext cx="4169663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1B1B1B"/>
                </a:solidFill>
                <a:latin typeface="Bahnschrift"/>
              </a:rPr>
              <a:t>: Ricardo Tanada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1B1B1B"/>
                </a:solidFill>
                <a:latin typeface="Bahnschrift"/>
              </a:rPr>
              <a:t>: Ricardo Tanada</a:t>
            </a:r>
            <a:r>
              <a:rPr lang="en-US" sz="900" b="0" dirty="0">
                <a:solidFill>
                  <a:srgbClr val="1B1B1B"/>
                </a:solidFill>
                <a:latin typeface="Bahnschrift"/>
              </a:rPr>
              <a:t>/Ignatius </a:t>
            </a:r>
            <a:r>
              <a:rPr lang="en-US" sz="900" b="0" dirty="0" err="1">
                <a:solidFill>
                  <a:srgbClr val="1B1B1B"/>
                </a:solidFill>
                <a:latin typeface="Bahnschrift"/>
              </a:rPr>
              <a:t>Indrawan</a:t>
            </a:r>
            <a:endParaRPr sz="900" b="0" dirty="0">
              <a:solidFill>
                <a:srgbClr val="1B1B1B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1B1B1B"/>
                </a:solidFill>
                <a:latin typeface="Bahnschrift"/>
              </a:rPr>
              <a:t>: Ignatius </a:t>
            </a:r>
            <a:r>
              <a:rPr sz="900" b="0" dirty="0" err="1">
                <a:solidFill>
                  <a:srgbClr val="1B1B1B"/>
                </a:solidFill>
                <a:latin typeface="Bahnschrift"/>
              </a:rPr>
              <a:t>Indrawan</a:t>
            </a:r>
            <a:endParaRPr sz="900" b="0" dirty="0">
              <a:solidFill>
                <a:srgbClr val="1B1B1B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1B1B1B"/>
                </a:solidFill>
                <a:latin typeface="Bahnschrift"/>
              </a:rPr>
              <a:t>: Tiberias </a:t>
            </a:r>
            <a:r>
              <a:rPr sz="900" b="0" dirty="0" err="1">
                <a:solidFill>
                  <a:srgbClr val="1B1B1B"/>
                </a:solidFill>
                <a:latin typeface="Bahnschrift"/>
              </a:rPr>
              <a:t>Krisgaharu</a:t>
            </a:r>
            <a:r>
              <a:rPr sz="900" b="0" dirty="0">
                <a:solidFill>
                  <a:srgbClr val="1B1B1B"/>
                </a:solidFill>
                <a:latin typeface="Bahnschrift"/>
              </a:rPr>
              <a:t> Simu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1B1B1B"/>
                </a:solidFill>
                <a:latin typeface="Bahnschrift"/>
              </a:rPr>
              <a:t>: Yohannes Eurico </a:t>
            </a:r>
            <a:r>
              <a:rPr sz="900" b="0" dirty="0" err="1">
                <a:solidFill>
                  <a:srgbClr val="1B1B1B"/>
                </a:solidFill>
                <a:latin typeface="Bahnschrift"/>
              </a:rPr>
              <a:t>Christanto</a:t>
            </a:r>
            <a:r>
              <a:rPr sz="900" b="0" dirty="0">
                <a:solidFill>
                  <a:srgbClr val="1B1B1B"/>
                </a:solidFill>
                <a:latin typeface="Bahnschrift"/>
              </a:rPr>
              <a:t>, Muhammad Fawwaz </a:t>
            </a:r>
            <a:r>
              <a:rPr sz="900" b="0" dirty="0" err="1">
                <a:solidFill>
                  <a:srgbClr val="1B1B1B"/>
                </a:solidFill>
                <a:latin typeface="Bahnschrift"/>
              </a:rPr>
              <a:t>Jauharin</a:t>
            </a:r>
            <a:endParaRPr sz="900" b="0" dirty="0">
              <a:solidFill>
                <a:srgbClr val="1B1B1B"/>
              </a:solidFill>
              <a:latin typeface="Bahnschrift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APPROVAL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72784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1B1B"/>
                </a:solidFill>
                <a:latin typeface="Bahnschrift"/>
              </a:rPr>
              <a:t>Lead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1B1B1B"/>
                </a:solidFill>
                <a:latin typeface="Bahnschrift"/>
              </a:rPr>
              <a:t>Date: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72784" y="5715000"/>
            <a:ext cx="1319022" cy="704087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1B1B"/>
                </a:solidFill>
                <a:latin typeface="Bahnschrift"/>
              </a:rPr>
              <a:t>Tiberias Krisgaharu Simu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64958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1B1B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1B1B1B"/>
                </a:solidFill>
                <a:latin typeface="Bahnschrift"/>
              </a:rPr>
              <a:t>Date: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4958" y="5715000"/>
            <a:ext cx="1319022" cy="704087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1B1B"/>
                </a:solidFill>
                <a:latin typeface="Bahnschrift"/>
              </a:rPr>
              <a:t>Ignatius Indrawan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7132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1B1B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1B1B1B"/>
                </a:solidFill>
                <a:latin typeface="Bahnschrift"/>
              </a:rPr>
              <a:t>Date: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57132" y="5715000"/>
            <a:ext cx="1319022" cy="704087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1B1B"/>
                </a:solidFill>
                <a:latin typeface="Bahnschrift"/>
              </a:rPr>
              <a:t>Ricardo Tanada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49306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1B1B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1B1B1B"/>
                </a:solidFill>
                <a:latin typeface="Bahnschrift"/>
              </a:rPr>
              <a:t>Date: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49306" y="5715000"/>
            <a:ext cx="1319022" cy="704087"/>
          </a:xfrm>
          <a:prstGeom prst="rect">
            <a:avLst/>
          </a:prstGeom>
          <a:noFill/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solidFill>
            <a:srgbClr val="FBF7F2"/>
          </a:solidFill>
          <a:ln w="9525">
            <a:solidFill>
              <a:srgbClr val="EC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1B1B"/>
                </a:solidFill>
                <a:latin typeface="Bahnschrift"/>
              </a:rPr>
              <a:t>Ricardo Tanada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7491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833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FFF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FFFF"/>
                </a:solidFill>
                <a:latin typeface="Arial"/>
              </a:rPr>
              <a:t>29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MEDIUM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Medium: the competitor models in the price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spk3208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SPK32080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33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spk3608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SPK36080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 tm · 37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spk425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SPK42502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42.5 tm · 18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825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25.6 tm · 31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v933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V933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31.9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v946b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V946B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44.2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ksqz30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15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sq12zk3q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SQ12ZK3Q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ksqz3004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sqz325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SQZ325.4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32.5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gsqz330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GSQZ330.4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33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sqz365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ksqz3654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ksqz400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gsqz400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sqz400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SQZ400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pk32080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32080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pk41002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38.4 tm · 21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xclx328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42"/>
          <p:cNvSpPr/>
          <p:nvPr/>
        </p:nvSpPr>
        <p:spPr>
          <a:xfrm>
            <a:off x="8614954" y="4133088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20" descr="assets/photo_xclx388.jp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14954" y="4133088"/>
            <a:ext cx="1521823" cy="960120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8688106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34.3 tm · 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HEAVY AND F.LLI FERRARI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competitor models and the F.lli Ferrari models in the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pk5300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53002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50.1 tm · 39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pk76002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76002 EH 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71.6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pk880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88002 EH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81.6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95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45.9 tm · 12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gsqz46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GSQZ460.4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46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gsqz860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GSQZ860.6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gsqz88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GSQZ880.6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effer525h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EFFER 525H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xhipro_b58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50.93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f485ra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47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FBF7F2"/>
          </a:solidFill>
          <a:ln w="12700">
            <a:solidFill>
              <a:srgbClr val="ECE6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spk61502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SPK61502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61.5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268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268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fbr350r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FBR350R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7441c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7441C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746r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746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43.4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fbr450r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FBR450R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9601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9601CR A8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fbr660r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FBR660R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58.8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FFF1EA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990r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990R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E5A55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9A948D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5935</Words>
  <Application>Microsoft Office PowerPoint</Application>
  <PresentationFormat>Widescreen</PresentationFormat>
  <Paragraphs>1085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Bahnschrift</vt:lpstr>
      <vt:lpstr>Calibri</vt:lpstr>
      <vt:lpstr>Neue Haas Grotesk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TIBERIAS-TRIATRA</dc:creator>
  <cp:keywords/>
  <dc:description>generated using python-pptx</dc:description>
  <cp:lastModifiedBy>TIBERIAS KRISGAHARU SIMU - TRIATRA</cp:lastModifiedBy>
  <cp:revision>2</cp:revision>
  <dcterms:created xsi:type="dcterms:W3CDTF">2013-01-27T09:14:16Z</dcterms:created>
  <dcterms:modified xsi:type="dcterms:W3CDTF">2026-10-08T01:44:50Z</dcterms:modified>
  <cp:category/>
</cp:coreProperties>
</file>