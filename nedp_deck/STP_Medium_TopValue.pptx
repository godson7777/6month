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ia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1450"/>
            <a:ext cx="40496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0" y="209550"/>
            <a:ext cx="49911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00">
                <a:solidFill>
                  <a:srgbClr val="697177"/>
                </a:solidFill>
                <a:latin typeface="Arial"/>
              </a:rPr>
              <a:t>NEDP 6-MONTH REVIEW  ·  STP · MEDIUM CLASS 25–45 TM · 1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47625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3400" y="66675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200">
                <a:solidFill>
                  <a:srgbClr val="697177"/>
                </a:solidFill>
                <a:latin typeface="Arial"/>
              </a:rPr>
              <a:t>STP · MEDIUM CLASS 25–45 TM · 1 /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33450"/>
            <a:ext cx="11144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1181C"/>
                </a:solidFill>
                <a:latin typeface="Georgia"/>
              </a:rPr>
              <a:t>Medium: target the value leaders with </a:t>
            </a:r>
            <a:r>
              <a:rPr sz="2600" b="1" i="1">
                <a:solidFill>
                  <a:srgbClr val="076932"/>
                </a:solidFill>
                <a:latin typeface="Georgia"/>
              </a:rPr>
              <a:t>FERRARI</a:t>
            </a:r>
            <a:r>
              <a:rPr sz="2600" b="0" i="0">
                <a:solidFill>
                  <a:srgbClr val="11181C"/>
                </a:solidFill>
                <a:latin typeface="Georgia"/>
              </a:rPr>
              <a:t> at 25–40 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67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Medium class split into 4 tm tiers. 30–40 tm holds 68% of Medium value (143 of 218 units).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53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86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86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Top 1 model by value in each tier: Amco Veba V825 (25–30); HIAB X-CLX 388 (30–35); Palfinger PK 41002 (35–40); Sany Palfinger SPK42502 (40–45).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524000"/>
            <a:ext cx="3619500" cy="1028700"/>
          </a:xfrm>
          <a:prstGeom prst="roundRect">
            <a:avLst>
              <a:gd name="adj" fmla="val 8000"/>
            </a:avLst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50" y="1638300"/>
            <a:ext cx="33528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076932"/>
                </a:solidFill>
                <a:latin typeface="Arial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50" y="1771650"/>
            <a:ext cx="33528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1181C"/>
                </a:solidFill>
                <a:latin typeface="Arial"/>
              </a:rPr>
              <a:t>Ferrari is 14%–25% cheaper than the value leader at 25–40 tm (86% of Medium value). At 40–45 tm, 746 A4 is 48% above SPK42502.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3400" y="2686050"/>
          <a:ext cx="11125200" cy="31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/>
                <a:gridCol w="495300"/>
                <a:gridCol w="704850"/>
                <a:gridCol w="1295400"/>
                <a:gridCol w="1104900"/>
                <a:gridCol w="476250"/>
                <a:gridCol w="571500"/>
                <a:gridCol w="1428750"/>
                <a:gridCol w="952500"/>
                <a:gridCol w="1200150"/>
                <a:gridCol w="2190750"/>
              </a:tblGrid>
              <a:tr h="228600">
                <a:tc gridSpan="1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Medium Class Crane</a:t>
                      </a:r>
                    </a:p>
                  </a:txBody>
                  <a:tcPr anchor="ctr" marL="38100" marR="38100" marT="9525" marB="9525">
                    <a:solidFill>
                      <a:srgbClr val="11181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row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TM Class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Market Size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Top 1 Competitor (by value)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Challenger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% of Medium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Qty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Value share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Brand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1181C"/>
                          </a:solidFill>
                          <a:latin typeface="Arial"/>
                        </a:rPr>
                        <a:t>Price/Unit</a:t>
                      </a:r>
                    </a:p>
                  </a:txBody>
                  <a:tcPr anchor="ctr" marL="38100" marR="38100" marT="9525" marB="9525">
                    <a:solidFill>
                      <a:srgbClr val="F0F2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25 – 30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Amco Veba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V825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650.000.000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268 A4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500.000.000  (−23%)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30 – 35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HIAB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X-CLX 388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1.460.000.000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FBR350R A4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1.090.000.000  (−25%)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35 – 40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PK 41002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1.440.000.000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7441C*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1.240.000.000  (−14%)</a:t>
                      </a:r>
                    </a:p>
                  </a:txBody>
                  <a:tcPr anchor="ctr" marL="38100" marR="38100" marT="9525" marB="9525">
                    <a:solidFill>
                      <a:srgbClr val="E1F9E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40 – 45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Sany Palfinger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SPK42502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960.000.000</a:t>
                      </a:r>
                    </a:p>
                  </a:txBody>
                  <a:tcPr anchor="ctr" marL="38100" marR="38100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1C"/>
                          </a:solidFill>
                          <a:latin typeface="Arial"/>
                        </a:rPr>
                        <a:t>Ferrari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746 A4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1C"/>
                          </a:solidFill>
                          <a:latin typeface="Arial"/>
                        </a:rPr>
                        <a:t>Rp 1.420.000.000  (+48%)</a:t>
                      </a:r>
                    </a:p>
                  </a:txBody>
                  <a:tcPr anchor="ctr" marL="38100" marR="38100" marT="9525" marB="9525">
                    <a:solidFill>
                      <a:srgbClr val="FEEBE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3400" y="6115050"/>
            <a:ext cx="11125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697177"/>
                </a:solidFill>
                <a:latin typeface="Arial"/>
              </a:rPr>
              <a:t>Period Jan 2023 – 14 Aug 2026; source Crane Market GVW Pairing v11 (Noir). Tier by original max lifting moment; model variants merged (e.g. SPK32080 = SPK32080, B, C). % of Medium = tier import value / Medium import value. Top 1 = model with the highest import value in the tier; Share = model value / tier value. Competitor price = highest import unit price × Rp 17.803/USD (JISDOR 23 Sep 2026) × (1 + duty: 0% China ACFTA, 5% Europe) × (1 + PPN 11% + PPh 22 2.5%), before distributor margin. Ferrari = TSP price list Rev1 Jun 2026 less 13.6% TSP margin and 3% warranty; *7441C estimate. Fill: green = Ferrari cheaper, yellow = up to +30%, red = over +30%.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6553200"/>
            <a:ext cx="11125200" cy="0"/>
          </a:xfrm>
          <a:prstGeom prst="line">
            <a:avLst/>
          </a:prstGeom>
          <a:ln w="12700">
            <a:solidFill>
              <a:srgbClr val="E6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6610350"/>
            <a:ext cx="57150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15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0" y="6610350"/>
            <a:ext cx="1181100" cy="114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1" i="0">
                <a:solidFill>
                  <a:srgbClr val="889096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