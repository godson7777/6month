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0000"/>
                        </a:solidFill>
                        <a:latin typeface="Neue Haas Grotesk Text Pro"/>
                      </a:rPr>
                      <a:t>109 (41%)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0000"/>
                        </a:solidFill>
                        <a:latin typeface="Neue Haas Grotesk Text Pro"/>
                      </a:rPr>
                      <a:t>52 (27%)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0000"/>
                        </a:solidFill>
                        <a:latin typeface="Neue Haas Grotesk Text Pro"/>
                      </a:rPr>
                      <a:t>53 (23%)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0000"/>
                        </a:solidFill>
                        <a:latin typeface="Neue Haas Grotesk Text Pro"/>
                      </a:rPr>
                      <a:t>34 (43%)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0000"/>
                        </a:solidFill>
                        <a:latin typeface="Neue Haas Grotesk Text Pro"/>
                      </a:rPr>
                      <a:t>248 (32%)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  <c:pt idx="4">
                  <c:v>Total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</c:v>
                </c:pt>
                <c:pt idx="1">
                  <c:v>52</c:v>
                </c:pt>
                <c:pt idx="2">
                  <c:v>53</c:v>
                </c:pt>
                <c:pt idx="3">
                  <c:v>34</c:v>
                </c:pt>
                <c:pt idx="4">
                  <c:v>248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A6A6A6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0000"/>
                        </a:solidFill>
                        <a:latin typeface="Neue Haas Grotesk Text Pro"/>
                      </a:rPr>
                      <a:t>68 (25%)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0000"/>
                        </a:solidFill>
                        <a:latin typeface="Neue Haas Grotesk Text Pro"/>
                      </a:rPr>
                      <a:t>52 (27%)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0000"/>
                        </a:solidFill>
                        <a:latin typeface="Neue Haas Grotesk Text Pro"/>
                      </a:rPr>
                      <a:t>75 (33%)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0000"/>
                        </a:solidFill>
                        <a:latin typeface="Neue Haas Grotesk Text Pro"/>
                      </a:rPr>
                      <a:t>28 (35%)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000000"/>
                        </a:solidFill>
                        <a:latin typeface="Neue Haas Grotesk Text Pro"/>
                      </a:rPr>
                      <a:t>223 (29%)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  <c:pt idx="4">
                  <c:v>Total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</c:v>
                </c:pt>
                <c:pt idx="1">
                  <c:v>52</c:v>
                </c:pt>
                <c:pt idx="2">
                  <c:v>75</c:v>
                </c:pt>
                <c:pt idx="3">
                  <c:v>28</c:v>
                </c:pt>
                <c:pt idx="4">
                  <c:v>223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595959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Neue Haas Grotesk Text Pro"/>
                      </a:rPr>
                      <a:t>74 (28%)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Neue Haas Grotesk Text Pro"/>
                      </a:rPr>
                      <a:t>70 (37%)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Neue Haas Grotesk Text Pro"/>
                      </a:rPr>
                      <a:t>60 (26%)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Neue Haas Grotesk Text Pro"/>
                      </a:rPr>
                      <a:t>14 (18%)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Neue Haas Grotesk Text Pro"/>
                      </a:rPr>
                      <a:t>218 (29%)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  <c:pt idx="4">
                  <c:v>Total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74</c:v>
                </c:pt>
                <c:pt idx="1">
                  <c:v>70</c:v>
                </c:pt>
                <c:pt idx="2">
                  <c:v>60</c:v>
                </c:pt>
                <c:pt idx="3">
                  <c:v>14</c:v>
                </c:pt>
                <c:pt idx="4">
                  <c:v>218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</c:v>
                </c:pt>
              </c:strCache>
            </c:strRef>
          </c:tx>
          <c:spPr>
            <a:solidFill>
              <a:srgbClr val="000000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Neue Haas Grotesk Text Pro"/>
                      </a:rPr>
                      <a:t>16 (6%)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Neue Haas Grotesk Text Pro"/>
                      </a:rPr>
                      <a:t>17 (9%)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Neue Haas Grotesk Text Pro"/>
                      </a:rPr>
                      <a:t>39 (17%)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Neue Haas Grotesk Text Pro"/>
                      </a:rPr>
                      <a:t>3 (4%)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Neue Haas Grotesk Text Pro"/>
                      </a:rPr>
                      <a:t>75 (10%)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  <c:pt idx="4">
                  <c:v>Total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16</c:v>
                </c:pt>
                <c:pt idx="1">
                  <c:v>17</c:v>
                </c:pt>
                <c:pt idx="2">
                  <c:v>39</c:v>
                </c:pt>
                <c:pt idx="3">
                  <c:v>3</c:v>
                </c:pt>
                <c:pt idx="4">
                  <c:v>75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 b="1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Neue Haas Grotesk Text Pr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Light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000000"/>
                        </a:solidFill>
                        <a:latin typeface="Neue Haas Grotesk Text Pro"/>
                      </a:rPr>
                      <a:t>32%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000000"/>
                        </a:solidFill>
                        <a:latin typeface="Neue Haas Grotesk Text Pro"/>
                      </a:rPr>
                      <a:t>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</c:v>
                </c:pt>
                <c:pt idx="1">
                  <c:v>Value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248</c:v>
                </c:pt>
                <c:pt idx="1">
                  <c:v>3019088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A6A6A6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000000"/>
                        </a:solidFill>
                        <a:latin typeface="Neue Haas Grotesk Text Pro"/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000000"/>
                        </a:solidFill>
                        <a:latin typeface="Neue Haas Grotesk Text Pro"/>
                      </a:rPr>
                      <a:t>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</c:v>
                </c:pt>
                <c:pt idx="1">
                  <c:v>Value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223</c:v>
                </c:pt>
                <c:pt idx="1">
                  <c:v>5037297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595959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FFFFFF"/>
                        </a:solidFill>
                        <a:latin typeface="Neue Haas Grotesk Text Pro"/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FFFFFF"/>
                        </a:solidFill>
                        <a:latin typeface="Neue Haas Grotesk Text Pro"/>
                      </a:rPr>
                      <a:t>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</c:v>
                </c:pt>
                <c:pt idx="1">
                  <c:v>Value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218</c:v>
                </c:pt>
                <c:pt idx="1">
                  <c:v>7304431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</c:v>
                </c:pt>
              </c:strCache>
            </c:strRef>
          </c:tx>
          <c:spPr>
            <a:solidFill>
              <a:srgbClr val="000000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FFFFFF"/>
                        </a:solidFill>
                        <a:latin typeface="Neue Haas Grotesk Text Pro"/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400" b="1">
                        <a:solidFill>
                          <a:srgbClr val="FFFFFF"/>
                        </a:solidFill>
                        <a:latin typeface="Neue Haas Grotesk Text Pro"/>
                      </a:rPr>
                      <a:t>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Units</c:v>
                </c:pt>
                <c:pt idx="1">
                  <c:v>Value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75</c:v>
                </c:pt>
                <c:pt idx="1">
                  <c:v>5712582</c:v>
                </c:pt>
              </c:numCache>
            </c:numRef>
          </c:val>
        </c:ser>
        <c:gapWidth val="9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 b="1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Neue Haas Grotesk Text Pr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2900" y="323850"/>
            <a:ext cx="11506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Neue Haas Grotesk Text Pro"/>
              </a:rPr>
              <a:t>Heavy is only 75 of 764 units sold (10%)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" y="876300"/>
            <a:ext cx="1150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Neue Haas Grotesk Text Pro"/>
              </a:rPr>
              <a:t>Crane import transactions by class, 2023 – 2026* (100% = 764 units)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" y="1238250"/>
          <a:ext cx="5334000" cy="5048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05500" y="1428750"/>
          <a:ext cx="59436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62000"/>
                <a:gridCol w="762000"/>
                <a:gridCol w="762000"/>
                <a:gridCol w="762000"/>
                <a:gridCol w="1104900"/>
                <a:gridCol w="876300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Class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2023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2024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2025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2026*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Total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Share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Light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32%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Small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74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70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218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Heavy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75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10%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191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764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05500" y="4191000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Neue Haas Grotesk Text Pro"/>
              </a:rPr>
              <a:t>293 units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0" y="4686300"/>
            <a:ext cx="2857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Neue Haas Grotesk Text Pro"/>
              </a:rPr>
              <a:t>Medium + Heavy = 38% of 764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4191000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Neue Haas Grotesk Text Pro"/>
              </a:rPr>
              <a:t>75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4686300"/>
            <a:ext cx="2857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Neue Haas Grotesk Text Pro"/>
              </a:rPr>
              <a:t>Heavy = 10% of units; peak 39 units in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" y="6438900"/>
            <a:ext cx="11506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*2026 = partial year (to Aug). Source: Indonesia import records, knuckle boom cranes; Txn = import transactions; value in USD.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2900" y="323850"/>
            <a:ext cx="1150620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Neue Haas Grotesk Text Pro"/>
              </a:rPr>
              <a:t>Heavy is 10% of units but 27% of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" y="876300"/>
            <a:ext cx="11506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Neue Haas Grotesk Text Pro"/>
              </a:rPr>
              <a:t>Crane import value by class, 2023 – 2026* (100% = $21,07 M)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42900" y="1238250"/>
          <a:ext cx="5334000" cy="5048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05500" y="1428750"/>
          <a:ext cx="59436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62000"/>
                <a:gridCol w="762000"/>
                <a:gridCol w="762000"/>
                <a:gridCol w="762000"/>
                <a:gridCol w="1104900"/>
                <a:gridCol w="876300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Class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2023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2024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2025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2026*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Total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Share</a:t>
                      </a:r>
                    </a:p>
                  </a:txBody>
                  <a:tcPr anchor="ctr">
                    <a:solidFill>
                      <a:srgbClr val="000000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Light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$1,32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$0,84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$0,55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$0,31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$3,02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14%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Small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$1,54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$1,13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$1,78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$0,60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$5,04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Medium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$2,45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$2,70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$1,76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$0,39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$7,30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35%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Heavy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$1,10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$1,44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$2,95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$0,23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$5,71 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27%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Total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$6,40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$6,11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$7,04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$1,52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$21,07 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05500" y="4191000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Neue Haas Grotesk Text Pro"/>
              </a:rPr>
              <a:t>62% of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0" y="4686300"/>
            <a:ext cx="2857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Neue Haas Grotesk Text Pro"/>
              </a:rPr>
              <a:t>Medium + Heavy = $13,02 M from 38% of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4191000"/>
            <a:ext cx="285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Neue Haas Grotesk Text Pro"/>
              </a:rPr>
              <a:t>6,3x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4686300"/>
            <a:ext cx="2857500" cy="66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Neue Haas Grotesk Text Pro"/>
              </a:rPr>
              <a:t>Heavy value per unit vs 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" y="6438900"/>
            <a:ext cx="11506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*2026 = partial year (to Aug). Source: Indonesia import records, knuckle boom cranes; Txn = import transactions; value in USD.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