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1030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NEDP </a:t>
            </a:r>
            <a:r>
              <a:rPr sz="727" b="0">
                <a:solidFill>
                  <a:srgbClr val="FF5A1F"/>
                </a:solidFill>
                <a:latin typeface="Arial"/>
              </a:rPr>
              <a:t>MID </a:t>
            </a:r>
            <a:r>
              <a:rPr sz="727" b="0">
                <a:solidFill>
                  <a:srgbClr val="FF5A1F"/>
                </a:solidFill>
                <a:latin typeface="Arial"/>
              </a:rPr>
              <a:t>YEAR </a:t>
            </a:r>
            <a:r>
              <a:rPr sz="727" b="0">
                <a:solidFill>
                  <a:srgbClr val="FF5A1F"/>
                </a:solidFill>
                <a:latin typeface="Arial"/>
              </a:rPr>
              <a:t>REVIEW </a:t>
            </a:r>
            <a:r>
              <a:rPr sz="727" b="0">
                <a:solidFill>
                  <a:srgbClr val="FF5A1F"/>
                </a:solidFill>
                <a:latin typeface="Arial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133201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125" y="1513141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571" y="1579435"/>
            <a:ext cx="219104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82" b="1">
                <a:solidFill>
                  <a:srgbClr val="F4F1EE"/>
                </a:solidFill>
                <a:latin typeface="Arial"/>
              </a:rPr>
              <a:t>Personal </a:t>
            </a:r>
            <a:r>
              <a:rPr sz="1382" b="1">
                <a:solidFill>
                  <a:srgbClr val="F4F1EE"/>
                </a:solidFill>
                <a:latin typeface="Arial"/>
              </a:rPr>
              <a:t>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122741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6571" y="2189035"/>
            <a:ext cx="181912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82" b="1">
                <a:solidFill>
                  <a:srgbClr val="F4F1EE"/>
                </a:solidFill>
                <a:latin typeface="Arial"/>
              </a:rPr>
              <a:t>Company </a:t>
            </a:r>
            <a:r>
              <a:rPr sz="1382" b="1">
                <a:solidFill>
                  <a:srgbClr val="F4F1EE"/>
                </a:solidFill>
                <a:latin typeface="Arial"/>
              </a:rPr>
              <a:t>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125" y="2732341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6571" y="2798635"/>
            <a:ext cx="161791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82" b="1">
                <a:solidFill>
                  <a:srgbClr val="F4F1EE"/>
                </a:solidFill>
                <a:latin typeface="Arial"/>
              </a:rPr>
              <a:t>Site </a:t>
            </a:r>
            <a:r>
              <a:rPr sz="1382" b="1">
                <a:solidFill>
                  <a:srgbClr val="F4F1EE"/>
                </a:solidFill>
                <a:latin typeface="Arial"/>
              </a:rPr>
              <a:t>Operation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" y="3341941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6571" y="3408235"/>
            <a:ext cx="200992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82" b="1">
                <a:solidFill>
                  <a:srgbClr val="F4F1EE"/>
                </a:solidFill>
                <a:latin typeface="Arial"/>
              </a:rPr>
              <a:t>Organization </a:t>
            </a:r>
            <a:r>
              <a:rPr sz="1382" b="1">
                <a:solidFill>
                  <a:srgbClr val="F4F1EE"/>
                </a:solidFill>
                <a:latin typeface="Arial"/>
              </a:rPr>
              <a:t>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" y="3951541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571" y="4017835"/>
            <a:ext cx="23419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82" b="1">
                <a:solidFill>
                  <a:srgbClr val="F4F1EE"/>
                </a:solidFill>
                <a:latin typeface="Arial"/>
              </a:rPr>
              <a:t>Roles </a:t>
            </a:r>
            <a:r>
              <a:rPr sz="1382" b="1">
                <a:solidFill>
                  <a:srgbClr val="F4F1EE"/>
                </a:solidFill>
                <a:latin typeface="Arial"/>
              </a:rPr>
              <a:t>&amp; </a:t>
            </a:r>
            <a:r>
              <a:rPr sz="1382" b="1">
                <a:solidFill>
                  <a:srgbClr val="F4F1EE"/>
                </a:solidFill>
                <a:latin typeface="Arial"/>
              </a:rPr>
              <a:t>Responsibility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125" y="4561141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6571" y="4627435"/>
            <a:ext cx="26637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82" b="1">
                <a:solidFill>
                  <a:srgbClr val="F4F1EE"/>
                </a:solidFill>
                <a:latin typeface="Arial"/>
              </a:rPr>
              <a:t>Job </a:t>
            </a:r>
            <a:r>
              <a:rPr sz="1382" b="1">
                <a:solidFill>
                  <a:srgbClr val="F4F1EE"/>
                </a:solidFill>
                <a:latin typeface="Arial"/>
              </a:rPr>
              <a:t>Description </a:t>
            </a:r>
            <a:r>
              <a:rPr sz="1382" b="1">
                <a:solidFill>
                  <a:srgbClr val="F4F1EE"/>
                </a:solidFill>
                <a:latin typeface="Arial"/>
              </a:rPr>
              <a:t>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125" y="5170741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6571" y="5237035"/>
            <a:ext cx="352916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82" b="1">
                <a:solidFill>
                  <a:srgbClr val="F4F1EE"/>
                </a:solidFill>
                <a:latin typeface="Arial"/>
              </a:rPr>
              <a:t>Project </a:t>
            </a:r>
            <a:r>
              <a:rPr sz="1382" b="1">
                <a:solidFill>
                  <a:srgbClr val="F4F1EE"/>
                </a:solidFill>
                <a:latin typeface="Arial"/>
              </a:rPr>
              <a:t>— </a:t>
            </a:r>
            <a:r>
              <a:rPr sz="1382" b="1">
                <a:solidFill>
                  <a:srgbClr val="F4F1EE"/>
                </a:solidFill>
                <a:latin typeface="Arial"/>
              </a:rPr>
              <a:t>F.lli </a:t>
            </a:r>
            <a:r>
              <a:rPr sz="1382" b="1">
                <a:solidFill>
                  <a:srgbClr val="F4F1EE"/>
                </a:solidFill>
                <a:latin typeface="Arial"/>
              </a:rPr>
              <a:t>Ferrari </a:t>
            </a:r>
            <a:r>
              <a:rPr sz="1382" b="1">
                <a:solidFill>
                  <a:srgbClr val="F4F1EE"/>
                </a:solidFill>
                <a:latin typeface="Arial"/>
              </a:rPr>
              <a:t>Crane </a:t>
            </a:r>
            <a:r>
              <a:rPr sz="1382" b="1">
                <a:solidFill>
                  <a:srgbClr val="F4F1EE"/>
                </a:solidFill>
                <a:latin typeface="Arial"/>
              </a:rPr>
              <a:t>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2061" y="1691830"/>
            <a:ext cx="13026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PRESENTER </a:t>
            </a:r>
            <a:r>
              <a:rPr sz="691" b="1">
                <a:solidFill>
                  <a:srgbClr val="FF5A1F"/>
                </a:solidFill>
                <a:latin typeface="Arial"/>
              </a:rPr>
              <a:t>/ </a:t>
            </a:r>
            <a:r>
              <a:rPr sz="691" b="1">
                <a:solidFill>
                  <a:srgbClr val="FF5A1F"/>
                </a:solidFill>
                <a:latin typeface="Arial"/>
              </a:rPr>
              <a:t>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2061" y="1857565"/>
            <a:ext cx="246593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37" b="1">
                <a:solidFill>
                  <a:srgbClr val="F4F1EE"/>
                </a:solidFill>
                <a:latin typeface="Arial"/>
              </a:rPr>
              <a:t>Tiberias </a:t>
            </a:r>
            <a:r>
              <a:rPr sz="2037" b="1">
                <a:solidFill>
                  <a:srgbClr val="F4F1EE"/>
                </a:solidFill>
                <a:latin typeface="Arial"/>
              </a:rPr>
              <a:t>K. </a:t>
            </a:r>
            <a:r>
              <a:rPr sz="2037" b="1">
                <a:solidFill>
                  <a:srgbClr val="F4F1EE"/>
                </a:solidFill>
                <a:latin typeface="Arial"/>
              </a:rPr>
              <a:t>Simu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2061" y="2205418"/>
            <a:ext cx="24574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F6963"/>
                </a:solidFill>
                <a:latin typeface="Arial"/>
              </a:rPr>
              <a:t>MARKETING </a:t>
            </a:r>
            <a:r>
              <a:rPr sz="800" b="0">
                <a:solidFill>
                  <a:srgbClr val="6F6963"/>
                </a:solidFill>
                <a:latin typeface="Arial"/>
              </a:rPr>
              <a:t>STRATEGIC </a:t>
            </a:r>
            <a:r>
              <a:rPr sz="800" b="0">
                <a:solidFill>
                  <a:srgbClr val="6F6963"/>
                </a:solidFill>
                <a:latin typeface="Arial"/>
              </a:rPr>
              <a:t>2 </a:t>
            </a:r>
            <a:r>
              <a:rPr sz="800" b="0">
                <a:solidFill>
                  <a:srgbClr val="6F6963"/>
                </a:solidFill>
                <a:latin typeface="Arial"/>
              </a:rPr>
              <a:t>ASSOCIATE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2061" y="2749105"/>
            <a:ext cx="138811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PRODUCTS </a:t>
            </a:r>
            <a:r>
              <a:rPr sz="691" b="1">
                <a:solidFill>
                  <a:srgbClr val="FF5A1F"/>
                </a:solidFill>
                <a:latin typeface="Arial"/>
              </a:rPr>
              <a:t>I </a:t>
            </a:r>
            <a:r>
              <a:rPr sz="691" b="1">
                <a:solidFill>
                  <a:srgbClr val="FF5A1F"/>
                </a:solidFill>
                <a:latin typeface="Arial"/>
              </a:rPr>
              <a:t>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2061" y="2959798"/>
            <a:ext cx="164068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5" b="1">
                <a:solidFill>
                  <a:srgbClr val="F4F1EE"/>
                </a:solidFill>
                <a:latin typeface="Arial"/>
              </a:rPr>
              <a:t>Small </a:t>
            </a:r>
            <a:r>
              <a:rPr sz="1455" b="1">
                <a:solidFill>
                  <a:srgbClr val="F4F1EE"/>
                </a:solidFill>
                <a:latin typeface="Arial"/>
              </a:rPr>
              <a:t>Suppeq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2061" y="3245548"/>
            <a:ext cx="155629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55" b="1">
                <a:solidFill>
                  <a:srgbClr val="F4F1EE"/>
                </a:solidFill>
                <a:latin typeface="Arial"/>
              </a:rPr>
              <a:t>Truck </a:t>
            </a:r>
            <a:r>
              <a:rPr sz="1455" b="1">
                <a:solidFill>
                  <a:srgbClr val="F4F1EE"/>
                </a:solidFill>
                <a:latin typeface="Arial"/>
              </a:rPr>
              <a:t>Others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2061" y="3938968"/>
            <a:ext cx="16777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PT </a:t>
            </a:r>
            <a:r>
              <a:rPr sz="800" b="0">
                <a:solidFill>
                  <a:srgbClr val="A9A29C"/>
                </a:solidFill>
                <a:latin typeface="Arial"/>
              </a:rPr>
              <a:t>Triatra </a:t>
            </a:r>
            <a:r>
              <a:rPr sz="800" b="0">
                <a:solidFill>
                  <a:srgbClr val="A9A29C"/>
                </a:solidFill>
                <a:latin typeface="Arial"/>
              </a:rPr>
              <a:t>Sinergia </a:t>
            </a:r>
            <a:r>
              <a:rPr sz="800" b="0">
                <a:solidFill>
                  <a:srgbClr val="A9A29C"/>
                </a:solidFill>
                <a:latin typeface="Arial"/>
              </a:rPr>
              <a:t>Pratama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2061" y="4080355"/>
            <a:ext cx="199399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Marketing </a:t>
            </a:r>
            <a:r>
              <a:rPr sz="800" b="0">
                <a:solidFill>
                  <a:srgbClr val="A9A29C"/>
                </a:solidFill>
                <a:latin typeface="Arial"/>
              </a:rPr>
              <a:t>Unit </a:t>
            </a:r>
            <a:r>
              <a:rPr sz="800" b="0">
                <a:solidFill>
                  <a:srgbClr val="A9A29C"/>
                </a:solidFill>
                <a:latin typeface="Arial"/>
              </a:rPr>
              <a:t>&amp; </a:t>
            </a:r>
            <a:r>
              <a:rPr sz="800" b="0">
                <a:solidFill>
                  <a:srgbClr val="A9A29C"/>
                </a:solidFill>
                <a:latin typeface="Arial"/>
              </a:rPr>
              <a:t>Strategic </a:t>
            </a:r>
            <a:r>
              <a:rPr sz="800" b="0">
                <a:solidFill>
                  <a:srgbClr val="A9A29C"/>
                </a:solidFill>
                <a:latin typeface="Arial"/>
              </a:rPr>
              <a:t>Division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01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23557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593853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Personal </a:t>
            </a:r>
            <a:r>
              <a:rPr sz="4510" b="0">
                <a:solidFill>
                  <a:srgbClr val="F0ECE8"/>
                </a:solidFill>
                <a:latin typeface="Arial"/>
              </a:rPr>
              <a:t>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95190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About </a:t>
            </a:r>
            <a:r>
              <a:rPr sz="1018" b="0">
                <a:solidFill>
                  <a:srgbClr val="6F6963"/>
                </a:solidFill>
                <a:latin typeface="Arial"/>
              </a:rPr>
              <a:t>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58948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Onboarding </a:t>
            </a:r>
            <a:r>
              <a:rPr sz="1018" b="0">
                <a:solidFill>
                  <a:srgbClr val="6F6963"/>
                </a:solidFill>
                <a:latin typeface="Arial"/>
              </a:rPr>
              <a:t>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02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18490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PERSONAL </a:t>
            </a:r>
            <a:r>
              <a:rPr sz="727" b="0">
                <a:solidFill>
                  <a:srgbClr val="FF5A1F"/>
                </a:solidFill>
                <a:latin typeface="Arial"/>
              </a:rPr>
              <a:t>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155837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About </a:t>
            </a:r>
            <a:r>
              <a:rPr sz="2182" b="0">
                <a:solidFill>
                  <a:srgbClr val="F0ECE8"/>
                </a:solidFill>
                <a:latin typeface="Arial"/>
              </a:rPr>
              <a:t>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975" y="1525143"/>
            <a:ext cx="96053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" y="1948457"/>
            <a:ext cx="291598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F1EE"/>
                </a:solidFill>
                <a:latin typeface="Arial"/>
              </a:rPr>
              <a:t>Tiberias </a:t>
            </a:r>
            <a:r>
              <a:rPr sz="1600" b="1">
                <a:solidFill>
                  <a:srgbClr val="F4F1EE"/>
                </a:solidFill>
                <a:latin typeface="Arial"/>
              </a:rPr>
              <a:t>Krisgaharu </a:t>
            </a:r>
            <a:r>
              <a:rPr sz="1600" b="1">
                <a:solidFill>
                  <a:srgbClr val="F4F1EE"/>
                </a:solidFill>
                <a:latin typeface="Arial"/>
              </a:rPr>
              <a:t>Simu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975" y="2550461"/>
            <a:ext cx="237157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F5A1F"/>
                </a:solidFill>
                <a:latin typeface="Arial"/>
              </a:rPr>
              <a:t>PT </a:t>
            </a:r>
            <a:r>
              <a:rPr sz="1164" b="1">
                <a:solidFill>
                  <a:srgbClr val="FF5A1F"/>
                </a:solidFill>
                <a:latin typeface="Arial"/>
              </a:rPr>
              <a:t>Triatra </a:t>
            </a:r>
            <a:r>
              <a:rPr sz="1164" b="1">
                <a:solidFill>
                  <a:srgbClr val="FF5A1F"/>
                </a:solidFill>
                <a:latin typeface="Arial"/>
              </a:rPr>
              <a:t>Sinergia </a:t>
            </a:r>
            <a:r>
              <a:rPr sz="1164" b="1">
                <a:solidFill>
                  <a:srgbClr val="FF5A1F"/>
                </a:solidFill>
                <a:latin typeface="Arial"/>
              </a:rPr>
              <a:t>Pratama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" y="3236666"/>
            <a:ext cx="90026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975" y="3338393"/>
            <a:ext cx="211544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F4F1EE"/>
                </a:solidFill>
                <a:latin typeface="Arial"/>
              </a:rPr>
              <a:t>Marketing </a:t>
            </a:r>
            <a:r>
              <a:rPr sz="945" b="0">
                <a:solidFill>
                  <a:srgbClr val="F4F1EE"/>
                </a:solidFill>
                <a:latin typeface="Arial"/>
              </a:rPr>
              <a:t>Strategic </a:t>
            </a:r>
            <a:r>
              <a:rPr sz="945" b="0">
                <a:solidFill>
                  <a:srgbClr val="F4F1EE"/>
                </a:solidFill>
                <a:latin typeface="Arial"/>
              </a:rPr>
              <a:t>2 </a:t>
            </a:r>
            <a:r>
              <a:rPr sz="945" b="0">
                <a:solidFill>
                  <a:srgbClr val="F4F1EE"/>
                </a:solidFill>
                <a:latin typeface="Arial"/>
              </a:rPr>
              <a:t>Associate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975" y="3937349"/>
            <a:ext cx="86513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975" y="4039076"/>
            <a:ext cx="181942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F4F1EE"/>
                </a:solidFill>
                <a:latin typeface="Arial"/>
              </a:rPr>
              <a:t>Marketing </a:t>
            </a:r>
            <a:r>
              <a:rPr sz="945" b="0">
                <a:solidFill>
                  <a:srgbClr val="F4F1EE"/>
                </a:solidFill>
                <a:latin typeface="Arial"/>
              </a:rPr>
              <a:t>Unit </a:t>
            </a:r>
            <a:r>
              <a:rPr sz="945" b="0">
                <a:solidFill>
                  <a:srgbClr val="F4F1EE"/>
                </a:solidFill>
                <a:latin typeface="Arial"/>
              </a:rPr>
              <a:t>&amp; </a:t>
            </a:r>
            <a:r>
              <a:rPr sz="945" b="0">
                <a:solidFill>
                  <a:srgbClr val="F4F1EE"/>
                </a:solidFill>
                <a:latin typeface="Arial"/>
              </a:rPr>
              <a:t>Strategic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975" y="4638032"/>
            <a:ext cx="97571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975" y="4739759"/>
            <a:ext cx="197078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F4F1EE"/>
                </a:solidFill>
                <a:latin typeface="Arial"/>
              </a:rPr>
              <a:t>Small </a:t>
            </a:r>
            <a:r>
              <a:rPr sz="945" b="0">
                <a:solidFill>
                  <a:srgbClr val="F4F1EE"/>
                </a:solidFill>
                <a:latin typeface="Arial"/>
              </a:rPr>
              <a:t>Suppeq </a:t>
            </a:r>
            <a:r>
              <a:rPr sz="945" b="0">
                <a:solidFill>
                  <a:srgbClr val="F4F1EE"/>
                </a:solidFill>
                <a:latin typeface="Arial"/>
              </a:rPr>
              <a:t>· </a:t>
            </a:r>
            <a:r>
              <a:rPr sz="945" b="0">
                <a:solidFill>
                  <a:srgbClr val="F4F1EE"/>
                </a:solidFill>
                <a:latin typeface="Arial"/>
              </a:rPr>
              <a:t>Truck </a:t>
            </a:r>
            <a:r>
              <a:rPr sz="945" b="0">
                <a:solidFill>
                  <a:srgbClr val="F4F1EE"/>
                </a:solidFill>
                <a:latin typeface="Arial"/>
              </a:rPr>
              <a:t>Others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975" y="5338714"/>
            <a:ext cx="162564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PLACE, </a:t>
            </a:r>
            <a:r>
              <a:rPr sz="691" b="0">
                <a:solidFill>
                  <a:srgbClr val="6F6963"/>
                </a:solidFill>
                <a:latin typeface="Arial"/>
              </a:rPr>
              <a:t>DATE </a:t>
            </a:r>
            <a:r>
              <a:rPr sz="691" b="0">
                <a:solidFill>
                  <a:srgbClr val="6F6963"/>
                </a:solidFill>
                <a:latin typeface="Arial"/>
              </a:rPr>
              <a:t>OF </a:t>
            </a:r>
            <a:r>
              <a:rPr sz="691" b="0">
                <a:solidFill>
                  <a:srgbClr val="6F6963"/>
                </a:solidFill>
                <a:latin typeface="Arial"/>
              </a:rPr>
              <a:t>BIRTH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975" y="5440441"/>
            <a:ext cx="159960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F4F1EE"/>
                </a:solidFill>
                <a:latin typeface="Arial"/>
              </a:rPr>
              <a:t>Kupang, </a:t>
            </a:r>
            <a:r>
              <a:rPr sz="945" b="0">
                <a:solidFill>
                  <a:srgbClr val="F4F1EE"/>
                </a:solidFill>
                <a:latin typeface="Arial"/>
              </a:rPr>
              <a:t>22 </a:t>
            </a:r>
            <a:r>
              <a:rPr sz="945" b="0">
                <a:solidFill>
                  <a:srgbClr val="F4F1EE"/>
                </a:solidFill>
                <a:latin typeface="Arial"/>
              </a:rPr>
              <a:t>April </a:t>
            </a:r>
            <a:r>
              <a:rPr sz="945" b="0">
                <a:solidFill>
                  <a:srgbClr val="F4F1EE"/>
                </a:solidFill>
                <a:latin typeface="Arial"/>
              </a:rPr>
              <a:t>2001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975" y="6039397"/>
            <a:ext cx="75708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1975" y="6141124"/>
            <a:ext cx="127620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F4F1EE"/>
                </a:solidFill>
                <a:latin typeface="Arial"/>
              </a:rPr>
              <a:t>0822 </a:t>
            </a:r>
            <a:r>
              <a:rPr sz="945" b="0">
                <a:solidFill>
                  <a:srgbClr val="F4F1EE"/>
                </a:solidFill>
                <a:latin typeface="Arial"/>
              </a:rPr>
              <a:t>7222 </a:t>
            </a:r>
            <a:r>
              <a:rPr sz="945" b="0">
                <a:solidFill>
                  <a:srgbClr val="F4F1EE"/>
                </a:solidFill>
                <a:latin typeface="Arial"/>
              </a:rPr>
              <a:t>2463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8261" y="1522857"/>
            <a:ext cx="95651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7411" y="1892808"/>
            <a:ext cx="28887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1">
                <a:solidFill>
                  <a:srgbClr val="F4F1EE"/>
                </a:solidFill>
                <a:latin typeface="Arial"/>
              </a:rPr>
              <a:t>Universitas </a:t>
            </a:r>
            <a:r>
              <a:rPr sz="1018" b="1">
                <a:solidFill>
                  <a:srgbClr val="F4F1EE"/>
                </a:solidFill>
                <a:latin typeface="Arial"/>
              </a:rPr>
              <a:t>Sanata </a:t>
            </a:r>
            <a:r>
              <a:rPr sz="1018" b="1">
                <a:solidFill>
                  <a:srgbClr val="F4F1EE"/>
                </a:solidFill>
                <a:latin typeface="Arial"/>
              </a:rPr>
              <a:t>Dharma, </a:t>
            </a:r>
            <a:r>
              <a:rPr sz="1018" b="1">
                <a:solidFill>
                  <a:srgbClr val="F4F1EE"/>
                </a:solidFill>
                <a:latin typeface="Arial"/>
              </a:rPr>
              <a:t>Yogyakarta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7411" y="2046732"/>
            <a:ext cx="303639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Bachelor </a:t>
            </a:r>
            <a:r>
              <a:rPr sz="873" b="0">
                <a:solidFill>
                  <a:srgbClr val="A9A29C"/>
                </a:solidFill>
                <a:latin typeface="Arial"/>
              </a:rPr>
              <a:t>(S1) </a:t>
            </a:r>
            <a:r>
              <a:rPr sz="873" b="0">
                <a:solidFill>
                  <a:srgbClr val="A9A29C"/>
                </a:solidFill>
                <a:latin typeface="Arial"/>
              </a:rPr>
              <a:t>· </a:t>
            </a:r>
            <a:r>
              <a:rPr sz="873" b="0">
                <a:solidFill>
                  <a:srgbClr val="A9A29C"/>
                </a:solidFill>
                <a:latin typeface="Arial"/>
              </a:rPr>
              <a:t>Management </a:t>
            </a:r>
            <a:r>
              <a:rPr sz="873" b="0">
                <a:solidFill>
                  <a:srgbClr val="A9A29C"/>
                </a:solidFill>
                <a:latin typeface="Arial"/>
              </a:rPr>
              <a:t>· </a:t>
            </a:r>
            <a:r>
              <a:rPr sz="873" b="0">
                <a:solidFill>
                  <a:srgbClr val="A9A29C"/>
                </a:solidFill>
                <a:latin typeface="Arial"/>
              </a:rPr>
              <a:t>Faculty </a:t>
            </a:r>
            <a:r>
              <a:rPr sz="873" b="0">
                <a:solidFill>
                  <a:srgbClr val="A9A29C"/>
                </a:solidFill>
                <a:latin typeface="Arial"/>
              </a:rPr>
              <a:t>of </a:t>
            </a:r>
            <a:r>
              <a:rPr sz="873" b="0">
                <a:solidFill>
                  <a:srgbClr val="A9A29C"/>
                </a:solidFill>
                <a:latin typeface="Arial"/>
              </a:rPr>
              <a:t>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8261" y="2773013"/>
            <a:ext cx="134495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Work </a:t>
            </a:r>
            <a:r>
              <a:rPr sz="909" b="1">
                <a:solidFill>
                  <a:srgbClr val="F4F1EE"/>
                </a:solidFill>
                <a:latin typeface="Arial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7411" y="3300126"/>
            <a:ext cx="212273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1">
                <a:solidFill>
                  <a:srgbClr val="F4F1EE"/>
                </a:solidFill>
                <a:latin typeface="Arial"/>
              </a:rPr>
              <a:t>PT </a:t>
            </a:r>
            <a:r>
              <a:rPr sz="1018" b="1">
                <a:solidFill>
                  <a:srgbClr val="F4F1EE"/>
                </a:solidFill>
                <a:latin typeface="Arial"/>
              </a:rPr>
              <a:t>Triatra </a:t>
            </a:r>
            <a:r>
              <a:rPr sz="1018" b="1">
                <a:solidFill>
                  <a:srgbClr val="F4F1EE"/>
                </a:solidFill>
                <a:latin typeface="Arial"/>
              </a:rPr>
              <a:t>Sinergia </a:t>
            </a:r>
            <a:r>
              <a:rPr sz="1018" b="1">
                <a:solidFill>
                  <a:srgbClr val="F4F1EE"/>
                </a:solidFill>
                <a:latin typeface="Arial"/>
              </a:rPr>
              <a:t>Pratama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7411" y="3454050"/>
            <a:ext cx="198209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873" b="0">
                <a:solidFill>
                  <a:srgbClr val="A9A29C"/>
                </a:solidFill>
                <a:latin typeface="Arial"/>
              </a:rPr>
              <a:t>Strategic </a:t>
            </a:r>
            <a:r>
              <a:rPr sz="873" b="0">
                <a:solidFill>
                  <a:srgbClr val="A9A29C"/>
                </a:solidFill>
                <a:latin typeface="Arial"/>
              </a:rPr>
              <a:t>2 </a:t>
            </a:r>
            <a:r>
              <a:rPr sz="873" b="0">
                <a:solidFill>
                  <a:srgbClr val="A9A29C"/>
                </a:solidFill>
                <a:latin typeface="Arial"/>
              </a:rPr>
              <a:t>Associate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2479" y="3377850"/>
            <a:ext cx="990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0ECE8"/>
                </a:solidFill>
                <a:latin typeface="Arial"/>
              </a:rPr>
              <a:t>2026 </a:t>
            </a:r>
            <a:r>
              <a:rPr sz="873" b="1">
                <a:solidFill>
                  <a:srgbClr val="F0ECE8"/>
                </a:solidFill>
                <a:latin typeface="Arial"/>
              </a:rPr>
              <a:t>– </a:t>
            </a:r>
            <a:r>
              <a:rPr sz="873" b="1">
                <a:solidFill>
                  <a:srgbClr val="F0ECE8"/>
                </a:solidFill>
                <a:latin typeface="Arial"/>
              </a:rPr>
              <a:t>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7411" y="4047839"/>
            <a:ext cx="81081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1">
                <a:solidFill>
                  <a:srgbClr val="F4F1EE"/>
                </a:solidFill>
                <a:latin typeface="Arial"/>
              </a:rPr>
              <a:t>Outlier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7411" y="4201763"/>
            <a:ext cx="174084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Team </a:t>
            </a:r>
            <a:r>
              <a:rPr sz="873" b="0">
                <a:solidFill>
                  <a:srgbClr val="A9A29C"/>
                </a:solidFill>
                <a:latin typeface="Arial"/>
              </a:rPr>
              <a:t>Lead </a:t>
            </a:r>
            <a:r>
              <a:rPr sz="873" b="0">
                <a:solidFill>
                  <a:srgbClr val="A9A29C"/>
                </a:solidFill>
                <a:latin typeface="Arial"/>
              </a:rPr>
              <a:t>Data </a:t>
            </a:r>
            <a:r>
              <a:rPr sz="873" b="0">
                <a:solidFill>
                  <a:srgbClr val="A9A29C"/>
                </a:solidFill>
                <a:latin typeface="Arial"/>
              </a:rPr>
              <a:t>Annotator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6732" y="4125563"/>
            <a:ext cx="101664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2023 </a:t>
            </a:r>
            <a:r>
              <a:rPr sz="873" b="1">
                <a:solidFill>
                  <a:srgbClr val="FF5A1F"/>
                </a:solidFill>
                <a:latin typeface="Arial"/>
              </a:rPr>
              <a:t>– </a:t>
            </a:r>
            <a:r>
              <a:rPr sz="873" b="1">
                <a:solidFill>
                  <a:srgbClr val="FF5A1F"/>
                </a:solidFill>
                <a:latin typeface="Arial"/>
              </a:rPr>
              <a:t>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7411" y="4795551"/>
            <a:ext cx="175185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1">
                <a:solidFill>
                  <a:srgbClr val="F4F1EE"/>
                </a:solidFill>
                <a:latin typeface="Arial"/>
              </a:rPr>
              <a:t>Krishma </a:t>
            </a:r>
            <a:r>
              <a:rPr sz="1018" b="1">
                <a:solidFill>
                  <a:srgbClr val="F4F1EE"/>
                </a:solidFill>
                <a:latin typeface="Arial"/>
              </a:rPr>
              <a:t>International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7411" y="4949475"/>
            <a:ext cx="151194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873" b="0">
                <a:solidFill>
                  <a:srgbClr val="A9A29C"/>
                </a:solidFill>
                <a:latin typeface="Arial"/>
              </a:rPr>
              <a:t>Coordinator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6732" y="4873275"/>
            <a:ext cx="101664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2021 </a:t>
            </a:r>
            <a:r>
              <a:rPr sz="873" b="1">
                <a:solidFill>
                  <a:srgbClr val="FF5A1F"/>
                </a:solidFill>
                <a:latin typeface="Arial"/>
              </a:rPr>
              <a:t>– </a:t>
            </a:r>
            <a:r>
              <a:rPr sz="873" b="1">
                <a:solidFill>
                  <a:srgbClr val="FF5A1F"/>
                </a:solidFill>
                <a:latin typeface="Arial"/>
              </a:rPr>
              <a:t>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8261" y="5618607"/>
            <a:ext cx="110876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Organization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67411" y="5931408"/>
            <a:ext cx="25376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1">
                <a:solidFill>
                  <a:srgbClr val="F4F1EE"/>
                </a:solidFill>
                <a:latin typeface="Arial"/>
              </a:rPr>
              <a:t>HMJM </a:t>
            </a:r>
            <a:r>
              <a:rPr sz="1018" b="1">
                <a:solidFill>
                  <a:srgbClr val="F4F1EE"/>
                </a:solidFill>
                <a:latin typeface="Arial"/>
              </a:rPr>
              <a:t>Universitas </a:t>
            </a:r>
            <a:r>
              <a:rPr sz="1018" b="1">
                <a:solidFill>
                  <a:srgbClr val="F4F1EE"/>
                </a:solidFill>
                <a:latin typeface="Arial"/>
              </a:rPr>
              <a:t>Sanata </a:t>
            </a:r>
            <a:r>
              <a:rPr sz="1018" b="1">
                <a:solidFill>
                  <a:srgbClr val="F4F1EE"/>
                </a:solidFill>
                <a:latin typeface="Arial"/>
              </a:rPr>
              <a:t>Dharma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7411" y="6085332"/>
            <a:ext cx="8639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President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6732" y="6009132"/>
            <a:ext cx="101664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2021 </a:t>
            </a:r>
            <a:r>
              <a:rPr sz="873" b="1">
                <a:solidFill>
                  <a:srgbClr val="FF5A1F"/>
                </a:solidFill>
                <a:latin typeface="Arial"/>
              </a:rPr>
              <a:t>– </a:t>
            </a:r>
            <a:r>
              <a:rPr sz="873" b="1">
                <a:solidFill>
                  <a:srgbClr val="FF5A1F"/>
                </a:solidFill>
                <a:latin typeface="Arial"/>
              </a:rPr>
              <a:t>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03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18490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PERSONAL </a:t>
            </a:r>
            <a:r>
              <a:rPr sz="727" b="0">
                <a:solidFill>
                  <a:srgbClr val="FF5A1F"/>
                </a:solidFill>
                <a:latin typeface="Arial"/>
              </a:rPr>
              <a:t>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86747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Onboarding </a:t>
            </a:r>
            <a:r>
              <a:rPr sz="2182" b="0">
                <a:solidFill>
                  <a:srgbClr val="F0ECE8"/>
                </a:solidFill>
                <a:latin typeface="Arial"/>
              </a:rPr>
              <a:t>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1975" y="6084570"/>
            <a:ext cx="302314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B-ONE </a:t>
            </a:r>
            <a:r>
              <a:rPr sz="945" b="1">
                <a:solidFill>
                  <a:srgbClr val="F4F1EE"/>
                </a:solidFill>
                <a:latin typeface="Arial"/>
              </a:rPr>
              <a:t>· </a:t>
            </a:r>
            <a:r>
              <a:rPr sz="945" b="1">
                <a:solidFill>
                  <a:srgbClr val="F4F1EE"/>
                </a:solidFill>
                <a:latin typeface="Arial"/>
              </a:rPr>
              <a:t>Basic </a:t>
            </a:r>
            <a:r>
              <a:rPr sz="945" b="1">
                <a:solidFill>
                  <a:srgbClr val="F4F1EE"/>
                </a:solidFill>
                <a:latin typeface="Arial"/>
              </a:rPr>
              <a:t>Orientation </a:t>
            </a:r>
            <a:r>
              <a:rPr sz="945" b="1">
                <a:solidFill>
                  <a:srgbClr val="F4F1EE"/>
                </a:solidFill>
                <a:latin typeface="Arial"/>
              </a:rPr>
              <a:t>for </a:t>
            </a:r>
            <a:r>
              <a:rPr sz="945" b="1">
                <a:solidFill>
                  <a:srgbClr val="F4F1EE"/>
                </a:solidFill>
                <a:latin typeface="Arial"/>
              </a:rPr>
              <a:t>New </a:t>
            </a:r>
            <a:r>
              <a:rPr sz="945" b="1">
                <a:solidFill>
                  <a:srgbClr val="F4F1EE"/>
                </a:solidFill>
                <a:latin typeface="Arial"/>
              </a:rPr>
              <a:t>Employee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4563" y="3579495"/>
            <a:ext cx="176897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Basic </a:t>
            </a:r>
            <a:r>
              <a:rPr sz="945" b="1">
                <a:solidFill>
                  <a:srgbClr val="F4F1EE"/>
                </a:solidFill>
                <a:latin typeface="Arial"/>
              </a:rPr>
              <a:t>Technical </a:t>
            </a:r>
            <a:r>
              <a:rPr sz="945" b="1">
                <a:solidFill>
                  <a:srgbClr val="F4F1EE"/>
                </a:solidFill>
                <a:latin typeface="Arial"/>
              </a:rPr>
              <a:t>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4563" y="6084570"/>
            <a:ext cx="132367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Batch </a:t>
            </a:r>
            <a:r>
              <a:rPr sz="945" b="1">
                <a:solidFill>
                  <a:srgbClr val="F4F1EE"/>
                </a:solidFill>
                <a:latin typeface="Arial"/>
              </a:rPr>
              <a:t>gathering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" y="6198870"/>
            <a:ext cx="196348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Marketing </a:t>
            </a:r>
            <a:r>
              <a:rPr sz="945" b="1">
                <a:solidFill>
                  <a:srgbClr val="F4F1EE"/>
                </a:solidFill>
                <a:latin typeface="Arial"/>
              </a:rPr>
              <a:t>HO </a:t>
            </a:r>
            <a:r>
              <a:rPr sz="945" b="1">
                <a:solidFill>
                  <a:srgbClr val="F4F1EE"/>
                </a:solidFill>
                <a:latin typeface="Arial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04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6555" y="769620"/>
            <a:ext cx="149988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SECTION </a:t>
            </a:r>
            <a:r>
              <a:rPr sz="945" b="1">
                <a:solidFill>
                  <a:srgbClr val="FF5A1F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7262" y="928497"/>
            <a:ext cx="6378475" cy="895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11" b="1">
                <a:solidFill>
                  <a:srgbClr val="F0ECE8"/>
                </a:solidFill>
                <a:latin typeface="Arial"/>
              </a:rPr>
              <a:t>Company </a:t>
            </a:r>
            <a:r>
              <a:rPr sz="6111" b="1">
                <a:solidFill>
                  <a:srgbClr val="F0ECE8"/>
                </a:solidFill>
                <a:latin typeface="Arial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7608" y="2023872"/>
            <a:ext cx="463763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36" b="0">
                <a:solidFill>
                  <a:srgbClr val="EFE9E4"/>
                </a:solidFill>
                <a:latin typeface="Arial"/>
              </a:rPr>
              <a:t>Part </a:t>
            </a:r>
            <a:r>
              <a:rPr sz="1236" b="0">
                <a:solidFill>
                  <a:srgbClr val="EFE9E4"/>
                </a:solidFill>
                <a:latin typeface="Arial"/>
              </a:rPr>
              <a:t>of </a:t>
            </a:r>
            <a:r>
              <a:rPr sz="1236" b="0">
                <a:solidFill>
                  <a:srgbClr val="EFE9E4"/>
                </a:solidFill>
                <a:latin typeface="Arial"/>
              </a:rPr>
              <a:t>the </a:t>
            </a:r>
            <a:r>
              <a:rPr sz="1236" b="0">
                <a:solidFill>
                  <a:srgbClr val="EFE9E4"/>
                </a:solidFill>
                <a:latin typeface="Arial"/>
              </a:rPr>
              <a:t>UTPE </a:t>
            </a:r>
            <a:r>
              <a:rPr sz="1236" b="0">
                <a:solidFill>
                  <a:srgbClr val="EFE9E4"/>
                </a:solidFill>
                <a:latin typeface="Arial"/>
              </a:rPr>
              <a:t>Group </a:t>
            </a:r>
            <a:r>
              <a:rPr sz="1236" b="0">
                <a:solidFill>
                  <a:srgbClr val="EFE9E4"/>
                </a:solidFill>
                <a:latin typeface="Arial"/>
              </a:rPr>
              <a:t>· </a:t>
            </a:r>
            <a:r>
              <a:rPr sz="1236" b="0">
                <a:solidFill>
                  <a:srgbClr val="EFE9E4"/>
                </a:solidFill>
                <a:latin typeface="Arial"/>
              </a:rPr>
              <a:t>Distributor </a:t>
            </a:r>
            <a:r>
              <a:rPr sz="1236" b="0">
                <a:solidFill>
                  <a:srgbClr val="EFE9E4"/>
                </a:solidFill>
                <a:latin typeface="Arial"/>
              </a:rPr>
              <a:t>of </a:t>
            </a:r>
            <a:r>
              <a:rPr sz="1236" b="0">
                <a:solidFill>
                  <a:srgbClr val="EFE9E4"/>
                </a:solidFill>
                <a:latin typeface="Arial"/>
              </a:rPr>
              <a:t>PATRIA </a:t>
            </a:r>
            <a:r>
              <a:rPr sz="1236" b="0">
                <a:solidFill>
                  <a:srgbClr val="EFE9E4"/>
                </a:solidFill>
                <a:latin typeface="Arial"/>
              </a:rPr>
              <a:t>and </a:t>
            </a:r>
            <a:r>
              <a:rPr sz="1236" b="0">
                <a:solidFill>
                  <a:srgbClr val="EFE9E4"/>
                </a:solidFill>
                <a:latin typeface="Arial"/>
              </a:rPr>
              <a:t>ULTRA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FFFF"/>
                </a:solidFill>
                <a:latin typeface="Arial"/>
              </a:rPr>
              <a:t>NEDP </a:t>
            </a:r>
            <a:r>
              <a:rPr sz="727" b="0">
                <a:solidFill>
                  <a:srgbClr val="FFFFFF"/>
                </a:solidFill>
                <a:latin typeface="Arial"/>
              </a:rPr>
              <a:t>MID </a:t>
            </a:r>
            <a:r>
              <a:rPr sz="727" b="0">
                <a:solidFill>
                  <a:srgbClr val="FFFFFF"/>
                </a:solidFill>
                <a:latin typeface="Arial"/>
              </a:rPr>
              <a:t>YEAR </a:t>
            </a:r>
            <a:r>
              <a:rPr sz="727" b="0">
                <a:solidFill>
                  <a:srgbClr val="FFFFFF"/>
                </a:solidFill>
                <a:latin typeface="Arial"/>
              </a:rPr>
              <a:t>REVIEW </a:t>
            </a:r>
            <a:r>
              <a:rPr sz="727" b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05 </a:t>
            </a:r>
            <a:r>
              <a:rPr sz="727" b="0">
                <a:solidFill>
                  <a:srgbClr val="FFFFFF"/>
                </a:solidFill>
                <a:latin typeface="Arial"/>
              </a:rPr>
              <a:t>/ </a:t>
            </a:r>
            <a:r>
              <a:rPr sz="727" b="0">
                <a:solidFill>
                  <a:srgbClr val="FFFFFF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30177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01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COMPANY </a:t>
            </a:r>
            <a:r>
              <a:rPr sz="727" b="0">
                <a:solidFill>
                  <a:srgbClr val="FF5A1F"/>
                </a:solidFill>
                <a:latin typeface="Arial"/>
              </a:rPr>
              <a:t>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407592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Company </a:t>
            </a:r>
            <a:r>
              <a:rPr sz="2182" b="0">
                <a:solidFill>
                  <a:srgbClr val="F0ECE8"/>
                </a:solidFill>
                <a:latin typeface="Arial"/>
              </a:rPr>
              <a:t>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474470"/>
            <a:ext cx="491445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01 </a:t>
            </a:r>
            <a:r>
              <a:rPr sz="836" b="0">
                <a:solidFill>
                  <a:srgbClr val="A9A29C"/>
                </a:solidFill>
                <a:latin typeface="Arial"/>
              </a:rPr>
              <a:t>Triatra </a:t>
            </a:r>
            <a:r>
              <a:rPr sz="836" b="0">
                <a:solidFill>
                  <a:srgbClr val="A9A29C"/>
                </a:solidFill>
                <a:latin typeface="Arial"/>
              </a:rPr>
              <a:t>is </a:t>
            </a:r>
            <a:r>
              <a:rPr sz="836" b="0">
                <a:solidFill>
                  <a:srgbClr val="A9A29C"/>
                </a:solidFill>
                <a:latin typeface="Arial"/>
              </a:rPr>
              <a:t>part </a:t>
            </a:r>
            <a:r>
              <a:rPr sz="836" b="0">
                <a:solidFill>
                  <a:srgbClr val="A9A29C"/>
                </a:solidFill>
                <a:latin typeface="Arial"/>
              </a:rPr>
              <a:t>of </a:t>
            </a:r>
            <a:r>
              <a:rPr sz="836" b="0">
                <a:solidFill>
                  <a:srgbClr val="A9A29C"/>
                </a:solidFill>
                <a:latin typeface="Arial"/>
              </a:rPr>
              <a:t>the </a:t>
            </a:r>
            <a:r>
              <a:rPr sz="836" b="0">
                <a:solidFill>
                  <a:srgbClr val="A9A29C"/>
                </a:solidFill>
                <a:latin typeface="Arial"/>
              </a:rPr>
              <a:t>UTPE </a:t>
            </a:r>
            <a:r>
              <a:rPr sz="836" b="0">
                <a:solidFill>
                  <a:srgbClr val="A9A29C"/>
                </a:solidFill>
                <a:latin typeface="Arial"/>
              </a:rPr>
              <a:t>Group </a:t>
            </a:r>
            <a:r>
              <a:rPr sz="836" b="0">
                <a:solidFill>
                  <a:srgbClr val="A9A29C"/>
                </a:solidFill>
                <a:latin typeface="Arial"/>
              </a:rPr>
              <a:t>and </a:t>
            </a:r>
            <a:r>
              <a:rPr sz="836" b="0">
                <a:solidFill>
                  <a:srgbClr val="A9A29C"/>
                </a:solidFill>
                <a:latin typeface="Arial"/>
              </a:rPr>
              <a:t>AHEMCE, </a:t>
            </a:r>
            <a:r>
              <a:rPr sz="836" b="0">
                <a:solidFill>
                  <a:srgbClr val="A9A29C"/>
                </a:solidFill>
                <a:latin typeface="Arial"/>
              </a:rPr>
              <a:t>focusing </a:t>
            </a:r>
            <a:r>
              <a:rPr sz="836" b="0">
                <a:solidFill>
                  <a:srgbClr val="A9A29C"/>
                </a:solidFill>
                <a:latin typeface="Arial"/>
              </a:rPr>
              <a:t>on </a:t>
            </a:r>
            <a:r>
              <a:rPr sz="836" b="0">
                <a:solidFill>
                  <a:srgbClr val="A9A29C"/>
                </a:solidFill>
                <a:latin typeface="Arial"/>
              </a:rPr>
              <a:t>Distributorship </a:t>
            </a:r>
            <a:r>
              <a:rPr sz="836" b="0">
                <a:solidFill>
                  <a:srgbClr val="A9A29C"/>
                </a:solidFill>
                <a:latin typeface="Arial"/>
              </a:rPr>
              <a:t>and </a:t>
            </a:r>
            <a:r>
              <a:rPr sz="836" b="0">
                <a:solidFill>
                  <a:srgbClr val="A9A29C"/>
                </a:solidFill>
                <a:latin typeface="Arial"/>
              </a:rPr>
              <a:t>Trading.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6975" y="1474470"/>
            <a:ext cx="371936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02 </a:t>
            </a:r>
            <a:r>
              <a:rPr sz="836" b="0">
                <a:solidFill>
                  <a:srgbClr val="A9A29C"/>
                </a:solidFill>
                <a:latin typeface="Arial"/>
              </a:rPr>
              <a:t>Starting </a:t>
            </a:r>
            <a:r>
              <a:rPr sz="836" b="0">
                <a:solidFill>
                  <a:srgbClr val="A9A29C"/>
                </a:solidFill>
                <a:latin typeface="Arial"/>
              </a:rPr>
              <a:t>in </a:t>
            </a:r>
            <a:r>
              <a:rPr sz="836" b="0">
                <a:solidFill>
                  <a:srgbClr val="A9A29C"/>
                </a:solidFill>
                <a:latin typeface="Arial"/>
              </a:rPr>
              <a:t>2025, </a:t>
            </a:r>
            <a:r>
              <a:rPr sz="836" b="0">
                <a:solidFill>
                  <a:srgbClr val="A9A29C"/>
                </a:solidFill>
                <a:latin typeface="Arial"/>
              </a:rPr>
              <a:t>Triatra </a:t>
            </a:r>
            <a:r>
              <a:rPr sz="836" b="0">
                <a:solidFill>
                  <a:srgbClr val="A9A29C"/>
                </a:solidFill>
                <a:latin typeface="Arial"/>
              </a:rPr>
              <a:t>develops </a:t>
            </a:r>
            <a:r>
              <a:rPr sz="836" b="0">
                <a:solidFill>
                  <a:srgbClr val="A9A29C"/>
                </a:solidFill>
                <a:latin typeface="Arial"/>
              </a:rPr>
              <a:t>a </a:t>
            </a:r>
            <a:r>
              <a:rPr sz="836" b="0">
                <a:solidFill>
                  <a:srgbClr val="A9A29C"/>
                </a:solidFill>
                <a:latin typeface="Arial"/>
              </a:rPr>
              <a:t>new </a:t>
            </a:r>
            <a:r>
              <a:rPr sz="836" b="0">
                <a:solidFill>
                  <a:srgbClr val="A9A29C"/>
                </a:solidFill>
                <a:latin typeface="Arial"/>
              </a:rPr>
              <a:t>business </a:t>
            </a:r>
            <a:r>
              <a:rPr sz="836" b="0">
                <a:solidFill>
                  <a:srgbClr val="A9A29C"/>
                </a:solidFill>
                <a:latin typeface="Arial"/>
              </a:rPr>
              <a:t>line </a:t>
            </a:r>
            <a:r>
              <a:rPr sz="836" b="0">
                <a:solidFill>
                  <a:srgbClr val="A9A29C"/>
                </a:solidFill>
                <a:latin typeface="Arial"/>
              </a:rPr>
              <a:t>in </a:t>
            </a:r>
            <a:r>
              <a:rPr sz="836" b="0">
                <a:solidFill>
                  <a:srgbClr val="A9A29C"/>
                </a:solidFill>
                <a:latin typeface="Arial"/>
              </a:rPr>
              <a:t>Marine.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1896618"/>
            <a:ext cx="225727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CORPORATE </a:t>
            </a:r>
            <a:r>
              <a:rPr sz="691" b="1">
                <a:solidFill>
                  <a:srgbClr val="6F6963"/>
                </a:solidFill>
                <a:latin typeface="Arial"/>
              </a:rPr>
              <a:t>ENTITY </a:t>
            </a:r>
            <a:r>
              <a:rPr sz="691" b="1">
                <a:solidFill>
                  <a:srgbClr val="6F6963"/>
                </a:solidFill>
                <a:latin typeface="Arial"/>
              </a:rPr>
              <a:t>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2067306"/>
            <a:ext cx="536927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PT </a:t>
            </a:r>
            <a:r>
              <a:rPr sz="763" b="0">
                <a:solidFill>
                  <a:srgbClr val="A9A29C"/>
                </a:solidFill>
                <a:latin typeface="Arial"/>
              </a:rPr>
              <a:t>Triatra </a:t>
            </a:r>
            <a:r>
              <a:rPr sz="763" b="0">
                <a:solidFill>
                  <a:srgbClr val="A9A29C"/>
                </a:solidFill>
                <a:latin typeface="Arial"/>
              </a:rPr>
              <a:t>Sinergia </a:t>
            </a:r>
            <a:r>
              <a:rPr sz="763" b="0">
                <a:solidFill>
                  <a:srgbClr val="A9A29C"/>
                </a:solidFill>
                <a:latin typeface="Arial"/>
              </a:rPr>
              <a:t>Pratama </a:t>
            </a:r>
            <a:r>
              <a:rPr sz="763" b="0">
                <a:solidFill>
                  <a:srgbClr val="A9A29C"/>
                </a:solidFill>
                <a:latin typeface="Arial"/>
              </a:rPr>
              <a:t>is </a:t>
            </a:r>
            <a:r>
              <a:rPr sz="763" b="0">
                <a:solidFill>
                  <a:srgbClr val="A9A29C"/>
                </a:solidFill>
                <a:latin typeface="Arial"/>
              </a:rPr>
              <a:t>one </a:t>
            </a:r>
            <a:r>
              <a:rPr sz="763" b="0">
                <a:solidFill>
                  <a:srgbClr val="A9A29C"/>
                </a:solidFill>
                <a:latin typeface="Arial"/>
              </a:rPr>
              <a:t>of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entities </a:t>
            </a:r>
            <a:r>
              <a:rPr sz="763" b="0">
                <a:solidFill>
                  <a:srgbClr val="A9A29C"/>
                </a:solidFill>
                <a:latin typeface="Arial"/>
              </a:rPr>
              <a:t>within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UTPE </a:t>
            </a:r>
            <a:r>
              <a:rPr sz="763" b="0">
                <a:solidFill>
                  <a:srgbClr val="A9A29C"/>
                </a:solidFill>
                <a:latin typeface="Arial"/>
              </a:rPr>
              <a:t>Group, </a:t>
            </a:r>
            <a:r>
              <a:rPr sz="763" b="0">
                <a:solidFill>
                  <a:srgbClr val="A9A29C"/>
                </a:solidFill>
                <a:latin typeface="Arial"/>
              </a:rPr>
              <a:t>part </a:t>
            </a:r>
            <a:r>
              <a:rPr sz="763" b="0">
                <a:solidFill>
                  <a:srgbClr val="A9A29C"/>
                </a:solidFill>
                <a:latin typeface="Arial"/>
              </a:rPr>
              <a:t>of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UT </a:t>
            </a:r>
            <a:r>
              <a:rPr sz="763" b="0">
                <a:solidFill>
                  <a:srgbClr val="A9A29C"/>
                </a:solidFill>
                <a:latin typeface="Arial"/>
              </a:rPr>
              <a:t>Group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AHEMCE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2207204"/>
            <a:ext cx="227870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business </a:t>
            </a:r>
            <a:r>
              <a:rPr sz="763" b="0">
                <a:solidFill>
                  <a:srgbClr val="A9A29C"/>
                </a:solidFill>
                <a:latin typeface="Arial"/>
              </a:rPr>
              <a:t>line </a:t>
            </a:r>
            <a:r>
              <a:rPr sz="763" b="0">
                <a:solidFill>
                  <a:srgbClr val="A9A29C"/>
                </a:solidFill>
                <a:latin typeface="Arial"/>
              </a:rPr>
              <a:t>of </a:t>
            </a:r>
            <a:r>
              <a:rPr sz="763" b="0">
                <a:solidFill>
                  <a:srgbClr val="A9A29C"/>
                </a:solidFill>
                <a:latin typeface="Arial"/>
              </a:rPr>
              <a:t>PT </a:t>
            </a:r>
            <a:r>
              <a:rPr sz="763" b="0">
                <a:solidFill>
                  <a:srgbClr val="A9A29C"/>
                </a:solidFill>
                <a:latin typeface="Arial"/>
              </a:rPr>
              <a:t>Astra </a:t>
            </a:r>
            <a:r>
              <a:rPr sz="763" b="0">
                <a:solidFill>
                  <a:srgbClr val="A9A29C"/>
                </a:solidFill>
                <a:latin typeface="Arial"/>
              </a:rPr>
              <a:t>International </a:t>
            </a:r>
            <a:r>
              <a:rPr sz="763" b="0">
                <a:solidFill>
                  <a:srgbClr val="A9A29C"/>
                </a:solidFill>
                <a:latin typeface="Arial"/>
              </a:rPr>
              <a:t>Tbk.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2587275"/>
            <a:ext cx="13909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Astra </a:t>
            </a:r>
            <a:r>
              <a:rPr sz="873" b="1">
                <a:solidFill>
                  <a:srgbClr val="F4F1EE"/>
                </a:solidFill>
                <a:latin typeface="Arial"/>
              </a:rPr>
              <a:t>International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1675" y="2737330"/>
            <a:ext cx="296599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Astra </a:t>
            </a:r>
            <a:r>
              <a:rPr sz="763" b="0">
                <a:solidFill>
                  <a:srgbClr val="A9A29C"/>
                </a:solidFill>
                <a:latin typeface="Arial"/>
              </a:rPr>
              <a:t>Heavy </a:t>
            </a:r>
            <a:r>
              <a:rPr sz="763" b="0">
                <a:solidFill>
                  <a:srgbClr val="A9A29C"/>
                </a:solidFill>
                <a:latin typeface="Arial"/>
              </a:rPr>
              <a:t>Equipment, </a:t>
            </a:r>
            <a:r>
              <a:rPr sz="763" b="0">
                <a:solidFill>
                  <a:srgbClr val="A9A29C"/>
                </a:solidFill>
                <a:latin typeface="Arial"/>
              </a:rPr>
              <a:t>Mining, </a:t>
            </a:r>
            <a:r>
              <a:rPr sz="763" b="0">
                <a:solidFill>
                  <a:srgbClr val="A9A29C"/>
                </a:solidFill>
                <a:latin typeface="Arial"/>
              </a:rPr>
              <a:t>Construction,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1675" y="3311175"/>
            <a:ext cx="12194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United </a:t>
            </a:r>
            <a:r>
              <a:rPr sz="873" b="1">
                <a:solidFill>
                  <a:srgbClr val="F4F1EE"/>
                </a:solidFill>
                <a:latin typeface="Arial"/>
              </a:rPr>
              <a:t>Tractors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1675" y="3461230"/>
            <a:ext cx="143157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Construction </a:t>
            </a:r>
            <a:r>
              <a:rPr sz="763" b="0">
                <a:solidFill>
                  <a:srgbClr val="A9A29C"/>
                </a:solidFill>
                <a:latin typeface="Arial"/>
              </a:rPr>
              <a:t>Machinery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1675" y="4035075"/>
            <a:ext cx="6859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UTPE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1675" y="4185130"/>
            <a:ext cx="173206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Engineering </a:t>
            </a:r>
            <a:r>
              <a:rPr sz="763" b="0">
                <a:solidFill>
                  <a:srgbClr val="A9A29C"/>
                </a:solidFill>
                <a:latin typeface="Arial"/>
              </a:rPr>
              <a:t>Solution </a:t>
            </a:r>
            <a:r>
              <a:rPr sz="763" b="0">
                <a:solidFill>
                  <a:srgbClr val="A9A29C"/>
                </a:solidFill>
                <a:latin typeface="Arial"/>
              </a:rPr>
              <a:t>&amp; </a:t>
            </a:r>
            <a:r>
              <a:rPr sz="763" b="0">
                <a:solidFill>
                  <a:srgbClr val="A9A29C"/>
                </a:solidFill>
                <a:latin typeface="Arial"/>
              </a:rPr>
              <a:t>Marine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863" y="5827466"/>
            <a:ext cx="151938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D3C0"/>
                </a:solidFill>
                <a:latin typeface="Arial"/>
              </a:rPr>
              <a:t>Distributorship </a:t>
            </a:r>
            <a:r>
              <a:rPr sz="727" b="0">
                <a:solidFill>
                  <a:srgbClr val="FFD3C0"/>
                </a:solidFill>
                <a:latin typeface="Arial"/>
              </a:rPr>
              <a:t>and </a:t>
            </a:r>
            <a:r>
              <a:rPr sz="727" b="0">
                <a:solidFill>
                  <a:srgbClr val="FFD3C0"/>
                </a:solidFill>
                <a:latin typeface="Arial"/>
              </a:rPr>
              <a:t>Trading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8390" y="5827466"/>
            <a:ext cx="137100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Ship </a:t>
            </a:r>
            <a:r>
              <a:rPr sz="727" b="0">
                <a:solidFill>
                  <a:srgbClr val="A9A29C"/>
                </a:solidFill>
                <a:latin typeface="Arial"/>
              </a:rPr>
              <a:t>Owner </a:t>
            </a:r>
            <a:r>
              <a:rPr sz="727" b="0">
                <a:solidFill>
                  <a:srgbClr val="A9A29C"/>
                </a:solidFill>
                <a:latin typeface="Arial"/>
              </a:rPr>
              <a:t>&amp; </a:t>
            </a:r>
            <a:r>
              <a:rPr sz="727" b="0">
                <a:solidFill>
                  <a:srgbClr val="A9A29C"/>
                </a:solidFill>
                <a:latin typeface="Arial"/>
              </a:rPr>
              <a:t>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7332" y="5827466"/>
            <a:ext cx="142949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Ship </a:t>
            </a:r>
            <a:r>
              <a:rPr sz="727" b="0">
                <a:solidFill>
                  <a:srgbClr val="A9A29C"/>
                </a:solidFill>
                <a:latin typeface="Arial"/>
              </a:rPr>
              <a:t>Building </a:t>
            </a:r>
            <a:r>
              <a:rPr sz="727" b="0">
                <a:solidFill>
                  <a:srgbClr val="A9A29C"/>
                </a:solidFill>
                <a:latin typeface="Arial"/>
              </a:rPr>
              <a:t>and </a:t>
            </a:r>
            <a:r>
              <a:rPr sz="727" b="0">
                <a:solidFill>
                  <a:srgbClr val="A9A29C"/>
                </a:solidFill>
                <a:latin typeface="Arial"/>
              </a:rPr>
              <a:t>Repair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6285" y="1896618"/>
            <a:ext cx="222304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PT </a:t>
            </a:r>
            <a:r>
              <a:rPr sz="691" b="1">
                <a:solidFill>
                  <a:srgbClr val="6F6963"/>
                </a:solidFill>
                <a:latin typeface="Arial"/>
              </a:rPr>
              <a:t>TRIATRA </a:t>
            </a:r>
            <a:r>
              <a:rPr sz="691" b="1">
                <a:solidFill>
                  <a:srgbClr val="6F6963"/>
                </a:solidFill>
                <a:latin typeface="Arial"/>
              </a:rPr>
              <a:t>SINERGIA </a:t>
            </a:r>
            <a:r>
              <a:rPr sz="691" b="1">
                <a:solidFill>
                  <a:srgbClr val="6F6963"/>
                </a:solidFill>
                <a:latin typeface="Arial"/>
              </a:rPr>
              <a:t>PRATAMA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110" y="2172081"/>
            <a:ext cx="573643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Distributor </a:t>
            </a:r>
            <a:r>
              <a:rPr sz="800" b="0">
                <a:solidFill>
                  <a:srgbClr val="A9A29C"/>
                </a:solidFill>
                <a:latin typeface="Arial"/>
              </a:rPr>
              <a:t>of </a:t>
            </a:r>
            <a:r>
              <a:rPr sz="800" b="1">
                <a:solidFill>
                  <a:srgbClr val="F4F1EE"/>
                </a:solidFill>
                <a:latin typeface="Arial"/>
              </a:rPr>
              <a:t>PATRIA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1">
                <a:solidFill>
                  <a:srgbClr val="F4F1EE"/>
                </a:solidFill>
                <a:latin typeface="Arial"/>
              </a:rPr>
              <a:t>ULTRA </a:t>
            </a:r>
            <a:r>
              <a:rPr sz="800" b="0">
                <a:solidFill>
                  <a:srgbClr val="A9A29C"/>
                </a:solidFill>
                <a:latin typeface="Arial"/>
              </a:rPr>
              <a:t>products </a:t>
            </a:r>
            <a:r>
              <a:rPr sz="800" b="0">
                <a:solidFill>
                  <a:srgbClr val="A9A29C"/>
                </a:solidFill>
                <a:latin typeface="Arial"/>
              </a:rPr>
              <a:t>for </a:t>
            </a:r>
            <a:r>
              <a:rPr sz="800" b="0">
                <a:solidFill>
                  <a:srgbClr val="A9A29C"/>
                </a:solidFill>
                <a:latin typeface="Arial"/>
              </a:rPr>
              <a:t>mining, </a:t>
            </a:r>
            <a:r>
              <a:rPr sz="800" b="0">
                <a:solidFill>
                  <a:srgbClr val="A9A29C"/>
                </a:solidFill>
                <a:latin typeface="Arial"/>
              </a:rPr>
              <a:t>construction, </a:t>
            </a:r>
            <a:r>
              <a:rPr sz="800" b="0">
                <a:solidFill>
                  <a:srgbClr val="A9A29C"/>
                </a:solidFill>
                <a:latin typeface="Arial"/>
              </a:rPr>
              <a:t>agriculture, </a:t>
            </a:r>
            <a:r>
              <a:rPr sz="800" b="0">
                <a:solidFill>
                  <a:srgbClr val="A9A29C"/>
                </a:solidFill>
                <a:latin typeface="Arial"/>
              </a:rPr>
              <a:t>forestry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0">
                <a:solidFill>
                  <a:srgbClr val="A9A29C"/>
                </a:solidFill>
                <a:latin typeface="Arial"/>
              </a:rPr>
              <a:t>maritime. </a:t>
            </a:r>
            <a:r>
              <a:rPr sz="800" b="0">
                <a:solidFill>
                  <a:srgbClr val="A9A29C"/>
                </a:solidFill>
                <a:latin typeface="Arial"/>
              </a:rPr>
              <a:t>Triatra </a:t>
            </a:r>
            <a:r>
              <a:rPr sz="800" b="0">
                <a:solidFill>
                  <a:srgbClr val="A9A29C"/>
                </a:solidFill>
                <a:latin typeface="Arial"/>
              </a:rPr>
              <a:t>offers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110" y="2323885"/>
            <a:ext cx="561677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both </a:t>
            </a:r>
            <a:r>
              <a:rPr sz="800" b="0">
                <a:solidFill>
                  <a:srgbClr val="A9A29C"/>
                </a:solidFill>
                <a:latin typeface="Arial"/>
              </a:rPr>
              <a:t>equipment </a:t>
            </a:r>
            <a:r>
              <a:rPr sz="800" b="0">
                <a:solidFill>
                  <a:srgbClr val="A9A29C"/>
                </a:solidFill>
                <a:latin typeface="Arial"/>
              </a:rPr>
              <a:t>units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0">
                <a:solidFill>
                  <a:srgbClr val="A9A29C"/>
                </a:solidFill>
                <a:latin typeface="Arial"/>
              </a:rPr>
              <a:t>full </a:t>
            </a:r>
            <a:r>
              <a:rPr sz="800" b="0">
                <a:solidFill>
                  <a:srgbClr val="A9A29C"/>
                </a:solidFill>
                <a:latin typeface="Arial"/>
              </a:rPr>
              <a:t>after-sales </a:t>
            </a:r>
            <a:r>
              <a:rPr sz="800" b="0">
                <a:solidFill>
                  <a:srgbClr val="A9A29C"/>
                </a:solidFill>
                <a:latin typeface="Arial"/>
              </a:rPr>
              <a:t>support, </a:t>
            </a:r>
            <a:r>
              <a:rPr sz="800" b="0">
                <a:solidFill>
                  <a:srgbClr val="A9A29C"/>
                </a:solidFill>
                <a:latin typeface="Arial"/>
              </a:rPr>
              <a:t>from </a:t>
            </a:r>
            <a:r>
              <a:rPr sz="800" b="0">
                <a:solidFill>
                  <a:srgbClr val="A9A29C"/>
                </a:solidFill>
                <a:latin typeface="Arial"/>
              </a:rPr>
              <a:t>spare </a:t>
            </a:r>
            <a:r>
              <a:rPr sz="800" b="0">
                <a:solidFill>
                  <a:srgbClr val="A9A29C"/>
                </a:solidFill>
                <a:latin typeface="Arial"/>
              </a:rPr>
              <a:t>parts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0">
                <a:solidFill>
                  <a:srgbClr val="A9A29C"/>
                </a:solidFill>
                <a:latin typeface="Arial"/>
              </a:rPr>
              <a:t>remanufacturing </a:t>
            </a:r>
            <a:r>
              <a:rPr sz="800" b="0">
                <a:solidFill>
                  <a:srgbClr val="A9A29C"/>
                </a:solidFill>
                <a:latin typeface="Arial"/>
              </a:rPr>
              <a:t>to </a:t>
            </a:r>
            <a:r>
              <a:rPr sz="800" b="0">
                <a:solidFill>
                  <a:srgbClr val="A9A29C"/>
                </a:solidFill>
                <a:latin typeface="Arial"/>
              </a:rPr>
              <a:t>maintenance </a:t>
            </a:r>
            <a:r>
              <a:rPr sz="800" b="0">
                <a:solidFill>
                  <a:srgbClr val="A9A29C"/>
                </a:solidFill>
                <a:latin typeface="Arial"/>
              </a:rPr>
              <a:t>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6910" y="2731341"/>
            <a:ext cx="6032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6910" y="2881395"/>
            <a:ext cx="185424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International </a:t>
            </a:r>
            <a:r>
              <a:rPr sz="763" b="0">
                <a:solidFill>
                  <a:srgbClr val="A9A29C"/>
                </a:solidFill>
                <a:latin typeface="Arial"/>
              </a:rPr>
              <a:t>&amp; </a:t>
            </a:r>
            <a:r>
              <a:rPr sz="763" b="0">
                <a:solidFill>
                  <a:srgbClr val="A9A29C"/>
                </a:solidFill>
                <a:latin typeface="Arial"/>
              </a:rPr>
              <a:t>domestic </a:t>
            </a:r>
            <a:r>
              <a:rPr sz="763" b="0">
                <a:solidFill>
                  <a:srgbClr val="A9A29C"/>
                </a:solidFill>
                <a:latin typeface="Arial"/>
              </a:rPr>
              <a:t>trader </a:t>
            </a:r>
            <a:r>
              <a:rPr sz="763" b="0">
                <a:solidFill>
                  <a:srgbClr val="A9A29C"/>
                </a:solidFill>
                <a:latin typeface="Arial"/>
              </a:rPr>
              <a:t>of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6910" y="3011322"/>
            <a:ext cx="88686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UTPE </a:t>
            </a:r>
            <a:r>
              <a:rPr sz="763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317" y="2731341"/>
            <a:ext cx="191824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Part, </a:t>
            </a:r>
            <a:r>
              <a:rPr sz="873" b="1">
                <a:solidFill>
                  <a:srgbClr val="F4F1EE"/>
                </a:solidFill>
                <a:latin typeface="Arial"/>
              </a:rPr>
              <a:t>Component </a:t>
            </a:r>
            <a:r>
              <a:rPr sz="873" b="1">
                <a:solidFill>
                  <a:srgbClr val="F4F1EE"/>
                </a:solidFill>
                <a:latin typeface="Arial"/>
              </a:rPr>
              <a:t>&amp; </a:t>
            </a:r>
            <a:r>
              <a:rPr sz="873" b="1">
                <a:solidFill>
                  <a:srgbClr val="F4F1EE"/>
                </a:solidFill>
                <a:latin typeface="Arial"/>
              </a:rPr>
              <a:t>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3317" y="2881395"/>
            <a:ext cx="155406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After-sales </a:t>
            </a:r>
            <a:r>
              <a:rPr sz="763" b="0">
                <a:solidFill>
                  <a:srgbClr val="A9A29C"/>
                </a:solidFill>
                <a:latin typeface="Arial"/>
              </a:rPr>
              <a:t>maintenance </a:t>
            </a:r>
            <a:r>
              <a:rPr sz="763" b="0">
                <a:solidFill>
                  <a:srgbClr val="A9A29C"/>
                </a:solidFill>
                <a:latin typeface="Arial"/>
              </a:rPr>
              <a:t>&amp;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13317" y="3011322"/>
            <a:ext cx="110370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remanufacturing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6285" y="3342036"/>
            <a:ext cx="162773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INDUSTRY </a:t>
            </a:r>
            <a:r>
              <a:rPr sz="691" b="1">
                <a:solidFill>
                  <a:srgbClr val="6F6963"/>
                </a:solidFill>
                <a:latin typeface="Arial"/>
              </a:rPr>
              <a:t>COVERAGE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110" y="4676917"/>
            <a:ext cx="53994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258" y="4698253"/>
            <a:ext cx="15748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Coal </a:t>
            </a:r>
            <a:r>
              <a:rPr sz="873" b="1">
                <a:solidFill>
                  <a:srgbClr val="F4F1EE"/>
                </a:solidFill>
                <a:latin typeface="Arial"/>
              </a:rPr>
              <a:t>&amp; </a:t>
            </a:r>
            <a:r>
              <a:rPr sz="873" b="1">
                <a:solidFill>
                  <a:srgbClr val="F4F1EE"/>
                </a:solidFill>
                <a:latin typeface="Arial"/>
              </a:rPr>
              <a:t>Mineral </a:t>
            </a:r>
            <a:r>
              <a:rPr sz="873" b="1">
                <a:solidFill>
                  <a:srgbClr val="F4F1EE"/>
                </a:solidFill>
                <a:latin typeface="Arial"/>
              </a:rPr>
              <a:t>Mining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6517" y="4676917"/>
            <a:ext cx="53994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666" y="4698253"/>
            <a:ext cx="109224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0110" y="6178296"/>
            <a:ext cx="53994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258" y="6199632"/>
            <a:ext cx="1697831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Forestry </a:t>
            </a:r>
            <a:r>
              <a:rPr sz="873" b="1">
                <a:solidFill>
                  <a:srgbClr val="F4F1EE"/>
                </a:solidFill>
                <a:latin typeface="Arial"/>
              </a:rPr>
              <a:t>&amp; </a:t>
            </a:r>
            <a:r>
              <a:rPr sz="873" b="1">
                <a:solidFill>
                  <a:srgbClr val="F4F1EE"/>
                </a:solidFill>
                <a:latin typeface="Arial"/>
              </a:rPr>
              <a:t>Agroindustry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6517" y="6178296"/>
            <a:ext cx="53994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F5A1F"/>
                </a:solidFill>
                <a:latin typeface="Arial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666" y="6199632"/>
            <a:ext cx="8511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Maritime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3990826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Site </a:t>
            </a:r>
            <a:r>
              <a:rPr sz="4510" b="0">
                <a:solidFill>
                  <a:srgbClr val="F0ECE8"/>
                </a:solidFill>
                <a:latin typeface="Arial"/>
              </a:rPr>
              <a:t>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07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17363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02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SITE </a:t>
            </a:r>
            <a:r>
              <a:rPr sz="727" b="0">
                <a:solidFill>
                  <a:srgbClr val="FF5A1F"/>
                </a:solidFill>
                <a:latin typeface="Arial"/>
              </a:rPr>
              <a:t>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42081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Site </a:t>
            </a:r>
            <a:r>
              <a:rPr sz="2182" b="0">
                <a:solidFill>
                  <a:srgbClr val="F0ECE8"/>
                </a:solidFill>
                <a:latin typeface="Arial"/>
              </a:rPr>
              <a:t>Operation </a:t>
            </a:r>
            <a:r>
              <a:rPr sz="2182" b="0">
                <a:solidFill>
                  <a:srgbClr val="F0ECE8"/>
                </a:solidFill>
                <a:latin typeface="Arial"/>
              </a:rPr>
              <a:t>&amp; </a:t>
            </a:r>
            <a:r>
              <a:rPr sz="2182" b="0">
                <a:solidFill>
                  <a:srgbClr val="F0ECE8"/>
                </a:solidFill>
                <a:latin typeface="Arial"/>
              </a:rPr>
              <a:t>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75232"/>
            <a:ext cx="625777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Triatra </a:t>
            </a:r>
            <a:r>
              <a:rPr sz="873" b="0">
                <a:solidFill>
                  <a:srgbClr val="A9A29C"/>
                </a:solidFill>
                <a:latin typeface="Arial"/>
              </a:rPr>
              <a:t>covers </a:t>
            </a:r>
            <a:r>
              <a:rPr sz="873" b="0">
                <a:solidFill>
                  <a:srgbClr val="A9A29C"/>
                </a:solidFill>
                <a:latin typeface="Arial"/>
              </a:rPr>
              <a:t>many </a:t>
            </a:r>
            <a:r>
              <a:rPr sz="873" b="0">
                <a:solidFill>
                  <a:srgbClr val="A9A29C"/>
                </a:solidFill>
                <a:latin typeface="Arial"/>
              </a:rPr>
              <a:t>areas </a:t>
            </a:r>
            <a:r>
              <a:rPr sz="873" b="0">
                <a:solidFill>
                  <a:srgbClr val="A9A29C"/>
                </a:solidFill>
                <a:latin typeface="Arial"/>
              </a:rPr>
              <a:t>in </a:t>
            </a:r>
            <a:r>
              <a:rPr sz="873" b="0">
                <a:solidFill>
                  <a:srgbClr val="A9A29C"/>
                </a:solidFill>
                <a:latin typeface="Arial"/>
              </a:rPr>
              <a:t>Indonesia, </a:t>
            </a:r>
            <a:r>
              <a:rPr sz="873" b="0">
                <a:solidFill>
                  <a:srgbClr val="A9A29C"/>
                </a:solidFill>
                <a:latin typeface="Arial"/>
              </a:rPr>
              <a:t>with </a:t>
            </a:r>
            <a:r>
              <a:rPr sz="873" b="0">
                <a:solidFill>
                  <a:srgbClr val="A9A29C"/>
                </a:solidFill>
                <a:latin typeface="Arial"/>
              </a:rPr>
              <a:t>the </a:t>
            </a:r>
            <a:r>
              <a:rPr sz="873" b="0">
                <a:solidFill>
                  <a:srgbClr val="A9A29C"/>
                </a:solidFill>
                <a:latin typeface="Arial"/>
              </a:rPr>
              <a:t>Head </a:t>
            </a:r>
            <a:r>
              <a:rPr sz="873" b="0">
                <a:solidFill>
                  <a:srgbClr val="A9A29C"/>
                </a:solidFill>
                <a:latin typeface="Arial"/>
              </a:rPr>
              <a:t>Office </a:t>
            </a:r>
            <a:r>
              <a:rPr sz="873" b="0">
                <a:solidFill>
                  <a:srgbClr val="A9A29C"/>
                </a:solidFill>
                <a:latin typeface="Arial"/>
              </a:rPr>
              <a:t>in </a:t>
            </a:r>
            <a:r>
              <a:rPr sz="873" b="0">
                <a:solidFill>
                  <a:srgbClr val="A9A29C"/>
                </a:solidFill>
                <a:latin typeface="Arial"/>
              </a:rPr>
              <a:t>Jakarta, </a:t>
            </a:r>
            <a:r>
              <a:rPr sz="873" b="0">
                <a:solidFill>
                  <a:srgbClr val="A9A29C"/>
                </a:solidFill>
                <a:latin typeface="Arial"/>
              </a:rPr>
              <a:t>5 </a:t>
            </a:r>
            <a:r>
              <a:rPr sz="873" b="0">
                <a:solidFill>
                  <a:srgbClr val="A9A29C"/>
                </a:solidFill>
                <a:latin typeface="Arial"/>
              </a:rPr>
              <a:t>Site </a:t>
            </a:r>
            <a:r>
              <a:rPr sz="873" b="0">
                <a:solidFill>
                  <a:srgbClr val="A9A29C"/>
                </a:solidFill>
                <a:latin typeface="Arial"/>
              </a:rPr>
              <a:t>Operations </a:t>
            </a:r>
            <a:r>
              <a:rPr sz="873" b="0">
                <a:solidFill>
                  <a:srgbClr val="A9A29C"/>
                </a:solidFill>
                <a:latin typeface="Arial"/>
              </a:rPr>
              <a:t>and </a:t>
            </a:r>
            <a:r>
              <a:rPr sz="873" b="0">
                <a:solidFill>
                  <a:srgbClr val="A9A29C"/>
                </a:solidFill>
                <a:latin typeface="Arial"/>
              </a:rPr>
              <a:t>Site </a:t>
            </a:r>
            <a:r>
              <a:rPr sz="873" b="0">
                <a:solidFill>
                  <a:srgbClr val="A9A29C"/>
                </a:solidFill>
                <a:latin typeface="Arial"/>
              </a:rPr>
              <a:t>Representatives.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" y="4677918"/>
            <a:ext cx="8838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Head </a:t>
            </a:r>
            <a:r>
              <a:rPr sz="691" b="1">
                <a:solidFill>
                  <a:srgbClr val="F4F1EE"/>
                </a:solidFill>
                <a:latin typeface="Arial"/>
              </a:rPr>
              <a:t>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" y="4796254"/>
            <a:ext cx="227424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Raya </a:t>
            </a:r>
            <a:r>
              <a:rPr sz="603" b="0">
                <a:solidFill>
                  <a:srgbClr val="A9A29C"/>
                </a:solidFill>
                <a:latin typeface="Arial"/>
              </a:rPr>
              <a:t>Bekasi </a:t>
            </a:r>
            <a:r>
              <a:rPr sz="603" b="0">
                <a:solidFill>
                  <a:srgbClr val="A9A29C"/>
                </a:solidFill>
                <a:latin typeface="Arial"/>
              </a:rPr>
              <a:t>KM </a:t>
            </a:r>
            <a:r>
              <a:rPr sz="603" b="0">
                <a:solidFill>
                  <a:srgbClr val="A9A29C"/>
                </a:solidFill>
                <a:latin typeface="Arial"/>
              </a:rPr>
              <a:t>22, </a:t>
            </a:r>
            <a:r>
              <a:rPr sz="603" b="0">
                <a:solidFill>
                  <a:srgbClr val="A9A29C"/>
                </a:solidFill>
                <a:latin typeface="Arial"/>
              </a:rPr>
              <a:t>Cakung, </a:t>
            </a:r>
            <a:r>
              <a:rPr sz="603" b="0">
                <a:solidFill>
                  <a:srgbClr val="A9A29C"/>
                </a:solidFill>
                <a:latin typeface="Arial"/>
              </a:rPr>
              <a:t>Jakarta </a:t>
            </a:r>
            <a:r>
              <a:rPr sz="603" b="0">
                <a:solidFill>
                  <a:srgbClr val="A9A29C"/>
                </a:solidFill>
                <a:latin typeface="Arial"/>
              </a:rPr>
              <a:t>Timur, </a:t>
            </a:r>
            <a:r>
              <a:rPr sz="603" b="0">
                <a:solidFill>
                  <a:srgbClr val="A9A29C"/>
                </a:solidFill>
                <a:latin typeface="Arial"/>
              </a:rPr>
              <a:t>13910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" y="5137499"/>
            <a:ext cx="69800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Jakarta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5255835"/>
            <a:ext cx="227424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Raya </a:t>
            </a:r>
            <a:r>
              <a:rPr sz="603" b="0">
                <a:solidFill>
                  <a:srgbClr val="A9A29C"/>
                </a:solidFill>
                <a:latin typeface="Arial"/>
              </a:rPr>
              <a:t>Bekasi </a:t>
            </a:r>
            <a:r>
              <a:rPr sz="603" b="0">
                <a:solidFill>
                  <a:srgbClr val="A9A29C"/>
                </a:solidFill>
                <a:latin typeface="Arial"/>
              </a:rPr>
              <a:t>KM </a:t>
            </a:r>
            <a:r>
              <a:rPr sz="603" b="0">
                <a:solidFill>
                  <a:srgbClr val="A9A29C"/>
                </a:solidFill>
                <a:latin typeface="Arial"/>
              </a:rPr>
              <a:t>22, </a:t>
            </a:r>
            <a:r>
              <a:rPr sz="603" b="0">
                <a:solidFill>
                  <a:srgbClr val="A9A29C"/>
                </a:solidFill>
                <a:latin typeface="Arial"/>
              </a:rPr>
              <a:t>Cakung, </a:t>
            </a:r>
            <a:r>
              <a:rPr sz="603" b="0">
                <a:solidFill>
                  <a:srgbClr val="A9A29C"/>
                </a:solidFill>
                <a:latin typeface="Arial"/>
              </a:rPr>
              <a:t>Jakarta </a:t>
            </a:r>
            <a:r>
              <a:rPr sz="603" b="0">
                <a:solidFill>
                  <a:srgbClr val="A9A29C"/>
                </a:solidFill>
                <a:latin typeface="Arial"/>
              </a:rPr>
              <a:t>Timur, </a:t>
            </a:r>
            <a:r>
              <a:rPr sz="603" b="0">
                <a:solidFill>
                  <a:srgbClr val="A9A29C"/>
                </a:solidFill>
                <a:latin typeface="Arial"/>
              </a:rPr>
              <a:t>13910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5597080"/>
            <a:ext cx="97259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</a:t>
            </a:r>
            <a:r>
              <a:rPr sz="691" b="1">
                <a:solidFill>
                  <a:srgbClr val="F4F1EE"/>
                </a:solidFill>
                <a:latin typeface="Arial"/>
              </a:rPr>
              <a:t>Enim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" y="5715416"/>
            <a:ext cx="259809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Lingga </a:t>
            </a:r>
            <a:r>
              <a:rPr sz="603" b="0">
                <a:solidFill>
                  <a:srgbClr val="A9A29C"/>
                </a:solidFill>
                <a:latin typeface="Arial"/>
              </a:rPr>
              <a:t>Raya </a:t>
            </a:r>
            <a:r>
              <a:rPr sz="603" b="0">
                <a:solidFill>
                  <a:srgbClr val="A9A29C"/>
                </a:solidFill>
                <a:latin typeface="Arial"/>
              </a:rPr>
              <a:t>10, </a:t>
            </a:r>
            <a:r>
              <a:rPr sz="603" b="0">
                <a:solidFill>
                  <a:srgbClr val="A9A29C"/>
                </a:solidFill>
                <a:latin typeface="Arial"/>
              </a:rPr>
              <a:t>Kel. </a:t>
            </a:r>
            <a:r>
              <a:rPr sz="603" b="0">
                <a:solidFill>
                  <a:srgbClr val="A9A29C"/>
                </a:solidFill>
                <a:latin typeface="Arial"/>
              </a:rPr>
              <a:t>Muara </a:t>
            </a:r>
            <a:r>
              <a:rPr sz="603" b="0">
                <a:solidFill>
                  <a:srgbClr val="A9A29C"/>
                </a:solidFill>
                <a:latin typeface="Arial"/>
              </a:rPr>
              <a:t>Enim, </a:t>
            </a:r>
            <a:r>
              <a:rPr sz="603" b="0">
                <a:solidFill>
                  <a:srgbClr val="A9A29C"/>
                </a:solidFill>
                <a:latin typeface="Arial"/>
              </a:rPr>
              <a:t>Sumatera </a:t>
            </a:r>
            <a:r>
              <a:rPr sz="603" b="0">
                <a:solidFill>
                  <a:srgbClr val="A9A29C"/>
                </a:solidFill>
                <a:latin typeface="Arial"/>
              </a:rPr>
              <a:t>Selatan, </a:t>
            </a:r>
            <a:r>
              <a:rPr sz="603" b="0">
                <a:solidFill>
                  <a:srgbClr val="A9A29C"/>
                </a:solidFill>
                <a:latin typeface="Arial"/>
              </a:rPr>
              <a:t>31711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175" y="6056661"/>
            <a:ext cx="84370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Pekanbaru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" y="6174997"/>
            <a:ext cx="2498526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Soekarno </a:t>
            </a:r>
            <a:r>
              <a:rPr sz="603" b="0">
                <a:solidFill>
                  <a:srgbClr val="A9A29C"/>
                </a:solidFill>
                <a:latin typeface="Arial"/>
              </a:rPr>
              <a:t>Hatta </a:t>
            </a:r>
            <a:r>
              <a:rPr sz="603" b="0">
                <a:solidFill>
                  <a:srgbClr val="A9A29C"/>
                </a:solidFill>
                <a:latin typeface="Arial"/>
              </a:rPr>
              <a:t>KM </a:t>
            </a:r>
            <a:r>
              <a:rPr sz="603" b="0">
                <a:solidFill>
                  <a:srgbClr val="A9A29C"/>
                </a:solidFill>
                <a:latin typeface="Arial"/>
              </a:rPr>
              <a:t>3,5 </a:t>
            </a:r>
            <a:r>
              <a:rPr sz="603" b="0">
                <a:solidFill>
                  <a:srgbClr val="A9A29C"/>
                </a:solidFill>
                <a:latin typeface="Arial"/>
              </a:rPr>
              <a:t>No. </a:t>
            </a:r>
            <a:r>
              <a:rPr sz="603" b="0">
                <a:solidFill>
                  <a:srgbClr val="A9A29C"/>
                </a:solidFill>
                <a:latin typeface="Arial"/>
              </a:rPr>
              <a:t>151, </a:t>
            </a:r>
            <a:r>
              <a:rPr sz="603" b="0">
                <a:solidFill>
                  <a:srgbClr val="A9A29C"/>
                </a:solidFill>
                <a:latin typeface="Arial"/>
              </a:rPr>
              <a:t>Pekanbaru, </a:t>
            </a:r>
            <a:r>
              <a:rPr sz="603" b="0">
                <a:solidFill>
                  <a:srgbClr val="A9A29C"/>
                </a:solidFill>
                <a:latin typeface="Arial"/>
              </a:rPr>
              <a:t>Riau, </a:t>
            </a:r>
            <a:r>
              <a:rPr sz="603" b="0">
                <a:solidFill>
                  <a:srgbClr val="A9A29C"/>
                </a:solidFill>
                <a:latin typeface="Arial"/>
              </a:rPr>
              <a:t>28291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9962" y="4677918"/>
            <a:ext cx="92422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Banjarmasin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9962" y="4796254"/>
            <a:ext cx="275465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Ahmad </a:t>
            </a:r>
            <a:r>
              <a:rPr sz="603" b="0">
                <a:solidFill>
                  <a:srgbClr val="A9A29C"/>
                </a:solidFill>
                <a:latin typeface="Arial"/>
              </a:rPr>
              <a:t>Yani </a:t>
            </a:r>
            <a:r>
              <a:rPr sz="603" b="0">
                <a:solidFill>
                  <a:srgbClr val="A9A29C"/>
                </a:solidFill>
                <a:latin typeface="Arial"/>
              </a:rPr>
              <a:t>KM </a:t>
            </a:r>
            <a:r>
              <a:rPr sz="603" b="0">
                <a:solidFill>
                  <a:srgbClr val="A9A29C"/>
                </a:solidFill>
                <a:latin typeface="Arial"/>
              </a:rPr>
              <a:t>13,5 </a:t>
            </a:r>
            <a:r>
              <a:rPr sz="603" b="0">
                <a:solidFill>
                  <a:srgbClr val="A9A29C"/>
                </a:solidFill>
                <a:latin typeface="Arial"/>
              </a:rPr>
              <a:t>Gambut, </a:t>
            </a:r>
            <a:r>
              <a:rPr sz="603" b="0">
                <a:solidFill>
                  <a:srgbClr val="A9A29C"/>
                </a:solidFill>
                <a:latin typeface="Arial"/>
              </a:rPr>
              <a:t>Banjarmasin, </a:t>
            </a:r>
            <a:r>
              <a:rPr sz="603" b="0">
                <a:solidFill>
                  <a:srgbClr val="A9A29C"/>
                </a:solidFill>
                <a:latin typeface="Arial"/>
              </a:rPr>
              <a:t>Kalimantan </a:t>
            </a:r>
            <a:r>
              <a:rPr sz="603" b="0">
                <a:solidFill>
                  <a:srgbClr val="A9A29C"/>
                </a:solidFill>
                <a:latin typeface="Arial"/>
              </a:rPr>
              <a:t>Selatan,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962" y="4898945"/>
            <a:ext cx="60081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70652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962" y="5137499"/>
            <a:ext cx="98434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Sungai </a:t>
            </a:r>
            <a:r>
              <a:rPr sz="691" b="1">
                <a:solidFill>
                  <a:srgbClr val="F4F1EE"/>
                </a:solidFill>
                <a:latin typeface="Arial"/>
              </a:rPr>
              <a:t>Danau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962" y="5255835"/>
            <a:ext cx="2576214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Ds. </a:t>
            </a:r>
            <a:r>
              <a:rPr sz="603" b="0">
                <a:solidFill>
                  <a:srgbClr val="A9A29C"/>
                </a:solidFill>
                <a:latin typeface="Arial"/>
              </a:rPr>
              <a:t>Karang </a:t>
            </a:r>
            <a:r>
              <a:rPr sz="603" b="0">
                <a:solidFill>
                  <a:srgbClr val="A9A29C"/>
                </a:solidFill>
                <a:latin typeface="Arial"/>
              </a:rPr>
              <a:t>Indah </a:t>
            </a:r>
            <a:r>
              <a:rPr sz="603" b="0">
                <a:solidFill>
                  <a:srgbClr val="A9A29C"/>
                </a:solidFill>
                <a:latin typeface="Arial"/>
              </a:rPr>
              <a:t>RT </a:t>
            </a:r>
            <a:r>
              <a:rPr sz="603" b="0">
                <a:solidFill>
                  <a:srgbClr val="A9A29C"/>
                </a:solidFill>
                <a:latin typeface="Arial"/>
              </a:rPr>
              <a:t>12/RW </a:t>
            </a:r>
            <a:r>
              <a:rPr sz="603" b="0">
                <a:solidFill>
                  <a:srgbClr val="A9A29C"/>
                </a:solidFill>
                <a:latin typeface="Arial"/>
              </a:rPr>
              <a:t>03, </a:t>
            </a:r>
            <a:r>
              <a:rPr sz="603" b="0">
                <a:solidFill>
                  <a:srgbClr val="A9A29C"/>
                </a:solidFill>
                <a:latin typeface="Arial"/>
              </a:rPr>
              <a:t>Kec. </a:t>
            </a:r>
            <a:r>
              <a:rPr sz="603" b="0">
                <a:solidFill>
                  <a:srgbClr val="A9A29C"/>
                </a:solidFill>
                <a:latin typeface="Arial"/>
              </a:rPr>
              <a:t>Angsana, </a:t>
            </a:r>
            <a:r>
              <a:rPr sz="603" b="0">
                <a:solidFill>
                  <a:srgbClr val="A9A29C"/>
                </a:solidFill>
                <a:latin typeface="Arial"/>
              </a:rPr>
              <a:t>Tanah </a:t>
            </a:r>
            <a:r>
              <a:rPr sz="603" b="0">
                <a:solidFill>
                  <a:srgbClr val="A9A29C"/>
                </a:solidFill>
                <a:latin typeface="Arial"/>
              </a:rPr>
              <a:t>Bambu,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9962" y="5358526"/>
            <a:ext cx="106650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</a:t>
            </a:r>
            <a:r>
              <a:rPr sz="603" b="0">
                <a:solidFill>
                  <a:srgbClr val="A9A29C"/>
                </a:solidFill>
                <a:latin typeface="Arial"/>
              </a:rPr>
              <a:t>Selatan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9962" y="5597080"/>
            <a:ext cx="114672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</a:t>
            </a:r>
            <a:r>
              <a:rPr sz="691" b="1">
                <a:solidFill>
                  <a:srgbClr val="F4F1EE"/>
                </a:solidFill>
                <a:latin typeface="Arial"/>
              </a:rPr>
              <a:t>Tabalong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9962" y="5715416"/>
            <a:ext cx="2612677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A. </a:t>
            </a:r>
            <a:r>
              <a:rPr sz="603" b="0">
                <a:solidFill>
                  <a:srgbClr val="A9A29C"/>
                </a:solidFill>
                <a:latin typeface="Arial"/>
              </a:rPr>
              <a:t>Yani </a:t>
            </a:r>
            <a:r>
              <a:rPr sz="603" b="0">
                <a:solidFill>
                  <a:srgbClr val="A9A29C"/>
                </a:solidFill>
                <a:latin typeface="Arial"/>
              </a:rPr>
              <a:t>KM </a:t>
            </a:r>
            <a:r>
              <a:rPr sz="603" b="0">
                <a:solidFill>
                  <a:srgbClr val="A9A29C"/>
                </a:solidFill>
                <a:latin typeface="Arial"/>
              </a:rPr>
              <a:t>7,5 </a:t>
            </a:r>
            <a:r>
              <a:rPr sz="603" b="0">
                <a:solidFill>
                  <a:srgbClr val="A9A29C"/>
                </a:solidFill>
                <a:latin typeface="Arial"/>
              </a:rPr>
              <a:t>Maburai, </a:t>
            </a:r>
            <a:r>
              <a:rPr sz="603" b="0">
                <a:solidFill>
                  <a:srgbClr val="A9A29C"/>
                </a:solidFill>
                <a:latin typeface="Arial"/>
              </a:rPr>
              <a:t>Kec. </a:t>
            </a:r>
            <a:r>
              <a:rPr sz="603" b="0">
                <a:solidFill>
                  <a:srgbClr val="A9A29C"/>
                </a:solidFill>
                <a:latin typeface="Arial"/>
              </a:rPr>
              <a:t>Murung </a:t>
            </a:r>
            <a:r>
              <a:rPr sz="603" b="0">
                <a:solidFill>
                  <a:srgbClr val="A9A29C"/>
                </a:solidFill>
                <a:latin typeface="Arial"/>
              </a:rPr>
              <a:t>Pudak, </a:t>
            </a:r>
            <a:r>
              <a:rPr sz="603" b="0">
                <a:solidFill>
                  <a:srgbClr val="A9A29C"/>
                </a:solidFill>
                <a:latin typeface="Arial"/>
              </a:rPr>
              <a:t>Kab. </a:t>
            </a:r>
            <a:r>
              <a:rPr sz="603" b="0">
                <a:solidFill>
                  <a:srgbClr val="A9A29C"/>
                </a:solidFill>
                <a:latin typeface="Arial"/>
              </a:rPr>
              <a:t>Tabalong,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9962" y="5818108"/>
            <a:ext cx="1066502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</a:t>
            </a:r>
            <a:r>
              <a:rPr sz="603" b="0">
                <a:solidFill>
                  <a:srgbClr val="A9A29C"/>
                </a:solidFill>
                <a:latin typeface="Arial"/>
              </a:rPr>
              <a:t>Selatan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9962" y="6056661"/>
            <a:ext cx="90904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Batu </a:t>
            </a:r>
            <a:r>
              <a:rPr sz="691" b="1">
                <a:solidFill>
                  <a:srgbClr val="F4F1EE"/>
                </a:solidFill>
                <a:latin typeface="Arial"/>
              </a:rPr>
              <a:t>Kajang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962" y="6174997"/>
            <a:ext cx="258648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Negara </a:t>
            </a:r>
            <a:r>
              <a:rPr sz="603" b="0">
                <a:solidFill>
                  <a:srgbClr val="A9A29C"/>
                </a:solidFill>
                <a:latin typeface="Arial"/>
              </a:rPr>
              <a:t>KM </a:t>
            </a:r>
            <a:r>
              <a:rPr sz="603" b="0">
                <a:solidFill>
                  <a:srgbClr val="A9A29C"/>
                </a:solidFill>
                <a:latin typeface="Arial"/>
              </a:rPr>
              <a:t>140 </a:t>
            </a:r>
            <a:r>
              <a:rPr sz="603" b="0">
                <a:solidFill>
                  <a:srgbClr val="A9A29C"/>
                </a:solidFill>
                <a:latin typeface="Arial"/>
              </a:rPr>
              <a:t>Batukajang, </a:t>
            </a:r>
            <a:r>
              <a:rPr sz="603" b="0">
                <a:solidFill>
                  <a:srgbClr val="A9A29C"/>
                </a:solidFill>
                <a:latin typeface="Arial"/>
              </a:rPr>
              <a:t>Kec. </a:t>
            </a:r>
            <a:r>
              <a:rPr sz="603" b="0">
                <a:solidFill>
                  <a:srgbClr val="A9A29C"/>
                </a:solidFill>
                <a:latin typeface="Arial"/>
              </a:rPr>
              <a:t>Batu </a:t>
            </a:r>
            <a:r>
              <a:rPr sz="603" b="0">
                <a:solidFill>
                  <a:srgbClr val="A9A29C"/>
                </a:solidFill>
                <a:latin typeface="Arial"/>
              </a:rPr>
              <a:t>Sopang, </a:t>
            </a:r>
            <a:r>
              <a:rPr sz="603" b="0">
                <a:solidFill>
                  <a:srgbClr val="A9A29C"/>
                </a:solidFill>
                <a:latin typeface="Arial"/>
              </a:rPr>
              <a:t>Kab. </a:t>
            </a:r>
            <a:r>
              <a:rPr sz="603" b="0">
                <a:solidFill>
                  <a:srgbClr val="A9A29C"/>
                </a:solidFill>
                <a:latin typeface="Arial"/>
              </a:rPr>
              <a:t>Paser,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9962" y="6277689"/>
            <a:ext cx="995957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Kalimantan </a:t>
            </a:r>
            <a:r>
              <a:rPr sz="603" b="0">
                <a:solidFill>
                  <a:srgbClr val="A9A29C"/>
                </a:solidFill>
                <a:latin typeface="Arial"/>
              </a:rPr>
              <a:t>Timur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750" y="4677918"/>
            <a:ext cx="94758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Muara </a:t>
            </a:r>
            <a:r>
              <a:rPr sz="691" b="1">
                <a:solidFill>
                  <a:srgbClr val="F4F1EE"/>
                </a:solidFill>
                <a:latin typeface="Arial"/>
              </a:rPr>
              <a:t>Teweh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4796254"/>
            <a:ext cx="270182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Ahmad </a:t>
            </a:r>
            <a:r>
              <a:rPr sz="603" b="0">
                <a:solidFill>
                  <a:srgbClr val="A9A29C"/>
                </a:solidFill>
                <a:latin typeface="Arial"/>
              </a:rPr>
              <a:t>Yani </a:t>
            </a:r>
            <a:r>
              <a:rPr sz="603" b="0">
                <a:solidFill>
                  <a:srgbClr val="A9A29C"/>
                </a:solidFill>
                <a:latin typeface="Arial"/>
              </a:rPr>
              <a:t>No. </a:t>
            </a:r>
            <a:r>
              <a:rPr sz="603" b="0">
                <a:solidFill>
                  <a:srgbClr val="A9A29C"/>
                </a:solidFill>
                <a:latin typeface="Arial"/>
              </a:rPr>
              <a:t>85, </a:t>
            </a:r>
            <a:r>
              <a:rPr sz="603" b="0">
                <a:solidFill>
                  <a:srgbClr val="A9A29C"/>
                </a:solidFill>
                <a:latin typeface="Arial"/>
              </a:rPr>
              <a:t>Kel. </a:t>
            </a:r>
            <a:r>
              <a:rPr sz="603" b="0">
                <a:solidFill>
                  <a:srgbClr val="A9A29C"/>
                </a:solidFill>
                <a:latin typeface="Arial"/>
              </a:rPr>
              <a:t>Melayu, </a:t>
            </a:r>
            <a:r>
              <a:rPr sz="603" b="0">
                <a:solidFill>
                  <a:srgbClr val="A9A29C"/>
                </a:solidFill>
                <a:latin typeface="Arial"/>
              </a:rPr>
              <a:t>Kab. </a:t>
            </a:r>
            <a:r>
              <a:rPr sz="603" b="0">
                <a:solidFill>
                  <a:srgbClr val="A9A29C"/>
                </a:solidFill>
                <a:latin typeface="Arial"/>
              </a:rPr>
              <a:t>Barito </a:t>
            </a:r>
            <a:r>
              <a:rPr sz="603" b="0">
                <a:solidFill>
                  <a:srgbClr val="A9A29C"/>
                </a:solidFill>
                <a:latin typeface="Arial"/>
              </a:rPr>
              <a:t>Utara, </a:t>
            </a:r>
            <a:r>
              <a:rPr sz="603" b="0">
                <a:solidFill>
                  <a:srgbClr val="A9A29C"/>
                </a:solidFill>
                <a:latin typeface="Arial"/>
              </a:rPr>
              <a:t>Kalimantan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4898945"/>
            <a:ext cx="640407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Tengah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5137499"/>
            <a:ext cx="86379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Balikpapan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0" y="5255835"/>
            <a:ext cx="279127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Jenderal </a:t>
            </a:r>
            <a:r>
              <a:rPr sz="603" b="0">
                <a:solidFill>
                  <a:srgbClr val="A9A29C"/>
                </a:solidFill>
                <a:latin typeface="Arial"/>
              </a:rPr>
              <a:t>Sudirman </a:t>
            </a:r>
            <a:r>
              <a:rPr sz="603" b="0">
                <a:solidFill>
                  <a:srgbClr val="A9A29C"/>
                </a:solidFill>
                <a:latin typeface="Arial"/>
              </a:rPr>
              <a:t>No. </a:t>
            </a:r>
            <a:r>
              <a:rPr sz="603" b="0">
                <a:solidFill>
                  <a:srgbClr val="A9A29C"/>
                </a:solidFill>
                <a:latin typeface="Arial"/>
              </a:rPr>
              <a:t>844, </a:t>
            </a:r>
            <a:r>
              <a:rPr sz="603" b="0">
                <a:solidFill>
                  <a:srgbClr val="A9A29C"/>
                </a:solidFill>
                <a:latin typeface="Arial"/>
              </a:rPr>
              <a:t>Balikpapan, </a:t>
            </a:r>
            <a:r>
              <a:rPr sz="603" b="0">
                <a:solidFill>
                  <a:srgbClr val="A9A29C"/>
                </a:solidFill>
                <a:latin typeface="Arial"/>
              </a:rPr>
              <a:t>Kalimantan </a:t>
            </a:r>
            <a:r>
              <a:rPr sz="603" b="0">
                <a:solidFill>
                  <a:srgbClr val="A9A29C"/>
                </a:solidFill>
                <a:latin typeface="Arial"/>
              </a:rPr>
              <a:t>Timur, </a:t>
            </a:r>
            <a:r>
              <a:rPr sz="603" b="0">
                <a:solidFill>
                  <a:srgbClr val="A9A29C"/>
                </a:solidFill>
                <a:latin typeface="Arial"/>
              </a:rPr>
              <a:t>76114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5597080"/>
            <a:ext cx="63251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Melak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0" y="5715416"/>
            <a:ext cx="281032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D/A </a:t>
            </a:r>
            <a:r>
              <a:rPr sz="603" b="0">
                <a:solidFill>
                  <a:srgbClr val="A9A29C"/>
                </a:solidFill>
                <a:latin typeface="Arial"/>
              </a:rPr>
              <a:t>PT </a:t>
            </a:r>
            <a:r>
              <a:rPr sz="603" b="0">
                <a:solidFill>
                  <a:srgbClr val="A9A29C"/>
                </a:solidFill>
                <a:latin typeface="Arial"/>
              </a:rPr>
              <a:t>Tambang </a:t>
            </a:r>
            <a:r>
              <a:rPr sz="603" b="0">
                <a:solidFill>
                  <a:srgbClr val="A9A29C"/>
                </a:solidFill>
                <a:latin typeface="Arial"/>
              </a:rPr>
              <a:t>Raya </a:t>
            </a:r>
            <a:r>
              <a:rPr sz="603" b="0">
                <a:solidFill>
                  <a:srgbClr val="A9A29C"/>
                </a:solidFill>
                <a:latin typeface="Arial"/>
              </a:rPr>
              <a:t>Usaha </a:t>
            </a:r>
            <a:r>
              <a:rPr sz="603" b="0">
                <a:solidFill>
                  <a:srgbClr val="A9A29C"/>
                </a:solidFill>
                <a:latin typeface="Arial"/>
              </a:rPr>
              <a:t>Tama, </a:t>
            </a:r>
            <a:r>
              <a:rPr sz="603" b="0">
                <a:solidFill>
                  <a:srgbClr val="A9A29C"/>
                </a:solidFill>
                <a:latin typeface="Arial"/>
              </a:rPr>
              <a:t>Hauling </a:t>
            </a:r>
            <a:r>
              <a:rPr sz="603" b="0">
                <a:solidFill>
                  <a:srgbClr val="A9A29C"/>
                </a:solidFill>
                <a:latin typeface="Arial"/>
              </a:rPr>
              <a:t>Road </a:t>
            </a:r>
            <a:r>
              <a:rPr sz="603" b="0">
                <a:solidFill>
                  <a:srgbClr val="A9A29C"/>
                </a:solidFill>
                <a:latin typeface="Arial"/>
              </a:rPr>
              <a:t>Trubaindo, </a:t>
            </a:r>
            <a:r>
              <a:rPr sz="603" b="0">
                <a:solidFill>
                  <a:srgbClr val="A9A29C"/>
                </a:solidFill>
                <a:latin typeface="Arial"/>
              </a:rPr>
              <a:t>Muara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750" y="5818108"/>
            <a:ext cx="166374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Lawa, </a:t>
            </a:r>
            <a:r>
              <a:rPr sz="603" b="0">
                <a:solidFill>
                  <a:srgbClr val="A9A29C"/>
                </a:solidFill>
                <a:latin typeface="Arial"/>
              </a:rPr>
              <a:t>Kutai </a:t>
            </a:r>
            <a:r>
              <a:rPr sz="603" b="0">
                <a:solidFill>
                  <a:srgbClr val="A9A29C"/>
                </a:solidFill>
                <a:latin typeface="Arial"/>
              </a:rPr>
              <a:t>Barat, </a:t>
            </a:r>
            <a:r>
              <a:rPr sz="603" b="0">
                <a:solidFill>
                  <a:srgbClr val="A9A29C"/>
                </a:solidFill>
                <a:latin typeface="Arial"/>
              </a:rPr>
              <a:t>Kalimantan </a:t>
            </a:r>
            <a:r>
              <a:rPr sz="603" b="0">
                <a:solidFill>
                  <a:srgbClr val="A9A29C"/>
                </a:solidFill>
                <a:latin typeface="Arial"/>
              </a:rPr>
              <a:t>Timur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1750" y="6056661"/>
            <a:ext cx="69606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Tabang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1750" y="6174997"/>
            <a:ext cx="255835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Site </a:t>
            </a:r>
            <a:r>
              <a:rPr sz="603" b="0">
                <a:solidFill>
                  <a:srgbClr val="A9A29C"/>
                </a:solidFill>
                <a:latin typeface="Arial"/>
              </a:rPr>
              <a:t>Indonesia </a:t>
            </a:r>
            <a:r>
              <a:rPr sz="603" b="0">
                <a:solidFill>
                  <a:srgbClr val="A9A29C"/>
                </a:solidFill>
                <a:latin typeface="Arial"/>
              </a:rPr>
              <a:t>Pratama, </a:t>
            </a:r>
            <a:r>
              <a:rPr sz="603" b="0">
                <a:solidFill>
                  <a:srgbClr val="A9A29C"/>
                </a:solidFill>
                <a:latin typeface="Arial"/>
              </a:rPr>
              <a:t>Workshop </a:t>
            </a:r>
            <a:r>
              <a:rPr sz="603" b="0">
                <a:solidFill>
                  <a:srgbClr val="A9A29C"/>
                </a:solidFill>
                <a:latin typeface="Arial"/>
              </a:rPr>
              <a:t>Buma </a:t>
            </a:r>
            <a:r>
              <a:rPr sz="603" b="0">
                <a:solidFill>
                  <a:srgbClr val="A9A29C"/>
                </a:solidFill>
                <a:latin typeface="Arial"/>
              </a:rPr>
              <a:t>Km </a:t>
            </a:r>
            <a:r>
              <a:rPr sz="603" b="0">
                <a:solidFill>
                  <a:srgbClr val="A9A29C"/>
                </a:solidFill>
                <a:latin typeface="Arial"/>
              </a:rPr>
              <a:t>6, </a:t>
            </a:r>
            <a:r>
              <a:rPr sz="603" b="0">
                <a:solidFill>
                  <a:srgbClr val="A9A29C"/>
                </a:solidFill>
                <a:latin typeface="Arial"/>
              </a:rPr>
              <a:t>Hauling </a:t>
            </a:r>
            <a:r>
              <a:rPr sz="603" b="0">
                <a:solidFill>
                  <a:srgbClr val="A9A29C"/>
                </a:solidFill>
                <a:latin typeface="Arial"/>
              </a:rPr>
              <a:t>Road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1750" y="6277689"/>
            <a:ext cx="1237654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Baratabang, </a:t>
            </a:r>
            <a:r>
              <a:rPr sz="603" b="0">
                <a:solidFill>
                  <a:srgbClr val="A9A29C"/>
                </a:solidFill>
                <a:latin typeface="Arial"/>
              </a:rPr>
              <a:t>Kec. </a:t>
            </a:r>
            <a:r>
              <a:rPr sz="603" b="0">
                <a:solidFill>
                  <a:srgbClr val="A9A29C"/>
                </a:solidFill>
                <a:latin typeface="Arial"/>
              </a:rPr>
              <a:t>Muara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537" y="4677918"/>
            <a:ext cx="102780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Tanjung </a:t>
            </a:r>
            <a:r>
              <a:rPr sz="691" b="1">
                <a:solidFill>
                  <a:srgbClr val="F4F1EE"/>
                </a:solidFill>
                <a:latin typeface="Arial"/>
              </a:rPr>
              <a:t>Redeb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53537" y="4796254"/>
            <a:ext cx="235088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Gunung </a:t>
            </a:r>
            <a:r>
              <a:rPr sz="603" b="0">
                <a:solidFill>
                  <a:srgbClr val="A9A29C"/>
                </a:solidFill>
                <a:latin typeface="Arial"/>
              </a:rPr>
              <a:t>Panjang </a:t>
            </a:r>
            <a:r>
              <a:rPr sz="603" b="0">
                <a:solidFill>
                  <a:srgbClr val="A9A29C"/>
                </a:solidFill>
                <a:latin typeface="Arial"/>
              </a:rPr>
              <a:t>RT.04 </a:t>
            </a:r>
            <a:r>
              <a:rPr sz="603" b="0">
                <a:solidFill>
                  <a:srgbClr val="A9A29C"/>
                </a:solidFill>
                <a:latin typeface="Arial"/>
              </a:rPr>
              <a:t>No. </a:t>
            </a:r>
            <a:r>
              <a:rPr sz="603" b="0">
                <a:solidFill>
                  <a:srgbClr val="A9A29C"/>
                </a:solidFill>
                <a:latin typeface="Arial"/>
              </a:rPr>
              <a:t>101B, </a:t>
            </a:r>
            <a:r>
              <a:rPr sz="603" b="0">
                <a:solidFill>
                  <a:srgbClr val="A9A29C"/>
                </a:solidFill>
                <a:latin typeface="Arial"/>
              </a:rPr>
              <a:t>Kab. </a:t>
            </a:r>
            <a:r>
              <a:rPr sz="603" b="0">
                <a:solidFill>
                  <a:srgbClr val="A9A29C"/>
                </a:solidFill>
                <a:latin typeface="Arial"/>
              </a:rPr>
              <a:t>Berau, </a:t>
            </a:r>
            <a:r>
              <a:rPr sz="603" b="0">
                <a:solidFill>
                  <a:srgbClr val="A9A29C"/>
                </a:solidFill>
                <a:latin typeface="Arial"/>
              </a:rPr>
              <a:t>77311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3537" y="5137499"/>
            <a:ext cx="763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Sangatta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53537" y="5255835"/>
            <a:ext cx="2747218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HDRS </a:t>
            </a:r>
            <a:r>
              <a:rPr sz="603" b="0">
                <a:solidFill>
                  <a:srgbClr val="A9A29C"/>
                </a:solidFill>
                <a:latin typeface="Arial"/>
              </a:rPr>
              <a:t>Tango </a:t>
            </a:r>
            <a:r>
              <a:rPr sz="603" b="0">
                <a:solidFill>
                  <a:srgbClr val="A9A29C"/>
                </a:solidFill>
                <a:latin typeface="Arial"/>
              </a:rPr>
              <a:t>Delta </a:t>
            </a:r>
            <a:r>
              <a:rPr sz="603" b="0">
                <a:solidFill>
                  <a:srgbClr val="A9A29C"/>
                </a:solidFill>
                <a:latin typeface="Arial"/>
              </a:rPr>
              <a:t>KPC, </a:t>
            </a:r>
            <a:r>
              <a:rPr sz="603" b="0">
                <a:solidFill>
                  <a:srgbClr val="A9A29C"/>
                </a:solidFill>
                <a:latin typeface="Arial"/>
              </a:rPr>
              <a:t>Mine </a:t>
            </a:r>
            <a:r>
              <a:rPr sz="603" b="0">
                <a:solidFill>
                  <a:srgbClr val="A9A29C"/>
                </a:solidFill>
                <a:latin typeface="Arial"/>
              </a:rPr>
              <a:t>Site </a:t>
            </a:r>
            <a:r>
              <a:rPr sz="603" b="0">
                <a:solidFill>
                  <a:srgbClr val="A9A29C"/>
                </a:solidFill>
                <a:latin typeface="Arial"/>
              </a:rPr>
              <a:t>Sangatta, </a:t>
            </a:r>
            <a:r>
              <a:rPr sz="603" b="0">
                <a:solidFill>
                  <a:srgbClr val="A9A29C"/>
                </a:solidFill>
                <a:latin typeface="Arial"/>
              </a:rPr>
              <a:t>Kutai </a:t>
            </a:r>
            <a:r>
              <a:rPr sz="603" b="0">
                <a:solidFill>
                  <a:srgbClr val="A9A29C"/>
                </a:solidFill>
                <a:latin typeface="Arial"/>
              </a:rPr>
              <a:t>Timur, </a:t>
            </a:r>
            <a:r>
              <a:rPr sz="603" b="0">
                <a:solidFill>
                  <a:srgbClr val="A9A29C"/>
                </a:solidFill>
                <a:latin typeface="Arial"/>
              </a:rPr>
              <a:t>75683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537" y="5597080"/>
            <a:ext cx="80352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Sumbawa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537" y="5715416"/>
            <a:ext cx="2718196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Memco </a:t>
            </a:r>
            <a:r>
              <a:rPr sz="603" b="0">
                <a:solidFill>
                  <a:srgbClr val="A9A29C"/>
                </a:solidFill>
                <a:latin typeface="Arial"/>
              </a:rPr>
              <a:t>Area </a:t>
            </a:r>
            <a:r>
              <a:rPr sz="603" b="0">
                <a:solidFill>
                  <a:srgbClr val="A9A29C"/>
                </a:solidFill>
                <a:latin typeface="Arial"/>
              </a:rPr>
              <a:t>Tongo, </a:t>
            </a:r>
            <a:r>
              <a:rPr sz="603" b="0">
                <a:solidFill>
                  <a:srgbClr val="A9A29C"/>
                </a:solidFill>
                <a:latin typeface="Arial"/>
              </a:rPr>
              <a:t>Sekongkang, </a:t>
            </a:r>
            <a:r>
              <a:rPr sz="603" b="0">
                <a:solidFill>
                  <a:srgbClr val="A9A29C"/>
                </a:solidFill>
                <a:latin typeface="Arial"/>
              </a:rPr>
              <a:t>West </a:t>
            </a:r>
            <a:r>
              <a:rPr sz="603" b="0">
                <a:solidFill>
                  <a:srgbClr val="A9A29C"/>
                </a:solidFill>
                <a:latin typeface="Arial"/>
              </a:rPr>
              <a:t>Sumbawa, </a:t>
            </a:r>
            <a:r>
              <a:rPr sz="603" b="0">
                <a:solidFill>
                  <a:srgbClr val="A9A29C"/>
                </a:solidFill>
                <a:latin typeface="Arial"/>
              </a:rPr>
              <a:t>Nusa </a:t>
            </a:r>
            <a:r>
              <a:rPr sz="603" b="0">
                <a:solidFill>
                  <a:srgbClr val="A9A29C"/>
                </a:solidFill>
                <a:latin typeface="Arial"/>
              </a:rPr>
              <a:t>Tenggara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3537" y="5818108"/>
            <a:ext cx="833586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Barat, </a:t>
            </a:r>
            <a:r>
              <a:rPr sz="603" b="0">
                <a:solidFill>
                  <a:srgbClr val="A9A29C"/>
                </a:solidFill>
                <a:latin typeface="Arial"/>
              </a:rPr>
              <a:t>84457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537" y="6056661"/>
            <a:ext cx="66615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Timika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53537" y="6174997"/>
            <a:ext cx="2407890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03" b="0">
                <a:solidFill>
                  <a:srgbClr val="A9A29C"/>
                </a:solidFill>
                <a:latin typeface="Arial"/>
              </a:rPr>
              <a:t>Jl. </a:t>
            </a:r>
            <a:r>
              <a:rPr sz="603" b="0">
                <a:solidFill>
                  <a:srgbClr val="A9A29C"/>
                </a:solidFill>
                <a:latin typeface="Arial"/>
              </a:rPr>
              <a:t>Kuala </a:t>
            </a:r>
            <a:r>
              <a:rPr sz="603" b="0">
                <a:solidFill>
                  <a:srgbClr val="A9A29C"/>
                </a:solidFill>
                <a:latin typeface="Arial"/>
              </a:rPr>
              <a:t>Tembaga </a:t>
            </a:r>
            <a:r>
              <a:rPr sz="603" b="0">
                <a:solidFill>
                  <a:srgbClr val="A9A29C"/>
                </a:solidFill>
                <a:latin typeface="Arial"/>
              </a:rPr>
              <a:t>E-4 </a:t>
            </a:r>
            <a:r>
              <a:rPr sz="603" b="0">
                <a:solidFill>
                  <a:srgbClr val="A9A29C"/>
                </a:solidFill>
                <a:latin typeface="Arial"/>
              </a:rPr>
              <a:t>LIP </a:t>
            </a:r>
            <a:r>
              <a:rPr sz="603" b="0">
                <a:solidFill>
                  <a:srgbClr val="A9A29C"/>
                </a:solidFill>
                <a:latin typeface="Arial"/>
              </a:rPr>
              <a:t>Kuala </a:t>
            </a:r>
            <a:r>
              <a:rPr sz="603" b="0">
                <a:solidFill>
                  <a:srgbClr val="A9A29C"/>
                </a:solidFill>
                <a:latin typeface="Arial"/>
              </a:rPr>
              <a:t>Kencana, </a:t>
            </a:r>
            <a:r>
              <a:rPr sz="603" b="0">
                <a:solidFill>
                  <a:srgbClr val="A9A29C"/>
                </a:solidFill>
                <a:latin typeface="Arial"/>
              </a:rPr>
              <a:t>Timika, </a:t>
            </a:r>
            <a:r>
              <a:rPr sz="603" b="0">
                <a:solidFill>
                  <a:srgbClr val="A9A29C"/>
                </a:solidFill>
                <a:latin typeface="Arial"/>
              </a:rPr>
              <a:t>99920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08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125045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Organization </a:t>
            </a:r>
            <a:r>
              <a:rPr sz="4510" b="0">
                <a:solidFill>
                  <a:srgbClr val="F0ECE8"/>
                </a:solidFill>
                <a:latin typeface="Arial"/>
              </a:rPr>
              <a:t>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09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50567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03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ORGANIZATION </a:t>
            </a:r>
            <a:r>
              <a:rPr sz="727" b="0">
                <a:solidFill>
                  <a:srgbClr val="FF5A1F"/>
                </a:solidFill>
                <a:latin typeface="Arial"/>
              </a:rPr>
              <a:t>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114228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Organization </a:t>
            </a:r>
            <a:r>
              <a:rPr sz="2182" b="0">
                <a:solidFill>
                  <a:srgbClr val="F0ECE8"/>
                </a:solidFill>
                <a:latin typeface="Arial"/>
              </a:rPr>
              <a:t>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7935" y="1488757"/>
            <a:ext cx="131698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Ceisar </a:t>
            </a:r>
            <a:r>
              <a:rPr sz="945" b="1">
                <a:solidFill>
                  <a:srgbClr val="F4F1EE"/>
                </a:solidFill>
                <a:latin typeface="Arial"/>
              </a:rPr>
              <a:t>Centiaga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63939" y="1663255"/>
            <a:ext cx="144497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DIRECTOR </a:t>
            </a:r>
            <a:r>
              <a:rPr sz="691" b="0">
                <a:solidFill>
                  <a:srgbClr val="6F6963"/>
                </a:solidFill>
                <a:latin typeface="Arial"/>
              </a:rPr>
              <a:t>IN </a:t>
            </a:r>
            <a:r>
              <a:rPr sz="691" b="0">
                <a:solidFill>
                  <a:srgbClr val="6F6963"/>
                </a:solidFill>
                <a:latin typeface="Arial"/>
              </a:rPr>
              <a:t>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6121" y="2012632"/>
            <a:ext cx="130075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</a:t>
            </a:r>
            <a:r>
              <a:rPr sz="945" b="1">
                <a:solidFill>
                  <a:srgbClr val="F4F1EE"/>
                </a:solidFill>
                <a:latin typeface="Arial"/>
              </a:rPr>
              <a:t>Tanada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94262" y="2187130"/>
            <a:ext cx="198432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</a:t>
            </a:r>
            <a:r>
              <a:rPr sz="691" b="0">
                <a:solidFill>
                  <a:srgbClr val="6F6963"/>
                </a:solidFill>
                <a:latin typeface="Arial"/>
              </a:rPr>
              <a:t>UNIT </a:t>
            </a:r>
            <a:r>
              <a:rPr sz="691" b="0">
                <a:solidFill>
                  <a:srgbClr val="6F6963"/>
                </a:solidFill>
                <a:latin typeface="Arial"/>
              </a:rPr>
              <a:t>&amp; </a:t>
            </a:r>
            <a:r>
              <a:rPr sz="691" b="0">
                <a:solidFill>
                  <a:srgbClr val="6F6963"/>
                </a:solidFill>
                <a:latin typeface="Arial"/>
              </a:rPr>
              <a:t>STRATEGIC </a:t>
            </a:r>
            <a:r>
              <a:rPr sz="691" b="0">
                <a:solidFill>
                  <a:srgbClr val="6F6963"/>
                </a:solidFill>
                <a:latin typeface="Arial"/>
              </a:rPr>
              <a:t>DIV </a:t>
            </a:r>
            <a:r>
              <a:rPr sz="691" b="0">
                <a:solidFill>
                  <a:srgbClr val="6F6963"/>
                </a:solidFill>
                <a:latin typeface="Arial"/>
              </a:rPr>
              <a:t>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909" y="2688907"/>
            <a:ext cx="129153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Kresnanto </a:t>
            </a:r>
            <a:r>
              <a:rPr sz="945" b="1">
                <a:solidFill>
                  <a:srgbClr val="F4F1EE"/>
                </a:solidFill>
                <a:latin typeface="Arial"/>
              </a:rPr>
              <a:t>A.W.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103" y="2863405"/>
            <a:ext cx="153114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</a:t>
            </a:r>
            <a:r>
              <a:rPr sz="691" b="0">
                <a:solidFill>
                  <a:srgbClr val="6F6963"/>
                </a:solidFill>
                <a:latin typeface="Arial"/>
              </a:rPr>
              <a:t>STRATEGIC </a:t>
            </a:r>
            <a:r>
              <a:rPr sz="691" b="0">
                <a:solidFill>
                  <a:srgbClr val="6F6963"/>
                </a:solidFill>
                <a:latin typeface="Arial"/>
              </a:rPr>
              <a:t>1 </a:t>
            </a:r>
            <a:r>
              <a:rPr sz="691" b="0">
                <a:solidFill>
                  <a:srgbClr val="6F6963"/>
                </a:solidFill>
                <a:latin typeface="Arial"/>
              </a:rPr>
              <a:t>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3174682"/>
            <a:ext cx="9865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Satrio </a:t>
            </a:r>
            <a:r>
              <a:rPr sz="945" b="1">
                <a:solidFill>
                  <a:srgbClr val="F4F1EE"/>
                </a:solidFill>
                <a:latin typeface="Arial"/>
              </a:rPr>
              <a:t>F.R.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3357943"/>
            <a:ext cx="184889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Big </a:t>
            </a:r>
            <a:r>
              <a:rPr sz="800" b="0">
                <a:solidFill>
                  <a:srgbClr val="A9A29C"/>
                </a:solidFill>
                <a:latin typeface="Arial"/>
              </a:rPr>
              <a:t>Suppeq, </a:t>
            </a:r>
            <a:r>
              <a:rPr sz="800" b="0">
                <a:solidFill>
                  <a:srgbClr val="A9A29C"/>
                </a:solidFill>
                <a:latin typeface="Arial"/>
              </a:rPr>
              <a:t>Big </a:t>
            </a:r>
            <a:r>
              <a:rPr sz="800" b="0">
                <a:solidFill>
                  <a:srgbClr val="A9A29C"/>
                </a:solidFill>
                <a:latin typeface="Arial"/>
              </a:rPr>
              <a:t>Vessel, </a:t>
            </a:r>
            <a:r>
              <a:rPr sz="800" b="0">
                <a:solidFill>
                  <a:srgbClr val="A9A29C"/>
                </a:solidFill>
                <a:latin typeface="Arial"/>
              </a:rPr>
              <a:t>Bucket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697069"/>
            <a:ext cx="115862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M. </a:t>
            </a:r>
            <a:r>
              <a:rPr sz="945" b="1">
                <a:solidFill>
                  <a:srgbClr val="F4F1EE"/>
                </a:solidFill>
                <a:latin typeface="Arial"/>
              </a:rPr>
              <a:t>Fawwaz </a:t>
            </a:r>
            <a:r>
              <a:rPr sz="945" b="1">
                <a:solidFill>
                  <a:srgbClr val="F4F1EE"/>
                </a:solidFill>
                <a:latin typeface="Arial"/>
              </a:rPr>
              <a:t>J.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3880330"/>
            <a:ext cx="263068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Cabin, </a:t>
            </a:r>
            <a:r>
              <a:rPr sz="800" b="0">
                <a:solidFill>
                  <a:srgbClr val="A9A29C"/>
                </a:solidFill>
                <a:latin typeface="Arial"/>
              </a:rPr>
              <a:t>Forestry, </a:t>
            </a:r>
            <a:r>
              <a:rPr sz="800" b="0">
                <a:solidFill>
                  <a:srgbClr val="A9A29C"/>
                </a:solidFill>
                <a:latin typeface="Arial"/>
              </a:rPr>
              <a:t>Agro, </a:t>
            </a:r>
            <a:r>
              <a:rPr sz="800" b="0">
                <a:solidFill>
                  <a:srgbClr val="A9A29C"/>
                </a:solidFill>
                <a:latin typeface="Arial"/>
              </a:rPr>
              <a:t>Forklift, </a:t>
            </a:r>
            <a:r>
              <a:rPr sz="800" b="0">
                <a:solidFill>
                  <a:srgbClr val="A9A29C"/>
                </a:solidFill>
                <a:latin typeface="Arial"/>
              </a:rPr>
              <a:t>Towerlamp, </a:t>
            </a:r>
            <a:r>
              <a:rPr sz="800" b="0">
                <a:solidFill>
                  <a:srgbClr val="A9A29C"/>
                </a:solidFill>
                <a:latin typeface="Arial"/>
              </a:rPr>
              <a:t>Pump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4977" y="2688907"/>
            <a:ext cx="148649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</a:t>
            </a:r>
            <a:r>
              <a:rPr sz="945" b="1">
                <a:solidFill>
                  <a:srgbClr val="F4F1EE"/>
                </a:solidFill>
                <a:latin typeface="Arial"/>
              </a:rPr>
              <a:t>Tanada </a:t>
            </a:r>
            <a:r>
              <a:rPr sz="945" b="1">
                <a:solidFill>
                  <a:srgbClr val="F4F1EE"/>
                </a:solidFill>
                <a:latin typeface="Arial"/>
              </a:rPr>
              <a:t>(c)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653" y="2863405"/>
            <a:ext cx="153114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</a:t>
            </a:r>
            <a:r>
              <a:rPr sz="691" b="0">
                <a:solidFill>
                  <a:srgbClr val="6F6963"/>
                </a:solidFill>
                <a:latin typeface="Arial"/>
              </a:rPr>
              <a:t>STRATEGIC </a:t>
            </a:r>
            <a:r>
              <a:rPr sz="691" b="0">
                <a:solidFill>
                  <a:srgbClr val="6F6963"/>
                </a:solidFill>
                <a:latin typeface="Arial"/>
              </a:rPr>
              <a:t>2 </a:t>
            </a:r>
            <a:r>
              <a:rPr sz="691" b="0">
                <a:solidFill>
                  <a:srgbClr val="6F6963"/>
                </a:solidFill>
                <a:latin typeface="Arial"/>
              </a:rPr>
              <a:t>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5566" y="3174682"/>
            <a:ext cx="158516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Ignatius </a:t>
            </a:r>
            <a:r>
              <a:rPr sz="945" b="1">
                <a:solidFill>
                  <a:srgbClr val="F4F1EE"/>
                </a:solidFill>
                <a:latin typeface="Arial"/>
              </a:rPr>
              <a:t>Indrawan </a:t>
            </a:r>
            <a:r>
              <a:rPr sz="945" b="1">
                <a:solidFill>
                  <a:srgbClr val="F4F1EE"/>
                </a:solidFill>
                <a:latin typeface="Arial"/>
              </a:rPr>
              <a:t>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6759" y="3349180"/>
            <a:ext cx="106278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DEPUTY </a:t>
            </a:r>
            <a:r>
              <a:rPr sz="691" b="0">
                <a:solidFill>
                  <a:srgbClr val="6F6963"/>
                </a:solidFill>
                <a:latin typeface="Arial"/>
              </a:rPr>
              <a:t>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9950" y="3660457"/>
            <a:ext cx="121160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Ervin </a:t>
            </a:r>
            <a:r>
              <a:rPr sz="945" b="1">
                <a:solidFill>
                  <a:srgbClr val="F4F1EE"/>
                </a:solidFill>
                <a:latin typeface="Arial"/>
              </a:rPr>
              <a:t>Bahar </a:t>
            </a:r>
            <a:r>
              <a:rPr sz="945" b="1">
                <a:solidFill>
                  <a:srgbClr val="F4F1EE"/>
                </a:solidFill>
                <a:latin typeface="Arial"/>
              </a:rPr>
              <a:t>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9950" y="3843718"/>
            <a:ext cx="227379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Medium </a:t>
            </a:r>
            <a:r>
              <a:rPr sz="800" b="0">
                <a:solidFill>
                  <a:srgbClr val="A9A29C"/>
                </a:solidFill>
                <a:latin typeface="Arial"/>
              </a:rPr>
              <a:t>Vessel, </a:t>
            </a:r>
            <a:r>
              <a:rPr sz="800" b="0">
                <a:solidFill>
                  <a:srgbClr val="A9A29C"/>
                </a:solidFill>
                <a:latin typeface="Arial"/>
              </a:rPr>
              <a:t>Man </a:t>
            </a:r>
            <a:r>
              <a:rPr sz="800" b="0">
                <a:solidFill>
                  <a:srgbClr val="A9A29C"/>
                </a:solidFill>
                <a:latin typeface="Arial"/>
              </a:rPr>
              <a:t>Hauler, </a:t>
            </a:r>
            <a:r>
              <a:rPr sz="800" b="0">
                <a:solidFill>
                  <a:srgbClr val="A9A29C"/>
                </a:solidFill>
                <a:latin typeface="Arial"/>
              </a:rPr>
              <a:t>Bus </a:t>
            </a:r>
            <a:r>
              <a:rPr sz="800" b="0">
                <a:solidFill>
                  <a:srgbClr val="A9A29C"/>
                </a:solidFill>
                <a:latin typeface="Arial"/>
              </a:rPr>
              <a:t>Scania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9950" y="4182844"/>
            <a:ext cx="145792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FD3C0"/>
                </a:solidFill>
                <a:latin typeface="Arial"/>
              </a:rPr>
              <a:t>Tiberias </a:t>
            </a:r>
            <a:r>
              <a:rPr sz="945" b="1">
                <a:solidFill>
                  <a:srgbClr val="FFD3C0"/>
                </a:solidFill>
                <a:latin typeface="Arial"/>
              </a:rPr>
              <a:t>K.S. </a:t>
            </a:r>
            <a:r>
              <a:rPr sz="654" b="1">
                <a:solidFill>
                  <a:srgbClr val="FF5A1F"/>
                </a:solidFill>
                <a:latin typeface="Arial"/>
              </a:rPr>
              <a:t>◄ </a:t>
            </a:r>
            <a:r>
              <a:rPr sz="654" b="1">
                <a:solidFill>
                  <a:srgbClr val="FF5A1F"/>
                </a:solidFill>
                <a:latin typeface="Arial"/>
              </a:rPr>
              <a:t>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9950" y="4366105"/>
            <a:ext cx="169128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FFD3C0"/>
                </a:solidFill>
                <a:latin typeface="Arial"/>
              </a:rPr>
              <a:t>Small </a:t>
            </a:r>
            <a:r>
              <a:rPr sz="800" b="0">
                <a:solidFill>
                  <a:srgbClr val="FFD3C0"/>
                </a:solidFill>
                <a:latin typeface="Arial"/>
              </a:rPr>
              <a:t>Suppeq, </a:t>
            </a:r>
            <a:r>
              <a:rPr sz="800" b="0">
                <a:solidFill>
                  <a:srgbClr val="FFD3C0"/>
                </a:solidFill>
                <a:latin typeface="Arial"/>
              </a:rPr>
              <a:t>Truck </a:t>
            </a:r>
            <a:r>
              <a:rPr sz="800" b="0">
                <a:solidFill>
                  <a:srgbClr val="FFD3C0"/>
                </a:solidFill>
                <a:latin typeface="Arial"/>
              </a:rPr>
              <a:t>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9950" y="4705230"/>
            <a:ext cx="76646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Eurico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9950" y="4888491"/>
            <a:ext cx="240178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Mining </a:t>
            </a:r>
            <a:r>
              <a:rPr sz="800" b="0">
                <a:solidFill>
                  <a:srgbClr val="A9A29C"/>
                </a:solidFill>
                <a:latin typeface="Arial"/>
              </a:rPr>
              <a:t>/ </a:t>
            </a:r>
            <a:r>
              <a:rPr sz="800" b="0">
                <a:solidFill>
                  <a:srgbClr val="A9A29C"/>
                </a:solidFill>
                <a:latin typeface="Arial"/>
              </a:rPr>
              <a:t>Non-mining </a:t>
            </a:r>
            <a:r>
              <a:rPr sz="800" b="0">
                <a:solidFill>
                  <a:srgbClr val="A9A29C"/>
                </a:solidFill>
                <a:latin typeface="Arial"/>
              </a:rPr>
              <a:t>Trailer, </a:t>
            </a:r>
            <a:r>
              <a:rPr sz="800" b="0">
                <a:solidFill>
                  <a:srgbClr val="A9A29C"/>
                </a:solidFill>
                <a:latin typeface="Arial"/>
              </a:rPr>
              <a:t>Overseas </a:t>
            </a:r>
            <a:r>
              <a:rPr sz="800" b="0">
                <a:solidFill>
                  <a:srgbClr val="A9A29C"/>
                </a:solidFill>
                <a:latin typeface="Arial"/>
              </a:rPr>
              <a:t>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2773" y="5229903"/>
            <a:ext cx="151090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F6963"/>
                </a:solidFill>
                <a:latin typeface="Arial"/>
              </a:rPr>
              <a:t>Nandu </a:t>
            </a:r>
            <a:r>
              <a:rPr sz="800" b="0">
                <a:solidFill>
                  <a:srgbClr val="6F6963"/>
                </a:solidFill>
                <a:latin typeface="Arial"/>
              </a:rPr>
              <a:t>Narpati </a:t>
            </a:r>
            <a:r>
              <a:rPr sz="800" b="0">
                <a:solidFill>
                  <a:srgbClr val="6F6963"/>
                </a:solidFill>
                <a:latin typeface="Arial"/>
              </a:rPr>
              <a:t>— </a:t>
            </a:r>
            <a:r>
              <a:rPr sz="800" b="0">
                <a:solidFill>
                  <a:srgbClr val="6F6963"/>
                </a:solidFill>
                <a:latin typeface="Arial"/>
              </a:rPr>
              <a:t>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8541" y="2688907"/>
            <a:ext cx="117246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Ugik </a:t>
            </a:r>
            <a:r>
              <a:rPr sz="945" b="1">
                <a:solidFill>
                  <a:srgbClr val="F4F1EE"/>
                </a:solidFill>
                <a:latin typeface="Arial"/>
              </a:rPr>
              <a:t>Praseno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9203" y="2863405"/>
            <a:ext cx="153114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MKT </a:t>
            </a:r>
            <a:r>
              <a:rPr sz="691" b="0">
                <a:solidFill>
                  <a:srgbClr val="6F6963"/>
                </a:solidFill>
                <a:latin typeface="Arial"/>
              </a:rPr>
              <a:t>STRATEGIC </a:t>
            </a:r>
            <a:r>
              <a:rPr sz="691" b="0">
                <a:solidFill>
                  <a:srgbClr val="6F6963"/>
                </a:solidFill>
                <a:latin typeface="Arial"/>
              </a:rPr>
              <a:t>3 </a:t>
            </a:r>
            <a:r>
              <a:rPr sz="691" b="0">
                <a:solidFill>
                  <a:srgbClr val="6F6963"/>
                </a:solidFill>
                <a:latin typeface="Arial"/>
              </a:rPr>
              <a:t>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500" y="3174682"/>
            <a:ext cx="82837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Baihaqi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500" y="3357943"/>
            <a:ext cx="154572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Mineral </a:t>
            </a:r>
            <a:r>
              <a:rPr sz="800" b="0">
                <a:solidFill>
                  <a:srgbClr val="A9A29C"/>
                </a:solidFill>
                <a:latin typeface="Arial"/>
              </a:rPr>
              <a:t>Processing, </a:t>
            </a:r>
            <a:r>
              <a:rPr sz="800" b="0">
                <a:solidFill>
                  <a:srgbClr val="A9A29C"/>
                </a:solidFill>
                <a:latin typeface="Arial"/>
              </a:rPr>
              <a:t>EPC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500" y="3697069"/>
            <a:ext cx="105548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Yuda </a:t>
            </a:r>
            <a:r>
              <a:rPr sz="945" b="1">
                <a:solidFill>
                  <a:srgbClr val="F4F1EE"/>
                </a:solidFill>
                <a:latin typeface="Arial"/>
              </a:rPr>
              <a:t>Prana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0" y="3880330"/>
            <a:ext cx="17262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Maritime, </a:t>
            </a:r>
            <a:r>
              <a:rPr sz="800" b="0">
                <a:solidFill>
                  <a:srgbClr val="A9A29C"/>
                </a:solidFill>
                <a:latin typeface="Arial"/>
              </a:rPr>
              <a:t>Renewable </a:t>
            </a:r>
            <a:r>
              <a:rPr sz="800" b="0">
                <a:solidFill>
                  <a:srgbClr val="A9A29C"/>
                </a:solidFill>
                <a:latin typeface="Arial"/>
              </a:rPr>
              <a:t>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500" y="4219455"/>
            <a:ext cx="75262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Celine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500" y="4402716"/>
            <a:ext cx="138856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Ultra </a:t>
            </a:r>
            <a:r>
              <a:rPr sz="800" b="0">
                <a:solidFill>
                  <a:srgbClr val="A9A29C"/>
                </a:solidFill>
                <a:latin typeface="Arial"/>
              </a:rPr>
              <a:t>Product </a:t>
            </a:r>
            <a:r>
              <a:rPr sz="800" b="0">
                <a:solidFill>
                  <a:srgbClr val="A9A29C"/>
                </a:solidFill>
                <a:latin typeface="Arial"/>
              </a:rPr>
              <a:t>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86500" y="4741842"/>
            <a:ext cx="759469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Hanifa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0" y="4925103"/>
            <a:ext cx="110906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Automation, </a:t>
            </a:r>
            <a:r>
              <a:rPr sz="800" b="0">
                <a:solidFill>
                  <a:srgbClr val="A9A29C"/>
                </a:solidFill>
                <a:latin typeface="Arial"/>
              </a:rPr>
              <a:t>EV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33346" y="2688907"/>
            <a:ext cx="19359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Marketing </a:t>
            </a:r>
            <a:r>
              <a:rPr sz="945" b="1">
                <a:solidFill>
                  <a:srgbClr val="F4F1EE"/>
                </a:solidFill>
                <a:latin typeface="Arial"/>
              </a:rPr>
              <a:t>Communication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54245" y="2863405"/>
            <a:ext cx="89401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MARCOMM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3050" y="3174682"/>
            <a:ext cx="136728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Karina </a:t>
            </a:r>
            <a:r>
              <a:rPr sz="945" b="1">
                <a:solidFill>
                  <a:srgbClr val="F4F1EE"/>
                </a:solidFill>
                <a:latin typeface="Arial"/>
              </a:rPr>
              <a:t>Audina </a:t>
            </a:r>
            <a:r>
              <a:rPr sz="945" b="1">
                <a:solidFill>
                  <a:srgbClr val="F4F1EE"/>
                </a:solidFill>
                <a:latin typeface="Arial"/>
              </a:rPr>
              <a:t>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63050" y="3527107"/>
            <a:ext cx="11858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Adinda </a:t>
            </a:r>
            <a:r>
              <a:rPr sz="945" b="1">
                <a:solidFill>
                  <a:srgbClr val="F4F1EE"/>
                </a:solidFill>
                <a:latin typeface="Arial"/>
              </a:rPr>
              <a:t>Siti </a:t>
            </a:r>
            <a:r>
              <a:rPr sz="945" b="1">
                <a:solidFill>
                  <a:srgbClr val="F4F1EE"/>
                </a:solidFill>
                <a:latin typeface="Arial"/>
              </a:rPr>
              <a:t>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63050" y="3879532"/>
            <a:ext cx="79399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Rahma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3050" y="4062793"/>
            <a:ext cx="119628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Graphic </a:t>
            </a:r>
            <a:r>
              <a:rPr sz="800" b="0">
                <a:solidFill>
                  <a:srgbClr val="A9A29C"/>
                </a:solidFill>
                <a:latin typeface="Arial"/>
              </a:rPr>
              <a:t>Designer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10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996433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Roles </a:t>
            </a:r>
            <a:r>
              <a:rPr sz="4510" b="0">
                <a:solidFill>
                  <a:srgbClr val="F0ECE8"/>
                </a:solidFill>
                <a:latin typeface="Arial"/>
              </a:rPr>
              <a:t>&amp; </a:t>
            </a:r>
            <a:r>
              <a:rPr sz="4510" b="0">
                <a:solidFill>
                  <a:srgbClr val="F0ECE8"/>
                </a:solidFill>
                <a:latin typeface="Arial"/>
              </a:rPr>
              <a:t>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83386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</a:t>
            </a:r>
            <a:r>
              <a:rPr sz="1018" b="0">
                <a:solidFill>
                  <a:srgbClr val="FF5A1F"/>
                </a:solidFill>
                <a:latin typeface="Arial"/>
              </a:rPr>
              <a:t>— </a:t>
            </a:r>
            <a:r>
              <a:rPr sz="1018" b="0">
                <a:solidFill>
                  <a:srgbClr val="FF5A1F"/>
                </a:solidFill>
                <a:latin typeface="Arial"/>
              </a:rPr>
              <a:t>Position </a:t>
            </a:r>
            <a:r>
              <a:rPr sz="1018" b="0">
                <a:solidFill>
                  <a:srgbClr val="FF5A1F"/>
                </a:solidFill>
                <a:latin typeface="Arial"/>
              </a:rPr>
              <a:t>&amp; </a:t>
            </a:r>
            <a:r>
              <a:rPr sz="1018" b="0">
                <a:solidFill>
                  <a:srgbClr val="FF5A1F"/>
                </a:solidFill>
                <a:latin typeface="Arial"/>
              </a:rPr>
              <a:t>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22042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Strategic </a:t>
            </a:r>
            <a:r>
              <a:rPr sz="1018" b="0">
                <a:solidFill>
                  <a:srgbClr val="6F6963"/>
                </a:solidFill>
                <a:latin typeface="Arial"/>
              </a:rPr>
              <a:t>vs </a:t>
            </a:r>
            <a:r>
              <a:rPr sz="1018" b="0">
                <a:solidFill>
                  <a:srgbClr val="6F6963"/>
                </a:solidFill>
                <a:latin typeface="Arial"/>
              </a:rPr>
              <a:t>Supply </a:t>
            </a:r>
            <a:r>
              <a:rPr sz="1018" b="0">
                <a:solidFill>
                  <a:srgbClr val="6F6963"/>
                </a:solidFill>
                <a:latin typeface="Arial"/>
              </a:rP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0028" y="6592443"/>
            <a:ext cx="73387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11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0557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04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ROLES </a:t>
            </a:r>
            <a:r>
              <a:rPr sz="727" b="0">
                <a:solidFill>
                  <a:srgbClr val="FF5A1F"/>
                </a:solidFill>
                <a:latin typeface="Arial"/>
              </a:rPr>
              <a:t>&amp; </a:t>
            </a:r>
            <a:r>
              <a:rPr sz="727" b="0">
                <a:solidFill>
                  <a:srgbClr val="FF5A1F"/>
                </a:solidFill>
                <a:latin typeface="Arial"/>
              </a:rPr>
              <a:t>RESPONSIBILITY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76611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Position </a:t>
            </a:r>
            <a:r>
              <a:rPr sz="2182" b="0">
                <a:solidFill>
                  <a:srgbClr val="F0ECE8"/>
                </a:solidFill>
                <a:latin typeface="Arial"/>
              </a:rPr>
              <a:t>&amp; </a:t>
            </a:r>
            <a:r>
              <a:rPr sz="2182" b="0">
                <a:solidFill>
                  <a:srgbClr val="F0ECE8"/>
                </a:solidFill>
                <a:latin typeface="Arial"/>
              </a:rPr>
              <a:t>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34655"/>
            <a:ext cx="135299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REPORTING </a:t>
            </a:r>
            <a:r>
              <a:rPr sz="691" b="1">
                <a:solidFill>
                  <a:srgbClr val="6F6963"/>
                </a:solidFill>
                <a:latin typeface="Arial"/>
              </a:rPr>
              <a:t>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0097" y="1736407"/>
            <a:ext cx="130075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Ricardo </a:t>
            </a:r>
            <a:r>
              <a:rPr sz="945" b="1">
                <a:solidFill>
                  <a:srgbClr val="F4F1EE"/>
                </a:solidFill>
                <a:latin typeface="Arial"/>
              </a:rPr>
              <a:t>Tanada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7542" y="1910905"/>
            <a:ext cx="170571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DEPT </a:t>
            </a:r>
            <a:r>
              <a:rPr sz="691" b="0">
                <a:solidFill>
                  <a:srgbClr val="6F6963"/>
                </a:solidFill>
                <a:latin typeface="Arial"/>
              </a:rPr>
              <a:t>HEAD </a:t>
            </a:r>
            <a:r>
              <a:rPr sz="691" b="0">
                <a:solidFill>
                  <a:srgbClr val="6F6963"/>
                </a:solidFill>
                <a:latin typeface="Arial"/>
              </a:rPr>
              <a:t>(CONCURRENT)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5250" y="2431732"/>
            <a:ext cx="219060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Ignatius </a:t>
            </a:r>
            <a:r>
              <a:rPr sz="945" b="1">
                <a:solidFill>
                  <a:srgbClr val="F4F1EE"/>
                </a:solidFill>
                <a:latin typeface="Arial"/>
              </a:rPr>
              <a:t>Indrawan </a:t>
            </a:r>
            <a:r>
              <a:rPr sz="945" b="1">
                <a:solidFill>
                  <a:srgbClr val="F4F1EE"/>
                </a:solidFill>
                <a:latin typeface="Arial"/>
              </a:rPr>
              <a:t>Sumawinata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9160" y="2606230"/>
            <a:ext cx="106278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DEPUTY </a:t>
            </a:r>
            <a:r>
              <a:rPr sz="691" b="0">
                <a:solidFill>
                  <a:srgbClr val="6F6963"/>
                </a:solidFill>
                <a:latin typeface="Arial"/>
              </a:rPr>
              <a:t>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132" y="3280219"/>
            <a:ext cx="114761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Ervin </a:t>
            </a:r>
            <a:r>
              <a:rPr sz="873" b="1">
                <a:solidFill>
                  <a:srgbClr val="F4F1EE"/>
                </a:solidFill>
                <a:latin typeface="Arial"/>
              </a:rPr>
              <a:t>Bahar </a:t>
            </a:r>
            <a:r>
              <a:rPr sz="873" b="1">
                <a:solidFill>
                  <a:srgbClr val="F4F1EE"/>
                </a:solidFill>
                <a:latin typeface="Arial"/>
              </a:rPr>
              <a:t>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345" y="3453955"/>
            <a:ext cx="126518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Medium </a:t>
            </a:r>
            <a:r>
              <a:rPr sz="727" b="0">
                <a:solidFill>
                  <a:srgbClr val="A9A29C"/>
                </a:solidFill>
                <a:latin typeface="Arial"/>
              </a:rPr>
              <a:t>Vessel, </a:t>
            </a:r>
            <a:r>
              <a:rPr sz="727" b="0">
                <a:solidFill>
                  <a:srgbClr val="A9A29C"/>
                </a:solidFill>
                <a:latin typeface="Arial"/>
              </a:rPr>
              <a:t>Man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54" y="3582543"/>
            <a:ext cx="119122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Hauler, </a:t>
            </a:r>
            <a:r>
              <a:rPr sz="727" b="0">
                <a:solidFill>
                  <a:srgbClr val="A9A29C"/>
                </a:solidFill>
                <a:latin typeface="Arial"/>
              </a:rPr>
              <a:t>Bus </a:t>
            </a:r>
            <a:r>
              <a:rPr sz="727" b="0">
                <a:solidFill>
                  <a:srgbClr val="A9A29C"/>
                </a:solidFill>
                <a:latin typeface="Arial"/>
              </a:rPr>
              <a:t>Scania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3194" y="3223069"/>
            <a:ext cx="127456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D3C0"/>
                </a:solidFill>
                <a:latin typeface="Arial"/>
              </a:rPr>
              <a:t>Tiberias </a:t>
            </a:r>
            <a:r>
              <a:rPr sz="873" b="1">
                <a:solidFill>
                  <a:srgbClr val="FFD3C0"/>
                </a:solidFill>
                <a:latin typeface="Arial"/>
              </a:rPr>
              <a:t>K. </a:t>
            </a:r>
            <a:r>
              <a:rPr sz="873" b="1">
                <a:solidFill>
                  <a:srgbClr val="FFD3C0"/>
                </a:solidFill>
                <a:latin typeface="Arial"/>
              </a:rPr>
              <a:t>Simu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4366" y="3396805"/>
            <a:ext cx="157222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D3C0"/>
                </a:solidFill>
                <a:latin typeface="Arial"/>
              </a:rPr>
              <a:t>Small </a:t>
            </a:r>
            <a:r>
              <a:rPr sz="727" b="0">
                <a:solidFill>
                  <a:srgbClr val="FFD3C0"/>
                </a:solidFill>
                <a:latin typeface="Arial"/>
              </a:rPr>
              <a:t>Suppeq, </a:t>
            </a:r>
            <a:r>
              <a:rPr sz="727" b="0">
                <a:solidFill>
                  <a:srgbClr val="FFD3C0"/>
                </a:solidFill>
                <a:latin typeface="Arial"/>
              </a:rPr>
              <a:t>Truck </a:t>
            </a:r>
            <a:r>
              <a:rPr sz="727" b="0">
                <a:solidFill>
                  <a:srgbClr val="FFD3C0"/>
                </a:solidFill>
                <a:latin typeface="Arial"/>
              </a:rPr>
              <a:t>Others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2589" y="3280219"/>
            <a:ext cx="7366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Eurico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789" y="3453955"/>
            <a:ext cx="134629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Trailer, </a:t>
            </a:r>
            <a:r>
              <a:rPr sz="727" b="0">
                <a:solidFill>
                  <a:srgbClr val="A9A29C"/>
                </a:solidFill>
                <a:latin typeface="Arial"/>
              </a:rPr>
              <a:t>Overseas </a:t>
            </a:r>
            <a:r>
              <a:rPr sz="727" b="0">
                <a:solidFill>
                  <a:srgbClr val="A9A29C"/>
                </a:solidFill>
                <a:latin typeface="Arial"/>
              </a:rPr>
              <a:t>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66069" y="3901630"/>
            <a:ext cx="98881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ASSOCIATES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851" y="1434655"/>
            <a:ext cx="120729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MY </a:t>
            </a:r>
            <a:r>
              <a:rPr sz="691" b="1">
                <a:solidFill>
                  <a:srgbClr val="6F6963"/>
                </a:solidFill>
                <a:latin typeface="Arial"/>
              </a:rPr>
              <a:t>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7726" y="1734883"/>
            <a:ext cx="138871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Small </a:t>
            </a:r>
            <a:r>
              <a:rPr sz="1164" b="1">
                <a:solidFill>
                  <a:srgbClr val="F4F1EE"/>
                </a:solidFill>
                <a:latin typeface="Arial"/>
              </a:rPr>
              <a:t>Suppeq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7726" y="1948243"/>
            <a:ext cx="311169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Water </a:t>
            </a:r>
            <a:r>
              <a:rPr sz="800" b="0">
                <a:solidFill>
                  <a:srgbClr val="A9A29C"/>
                </a:solidFill>
                <a:latin typeface="Arial"/>
              </a:rPr>
              <a:t>Truck </a:t>
            </a:r>
            <a:r>
              <a:rPr sz="800" b="0">
                <a:solidFill>
                  <a:srgbClr val="A9A29C"/>
                </a:solidFill>
                <a:latin typeface="Arial"/>
              </a:rPr>
              <a:t>(WT20, </a:t>
            </a:r>
            <a:r>
              <a:rPr sz="800" b="0">
                <a:solidFill>
                  <a:srgbClr val="A9A29C"/>
                </a:solidFill>
                <a:latin typeface="Arial"/>
              </a:rPr>
              <a:t>WT35), </a:t>
            </a:r>
            <a:r>
              <a:rPr sz="800" b="0">
                <a:solidFill>
                  <a:srgbClr val="A9A29C"/>
                </a:solidFill>
                <a:latin typeface="Arial"/>
              </a:rPr>
              <a:t>Lube </a:t>
            </a:r>
            <a:r>
              <a:rPr sz="800" b="0">
                <a:solidFill>
                  <a:srgbClr val="A9A29C"/>
                </a:solidFill>
                <a:latin typeface="Arial"/>
              </a:rPr>
              <a:t>Truck </a:t>
            </a:r>
            <a:r>
              <a:rPr sz="800" b="0">
                <a:solidFill>
                  <a:srgbClr val="A9A29C"/>
                </a:solidFill>
                <a:latin typeface="Arial"/>
              </a:rPr>
              <a:t>(LT08), </a:t>
            </a:r>
            <a:r>
              <a:rPr sz="800" b="0">
                <a:solidFill>
                  <a:srgbClr val="A9A29C"/>
                </a:solidFill>
                <a:latin typeface="Arial"/>
              </a:rPr>
              <a:t>Fuel </a:t>
            </a:r>
            <a:r>
              <a:rPr sz="800" b="0">
                <a:solidFill>
                  <a:srgbClr val="A9A29C"/>
                </a:solidFill>
                <a:latin typeface="Arial"/>
              </a:rPr>
              <a:t>Truck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7726" y="2089630"/>
            <a:ext cx="199995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(FT20)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0">
                <a:solidFill>
                  <a:srgbClr val="A9A29C"/>
                </a:solidFill>
                <a:latin typeface="Arial"/>
              </a:rPr>
              <a:t>similar </a:t>
            </a:r>
            <a:r>
              <a:rPr sz="800" b="0">
                <a:solidFill>
                  <a:srgbClr val="A9A29C"/>
                </a:solidFill>
                <a:latin typeface="Arial"/>
              </a:rPr>
              <a:t>supporting </a:t>
            </a:r>
            <a:r>
              <a:rPr sz="800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8351" y="1734883"/>
            <a:ext cx="132114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Truck </a:t>
            </a:r>
            <a:r>
              <a:rPr sz="1164" b="1">
                <a:solidFill>
                  <a:srgbClr val="F4F1EE"/>
                </a:solidFill>
                <a:latin typeface="Arial"/>
              </a:rPr>
              <a:t>Others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18351" y="1948243"/>
            <a:ext cx="317390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Mining </a:t>
            </a:r>
            <a:r>
              <a:rPr sz="800" b="0">
                <a:solidFill>
                  <a:srgbClr val="A9A29C"/>
                </a:solidFill>
                <a:latin typeface="Arial"/>
              </a:rPr>
              <a:t>Crane, </a:t>
            </a:r>
            <a:r>
              <a:rPr sz="800" b="0">
                <a:solidFill>
                  <a:srgbClr val="A9A29C"/>
                </a:solidFill>
                <a:latin typeface="Arial"/>
              </a:rPr>
              <a:t>Fire </a:t>
            </a:r>
            <a:r>
              <a:rPr sz="800" b="0">
                <a:solidFill>
                  <a:srgbClr val="A9A29C"/>
                </a:solidFill>
                <a:latin typeface="Arial"/>
              </a:rPr>
              <a:t>Truck, </a:t>
            </a:r>
            <a:r>
              <a:rPr sz="800" b="0">
                <a:solidFill>
                  <a:srgbClr val="A9A29C"/>
                </a:solidFill>
                <a:latin typeface="Arial"/>
              </a:rPr>
              <a:t>Mixer </a:t>
            </a:r>
            <a:r>
              <a:rPr sz="800" b="0">
                <a:solidFill>
                  <a:srgbClr val="A9A29C"/>
                </a:solidFill>
                <a:latin typeface="Arial"/>
              </a:rPr>
              <a:t>Truck, </a:t>
            </a:r>
            <a:r>
              <a:rPr sz="800" b="0">
                <a:solidFill>
                  <a:srgbClr val="A9A29C"/>
                </a:solidFill>
                <a:latin typeface="Arial"/>
              </a:rPr>
              <a:t>Tyre </a:t>
            </a:r>
            <a:r>
              <a:rPr sz="800" b="0">
                <a:solidFill>
                  <a:srgbClr val="A9A29C"/>
                </a:solidFill>
                <a:latin typeface="Arial"/>
              </a:rPr>
              <a:t>Truck, </a:t>
            </a:r>
            <a:r>
              <a:rPr sz="800" b="0">
                <a:solidFill>
                  <a:srgbClr val="A9A29C"/>
                </a:solidFill>
                <a:latin typeface="Arial"/>
              </a:rPr>
              <a:t>Steaming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8351" y="2089630"/>
            <a:ext cx="21882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Truck </a:t>
            </a:r>
            <a:r>
              <a:rPr sz="800" b="0">
                <a:solidFill>
                  <a:srgbClr val="A9A29C"/>
                </a:solidFill>
                <a:latin typeface="Arial"/>
              </a:rPr>
              <a:t>and </a:t>
            </a:r>
            <a:r>
              <a:rPr sz="800" b="0">
                <a:solidFill>
                  <a:srgbClr val="A9A29C"/>
                </a:solidFill>
                <a:latin typeface="Arial"/>
              </a:rPr>
              <a:t>other </a:t>
            </a:r>
            <a:r>
              <a:rPr sz="800" b="0">
                <a:solidFill>
                  <a:srgbClr val="A9A29C"/>
                </a:solidFill>
                <a:latin typeface="Arial"/>
              </a:rPr>
              <a:t>special-purpose </a:t>
            </a:r>
            <a:r>
              <a:rPr sz="800" b="0">
                <a:solidFill>
                  <a:srgbClr val="A9A29C"/>
                </a:solidFill>
                <a:latin typeface="Arial"/>
              </a:rPr>
              <a:t>trucks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576" y="3555158"/>
            <a:ext cx="106367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Fuel </a:t>
            </a:r>
            <a:r>
              <a:rPr sz="727" b="1">
                <a:solidFill>
                  <a:srgbClr val="F4F1EE"/>
                </a:solidFill>
                <a:latin typeface="Arial"/>
              </a:rPr>
              <a:t>Truck </a:t>
            </a:r>
            <a:r>
              <a:rPr sz="727" b="1">
                <a:solidFill>
                  <a:srgbClr val="F4F1EE"/>
                </a:solidFill>
                <a:latin typeface="Arial"/>
              </a:rPr>
              <a:t>(FT)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576" y="4897588"/>
            <a:ext cx="116071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Water </a:t>
            </a:r>
            <a:r>
              <a:rPr sz="727" b="1">
                <a:solidFill>
                  <a:srgbClr val="F4F1EE"/>
                </a:solidFill>
                <a:latin typeface="Arial"/>
              </a:rPr>
              <a:t>Truck </a:t>
            </a:r>
            <a:r>
              <a:rPr sz="727" b="1">
                <a:solidFill>
                  <a:srgbClr val="F4F1EE"/>
                </a:solidFill>
                <a:latin typeface="Arial"/>
              </a:rPr>
              <a:t>(WT)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576" y="6240018"/>
            <a:ext cx="10883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Lube </a:t>
            </a:r>
            <a:r>
              <a:rPr sz="727" b="1">
                <a:solidFill>
                  <a:srgbClr val="F4F1EE"/>
                </a:solidFill>
                <a:latin typeface="Arial"/>
              </a:rPr>
              <a:t>Truck </a:t>
            </a:r>
            <a:r>
              <a:rPr sz="727" b="1">
                <a:solidFill>
                  <a:srgbClr val="F4F1EE"/>
                </a:solidFill>
                <a:latin typeface="Arial"/>
              </a:rPr>
              <a:t>(LT)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7401" y="3555158"/>
            <a:ext cx="93166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Crane </a:t>
            </a:r>
            <a:r>
              <a:rPr sz="727" b="1">
                <a:solidFill>
                  <a:srgbClr val="F4F1EE"/>
                </a:solidFill>
                <a:latin typeface="Arial"/>
              </a:rPr>
              <a:t>Truck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7401" y="4897588"/>
            <a:ext cx="91053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Mixer </a:t>
            </a:r>
            <a:r>
              <a:rPr sz="727" b="1">
                <a:solidFill>
                  <a:srgbClr val="F4F1EE"/>
                </a:solidFill>
                <a:latin typeface="Arial"/>
              </a:rPr>
              <a:t>Truck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7401" y="6240018"/>
            <a:ext cx="112216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4F1EE"/>
                </a:solidFill>
                <a:latin typeface="Arial"/>
              </a:rPr>
              <a:t>Stemming </a:t>
            </a:r>
            <a:r>
              <a:rPr sz="727" b="1">
                <a:solidFill>
                  <a:srgbClr val="F4F1EE"/>
                </a:solidFill>
                <a:latin typeface="Arial"/>
              </a:rPr>
              <a:t>Truck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12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29107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04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ROLES </a:t>
            </a:r>
            <a:r>
              <a:rPr sz="727" b="0">
                <a:solidFill>
                  <a:srgbClr val="FF5A1F"/>
                </a:solidFill>
                <a:latin typeface="Arial"/>
              </a:rPr>
              <a:t>&amp; </a:t>
            </a:r>
            <a:r>
              <a:rPr sz="727" b="0">
                <a:solidFill>
                  <a:srgbClr val="FF5A1F"/>
                </a:solidFill>
                <a:latin typeface="Arial"/>
              </a:rPr>
              <a:t>RESPONSIBILITY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51011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Strategic </a:t>
            </a:r>
            <a:r>
              <a:rPr sz="2182" b="0">
                <a:solidFill>
                  <a:srgbClr val="F0ECE8"/>
                </a:solidFill>
                <a:latin typeface="Arial"/>
              </a:rPr>
              <a:t>vs </a:t>
            </a:r>
            <a:r>
              <a:rPr sz="2182" b="0">
                <a:solidFill>
                  <a:srgbClr val="F0ECE8"/>
                </a:solidFill>
                <a:latin typeface="Arial"/>
              </a:rPr>
              <a:t>Supply </a:t>
            </a:r>
            <a:r>
              <a:rPr sz="2182" b="0">
                <a:solidFill>
                  <a:srgbClr val="F0ECE8"/>
                </a:solidFill>
                <a:latin typeface="Arial"/>
              </a:rPr>
              <a:t>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025" y="1418082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401508"/>
            <a:ext cx="214357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Strategic </a:t>
            </a:r>
            <a:r>
              <a:rPr sz="1091" b="1">
                <a:solidFill>
                  <a:srgbClr val="F4F1EE"/>
                </a:solidFill>
                <a:latin typeface="Arial"/>
              </a:rPr>
              <a:t>vs </a:t>
            </a:r>
            <a:r>
              <a:rPr sz="1091" b="1">
                <a:solidFill>
                  <a:srgbClr val="F4F1EE"/>
                </a:solidFill>
                <a:latin typeface="Arial"/>
              </a:rPr>
              <a:t>Supply </a:t>
            </a:r>
            <a:r>
              <a:rPr sz="1091" b="1">
                <a:solidFill>
                  <a:srgbClr val="F4F1EE"/>
                </a:solidFill>
                <a:latin typeface="Arial"/>
              </a:rP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1779270"/>
            <a:ext cx="139407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F5A1F"/>
                </a:solidFill>
                <a:latin typeface="Arial"/>
              </a:rPr>
              <a:t>A. </a:t>
            </a:r>
            <a:r>
              <a:rPr sz="945" b="1">
                <a:solidFill>
                  <a:srgbClr val="FF5A1F"/>
                </a:solidFill>
                <a:latin typeface="Arial"/>
              </a:rPr>
              <a:t>STRATEGIC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4169" y="1820418"/>
            <a:ext cx="222185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Sets </a:t>
            </a:r>
            <a:r>
              <a:rPr sz="691" b="0">
                <a:solidFill>
                  <a:srgbClr val="6F6963"/>
                </a:solidFill>
                <a:latin typeface="Arial"/>
              </a:rPr>
              <a:t>the </a:t>
            </a:r>
            <a:r>
              <a:rPr sz="691" b="0">
                <a:solidFill>
                  <a:srgbClr val="6F6963"/>
                </a:solidFill>
                <a:latin typeface="Arial"/>
              </a:rPr>
              <a:t>direction </a:t>
            </a:r>
            <a:r>
              <a:rPr sz="691" b="0">
                <a:solidFill>
                  <a:srgbClr val="6F6963"/>
                </a:solidFill>
                <a:latin typeface="Arial"/>
              </a:rPr>
              <a:t>· </a:t>
            </a:r>
            <a:r>
              <a:rPr sz="691" b="0">
                <a:solidFill>
                  <a:srgbClr val="6F6963"/>
                </a:solidFill>
                <a:latin typeface="Arial"/>
              </a:rPr>
              <a:t>for </a:t>
            </a:r>
            <a:r>
              <a:rPr sz="691" b="0">
                <a:solidFill>
                  <a:srgbClr val="6F6963"/>
                </a:solidFill>
                <a:latin typeface="Arial"/>
              </a:rPr>
              <a:t>management </a:t>
            </a:r>
            <a:r>
              <a:rPr sz="691" b="0">
                <a:solidFill>
                  <a:srgbClr val="6F6963"/>
                </a:solidFill>
                <a:latin typeface="Arial"/>
              </a:rPr>
              <a:t>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2002155"/>
            <a:ext cx="138305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EXAMPLE </a:t>
            </a:r>
            <a:r>
              <a:rPr sz="618" b="1">
                <a:solidFill>
                  <a:srgbClr val="6F6963"/>
                </a:solidFill>
                <a:latin typeface="Arial"/>
              </a:rPr>
              <a:t>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3733" y="2002155"/>
            <a:ext cx="973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END </a:t>
            </a:r>
            <a:r>
              <a:rPr sz="618" b="1">
                <a:solidFill>
                  <a:srgbClr val="6F6963"/>
                </a:solidFill>
                <a:latin typeface="Arial"/>
              </a:rPr>
              <a:t>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2182814"/>
            <a:ext cx="284410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Pricing </a:t>
            </a:r>
            <a:r>
              <a:rPr sz="698" b="0">
                <a:solidFill>
                  <a:srgbClr val="F4F1EE"/>
                </a:solidFill>
                <a:latin typeface="Arial"/>
              </a:rPr>
              <a:t>&amp; </a:t>
            </a:r>
            <a:r>
              <a:rPr sz="698" b="0">
                <a:solidFill>
                  <a:srgbClr val="F4F1EE"/>
                </a:solidFill>
                <a:latin typeface="Arial"/>
              </a:rPr>
              <a:t>Market </a:t>
            </a:r>
            <a:r>
              <a:rPr sz="698" b="0">
                <a:solidFill>
                  <a:srgbClr val="F4F1EE"/>
                </a:solidFill>
                <a:latin typeface="Arial"/>
              </a:rPr>
              <a:t>Analysis: </a:t>
            </a:r>
            <a:r>
              <a:rPr sz="698" b="0">
                <a:solidFill>
                  <a:srgbClr val="F4F1EE"/>
                </a:solidFill>
                <a:latin typeface="Arial"/>
              </a:rPr>
              <a:t>price </a:t>
            </a:r>
            <a:r>
              <a:rPr sz="698" b="0">
                <a:solidFill>
                  <a:srgbClr val="F4F1EE"/>
                </a:solidFill>
                <a:latin typeface="Arial"/>
              </a:rPr>
              <a:t>&amp; </a:t>
            </a:r>
            <a:r>
              <a:rPr sz="698" b="0">
                <a:solidFill>
                  <a:srgbClr val="F4F1EE"/>
                </a:solidFill>
                <a:latin typeface="Arial"/>
              </a:rPr>
              <a:t>market </a:t>
            </a:r>
            <a:r>
              <a:rPr sz="698" b="0">
                <a:solidFill>
                  <a:srgbClr val="F4F1EE"/>
                </a:solidFill>
                <a:latin typeface="Arial"/>
              </a:rPr>
              <a:t>analysis </a:t>
            </a:r>
            <a:r>
              <a:rPr sz="698" b="0">
                <a:solidFill>
                  <a:srgbClr val="F4F1EE"/>
                </a:solidFill>
                <a:latin typeface="Arial"/>
              </a:rPr>
              <a:t>simulation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3733" y="2182814"/>
            <a:ext cx="153397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Basis </a:t>
            </a:r>
            <a:r>
              <a:rPr sz="698" b="0">
                <a:solidFill>
                  <a:srgbClr val="A9A29C"/>
                </a:solidFill>
                <a:latin typeface="Arial"/>
              </a:rPr>
              <a:t>for </a:t>
            </a:r>
            <a:r>
              <a:rPr sz="698" b="0">
                <a:solidFill>
                  <a:srgbClr val="A9A29C"/>
                </a:solidFill>
                <a:latin typeface="Arial"/>
              </a:rPr>
              <a:t>the </a:t>
            </a:r>
            <a:r>
              <a:rPr sz="698" b="0">
                <a:solidFill>
                  <a:srgbClr val="A9A29C"/>
                </a:solidFill>
                <a:latin typeface="Arial"/>
              </a:rPr>
              <a:t>pricing </a:t>
            </a:r>
            <a:r>
              <a:rPr sz="698" b="0">
                <a:solidFill>
                  <a:srgbClr val="A9A29C"/>
                </a:solidFill>
                <a:latin typeface="Arial"/>
              </a:rPr>
              <a:t>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2368254"/>
            <a:ext cx="295602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Market </a:t>
            </a:r>
            <a:r>
              <a:rPr sz="698" b="0">
                <a:solidFill>
                  <a:srgbClr val="F4F1EE"/>
                </a:solidFill>
                <a:latin typeface="Arial"/>
              </a:rPr>
              <a:t>Study </a:t>
            </a:r>
            <a:r>
              <a:rPr sz="698" b="0">
                <a:solidFill>
                  <a:srgbClr val="F4F1EE"/>
                </a:solidFill>
                <a:latin typeface="Arial"/>
              </a:rPr>
              <a:t>&amp; </a:t>
            </a:r>
            <a:r>
              <a:rPr sz="698" b="0">
                <a:solidFill>
                  <a:srgbClr val="F4F1EE"/>
                </a:solidFill>
                <a:latin typeface="Arial"/>
              </a:rPr>
              <a:t>Program </a:t>
            </a:r>
            <a:r>
              <a:rPr sz="698" b="0">
                <a:solidFill>
                  <a:srgbClr val="F4F1EE"/>
                </a:solidFill>
                <a:latin typeface="Arial"/>
              </a:rPr>
              <a:t>Development: </a:t>
            </a:r>
            <a:r>
              <a:rPr sz="698" b="0">
                <a:solidFill>
                  <a:srgbClr val="F4F1EE"/>
                </a:solidFill>
                <a:latin typeface="Arial"/>
              </a:rPr>
              <a:t>market </a:t>
            </a:r>
            <a:r>
              <a:rPr sz="698" b="0">
                <a:solidFill>
                  <a:srgbClr val="F4F1EE"/>
                </a:solidFill>
                <a:latin typeface="Arial"/>
              </a:rPr>
              <a:t>data, </a:t>
            </a:r>
            <a:r>
              <a:rPr sz="698" b="0">
                <a:solidFill>
                  <a:srgbClr val="F4F1EE"/>
                </a:solidFill>
                <a:latin typeface="Arial"/>
              </a:rPr>
              <a:t>competitor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925" y="2487019"/>
            <a:ext cx="206216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mapping, </a:t>
            </a:r>
            <a:r>
              <a:rPr sz="698" b="0">
                <a:solidFill>
                  <a:srgbClr val="F4F1EE"/>
                </a:solidFill>
                <a:latin typeface="Arial"/>
              </a:rPr>
              <a:t>new </a:t>
            </a:r>
            <a:r>
              <a:rPr sz="698" b="0">
                <a:solidFill>
                  <a:srgbClr val="F4F1EE"/>
                </a:solidFill>
                <a:latin typeface="Arial"/>
              </a:rPr>
              <a:t>product </a:t>
            </a:r>
            <a:r>
              <a:rPr sz="698" b="0">
                <a:solidFill>
                  <a:srgbClr val="F4F1EE"/>
                </a:solidFill>
                <a:latin typeface="Arial"/>
              </a:rPr>
              <a:t>analysis, </a:t>
            </a:r>
            <a:r>
              <a:rPr sz="698" b="0">
                <a:solidFill>
                  <a:srgbClr val="F4F1EE"/>
                </a:solidFill>
                <a:latin typeface="Arial"/>
              </a:rPr>
              <a:t>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3733" y="2368254"/>
            <a:ext cx="270748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Market </a:t>
            </a:r>
            <a:r>
              <a:rPr sz="698" b="0">
                <a:solidFill>
                  <a:srgbClr val="A9A29C"/>
                </a:solidFill>
                <a:latin typeface="Arial"/>
              </a:rPr>
              <a:t>size </a:t>
            </a:r>
            <a:r>
              <a:rPr sz="698" b="0">
                <a:solidFill>
                  <a:srgbClr val="A9A29C"/>
                </a:solidFill>
                <a:latin typeface="Arial"/>
              </a:rPr>
              <a:t>/ </a:t>
            </a:r>
            <a:r>
              <a:rPr sz="698" b="0">
                <a:solidFill>
                  <a:srgbClr val="A9A29C"/>
                </a:solidFill>
                <a:latin typeface="Arial"/>
              </a:rPr>
              <a:t>share, </a:t>
            </a:r>
            <a:r>
              <a:rPr sz="698" b="0">
                <a:solidFill>
                  <a:srgbClr val="A9A29C"/>
                </a:solidFill>
                <a:latin typeface="Arial"/>
              </a:rPr>
              <a:t>segmentation, </a:t>
            </a:r>
            <a:r>
              <a:rPr sz="698" b="0">
                <a:solidFill>
                  <a:srgbClr val="A9A29C"/>
                </a:solidFill>
                <a:latin typeface="Arial"/>
              </a:rPr>
              <a:t>positioning </a:t>
            </a:r>
            <a:r>
              <a:rPr sz="698" b="0">
                <a:solidFill>
                  <a:srgbClr val="A9A29C"/>
                </a:solidFill>
                <a:latin typeface="Arial"/>
              </a:rPr>
              <a:t>&amp; </a:t>
            </a:r>
            <a:r>
              <a:rPr sz="698" b="0">
                <a:solidFill>
                  <a:srgbClr val="A9A29C"/>
                </a:solidFill>
                <a:latin typeface="Arial"/>
              </a:rPr>
              <a:t>targeting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2672459"/>
            <a:ext cx="315932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Market </a:t>
            </a:r>
            <a:r>
              <a:rPr sz="698" b="0">
                <a:solidFill>
                  <a:srgbClr val="F4F1EE"/>
                </a:solidFill>
                <a:latin typeface="Arial"/>
              </a:rPr>
              <a:t>Program </a:t>
            </a:r>
            <a:r>
              <a:rPr sz="698" b="0">
                <a:solidFill>
                  <a:srgbClr val="F4F1EE"/>
                </a:solidFill>
                <a:latin typeface="Arial"/>
              </a:rPr>
              <a:t>for </a:t>
            </a:r>
            <a:r>
              <a:rPr sz="698" b="0">
                <a:solidFill>
                  <a:srgbClr val="F4F1EE"/>
                </a:solidFill>
                <a:latin typeface="Arial"/>
              </a:rPr>
              <a:t>Support </a:t>
            </a:r>
            <a:r>
              <a:rPr sz="698" b="0">
                <a:solidFill>
                  <a:srgbClr val="F4F1EE"/>
                </a:solidFill>
                <a:latin typeface="Arial"/>
              </a:rPr>
              <a:t>Sales: </a:t>
            </a:r>
            <a:r>
              <a:rPr sz="698" b="0">
                <a:solidFill>
                  <a:srgbClr val="F4F1EE"/>
                </a:solidFill>
                <a:latin typeface="Arial"/>
              </a:rPr>
              <a:t>sales </a:t>
            </a:r>
            <a:r>
              <a:rPr sz="698" b="0">
                <a:solidFill>
                  <a:srgbClr val="F4F1EE"/>
                </a:solidFill>
                <a:latin typeface="Arial"/>
              </a:rPr>
              <a:t>tools </a:t>
            </a:r>
            <a:r>
              <a:rPr sz="698" b="0">
                <a:solidFill>
                  <a:srgbClr val="F4F1EE"/>
                </a:solidFill>
                <a:latin typeface="Arial"/>
              </a:rPr>
              <a:t>(pamphlet), </a:t>
            </a:r>
            <a:r>
              <a:rPr sz="698" b="0">
                <a:solidFill>
                  <a:srgbClr val="F4F1EE"/>
                </a:solidFill>
                <a:latin typeface="Arial"/>
              </a:rPr>
              <a:t>campaign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2791223"/>
            <a:ext cx="17779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&amp; </a:t>
            </a:r>
            <a:r>
              <a:rPr sz="698" b="0">
                <a:solidFill>
                  <a:srgbClr val="F4F1EE"/>
                </a:solidFill>
                <a:latin typeface="Arial"/>
              </a:rPr>
              <a:t>project </a:t>
            </a:r>
            <a:r>
              <a:rPr sz="698" b="0">
                <a:solidFill>
                  <a:srgbClr val="F4F1EE"/>
                </a:solidFill>
                <a:latin typeface="Arial"/>
              </a:rPr>
              <a:t>showcase, </a:t>
            </a:r>
            <a:r>
              <a:rPr sz="698" b="0">
                <a:solidFill>
                  <a:srgbClr val="F4F1EE"/>
                </a:solidFill>
                <a:latin typeface="Arial"/>
              </a:rPr>
              <a:t>event </a:t>
            </a:r>
            <a:r>
              <a:rPr sz="698" b="0">
                <a:solidFill>
                  <a:srgbClr val="F4F1EE"/>
                </a:solidFill>
                <a:latin typeface="Arial"/>
              </a:rP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3733" y="2672459"/>
            <a:ext cx="178281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Programs </a:t>
            </a:r>
            <a:r>
              <a:rPr sz="698" b="0">
                <a:solidFill>
                  <a:srgbClr val="A9A29C"/>
                </a:solidFill>
                <a:latin typeface="Arial"/>
              </a:rPr>
              <a:t>ready </a:t>
            </a:r>
            <a:r>
              <a:rPr sz="698" b="0">
                <a:solidFill>
                  <a:srgbClr val="A9A29C"/>
                </a:solidFill>
                <a:latin typeface="Arial"/>
              </a:rPr>
              <a:t>for </a:t>
            </a:r>
            <a:r>
              <a:rPr sz="698" b="0">
                <a:solidFill>
                  <a:srgbClr val="A9A29C"/>
                </a:solidFill>
                <a:latin typeface="Arial"/>
              </a:rPr>
              <a:t>the </a:t>
            </a:r>
            <a:r>
              <a:rPr sz="698" b="0">
                <a:solidFill>
                  <a:srgbClr val="A9A29C"/>
                </a:solidFill>
                <a:latin typeface="Arial"/>
              </a:rPr>
              <a:t>sales </a:t>
            </a:r>
            <a:r>
              <a:rPr sz="698" b="0">
                <a:solidFill>
                  <a:srgbClr val="A9A29C"/>
                </a:solidFill>
                <a:latin typeface="Arial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2976663"/>
            <a:ext cx="248885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Performance </a:t>
            </a:r>
            <a:r>
              <a:rPr sz="698" b="0">
                <a:solidFill>
                  <a:srgbClr val="F4F1EE"/>
                </a:solidFill>
                <a:latin typeface="Arial"/>
              </a:rPr>
              <a:t>Reporting: </a:t>
            </a:r>
            <a:r>
              <a:rPr sz="698" b="0">
                <a:solidFill>
                  <a:srgbClr val="F4F1EE"/>
                </a:solidFill>
                <a:latin typeface="Arial"/>
              </a:rPr>
              <a:t>PICA </a:t>
            </a:r>
            <a:r>
              <a:rPr sz="698" b="0">
                <a:solidFill>
                  <a:srgbClr val="F4F1EE"/>
                </a:solidFill>
                <a:latin typeface="Arial"/>
              </a:rPr>
              <a:t>analysis, </a:t>
            </a:r>
            <a:r>
              <a:rPr sz="698" b="0">
                <a:solidFill>
                  <a:srgbClr val="F4F1EE"/>
                </a:solidFill>
                <a:latin typeface="Arial"/>
              </a:rPr>
              <a:t>billing </a:t>
            </a:r>
            <a:r>
              <a:rPr sz="698" b="0">
                <a:solidFill>
                  <a:srgbClr val="F4F1EE"/>
                </a:solidFill>
                <a:latin typeface="Arial"/>
              </a:rP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3733" y="2976663"/>
            <a:ext cx="274811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Input </a:t>
            </a:r>
            <a:r>
              <a:rPr sz="698" b="0">
                <a:solidFill>
                  <a:srgbClr val="A9A29C"/>
                </a:solidFill>
                <a:latin typeface="Arial"/>
              </a:rPr>
              <a:t>for </a:t>
            </a:r>
            <a:r>
              <a:rPr sz="698" b="0">
                <a:solidFill>
                  <a:srgbClr val="A9A29C"/>
                </a:solidFill>
                <a:latin typeface="Arial"/>
              </a:rPr>
              <a:t>performance </a:t>
            </a:r>
            <a:r>
              <a:rPr sz="698" b="0">
                <a:solidFill>
                  <a:srgbClr val="A9A29C"/>
                </a:solidFill>
                <a:latin typeface="Arial"/>
              </a:rPr>
              <a:t>evaluation </a:t>
            </a:r>
            <a:r>
              <a:rPr sz="698" b="0">
                <a:solidFill>
                  <a:srgbClr val="A9A29C"/>
                </a:solidFill>
                <a:latin typeface="Arial"/>
              </a:rPr>
              <a:t>&amp; </a:t>
            </a:r>
            <a:r>
              <a:rPr sz="698" b="0">
                <a:solidFill>
                  <a:srgbClr val="A9A29C"/>
                </a:solidFill>
                <a:latin typeface="Arial"/>
              </a:rPr>
              <a:t>management </a:t>
            </a:r>
            <a:r>
              <a:rPr sz="698" b="0">
                <a:solidFill>
                  <a:srgbClr val="A9A29C"/>
                </a:solidFill>
                <a:latin typeface="Arial"/>
              </a:rPr>
              <a:t>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3162103"/>
            <a:ext cx="285496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Innovation </a:t>
            </a:r>
            <a:r>
              <a:rPr sz="698" b="0">
                <a:solidFill>
                  <a:srgbClr val="F4F1EE"/>
                </a:solidFill>
                <a:latin typeface="Arial"/>
              </a:rPr>
              <a:t>&amp; </a:t>
            </a:r>
            <a:r>
              <a:rPr sz="698" b="0">
                <a:solidFill>
                  <a:srgbClr val="F4F1EE"/>
                </a:solidFill>
                <a:latin typeface="Arial"/>
              </a:rPr>
              <a:t>Development: </a:t>
            </a:r>
            <a:r>
              <a:rPr sz="698" b="0">
                <a:solidFill>
                  <a:srgbClr val="F4F1EE"/>
                </a:solidFill>
                <a:latin typeface="Arial"/>
              </a:rPr>
              <a:t>innovation </a:t>
            </a:r>
            <a:r>
              <a:rPr sz="698" b="0">
                <a:solidFill>
                  <a:srgbClr val="F4F1EE"/>
                </a:solidFill>
                <a:latin typeface="Arial"/>
              </a:rPr>
              <a:t>project </a:t>
            </a:r>
            <a:r>
              <a:rPr sz="698" b="0">
                <a:solidFill>
                  <a:srgbClr val="F4F1EE"/>
                </a:solidFill>
                <a:latin typeface="Arial"/>
              </a:rPr>
              <a:t>&amp; </a:t>
            </a:r>
            <a:r>
              <a:rPr sz="698" b="0">
                <a:solidFill>
                  <a:srgbClr val="F4F1EE"/>
                </a:solidFill>
                <a:latin typeface="Arial"/>
              </a:rPr>
              <a:t>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3733" y="3162103"/>
            <a:ext cx="243825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Innovation </a:t>
            </a:r>
            <a:r>
              <a:rPr sz="698" b="0">
                <a:solidFill>
                  <a:srgbClr val="A9A29C"/>
                </a:solidFill>
                <a:latin typeface="Arial"/>
              </a:rPr>
              <a:t>framework; </a:t>
            </a:r>
            <a:r>
              <a:rPr sz="698" b="0">
                <a:solidFill>
                  <a:srgbClr val="A9A29C"/>
                </a:solidFill>
                <a:latin typeface="Arial"/>
              </a:rPr>
              <a:t>field </a:t>
            </a:r>
            <a:r>
              <a:rPr sz="698" b="0">
                <a:solidFill>
                  <a:srgbClr val="A9A29C"/>
                </a:solidFill>
                <a:latin typeface="Arial"/>
              </a:rPr>
              <a:t>conditions </a:t>
            </a:r>
            <a:r>
              <a:rPr sz="698" b="0">
                <a:solidFill>
                  <a:srgbClr val="A9A29C"/>
                </a:solidFill>
                <a:latin typeface="Arial"/>
              </a:rPr>
              <a:t>documented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6975" y="1779270"/>
            <a:ext cx="163338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FB089"/>
                </a:solidFill>
                <a:latin typeface="Arial"/>
              </a:rPr>
              <a:t>B. </a:t>
            </a:r>
            <a:r>
              <a:rPr sz="945" b="1">
                <a:solidFill>
                  <a:srgbClr val="FFB089"/>
                </a:solidFill>
                <a:latin typeface="Arial"/>
              </a:rPr>
              <a:t>SUPPLY </a:t>
            </a:r>
            <a:r>
              <a:rPr sz="945" b="1">
                <a:solidFill>
                  <a:srgbClr val="FFB089"/>
                </a:solidFill>
                <a:latin typeface="Arial"/>
              </a:rPr>
              <a:t>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5350" y="1820418"/>
            <a:ext cx="184472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Runs </a:t>
            </a:r>
            <a:r>
              <a:rPr sz="691" b="0">
                <a:solidFill>
                  <a:srgbClr val="6F6963"/>
                </a:solidFill>
                <a:latin typeface="Arial"/>
              </a:rPr>
              <a:t>the </a:t>
            </a:r>
            <a:r>
              <a:rPr sz="691" b="0">
                <a:solidFill>
                  <a:srgbClr val="6F6963"/>
                </a:solidFill>
                <a:latin typeface="Arial"/>
              </a:rPr>
              <a:t>transaction </a:t>
            </a:r>
            <a:r>
              <a:rPr sz="691" b="0">
                <a:solidFill>
                  <a:srgbClr val="6F6963"/>
                </a:solidFill>
                <a:latin typeface="Arial"/>
              </a:rPr>
              <a:t>· </a:t>
            </a:r>
            <a:r>
              <a:rPr sz="691" b="0">
                <a:solidFill>
                  <a:srgbClr val="6F6963"/>
                </a:solidFill>
                <a:latin typeface="Arial"/>
              </a:rPr>
              <a:t>for </a:t>
            </a:r>
            <a:r>
              <a:rPr sz="691" b="0">
                <a:solidFill>
                  <a:srgbClr val="6F6963"/>
                </a:solidFill>
                <a:latin typeface="Arial"/>
              </a:rPr>
              <a:t>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6975" y="2002155"/>
            <a:ext cx="138305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EXAMPLE </a:t>
            </a:r>
            <a:r>
              <a:rPr sz="618" b="1">
                <a:solidFill>
                  <a:srgbClr val="6F6963"/>
                </a:solidFill>
                <a:latin typeface="Arial"/>
              </a:rPr>
              <a:t>ACTIVITIES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7783" y="2002155"/>
            <a:ext cx="973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6F6963"/>
                </a:solidFill>
                <a:latin typeface="Arial"/>
              </a:rPr>
              <a:t>END </a:t>
            </a:r>
            <a:r>
              <a:rPr sz="618" b="1">
                <a:solidFill>
                  <a:srgbClr val="6F6963"/>
                </a:solidFill>
                <a:latin typeface="Arial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6975" y="2182814"/>
            <a:ext cx="296644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Demand </a:t>
            </a:r>
            <a:r>
              <a:rPr sz="698" b="0">
                <a:solidFill>
                  <a:srgbClr val="F4F1EE"/>
                </a:solidFill>
                <a:latin typeface="Arial"/>
              </a:rPr>
              <a:t>Check: </a:t>
            </a:r>
            <a:r>
              <a:rPr sz="698" b="0">
                <a:solidFill>
                  <a:srgbClr val="F4F1EE"/>
                </a:solidFill>
                <a:latin typeface="Arial"/>
              </a:rPr>
              <a:t>rising </a:t>
            </a:r>
            <a:r>
              <a:rPr sz="698" b="0">
                <a:solidFill>
                  <a:srgbClr val="F4F1EE"/>
                </a:solidFill>
                <a:latin typeface="Arial"/>
              </a:rPr>
              <a:t>demand </a:t>
            </a:r>
            <a:r>
              <a:rPr sz="698" b="0">
                <a:solidFill>
                  <a:srgbClr val="F4F1EE"/>
                </a:solidFill>
                <a:latin typeface="Arial"/>
              </a:rPr>
              <a:t>in </a:t>
            </a:r>
            <a:r>
              <a:rPr sz="698" b="0">
                <a:solidFill>
                  <a:srgbClr val="F4F1EE"/>
                </a:solidFill>
                <a:latin typeface="Arial"/>
              </a:rPr>
              <a:t>PCR, </a:t>
            </a:r>
            <a:r>
              <a:rPr sz="698" b="0">
                <a:solidFill>
                  <a:srgbClr val="F4F1EE"/>
                </a:solidFill>
                <a:latin typeface="Arial"/>
              </a:rPr>
              <a:t>buying </a:t>
            </a:r>
            <a:r>
              <a:rPr sz="698" b="0">
                <a:solidFill>
                  <a:srgbClr val="F4F1EE"/>
                </a:solidFill>
                <a:latin typeface="Arial"/>
              </a:rPr>
              <a:t>reason, </a:t>
            </a:r>
            <a:r>
              <a:rPr sz="698" b="0">
                <a:solidFill>
                  <a:srgbClr val="F4F1EE"/>
                </a:solidFill>
                <a:latin typeface="Arial"/>
              </a:rPr>
              <a:t>location,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6975" y="2301579"/>
            <a:ext cx="129361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priority, </a:t>
            </a:r>
            <a:r>
              <a:rPr sz="698" b="0">
                <a:solidFill>
                  <a:srgbClr val="F4F1EE"/>
                </a:solidFill>
                <a:latin typeface="Arial"/>
              </a:rPr>
              <a:t>expected </a:t>
            </a:r>
            <a:r>
              <a:rPr sz="698" b="0">
                <a:solidFill>
                  <a:srgbClr val="F4F1EE"/>
                </a:solidFill>
                <a:latin typeface="Arial"/>
              </a:rPr>
              <a:t>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7783" y="2182814"/>
            <a:ext cx="156477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Clear </a:t>
            </a:r>
            <a:r>
              <a:rPr sz="698" b="0">
                <a:solidFill>
                  <a:srgbClr val="A9A29C"/>
                </a:solidFill>
                <a:latin typeface="Arial"/>
              </a:rPr>
              <a:t>demand </a:t>
            </a:r>
            <a:r>
              <a:rPr sz="698" b="0">
                <a:solidFill>
                  <a:srgbClr val="A9A29C"/>
                </a:solidFill>
                <a:latin typeface="Arial"/>
              </a:rPr>
              <a:t>before </a:t>
            </a:r>
            <a:r>
              <a:rPr sz="698" b="0">
                <a:solidFill>
                  <a:srgbClr val="A9A29C"/>
                </a:solidFill>
                <a:latin typeface="Arial"/>
              </a:rPr>
              <a:t>quoting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6975" y="2487019"/>
            <a:ext cx="292551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Preliminary </a:t>
            </a:r>
            <a:r>
              <a:rPr sz="698" b="0">
                <a:solidFill>
                  <a:srgbClr val="F4F1EE"/>
                </a:solidFill>
                <a:latin typeface="Arial"/>
              </a:rPr>
              <a:t>Drawing </a:t>
            </a:r>
            <a:r>
              <a:rPr sz="698" b="0">
                <a:solidFill>
                  <a:srgbClr val="F4F1EE"/>
                </a:solidFill>
                <a:latin typeface="Arial"/>
              </a:rPr>
              <a:t>Review: </a:t>
            </a:r>
            <a:r>
              <a:rPr sz="698" b="0">
                <a:solidFill>
                  <a:srgbClr val="F4F1EE"/>
                </a:solidFill>
                <a:latin typeface="Arial"/>
              </a:rPr>
              <a:t>unit </a:t>
            </a:r>
            <a:r>
              <a:rPr sz="698" b="0">
                <a:solidFill>
                  <a:srgbClr val="F4F1EE"/>
                </a:solidFill>
                <a:latin typeface="Arial"/>
              </a:rPr>
              <a:t>function, </a:t>
            </a:r>
            <a:r>
              <a:rPr sz="698" b="0">
                <a:solidFill>
                  <a:srgbClr val="F4F1EE"/>
                </a:solidFill>
                <a:latin typeface="Arial"/>
              </a:rPr>
              <a:t>critical </a:t>
            </a:r>
            <a:r>
              <a:rPr sz="698" b="0">
                <a:solidFill>
                  <a:srgbClr val="F4F1EE"/>
                </a:solidFill>
                <a:latin typeface="Arial"/>
              </a:rPr>
              <a:t>components,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6975" y="2605784"/>
            <a:ext cx="134123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Application </a:t>
            </a:r>
            <a:r>
              <a:rPr sz="698" b="0">
                <a:solidFill>
                  <a:srgbClr val="F4F1EE"/>
                </a:solidFill>
                <a:latin typeface="Arial"/>
              </a:rPr>
              <a:t>Engineering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7783" y="2487019"/>
            <a:ext cx="197063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Critical </a:t>
            </a:r>
            <a:r>
              <a:rPr sz="698" b="0">
                <a:solidFill>
                  <a:srgbClr val="A9A29C"/>
                </a:solidFill>
                <a:latin typeface="Arial"/>
              </a:rPr>
              <a:t>price </a:t>
            </a:r>
            <a:r>
              <a:rPr sz="698" b="0">
                <a:solidFill>
                  <a:srgbClr val="A9A29C"/>
                </a:solidFill>
                <a:latin typeface="Arial"/>
              </a:rPr>
              <a:t>/ </a:t>
            </a:r>
            <a:r>
              <a:rPr sz="698" b="0">
                <a:solidFill>
                  <a:srgbClr val="A9A29C"/>
                </a:solidFill>
                <a:latin typeface="Arial"/>
              </a:rPr>
              <a:t>lead-time </a:t>
            </a:r>
            <a:r>
              <a:rPr sz="698" b="0">
                <a:solidFill>
                  <a:srgbClr val="A9A29C"/>
                </a:solidFill>
                <a:latin typeface="Arial"/>
              </a:rPr>
              <a:t>items </a:t>
            </a:r>
            <a:r>
              <a:rPr sz="698" b="0">
                <a:solidFill>
                  <a:srgbClr val="A9A29C"/>
                </a:solidFill>
                <a:latin typeface="Arial"/>
              </a:rPr>
              <a:t>identified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6975" y="2791223"/>
            <a:ext cx="319340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Request </a:t>
            </a:r>
            <a:r>
              <a:rPr sz="698" b="0">
                <a:solidFill>
                  <a:srgbClr val="F4F1EE"/>
                </a:solidFill>
                <a:latin typeface="Arial"/>
              </a:rPr>
              <a:t>Quote </a:t>
            </a:r>
            <a:r>
              <a:rPr sz="698" b="0">
                <a:solidFill>
                  <a:srgbClr val="F4F1EE"/>
                </a:solidFill>
                <a:latin typeface="Arial"/>
              </a:rPr>
              <a:t>to </a:t>
            </a:r>
            <a:r>
              <a:rPr sz="698" b="0">
                <a:solidFill>
                  <a:srgbClr val="F4F1EE"/>
                </a:solidFill>
                <a:latin typeface="Arial"/>
              </a:rPr>
              <a:t>UTE: </a:t>
            </a:r>
            <a:r>
              <a:rPr sz="698" b="0">
                <a:solidFill>
                  <a:srgbClr val="F4F1EE"/>
                </a:solidFill>
                <a:latin typeface="Arial"/>
              </a:rPr>
              <a:t>full </a:t>
            </a:r>
            <a:r>
              <a:rPr sz="698" b="0">
                <a:solidFill>
                  <a:srgbClr val="F4F1EE"/>
                </a:solidFill>
                <a:latin typeface="Arial"/>
              </a:rPr>
              <a:t>data, </a:t>
            </a:r>
            <a:r>
              <a:rPr sz="698" b="0">
                <a:solidFill>
                  <a:srgbClr val="F4F1EE"/>
                </a:solidFill>
                <a:latin typeface="Arial"/>
              </a:rPr>
              <a:t>standard </a:t>
            </a:r>
            <a:r>
              <a:rPr sz="698" b="0">
                <a:solidFill>
                  <a:srgbClr val="F4F1EE"/>
                </a:solidFill>
                <a:latin typeface="Arial"/>
              </a:rPr>
              <a:t>GP </a:t>
            </a:r>
            <a:r>
              <a:rPr sz="698" b="0">
                <a:solidFill>
                  <a:srgbClr val="F4F1EE"/>
                </a:solidFill>
                <a:latin typeface="Arial"/>
              </a:rPr>
              <a:t>13.6%, </a:t>
            </a:r>
            <a:r>
              <a:rPr sz="698" b="0">
                <a:solidFill>
                  <a:srgbClr val="F4F1EE"/>
                </a:solidFill>
                <a:latin typeface="Arial"/>
              </a:rPr>
              <a:t>SLA, </a:t>
            </a:r>
            <a:r>
              <a:rPr sz="698" b="0">
                <a:solidFill>
                  <a:srgbClr val="F4F1EE"/>
                </a:solidFill>
                <a:latin typeface="Arial"/>
              </a:rPr>
              <a:t>result </a:t>
            </a:r>
            <a:r>
              <a:rPr sz="698" b="0">
                <a:solidFill>
                  <a:srgbClr val="F4F1EE"/>
                </a:solidFill>
                <a:latin typeface="Arial"/>
              </a:rPr>
              <a:t>into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6975" y="2909988"/>
            <a:ext cx="57403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PCR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7783" y="2791223"/>
            <a:ext cx="163562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Quote </a:t>
            </a:r>
            <a:r>
              <a:rPr sz="698" b="0">
                <a:solidFill>
                  <a:srgbClr val="A9A29C"/>
                </a:solidFill>
                <a:latin typeface="Arial"/>
              </a:rPr>
              <a:t>ready </a:t>
            </a:r>
            <a:r>
              <a:rPr sz="698" b="0">
                <a:solidFill>
                  <a:srgbClr val="A9A29C"/>
                </a:solidFill>
                <a:latin typeface="Arial"/>
              </a:rPr>
              <a:t>for </a:t>
            </a:r>
            <a:r>
              <a:rPr sz="698" b="0">
                <a:solidFill>
                  <a:srgbClr val="A9A29C"/>
                </a:solidFill>
                <a:latin typeface="Arial"/>
              </a:rPr>
              <a:t>the </a:t>
            </a:r>
            <a:r>
              <a:rPr sz="698" b="0">
                <a:solidFill>
                  <a:srgbClr val="A9A29C"/>
                </a:solidFill>
                <a:latin typeface="Arial"/>
              </a:rPr>
              <a:t>sales </a:t>
            </a:r>
            <a:r>
              <a:rPr sz="698" b="0">
                <a:solidFill>
                  <a:srgbClr val="A9A29C"/>
                </a:solidFill>
                <a:latin typeface="Arial"/>
              </a:rPr>
              <a:t>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6975" y="3095428"/>
            <a:ext cx="312405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Close </a:t>
            </a:r>
            <a:r>
              <a:rPr sz="698" b="0">
                <a:solidFill>
                  <a:srgbClr val="F4F1EE"/>
                </a:solidFill>
                <a:latin typeface="Arial"/>
              </a:rPr>
              <a:t>Won </a:t>
            </a:r>
            <a:r>
              <a:rPr sz="698" b="0">
                <a:solidFill>
                  <a:srgbClr val="F4F1EE"/>
                </a:solidFill>
                <a:latin typeface="Arial"/>
              </a:rPr>
              <a:t>→ </a:t>
            </a:r>
            <a:r>
              <a:rPr sz="698" b="0">
                <a:solidFill>
                  <a:srgbClr val="F4F1EE"/>
                </a:solidFill>
                <a:latin typeface="Arial"/>
              </a:rPr>
              <a:t>CPO: </a:t>
            </a:r>
            <a:r>
              <a:rPr sz="698" b="0">
                <a:solidFill>
                  <a:srgbClr val="F4F1EE"/>
                </a:solidFill>
                <a:latin typeface="Arial"/>
              </a:rPr>
              <a:t>PO </a:t>
            </a:r>
            <a:r>
              <a:rPr sz="698" b="0">
                <a:solidFill>
                  <a:srgbClr val="F4F1EE"/>
                </a:solidFill>
                <a:latin typeface="Arial"/>
              </a:rPr>
              <a:t>/ </a:t>
            </a:r>
            <a:r>
              <a:rPr sz="698" b="0">
                <a:solidFill>
                  <a:srgbClr val="F4F1EE"/>
                </a:solidFill>
                <a:latin typeface="Arial"/>
              </a:rPr>
              <a:t>PJB </a:t>
            </a:r>
            <a:r>
              <a:rPr sz="698" b="0">
                <a:solidFill>
                  <a:srgbClr val="F4F1EE"/>
                </a:solidFill>
                <a:latin typeface="Arial"/>
              </a:rPr>
              <a:t>in </a:t>
            </a:r>
            <a:r>
              <a:rPr sz="698" b="0">
                <a:solidFill>
                  <a:srgbClr val="F4F1EE"/>
                </a:solidFill>
                <a:latin typeface="Arial"/>
              </a:rPr>
              <a:t>CRM, </a:t>
            </a:r>
            <a:r>
              <a:rPr sz="698" b="0">
                <a:solidFill>
                  <a:srgbClr val="F4F1EE"/>
                </a:solidFill>
                <a:latin typeface="Arial"/>
              </a:rPr>
              <a:t>QFD, </a:t>
            </a:r>
            <a:r>
              <a:rPr sz="698" b="0">
                <a:solidFill>
                  <a:srgbClr val="F4F1EE"/>
                </a:solidFill>
                <a:latin typeface="Arial"/>
              </a:rPr>
              <a:t>RFD </a:t>
            </a:r>
            <a:r>
              <a:rPr sz="698" b="0">
                <a:solidFill>
                  <a:srgbClr val="F4F1EE"/>
                </a:solidFill>
                <a:latin typeface="Arial"/>
              </a:rPr>
              <a:t>= </a:t>
            </a:r>
            <a:r>
              <a:rPr sz="698" b="0">
                <a:solidFill>
                  <a:srgbClr val="F4F1EE"/>
                </a:solidFill>
                <a:latin typeface="Arial"/>
              </a:rPr>
              <a:t>PO </a:t>
            </a:r>
            <a:r>
              <a:rPr sz="698" b="0">
                <a:solidFill>
                  <a:srgbClr val="F4F1EE"/>
                </a:solidFill>
                <a:latin typeface="Arial"/>
              </a:rPr>
              <a:t>Interco </a:t>
            </a:r>
            <a:r>
              <a:rPr sz="698" b="0">
                <a:solidFill>
                  <a:srgbClr val="F4F1EE"/>
                </a:solidFill>
                <a:latin typeface="Arial"/>
              </a:rPr>
              <a:t>due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6975" y="3214193"/>
            <a:ext cx="119389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date, </a:t>
            </a:r>
            <a:r>
              <a:rPr sz="698" b="0">
                <a:solidFill>
                  <a:srgbClr val="F4F1EE"/>
                </a:solidFill>
                <a:latin typeface="Arial"/>
              </a:rPr>
              <a:t>approval </a:t>
            </a:r>
            <a:r>
              <a:rPr sz="698" b="0">
                <a:solidFill>
                  <a:srgbClr val="F4F1EE"/>
                </a:solidFill>
                <a:latin typeface="Arial"/>
              </a:rPr>
              <a:t>route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7783" y="3095428"/>
            <a:ext cx="110743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PO </a:t>
            </a:r>
            <a:r>
              <a:rPr sz="698" b="0">
                <a:solidFill>
                  <a:srgbClr val="A9A29C"/>
                </a:solidFill>
                <a:latin typeface="Arial"/>
              </a:rPr>
              <a:t>Interco </a:t>
            </a:r>
            <a:r>
              <a:rPr sz="698" b="0">
                <a:solidFill>
                  <a:srgbClr val="A9A29C"/>
                </a:solidFill>
                <a:latin typeface="Arial"/>
              </a:rPr>
              <a:t>issued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6975" y="3399633"/>
            <a:ext cx="310172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F4F1EE"/>
                </a:solidFill>
                <a:latin typeface="Arial"/>
              </a:rPr>
              <a:t>Monitoring: </a:t>
            </a:r>
            <a:r>
              <a:rPr sz="698" b="0">
                <a:solidFill>
                  <a:srgbClr val="F4F1EE"/>
                </a:solidFill>
                <a:latin typeface="Arial"/>
              </a:rPr>
              <a:t>production </a:t>
            </a:r>
            <a:r>
              <a:rPr sz="698" b="0">
                <a:solidFill>
                  <a:srgbClr val="F4F1EE"/>
                </a:solidFill>
                <a:latin typeface="Arial"/>
              </a:rPr>
              <a:t>follow-up, </a:t>
            </a:r>
            <a:r>
              <a:rPr sz="698" b="0">
                <a:solidFill>
                  <a:srgbClr val="F4F1EE"/>
                </a:solidFill>
                <a:latin typeface="Arial"/>
              </a:rPr>
              <a:t>QFD </a:t>
            </a:r>
            <a:r>
              <a:rPr sz="698" b="0">
                <a:solidFill>
                  <a:srgbClr val="F4F1EE"/>
                </a:solidFill>
                <a:latin typeface="Arial"/>
              </a:rPr>
              <a:t>vs </a:t>
            </a:r>
            <a:r>
              <a:rPr sz="698" b="0">
                <a:solidFill>
                  <a:srgbClr val="F4F1EE"/>
                </a:solidFill>
                <a:latin typeface="Arial"/>
              </a:rPr>
              <a:t>actual, </a:t>
            </a:r>
            <a:r>
              <a:rPr sz="698" b="0">
                <a:solidFill>
                  <a:srgbClr val="F4F1EE"/>
                </a:solidFill>
                <a:latin typeface="Arial"/>
              </a:rPr>
              <a:t>painting </a:t>
            </a:r>
            <a:r>
              <a:rPr sz="698" b="0">
                <a:solidFill>
                  <a:srgbClr val="F4F1EE"/>
                </a:solidFill>
                <a:latin typeface="Arial"/>
              </a:rPr>
              <a:t>style, </a:t>
            </a:r>
            <a:r>
              <a:rPr sz="698" b="0">
                <a:solidFill>
                  <a:srgbClr val="F4F1EE"/>
                </a:solidFill>
                <a:latin typeface="Arial"/>
              </a:rPr>
              <a:t>FAT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7783" y="3399633"/>
            <a:ext cx="243304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8" b="0">
                <a:solidFill>
                  <a:srgbClr val="A9A29C"/>
                </a:solidFill>
                <a:latin typeface="Arial"/>
              </a:rPr>
              <a:t>Unit </a:t>
            </a:r>
            <a:r>
              <a:rPr sz="698" b="0">
                <a:solidFill>
                  <a:srgbClr val="A9A29C"/>
                </a:solidFill>
                <a:latin typeface="Arial"/>
              </a:rPr>
              <a:t>delivered </a:t>
            </a:r>
            <a:r>
              <a:rPr sz="698" b="0">
                <a:solidFill>
                  <a:srgbClr val="A9A29C"/>
                </a:solidFill>
                <a:latin typeface="Arial"/>
              </a:rPr>
              <a:t>on </a:t>
            </a:r>
            <a:r>
              <a:rPr sz="698" b="0">
                <a:solidFill>
                  <a:srgbClr val="A9A29C"/>
                </a:solidFill>
                <a:latin typeface="Arial"/>
              </a:rPr>
              <a:t>RFD; </a:t>
            </a:r>
            <a:r>
              <a:rPr sz="698" b="0">
                <a:solidFill>
                  <a:srgbClr val="A9A29C"/>
                </a:solidFill>
                <a:latin typeface="Arial"/>
              </a:rPr>
              <a:t>billing </a:t>
            </a:r>
            <a:r>
              <a:rPr sz="698" b="0">
                <a:solidFill>
                  <a:srgbClr val="A9A29C"/>
                </a:solidFill>
                <a:latin typeface="Arial"/>
              </a:rPr>
              <a:t>documents </a:t>
            </a:r>
            <a:r>
              <a:rPr sz="698" b="0">
                <a:solidFill>
                  <a:srgbClr val="A9A29C"/>
                </a:solidFill>
                <a:latin typeface="Arial"/>
              </a:rPr>
              <a:t>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025" y="3735187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3900" y="3718613"/>
            <a:ext cx="82569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SIPOC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19250" y="4070086"/>
            <a:ext cx="97214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SUPPLIER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5396" y="4070086"/>
            <a:ext cx="73729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0700" y="4070086"/>
            <a:ext cx="9520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PROCESS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1914" y="4070086"/>
            <a:ext cx="86201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7585" y="4070086"/>
            <a:ext cx="104581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CUSTOMER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5300" y="4357026"/>
            <a:ext cx="121071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1">
                <a:solidFill>
                  <a:srgbClr val="FFB089"/>
                </a:solidFill>
                <a:latin typeface="Arial"/>
              </a:rPr>
              <a:t>SUPPLY </a:t>
            </a:r>
            <a:r>
              <a:rPr sz="763" b="1">
                <a:solidFill>
                  <a:srgbClr val="FFB089"/>
                </a:solidFill>
                <a:latin typeface="Arial"/>
              </a:rPr>
              <a:t>CHAIN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4299448"/>
            <a:ext cx="187463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BC </a:t>
            </a:r>
            <a:r>
              <a:rPr sz="712" b="0">
                <a:solidFill>
                  <a:srgbClr val="A9A29C"/>
                </a:solidFill>
                <a:latin typeface="Arial"/>
              </a:rPr>
              <a:t>/ </a:t>
            </a:r>
            <a:r>
              <a:rPr sz="712" b="0">
                <a:solidFill>
                  <a:srgbClr val="A9A29C"/>
                </a:solidFill>
                <a:latin typeface="Arial"/>
              </a:rPr>
              <a:t>Sales, </a:t>
            </a:r>
            <a:r>
              <a:rPr sz="712" b="0">
                <a:solidFill>
                  <a:srgbClr val="A9A29C"/>
                </a:solidFill>
                <a:latin typeface="Arial"/>
              </a:rPr>
              <a:t>UTE </a:t>
            </a:r>
            <a:r>
              <a:rPr sz="712" b="0">
                <a:solidFill>
                  <a:srgbClr val="A9A29C"/>
                </a:solidFill>
                <a:latin typeface="Arial"/>
              </a:rPr>
              <a:t>(Patria), </a:t>
            </a:r>
            <a:r>
              <a:rPr sz="712" b="0">
                <a:solidFill>
                  <a:srgbClr val="A9A29C"/>
                </a:solidFill>
                <a:latin typeface="Arial"/>
              </a:rPr>
              <a:t>non-Patria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19250" y="4425356"/>
            <a:ext cx="12056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vendors, </a:t>
            </a:r>
            <a:r>
              <a:rPr sz="712" b="0">
                <a:solidFill>
                  <a:srgbClr val="A9A29C"/>
                </a:solidFill>
                <a:latin typeface="Arial"/>
              </a:rPr>
              <a:t>forwarders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45396" y="4299448"/>
            <a:ext cx="204073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PCR </a:t>
            </a:r>
            <a:r>
              <a:rPr sz="712" b="0">
                <a:solidFill>
                  <a:srgbClr val="A9A29C"/>
                </a:solidFill>
                <a:latin typeface="Arial"/>
              </a:rPr>
              <a:t>demand, </a:t>
            </a:r>
            <a:r>
              <a:rPr sz="712" b="0">
                <a:solidFill>
                  <a:srgbClr val="A9A29C"/>
                </a:solidFill>
                <a:latin typeface="Arial"/>
              </a:rPr>
              <a:t>preliminary </a:t>
            </a:r>
            <a:r>
              <a:rPr sz="712" b="0">
                <a:solidFill>
                  <a:srgbClr val="A9A29C"/>
                </a:solidFill>
                <a:latin typeface="Arial"/>
              </a:rPr>
              <a:t>drawing, </a:t>
            </a:r>
            <a:r>
              <a:rPr sz="712" b="0">
                <a:solidFill>
                  <a:srgbClr val="A9A29C"/>
                </a:solidFill>
                <a:latin typeface="Arial"/>
              </a:rPr>
              <a:t>PO </a:t>
            </a:r>
            <a:r>
              <a:rPr sz="712" b="0">
                <a:solidFill>
                  <a:srgbClr val="A9A29C"/>
                </a:solidFill>
                <a:latin typeface="Arial"/>
              </a:rPr>
              <a:t>/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45396" y="4425356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PJB, </a:t>
            </a:r>
            <a:r>
              <a:rPr sz="712" b="0">
                <a:solidFill>
                  <a:srgbClr val="A9A29C"/>
                </a:solidFill>
                <a:latin typeface="Arial"/>
              </a:rPr>
              <a:t>QFD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00700" y="4299448"/>
            <a:ext cx="285928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Quote </a:t>
            </a:r>
            <a:r>
              <a:rPr sz="712" b="1">
                <a:solidFill>
                  <a:srgbClr val="F4F1EE"/>
                </a:solidFill>
                <a:latin typeface="Arial"/>
              </a:rPr>
              <a:t>request </a:t>
            </a:r>
            <a:r>
              <a:rPr sz="712" b="1">
                <a:solidFill>
                  <a:srgbClr val="F4F1EE"/>
                </a:solidFill>
                <a:latin typeface="Arial"/>
              </a:rPr>
              <a:t>→ </a:t>
            </a:r>
            <a:r>
              <a:rPr sz="712" b="1">
                <a:solidFill>
                  <a:srgbClr val="F4F1EE"/>
                </a:solidFill>
                <a:latin typeface="Arial"/>
              </a:rPr>
              <a:t>close </a:t>
            </a:r>
            <a:r>
              <a:rPr sz="712" b="1">
                <a:solidFill>
                  <a:srgbClr val="F4F1EE"/>
                </a:solidFill>
                <a:latin typeface="Arial"/>
              </a:rPr>
              <a:t>won </a:t>
            </a:r>
            <a:r>
              <a:rPr sz="712" b="1">
                <a:solidFill>
                  <a:srgbClr val="F4F1EE"/>
                </a:solidFill>
                <a:latin typeface="Arial"/>
              </a:rPr>
              <a:t>→ </a:t>
            </a:r>
            <a:r>
              <a:rPr sz="712" b="1">
                <a:solidFill>
                  <a:srgbClr val="F4F1EE"/>
                </a:solidFill>
                <a:latin typeface="Arial"/>
              </a:rPr>
              <a:t>PO </a:t>
            </a:r>
            <a:r>
              <a:rPr sz="712" b="1">
                <a:solidFill>
                  <a:srgbClr val="F4F1EE"/>
                </a:solidFill>
                <a:latin typeface="Arial"/>
              </a:rPr>
              <a:t>Interco </a:t>
            </a:r>
            <a:r>
              <a:rPr sz="712" b="1">
                <a:solidFill>
                  <a:srgbClr val="F4F1EE"/>
                </a:solidFill>
                <a:latin typeface="Arial"/>
              </a:rPr>
              <a:t>→ </a:t>
            </a:r>
            <a:r>
              <a:rPr sz="712" b="1">
                <a:solidFill>
                  <a:srgbClr val="F4F1EE"/>
                </a:solidFill>
                <a:latin typeface="Arial"/>
              </a:rPr>
              <a:t>production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00700" y="4425356"/>
            <a:ext cx="128810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monitoring </a:t>
            </a:r>
            <a:r>
              <a:rPr sz="712" b="1">
                <a:solidFill>
                  <a:srgbClr val="F4F1EE"/>
                </a:solidFill>
                <a:latin typeface="Arial"/>
              </a:rPr>
              <a:t>→ </a:t>
            </a:r>
            <a:r>
              <a:rPr sz="712" b="1">
                <a:solidFill>
                  <a:srgbClr val="F4F1EE"/>
                </a:solidFill>
                <a:latin typeface="Arial"/>
              </a:rPr>
              <a:t>billing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1914" y="4362402"/>
            <a:ext cx="224656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Quotation, </a:t>
            </a:r>
            <a:r>
              <a:rPr sz="712" b="0">
                <a:solidFill>
                  <a:srgbClr val="A9A29C"/>
                </a:solidFill>
                <a:latin typeface="Arial"/>
              </a:rPr>
              <a:t>PO </a:t>
            </a:r>
            <a:r>
              <a:rPr sz="712" b="0">
                <a:solidFill>
                  <a:srgbClr val="A9A29C"/>
                </a:solidFill>
                <a:latin typeface="Arial"/>
              </a:rPr>
              <a:t>Interco, </a:t>
            </a:r>
            <a:r>
              <a:rPr sz="712" b="0">
                <a:solidFill>
                  <a:srgbClr val="A9A29C"/>
                </a:solidFill>
                <a:latin typeface="Arial"/>
              </a:rPr>
              <a:t>BAST </a:t>
            </a:r>
            <a:r>
              <a:rPr sz="712" b="0">
                <a:solidFill>
                  <a:srgbClr val="A9A29C"/>
                </a:solidFill>
                <a:latin typeface="Arial"/>
              </a:rPr>
              <a:t>/ </a:t>
            </a:r>
            <a:r>
              <a:rPr sz="712" b="0">
                <a:solidFill>
                  <a:srgbClr val="A9A29C"/>
                </a:solidFill>
                <a:latin typeface="Arial"/>
              </a:rPr>
              <a:t>BAPB, </a:t>
            </a:r>
            <a:r>
              <a:rPr sz="712" b="0">
                <a:solidFill>
                  <a:srgbClr val="A9A29C"/>
                </a:solidFill>
                <a:latin typeface="Arial"/>
              </a:rPr>
              <a:t>invoice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47585" y="4299448"/>
            <a:ext cx="148590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Sales </a:t>
            </a:r>
            <a:r>
              <a:rPr sz="712" b="0">
                <a:solidFill>
                  <a:srgbClr val="A9A29C"/>
                </a:solidFill>
                <a:latin typeface="Arial"/>
              </a:rPr>
              <a:t>team, </a:t>
            </a:r>
            <a:r>
              <a:rPr sz="712" b="0">
                <a:solidFill>
                  <a:srgbClr val="A9A29C"/>
                </a:solidFill>
                <a:latin typeface="Arial"/>
              </a:rPr>
              <a:t>end </a:t>
            </a:r>
            <a:r>
              <a:rPr sz="712" b="0">
                <a:solidFill>
                  <a:srgbClr val="A9A29C"/>
                </a:solidFill>
                <a:latin typeface="Arial"/>
              </a:rPr>
              <a:t>customer,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47585" y="4425356"/>
            <a:ext cx="71303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Finance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5300" y="4694568"/>
            <a:ext cx="102349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1">
                <a:solidFill>
                  <a:srgbClr val="FF5A1F"/>
                </a:solidFill>
                <a:latin typeface="Arial"/>
              </a:rPr>
              <a:t>STRATEGIC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19250" y="4636990"/>
            <a:ext cx="203373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CRM, </a:t>
            </a:r>
            <a:r>
              <a:rPr sz="712" b="0">
                <a:solidFill>
                  <a:srgbClr val="A9A29C"/>
                </a:solidFill>
                <a:latin typeface="Arial"/>
              </a:rPr>
              <a:t>sales </a:t>
            </a:r>
            <a:r>
              <a:rPr sz="712" b="0">
                <a:solidFill>
                  <a:srgbClr val="A9A29C"/>
                </a:solidFill>
                <a:latin typeface="Arial"/>
              </a:rPr>
              <a:t>&amp; </a:t>
            </a:r>
            <a:r>
              <a:rPr sz="712" b="0">
                <a:solidFill>
                  <a:srgbClr val="A9A29C"/>
                </a:solidFill>
                <a:latin typeface="Arial"/>
              </a:rPr>
              <a:t>GP </a:t>
            </a:r>
            <a:r>
              <a:rPr sz="712" b="0">
                <a:solidFill>
                  <a:srgbClr val="A9A29C"/>
                </a:solidFill>
                <a:latin typeface="Arial"/>
              </a:rPr>
              <a:t>data, </a:t>
            </a:r>
            <a:r>
              <a:rPr sz="712" b="0">
                <a:solidFill>
                  <a:srgbClr val="A9A29C"/>
                </a:solidFill>
                <a:latin typeface="Arial"/>
              </a:rPr>
              <a:t>market </a:t>
            </a:r>
            <a:r>
              <a:rPr sz="712" b="0">
                <a:solidFill>
                  <a:srgbClr val="A9A29C"/>
                </a:solidFill>
                <a:latin typeface="Arial"/>
              </a:rPr>
              <a:t>sources,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19250" y="4762898"/>
            <a:ext cx="62998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UTPE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5396" y="4636990"/>
            <a:ext cx="18850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Market </a:t>
            </a:r>
            <a:r>
              <a:rPr sz="712" b="0">
                <a:solidFill>
                  <a:srgbClr val="A9A29C"/>
                </a:solidFill>
                <a:latin typeface="Arial"/>
              </a:rPr>
              <a:t>data, </a:t>
            </a:r>
            <a:r>
              <a:rPr sz="712" b="0">
                <a:solidFill>
                  <a:srgbClr val="A9A29C"/>
                </a:solidFill>
                <a:latin typeface="Arial"/>
              </a:rPr>
              <a:t>competitor </a:t>
            </a:r>
            <a:r>
              <a:rPr sz="712" b="0">
                <a:solidFill>
                  <a:srgbClr val="A9A29C"/>
                </a:solidFill>
                <a:latin typeface="Arial"/>
              </a:rPr>
              <a:t>specs, </a:t>
            </a:r>
            <a:r>
              <a:rPr sz="712" b="0">
                <a:solidFill>
                  <a:srgbClr val="A9A29C"/>
                </a:solidFill>
                <a:latin typeface="Arial"/>
              </a:rPr>
              <a:t>price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45396" y="4762898"/>
            <a:ext cx="113481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history, </a:t>
            </a:r>
            <a:r>
              <a:rPr sz="712" b="0">
                <a:solidFill>
                  <a:srgbClr val="A9A29C"/>
                </a:solidFill>
                <a:latin typeface="Arial"/>
              </a:rPr>
              <a:t>GP </a:t>
            </a:r>
            <a:r>
              <a:rPr sz="712" b="0">
                <a:solidFill>
                  <a:srgbClr val="A9A29C"/>
                </a:solidFill>
                <a:latin typeface="Arial"/>
              </a:rPr>
              <a:t>results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00700" y="4636990"/>
            <a:ext cx="288771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Market </a:t>
            </a:r>
            <a:r>
              <a:rPr sz="712" b="1">
                <a:solidFill>
                  <a:srgbClr val="F4F1EE"/>
                </a:solidFill>
                <a:latin typeface="Arial"/>
              </a:rPr>
              <a:t>study, </a:t>
            </a:r>
            <a:r>
              <a:rPr sz="712" b="1">
                <a:solidFill>
                  <a:srgbClr val="F4F1EE"/>
                </a:solidFill>
                <a:latin typeface="Arial"/>
              </a:rPr>
              <a:t>price </a:t>
            </a:r>
            <a:r>
              <a:rPr sz="712" b="1">
                <a:solidFill>
                  <a:srgbClr val="F4F1EE"/>
                </a:solidFill>
                <a:latin typeface="Arial"/>
              </a:rPr>
              <a:t>analysis, </a:t>
            </a:r>
            <a:r>
              <a:rPr sz="712" b="1">
                <a:solidFill>
                  <a:srgbClr val="F4F1EE"/>
                </a:solidFill>
                <a:latin typeface="Arial"/>
              </a:rPr>
              <a:t>sales </a:t>
            </a:r>
            <a:r>
              <a:rPr sz="712" b="1">
                <a:solidFill>
                  <a:srgbClr val="F4F1EE"/>
                </a:solidFill>
                <a:latin typeface="Arial"/>
              </a:rPr>
              <a:t>programs, </a:t>
            </a:r>
            <a:r>
              <a:rPr sz="712" b="1">
                <a:solidFill>
                  <a:srgbClr val="F4F1EE"/>
                </a:solidFill>
                <a:latin typeface="Arial"/>
              </a:rPr>
              <a:t>GP </a:t>
            </a:r>
            <a:r>
              <a:rPr sz="712" b="1">
                <a:solidFill>
                  <a:srgbClr val="F4F1EE"/>
                </a:solidFill>
                <a:latin typeface="Arial"/>
              </a:rPr>
              <a:t>&amp; </a:t>
            </a:r>
            <a:r>
              <a:rPr sz="712" b="1">
                <a:solidFill>
                  <a:srgbClr val="F4F1EE"/>
                </a:solidFill>
                <a:latin typeface="Arial"/>
              </a:rPr>
              <a:t>PICA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00700" y="4762898"/>
            <a:ext cx="79057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reporting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1914" y="4636990"/>
            <a:ext cx="222021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Market </a:t>
            </a:r>
            <a:r>
              <a:rPr sz="712" b="0">
                <a:solidFill>
                  <a:srgbClr val="A9A29C"/>
                </a:solidFill>
                <a:latin typeface="Arial"/>
              </a:rPr>
              <a:t>study, </a:t>
            </a:r>
            <a:r>
              <a:rPr sz="712" b="0">
                <a:solidFill>
                  <a:srgbClr val="A9A29C"/>
                </a:solidFill>
                <a:latin typeface="Arial"/>
              </a:rPr>
              <a:t>CRM </a:t>
            </a:r>
            <a:r>
              <a:rPr sz="712" b="0">
                <a:solidFill>
                  <a:srgbClr val="A9A29C"/>
                </a:solidFill>
                <a:latin typeface="Arial"/>
              </a:rPr>
              <a:t>price </a:t>
            </a:r>
            <a:r>
              <a:rPr sz="712" b="0">
                <a:solidFill>
                  <a:srgbClr val="A9A29C"/>
                </a:solidFill>
                <a:latin typeface="Arial"/>
              </a:rPr>
              <a:t>list, </a:t>
            </a:r>
            <a:r>
              <a:rPr sz="712" b="0">
                <a:solidFill>
                  <a:srgbClr val="A9A29C"/>
                </a:solidFill>
                <a:latin typeface="Arial"/>
              </a:rPr>
              <a:t>sales </a:t>
            </a:r>
            <a:r>
              <a:rPr sz="712" b="0">
                <a:solidFill>
                  <a:srgbClr val="A9A29C"/>
                </a:solidFill>
                <a:latin typeface="Arial"/>
              </a:rPr>
              <a:t>tools, </a:t>
            </a:r>
            <a:r>
              <a:rPr sz="712" b="0">
                <a:solidFill>
                  <a:srgbClr val="A9A29C"/>
                </a:solidFill>
                <a:latin typeface="Arial"/>
              </a:rPr>
              <a:t>GP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1914" y="4762898"/>
            <a:ext cx="9152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/ </a:t>
            </a:r>
            <a:r>
              <a:rPr sz="712" b="0">
                <a:solidFill>
                  <a:srgbClr val="A9A29C"/>
                </a:solidFill>
                <a:latin typeface="Arial"/>
              </a:rPr>
              <a:t>PICA </a:t>
            </a:r>
            <a:r>
              <a:rPr sz="712" b="0">
                <a:solidFill>
                  <a:srgbClr val="A9A29C"/>
                </a:solidFill>
                <a:latin typeface="Arial"/>
              </a:rPr>
              <a:t>report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47585" y="4636990"/>
            <a:ext cx="149096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Management </a:t>
            </a:r>
            <a:r>
              <a:rPr sz="712" b="0">
                <a:solidFill>
                  <a:srgbClr val="A9A29C"/>
                </a:solidFill>
                <a:latin typeface="Arial"/>
              </a:rPr>
              <a:t>/ </a:t>
            </a:r>
            <a:r>
              <a:rPr sz="712" b="0">
                <a:solidFill>
                  <a:srgbClr val="A9A29C"/>
                </a:solidFill>
                <a:latin typeface="Arial"/>
              </a:rPr>
              <a:t>BOD, </a:t>
            </a:r>
            <a:r>
              <a:rPr sz="712" b="0">
                <a:solidFill>
                  <a:srgbClr val="A9A29C"/>
                </a:solidFill>
                <a:latin typeface="Arial"/>
              </a:rPr>
              <a:t>Sales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47585" y="4762898"/>
            <a:ext cx="58846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2025" y="5038921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900" y="5022347"/>
            <a:ext cx="41546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Dimensions, </a:t>
            </a:r>
            <a:r>
              <a:rPr sz="1091" b="1">
                <a:solidFill>
                  <a:srgbClr val="F4F1EE"/>
                </a:solidFill>
                <a:latin typeface="Arial"/>
              </a:rPr>
              <a:t>Working </a:t>
            </a:r>
            <a:r>
              <a:rPr sz="1091" b="1">
                <a:solidFill>
                  <a:srgbClr val="F4F1EE"/>
                </a:solidFill>
                <a:latin typeface="Arial"/>
              </a:rPr>
              <a:t>Relationships </a:t>
            </a:r>
            <a:r>
              <a:rPr sz="1091" b="1">
                <a:solidFill>
                  <a:srgbClr val="F4F1EE"/>
                </a:solidFill>
                <a:latin typeface="Arial"/>
              </a:rPr>
              <a:t>&amp; </a:t>
            </a:r>
            <a:r>
              <a:rPr sz="1091" b="1">
                <a:solidFill>
                  <a:srgbClr val="F4F1EE"/>
                </a:solidFill>
                <a:latin typeface="Arial"/>
              </a:rPr>
              <a:t>Work </a:t>
            </a:r>
            <a:r>
              <a:rPr sz="1091" b="1">
                <a:solidFill>
                  <a:srgbClr val="F4F1EE"/>
                </a:solidFill>
                <a:latin typeface="Arial"/>
              </a:rPr>
              <a:t>Challenges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2925" y="5391346"/>
            <a:ext cx="10288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Dimensions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275" y="5565082"/>
            <a:ext cx="356056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Financial: </a:t>
            </a:r>
            <a:r>
              <a:rPr sz="712" b="0">
                <a:solidFill>
                  <a:srgbClr val="A9A29C"/>
                </a:solidFill>
                <a:latin typeface="Arial"/>
              </a:rPr>
              <a:t>non-Patria </a:t>
            </a:r>
            <a:r>
              <a:rPr sz="712" b="0">
                <a:solidFill>
                  <a:srgbClr val="A9A29C"/>
                </a:solidFill>
                <a:latin typeface="Arial"/>
              </a:rPr>
              <a:t>procurement </a:t>
            </a:r>
            <a:r>
              <a:rPr sz="712" b="0">
                <a:solidFill>
                  <a:srgbClr val="A9A29C"/>
                </a:solidFill>
                <a:latin typeface="Arial"/>
              </a:rPr>
              <a:t>budget, </a:t>
            </a:r>
            <a:r>
              <a:rPr sz="712" b="0">
                <a:solidFill>
                  <a:srgbClr val="A9A29C"/>
                </a:solidFill>
                <a:latin typeface="Arial"/>
              </a:rPr>
              <a:t>COGS </a:t>
            </a:r>
            <a:r>
              <a:rPr sz="712" b="0">
                <a:solidFill>
                  <a:srgbClr val="A9A29C"/>
                </a:solidFill>
                <a:latin typeface="Arial"/>
              </a:rPr>
              <a:t>per </a:t>
            </a:r>
            <a:r>
              <a:rPr sz="712" b="0">
                <a:solidFill>
                  <a:srgbClr val="A9A29C"/>
                </a:solidFill>
                <a:latin typeface="Arial"/>
              </a:rPr>
              <a:t>unit, </a:t>
            </a:r>
            <a:r>
              <a:rPr sz="712" b="0">
                <a:solidFill>
                  <a:srgbClr val="A9A29C"/>
                </a:solidFill>
                <a:latin typeface="Arial"/>
              </a:rPr>
              <a:t>target </a:t>
            </a:r>
            <a:r>
              <a:rPr sz="712" b="0">
                <a:solidFill>
                  <a:srgbClr val="A9A29C"/>
                </a:solidFill>
                <a:latin typeface="Arial"/>
              </a:rPr>
              <a:t>margin </a:t>
            </a:r>
            <a:r>
              <a:rPr sz="712" b="0">
                <a:solidFill>
                  <a:srgbClr val="A9A29C"/>
                </a:solidFill>
                <a:latin typeface="Arial"/>
              </a:rPr>
              <a:t>per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275" y="5700367"/>
            <a:ext cx="51583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275" y="5873751"/>
            <a:ext cx="349091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Non-financial: </a:t>
            </a:r>
            <a:r>
              <a:rPr sz="712" b="0">
                <a:solidFill>
                  <a:srgbClr val="A9A29C"/>
                </a:solidFill>
                <a:latin typeface="Arial"/>
              </a:rPr>
              <a:t>vendors </a:t>
            </a:r>
            <a:r>
              <a:rPr sz="712" b="0">
                <a:solidFill>
                  <a:srgbClr val="A9A29C"/>
                </a:solidFill>
                <a:latin typeface="Arial"/>
              </a:rPr>
              <a:t>&amp; </a:t>
            </a:r>
            <a:r>
              <a:rPr sz="712" b="0">
                <a:solidFill>
                  <a:srgbClr val="A9A29C"/>
                </a:solidFill>
                <a:latin typeface="Arial"/>
              </a:rPr>
              <a:t>customers, </a:t>
            </a:r>
            <a:r>
              <a:rPr sz="712" b="0">
                <a:solidFill>
                  <a:srgbClr val="A9A29C"/>
                </a:solidFill>
                <a:latin typeface="Arial"/>
              </a:rPr>
              <a:t>documents </a:t>
            </a:r>
            <a:r>
              <a:rPr sz="712" b="0">
                <a:solidFill>
                  <a:srgbClr val="A9A29C"/>
                </a:solidFill>
                <a:latin typeface="Arial"/>
              </a:rPr>
              <a:t>verified, </a:t>
            </a:r>
            <a:r>
              <a:rPr sz="712" b="0">
                <a:solidFill>
                  <a:srgbClr val="A9A29C"/>
                </a:solidFill>
                <a:latin typeface="Arial"/>
              </a:rPr>
              <a:t>report </a:t>
            </a:r>
            <a:r>
              <a:rPr sz="712" b="0">
                <a:solidFill>
                  <a:srgbClr val="A9A29C"/>
                </a:solidFill>
                <a:latin typeface="Arial"/>
              </a:rPr>
              <a:t>frequency,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275" y="6009036"/>
            <a:ext cx="125223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meetings </a:t>
            </a:r>
            <a:r>
              <a:rPr sz="712" b="0">
                <a:solidFill>
                  <a:srgbClr val="A9A29C"/>
                </a:solidFill>
                <a:latin typeface="Arial"/>
              </a:rPr>
              <a:t>&amp; </a:t>
            </a:r>
            <a:r>
              <a:rPr sz="712" b="0">
                <a:solidFill>
                  <a:srgbClr val="A9A29C"/>
                </a:solidFill>
                <a:latin typeface="Arial"/>
              </a:rPr>
              <a:t>site </a:t>
            </a:r>
            <a:r>
              <a:rPr sz="712" b="0">
                <a:solidFill>
                  <a:srgbClr val="A9A29C"/>
                </a:solidFill>
                <a:latin typeface="Arial"/>
              </a:rPr>
              <a:t>visits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65575" y="5391346"/>
            <a:ext cx="161731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Working </a:t>
            </a:r>
            <a:r>
              <a:rPr sz="873" b="1">
                <a:solidFill>
                  <a:srgbClr val="F4F1EE"/>
                </a:solidFill>
                <a:latin typeface="Arial"/>
              </a:rPr>
              <a:t>Relationships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98925" y="5565082"/>
            <a:ext cx="331856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Internal: </a:t>
            </a:r>
            <a:r>
              <a:rPr sz="712" b="0">
                <a:solidFill>
                  <a:srgbClr val="A9A29C"/>
                </a:solidFill>
                <a:latin typeface="Arial"/>
              </a:rPr>
              <a:t>Sales </a:t>
            </a:r>
            <a:r>
              <a:rPr sz="712" b="0">
                <a:solidFill>
                  <a:srgbClr val="A9A29C"/>
                </a:solidFill>
                <a:latin typeface="Arial"/>
              </a:rPr>
              <a:t>&amp; </a:t>
            </a:r>
            <a:r>
              <a:rPr sz="712" b="0">
                <a:solidFill>
                  <a:srgbClr val="A9A29C"/>
                </a:solidFill>
                <a:latin typeface="Arial"/>
              </a:rPr>
              <a:t>Marketing, </a:t>
            </a:r>
            <a:r>
              <a:rPr sz="712" b="0">
                <a:solidFill>
                  <a:srgbClr val="A9A29C"/>
                </a:solidFill>
                <a:latin typeface="Arial"/>
              </a:rPr>
              <a:t>Warehouse, </a:t>
            </a:r>
            <a:r>
              <a:rPr sz="712" b="0">
                <a:solidFill>
                  <a:srgbClr val="A9A29C"/>
                </a:solidFill>
                <a:latin typeface="Arial"/>
              </a:rPr>
              <a:t>Finance </a:t>
            </a:r>
            <a:r>
              <a:rPr sz="712" b="0">
                <a:solidFill>
                  <a:srgbClr val="A9A29C"/>
                </a:solidFill>
                <a:latin typeface="Arial"/>
              </a:rPr>
              <a:t>&amp; </a:t>
            </a:r>
            <a:r>
              <a:rPr sz="712" b="0">
                <a:solidFill>
                  <a:srgbClr val="A9A29C"/>
                </a:solidFill>
                <a:latin typeface="Arial"/>
              </a:rPr>
              <a:t>Accounting, </a:t>
            </a:r>
            <a:r>
              <a:rPr sz="712" b="0">
                <a:solidFill>
                  <a:srgbClr val="A9A29C"/>
                </a:solidFill>
                <a:latin typeface="Arial"/>
              </a:rPr>
              <a:t>Legal,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98925" y="5700367"/>
            <a:ext cx="9152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Procurement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98925" y="5873751"/>
            <a:ext cx="322837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1">
                <a:solidFill>
                  <a:srgbClr val="F4F1EE"/>
                </a:solidFill>
                <a:latin typeface="Arial"/>
              </a:rPr>
              <a:t>External: </a:t>
            </a:r>
            <a:r>
              <a:rPr sz="712" b="0">
                <a:solidFill>
                  <a:srgbClr val="A9A29C"/>
                </a:solidFill>
                <a:latin typeface="Arial"/>
              </a:rPr>
              <a:t>customers, </a:t>
            </a:r>
            <a:r>
              <a:rPr sz="712" b="0">
                <a:solidFill>
                  <a:srgbClr val="A9A29C"/>
                </a:solidFill>
                <a:latin typeface="Arial"/>
              </a:rPr>
              <a:t>Patria </a:t>
            </a:r>
            <a:r>
              <a:rPr sz="712" b="0">
                <a:solidFill>
                  <a:srgbClr val="A9A29C"/>
                </a:solidFill>
                <a:latin typeface="Arial"/>
              </a:rPr>
              <a:t>&amp; </a:t>
            </a:r>
            <a:r>
              <a:rPr sz="712" b="0">
                <a:solidFill>
                  <a:srgbClr val="A9A29C"/>
                </a:solidFill>
                <a:latin typeface="Arial"/>
              </a:rPr>
              <a:t>non-Patria </a:t>
            </a:r>
            <a:r>
              <a:rPr sz="712" b="0">
                <a:solidFill>
                  <a:srgbClr val="A9A29C"/>
                </a:solidFill>
                <a:latin typeface="Arial"/>
              </a:rPr>
              <a:t>vendors, </a:t>
            </a:r>
            <a:r>
              <a:rPr sz="712" b="0">
                <a:solidFill>
                  <a:srgbClr val="A9A29C"/>
                </a:solidFill>
                <a:latin typeface="Arial"/>
              </a:rPr>
              <a:t>forwarders, </a:t>
            </a:r>
            <a:r>
              <a:rPr sz="712" b="0">
                <a:solidFill>
                  <a:srgbClr val="A9A29C"/>
                </a:solidFill>
                <a:latin typeface="Arial"/>
              </a:rPr>
              <a:t>UTPE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8225" y="5391346"/>
            <a:ext cx="130626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Work </a:t>
            </a:r>
            <a:r>
              <a:rPr sz="873" b="1">
                <a:solidFill>
                  <a:srgbClr val="F4F1EE"/>
                </a:solidFill>
                <a:latin typeface="Arial"/>
              </a:rPr>
              <a:t>Challenges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575" y="5565082"/>
            <a:ext cx="265807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Push </a:t>
            </a:r>
            <a:r>
              <a:rPr sz="712" b="0">
                <a:solidFill>
                  <a:srgbClr val="A9A29C"/>
                </a:solidFill>
                <a:latin typeface="Arial"/>
              </a:rPr>
              <a:t>UTPE </a:t>
            </a:r>
            <a:r>
              <a:rPr sz="712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12" b="0">
                <a:solidFill>
                  <a:srgbClr val="A9A29C"/>
                </a:solidFill>
                <a:latin typeface="Arial"/>
              </a:rPr>
              <a:t>to </a:t>
            </a:r>
            <a:r>
              <a:rPr sz="712" b="0">
                <a:solidFill>
                  <a:srgbClr val="A9A29C"/>
                </a:solidFill>
                <a:latin typeface="Arial"/>
              </a:rPr>
              <a:t>send </a:t>
            </a:r>
            <a:r>
              <a:rPr sz="712" b="0">
                <a:solidFill>
                  <a:srgbClr val="A9A29C"/>
                </a:solidFill>
                <a:latin typeface="Arial"/>
              </a:rPr>
              <a:t>unit </a:t>
            </a:r>
            <a:r>
              <a:rPr sz="712" b="0">
                <a:solidFill>
                  <a:srgbClr val="A9A29C"/>
                </a:solidFill>
                <a:latin typeface="Arial"/>
              </a:rPr>
              <a:t>price </a:t>
            </a:r>
            <a:r>
              <a:rPr sz="712" b="0">
                <a:solidFill>
                  <a:srgbClr val="A9A29C"/>
                </a:solidFill>
                <a:latin typeface="Arial"/>
              </a:rPr>
              <a:t>quotes </a:t>
            </a:r>
            <a:r>
              <a:rPr sz="712" b="0">
                <a:solidFill>
                  <a:srgbClr val="A9A29C"/>
                </a:solidFill>
                <a:latin typeface="Arial"/>
              </a:rPr>
              <a:t>quickly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575" y="5738467"/>
            <a:ext cx="34931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Push </a:t>
            </a:r>
            <a:r>
              <a:rPr sz="712" b="0">
                <a:solidFill>
                  <a:srgbClr val="A9A29C"/>
                </a:solidFill>
                <a:latin typeface="Arial"/>
              </a:rPr>
              <a:t>UTPE </a:t>
            </a:r>
            <a:r>
              <a:rPr sz="712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12" b="0">
                <a:solidFill>
                  <a:srgbClr val="A9A29C"/>
                </a:solidFill>
                <a:latin typeface="Arial"/>
              </a:rPr>
              <a:t>and </a:t>
            </a:r>
            <a:r>
              <a:rPr sz="712" b="0">
                <a:solidFill>
                  <a:srgbClr val="A9A29C"/>
                </a:solidFill>
                <a:latin typeface="Arial"/>
              </a:rPr>
              <a:t>escalate </a:t>
            </a:r>
            <a:r>
              <a:rPr sz="712" b="0">
                <a:solidFill>
                  <a:srgbClr val="A9A29C"/>
                </a:solidFill>
                <a:latin typeface="Arial"/>
              </a:rPr>
              <a:t>to </a:t>
            </a:r>
            <a:r>
              <a:rPr sz="712" b="0">
                <a:solidFill>
                  <a:srgbClr val="A9A29C"/>
                </a:solidFill>
                <a:latin typeface="Arial"/>
              </a:rPr>
              <a:t>superiors </a:t>
            </a:r>
            <a:r>
              <a:rPr sz="712" b="0">
                <a:solidFill>
                  <a:srgbClr val="A9A29C"/>
                </a:solidFill>
                <a:latin typeface="Arial"/>
              </a:rPr>
              <a:t>when </a:t>
            </a:r>
            <a:r>
              <a:rPr sz="712" b="0">
                <a:solidFill>
                  <a:srgbClr val="A9A29C"/>
                </a:solidFill>
                <a:latin typeface="Arial"/>
              </a:rPr>
              <a:t>production </a:t>
            </a:r>
            <a:r>
              <a:rPr sz="712" b="0">
                <a:solidFill>
                  <a:srgbClr val="A9A29C"/>
                </a:solidFill>
                <a:latin typeface="Arial"/>
              </a:rPr>
              <a:t>problems 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575" y="5873751"/>
            <a:ext cx="122664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threaten </a:t>
            </a:r>
            <a:r>
              <a:rPr sz="712" b="0">
                <a:solidFill>
                  <a:srgbClr val="A9A29C"/>
                </a:solidFill>
                <a:latin typeface="Arial"/>
              </a:rPr>
              <a:t>the </a:t>
            </a:r>
            <a:r>
              <a:rPr sz="712" b="0">
                <a:solidFill>
                  <a:srgbClr val="A9A29C"/>
                </a:solidFill>
                <a:latin typeface="Arial"/>
              </a:rPr>
              <a:t>timeline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575" y="6047136"/>
            <a:ext cx="329103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12" b="0">
                <a:solidFill>
                  <a:srgbClr val="A9A29C"/>
                </a:solidFill>
                <a:latin typeface="Arial"/>
              </a:rPr>
              <a:t>Sudden </a:t>
            </a:r>
            <a:r>
              <a:rPr sz="712" b="0">
                <a:solidFill>
                  <a:srgbClr val="A9A29C"/>
                </a:solidFill>
                <a:latin typeface="Arial"/>
              </a:rPr>
              <a:t>customer </a:t>
            </a:r>
            <a:r>
              <a:rPr sz="712" b="0">
                <a:solidFill>
                  <a:srgbClr val="A9A29C"/>
                </a:solidFill>
                <a:latin typeface="Arial"/>
              </a:rPr>
              <a:t>quote </a:t>
            </a:r>
            <a:r>
              <a:rPr sz="712" b="0">
                <a:solidFill>
                  <a:srgbClr val="A9A29C"/>
                </a:solidFill>
                <a:latin typeface="Arial"/>
              </a:rPr>
              <a:t>requests </a:t>
            </a:r>
            <a:r>
              <a:rPr sz="712" b="0">
                <a:solidFill>
                  <a:srgbClr val="A9A29C"/>
                </a:solidFill>
                <a:latin typeface="Arial"/>
              </a:rPr>
              <a:t>that </a:t>
            </a:r>
            <a:r>
              <a:rPr sz="712" b="0">
                <a:solidFill>
                  <a:srgbClr val="A9A29C"/>
                </a:solidFill>
                <a:latin typeface="Arial"/>
              </a:rPr>
              <a:t>need </a:t>
            </a:r>
            <a:r>
              <a:rPr sz="712" b="0">
                <a:solidFill>
                  <a:srgbClr val="A9A29C"/>
                </a:solidFill>
                <a:latin typeface="Arial"/>
              </a:rPr>
              <a:t>a </a:t>
            </a:r>
            <a:r>
              <a:rPr sz="712" b="0">
                <a:solidFill>
                  <a:srgbClr val="A9A29C"/>
                </a:solidFill>
                <a:latin typeface="Arial"/>
              </a:rPr>
              <a:t>price </a:t>
            </a:r>
            <a:r>
              <a:rPr sz="712" b="0">
                <a:solidFill>
                  <a:srgbClr val="A9A29C"/>
                </a:solidFill>
                <a:latin typeface="Arial"/>
              </a:rPr>
              <a:t>in </a:t>
            </a:r>
            <a:r>
              <a:rPr sz="712" b="0">
                <a:solidFill>
                  <a:srgbClr val="A9A29C"/>
                </a:solidFill>
                <a:latin typeface="Arial"/>
              </a:rPr>
              <a:t>a </a:t>
            </a:r>
            <a:r>
              <a:rPr sz="712" b="0">
                <a:solidFill>
                  <a:srgbClr val="A9A29C"/>
                </a:solidFill>
                <a:latin typeface="Arial"/>
              </a:rPr>
              <a:t>very </a:t>
            </a:r>
            <a:r>
              <a:rPr sz="712" b="0">
                <a:solidFill>
                  <a:srgbClr val="A9A29C"/>
                </a:solidFill>
                <a:latin typeface="Arial"/>
              </a:rPr>
              <a:t>short </a:t>
            </a:r>
            <a:r>
              <a:rPr sz="712" b="0">
                <a:solidFill>
                  <a:srgbClr val="A9A29C"/>
                </a:solidFill>
                <a:latin typeface="Arial"/>
              </a:rPr>
              <a:t>time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13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6913512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Job </a:t>
            </a:r>
            <a:r>
              <a:rPr sz="4510" b="0">
                <a:solidFill>
                  <a:srgbClr val="F0ECE8"/>
                </a:solidFill>
                <a:latin typeface="Arial"/>
              </a:rPr>
              <a:t>Description </a:t>
            </a:r>
            <a:r>
              <a:rPr sz="4510" b="0">
                <a:solidFill>
                  <a:srgbClr val="F0ECE8"/>
                </a:solidFill>
                <a:latin typeface="Arial"/>
              </a:rPr>
              <a:t>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19628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</a:t>
            </a:r>
            <a:r>
              <a:rPr sz="1018" b="0">
                <a:solidFill>
                  <a:srgbClr val="FF5A1F"/>
                </a:solidFill>
                <a:latin typeface="Arial"/>
              </a:rPr>
              <a:t>— </a:t>
            </a:r>
            <a:r>
              <a:rPr sz="1018" b="0">
                <a:solidFill>
                  <a:srgbClr val="FF5A1F"/>
                </a:solidFill>
                <a:latin typeface="Arial"/>
              </a:rPr>
              <a:t>Strategic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47071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Supply </a:t>
            </a:r>
            <a:r>
              <a:rPr sz="1018" b="0">
                <a:solidFill>
                  <a:srgbClr val="6F6963"/>
                </a:solidFill>
                <a:latin typeface="Arial"/>
              </a:rPr>
              <a:t>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14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6929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05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JOB </a:t>
            </a:r>
            <a:r>
              <a:rPr sz="727" b="0">
                <a:solidFill>
                  <a:srgbClr val="FF5A1F"/>
                </a:solidFill>
                <a:latin typeface="Arial"/>
              </a:rPr>
              <a:t>DESCRIPTION </a:t>
            </a:r>
            <a:r>
              <a:rPr sz="727" b="0">
                <a:solidFill>
                  <a:srgbClr val="FF5A1F"/>
                </a:solidFill>
                <a:latin typeface="Arial"/>
              </a:rPr>
              <a:t>EXECUTION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145732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Strategic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89726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Pricing </a:t>
            </a:r>
            <a:r>
              <a:rPr sz="945" b="1">
                <a:solidFill>
                  <a:srgbClr val="F4F1EE"/>
                </a:solidFill>
                <a:latin typeface="Arial"/>
              </a:rPr>
              <a:t>&amp; </a:t>
            </a:r>
            <a:r>
              <a:rPr sz="945" b="1">
                <a:solidFill>
                  <a:srgbClr val="F4F1EE"/>
                </a:solidFill>
                <a:latin typeface="Arial"/>
              </a:rPr>
              <a:t>Market </a:t>
            </a:r>
            <a:r>
              <a:rPr sz="945" b="1">
                <a:solidFill>
                  <a:srgbClr val="F4F1EE"/>
                </a:solidFill>
                <a:latin typeface="Arial"/>
              </a:rP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1903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Price </a:t>
            </a:r>
            <a:r>
              <a:rPr sz="763" b="0">
                <a:solidFill>
                  <a:srgbClr val="A9A29C"/>
                </a:solidFill>
                <a:latin typeface="Arial"/>
              </a:rPr>
              <a:t>&amp; </a:t>
            </a:r>
            <a:r>
              <a:rPr sz="763" b="0">
                <a:solidFill>
                  <a:srgbClr val="A9A29C"/>
                </a:solidFill>
                <a:latin typeface="Arial"/>
              </a:rPr>
              <a:t>market </a:t>
            </a:r>
            <a:r>
              <a:rPr sz="763" b="0">
                <a:solidFill>
                  <a:srgbClr val="A9A29C"/>
                </a:solidFill>
                <a:latin typeface="Arial"/>
              </a:rPr>
              <a:t>analysis </a:t>
            </a:r>
            <a:r>
              <a:rPr sz="763" b="0">
                <a:solidFill>
                  <a:srgbClr val="A9A29C"/>
                </a:solidFill>
                <a:latin typeface="Arial"/>
              </a:rPr>
              <a:t>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" y="2137588"/>
            <a:ext cx="100563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</a:t>
            </a:r>
            <a:r>
              <a:rPr sz="618" b="1">
                <a:solidFill>
                  <a:srgbClr val="FF5A1F"/>
                </a:solidFill>
                <a:latin typeface="Arial"/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" y="2254829"/>
            <a:ext cx="164291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Basis </a:t>
            </a:r>
            <a:r>
              <a:rPr sz="763" b="0">
                <a:solidFill>
                  <a:srgbClr val="F4F1EE"/>
                </a:solidFill>
                <a:latin typeface="Arial"/>
              </a:rPr>
              <a:t>for </a:t>
            </a:r>
            <a:r>
              <a:rPr sz="763" b="0">
                <a:solidFill>
                  <a:srgbClr val="F4F1EE"/>
                </a:solidFill>
                <a:latin typeface="Arial"/>
              </a:rPr>
              <a:t>the </a:t>
            </a:r>
            <a:r>
              <a:rPr sz="763" b="0">
                <a:solidFill>
                  <a:srgbClr val="F4F1EE"/>
                </a:solidFill>
                <a:latin typeface="Arial"/>
              </a:rPr>
              <a:t>pricing </a:t>
            </a:r>
            <a:r>
              <a:rPr sz="763" b="0">
                <a:solidFill>
                  <a:srgbClr val="F4F1EE"/>
                </a:solidFill>
                <a:latin typeface="Arial"/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7515" y="1541145"/>
            <a:ext cx="182597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 </a:t>
            </a:r>
            <a:r>
              <a:rPr sz="945" b="1">
                <a:solidFill>
                  <a:srgbClr val="F4F1EE"/>
                </a:solidFill>
                <a:latin typeface="Arial"/>
              </a:rPr>
              <a:t>Study </a:t>
            </a:r>
            <a:r>
              <a:rPr sz="945" b="1">
                <a:solidFill>
                  <a:srgbClr val="F4F1EE"/>
                </a:solidFill>
                <a:latin typeface="Arial"/>
              </a:rPr>
              <a:t>&amp; </a:t>
            </a:r>
            <a:r>
              <a:rPr sz="945" b="1">
                <a:solidFill>
                  <a:srgbClr val="F4F1EE"/>
                </a:solidFill>
                <a:latin typeface="Arial"/>
              </a:rPr>
              <a:t>Program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7515" y="1689675"/>
            <a:ext cx="115862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8915" y="1907166"/>
            <a:ext cx="124271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Collect </a:t>
            </a:r>
            <a:r>
              <a:rPr sz="763" b="0">
                <a:solidFill>
                  <a:srgbClr val="A9A29C"/>
                </a:solidFill>
                <a:latin typeface="Arial"/>
              </a:rPr>
              <a:t>market </a:t>
            </a:r>
            <a:r>
              <a:rPr sz="763" b="0">
                <a:solidFill>
                  <a:srgbClr val="A9A29C"/>
                </a:solidFill>
                <a:latin typeface="Arial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8915" y="2090225"/>
            <a:ext cx="148173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Map </a:t>
            </a:r>
            <a:r>
              <a:rPr sz="763" b="0">
                <a:solidFill>
                  <a:srgbClr val="A9A29C"/>
                </a:solidFill>
                <a:latin typeface="Arial"/>
              </a:rPr>
              <a:t>competitor </a:t>
            </a:r>
            <a:r>
              <a:rPr sz="763" b="0">
                <a:solidFill>
                  <a:srgbClr val="A9A29C"/>
                </a:solidFill>
                <a:latin typeface="Arial"/>
              </a:rPr>
              <a:t>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8915" y="2273284"/>
            <a:ext cx="190991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Analyse </a:t>
            </a:r>
            <a:r>
              <a:rPr sz="763" b="0">
                <a:solidFill>
                  <a:srgbClr val="A9A29C"/>
                </a:solidFill>
                <a:latin typeface="Arial"/>
              </a:rPr>
              <a:t>new </a:t>
            </a:r>
            <a:r>
              <a:rPr sz="763" b="0">
                <a:solidFill>
                  <a:srgbClr val="A9A29C"/>
                </a:solidFill>
                <a:latin typeface="Arial"/>
              </a:rPr>
              <a:t>product </a:t>
            </a:r>
            <a:r>
              <a:rPr sz="763" b="0">
                <a:solidFill>
                  <a:srgbClr val="A9A29C"/>
                </a:solidFill>
                <a:latin typeface="Arial"/>
              </a:rPr>
              <a:t>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8915" y="2456342"/>
            <a:ext cx="181867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Write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market </a:t>
            </a:r>
            <a:r>
              <a:rPr sz="763" b="0">
                <a:solidFill>
                  <a:srgbClr val="A9A29C"/>
                </a:solidFill>
                <a:latin typeface="Arial"/>
              </a:rPr>
              <a:t>study </a:t>
            </a:r>
            <a:r>
              <a:rPr sz="763" b="0">
                <a:solidFill>
                  <a:srgbClr val="A9A29C"/>
                </a:solidFill>
                <a:latin typeface="Arial"/>
              </a:rPr>
              <a:t>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0815" y="2717125"/>
            <a:ext cx="100563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</a:t>
            </a:r>
            <a:r>
              <a:rPr sz="618" b="1">
                <a:solidFill>
                  <a:srgbClr val="FF5A1F"/>
                </a:solidFill>
                <a:latin typeface="Arial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0815" y="2834366"/>
            <a:ext cx="190976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Market </a:t>
            </a:r>
            <a:r>
              <a:rPr sz="763" b="0">
                <a:solidFill>
                  <a:srgbClr val="F4F1EE"/>
                </a:solidFill>
                <a:latin typeface="Arial"/>
              </a:rPr>
              <a:t>size </a:t>
            </a:r>
            <a:r>
              <a:rPr sz="763" b="0">
                <a:solidFill>
                  <a:srgbClr val="F4F1EE"/>
                </a:solidFill>
                <a:latin typeface="Arial"/>
              </a:rPr>
              <a:t>/ </a:t>
            </a:r>
            <a:r>
              <a:rPr sz="763" b="0">
                <a:solidFill>
                  <a:srgbClr val="F4F1EE"/>
                </a:solidFill>
                <a:latin typeface="Arial"/>
              </a:rPr>
              <a:t>share, </a:t>
            </a:r>
            <a:r>
              <a:rPr sz="763" b="0">
                <a:solidFill>
                  <a:srgbClr val="F4F1EE"/>
                </a:solidFill>
                <a:latin typeface="Arial"/>
              </a:rPr>
              <a:t>segmentation,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0815" y="2969353"/>
            <a:ext cx="137070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positioning </a:t>
            </a:r>
            <a:r>
              <a:rPr sz="763" b="0">
                <a:solidFill>
                  <a:srgbClr val="F4F1EE"/>
                </a:solidFill>
                <a:latin typeface="Arial"/>
              </a:rPr>
              <a:t>&amp; </a:t>
            </a:r>
            <a:r>
              <a:rPr sz="763" b="0">
                <a:solidFill>
                  <a:srgbClr val="F4F1EE"/>
                </a:solidFill>
                <a:latin typeface="Arial"/>
              </a:rPr>
              <a:t>targeting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1105" y="1541145"/>
            <a:ext cx="152325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Market </a:t>
            </a:r>
            <a:r>
              <a:rPr sz="945" b="1">
                <a:solidFill>
                  <a:srgbClr val="F4F1EE"/>
                </a:solidFill>
                <a:latin typeface="Arial"/>
              </a:rPr>
              <a:t>Program </a:t>
            </a:r>
            <a:r>
              <a:rPr sz="945" b="1">
                <a:solidFill>
                  <a:srgbClr val="F4F1EE"/>
                </a:solidFill>
                <a:latin typeface="Arial"/>
              </a:rPr>
              <a:t>for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1105" y="1689675"/>
            <a:ext cx="12136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Support </a:t>
            </a:r>
            <a:r>
              <a:rPr sz="945" b="1">
                <a:solidFill>
                  <a:srgbClr val="F4F1EE"/>
                </a:solidFill>
                <a:latin typeface="Arial"/>
              </a:rPr>
              <a:t>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2505" y="1907166"/>
            <a:ext cx="137606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Sales </a:t>
            </a:r>
            <a:r>
              <a:rPr sz="763" b="0">
                <a:solidFill>
                  <a:srgbClr val="A9A29C"/>
                </a:solidFill>
                <a:latin typeface="Arial"/>
              </a:rPr>
              <a:t>tools </a:t>
            </a:r>
            <a:r>
              <a:rPr sz="763" b="0">
                <a:solidFill>
                  <a:srgbClr val="A9A29C"/>
                </a:solidFill>
                <a:latin typeface="Arial"/>
              </a:rPr>
              <a:t>(pamphlet)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2505" y="2090225"/>
            <a:ext cx="167074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Campaign, </a:t>
            </a:r>
            <a:r>
              <a:rPr sz="763" b="0">
                <a:solidFill>
                  <a:srgbClr val="A9A29C"/>
                </a:solidFill>
                <a:latin typeface="Arial"/>
              </a:rPr>
              <a:t>portfolio </a:t>
            </a:r>
            <a:r>
              <a:rPr sz="763" b="0">
                <a:solidFill>
                  <a:srgbClr val="A9A29C"/>
                </a:solidFill>
                <a:latin typeface="Arial"/>
              </a:rPr>
              <a:t>&amp; </a:t>
            </a:r>
            <a:r>
              <a:rPr sz="763" b="0">
                <a:solidFill>
                  <a:srgbClr val="A9A29C"/>
                </a:solidFill>
                <a:latin typeface="Arial"/>
              </a:rPr>
              <a:t>project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2505" y="2235184"/>
            <a:ext cx="82584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2505" y="2418242"/>
            <a:ext cx="16319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Event </a:t>
            </a:r>
            <a:r>
              <a:rPr sz="763" b="0">
                <a:solidFill>
                  <a:srgbClr val="A9A29C"/>
                </a:solidFill>
                <a:latin typeface="Arial"/>
              </a:rPr>
              <a:t>support </a:t>
            </a:r>
            <a:r>
              <a:rPr sz="763" b="0">
                <a:solidFill>
                  <a:srgbClr val="A9A29C"/>
                </a:solidFill>
                <a:latin typeface="Arial"/>
              </a:rPr>
              <a:t>(mining </a:t>
            </a:r>
            <a:r>
              <a:rPr sz="763" b="0">
                <a:solidFill>
                  <a:srgbClr val="A9A29C"/>
                </a:solidFill>
                <a:latin typeface="Arial"/>
              </a:rPr>
              <a:t>expo)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4405" y="2679025"/>
            <a:ext cx="100563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</a:t>
            </a:r>
            <a:r>
              <a:rPr sz="618" b="1">
                <a:solidFill>
                  <a:srgbClr val="FF5A1F"/>
                </a:solidFill>
                <a:latin typeface="Arial"/>
              </a:rPr>
              <a:t>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4405" y="2796266"/>
            <a:ext cx="191526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Programs </a:t>
            </a:r>
            <a:r>
              <a:rPr sz="763" b="0">
                <a:solidFill>
                  <a:srgbClr val="F4F1EE"/>
                </a:solidFill>
                <a:latin typeface="Arial"/>
              </a:rPr>
              <a:t>ready </a:t>
            </a:r>
            <a:r>
              <a:rPr sz="763" b="0">
                <a:solidFill>
                  <a:srgbClr val="F4F1EE"/>
                </a:solidFill>
                <a:latin typeface="Arial"/>
              </a:rPr>
              <a:t>for </a:t>
            </a:r>
            <a:r>
              <a:rPr sz="763" b="0">
                <a:solidFill>
                  <a:srgbClr val="F4F1EE"/>
                </a:solidFill>
                <a:latin typeface="Arial"/>
              </a:rPr>
              <a:t>the </a:t>
            </a:r>
            <a:r>
              <a:rPr sz="763" b="0">
                <a:solidFill>
                  <a:srgbClr val="F4F1EE"/>
                </a:solidFill>
                <a:latin typeface="Arial"/>
              </a:rPr>
              <a:t>sales </a:t>
            </a:r>
            <a:r>
              <a:rPr sz="763" b="0">
                <a:solidFill>
                  <a:srgbClr val="F4F1EE"/>
                </a:solidFill>
                <a:latin typeface="Arial"/>
              </a:rPr>
              <a:t>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4695" y="1600229"/>
            <a:ext cx="175721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Performance </a:t>
            </a:r>
            <a:r>
              <a:rPr sz="945" b="1">
                <a:solidFill>
                  <a:srgbClr val="F4F1EE"/>
                </a:solidFill>
                <a:latin typeface="Arial"/>
              </a:rP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6095" y="1876806"/>
            <a:ext cx="99804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PICA </a:t>
            </a:r>
            <a:r>
              <a:rPr sz="763" b="0">
                <a:solidFill>
                  <a:srgbClr val="A9A29C"/>
                </a:solidFill>
                <a:latin typeface="Arial"/>
              </a:rPr>
              <a:t>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6095" y="2059864"/>
            <a:ext cx="93702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Billing </a:t>
            </a:r>
            <a:r>
              <a:rPr sz="763" b="0">
                <a:solidFill>
                  <a:srgbClr val="A9A29C"/>
                </a:solidFill>
                <a:latin typeface="Arial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7995" y="2320647"/>
            <a:ext cx="100563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</a:t>
            </a:r>
            <a:r>
              <a:rPr sz="618" b="1">
                <a:solidFill>
                  <a:srgbClr val="FF5A1F"/>
                </a:solidFill>
                <a:latin typeface="Arial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37995" y="2437888"/>
            <a:ext cx="191556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Input </a:t>
            </a:r>
            <a:r>
              <a:rPr sz="763" b="0">
                <a:solidFill>
                  <a:srgbClr val="F4F1EE"/>
                </a:solidFill>
                <a:latin typeface="Arial"/>
              </a:rPr>
              <a:t>for </a:t>
            </a:r>
            <a:r>
              <a:rPr sz="763" b="0">
                <a:solidFill>
                  <a:srgbClr val="F4F1EE"/>
                </a:solidFill>
                <a:latin typeface="Arial"/>
              </a:rPr>
              <a:t>performance </a:t>
            </a:r>
            <a:r>
              <a:rPr sz="763" b="0">
                <a:solidFill>
                  <a:srgbClr val="F4F1EE"/>
                </a:solidFill>
                <a:latin typeface="Arial"/>
              </a:rPr>
              <a:t>evaluation </a:t>
            </a:r>
            <a:r>
              <a:rPr sz="763" b="0">
                <a:solidFill>
                  <a:srgbClr val="F4F1EE"/>
                </a:solidFill>
                <a:latin typeface="Arial"/>
              </a:rPr>
              <a:t>&amp;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7995" y="2572875"/>
            <a:ext cx="140955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management </a:t>
            </a:r>
            <a:r>
              <a:rPr sz="763" b="0">
                <a:solidFill>
                  <a:srgbClr val="F4F1EE"/>
                </a:solidFill>
                <a:latin typeface="Arial"/>
              </a:rPr>
              <a:t>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98285" y="1541145"/>
            <a:ext cx="113079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Innovation </a:t>
            </a:r>
            <a:r>
              <a:rPr sz="945" b="1">
                <a:solidFill>
                  <a:srgbClr val="F4F1EE"/>
                </a:solidFill>
                <a:latin typeface="Arial"/>
              </a:rPr>
              <a:t>&amp;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98285" y="1689675"/>
            <a:ext cx="115862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9685" y="1907166"/>
            <a:ext cx="18655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Innovation </a:t>
            </a:r>
            <a:r>
              <a:rPr sz="763" b="0">
                <a:solidFill>
                  <a:srgbClr val="A9A29C"/>
                </a:solidFill>
                <a:latin typeface="Arial"/>
              </a:rPr>
              <a:t>project </a:t>
            </a:r>
            <a:r>
              <a:rPr sz="763" b="0">
                <a:solidFill>
                  <a:srgbClr val="A9A29C"/>
                </a:solidFill>
                <a:latin typeface="Arial"/>
              </a:rPr>
              <a:t>&amp; </a:t>
            </a:r>
            <a:r>
              <a:rPr sz="763" b="0">
                <a:solidFill>
                  <a:srgbClr val="A9A29C"/>
                </a:solidFill>
                <a:latin typeface="Arial"/>
              </a:rPr>
              <a:t>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31585" y="2167949"/>
            <a:ext cx="1005631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18" b="1">
                <a:solidFill>
                  <a:srgbClr val="FF5A1F"/>
                </a:solidFill>
                <a:latin typeface="Arial"/>
              </a:rPr>
              <a:t>END </a:t>
            </a:r>
            <a:r>
              <a:rPr sz="618" b="1">
                <a:solidFill>
                  <a:srgbClr val="FF5A1F"/>
                </a:solidFill>
                <a:latin typeface="Arial"/>
              </a:rPr>
              <a:t>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31585" y="2285190"/>
            <a:ext cx="205442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Innovation </a:t>
            </a:r>
            <a:r>
              <a:rPr sz="763" b="0">
                <a:solidFill>
                  <a:srgbClr val="F4F1EE"/>
                </a:solidFill>
                <a:latin typeface="Arial"/>
              </a:rPr>
              <a:t>framework; </a:t>
            </a:r>
            <a:r>
              <a:rPr sz="763" b="0">
                <a:solidFill>
                  <a:srgbClr val="F4F1EE"/>
                </a:solidFill>
                <a:latin typeface="Arial"/>
              </a:rPr>
              <a:t>field </a:t>
            </a:r>
            <a:r>
              <a:rPr sz="763" b="0">
                <a:solidFill>
                  <a:srgbClr val="F4F1EE"/>
                </a:solidFill>
                <a:latin typeface="Arial"/>
              </a:rPr>
              <a:t>conditions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1585" y="2420177"/>
            <a:ext cx="93151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F4F1EE"/>
                </a:solidFill>
                <a:latin typeface="Arial"/>
              </a:rPr>
              <a:t>documented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2925" y="5950993"/>
            <a:ext cx="121027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DELIVERABLES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925" y="6093106"/>
            <a:ext cx="290289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Market </a:t>
            </a:r>
            <a:r>
              <a:rPr sz="763" b="0">
                <a:solidFill>
                  <a:srgbClr val="A9A29C"/>
                </a:solidFill>
                <a:latin typeface="Arial"/>
              </a:rPr>
              <a:t>study </a:t>
            </a:r>
            <a:r>
              <a:rPr sz="763" b="0">
                <a:solidFill>
                  <a:srgbClr val="A9A29C"/>
                </a:solidFill>
                <a:latin typeface="Arial"/>
              </a:rPr>
              <a:t>report, </a:t>
            </a:r>
            <a:r>
              <a:rPr sz="763" b="0">
                <a:solidFill>
                  <a:srgbClr val="A9A29C"/>
                </a:solidFill>
                <a:latin typeface="Arial"/>
              </a:rPr>
              <a:t>competitor </a:t>
            </a:r>
            <a:r>
              <a:rPr sz="763" b="0">
                <a:solidFill>
                  <a:srgbClr val="A9A29C"/>
                </a:solidFill>
                <a:latin typeface="Arial"/>
              </a:rPr>
              <a:t>mapping, </a:t>
            </a:r>
            <a:r>
              <a:rPr sz="763" b="0">
                <a:solidFill>
                  <a:srgbClr val="A9A29C"/>
                </a:solidFill>
                <a:latin typeface="Arial"/>
              </a:rPr>
              <a:t>sales </a:t>
            </a:r>
            <a:r>
              <a:rPr sz="763" b="0">
                <a:solidFill>
                  <a:srgbClr val="A9A29C"/>
                </a:solidFill>
                <a:latin typeface="Arial"/>
              </a:rPr>
              <a:t>tools, </a:t>
            </a:r>
            <a:r>
              <a:rPr sz="763" b="0">
                <a:solidFill>
                  <a:srgbClr val="A9A29C"/>
                </a:solidFill>
                <a:latin typeface="Arial"/>
              </a:rPr>
              <a:t>GP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" y="6228093"/>
            <a:ext cx="14262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performance </a:t>
            </a:r>
            <a:r>
              <a:rPr sz="763" b="0">
                <a:solidFill>
                  <a:srgbClr val="A9A29C"/>
                </a:solidFill>
                <a:latin typeface="Arial"/>
              </a:rPr>
              <a:t>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6612" y="5950993"/>
            <a:ext cx="176123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DEPARTMENTS </a:t>
            </a:r>
            <a:r>
              <a:rPr sz="691" b="1">
                <a:solidFill>
                  <a:srgbClr val="FF5A1F"/>
                </a:solidFill>
                <a:latin typeface="Arial"/>
              </a:rPr>
              <a:t>INVOLVED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6612" y="6093106"/>
            <a:ext cx="295453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Sales,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63" b="0">
                <a:solidFill>
                  <a:srgbClr val="A9A29C"/>
                </a:solidFill>
                <a:latin typeface="Arial"/>
              </a:rPr>
              <a:t>Communication,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63" b="0">
                <a:solidFill>
                  <a:srgbClr val="A9A29C"/>
                </a:solidFill>
                <a:latin typeface="Arial"/>
              </a:rPr>
              <a:t>Parts, </a:t>
            </a:r>
            <a:r>
              <a:rPr sz="763" b="0">
                <a:solidFill>
                  <a:srgbClr val="A9A29C"/>
                </a:solidFill>
                <a:latin typeface="Arial"/>
              </a:rPr>
              <a:t>UTPE,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76612" y="6228093"/>
            <a:ext cx="7368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Finance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0300" y="5950993"/>
            <a:ext cx="111308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CHALLENGES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0300" y="6093106"/>
            <a:ext cx="286613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Keeping </a:t>
            </a:r>
            <a:r>
              <a:rPr sz="763" b="0">
                <a:solidFill>
                  <a:srgbClr val="A9A29C"/>
                </a:solidFill>
                <a:latin typeface="Arial"/>
              </a:rPr>
              <a:t>market </a:t>
            </a:r>
            <a:r>
              <a:rPr sz="763" b="0">
                <a:solidFill>
                  <a:srgbClr val="A9A29C"/>
                </a:solidFill>
                <a:latin typeface="Arial"/>
              </a:rPr>
              <a:t>data </a:t>
            </a:r>
            <a:r>
              <a:rPr sz="763" b="0">
                <a:solidFill>
                  <a:srgbClr val="A9A29C"/>
                </a:solidFill>
                <a:latin typeface="Arial"/>
              </a:rPr>
              <a:t>current, </a:t>
            </a:r>
            <a:r>
              <a:rPr sz="763" b="0">
                <a:solidFill>
                  <a:srgbClr val="A9A29C"/>
                </a:solidFill>
                <a:latin typeface="Arial"/>
              </a:rPr>
              <a:t>validating </a:t>
            </a:r>
            <a:r>
              <a:rPr sz="763" b="0">
                <a:solidFill>
                  <a:srgbClr val="A9A29C"/>
                </a:solidFill>
                <a:latin typeface="Arial"/>
              </a:rPr>
              <a:t>competitor </a:t>
            </a:r>
            <a:r>
              <a:rPr sz="763" b="0">
                <a:solidFill>
                  <a:srgbClr val="A9A29C"/>
                </a:solidFill>
                <a:latin typeface="Arial"/>
              </a:rPr>
              <a:t>data,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0300" y="6228093"/>
            <a:ext cx="99253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tight </a:t>
            </a:r>
            <a:r>
              <a:rPr sz="763" b="0">
                <a:solidFill>
                  <a:srgbClr val="A9A29C"/>
                </a:solidFill>
                <a:latin typeface="Arial"/>
              </a:rPr>
              <a:t>timelines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987" y="5950993"/>
            <a:ext cx="124539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F5A1F"/>
                </a:solidFill>
                <a:latin typeface="Arial"/>
              </a:rPr>
              <a:t>IMPROVEMENTS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987" y="6093106"/>
            <a:ext cx="292730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Standard </a:t>
            </a:r>
            <a:r>
              <a:rPr sz="763" b="0">
                <a:solidFill>
                  <a:srgbClr val="A9A29C"/>
                </a:solidFill>
                <a:latin typeface="Arial"/>
              </a:rPr>
              <a:t>report </a:t>
            </a:r>
            <a:r>
              <a:rPr sz="763" b="0">
                <a:solidFill>
                  <a:srgbClr val="A9A29C"/>
                </a:solidFill>
                <a:latin typeface="Arial"/>
              </a:rPr>
              <a:t>template, </a:t>
            </a:r>
            <a:r>
              <a:rPr sz="763" b="0">
                <a:solidFill>
                  <a:srgbClr val="A9A29C"/>
                </a:solidFill>
                <a:latin typeface="Arial"/>
              </a:rPr>
              <a:t>automate </a:t>
            </a:r>
            <a:r>
              <a:rPr sz="763" b="0">
                <a:solidFill>
                  <a:srgbClr val="A9A29C"/>
                </a:solidFill>
                <a:latin typeface="Arial"/>
              </a:rPr>
              <a:t>market </a:t>
            </a:r>
            <a:r>
              <a:rPr sz="763" b="0">
                <a:solidFill>
                  <a:srgbClr val="A9A29C"/>
                </a:solidFill>
                <a:latin typeface="Arial"/>
              </a:rPr>
              <a:t>data </a:t>
            </a:r>
            <a:r>
              <a:rPr sz="763" b="0">
                <a:solidFill>
                  <a:srgbClr val="A9A29C"/>
                </a:solidFill>
                <a:latin typeface="Arial"/>
              </a:rPr>
              <a:t>updates,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3987" y="6228093"/>
            <a:ext cx="17985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review </a:t>
            </a:r>
            <a:r>
              <a:rPr sz="763" b="0">
                <a:solidFill>
                  <a:srgbClr val="A9A29C"/>
                </a:solidFill>
                <a:latin typeface="Arial"/>
              </a:rPr>
              <a:t>competitor </a:t>
            </a:r>
            <a:r>
              <a:rPr sz="763" b="0">
                <a:solidFill>
                  <a:srgbClr val="A9A29C"/>
                </a:solidFill>
                <a:latin typeface="Arial"/>
              </a:rPr>
              <a:t>data </a:t>
            </a:r>
            <a:r>
              <a:rPr sz="763" b="0">
                <a:solidFill>
                  <a:srgbClr val="A9A29C"/>
                </a:solidFill>
                <a:latin typeface="Arial"/>
              </a:rPr>
              <a:t>regularly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15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B089"/>
                </a:solidFill>
                <a:latin typeface="Arial"/>
              </a:rPr>
              <a:t>SECTION </a:t>
            </a:r>
            <a:r>
              <a:rPr sz="727" b="0">
                <a:solidFill>
                  <a:srgbClr val="FFB089"/>
                </a:solidFill>
                <a:latin typeface="Arial"/>
              </a:rPr>
              <a:t>05 </a:t>
            </a:r>
            <a:r>
              <a:rPr sz="727" b="0">
                <a:solidFill>
                  <a:srgbClr val="FFB089"/>
                </a:solidFill>
                <a:latin typeface="Arial"/>
              </a:rPr>
              <a:t>· </a:t>
            </a:r>
            <a:r>
              <a:rPr sz="727" b="0">
                <a:solidFill>
                  <a:srgbClr val="FFB089"/>
                </a:solidFill>
                <a:latin typeface="Arial"/>
              </a:rPr>
              <a:t>JOB </a:t>
            </a:r>
            <a:r>
              <a:rPr sz="727" b="0">
                <a:solidFill>
                  <a:srgbClr val="FFB089"/>
                </a:solidFill>
                <a:latin typeface="Arial"/>
              </a:rPr>
              <a:t>DESCRIPTION </a:t>
            </a:r>
            <a:r>
              <a:rPr sz="727" b="0">
                <a:solidFill>
                  <a:srgbClr val="FFB089"/>
                </a:solidFill>
                <a:latin typeface="Arial"/>
              </a:rPr>
              <a:t>EXECUTION </a:t>
            </a:r>
            <a:r>
              <a:rPr sz="727" b="0">
                <a:solidFill>
                  <a:srgbClr val="FFB089"/>
                </a:solidFill>
                <a:latin typeface="Arial"/>
              </a:rPr>
              <a:t>· </a:t>
            </a:r>
            <a:r>
              <a:rPr sz="727" b="0">
                <a:solidFill>
                  <a:srgbClr val="FFB089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Supply </a:t>
            </a:r>
            <a:r>
              <a:rPr sz="2182" b="0">
                <a:solidFill>
                  <a:srgbClr val="F0ECE8"/>
                </a:solidFill>
                <a:latin typeface="Arial"/>
              </a:rPr>
              <a:t>Chain </a:t>
            </a:r>
            <a:r>
              <a:rPr sz="2182" b="0">
                <a:solidFill>
                  <a:srgbClr val="F0ECE8"/>
                </a:solidFill>
                <a:latin typeface="Arial"/>
              </a:rPr>
              <a:t>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600229"/>
            <a:ext cx="127560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Demand </a:t>
            </a:r>
            <a:r>
              <a:rPr sz="945" b="1">
                <a:solidFill>
                  <a:srgbClr val="F4F1EE"/>
                </a:solidFill>
                <a:latin typeface="Arial"/>
              </a:rPr>
              <a:t>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76806"/>
            <a:ext cx="221560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Look </a:t>
            </a:r>
            <a:r>
              <a:rPr sz="763" b="0">
                <a:solidFill>
                  <a:srgbClr val="A9A29C"/>
                </a:solidFill>
                <a:latin typeface="Arial"/>
              </a:rPr>
              <a:t>at </a:t>
            </a:r>
            <a:r>
              <a:rPr sz="763" b="0">
                <a:solidFill>
                  <a:srgbClr val="A9A29C"/>
                </a:solidFill>
                <a:latin typeface="Arial"/>
              </a:rPr>
              <a:t>which </a:t>
            </a:r>
            <a:r>
              <a:rPr sz="763" b="0">
                <a:solidFill>
                  <a:srgbClr val="A9A29C"/>
                </a:solidFill>
                <a:latin typeface="Arial"/>
              </a:rPr>
              <a:t>demands </a:t>
            </a:r>
            <a:r>
              <a:rPr sz="763" b="0">
                <a:solidFill>
                  <a:srgbClr val="A9A29C"/>
                </a:solidFill>
                <a:latin typeface="Arial"/>
              </a:rPr>
              <a:t>are </a:t>
            </a:r>
            <a:r>
              <a:rPr sz="763" b="0">
                <a:solidFill>
                  <a:srgbClr val="A9A29C"/>
                </a:solidFill>
                <a:latin typeface="Arial"/>
              </a:rPr>
              <a:t>rising </a:t>
            </a:r>
            <a:r>
              <a:rPr sz="763" b="0">
                <a:solidFill>
                  <a:srgbClr val="A9A29C"/>
                </a:solidFill>
                <a:latin typeface="Arial"/>
              </a:rPr>
              <a:t>in </a:t>
            </a:r>
            <a:r>
              <a:rPr sz="763" b="0">
                <a:solidFill>
                  <a:srgbClr val="A9A29C"/>
                </a:solidFill>
                <a:latin typeface="Arial"/>
              </a:rPr>
              <a:t>PCR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59864"/>
            <a:ext cx="333821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Clarify </a:t>
            </a:r>
            <a:r>
              <a:rPr sz="763" b="0">
                <a:solidFill>
                  <a:srgbClr val="A9A29C"/>
                </a:solidFill>
                <a:latin typeface="Arial"/>
              </a:rPr>
              <a:t>with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Business </a:t>
            </a:r>
            <a:r>
              <a:rPr sz="763" b="0">
                <a:solidFill>
                  <a:srgbClr val="A9A29C"/>
                </a:solidFill>
                <a:latin typeface="Arial"/>
              </a:rPr>
              <a:t>Consultant </a:t>
            </a:r>
            <a:r>
              <a:rPr sz="763" b="0">
                <a:solidFill>
                  <a:srgbClr val="A9A29C"/>
                </a:solidFill>
                <a:latin typeface="Arial"/>
              </a:rPr>
              <a:t>why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customer </a:t>
            </a:r>
            <a:r>
              <a:rPr sz="763" b="0">
                <a:solidFill>
                  <a:srgbClr val="A9A29C"/>
                </a:solidFill>
                <a:latin typeface="Arial"/>
              </a:rPr>
              <a:t>is </a:t>
            </a:r>
            <a:r>
              <a:rPr sz="763" b="0">
                <a:solidFill>
                  <a:srgbClr val="A9A29C"/>
                </a:solidFill>
                <a:latin typeface="Arial"/>
              </a:rPr>
              <a:t>buying </a:t>
            </a:r>
            <a:r>
              <a:rPr sz="763" b="0">
                <a:solidFill>
                  <a:srgbClr val="A9A29C"/>
                </a:solidFill>
                <a:latin typeface="Arial"/>
              </a:rPr>
              <a:t>—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4823"/>
            <a:ext cx="219342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expansion, </a:t>
            </a:r>
            <a:r>
              <a:rPr sz="763" b="0">
                <a:solidFill>
                  <a:srgbClr val="A9A29C"/>
                </a:solidFill>
                <a:latin typeface="Arial"/>
              </a:rPr>
              <a:t>new </a:t>
            </a:r>
            <a:r>
              <a:rPr sz="763" b="0">
                <a:solidFill>
                  <a:srgbClr val="A9A29C"/>
                </a:solidFill>
                <a:latin typeface="Arial"/>
              </a:rPr>
              <a:t>business </a:t>
            </a:r>
            <a:r>
              <a:rPr sz="763" b="0">
                <a:solidFill>
                  <a:srgbClr val="A9A29C"/>
                </a:solidFill>
                <a:latin typeface="Arial"/>
              </a:rPr>
              <a:t>or </a:t>
            </a:r>
            <a:r>
              <a:rPr sz="763" b="0">
                <a:solidFill>
                  <a:srgbClr val="A9A29C"/>
                </a:solidFill>
                <a:latin typeface="Arial"/>
              </a:rPr>
              <a:t>replacement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87881"/>
            <a:ext cx="190976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where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project </a:t>
            </a:r>
            <a:r>
              <a:rPr sz="763" b="0">
                <a:solidFill>
                  <a:srgbClr val="A9A29C"/>
                </a:solidFill>
                <a:latin typeface="Arial"/>
              </a:rPr>
              <a:t>is </a:t>
            </a:r>
            <a:r>
              <a:rPr sz="763" b="0">
                <a:solidFill>
                  <a:srgbClr val="A9A29C"/>
                </a:solidFill>
                <a:latin typeface="Arial"/>
              </a:rPr>
              <a:t>located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70940"/>
            <a:ext cx="262681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whether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customer </a:t>
            </a:r>
            <a:r>
              <a:rPr sz="763" b="0">
                <a:solidFill>
                  <a:srgbClr val="A9A29C"/>
                </a:solidFill>
                <a:latin typeface="Arial"/>
              </a:rPr>
              <a:t>wants </a:t>
            </a:r>
            <a:r>
              <a:rPr sz="763" b="0">
                <a:solidFill>
                  <a:srgbClr val="A9A29C"/>
                </a:solidFill>
                <a:latin typeface="Arial"/>
              </a:rPr>
              <a:t>it </a:t>
            </a:r>
            <a:r>
              <a:rPr sz="763" b="0">
                <a:solidFill>
                  <a:srgbClr val="A9A29C"/>
                </a:solidFill>
                <a:latin typeface="Arial"/>
              </a:rPr>
              <a:t>fast </a:t>
            </a:r>
            <a:r>
              <a:rPr sz="763" b="0">
                <a:solidFill>
                  <a:srgbClr val="A9A29C"/>
                </a:solidFill>
                <a:latin typeface="Arial"/>
              </a:rPr>
              <a:t>or </a:t>
            </a:r>
            <a:r>
              <a:rPr sz="763" b="0">
                <a:solidFill>
                  <a:srgbClr val="A9A29C"/>
                </a:solidFill>
                <a:latin typeface="Arial"/>
              </a:rPr>
              <a:t>cheap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2753998"/>
            <a:ext cx="304383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expected </a:t>
            </a:r>
            <a:r>
              <a:rPr sz="763" b="0">
                <a:solidFill>
                  <a:srgbClr val="A9A29C"/>
                </a:solidFill>
                <a:latin typeface="Arial"/>
              </a:rPr>
              <a:t>price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when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PO </a:t>
            </a:r>
            <a:r>
              <a:rPr sz="763" b="0">
                <a:solidFill>
                  <a:srgbClr val="A9A29C"/>
                </a:solidFill>
                <a:latin typeface="Arial"/>
              </a:rPr>
              <a:t>is </a:t>
            </a:r>
            <a:r>
              <a:rPr sz="763" b="0">
                <a:solidFill>
                  <a:srgbClr val="A9A29C"/>
                </a:solidFill>
                <a:latin typeface="Arial"/>
              </a:rPr>
              <a:t>likely </a:t>
            </a:r>
            <a:r>
              <a:rPr sz="763" b="0">
                <a:solidFill>
                  <a:srgbClr val="A9A29C"/>
                </a:solidFill>
                <a:latin typeface="Arial"/>
              </a:rPr>
              <a:t>to </a:t>
            </a:r>
            <a:r>
              <a:rPr sz="763" b="0">
                <a:solidFill>
                  <a:srgbClr val="A9A29C"/>
                </a:solidFill>
                <a:latin typeface="Arial"/>
              </a:rPr>
              <a:t>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6575" y="1600229"/>
            <a:ext cx="203954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Preliminary </a:t>
            </a:r>
            <a:r>
              <a:rPr sz="945" b="1">
                <a:solidFill>
                  <a:srgbClr val="F4F1EE"/>
                </a:solidFill>
                <a:latin typeface="Arial"/>
              </a:rPr>
              <a:t>Drawing </a:t>
            </a:r>
            <a:r>
              <a:rPr sz="945" b="1">
                <a:solidFill>
                  <a:srgbClr val="F4F1EE"/>
                </a:solidFill>
                <a:latin typeface="Arial"/>
              </a:rPr>
              <a:t>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975" y="1876806"/>
            <a:ext cx="227677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what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unit </a:t>
            </a:r>
            <a:r>
              <a:rPr sz="763" b="0">
                <a:solidFill>
                  <a:srgbClr val="A9A29C"/>
                </a:solidFill>
                <a:latin typeface="Arial"/>
              </a:rPr>
              <a:t>does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how </a:t>
            </a:r>
            <a:r>
              <a:rPr sz="763" b="0">
                <a:solidFill>
                  <a:srgbClr val="A9A29C"/>
                </a:solidFill>
                <a:latin typeface="Arial"/>
              </a:rPr>
              <a:t>it </a:t>
            </a:r>
            <a:r>
              <a:rPr sz="763" b="0">
                <a:solidFill>
                  <a:srgbClr val="A9A29C"/>
                </a:solidFill>
                <a:latin typeface="Arial"/>
              </a:rPr>
              <a:t>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975" y="2059864"/>
            <a:ext cx="354419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main </a:t>
            </a:r>
            <a:r>
              <a:rPr sz="763" b="0">
                <a:solidFill>
                  <a:srgbClr val="A9A29C"/>
                </a:solidFill>
                <a:latin typeface="Arial"/>
              </a:rPr>
              <a:t>components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find </a:t>
            </a:r>
            <a:r>
              <a:rPr sz="763" b="0">
                <a:solidFill>
                  <a:srgbClr val="A9A29C"/>
                </a:solidFill>
                <a:latin typeface="Arial"/>
              </a:rPr>
              <a:t>which </a:t>
            </a:r>
            <a:r>
              <a:rPr sz="763" b="0">
                <a:solidFill>
                  <a:srgbClr val="A9A29C"/>
                </a:solidFill>
                <a:latin typeface="Arial"/>
              </a:rPr>
              <a:t>ones </a:t>
            </a:r>
            <a:r>
              <a:rPr sz="763" b="0">
                <a:solidFill>
                  <a:srgbClr val="A9A29C"/>
                </a:solidFill>
                <a:latin typeface="Arial"/>
              </a:rPr>
              <a:t>are </a:t>
            </a:r>
            <a:r>
              <a:rPr sz="763" b="0">
                <a:solidFill>
                  <a:srgbClr val="A9A29C"/>
                </a:solidFill>
                <a:latin typeface="Arial"/>
              </a:rPr>
              <a:t>critical </a:t>
            </a:r>
            <a:r>
              <a:rPr sz="763" b="0">
                <a:solidFill>
                  <a:srgbClr val="A9A29C"/>
                </a:solidFill>
                <a:latin typeface="Arial"/>
              </a:rPr>
              <a:t>on </a:t>
            </a:r>
            <a:r>
              <a:rPr sz="763" b="0">
                <a:solidFill>
                  <a:srgbClr val="A9A29C"/>
                </a:solidFill>
                <a:latin typeface="Arial"/>
              </a:rPr>
              <a:t>price </a:t>
            </a:r>
            <a:r>
              <a:rPr sz="763" b="0">
                <a:solidFill>
                  <a:srgbClr val="A9A29C"/>
                </a:solidFill>
                <a:latin typeface="Arial"/>
              </a:rPr>
              <a:t>or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975" y="2204823"/>
            <a:ext cx="78685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lead </a:t>
            </a:r>
            <a:r>
              <a:rPr sz="763" b="0">
                <a:solidFill>
                  <a:srgbClr val="A9A29C"/>
                </a:solidFill>
                <a:latin typeface="Arial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387881"/>
            <a:ext cx="3427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Consult </a:t>
            </a:r>
            <a:r>
              <a:rPr sz="763" b="0">
                <a:solidFill>
                  <a:srgbClr val="A9A29C"/>
                </a:solidFill>
                <a:latin typeface="Arial"/>
              </a:rPr>
              <a:t>Application </a:t>
            </a:r>
            <a:r>
              <a:rPr sz="763" b="0">
                <a:solidFill>
                  <a:srgbClr val="A9A29C"/>
                </a:solidFill>
                <a:latin typeface="Arial"/>
              </a:rPr>
              <a:t>Engineering </a:t>
            </a:r>
            <a:r>
              <a:rPr sz="763" b="0">
                <a:solidFill>
                  <a:srgbClr val="A9A29C"/>
                </a:solidFill>
                <a:latin typeface="Arial"/>
              </a:rPr>
              <a:t>to </a:t>
            </a:r>
            <a:r>
              <a:rPr sz="763" b="0">
                <a:solidFill>
                  <a:srgbClr val="A9A29C"/>
                </a:solidFill>
                <a:latin typeface="Arial"/>
              </a:rPr>
              <a:t>understand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unit </a:t>
            </a:r>
            <a:r>
              <a:rPr sz="763" b="0">
                <a:solidFill>
                  <a:srgbClr val="A9A29C"/>
                </a:solidFill>
                <a:latin typeface="Arial"/>
              </a:rPr>
              <a:t>in </a:t>
            </a:r>
            <a:r>
              <a:rPr sz="763" b="0">
                <a:solidFill>
                  <a:srgbClr val="A9A29C"/>
                </a:solidFill>
                <a:latin typeface="Arial"/>
              </a:rPr>
              <a:t>more </a:t>
            </a:r>
            <a:r>
              <a:rPr sz="763" b="0">
                <a:solidFill>
                  <a:srgbClr val="A9A29C"/>
                </a:solidFill>
                <a:latin typeface="Arial"/>
              </a:rPr>
              <a:t>depth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9225" y="1600229"/>
            <a:ext cx="169500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Request </a:t>
            </a:r>
            <a:r>
              <a:rPr sz="945" b="1">
                <a:solidFill>
                  <a:srgbClr val="F4F1EE"/>
                </a:solidFill>
                <a:latin typeface="Arial"/>
              </a:rPr>
              <a:t>Quote </a:t>
            </a:r>
            <a:r>
              <a:rPr sz="945" b="1">
                <a:solidFill>
                  <a:srgbClr val="F4F1EE"/>
                </a:solidFill>
                <a:latin typeface="Arial"/>
              </a:rPr>
              <a:t>to </a:t>
            </a:r>
            <a:r>
              <a:rPr sz="945" b="1">
                <a:solidFill>
                  <a:srgbClr val="F4F1EE"/>
                </a:solidFill>
                <a:latin typeface="Arial"/>
              </a:rPr>
              <a:t>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1876806"/>
            <a:ext cx="328299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Attach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preliminary </a:t>
            </a:r>
            <a:r>
              <a:rPr sz="763" b="0">
                <a:solidFill>
                  <a:srgbClr val="A9A29C"/>
                </a:solidFill>
                <a:latin typeface="Arial"/>
              </a:rPr>
              <a:t>drawing, </a:t>
            </a:r>
            <a:r>
              <a:rPr sz="763" b="0">
                <a:solidFill>
                  <a:srgbClr val="A9A29C"/>
                </a:solidFill>
                <a:latin typeface="Arial"/>
              </a:rPr>
              <a:t>expected </a:t>
            </a:r>
            <a:r>
              <a:rPr sz="763" b="0">
                <a:solidFill>
                  <a:srgbClr val="A9A29C"/>
                </a:solidFill>
                <a:latin typeface="Arial"/>
              </a:rPr>
              <a:t>price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lead </a:t>
            </a:r>
            <a:r>
              <a:rPr sz="763" b="0">
                <a:solidFill>
                  <a:srgbClr val="A9A29C"/>
                </a:solidFill>
                <a:latin typeface="Arial"/>
              </a:rPr>
              <a:t>time, </a:t>
            </a:r>
            <a:r>
              <a:rPr sz="763" b="0">
                <a:solidFill>
                  <a:srgbClr val="A9A29C"/>
                </a:solidFill>
                <a:latin typeface="Arial"/>
              </a:rPr>
              <a:t>end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2021764"/>
            <a:ext cx="32718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customer </a:t>
            </a:r>
            <a:r>
              <a:rPr sz="763" b="0">
                <a:solidFill>
                  <a:srgbClr val="A9A29C"/>
                </a:solidFill>
                <a:latin typeface="Arial"/>
              </a:rPr>
              <a:t>name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expected </a:t>
            </a:r>
            <a:r>
              <a:rPr sz="763" b="0">
                <a:solidFill>
                  <a:srgbClr val="A9A29C"/>
                </a:solidFill>
                <a:latin typeface="Arial"/>
              </a:rPr>
              <a:t>delivery </a:t>
            </a:r>
            <a:r>
              <a:rPr sz="763" b="0">
                <a:solidFill>
                  <a:srgbClr val="A9A29C"/>
                </a:solidFill>
                <a:latin typeface="Arial"/>
              </a:rPr>
              <a:t>so </a:t>
            </a:r>
            <a:r>
              <a:rPr sz="763" b="0">
                <a:solidFill>
                  <a:srgbClr val="A9A29C"/>
                </a:solidFill>
                <a:latin typeface="Arial"/>
              </a:rPr>
              <a:t>UTE </a:t>
            </a:r>
            <a:r>
              <a:rPr sz="763" b="0">
                <a:solidFill>
                  <a:srgbClr val="A9A29C"/>
                </a:solidFill>
                <a:latin typeface="Arial"/>
              </a:rPr>
              <a:t>has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full </a:t>
            </a:r>
            <a:r>
              <a:rPr sz="763" b="0">
                <a:solidFill>
                  <a:srgbClr val="A9A29C"/>
                </a:solidFill>
                <a:latin typeface="Arial"/>
              </a:rPr>
              <a:t>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0625" y="2204823"/>
            <a:ext cx="30645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standard </a:t>
            </a:r>
            <a:r>
              <a:rPr sz="763" b="0">
                <a:solidFill>
                  <a:srgbClr val="A9A29C"/>
                </a:solidFill>
                <a:latin typeface="Arial"/>
              </a:rPr>
              <a:t>GP </a:t>
            </a:r>
            <a:r>
              <a:rPr sz="763" b="0">
                <a:solidFill>
                  <a:srgbClr val="A9A29C"/>
                </a:solidFill>
                <a:latin typeface="Arial"/>
              </a:rPr>
              <a:t>(13.6%,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price </a:t>
            </a:r>
            <a:r>
              <a:rPr sz="763" b="0">
                <a:solidFill>
                  <a:srgbClr val="A9A29C"/>
                </a:solidFill>
                <a:latin typeface="Arial"/>
              </a:rPr>
              <a:t>before </a:t>
            </a:r>
            <a:r>
              <a:rPr sz="763" b="0">
                <a:solidFill>
                  <a:srgbClr val="A9A29C"/>
                </a:solidFill>
                <a:latin typeface="Arial"/>
              </a:rPr>
              <a:t>negotiation)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2387881"/>
            <a:ext cx="24437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SLA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escalate </a:t>
            </a:r>
            <a:r>
              <a:rPr sz="763" b="0">
                <a:solidFill>
                  <a:srgbClr val="A9A29C"/>
                </a:solidFill>
                <a:latin typeface="Arial"/>
              </a:rPr>
              <a:t>if </a:t>
            </a:r>
            <a:r>
              <a:rPr sz="763" b="0">
                <a:solidFill>
                  <a:srgbClr val="A9A29C"/>
                </a:solidFill>
                <a:latin typeface="Arial"/>
              </a:rPr>
              <a:t>it </a:t>
            </a:r>
            <a:r>
              <a:rPr sz="763" b="0">
                <a:solidFill>
                  <a:srgbClr val="A9A29C"/>
                </a:solidFill>
                <a:latin typeface="Arial"/>
              </a:rPr>
              <a:t>takes </a:t>
            </a:r>
            <a:r>
              <a:rPr sz="763" b="0">
                <a:solidFill>
                  <a:srgbClr val="A9A29C"/>
                </a:solidFill>
                <a:latin typeface="Arial"/>
              </a:rPr>
              <a:t>too </a:t>
            </a:r>
            <a:r>
              <a:rPr sz="763" b="0">
                <a:solidFill>
                  <a:srgbClr val="A9A29C"/>
                </a:solidFill>
                <a:latin typeface="Arial"/>
              </a:rPr>
              <a:t>long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0625" y="2570940"/>
            <a:ext cx="176539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Enter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quote </a:t>
            </a:r>
            <a:r>
              <a:rPr sz="763" b="0">
                <a:solidFill>
                  <a:srgbClr val="A9A29C"/>
                </a:solidFill>
                <a:latin typeface="Arial"/>
              </a:rPr>
              <a:t>result </a:t>
            </a:r>
            <a:r>
              <a:rPr sz="763" b="0">
                <a:solidFill>
                  <a:srgbClr val="A9A29C"/>
                </a:solidFill>
                <a:latin typeface="Arial"/>
              </a:rPr>
              <a:t>into </a:t>
            </a:r>
            <a:r>
              <a:rPr sz="763" b="0">
                <a:solidFill>
                  <a:srgbClr val="A9A29C"/>
                </a:solidFill>
                <a:latin typeface="Arial"/>
              </a:rPr>
              <a:t>PCR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16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17450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B089"/>
                </a:solidFill>
                <a:latin typeface="Arial"/>
              </a:rPr>
              <a:t>SECTION </a:t>
            </a:r>
            <a:r>
              <a:rPr sz="727" b="0">
                <a:solidFill>
                  <a:srgbClr val="FFB089"/>
                </a:solidFill>
                <a:latin typeface="Arial"/>
              </a:rPr>
              <a:t>05 </a:t>
            </a:r>
            <a:r>
              <a:rPr sz="727" b="0">
                <a:solidFill>
                  <a:srgbClr val="FFB089"/>
                </a:solidFill>
                <a:latin typeface="Arial"/>
              </a:rPr>
              <a:t>· </a:t>
            </a:r>
            <a:r>
              <a:rPr sz="727" b="0">
                <a:solidFill>
                  <a:srgbClr val="FFB089"/>
                </a:solidFill>
                <a:latin typeface="Arial"/>
              </a:rPr>
              <a:t>JOB </a:t>
            </a:r>
            <a:r>
              <a:rPr sz="727" b="0">
                <a:solidFill>
                  <a:srgbClr val="FFB089"/>
                </a:solidFill>
                <a:latin typeface="Arial"/>
              </a:rPr>
              <a:t>DESCRIPTION </a:t>
            </a:r>
            <a:r>
              <a:rPr sz="727" b="0">
                <a:solidFill>
                  <a:srgbClr val="FFB089"/>
                </a:solidFill>
                <a:latin typeface="Arial"/>
              </a:rPr>
              <a:t>EXECUTION </a:t>
            </a:r>
            <a:r>
              <a:rPr sz="727" b="0">
                <a:solidFill>
                  <a:srgbClr val="FFB089"/>
                </a:solidFill>
                <a:latin typeface="Arial"/>
              </a:rPr>
              <a:t>· </a:t>
            </a:r>
            <a:r>
              <a:rPr sz="727" b="0">
                <a:solidFill>
                  <a:srgbClr val="FFB089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64482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Supply </a:t>
            </a:r>
            <a:r>
              <a:rPr sz="2182" b="0">
                <a:solidFill>
                  <a:srgbClr val="F0ECE8"/>
                </a:solidFill>
                <a:latin typeface="Arial"/>
              </a:rPr>
              <a:t>Chain </a:t>
            </a:r>
            <a:r>
              <a:rPr sz="2182" b="0">
                <a:solidFill>
                  <a:srgbClr val="F0ECE8"/>
                </a:solidFill>
                <a:latin typeface="Arial"/>
              </a:rPr>
              <a:t>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1572958"/>
            <a:ext cx="1648569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Close </a:t>
            </a:r>
            <a:r>
              <a:rPr sz="1091" b="1">
                <a:solidFill>
                  <a:srgbClr val="F4F1EE"/>
                </a:solidFill>
                <a:latin typeface="Arial"/>
              </a:rPr>
              <a:t>Won </a:t>
            </a:r>
            <a:r>
              <a:rPr sz="1091" b="1">
                <a:solidFill>
                  <a:srgbClr val="F4F1EE"/>
                </a:solidFill>
                <a:latin typeface="Arial"/>
              </a:rPr>
              <a:t>→ </a:t>
            </a:r>
            <a:r>
              <a:rPr sz="1091" b="1">
                <a:solidFill>
                  <a:srgbClr val="F4F1EE"/>
                </a:solidFill>
                <a:latin typeface="Arial"/>
              </a:rPr>
              <a:t>CPO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1857756"/>
            <a:ext cx="269334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Check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PO, </a:t>
            </a:r>
            <a:r>
              <a:rPr sz="763" b="0">
                <a:solidFill>
                  <a:srgbClr val="A9A29C"/>
                </a:solidFill>
                <a:latin typeface="Arial"/>
              </a:rPr>
              <a:t>preliminary </a:t>
            </a:r>
            <a:r>
              <a:rPr sz="763" b="0">
                <a:solidFill>
                  <a:srgbClr val="A9A29C"/>
                </a:solidFill>
                <a:latin typeface="Arial"/>
              </a:rPr>
              <a:t>drawing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PJB </a:t>
            </a:r>
            <a:r>
              <a:rPr sz="763" b="0">
                <a:solidFill>
                  <a:srgbClr val="A9A29C"/>
                </a:solidFill>
                <a:latin typeface="Arial"/>
              </a:rPr>
              <a:t>in </a:t>
            </a:r>
            <a:r>
              <a:rPr sz="763" b="0">
                <a:solidFill>
                  <a:srgbClr val="A9A29C"/>
                </a:solidFill>
                <a:latin typeface="Arial"/>
              </a:rPr>
              <a:t>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030843"/>
            <a:ext cx="484480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Request </a:t>
            </a:r>
            <a:r>
              <a:rPr sz="763" b="0">
                <a:solidFill>
                  <a:srgbClr val="A9A29C"/>
                </a:solidFill>
                <a:latin typeface="Arial"/>
              </a:rPr>
              <a:t>QFD </a:t>
            </a:r>
            <a:r>
              <a:rPr sz="763" b="0">
                <a:solidFill>
                  <a:srgbClr val="A9A29C"/>
                </a:solidFill>
                <a:latin typeface="Arial"/>
              </a:rPr>
              <a:t>from </a:t>
            </a:r>
            <a:r>
              <a:rPr sz="763" b="0">
                <a:solidFill>
                  <a:srgbClr val="A9A29C"/>
                </a:solidFill>
                <a:latin typeface="Arial"/>
              </a:rPr>
              <a:t>UTE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collect </a:t>
            </a:r>
            <a:r>
              <a:rPr sz="763" b="0">
                <a:solidFill>
                  <a:srgbClr val="A9A29C"/>
                </a:solidFill>
                <a:latin typeface="Arial"/>
              </a:rPr>
              <a:t>special </a:t>
            </a:r>
            <a:r>
              <a:rPr sz="763" b="0">
                <a:solidFill>
                  <a:srgbClr val="A9A29C"/>
                </a:solidFill>
                <a:latin typeface="Arial"/>
              </a:rPr>
              <a:t>requests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painting </a:t>
            </a:r>
            <a:r>
              <a:rPr sz="763" b="0">
                <a:solidFill>
                  <a:srgbClr val="A9A29C"/>
                </a:solidFill>
                <a:latin typeface="Arial"/>
              </a:rPr>
              <a:t>style </a:t>
            </a:r>
            <a:r>
              <a:rPr sz="763" b="0">
                <a:solidFill>
                  <a:srgbClr val="A9A29C"/>
                </a:solidFill>
                <a:latin typeface="Arial"/>
              </a:rPr>
              <a:t>from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Business </a:t>
            </a:r>
            <a:r>
              <a:rPr sz="763" b="0">
                <a:solidFill>
                  <a:srgbClr val="A9A29C"/>
                </a:solidFill>
                <a:latin typeface="Arial"/>
              </a:rPr>
              <a:t>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203930"/>
            <a:ext cx="327719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RFD </a:t>
            </a:r>
            <a:r>
              <a:rPr sz="763" b="0">
                <a:solidFill>
                  <a:srgbClr val="A9A29C"/>
                </a:solidFill>
                <a:latin typeface="Arial"/>
              </a:rPr>
              <a:t>date </a:t>
            </a:r>
            <a:r>
              <a:rPr sz="763" b="0">
                <a:solidFill>
                  <a:srgbClr val="A9A29C"/>
                </a:solidFill>
                <a:latin typeface="Arial"/>
              </a:rPr>
              <a:t>from </a:t>
            </a:r>
            <a:r>
              <a:rPr sz="763" b="0">
                <a:solidFill>
                  <a:srgbClr val="A9A29C"/>
                </a:solidFill>
                <a:latin typeface="Arial"/>
              </a:rPr>
              <a:t>QFD </a:t>
            </a:r>
            <a:r>
              <a:rPr sz="763" b="0">
                <a:solidFill>
                  <a:srgbClr val="A9A29C"/>
                </a:solidFill>
                <a:latin typeface="Arial"/>
              </a:rPr>
              <a:t>becomes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due </a:t>
            </a:r>
            <a:r>
              <a:rPr sz="763" b="0">
                <a:solidFill>
                  <a:srgbClr val="A9A29C"/>
                </a:solidFill>
                <a:latin typeface="Arial"/>
              </a:rPr>
              <a:t>date </a:t>
            </a:r>
            <a:r>
              <a:rPr sz="763" b="0">
                <a:solidFill>
                  <a:srgbClr val="A9A29C"/>
                </a:solidFill>
                <a:latin typeface="Arial"/>
              </a:rPr>
              <a:t>of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PO </a:t>
            </a:r>
            <a:r>
              <a:rPr sz="763" b="0">
                <a:solidFill>
                  <a:srgbClr val="A9A29C"/>
                </a:solidFill>
                <a:latin typeface="Arial"/>
              </a:rPr>
              <a:t>Interco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2377017"/>
            <a:ext cx="468347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Close </a:t>
            </a:r>
            <a:r>
              <a:rPr sz="763" b="0">
                <a:solidFill>
                  <a:srgbClr val="A9A29C"/>
                </a:solidFill>
                <a:latin typeface="Arial"/>
              </a:rPr>
              <a:t>won </a:t>
            </a:r>
            <a:r>
              <a:rPr sz="763" b="0">
                <a:solidFill>
                  <a:srgbClr val="A9A29C"/>
                </a:solidFill>
                <a:latin typeface="Arial"/>
              </a:rPr>
              <a:t>route: </a:t>
            </a:r>
            <a:r>
              <a:rPr sz="763" b="0">
                <a:solidFill>
                  <a:srgbClr val="A9A29C"/>
                </a:solidFill>
                <a:latin typeface="Arial"/>
              </a:rPr>
              <a:t>Sales </a:t>
            </a:r>
            <a:r>
              <a:rPr sz="763" b="0">
                <a:solidFill>
                  <a:srgbClr val="A9A29C"/>
                </a:solidFill>
                <a:latin typeface="Arial"/>
              </a:rPr>
              <a:t>Manager </a:t>
            </a:r>
            <a:r>
              <a:rPr sz="763" b="0">
                <a:solidFill>
                  <a:srgbClr val="A9A29C"/>
                </a:solidFill>
                <a:latin typeface="Arial"/>
              </a:rPr>
              <a:t>→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63" b="0">
                <a:solidFill>
                  <a:srgbClr val="A9A29C"/>
                </a:solidFill>
                <a:latin typeface="Arial"/>
              </a:rPr>
              <a:t>Associate </a:t>
            </a:r>
            <a:r>
              <a:rPr sz="763" b="0">
                <a:solidFill>
                  <a:srgbClr val="A9A29C"/>
                </a:solidFill>
                <a:latin typeface="Arial"/>
              </a:rPr>
              <a:t>→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63" b="0">
                <a:solidFill>
                  <a:srgbClr val="A9A29C"/>
                </a:solidFill>
                <a:latin typeface="Arial"/>
              </a:rPr>
              <a:t>Manager </a:t>
            </a:r>
            <a:r>
              <a:rPr sz="763" b="0">
                <a:solidFill>
                  <a:srgbClr val="A9A29C"/>
                </a:solidFill>
                <a:latin typeface="Arial"/>
              </a:rPr>
              <a:t>→ </a:t>
            </a:r>
            <a:r>
              <a:rPr sz="763" b="0">
                <a:solidFill>
                  <a:srgbClr val="A9A29C"/>
                </a:solidFill>
                <a:latin typeface="Arial"/>
              </a:rPr>
              <a:t>GM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2550104"/>
            <a:ext cx="394394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PO </a:t>
            </a:r>
            <a:r>
              <a:rPr sz="763" b="0">
                <a:solidFill>
                  <a:srgbClr val="A9A29C"/>
                </a:solidFill>
                <a:latin typeface="Arial"/>
              </a:rPr>
              <a:t>Interco </a:t>
            </a:r>
            <a:r>
              <a:rPr sz="763" b="0">
                <a:solidFill>
                  <a:srgbClr val="A9A29C"/>
                </a:solidFill>
                <a:latin typeface="Arial"/>
              </a:rPr>
              <a:t>approval: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63" b="0">
                <a:solidFill>
                  <a:srgbClr val="A9A29C"/>
                </a:solidFill>
                <a:latin typeface="Arial"/>
              </a:rPr>
              <a:t>Manager </a:t>
            </a:r>
            <a:r>
              <a:rPr sz="763" b="0">
                <a:solidFill>
                  <a:srgbClr val="A9A29C"/>
                </a:solidFill>
                <a:latin typeface="Arial"/>
              </a:rPr>
              <a:t>→ </a:t>
            </a:r>
            <a:r>
              <a:rPr sz="763" b="0">
                <a:solidFill>
                  <a:srgbClr val="A9A29C"/>
                </a:solidFill>
                <a:latin typeface="Arial"/>
              </a:rPr>
              <a:t>GM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63" b="0">
                <a:solidFill>
                  <a:srgbClr val="A9A29C"/>
                </a:solidFill>
                <a:latin typeface="Arial"/>
              </a:rPr>
              <a:t>→ </a:t>
            </a:r>
            <a:r>
              <a:rPr sz="763" b="0">
                <a:solidFill>
                  <a:srgbClr val="A9A29C"/>
                </a:solidFill>
                <a:latin typeface="Arial"/>
              </a:rPr>
              <a:t>Marketing </a:t>
            </a:r>
            <a:r>
              <a:rPr sz="763" b="0">
                <a:solidFill>
                  <a:srgbClr val="A9A29C"/>
                </a:solidFill>
                <a:latin typeface="Arial"/>
              </a:rPr>
              <a:t>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1572958"/>
            <a:ext cx="111903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857756"/>
            <a:ext cx="446156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Follow </a:t>
            </a:r>
            <a:r>
              <a:rPr sz="763" b="0">
                <a:solidFill>
                  <a:srgbClr val="A9A29C"/>
                </a:solidFill>
                <a:latin typeface="Arial"/>
              </a:rPr>
              <a:t>production </a:t>
            </a:r>
            <a:r>
              <a:rPr sz="763" b="0">
                <a:solidFill>
                  <a:srgbClr val="A9A29C"/>
                </a:solidFill>
                <a:latin typeface="Arial"/>
              </a:rPr>
              <a:t>regularly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update </a:t>
            </a:r>
            <a:r>
              <a:rPr sz="763" b="0">
                <a:solidFill>
                  <a:srgbClr val="A9A29C"/>
                </a:solidFill>
                <a:latin typeface="Arial"/>
              </a:rPr>
              <a:t>sales </a:t>
            </a:r>
            <a:r>
              <a:rPr sz="763" b="0">
                <a:solidFill>
                  <a:srgbClr val="A9A29C"/>
                </a:solidFill>
                <a:latin typeface="Arial"/>
              </a:rPr>
              <a:t>— </a:t>
            </a:r>
            <a:r>
              <a:rPr sz="763" b="0">
                <a:solidFill>
                  <a:srgbClr val="A9A29C"/>
                </a:solidFill>
                <a:latin typeface="Arial"/>
              </a:rPr>
              <a:t>visit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plant </a:t>
            </a:r>
            <a:r>
              <a:rPr sz="763" b="0">
                <a:solidFill>
                  <a:srgbClr val="A9A29C"/>
                </a:solidFill>
                <a:latin typeface="Arial"/>
              </a:rPr>
              <a:t>or </a:t>
            </a:r>
            <a:r>
              <a:rPr sz="763" b="0">
                <a:solidFill>
                  <a:srgbClr val="A9A29C"/>
                </a:solidFill>
                <a:latin typeface="Arial"/>
              </a:rPr>
              <a:t>request </a:t>
            </a:r>
            <a:r>
              <a:rPr sz="763" b="0">
                <a:solidFill>
                  <a:srgbClr val="A9A29C"/>
                </a:solidFill>
                <a:latin typeface="Arial"/>
              </a:rPr>
              <a:t>photos </a:t>
            </a:r>
            <a:r>
              <a:rPr sz="763" b="0">
                <a:solidFill>
                  <a:srgbClr val="A9A29C"/>
                </a:solidFill>
                <a:latin typeface="Arial"/>
              </a:rPr>
              <a:t>from </a:t>
            </a:r>
            <a:r>
              <a:rPr sz="763" b="0">
                <a:solidFill>
                  <a:srgbClr val="A9A29C"/>
                </a:solidFill>
                <a:latin typeface="Arial"/>
              </a:rPr>
              <a:t>Nandu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2030843"/>
            <a:ext cx="255478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Compare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QFD </a:t>
            </a:r>
            <a:r>
              <a:rPr sz="763" b="0">
                <a:solidFill>
                  <a:srgbClr val="A9A29C"/>
                </a:solidFill>
                <a:latin typeface="Arial"/>
              </a:rPr>
              <a:t>plan </a:t>
            </a:r>
            <a:r>
              <a:rPr sz="763" b="0">
                <a:solidFill>
                  <a:srgbClr val="A9A29C"/>
                </a:solidFill>
                <a:latin typeface="Arial"/>
              </a:rPr>
              <a:t>against </a:t>
            </a:r>
            <a:r>
              <a:rPr sz="763" b="0">
                <a:solidFill>
                  <a:srgbClr val="A9A29C"/>
                </a:solidFill>
                <a:latin typeface="Arial"/>
              </a:rPr>
              <a:t>actual </a:t>
            </a:r>
            <a:r>
              <a:rPr sz="763" b="0">
                <a:solidFill>
                  <a:srgbClr val="A9A29C"/>
                </a:solidFill>
                <a:latin typeface="Arial"/>
              </a:rPr>
              <a:t>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203930"/>
            <a:ext cx="315515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Escalate </a:t>
            </a:r>
            <a:r>
              <a:rPr sz="763" b="0">
                <a:solidFill>
                  <a:srgbClr val="A9A29C"/>
                </a:solidFill>
                <a:latin typeface="Arial"/>
              </a:rPr>
              <a:t>any </a:t>
            </a:r>
            <a:r>
              <a:rPr sz="763" b="0">
                <a:solidFill>
                  <a:srgbClr val="A9A29C"/>
                </a:solidFill>
                <a:latin typeface="Arial"/>
              </a:rPr>
              <a:t>production </a:t>
            </a:r>
            <a:r>
              <a:rPr sz="763" b="0">
                <a:solidFill>
                  <a:srgbClr val="A9A29C"/>
                </a:solidFill>
                <a:latin typeface="Arial"/>
              </a:rPr>
              <a:t>issue </a:t>
            </a:r>
            <a:r>
              <a:rPr sz="763" b="0">
                <a:solidFill>
                  <a:srgbClr val="A9A29C"/>
                </a:solidFill>
                <a:latin typeface="Arial"/>
              </a:rPr>
              <a:t>that </a:t>
            </a:r>
            <a:r>
              <a:rPr sz="763" b="0">
                <a:solidFill>
                  <a:srgbClr val="A9A29C"/>
                </a:solidFill>
                <a:latin typeface="Arial"/>
              </a:rPr>
              <a:t>puts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agreed </a:t>
            </a:r>
            <a:r>
              <a:rPr sz="763" b="0">
                <a:solidFill>
                  <a:srgbClr val="A9A29C"/>
                </a:solidFill>
                <a:latin typeface="Arial"/>
              </a:rPr>
              <a:t>RFD </a:t>
            </a:r>
            <a:r>
              <a:rPr sz="763" b="0">
                <a:solidFill>
                  <a:srgbClr val="A9A29C"/>
                </a:solidFill>
                <a:latin typeface="Arial"/>
              </a:rPr>
              <a:t>at </a:t>
            </a:r>
            <a:r>
              <a:rPr sz="763" b="0">
                <a:solidFill>
                  <a:srgbClr val="A9A29C"/>
                </a:solidFill>
                <a:latin typeface="Arial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2377017"/>
            <a:ext cx="319965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Request </a:t>
            </a:r>
            <a:r>
              <a:rPr sz="763" b="0">
                <a:solidFill>
                  <a:srgbClr val="A9A29C"/>
                </a:solidFill>
                <a:latin typeface="Arial"/>
              </a:rPr>
              <a:t>and </a:t>
            </a:r>
            <a:r>
              <a:rPr sz="763" b="0">
                <a:solidFill>
                  <a:srgbClr val="A9A29C"/>
                </a:solidFill>
                <a:latin typeface="Arial"/>
              </a:rPr>
              <a:t>track </a:t>
            </a:r>
            <a:r>
              <a:rPr sz="763" b="0">
                <a:solidFill>
                  <a:srgbClr val="A9A29C"/>
                </a:solidFill>
                <a:latin typeface="Arial"/>
              </a:rPr>
              <a:t>painting </a:t>
            </a:r>
            <a:r>
              <a:rPr sz="763" b="0">
                <a:solidFill>
                  <a:srgbClr val="A9A29C"/>
                </a:solidFill>
                <a:latin typeface="Arial"/>
              </a:rPr>
              <a:t>style </a:t>
            </a:r>
            <a:r>
              <a:rPr sz="763" b="0">
                <a:solidFill>
                  <a:srgbClr val="A9A29C"/>
                </a:solidFill>
                <a:latin typeface="Arial"/>
              </a:rPr>
              <a:t>at </a:t>
            </a:r>
            <a:r>
              <a:rPr sz="763" b="0">
                <a:solidFill>
                  <a:srgbClr val="A9A29C"/>
                </a:solidFill>
                <a:latin typeface="Arial"/>
              </a:rPr>
              <a:t>least </a:t>
            </a:r>
            <a:r>
              <a:rPr sz="763" b="0">
                <a:solidFill>
                  <a:srgbClr val="A9A29C"/>
                </a:solidFill>
                <a:latin typeface="Arial"/>
              </a:rPr>
              <a:t>one </a:t>
            </a:r>
            <a:r>
              <a:rPr sz="763" b="0">
                <a:solidFill>
                  <a:srgbClr val="A9A29C"/>
                </a:solidFill>
                <a:latin typeface="Arial"/>
              </a:rPr>
              <a:t>month </a:t>
            </a:r>
            <a:r>
              <a:rPr sz="763" b="0">
                <a:solidFill>
                  <a:srgbClr val="A9A29C"/>
                </a:solidFill>
                <a:latin typeface="Arial"/>
              </a:rPr>
              <a:t>before </a:t>
            </a:r>
            <a:r>
              <a:rPr sz="763" b="0">
                <a:solidFill>
                  <a:srgbClr val="A9A29C"/>
                </a:solidFill>
                <a:latin typeface="Arial"/>
              </a:rPr>
              <a:t>RFD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550104"/>
            <a:ext cx="307910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63" b="0">
                <a:solidFill>
                  <a:srgbClr val="A9A29C"/>
                </a:solidFill>
                <a:latin typeface="Arial"/>
              </a:rPr>
              <a:t>Join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customer </a:t>
            </a:r>
            <a:r>
              <a:rPr sz="763" b="0">
                <a:solidFill>
                  <a:srgbClr val="A9A29C"/>
                </a:solidFill>
                <a:latin typeface="Arial"/>
              </a:rPr>
              <a:t>FAT </a:t>
            </a:r>
            <a:r>
              <a:rPr sz="763" b="0">
                <a:solidFill>
                  <a:srgbClr val="A9A29C"/>
                </a:solidFill>
                <a:latin typeface="Arial"/>
              </a:rPr>
              <a:t>together </a:t>
            </a:r>
            <a:r>
              <a:rPr sz="763" b="0">
                <a:solidFill>
                  <a:srgbClr val="A9A29C"/>
                </a:solidFill>
                <a:latin typeface="Arial"/>
              </a:rPr>
              <a:t>with </a:t>
            </a:r>
            <a:r>
              <a:rPr sz="763" b="0">
                <a:solidFill>
                  <a:srgbClr val="A9A29C"/>
                </a:solidFill>
                <a:latin typeface="Arial"/>
              </a:rPr>
              <a:t>the </a:t>
            </a:r>
            <a:r>
              <a:rPr sz="763" b="0">
                <a:solidFill>
                  <a:srgbClr val="A9A29C"/>
                </a:solidFill>
                <a:latin typeface="Arial"/>
              </a:rPr>
              <a:t>Business </a:t>
            </a:r>
            <a:r>
              <a:rPr sz="763" b="0">
                <a:solidFill>
                  <a:srgbClr val="A9A29C"/>
                </a:solidFill>
                <a:latin typeface="Arial"/>
              </a:rPr>
              <a:t>Consultant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9100" y="4291113"/>
            <a:ext cx="172357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INTERNAL </a:t>
            </a:r>
            <a:r>
              <a:rPr sz="691" b="1">
                <a:solidFill>
                  <a:srgbClr val="6F6963"/>
                </a:solidFill>
                <a:latin typeface="Arial"/>
              </a:rP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975" y="4546002"/>
            <a:ext cx="2035224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1. </a:t>
            </a:r>
            <a:r>
              <a:rPr sz="909" b="1">
                <a:solidFill>
                  <a:srgbClr val="F4F1EE"/>
                </a:solidFill>
                <a:latin typeface="Arial"/>
              </a:rPr>
              <a:t>Pipeline–OSPO </a:t>
            </a:r>
            <a:r>
              <a:rPr sz="909" b="1">
                <a:solidFill>
                  <a:srgbClr val="F4F1EE"/>
                </a:solidFill>
                <a:latin typeface="Arial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75" y="4729263"/>
            <a:ext cx="182120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Build </a:t>
            </a:r>
            <a:r>
              <a:rPr sz="727" b="0">
                <a:solidFill>
                  <a:srgbClr val="A9A29C"/>
                </a:solidFill>
                <a:latin typeface="Arial"/>
              </a:rPr>
              <a:t>it </a:t>
            </a:r>
            <a:r>
              <a:rPr sz="727" b="0">
                <a:solidFill>
                  <a:srgbClr val="A9A29C"/>
                </a:solidFill>
                <a:latin typeface="Arial"/>
              </a:rPr>
              <a:t>and </a:t>
            </a:r>
            <a:r>
              <a:rPr sz="727" b="0">
                <a:solidFill>
                  <a:srgbClr val="A9A29C"/>
                </a:solidFill>
                <a:latin typeface="Arial"/>
              </a:rPr>
              <a:t>update </a:t>
            </a:r>
            <a:r>
              <a:rPr sz="727" b="0">
                <a:solidFill>
                  <a:srgbClr val="A9A29C"/>
                </a:solidFill>
                <a:latin typeface="Arial"/>
              </a:rPr>
              <a:t>it </a:t>
            </a:r>
            <a:r>
              <a:rPr sz="727" b="0">
                <a:solidFill>
                  <a:srgbClr val="A9A29C"/>
                </a:solidFill>
                <a:latin typeface="Arial"/>
              </a:rPr>
              <a:t>every </a:t>
            </a:r>
            <a:r>
              <a:rPr sz="727" b="0">
                <a:solidFill>
                  <a:srgbClr val="A9A29C"/>
                </a:solidFill>
                <a:latin typeface="Arial"/>
              </a:rPr>
              <a:t>month.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4237" y="4546002"/>
            <a:ext cx="188267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2. </a:t>
            </a:r>
            <a:r>
              <a:rPr sz="909" b="1">
                <a:solidFill>
                  <a:srgbClr val="F4F1EE"/>
                </a:solidFill>
                <a:latin typeface="Arial"/>
              </a:rPr>
              <a:t>Staging </a:t>
            </a:r>
            <a:r>
              <a:rPr sz="909" b="1">
                <a:solidFill>
                  <a:srgbClr val="F4F1EE"/>
                </a:solidFill>
                <a:latin typeface="Arial"/>
              </a:rPr>
              <a:t>Pipeline </a:t>
            </a:r>
            <a:r>
              <a:rPr sz="909" b="1">
                <a:solidFill>
                  <a:srgbClr val="F4F1EE"/>
                </a:solidFill>
                <a:latin typeface="Arial"/>
              </a:rPr>
              <a:t>in </a:t>
            </a:r>
            <a:r>
              <a:rPr sz="909" b="1">
                <a:solidFill>
                  <a:srgbClr val="F4F1EE"/>
                </a:solidFill>
                <a:latin typeface="Arial"/>
              </a:rPr>
              <a:t>CRM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4237" y="4729263"/>
            <a:ext cx="285690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No </a:t>
            </a:r>
            <a:r>
              <a:rPr sz="727" b="0">
                <a:solidFill>
                  <a:srgbClr val="A9A29C"/>
                </a:solidFill>
                <a:latin typeface="Arial"/>
              </a:rPr>
              <a:t>preliminary </a:t>
            </a:r>
            <a:r>
              <a:rPr sz="727" b="0">
                <a:solidFill>
                  <a:srgbClr val="A9A29C"/>
                </a:solidFill>
                <a:latin typeface="Arial"/>
              </a:rPr>
              <a:t>yet </a:t>
            </a:r>
            <a:r>
              <a:rPr sz="727" b="0">
                <a:solidFill>
                  <a:srgbClr val="A9A29C"/>
                </a:solidFill>
                <a:latin typeface="Arial"/>
              </a:rPr>
              <a:t>means </a:t>
            </a:r>
            <a:r>
              <a:rPr sz="727" b="0">
                <a:solidFill>
                  <a:srgbClr val="A9A29C"/>
                </a:solidFill>
                <a:latin typeface="Arial"/>
              </a:rPr>
              <a:t>the </a:t>
            </a:r>
            <a:r>
              <a:rPr sz="727" b="0">
                <a:solidFill>
                  <a:srgbClr val="A9A29C"/>
                </a:solidFill>
                <a:latin typeface="Arial"/>
              </a:rPr>
              <a:t>deal </a:t>
            </a:r>
            <a:r>
              <a:rPr sz="727" b="0">
                <a:solidFill>
                  <a:srgbClr val="A9A29C"/>
                </a:solidFill>
                <a:latin typeface="Arial"/>
              </a:rPr>
              <a:t>is </a:t>
            </a:r>
            <a:r>
              <a:rPr sz="727" b="0">
                <a:solidFill>
                  <a:srgbClr val="A9A29C"/>
                </a:solidFill>
                <a:latin typeface="Arial"/>
              </a:rPr>
              <a:t>still </a:t>
            </a:r>
            <a:r>
              <a:rPr sz="727" b="0">
                <a:solidFill>
                  <a:srgbClr val="A9A29C"/>
                </a:solidFill>
                <a:latin typeface="Arial"/>
              </a:rPr>
              <a:t>far </a:t>
            </a:r>
            <a:r>
              <a:rPr sz="727" b="0">
                <a:solidFill>
                  <a:srgbClr val="A9A29C"/>
                </a:solidFill>
                <a:latin typeface="Arial"/>
              </a:rPr>
              <a:t>off; </a:t>
            </a:r>
            <a:r>
              <a:rPr sz="727" b="0">
                <a:solidFill>
                  <a:srgbClr val="A9A29C"/>
                </a:solidFill>
                <a:latin typeface="Arial"/>
              </a:rPr>
              <a:t>once </a:t>
            </a:r>
            <a:r>
              <a:rPr sz="727" b="0">
                <a:solidFill>
                  <a:srgbClr val="A9A29C"/>
                </a:solidFill>
                <a:latin typeface="Arial"/>
              </a:rPr>
              <a:t>there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4237" y="4857851"/>
            <a:ext cx="24882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is </a:t>
            </a:r>
            <a:r>
              <a:rPr sz="727" b="0">
                <a:solidFill>
                  <a:srgbClr val="A9A29C"/>
                </a:solidFill>
                <a:latin typeface="Arial"/>
              </a:rPr>
              <a:t>one, </a:t>
            </a:r>
            <a:r>
              <a:rPr sz="727" b="0">
                <a:solidFill>
                  <a:srgbClr val="A9A29C"/>
                </a:solidFill>
                <a:latin typeface="Arial"/>
              </a:rPr>
              <a:t>validate </a:t>
            </a:r>
            <a:r>
              <a:rPr sz="727" b="0">
                <a:solidFill>
                  <a:srgbClr val="A9A29C"/>
                </a:solidFill>
                <a:latin typeface="Arial"/>
              </a:rPr>
              <a:t>it </a:t>
            </a:r>
            <a:r>
              <a:rPr sz="727" b="0">
                <a:solidFill>
                  <a:srgbClr val="A9A29C"/>
                </a:solidFill>
                <a:latin typeface="Arial"/>
              </a:rPr>
              <a:t>and </a:t>
            </a:r>
            <a:r>
              <a:rPr sz="727" b="0">
                <a:solidFill>
                  <a:srgbClr val="A9A29C"/>
                </a:solidFill>
                <a:latin typeface="Arial"/>
              </a:rPr>
              <a:t>request </a:t>
            </a:r>
            <a:r>
              <a:rPr sz="727" b="0">
                <a:solidFill>
                  <a:srgbClr val="A9A29C"/>
                </a:solidFill>
                <a:latin typeface="Arial"/>
              </a:rPr>
              <a:t>a </a:t>
            </a:r>
            <a:r>
              <a:rPr sz="727" b="0">
                <a:solidFill>
                  <a:srgbClr val="A9A29C"/>
                </a:solidFill>
                <a:latin typeface="Arial"/>
              </a:rPr>
              <a:t>quote </a:t>
            </a:r>
            <a:r>
              <a:rPr sz="727" b="0">
                <a:solidFill>
                  <a:srgbClr val="A9A29C"/>
                </a:solidFill>
                <a:latin typeface="Arial"/>
              </a:rPr>
              <a:t>from </a:t>
            </a:r>
            <a:r>
              <a:rPr sz="727" b="0">
                <a:solidFill>
                  <a:srgbClr val="A9A29C"/>
                </a:solidFill>
                <a:latin typeface="Arial"/>
              </a:rPr>
              <a:t>UTPE.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4546002"/>
            <a:ext cx="183668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3. </a:t>
            </a:r>
            <a:r>
              <a:rPr sz="909" b="1">
                <a:solidFill>
                  <a:srgbClr val="F4F1EE"/>
                </a:solidFill>
                <a:latin typeface="Arial"/>
              </a:rPr>
              <a:t>Quote </a:t>
            </a:r>
            <a:r>
              <a:rPr sz="909" b="1">
                <a:solidFill>
                  <a:srgbClr val="F4F1EE"/>
                </a:solidFill>
                <a:latin typeface="Arial"/>
              </a:rPr>
              <a:t>Price </a:t>
            </a:r>
            <a:r>
              <a:rPr sz="909" b="1">
                <a:solidFill>
                  <a:srgbClr val="F4F1EE"/>
                </a:solidFill>
                <a:latin typeface="Arial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4729263"/>
            <a:ext cx="270718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Track </a:t>
            </a:r>
            <a:r>
              <a:rPr sz="727" b="0">
                <a:solidFill>
                  <a:srgbClr val="A9A29C"/>
                </a:solidFill>
                <a:latin typeface="Arial"/>
              </a:rPr>
              <a:t>the </a:t>
            </a:r>
            <a:r>
              <a:rPr sz="727" b="0">
                <a:solidFill>
                  <a:srgbClr val="A9A29C"/>
                </a:solidFill>
                <a:latin typeface="Arial"/>
              </a:rPr>
              <a:t>detail, </a:t>
            </a:r>
            <a:r>
              <a:rPr sz="727" b="0">
                <a:solidFill>
                  <a:srgbClr val="A9A29C"/>
                </a:solidFill>
                <a:latin typeface="Arial"/>
              </a:rPr>
              <a:t>average </a:t>
            </a:r>
            <a:r>
              <a:rPr sz="727" b="0">
                <a:solidFill>
                  <a:srgbClr val="A9A29C"/>
                </a:solidFill>
                <a:latin typeface="Arial"/>
              </a:rPr>
              <a:t>SLA </a:t>
            </a:r>
            <a:r>
              <a:rPr sz="727" b="0">
                <a:solidFill>
                  <a:srgbClr val="A9A29C"/>
                </a:solidFill>
                <a:latin typeface="Arial"/>
              </a:rPr>
              <a:t>and </a:t>
            </a:r>
            <a:r>
              <a:rPr sz="727" b="0">
                <a:solidFill>
                  <a:srgbClr val="A9A29C"/>
                </a:solidFill>
                <a:latin typeface="Arial"/>
              </a:rPr>
              <a:t>initial </a:t>
            </a:r>
            <a:r>
              <a:rPr sz="727" b="0">
                <a:solidFill>
                  <a:srgbClr val="A9A29C"/>
                </a:solidFill>
                <a:latin typeface="Arial"/>
              </a:rPr>
              <a:t>price </a:t>
            </a:r>
            <a:r>
              <a:rPr sz="727" b="0">
                <a:solidFill>
                  <a:srgbClr val="A9A29C"/>
                </a:solidFill>
                <a:latin typeface="Arial"/>
              </a:rPr>
              <a:t>of </a:t>
            </a:r>
            <a:r>
              <a:rPr sz="727" b="0">
                <a:solidFill>
                  <a:srgbClr val="A9A29C"/>
                </a:solidFill>
                <a:latin typeface="Arial"/>
              </a:rPr>
              <a:t>quotes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500" y="4857851"/>
            <a:ext cx="81498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from </a:t>
            </a:r>
            <a:r>
              <a:rPr sz="727" b="0">
                <a:solidFill>
                  <a:srgbClr val="A9A29C"/>
                </a:solidFill>
                <a:latin typeface="Arial"/>
              </a:rPr>
              <a:t>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8762" y="4546002"/>
            <a:ext cx="142651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1">
                <a:solidFill>
                  <a:srgbClr val="F4F1EE"/>
                </a:solidFill>
                <a:latin typeface="Arial"/>
              </a:rPr>
              <a:t>4. </a:t>
            </a:r>
            <a:r>
              <a:rPr sz="909" b="1">
                <a:solidFill>
                  <a:srgbClr val="F4F1EE"/>
                </a:solidFill>
                <a:latin typeface="Arial"/>
              </a:rPr>
              <a:t>Billing </a:t>
            </a:r>
            <a:r>
              <a:rPr sz="909" b="1">
                <a:solidFill>
                  <a:srgbClr val="F4F1EE"/>
                </a:solidFill>
                <a:latin typeface="Arial"/>
              </a:rPr>
              <a:t>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8762" y="4729263"/>
            <a:ext cx="280570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Check </a:t>
            </a:r>
            <a:r>
              <a:rPr sz="727" b="0">
                <a:solidFill>
                  <a:srgbClr val="A9A29C"/>
                </a:solidFill>
                <a:latin typeface="Arial"/>
              </a:rPr>
              <a:t>whether </a:t>
            </a:r>
            <a:r>
              <a:rPr sz="727" b="0">
                <a:solidFill>
                  <a:srgbClr val="A9A29C"/>
                </a:solidFill>
                <a:latin typeface="Arial"/>
              </a:rPr>
              <a:t>it </a:t>
            </a:r>
            <a:r>
              <a:rPr sz="727" b="0">
                <a:solidFill>
                  <a:srgbClr val="A9A29C"/>
                </a:solidFill>
                <a:latin typeface="Arial"/>
              </a:rPr>
              <a:t>sits </a:t>
            </a:r>
            <a:r>
              <a:rPr sz="727" b="0">
                <a:solidFill>
                  <a:srgbClr val="A9A29C"/>
                </a:solidFill>
                <a:latin typeface="Arial"/>
              </a:rPr>
              <a:t>in </a:t>
            </a:r>
            <a:r>
              <a:rPr sz="727" b="0">
                <a:solidFill>
                  <a:srgbClr val="A9A29C"/>
                </a:solidFill>
                <a:latin typeface="Arial"/>
              </a:rPr>
              <a:t>production, </a:t>
            </a:r>
            <a:r>
              <a:rPr sz="727" b="0">
                <a:solidFill>
                  <a:srgbClr val="A9A29C"/>
                </a:solidFill>
                <a:latin typeface="Arial"/>
              </a:rPr>
              <a:t>UTE </a:t>
            </a:r>
            <a:r>
              <a:rPr sz="727" b="0">
                <a:solidFill>
                  <a:srgbClr val="A9A29C"/>
                </a:solidFill>
                <a:latin typeface="Arial"/>
              </a:rPr>
              <a:t>administration </a:t>
            </a:r>
            <a:r>
              <a:rPr sz="727" b="0">
                <a:solidFill>
                  <a:srgbClr val="A9A29C"/>
                </a:solidFill>
                <a:latin typeface="Arial"/>
              </a:rPr>
              <a:t>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8762" y="4857851"/>
            <a:ext cx="247947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A9A29C"/>
                </a:solidFill>
                <a:latin typeface="Arial"/>
              </a:rPr>
              <a:t>Triatra </a:t>
            </a:r>
            <a:r>
              <a:rPr sz="727" b="0">
                <a:solidFill>
                  <a:srgbClr val="A9A29C"/>
                </a:solidFill>
                <a:latin typeface="Arial"/>
              </a:rPr>
              <a:t>administration, </a:t>
            </a:r>
            <a:r>
              <a:rPr sz="727" b="0">
                <a:solidFill>
                  <a:srgbClr val="A9A29C"/>
                </a:solidFill>
                <a:latin typeface="Arial"/>
              </a:rPr>
              <a:t>and </a:t>
            </a:r>
            <a:r>
              <a:rPr sz="727" b="0">
                <a:solidFill>
                  <a:srgbClr val="A9A29C"/>
                </a:solidFill>
                <a:latin typeface="Arial"/>
              </a:rPr>
              <a:t>escalate </a:t>
            </a:r>
            <a:r>
              <a:rPr sz="727" b="0">
                <a:solidFill>
                  <a:srgbClr val="A9A29C"/>
                </a:solidFill>
                <a:latin typeface="Arial"/>
              </a:rPr>
              <a:t>any </a:t>
            </a:r>
            <a:r>
              <a:rPr sz="727" b="0">
                <a:solidFill>
                  <a:srgbClr val="A9A29C"/>
                </a:solidFill>
                <a:latin typeface="Arial"/>
              </a:rPr>
              <a:t>blockage.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" y="5148363"/>
            <a:ext cx="182626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BILLING </a:t>
            </a:r>
            <a:r>
              <a:rPr sz="691" b="1">
                <a:solidFill>
                  <a:srgbClr val="6F6963"/>
                </a:solidFill>
                <a:latin typeface="Arial"/>
              </a:rPr>
              <a:t>PROCESS </a:t>
            </a:r>
            <a:r>
              <a:rPr sz="691" b="1">
                <a:solidFill>
                  <a:srgbClr val="6F6963"/>
                </a:solidFill>
                <a:latin typeface="Arial"/>
              </a:rPr>
              <a:t>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907" y="5599146"/>
            <a:ext cx="80188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111111"/>
                </a:solidFill>
                <a:latin typeface="Arial"/>
              </a:rPr>
              <a:t>AT </a:t>
            </a:r>
            <a:r>
              <a:rPr sz="800" b="1">
                <a:solidFill>
                  <a:srgbClr val="111111"/>
                </a:solidFill>
                <a:latin typeface="Arial"/>
              </a:rPr>
              <a:t>UTE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12875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71922" y="5665821"/>
            <a:ext cx="91082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PO </a:t>
            </a:r>
            <a:r>
              <a:rPr sz="800" b="1">
                <a:solidFill>
                  <a:srgbClr val="F4F1EE"/>
                </a:solidFill>
                <a:latin typeface="Arial"/>
              </a:rPr>
              <a:t>Interco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9998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20404" y="5665821"/>
            <a:ext cx="60811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7122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8306" y="5665821"/>
            <a:ext cx="5265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4245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2453" y="5665821"/>
            <a:ext cx="53250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01369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608" y="5665821"/>
            <a:ext cx="79444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Drawing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98492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00117" y="5665821"/>
            <a:ext cx="6255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5616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9827" y="5665821"/>
            <a:ext cx="66049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LPPB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92739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3923" y="5665821"/>
            <a:ext cx="5265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9862" y="5533995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31348" y="5665821"/>
            <a:ext cx="94580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Fabrication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3173" y="5533995"/>
            <a:ext cx="476398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63297" y="5665821"/>
            <a:ext cx="87615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Assembly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62678" y="5533995"/>
            <a:ext cx="471636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4376" y="5665821"/>
            <a:ext cx="92838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QC </a:t>
            </a:r>
            <a:r>
              <a:rPr sz="800" b="1">
                <a:solidFill>
                  <a:srgbClr val="F4F1EE"/>
                </a:solidFill>
                <a:latin typeface="Arial"/>
              </a:rPr>
              <a:t>passed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57420" y="5533995"/>
            <a:ext cx="476398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93560" y="5665821"/>
            <a:ext cx="80411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GR </a:t>
            </a:r>
            <a:r>
              <a:rPr sz="800" b="1">
                <a:solidFill>
                  <a:srgbClr val="F4F1EE"/>
                </a:solidFill>
                <a:latin typeface="Arial"/>
              </a:rPr>
              <a:t>Teco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54544" y="5533995"/>
            <a:ext cx="476398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46953" y="5665821"/>
            <a:ext cx="49172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6794" y="6159335"/>
            <a:ext cx="107796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AT </a:t>
            </a:r>
            <a:r>
              <a:rPr sz="800" b="1">
                <a:solidFill>
                  <a:srgbClr val="FFFFFF"/>
                </a:solidFill>
                <a:latin typeface="Arial"/>
              </a:rPr>
              <a:t>TRIATRA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77963" y="6094184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23194" y="6226010"/>
            <a:ext cx="53816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05113" y="6094184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34854" y="6226010"/>
            <a:ext cx="76914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DO </a:t>
            </a:r>
            <a:r>
              <a:rPr sz="800" b="1">
                <a:solidFill>
                  <a:srgbClr val="F4F1EE"/>
                </a:solidFill>
                <a:latin typeface="Arial"/>
              </a:rPr>
              <a:t>/ </a:t>
            </a:r>
            <a:r>
              <a:rPr sz="800" b="1">
                <a:solidFill>
                  <a:srgbClr val="F4F1EE"/>
                </a:solidFill>
                <a:latin typeface="Arial"/>
              </a:rPr>
              <a:t>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32264" y="6094184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00712" y="6226010"/>
            <a:ext cx="49172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GI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9414" y="6094184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40649" y="6226010"/>
            <a:ext cx="66630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BAST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6564" y="6094184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34883" y="6226010"/>
            <a:ext cx="113213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4F1EE"/>
                </a:solidFill>
                <a:latin typeface="Arial"/>
              </a:rPr>
              <a:t>BAST </a:t>
            </a:r>
            <a:r>
              <a:rPr sz="800" b="1">
                <a:solidFill>
                  <a:srgbClr val="F4F1EE"/>
                </a:solidFill>
                <a:latin typeface="Arial"/>
              </a:rPr>
              <a:t>approval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913715" y="6094184"/>
            <a:ext cx="428773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1">
                <a:solidFill>
                  <a:srgbClr val="6F6963"/>
                </a:solidFill>
                <a:latin typeface="Arial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56999" y="6226010"/>
            <a:ext cx="7420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5A1F"/>
                </a:solidFill>
                <a:latin typeface="Arial"/>
              </a:rPr>
              <a:t>Invoice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17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132233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136427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Market </a:t>
            </a:r>
            <a:r>
              <a:rPr sz="1018" b="0">
                <a:solidFill>
                  <a:srgbClr val="6F6963"/>
                </a:solidFill>
                <a:latin typeface="Arial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Price </a:t>
            </a:r>
            <a:r>
              <a:rPr sz="1018" b="0">
                <a:solidFill>
                  <a:srgbClr val="6F6963"/>
                </a:solidFill>
                <a:latin typeface="Arial"/>
              </a:rP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F.lli </a:t>
            </a:r>
            <a:r>
              <a:rPr sz="1018" b="0">
                <a:solidFill>
                  <a:srgbClr val="6F6963"/>
                </a:solidFill>
                <a:latin typeface="Arial"/>
              </a:rPr>
              <a:t>Ferrari </a:t>
            </a:r>
            <a:r>
              <a:rPr sz="1018" b="0">
                <a:solidFill>
                  <a:srgbClr val="6F6963"/>
                </a:solidFill>
                <a:latin typeface="Arial"/>
              </a:rPr>
              <a:t>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18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06 </a:t>
            </a:r>
            <a:r>
              <a:rPr sz="873" b="1">
                <a:solidFill>
                  <a:srgbClr val="FF5A1F"/>
                </a:solidFill>
                <a:latin typeface="Arial"/>
              </a:rPr>
              <a:t>· </a:t>
            </a:r>
            <a:r>
              <a:rPr sz="873" b="1">
                <a:solidFill>
                  <a:srgbClr val="FF5A1F"/>
                </a:solidFill>
                <a:latin typeface="Arial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633912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Market </a:t>
            </a:r>
            <a:r>
              <a:rPr sz="4510" b="0">
                <a:solidFill>
                  <a:srgbClr val="F0ECE8"/>
                </a:solidFill>
                <a:latin typeface="Arial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540" y="3188208"/>
            <a:ext cx="16704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A </a:t>
            </a:r>
            <a:r>
              <a:rPr sz="1018" b="0">
                <a:solidFill>
                  <a:srgbClr val="FF5A1F"/>
                </a:solidFill>
                <a:latin typeface="Arial"/>
              </a:rPr>
              <a:t>— </a:t>
            </a:r>
            <a:r>
              <a:rPr sz="1018" b="0">
                <a:solidFill>
                  <a:srgbClr val="FF5A1F"/>
                </a:solidFill>
                <a:latin typeface="Arial"/>
              </a:rPr>
              <a:t>Market </a:t>
            </a:r>
            <a:r>
              <a:rPr sz="1018" b="0">
                <a:solidFill>
                  <a:srgbClr val="FF5A1F"/>
                </a:solidFill>
                <a:latin typeface="Arial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Price </a:t>
            </a:r>
            <a:r>
              <a:rPr sz="1018" b="0">
                <a:solidFill>
                  <a:srgbClr val="6F6963"/>
                </a:solidFill>
                <a:latin typeface="Arial"/>
              </a:rP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F.lli </a:t>
            </a:r>
            <a:r>
              <a:rPr sz="1018" b="0">
                <a:solidFill>
                  <a:srgbClr val="6F6963"/>
                </a:solidFill>
                <a:latin typeface="Arial"/>
              </a:rPr>
              <a:t>Ferrari </a:t>
            </a:r>
            <a:r>
              <a:rPr sz="1018" b="0">
                <a:solidFill>
                  <a:srgbClr val="6F6963"/>
                </a:solidFill>
                <a:latin typeface="Arial"/>
              </a:rPr>
              <a:t>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19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2950368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Market </a:t>
            </a:r>
            <a:r>
              <a:rPr sz="2182" b="0">
                <a:solidFill>
                  <a:srgbClr val="F0ECE8"/>
                </a:solidFill>
                <a:latin typeface="Arial"/>
              </a:rPr>
              <a:t>Size </a:t>
            </a:r>
            <a:r>
              <a:rPr sz="2182" b="0">
                <a:solidFill>
                  <a:srgbClr val="F0ECE8"/>
                </a:solidFill>
                <a:latin typeface="Arial"/>
              </a:rPr>
              <a:t>by </a:t>
            </a:r>
            <a:r>
              <a:rPr sz="2182" b="0">
                <a:solidFill>
                  <a:srgbClr val="F0ECE8"/>
                </a:solidFill>
                <a:latin typeface="Arial"/>
              </a:rPr>
              <a:t>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20368"/>
            <a:ext cx="342170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UNITS </a:t>
            </a:r>
            <a:r>
              <a:rPr sz="691" b="1">
                <a:solidFill>
                  <a:srgbClr val="6F6963"/>
                </a:solidFill>
                <a:latin typeface="Arial"/>
              </a:rPr>
              <a:t>IMPORTED </a:t>
            </a:r>
            <a:r>
              <a:rPr sz="691" b="1">
                <a:solidFill>
                  <a:srgbClr val="6F6963"/>
                </a:solidFill>
                <a:latin typeface="Arial"/>
              </a:rPr>
              <a:t>PER </a:t>
            </a:r>
            <a:r>
              <a:rPr sz="691" b="1">
                <a:solidFill>
                  <a:srgbClr val="6F6963"/>
                </a:solidFill>
                <a:latin typeface="Arial"/>
              </a:rPr>
              <a:t>YEAR </a:t>
            </a:r>
            <a:r>
              <a:rPr sz="691" b="1">
                <a:solidFill>
                  <a:srgbClr val="6F6963"/>
                </a:solidFill>
                <a:latin typeface="Arial"/>
              </a:rPr>
              <a:t>BY </a:t>
            </a:r>
            <a:r>
              <a:rPr sz="691" b="1">
                <a:solidFill>
                  <a:srgbClr val="6F6963"/>
                </a:solidFill>
                <a:latin typeface="Arial"/>
              </a:rPr>
              <a:t>CLASS </a:t>
            </a:r>
            <a:r>
              <a:rPr sz="691" b="1">
                <a:solidFill>
                  <a:srgbClr val="6F6963"/>
                </a:solidFill>
                <a:latin typeface="Arial"/>
              </a:rPr>
              <a:t>· </a:t>
            </a:r>
            <a:r>
              <a:rPr sz="691" b="1">
                <a:solidFill>
                  <a:srgbClr val="6F6963"/>
                </a:solidFill>
                <a:latin typeface="Arial"/>
              </a:rPr>
              <a:t>2023 </a:t>
            </a:r>
            <a:r>
              <a:rPr sz="691" b="1">
                <a:solidFill>
                  <a:srgbClr val="6F6963"/>
                </a:solidFill>
                <a:latin typeface="Arial"/>
              </a:rPr>
              <a:t>– </a:t>
            </a:r>
            <a:r>
              <a:rPr sz="691" b="1">
                <a:solidFill>
                  <a:srgbClr val="6F6963"/>
                </a:solidFill>
                <a:latin typeface="Arial"/>
              </a:rPr>
              <a:t>2026*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4649343"/>
            <a:ext cx="337452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TOTAL </a:t>
            </a:r>
            <a:r>
              <a:rPr sz="691" b="1">
                <a:solidFill>
                  <a:srgbClr val="6F6963"/>
                </a:solidFill>
                <a:latin typeface="Arial"/>
              </a:rPr>
              <a:t>UNITS </a:t>
            </a:r>
            <a:r>
              <a:rPr sz="691" b="1">
                <a:solidFill>
                  <a:srgbClr val="6F6963"/>
                </a:solidFill>
                <a:latin typeface="Arial"/>
              </a:rPr>
              <a:t>&amp; </a:t>
            </a:r>
            <a:r>
              <a:rPr sz="691" b="1">
                <a:solidFill>
                  <a:srgbClr val="6F6963"/>
                </a:solidFill>
                <a:latin typeface="Arial"/>
              </a:rPr>
              <a:t>IMPORT </a:t>
            </a:r>
            <a:r>
              <a:rPr sz="691" b="1">
                <a:solidFill>
                  <a:srgbClr val="6F6963"/>
                </a:solidFill>
                <a:latin typeface="Arial"/>
              </a:rPr>
              <a:t>VALUE </a:t>
            </a:r>
            <a:r>
              <a:rPr sz="691" b="1">
                <a:solidFill>
                  <a:srgbClr val="6F6963"/>
                </a:solidFill>
                <a:latin typeface="Arial"/>
              </a:rPr>
              <a:t>· </a:t>
            </a:r>
            <a:r>
              <a:rPr sz="691" b="1">
                <a:solidFill>
                  <a:srgbClr val="6F6963"/>
                </a:solidFill>
                <a:latin typeface="Arial"/>
              </a:rPr>
              <a:t>2023 </a:t>
            </a:r>
            <a:r>
              <a:rPr sz="691" b="1">
                <a:solidFill>
                  <a:srgbClr val="6F6963"/>
                </a:solidFill>
                <a:latin typeface="Arial"/>
              </a:rPr>
              <a:t>– </a:t>
            </a:r>
            <a:r>
              <a:rPr sz="691" b="1">
                <a:solidFill>
                  <a:srgbClr val="6F6963"/>
                </a:solidFill>
                <a:latin typeface="Arial"/>
              </a:rPr>
              <a:t>14 </a:t>
            </a:r>
            <a:r>
              <a:rPr sz="691" b="1">
                <a:solidFill>
                  <a:srgbClr val="6F6963"/>
                </a:solidFill>
                <a:latin typeface="Arial"/>
              </a:rPr>
              <a:t>AUG </a:t>
            </a:r>
            <a:r>
              <a:rPr sz="691" b="1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" y="4877943"/>
            <a:ext cx="7420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9671" y="4877943"/>
            <a:ext cx="130790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LIFTING </a:t>
            </a:r>
            <a:r>
              <a:rPr sz="727" b="1">
                <a:solidFill>
                  <a:srgbClr val="6F6963"/>
                </a:solidFill>
                <a:latin typeface="Arial"/>
              </a:rPr>
              <a:t>MOMENT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176" y="4877943"/>
            <a:ext cx="7048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0544" y="4877943"/>
            <a:ext cx="148470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IMPORT </a:t>
            </a:r>
            <a:r>
              <a:rPr sz="727" b="1">
                <a:solidFill>
                  <a:srgbClr val="6F6963"/>
                </a:solidFill>
                <a:latin typeface="Arial"/>
              </a:rPr>
              <a:t>VALUE </a:t>
            </a:r>
            <a:r>
              <a:rPr sz="727" b="1">
                <a:solidFill>
                  <a:srgbClr val="6F6963"/>
                </a:solidFill>
                <a:latin typeface="Arial"/>
              </a:rPr>
              <a:t>(IDR)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697" y="4877943"/>
            <a:ext cx="75262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" y="5104257"/>
            <a:ext cx="6289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9671" y="5104257"/>
            <a:ext cx="69785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≤ </a:t>
            </a:r>
            <a:r>
              <a:rPr sz="873" b="0">
                <a:solidFill>
                  <a:srgbClr val="A9A29C"/>
                </a:solidFill>
                <a:latin typeface="Arial"/>
              </a:rPr>
              <a:t>8 </a:t>
            </a:r>
            <a:r>
              <a:rPr sz="873" b="0">
                <a:solidFill>
                  <a:srgbClr val="A9A29C"/>
                </a:solidFill>
                <a:latin typeface="Arial"/>
              </a:rPr>
              <a:t>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176" y="5104257"/>
            <a:ext cx="5717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0544" y="5104257"/>
            <a:ext cx="134495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Rp </a:t>
            </a:r>
            <a:r>
              <a:rPr sz="873" b="0">
                <a:solidFill>
                  <a:srgbClr val="A9A29C"/>
                </a:solidFill>
                <a:latin typeface="Arial"/>
              </a:rPr>
              <a:t>40.118.000.000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7697" y="5104257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" y="5380482"/>
            <a:ext cx="6668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Small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9671" y="5380482"/>
            <a:ext cx="8575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8 </a:t>
            </a:r>
            <a:r>
              <a:rPr sz="873" b="0">
                <a:solidFill>
                  <a:srgbClr val="A9A29C"/>
                </a:solidFill>
                <a:latin typeface="Arial"/>
              </a:rPr>
              <a:t>– </a:t>
            </a:r>
            <a:r>
              <a:rPr sz="873" b="0">
                <a:solidFill>
                  <a:srgbClr val="A9A29C"/>
                </a:solidFill>
                <a:latin typeface="Arial"/>
              </a:rPr>
              <a:t>25 </a:t>
            </a:r>
            <a:r>
              <a:rPr sz="873" b="0">
                <a:solidFill>
                  <a:srgbClr val="A9A29C"/>
                </a:solidFill>
                <a:latin typeface="Arial"/>
              </a:rPr>
              <a:t>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27176" y="5380482"/>
            <a:ext cx="5717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200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0544" y="5380482"/>
            <a:ext cx="135344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Rp </a:t>
            </a:r>
            <a:r>
              <a:rPr sz="873" b="0">
                <a:solidFill>
                  <a:srgbClr val="A9A29C"/>
                </a:solidFill>
                <a:latin typeface="Arial"/>
              </a:rPr>
              <a:t>77.241.000.000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697" y="5380482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24%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300" y="5656707"/>
            <a:ext cx="81289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9671" y="5656707"/>
            <a:ext cx="93389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25 </a:t>
            </a:r>
            <a:r>
              <a:rPr sz="873" b="1">
                <a:solidFill>
                  <a:srgbClr val="FF8A3D"/>
                </a:solidFill>
                <a:latin typeface="Arial"/>
              </a:rPr>
              <a:t>– </a:t>
            </a:r>
            <a:r>
              <a:rPr sz="873" b="1">
                <a:solidFill>
                  <a:srgbClr val="FF8A3D"/>
                </a:solidFill>
                <a:latin typeface="Arial"/>
              </a:rPr>
              <a:t>45 </a:t>
            </a:r>
            <a:r>
              <a:rPr sz="873" b="1">
                <a:solidFill>
                  <a:srgbClr val="FF8A3D"/>
                </a:solidFill>
                <a:latin typeface="Arial"/>
              </a:rPr>
              <a:t>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176" y="5656707"/>
            <a:ext cx="5717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196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0544" y="5656707"/>
            <a:ext cx="141699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Rp </a:t>
            </a:r>
            <a:r>
              <a:rPr sz="873" b="1">
                <a:solidFill>
                  <a:srgbClr val="FF8A3D"/>
                </a:solidFill>
                <a:latin typeface="Arial"/>
              </a:rPr>
              <a:t>118.328.000.000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7697" y="5656707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36%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0" y="5932932"/>
            <a:ext cx="71794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Heavy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9671" y="5932932"/>
            <a:ext cx="778222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&gt; </a:t>
            </a:r>
            <a:r>
              <a:rPr sz="873" b="1">
                <a:solidFill>
                  <a:srgbClr val="4DA3FF"/>
                </a:solidFill>
                <a:latin typeface="Arial"/>
              </a:rPr>
              <a:t>45 </a:t>
            </a:r>
            <a:r>
              <a:rPr sz="873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7176" y="5932932"/>
            <a:ext cx="5082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65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0544" y="5932932"/>
            <a:ext cx="13596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Rp </a:t>
            </a:r>
            <a:r>
              <a:rPr sz="873" b="1">
                <a:solidFill>
                  <a:srgbClr val="4DA3FF"/>
                </a:solidFill>
                <a:latin typeface="Arial"/>
              </a:rPr>
              <a:t>91.154.000.000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697" y="5932932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28%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300" y="6209157"/>
            <a:ext cx="64561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7176" y="6209157"/>
            <a:ext cx="5717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638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0544" y="6209157"/>
            <a:ext cx="142324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Rp </a:t>
            </a:r>
            <a:r>
              <a:rPr sz="873" b="1">
                <a:solidFill>
                  <a:srgbClr val="F4F1EE"/>
                </a:solidFill>
                <a:latin typeface="Arial"/>
              </a:rPr>
              <a:t>326.841.000.000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67697" y="6209157"/>
            <a:ext cx="67344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4F1EE"/>
                </a:solidFill>
                <a:latin typeface="Arial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1416" y="1420368"/>
            <a:ext cx="192300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AVERAGE </a:t>
            </a:r>
            <a:r>
              <a:rPr sz="691" b="1">
                <a:solidFill>
                  <a:srgbClr val="6F6963"/>
                </a:solidFill>
                <a:latin typeface="Arial"/>
              </a:rPr>
              <a:t>UNITS </a:t>
            </a:r>
            <a:r>
              <a:rPr sz="691" b="1">
                <a:solidFill>
                  <a:srgbClr val="6F6963"/>
                </a:solidFill>
                <a:latin typeface="Arial"/>
              </a:rPr>
              <a:t>PER </a:t>
            </a:r>
            <a:r>
              <a:rPr sz="691" b="1">
                <a:solidFill>
                  <a:srgbClr val="6F6963"/>
                </a:solidFill>
                <a:latin typeface="Arial"/>
              </a:rPr>
              <a:t>YEAR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5241" y="1689354"/>
            <a:ext cx="6988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5241" y="2067306"/>
            <a:ext cx="197911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Medium </a:t>
            </a:r>
            <a:r>
              <a:rPr sz="836" b="0">
                <a:solidFill>
                  <a:srgbClr val="A9A29C"/>
                </a:solidFill>
                <a:latin typeface="Arial"/>
              </a:rPr>
              <a:t>+ </a:t>
            </a:r>
            <a:r>
              <a:rPr sz="836" b="0">
                <a:solidFill>
                  <a:srgbClr val="A9A29C"/>
                </a:solidFill>
                <a:latin typeface="Arial"/>
              </a:rPr>
              <a:t>Heavy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target </a:t>
            </a:r>
            <a:r>
              <a:rPr sz="836" b="0">
                <a:solidFill>
                  <a:srgbClr val="A9A29C"/>
                </a:solidFill>
                <a:latin typeface="Arial"/>
              </a:rPr>
              <a:t>classes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4008" y="1689354"/>
            <a:ext cx="857845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1">
                <a:solidFill>
                  <a:srgbClr val="FF5A1F"/>
                </a:solidFill>
                <a:latin typeface="Arial"/>
              </a:rPr>
              <a:t>104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4008" y="2067306"/>
            <a:ext cx="161404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Light </a:t>
            </a:r>
            <a:r>
              <a:rPr sz="836" b="0">
                <a:solidFill>
                  <a:srgbClr val="A9A29C"/>
                </a:solidFill>
                <a:latin typeface="Arial"/>
              </a:rPr>
              <a:t>+ </a:t>
            </a:r>
            <a:r>
              <a:rPr sz="836" b="0">
                <a:solidFill>
                  <a:srgbClr val="A9A29C"/>
                </a:solidFill>
                <a:latin typeface="Arial"/>
              </a:rPr>
              <a:t>Small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non-target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1416" y="2419897"/>
            <a:ext cx="107230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KEY </a:t>
            </a:r>
            <a:r>
              <a:rPr sz="691" b="1">
                <a:solidFill>
                  <a:srgbClr val="6F6963"/>
                </a:solidFill>
                <a:latin typeface="Arial"/>
              </a:rPr>
              <a:t>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7641" y="2712124"/>
            <a:ext cx="327526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Medium </a:t>
            </a:r>
            <a:r>
              <a:rPr sz="945" b="1">
                <a:solidFill>
                  <a:srgbClr val="F4F1EE"/>
                </a:solidFill>
                <a:latin typeface="Arial"/>
              </a:rPr>
              <a:t>+ </a:t>
            </a:r>
            <a:r>
              <a:rPr sz="945" b="1">
                <a:solidFill>
                  <a:srgbClr val="F4F1EE"/>
                </a:solidFill>
                <a:latin typeface="Arial"/>
              </a:rPr>
              <a:t>Heavy: </a:t>
            </a:r>
            <a:r>
              <a:rPr sz="945" b="0">
                <a:solidFill>
                  <a:srgbClr val="A9A29C"/>
                </a:solidFill>
                <a:latin typeface="Arial"/>
              </a:rPr>
              <a:t>41% </a:t>
            </a:r>
            <a:r>
              <a:rPr sz="945" b="0">
                <a:solidFill>
                  <a:srgbClr val="A9A29C"/>
                </a:solidFill>
                <a:latin typeface="Arial"/>
              </a:rPr>
              <a:t>of </a:t>
            </a:r>
            <a:r>
              <a:rPr sz="945" b="0">
                <a:solidFill>
                  <a:srgbClr val="A9A29C"/>
                </a:solidFill>
                <a:latin typeface="Arial"/>
              </a:rPr>
              <a:t>units, </a:t>
            </a:r>
            <a:r>
              <a:rPr sz="945" b="0">
                <a:solidFill>
                  <a:srgbClr val="A9A29C"/>
                </a:solidFill>
                <a:latin typeface="Arial"/>
              </a:rPr>
              <a:t>64% </a:t>
            </a:r>
            <a:r>
              <a:rPr sz="945" b="0">
                <a:solidFill>
                  <a:srgbClr val="A9A29C"/>
                </a:solidFill>
                <a:latin typeface="Arial"/>
              </a:rPr>
              <a:t>of </a:t>
            </a:r>
            <a:r>
              <a:rPr sz="945" b="0">
                <a:solidFill>
                  <a:srgbClr val="A9A29C"/>
                </a:solidFill>
                <a:latin typeface="Arial"/>
              </a:rPr>
              <a:t>import </a:t>
            </a:r>
            <a:r>
              <a:rPr sz="945" b="0">
                <a:solidFill>
                  <a:srgbClr val="A9A29C"/>
                </a:solidFill>
                <a:latin typeface="Arial"/>
              </a:rPr>
              <a:t>value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7641" y="2929711"/>
            <a:ext cx="34447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Value </a:t>
            </a:r>
            <a:r>
              <a:rPr sz="945" b="1">
                <a:solidFill>
                  <a:srgbClr val="F4F1EE"/>
                </a:solidFill>
                <a:latin typeface="Arial"/>
              </a:rPr>
              <a:t>per </a:t>
            </a:r>
            <a:r>
              <a:rPr sz="945" b="1">
                <a:solidFill>
                  <a:srgbClr val="F4F1EE"/>
                </a:solidFill>
                <a:latin typeface="Arial"/>
              </a:rPr>
              <a:t>unit: </a:t>
            </a:r>
            <a:r>
              <a:rPr sz="945" b="0">
                <a:solidFill>
                  <a:srgbClr val="A9A29C"/>
                </a:solidFill>
                <a:latin typeface="Arial"/>
              </a:rPr>
              <a:t>Rp </a:t>
            </a:r>
            <a:r>
              <a:rPr sz="945" b="0">
                <a:solidFill>
                  <a:srgbClr val="A9A29C"/>
                </a:solidFill>
                <a:latin typeface="Arial"/>
              </a:rPr>
              <a:t>803 </a:t>
            </a:r>
            <a:r>
              <a:rPr sz="945" b="0">
                <a:solidFill>
                  <a:srgbClr val="A9A29C"/>
                </a:solidFill>
                <a:latin typeface="Arial"/>
              </a:rPr>
              <a:t>Jt </a:t>
            </a:r>
            <a:r>
              <a:rPr sz="945" b="0">
                <a:solidFill>
                  <a:srgbClr val="A9A29C"/>
                </a:solidFill>
                <a:latin typeface="Arial"/>
              </a:rPr>
              <a:t>vs </a:t>
            </a:r>
            <a:r>
              <a:rPr sz="945" b="0">
                <a:solidFill>
                  <a:srgbClr val="A9A29C"/>
                </a:solidFill>
                <a:latin typeface="Arial"/>
              </a:rPr>
              <a:t>Rp </a:t>
            </a:r>
            <a:r>
              <a:rPr sz="945" b="0">
                <a:solidFill>
                  <a:srgbClr val="A9A29C"/>
                </a:solidFill>
                <a:latin typeface="Arial"/>
              </a:rPr>
              <a:t>311 </a:t>
            </a:r>
            <a:r>
              <a:rPr sz="945" b="0">
                <a:solidFill>
                  <a:srgbClr val="A9A29C"/>
                </a:solidFill>
                <a:latin typeface="Arial"/>
              </a:rPr>
              <a:t>Jt </a:t>
            </a:r>
            <a:r>
              <a:rPr sz="945" b="0">
                <a:solidFill>
                  <a:srgbClr val="A9A29C"/>
                </a:solidFill>
                <a:latin typeface="Arial"/>
              </a:rPr>
              <a:t>for </a:t>
            </a:r>
            <a:r>
              <a:rPr sz="945" b="0">
                <a:solidFill>
                  <a:srgbClr val="A9A29C"/>
                </a:solidFill>
                <a:latin typeface="Arial"/>
              </a:rPr>
              <a:t>Light </a:t>
            </a:r>
            <a:r>
              <a:rPr sz="945" b="0">
                <a:solidFill>
                  <a:srgbClr val="A9A29C"/>
                </a:solidFill>
                <a:latin typeface="Arial"/>
              </a:rPr>
              <a:t>+ </a:t>
            </a:r>
            <a:r>
              <a:rPr sz="945" b="0">
                <a:solidFill>
                  <a:srgbClr val="A9A29C"/>
                </a:solidFill>
                <a:latin typeface="Arial"/>
              </a:rPr>
              <a:t>Small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7641" y="3147298"/>
            <a:ext cx="443388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Use: </a:t>
            </a:r>
            <a:r>
              <a:rPr sz="945" b="0">
                <a:solidFill>
                  <a:srgbClr val="A9A29C"/>
                </a:solidFill>
                <a:latin typeface="Arial"/>
              </a:rPr>
              <a:t>88% </a:t>
            </a:r>
            <a:r>
              <a:rPr sz="945" b="0">
                <a:solidFill>
                  <a:srgbClr val="A9A29C"/>
                </a:solidFill>
                <a:latin typeface="Arial"/>
              </a:rPr>
              <a:t>of </a:t>
            </a:r>
            <a:r>
              <a:rPr sz="945" b="0">
                <a:solidFill>
                  <a:srgbClr val="A9A29C"/>
                </a:solidFill>
                <a:latin typeface="Arial"/>
              </a:rPr>
              <a:t>Medium </a:t>
            </a:r>
            <a:r>
              <a:rPr sz="945" b="0">
                <a:solidFill>
                  <a:srgbClr val="A9A29C"/>
                </a:solidFill>
                <a:latin typeface="Arial"/>
              </a:rPr>
              <a:t>&amp; </a:t>
            </a:r>
            <a:r>
              <a:rPr sz="945" b="0">
                <a:solidFill>
                  <a:srgbClr val="A9A29C"/>
                </a:solidFill>
                <a:latin typeface="Arial"/>
              </a:rPr>
              <a:t>Heavy </a:t>
            </a:r>
            <a:r>
              <a:rPr sz="945" b="0">
                <a:solidFill>
                  <a:srgbClr val="A9A29C"/>
                </a:solidFill>
                <a:latin typeface="Arial"/>
              </a:rPr>
              <a:t>cranes </a:t>
            </a:r>
            <a:r>
              <a:rPr sz="945" b="0">
                <a:solidFill>
                  <a:srgbClr val="A9A29C"/>
                </a:solidFill>
                <a:latin typeface="Arial"/>
              </a:rPr>
              <a:t>need </a:t>
            </a:r>
            <a:r>
              <a:rPr sz="945" b="0">
                <a:solidFill>
                  <a:srgbClr val="A9A29C"/>
                </a:solidFill>
                <a:latin typeface="Arial"/>
              </a:rPr>
              <a:t>a </a:t>
            </a:r>
            <a:r>
              <a:rPr sz="945" b="0">
                <a:solidFill>
                  <a:srgbClr val="A9A29C"/>
                </a:solidFill>
                <a:latin typeface="Arial"/>
              </a:rPr>
              <a:t>truck </a:t>
            </a:r>
            <a:r>
              <a:rPr sz="945" b="0">
                <a:solidFill>
                  <a:srgbClr val="A9A29C"/>
                </a:solidFill>
                <a:latin typeface="Arial"/>
              </a:rPr>
              <a:t>GVW </a:t>
            </a:r>
            <a:r>
              <a:rPr sz="945" b="0">
                <a:solidFill>
                  <a:srgbClr val="A9A29C"/>
                </a:solidFill>
                <a:latin typeface="Arial"/>
              </a:rPr>
              <a:t>≥ </a:t>
            </a:r>
            <a:r>
              <a:rPr sz="945" b="0">
                <a:solidFill>
                  <a:srgbClr val="A9A29C"/>
                </a:solidFill>
                <a:latin typeface="Arial"/>
              </a:rPr>
              <a:t>24 </a:t>
            </a:r>
            <a:r>
              <a:rPr sz="945" b="0">
                <a:solidFill>
                  <a:srgbClr val="A9A29C"/>
                </a:solidFill>
                <a:latin typeface="Arial"/>
              </a:rPr>
              <a:t>t </a:t>
            </a:r>
            <a:r>
              <a:rPr sz="945" b="0">
                <a:solidFill>
                  <a:srgbClr val="A9A29C"/>
                </a:solidFill>
                <a:latin typeface="Arial"/>
              </a:rPr>
              <a:t>— </a:t>
            </a:r>
            <a:r>
              <a:rPr sz="945" b="0">
                <a:solidFill>
                  <a:srgbClr val="A9A29C"/>
                </a:solidFill>
                <a:latin typeface="Arial"/>
              </a:rPr>
              <a:t>mining,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7641" y="3326784"/>
            <a:ext cx="192271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A9A29C"/>
                </a:solidFill>
                <a:latin typeface="Arial"/>
              </a:rPr>
              <a:t>construction, </a:t>
            </a:r>
            <a:r>
              <a:rPr sz="945" b="0">
                <a:solidFill>
                  <a:srgbClr val="A9A29C"/>
                </a:solidFill>
                <a:latin typeface="Arial"/>
              </a:rPr>
              <a:t>heavy </a:t>
            </a:r>
            <a:r>
              <a:rPr sz="945" b="0">
                <a:solidFill>
                  <a:srgbClr val="A9A29C"/>
                </a:solidFill>
                <a:latin typeface="Arial"/>
              </a:rPr>
              <a:t>logistics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7641" y="3544371"/>
            <a:ext cx="479985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1">
                <a:solidFill>
                  <a:srgbClr val="F4F1EE"/>
                </a:solidFill>
                <a:latin typeface="Arial"/>
              </a:rPr>
              <a:t>2026 </a:t>
            </a:r>
            <a:r>
              <a:rPr sz="945" b="1">
                <a:solidFill>
                  <a:srgbClr val="F4F1EE"/>
                </a:solidFill>
                <a:latin typeface="Arial"/>
              </a:rPr>
              <a:t>is </a:t>
            </a:r>
            <a:r>
              <a:rPr sz="945" b="1">
                <a:solidFill>
                  <a:srgbClr val="F4F1EE"/>
                </a:solidFill>
                <a:latin typeface="Arial"/>
              </a:rPr>
              <a:t>partial: </a:t>
            </a:r>
            <a:r>
              <a:rPr sz="945" b="0">
                <a:solidFill>
                  <a:srgbClr val="A9A29C"/>
                </a:solidFill>
                <a:latin typeface="Arial"/>
              </a:rPr>
              <a:t>only </a:t>
            </a:r>
            <a:r>
              <a:rPr sz="945" b="0">
                <a:solidFill>
                  <a:srgbClr val="A9A29C"/>
                </a:solidFill>
                <a:latin typeface="Arial"/>
              </a:rPr>
              <a:t>12 </a:t>
            </a:r>
            <a:r>
              <a:rPr sz="945" b="0">
                <a:solidFill>
                  <a:srgbClr val="A9A29C"/>
                </a:solidFill>
                <a:latin typeface="Arial"/>
              </a:rPr>
              <a:t>Medium </a:t>
            </a:r>
            <a:r>
              <a:rPr sz="945" b="0">
                <a:solidFill>
                  <a:srgbClr val="A9A29C"/>
                </a:solidFill>
                <a:latin typeface="Arial"/>
              </a:rPr>
              <a:t>and </a:t>
            </a:r>
            <a:r>
              <a:rPr sz="945" b="0">
                <a:solidFill>
                  <a:srgbClr val="A9A29C"/>
                </a:solidFill>
                <a:latin typeface="Arial"/>
              </a:rPr>
              <a:t>1 </a:t>
            </a:r>
            <a:r>
              <a:rPr sz="945" b="0">
                <a:solidFill>
                  <a:srgbClr val="A9A29C"/>
                </a:solidFill>
                <a:latin typeface="Arial"/>
              </a:rPr>
              <a:t>Heavy </a:t>
            </a:r>
            <a:r>
              <a:rPr sz="945" b="0">
                <a:solidFill>
                  <a:srgbClr val="A9A29C"/>
                </a:solidFill>
                <a:latin typeface="Arial"/>
              </a:rPr>
              <a:t>unit </a:t>
            </a:r>
            <a:r>
              <a:rPr sz="945" b="0">
                <a:solidFill>
                  <a:srgbClr val="A9A29C"/>
                </a:solidFill>
                <a:latin typeface="Arial"/>
              </a:rPr>
              <a:t>to </a:t>
            </a:r>
            <a:r>
              <a:rPr sz="945" b="0">
                <a:solidFill>
                  <a:srgbClr val="A9A29C"/>
                </a:solidFill>
                <a:latin typeface="Arial"/>
              </a:rPr>
              <a:t>14 </a:t>
            </a:r>
            <a:r>
              <a:rPr sz="945" b="0">
                <a:solidFill>
                  <a:srgbClr val="A9A29C"/>
                </a:solidFill>
                <a:latin typeface="Arial"/>
              </a:rPr>
              <a:t>Aug; </a:t>
            </a:r>
            <a:r>
              <a:rPr sz="945" b="0">
                <a:solidFill>
                  <a:srgbClr val="A9A29C"/>
                </a:solidFill>
                <a:latin typeface="Arial"/>
              </a:rPr>
              <a:t>import </a:t>
            </a:r>
            <a:r>
              <a:rPr sz="945" b="0">
                <a:solidFill>
                  <a:srgbClr val="A9A29C"/>
                </a:solidFill>
                <a:latin typeface="Arial"/>
              </a:rPr>
              <a:t>records </a:t>
            </a:r>
            <a:r>
              <a:rPr sz="945" b="0">
                <a:solidFill>
                  <a:srgbClr val="A9A29C"/>
                </a:solidFill>
                <a:latin typeface="Arial"/>
              </a:rPr>
              <a:t>may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7641" y="3723858"/>
            <a:ext cx="115207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A9A29C"/>
                </a:solidFill>
                <a:latin typeface="Arial"/>
              </a:rPr>
              <a:t>be </a:t>
            </a:r>
            <a:r>
              <a:rPr sz="945" b="0">
                <a:solidFill>
                  <a:srgbClr val="A9A29C"/>
                </a:solidFill>
                <a:latin typeface="Arial"/>
              </a:rPr>
              <a:t>incomplete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1416" y="4096893"/>
            <a:ext cx="506938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*2026 </a:t>
            </a:r>
            <a:r>
              <a:rPr sz="691" b="0">
                <a:solidFill>
                  <a:srgbClr val="6F6963"/>
                </a:solidFill>
                <a:latin typeface="Arial"/>
              </a:rPr>
              <a:t>annualised </a:t>
            </a:r>
            <a:r>
              <a:rPr sz="691" b="0">
                <a:solidFill>
                  <a:srgbClr val="6F6963"/>
                </a:solidFill>
                <a:latin typeface="Arial"/>
              </a:rPr>
              <a:t>(Jan </a:t>
            </a:r>
            <a:r>
              <a:rPr sz="691" b="0">
                <a:solidFill>
                  <a:srgbClr val="6F6963"/>
                </a:solidFill>
                <a:latin typeface="Arial"/>
              </a:rPr>
              <a:t>– </a:t>
            </a:r>
            <a:r>
              <a:rPr sz="691" b="0">
                <a:solidFill>
                  <a:srgbClr val="6F6963"/>
                </a:solidFill>
                <a:latin typeface="Arial"/>
              </a:rPr>
              <a:t>14 </a:t>
            </a:r>
            <a:r>
              <a:rPr sz="691" b="0">
                <a:solidFill>
                  <a:srgbClr val="6F6963"/>
                </a:solidFill>
                <a:latin typeface="Arial"/>
              </a:rPr>
              <a:t>Aug </a:t>
            </a:r>
            <a:r>
              <a:rPr sz="691" b="0">
                <a:solidFill>
                  <a:srgbClr val="6F6963"/>
                </a:solidFill>
                <a:latin typeface="Arial"/>
              </a:rPr>
              <a:t>× </a:t>
            </a:r>
            <a:r>
              <a:rPr sz="691" b="0">
                <a:solidFill>
                  <a:srgbClr val="6F6963"/>
                </a:solidFill>
                <a:latin typeface="Arial"/>
              </a:rPr>
              <a:t>1.61). </a:t>
            </a:r>
            <a:r>
              <a:rPr sz="691" b="0">
                <a:solidFill>
                  <a:srgbClr val="6F6963"/>
                </a:solidFill>
                <a:latin typeface="Arial"/>
              </a:rPr>
              <a:t>Source: </a:t>
            </a:r>
            <a:r>
              <a:rPr sz="691" b="0">
                <a:solidFill>
                  <a:srgbClr val="6F6963"/>
                </a:solidFill>
                <a:latin typeface="Arial"/>
              </a:rPr>
              <a:t>Indonesia </a:t>
            </a:r>
            <a:r>
              <a:rPr sz="691" b="0">
                <a:solidFill>
                  <a:srgbClr val="6F6963"/>
                </a:solidFill>
                <a:latin typeface="Arial"/>
              </a:rPr>
              <a:t>import </a:t>
            </a:r>
            <a:r>
              <a:rPr sz="691" b="0">
                <a:solidFill>
                  <a:srgbClr val="6F6963"/>
                </a:solidFill>
                <a:latin typeface="Arial"/>
              </a:rPr>
              <a:t>records </a:t>
            </a:r>
            <a:r>
              <a:rPr sz="691" b="0">
                <a:solidFill>
                  <a:srgbClr val="6F6963"/>
                </a:solidFill>
                <a:latin typeface="Arial"/>
              </a:rPr>
              <a:t>HS </a:t>
            </a:r>
            <a:r>
              <a:rPr sz="691" b="0">
                <a:solidFill>
                  <a:srgbClr val="6F6963"/>
                </a:solidFill>
                <a:latin typeface="Arial"/>
              </a:rPr>
              <a:t>84269100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84264900; </a:t>
            </a:r>
            <a:r>
              <a:rPr sz="691" b="0">
                <a:solidFill>
                  <a:srgbClr val="6F6963"/>
                </a:solidFill>
                <a:latin typeface="Arial"/>
              </a:rPr>
              <a:t>truck-mounted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1416" y="4218932"/>
            <a:ext cx="322540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knuckle </a:t>
            </a:r>
            <a:r>
              <a:rPr sz="691" b="0">
                <a:solidFill>
                  <a:srgbClr val="6F6963"/>
                </a:solidFill>
                <a:latin typeface="Arial"/>
              </a:rPr>
              <a:t>boom </a:t>
            </a:r>
            <a:r>
              <a:rPr sz="691" b="0">
                <a:solidFill>
                  <a:srgbClr val="6F6963"/>
                </a:solidFill>
                <a:latin typeface="Arial"/>
              </a:rPr>
              <a:t>cranes; </a:t>
            </a:r>
            <a:r>
              <a:rPr sz="691" b="0">
                <a:solidFill>
                  <a:srgbClr val="6F6963"/>
                </a:solidFill>
                <a:latin typeface="Arial"/>
              </a:rPr>
              <a:t>Zoomlion </a:t>
            </a:r>
            <a:r>
              <a:rPr sz="691" b="0">
                <a:solidFill>
                  <a:srgbClr val="6F6963"/>
                </a:solidFill>
                <a:latin typeface="Arial"/>
              </a:rPr>
              <a:t>&amp; </a:t>
            </a:r>
            <a:r>
              <a:rPr sz="691" b="0">
                <a:solidFill>
                  <a:srgbClr val="6F6963"/>
                </a:solidFill>
                <a:latin typeface="Arial"/>
              </a:rPr>
              <a:t>Hyva </a:t>
            </a:r>
            <a:r>
              <a:rPr sz="691" b="0">
                <a:solidFill>
                  <a:srgbClr val="6F6963"/>
                </a:solidFill>
                <a:latin typeface="Arial"/>
              </a:rPr>
              <a:t>excluded; </a:t>
            </a:r>
            <a:r>
              <a:rPr sz="691" b="0">
                <a:solidFill>
                  <a:srgbClr val="6F6963"/>
                </a:solidFill>
                <a:latin typeface="Arial"/>
              </a:rPr>
              <a:t>USD </a:t>
            </a:r>
            <a:r>
              <a:rPr sz="691" b="0">
                <a:solidFill>
                  <a:srgbClr val="6F6963"/>
                </a:solidFill>
                <a:latin typeface="Arial"/>
              </a:rPr>
              <a:t>1 </a:t>
            </a:r>
            <a:r>
              <a:rPr sz="691" b="0">
                <a:solidFill>
                  <a:srgbClr val="6F6963"/>
                </a:solidFill>
                <a:latin typeface="Arial"/>
              </a:rPr>
              <a:t>= </a:t>
            </a:r>
            <a:r>
              <a:rPr sz="691" b="0">
                <a:solidFill>
                  <a:srgbClr val="6F6963"/>
                </a:solidFill>
                <a:latin typeface="Arial"/>
              </a:rPr>
              <a:t>Rp </a:t>
            </a:r>
            <a:r>
              <a:rPr sz="691" b="0">
                <a:solidFill>
                  <a:srgbClr val="6F6963"/>
                </a:solidFill>
                <a:latin typeface="Arial"/>
              </a:rPr>
              <a:t>17.803.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20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030884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Brand </a:t>
            </a:r>
            <a:r>
              <a:rPr sz="2182" b="0">
                <a:solidFill>
                  <a:srgbClr val="F0ECE8"/>
                </a:solidFill>
                <a:latin typeface="Arial"/>
              </a:rPr>
              <a:t>Leaders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457706"/>
            <a:ext cx="166047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111111"/>
                </a:solidFill>
                <a:latin typeface="Arial"/>
              </a:rPr>
              <a:t>MEDIUM </a:t>
            </a:r>
            <a:r>
              <a:rPr sz="836" b="1">
                <a:solidFill>
                  <a:srgbClr val="111111"/>
                </a:solidFill>
                <a:latin typeface="Arial"/>
              </a:rPr>
              <a:t>· </a:t>
            </a:r>
            <a:r>
              <a:rPr sz="836" b="1">
                <a:solidFill>
                  <a:srgbClr val="111111"/>
                </a:solidFill>
                <a:latin typeface="Arial"/>
              </a:rPr>
              <a:t>25 </a:t>
            </a:r>
            <a:r>
              <a:rPr sz="836" b="1">
                <a:solidFill>
                  <a:srgbClr val="111111"/>
                </a:solidFill>
                <a:latin typeface="Arial"/>
              </a:rPr>
              <a:t>– </a:t>
            </a:r>
            <a:r>
              <a:rPr sz="836" b="1">
                <a:solidFill>
                  <a:srgbClr val="111111"/>
                </a:solidFill>
                <a:latin typeface="Arial"/>
              </a:rPr>
              <a:t>45 </a:t>
            </a:r>
            <a:r>
              <a:rPr sz="836" b="1">
                <a:solidFill>
                  <a:srgbClr val="111111"/>
                </a:solidFill>
                <a:latin typeface="Arial"/>
              </a:rPr>
              <a:t>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1668018"/>
            <a:ext cx="274915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UNITS </a:t>
            </a:r>
            <a:r>
              <a:rPr sz="691" b="1">
                <a:solidFill>
                  <a:srgbClr val="6F6963"/>
                </a:solidFill>
                <a:latin typeface="Arial"/>
              </a:rPr>
              <a:t>&amp; </a:t>
            </a:r>
            <a:r>
              <a:rPr sz="691" b="1">
                <a:solidFill>
                  <a:srgbClr val="6F6963"/>
                </a:solidFill>
                <a:latin typeface="Arial"/>
              </a:rPr>
              <a:t>IMPORT </a:t>
            </a:r>
            <a:r>
              <a:rPr sz="691" b="1">
                <a:solidFill>
                  <a:srgbClr val="6F6963"/>
                </a:solidFill>
                <a:latin typeface="Arial"/>
              </a:rPr>
              <a:t>VALUE </a:t>
            </a:r>
            <a:r>
              <a:rPr sz="691" b="1">
                <a:solidFill>
                  <a:srgbClr val="6F6963"/>
                </a:solidFill>
                <a:latin typeface="Arial"/>
              </a:rPr>
              <a:t>BY </a:t>
            </a:r>
            <a:r>
              <a:rPr sz="691" b="1">
                <a:solidFill>
                  <a:srgbClr val="6F6963"/>
                </a:solidFill>
                <a:latin typeface="Arial"/>
              </a:rPr>
              <a:t>BRAND </a:t>
            </a:r>
            <a:r>
              <a:rPr sz="691" b="1">
                <a:solidFill>
                  <a:srgbClr val="6F6963"/>
                </a:solidFill>
                <a:latin typeface="Arial"/>
              </a:rPr>
              <a:t>· </a:t>
            </a:r>
            <a:r>
              <a:rPr sz="691" b="1">
                <a:solidFill>
                  <a:srgbClr val="6F6963"/>
                </a:solidFill>
                <a:latin typeface="Arial"/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2178558"/>
            <a:ext cx="106307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Amco </a:t>
            </a:r>
            <a:r>
              <a:rPr sz="1018" b="0">
                <a:solidFill>
                  <a:srgbClr val="F4F1EE"/>
                </a:solidFill>
                <a:latin typeface="Arial"/>
              </a:rPr>
              <a:t>Veba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2200656"/>
            <a:ext cx="9837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5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2,7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3016758"/>
            <a:ext cx="90740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3000" y="3038856"/>
            <a:ext cx="9837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5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4,9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3854958"/>
            <a:ext cx="781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XCMG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0" y="3877056"/>
            <a:ext cx="10446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14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7,2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4693158"/>
            <a:ext cx="12483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Sany </a:t>
            </a:r>
            <a:r>
              <a:rPr sz="1018" b="0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4715256"/>
            <a:ext cx="110564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30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13,2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300" y="5287518"/>
            <a:ext cx="44172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022" y="5287518"/>
            <a:ext cx="76304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3156" y="5287518"/>
            <a:ext cx="7048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0634" y="5287518"/>
            <a:ext cx="148470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IMPORT </a:t>
            </a:r>
            <a:r>
              <a:rPr sz="727" b="1">
                <a:solidFill>
                  <a:srgbClr val="6F6963"/>
                </a:solidFill>
                <a:latin typeface="Arial"/>
              </a:rPr>
              <a:t>VALUE </a:t>
            </a:r>
            <a:r>
              <a:rPr sz="727" b="1">
                <a:solidFill>
                  <a:srgbClr val="6F6963"/>
                </a:solidFill>
                <a:latin typeface="Arial"/>
              </a:rPr>
              <a:t>(IDR)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188" y="5287518"/>
            <a:ext cx="75262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" y="5513832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022" y="5513832"/>
            <a:ext cx="117514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Sany </a:t>
            </a:r>
            <a:r>
              <a:rPr sz="873" b="1">
                <a:solidFill>
                  <a:srgbClr val="FF8A3D"/>
                </a:solidFill>
                <a:latin typeface="Arial"/>
              </a:rPr>
              <a:t>Palfinger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3156" y="5513832"/>
            <a:ext cx="5082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0634" y="5513832"/>
            <a:ext cx="13596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Rp </a:t>
            </a:r>
            <a:r>
              <a:rPr sz="873" b="1">
                <a:solidFill>
                  <a:srgbClr val="FF8A3D"/>
                </a:solidFill>
                <a:latin typeface="Arial"/>
              </a:rPr>
              <a:t>13.226.000.000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188" y="5513832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8A3D"/>
                </a:solidFill>
                <a:latin typeface="Arial"/>
              </a:rPr>
              <a:t>47%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" y="5790057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022" y="5790057"/>
            <a:ext cx="7239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XCMG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3156" y="5790057"/>
            <a:ext cx="5082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70634" y="5790057"/>
            <a:ext cx="12898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Rp </a:t>
            </a:r>
            <a:r>
              <a:rPr sz="873" b="0">
                <a:solidFill>
                  <a:srgbClr val="A9A29C"/>
                </a:solidFill>
                <a:latin typeface="Arial"/>
              </a:rPr>
              <a:t>7.197.000.000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1188" y="5790057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26%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00" y="6066282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022" y="6066282"/>
            <a:ext cx="83224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Palfinger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3156" y="6066282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70634" y="6066282"/>
            <a:ext cx="12898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Rp </a:t>
            </a:r>
            <a:r>
              <a:rPr sz="873" b="0">
                <a:solidFill>
                  <a:srgbClr val="A9A29C"/>
                </a:solidFill>
                <a:latin typeface="Arial"/>
              </a:rPr>
              <a:t>4.869.000.000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1188" y="6066282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17%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100" y="6334506"/>
            <a:ext cx="235371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Total </a:t>
            </a:r>
            <a:r>
              <a:rPr sz="836" b="0">
                <a:solidFill>
                  <a:srgbClr val="A9A29C"/>
                </a:solidFill>
                <a:latin typeface="Arial"/>
              </a:rPr>
              <a:t>Medium </a:t>
            </a:r>
            <a:r>
              <a:rPr sz="836" b="0">
                <a:solidFill>
                  <a:srgbClr val="A9A29C"/>
                </a:solidFill>
                <a:latin typeface="Arial"/>
              </a:rPr>
              <a:t>2025: </a:t>
            </a:r>
            <a:r>
              <a:rPr sz="836" b="0">
                <a:solidFill>
                  <a:srgbClr val="A9A29C"/>
                </a:solidFill>
                <a:latin typeface="Arial"/>
              </a:rPr>
              <a:t>54 </a:t>
            </a:r>
            <a:r>
              <a:rPr sz="836" b="0">
                <a:solidFill>
                  <a:srgbClr val="A9A29C"/>
                </a:solidFill>
                <a:latin typeface="Arial"/>
              </a:rPr>
              <a:t>units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28,0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5550" y="1457706"/>
            <a:ext cx="139050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111111"/>
                </a:solidFill>
                <a:latin typeface="Arial"/>
              </a:rPr>
              <a:t>HEAVY </a:t>
            </a:r>
            <a:r>
              <a:rPr sz="836" b="1">
                <a:solidFill>
                  <a:srgbClr val="111111"/>
                </a:solidFill>
                <a:latin typeface="Arial"/>
              </a:rPr>
              <a:t>· </a:t>
            </a:r>
            <a:r>
              <a:rPr sz="836" b="1">
                <a:solidFill>
                  <a:srgbClr val="111111"/>
                </a:solidFill>
                <a:latin typeface="Arial"/>
              </a:rPr>
              <a:t>&gt; </a:t>
            </a:r>
            <a:r>
              <a:rPr sz="836" b="1">
                <a:solidFill>
                  <a:srgbClr val="111111"/>
                </a:solidFill>
                <a:latin typeface="Arial"/>
              </a:rPr>
              <a:t>45 </a:t>
            </a:r>
            <a:r>
              <a:rPr sz="836" b="1">
                <a:solidFill>
                  <a:srgbClr val="111111"/>
                </a:solidFill>
                <a:latin typeface="Arial"/>
              </a:rPr>
              <a:t>tm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1250" y="1668018"/>
            <a:ext cx="274915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UNITS </a:t>
            </a:r>
            <a:r>
              <a:rPr sz="691" b="1">
                <a:solidFill>
                  <a:srgbClr val="6F6963"/>
                </a:solidFill>
                <a:latin typeface="Arial"/>
              </a:rPr>
              <a:t>&amp; </a:t>
            </a:r>
            <a:r>
              <a:rPr sz="691" b="1">
                <a:solidFill>
                  <a:srgbClr val="6F6963"/>
                </a:solidFill>
                <a:latin typeface="Arial"/>
              </a:rPr>
              <a:t>IMPORT </a:t>
            </a:r>
            <a:r>
              <a:rPr sz="691" b="1">
                <a:solidFill>
                  <a:srgbClr val="6F6963"/>
                </a:solidFill>
                <a:latin typeface="Arial"/>
              </a:rPr>
              <a:t>VALUE </a:t>
            </a:r>
            <a:r>
              <a:rPr sz="691" b="1">
                <a:solidFill>
                  <a:srgbClr val="6F6963"/>
                </a:solidFill>
                <a:latin typeface="Arial"/>
              </a:rPr>
              <a:t>BY </a:t>
            </a:r>
            <a:r>
              <a:rPr sz="691" b="1">
                <a:solidFill>
                  <a:srgbClr val="6F6963"/>
                </a:solidFill>
                <a:latin typeface="Arial"/>
              </a:rPr>
              <a:t>BRAND </a:t>
            </a:r>
            <a:r>
              <a:rPr sz="691" b="1">
                <a:solidFill>
                  <a:srgbClr val="6F6963"/>
                </a:solidFill>
                <a:latin typeface="Arial"/>
              </a:rPr>
              <a:t>· </a:t>
            </a:r>
            <a:r>
              <a:rPr sz="691" b="1">
                <a:solidFill>
                  <a:srgbClr val="6F6963"/>
                </a:solidFill>
                <a:latin typeface="Arial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1250" y="2191654"/>
            <a:ext cx="781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XCMG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5150" y="2213752"/>
            <a:ext cx="9837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4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4,6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1250" y="3056197"/>
            <a:ext cx="106307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Amco </a:t>
            </a:r>
            <a:r>
              <a:rPr sz="1018" b="0">
                <a:solidFill>
                  <a:srgbClr val="F4F1EE"/>
                </a:solidFill>
                <a:latin typeface="Arial"/>
              </a:rPr>
              <a:t>Veba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5150" y="3078295"/>
            <a:ext cx="10365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7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11,1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1250" y="3920740"/>
            <a:ext cx="90740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25150" y="3942838"/>
            <a:ext cx="110564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22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29,7 </a:t>
            </a:r>
            <a:r>
              <a:rPr sz="836" b="0">
                <a:solidFill>
                  <a:srgbClr val="A9A29C"/>
                </a:solidFill>
                <a:latin typeface="Arial"/>
              </a:rPr>
              <a:t>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7450" y="4528494"/>
            <a:ext cx="44172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#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3241" y="4528494"/>
            <a:ext cx="76304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BRAND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4948" y="4528494"/>
            <a:ext cx="70485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3177" y="4528494"/>
            <a:ext cx="148470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IMPORT </a:t>
            </a:r>
            <a:r>
              <a:rPr sz="727" b="1">
                <a:solidFill>
                  <a:srgbClr val="6F6963"/>
                </a:solidFill>
                <a:latin typeface="Arial"/>
              </a:rPr>
              <a:t>VALUE </a:t>
            </a:r>
            <a:r>
              <a:rPr sz="727" b="1">
                <a:solidFill>
                  <a:srgbClr val="6F6963"/>
                </a:solidFill>
                <a:latin typeface="Arial"/>
              </a:rPr>
              <a:t>(IDR)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37676" y="4528494"/>
            <a:ext cx="75262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6F6963"/>
                </a:solidFill>
                <a:latin typeface="Arial"/>
              </a:rPr>
              <a:t>SHARE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7450" y="4754808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3241" y="4754808"/>
            <a:ext cx="8701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Palfinger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24948" y="4754808"/>
            <a:ext cx="50824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3177" y="4754808"/>
            <a:ext cx="13596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Rp </a:t>
            </a:r>
            <a:r>
              <a:rPr sz="873" b="1">
                <a:solidFill>
                  <a:srgbClr val="4DA3FF"/>
                </a:solidFill>
                <a:latin typeface="Arial"/>
              </a:rPr>
              <a:t>29.738.000.000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37676" y="4754808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4DA3FF"/>
                </a:solidFill>
                <a:latin typeface="Arial"/>
              </a:rPr>
              <a:t>62%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7450" y="5031033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3241" y="5031033"/>
            <a:ext cx="965596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Amco </a:t>
            </a:r>
            <a:r>
              <a:rPr sz="873" b="0">
                <a:solidFill>
                  <a:srgbClr val="A9A29C"/>
                </a:solidFill>
                <a:latin typeface="Arial"/>
              </a:rPr>
              <a:t>Veba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24948" y="5031033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3177" y="5031033"/>
            <a:ext cx="134495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Rp </a:t>
            </a:r>
            <a:r>
              <a:rPr sz="873" b="0">
                <a:solidFill>
                  <a:srgbClr val="A9A29C"/>
                </a:solidFill>
                <a:latin typeface="Arial"/>
              </a:rPr>
              <a:t>11.065.000.000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37676" y="5031033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23%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7450" y="5307258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43241" y="5307258"/>
            <a:ext cx="72390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XCMG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24948" y="5307258"/>
            <a:ext cx="44469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53177" y="5307258"/>
            <a:ext cx="12898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Rp </a:t>
            </a:r>
            <a:r>
              <a:rPr sz="873" b="0">
                <a:solidFill>
                  <a:srgbClr val="A9A29C"/>
                </a:solidFill>
                <a:latin typeface="Arial"/>
              </a:rPr>
              <a:t>4.647.000.000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37676" y="5307258"/>
            <a:ext cx="60989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0">
                <a:solidFill>
                  <a:srgbClr val="A9A29C"/>
                </a:solidFill>
                <a:latin typeface="Arial"/>
              </a:rPr>
              <a:t>10%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91250" y="5575482"/>
            <a:ext cx="486147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Total </a:t>
            </a:r>
            <a:r>
              <a:rPr sz="836" b="0">
                <a:solidFill>
                  <a:srgbClr val="A9A29C"/>
                </a:solidFill>
                <a:latin typeface="Arial"/>
              </a:rPr>
              <a:t>Heavy </a:t>
            </a:r>
            <a:r>
              <a:rPr sz="836" b="0">
                <a:solidFill>
                  <a:srgbClr val="A9A29C"/>
                </a:solidFill>
                <a:latin typeface="Arial"/>
              </a:rPr>
              <a:t>2025: </a:t>
            </a:r>
            <a:r>
              <a:rPr sz="836" b="0">
                <a:solidFill>
                  <a:srgbClr val="A9A29C"/>
                </a:solidFill>
                <a:latin typeface="Arial"/>
              </a:rPr>
              <a:t>35 </a:t>
            </a:r>
            <a:r>
              <a:rPr sz="836" b="0">
                <a:solidFill>
                  <a:srgbClr val="A9A29C"/>
                </a:solidFill>
                <a:latin typeface="Arial"/>
              </a:rPr>
              <a:t>units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48,0 </a:t>
            </a:r>
            <a:r>
              <a:rPr sz="836" b="0">
                <a:solidFill>
                  <a:srgbClr val="A9A29C"/>
                </a:solidFill>
                <a:latin typeface="Arial"/>
              </a:rPr>
              <a:t>M. </a:t>
            </a:r>
            <a:r>
              <a:rPr sz="836" b="0">
                <a:solidFill>
                  <a:srgbClr val="A9A29C"/>
                </a:solidFill>
                <a:latin typeface="Arial"/>
              </a:rPr>
              <a:t>Sany </a:t>
            </a:r>
            <a:r>
              <a:rPr sz="836" b="0">
                <a:solidFill>
                  <a:srgbClr val="A9A29C"/>
                </a:solidFill>
                <a:latin typeface="Arial"/>
              </a:rPr>
              <a:t>Palfinger </a:t>
            </a:r>
            <a:r>
              <a:rPr sz="836" b="0">
                <a:solidFill>
                  <a:srgbClr val="A9A29C"/>
                </a:solidFill>
                <a:latin typeface="Arial"/>
              </a:rPr>
              <a:t>= </a:t>
            </a:r>
            <a:r>
              <a:rPr sz="836" b="0">
                <a:solidFill>
                  <a:srgbClr val="A9A29C"/>
                </a:solidFill>
                <a:latin typeface="Arial"/>
              </a:rPr>
              <a:t>Sany–Palfinger </a:t>
            </a:r>
            <a:r>
              <a:rPr sz="836" b="0">
                <a:solidFill>
                  <a:srgbClr val="A9A29C"/>
                </a:solidFill>
                <a:latin typeface="Arial"/>
              </a:rPr>
              <a:t>JV, </a:t>
            </a:r>
            <a:r>
              <a:rPr sz="836" b="0">
                <a:solidFill>
                  <a:srgbClr val="A9A29C"/>
                </a:solidFill>
                <a:latin typeface="Arial"/>
              </a:rPr>
              <a:t>made </a:t>
            </a:r>
            <a:r>
              <a:rPr sz="836" b="0">
                <a:solidFill>
                  <a:srgbClr val="A9A29C"/>
                </a:solidFill>
                <a:latin typeface="Arial"/>
              </a:rPr>
              <a:t>in </a:t>
            </a:r>
            <a:r>
              <a:rPr sz="836" b="0">
                <a:solidFill>
                  <a:srgbClr val="A9A29C"/>
                </a:solidFill>
                <a:latin typeface="Arial"/>
              </a:rPr>
              <a:t>China.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67475" y="5916096"/>
            <a:ext cx="334104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A9A29C"/>
                </a:solidFill>
                <a:latin typeface="Arial"/>
              </a:rPr>
              <a:t>Both </a:t>
            </a:r>
            <a:r>
              <a:rPr sz="945" b="0">
                <a:solidFill>
                  <a:srgbClr val="A9A29C"/>
                </a:solidFill>
                <a:latin typeface="Arial"/>
              </a:rPr>
              <a:t>leaders </a:t>
            </a:r>
            <a:r>
              <a:rPr sz="945" b="0">
                <a:solidFill>
                  <a:srgbClr val="A9A29C"/>
                </a:solidFill>
                <a:latin typeface="Arial"/>
              </a:rPr>
              <a:t>are </a:t>
            </a:r>
            <a:r>
              <a:rPr sz="945" b="0">
                <a:solidFill>
                  <a:srgbClr val="A9A29C"/>
                </a:solidFill>
                <a:latin typeface="Arial"/>
              </a:rPr>
              <a:t>well </a:t>
            </a:r>
            <a:r>
              <a:rPr sz="945" b="0">
                <a:solidFill>
                  <a:srgbClr val="A9A29C"/>
                </a:solidFill>
                <a:latin typeface="Arial"/>
              </a:rPr>
              <a:t>ahead </a:t>
            </a:r>
            <a:r>
              <a:rPr sz="945" b="0">
                <a:solidFill>
                  <a:srgbClr val="A9A29C"/>
                </a:solidFill>
                <a:latin typeface="Arial"/>
              </a:rPr>
              <a:t>of </a:t>
            </a:r>
            <a:r>
              <a:rPr sz="945" b="0">
                <a:solidFill>
                  <a:srgbClr val="A9A29C"/>
                </a:solidFill>
                <a:latin typeface="Arial"/>
              </a:rPr>
              <a:t>the </a:t>
            </a:r>
            <a:r>
              <a:rPr sz="945" b="0">
                <a:solidFill>
                  <a:srgbClr val="A9A29C"/>
                </a:solidFill>
                <a:latin typeface="Arial"/>
              </a:rPr>
              <a:t>next </a:t>
            </a:r>
            <a:r>
              <a:rPr sz="945" b="0">
                <a:solidFill>
                  <a:srgbClr val="A9A29C"/>
                </a:solidFill>
                <a:latin typeface="Arial"/>
              </a:rPr>
              <a:t>brand </a:t>
            </a:r>
            <a:r>
              <a:rPr sz="945" b="0">
                <a:solidFill>
                  <a:srgbClr val="A9A29C"/>
                </a:solidFill>
                <a:latin typeface="Arial"/>
              </a:rPr>
              <a:t>in </a:t>
            </a:r>
            <a:r>
              <a:rPr sz="945" b="0">
                <a:solidFill>
                  <a:srgbClr val="A9A29C"/>
                </a:solidFill>
                <a:latin typeface="Arial"/>
              </a:rPr>
              <a:t>value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7475" y="6133683"/>
            <a:ext cx="411658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A9A29C"/>
                </a:solidFill>
                <a:latin typeface="Arial"/>
              </a:rPr>
              <a:t>Scope: </a:t>
            </a:r>
            <a:r>
              <a:rPr sz="945" b="0">
                <a:solidFill>
                  <a:srgbClr val="A9A29C"/>
                </a:solidFill>
                <a:latin typeface="Arial"/>
              </a:rPr>
              <a:t>2025 </a:t>
            </a:r>
            <a:r>
              <a:rPr sz="945" b="0">
                <a:solidFill>
                  <a:srgbClr val="A9A29C"/>
                </a:solidFill>
                <a:latin typeface="Arial"/>
              </a:rPr>
              <a:t>only, </a:t>
            </a:r>
            <a:r>
              <a:rPr sz="945" b="0">
                <a:solidFill>
                  <a:srgbClr val="A9A29C"/>
                </a:solidFill>
                <a:latin typeface="Arial"/>
              </a:rPr>
              <a:t>so </a:t>
            </a:r>
            <a:r>
              <a:rPr sz="945" b="0">
                <a:solidFill>
                  <a:srgbClr val="A9A29C"/>
                </a:solidFill>
                <a:latin typeface="Arial"/>
              </a:rPr>
              <a:t>figures </a:t>
            </a:r>
            <a:r>
              <a:rPr sz="945" b="0">
                <a:solidFill>
                  <a:srgbClr val="A9A29C"/>
                </a:solidFill>
                <a:latin typeface="Arial"/>
              </a:rPr>
              <a:t>are </a:t>
            </a:r>
            <a:r>
              <a:rPr sz="945" b="0">
                <a:solidFill>
                  <a:srgbClr val="A9A29C"/>
                </a:solidFill>
                <a:latin typeface="Arial"/>
              </a:rPr>
              <a:t>smaller </a:t>
            </a:r>
            <a:r>
              <a:rPr sz="945" b="0">
                <a:solidFill>
                  <a:srgbClr val="A9A29C"/>
                </a:solidFill>
                <a:latin typeface="Arial"/>
              </a:rPr>
              <a:t>than </a:t>
            </a:r>
            <a:r>
              <a:rPr sz="945" b="0">
                <a:solidFill>
                  <a:srgbClr val="A9A29C"/>
                </a:solidFill>
                <a:latin typeface="Arial"/>
              </a:rPr>
              <a:t>the </a:t>
            </a:r>
            <a:r>
              <a:rPr sz="945" b="0">
                <a:solidFill>
                  <a:srgbClr val="A9A29C"/>
                </a:solidFill>
                <a:latin typeface="Arial"/>
              </a:rPr>
              <a:t>2023 </a:t>
            </a:r>
            <a:r>
              <a:rPr sz="945" b="0">
                <a:solidFill>
                  <a:srgbClr val="A9A29C"/>
                </a:solidFill>
                <a:latin typeface="Arial"/>
              </a:rPr>
              <a:t>– </a:t>
            </a:r>
            <a:r>
              <a:rPr sz="945" b="0">
                <a:solidFill>
                  <a:srgbClr val="A9A29C"/>
                </a:solidFill>
                <a:latin typeface="Arial"/>
              </a:rPr>
              <a:t>2026 </a:t>
            </a:r>
            <a:r>
              <a:rPr sz="945" b="0">
                <a:solidFill>
                  <a:srgbClr val="A9A29C"/>
                </a:solidFill>
                <a:latin typeface="Arial"/>
              </a:rPr>
              <a:t>totals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21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474583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Models </a:t>
            </a:r>
            <a:r>
              <a:rPr sz="2182" b="0">
                <a:solidFill>
                  <a:srgbClr val="F0ECE8"/>
                </a:solidFill>
                <a:latin typeface="Arial"/>
              </a:rPr>
              <a:t>of </a:t>
            </a:r>
            <a:r>
              <a:rPr sz="2182" b="0">
                <a:solidFill>
                  <a:srgbClr val="F0ECE8"/>
                </a:solidFill>
                <a:latin typeface="Arial"/>
              </a:rPr>
              <a:t>the </a:t>
            </a:r>
            <a:r>
              <a:rPr sz="2182" b="0">
                <a:solidFill>
                  <a:srgbClr val="F0ECE8"/>
                </a:solidFill>
                <a:latin typeface="Arial"/>
              </a:rPr>
              <a:t>Brand </a:t>
            </a:r>
            <a:r>
              <a:rPr sz="2182" b="0">
                <a:solidFill>
                  <a:srgbClr val="F0ECE8"/>
                </a:solidFill>
                <a:latin typeface="Arial"/>
              </a:rPr>
              <a:t>Leaders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1457706"/>
            <a:ext cx="302731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111111"/>
                </a:solidFill>
                <a:latin typeface="Arial"/>
              </a:rPr>
              <a:t>MEDIUM </a:t>
            </a:r>
            <a:r>
              <a:rPr sz="836" b="1">
                <a:solidFill>
                  <a:srgbClr val="111111"/>
                </a:solidFill>
                <a:latin typeface="Arial"/>
              </a:rPr>
              <a:t>· </a:t>
            </a:r>
            <a:r>
              <a:rPr sz="836" b="1">
                <a:solidFill>
                  <a:srgbClr val="111111"/>
                </a:solidFill>
                <a:latin typeface="Arial"/>
              </a:rPr>
              <a:t>25 </a:t>
            </a:r>
            <a:r>
              <a:rPr sz="836" b="1">
                <a:solidFill>
                  <a:srgbClr val="111111"/>
                </a:solidFill>
                <a:latin typeface="Arial"/>
              </a:rPr>
              <a:t>– </a:t>
            </a:r>
            <a:r>
              <a:rPr sz="836" b="1">
                <a:solidFill>
                  <a:srgbClr val="111111"/>
                </a:solidFill>
                <a:latin typeface="Arial"/>
              </a:rPr>
              <a:t>45 </a:t>
            </a:r>
            <a:r>
              <a:rPr sz="836" b="1">
                <a:solidFill>
                  <a:srgbClr val="111111"/>
                </a:solidFill>
                <a:latin typeface="Arial"/>
              </a:rPr>
              <a:t>tm </a:t>
            </a:r>
            <a:r>
              <a:rPr sz="836" b="1">
                <a:solidFill>
                  <a:srgbClr val="111111"/>
                </a:solidFill>
                <a:latin typeface="Arial"/>
              </a:rPr>
              <a:t>· </a:t>
            </a:r>
            <a:r>
              <a:rPr sz="836" b="1">
                <a:solidFill>
                  <a:srgbClr val="111111"/>
                </a:solidFill>
                <a:latin typeface="Arial"/>
              </a:rPr>
              <a:t>units </a:t>
            </a:r>
            <a:r>
              <a:rPr sz="836" b="1">
                <a:solidFill>
                  <a:srgbClr val="111111"/>
                </a:solidFill>
                <a:latin typeface="Arial"/>
              </a:rPr>
              <a:t>sold </a:t>
            </a:r>
            <a:r>
              <a:rPr sz="836" b="1">
                <a:solidFill>
                  <a:srgbClr val="111111"/>
                </a:solidFill>
                <a:latin typeface="Arial"/>
              </a:rPr>
              <a:t>by </a:t>
            </a:r>
            <a:r>
              <a:rPr sz="836" b="1">
                <a:solidFill>
                  <a:srgbClr val="111111"/>
                </a:solidFill>
                <a:latin typeface="Arial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75" y="2075699"/>
            <a:ext cx="137353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Sany </a:t>
            </a:r>
            <a:r>
              <a:rPr sz="1091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75" y="2381261"/>
            <a:ext cx="147071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SPK36080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36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7125" y="2403359"/>
            <a:ext cx="50289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75" y="2686061"/>
            <a:ext cx="158189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SPK42502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42.5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2708159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75" y="2990861"/>
            <a:ext cx="158189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SPK32080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30.4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3012959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125" y="2075699"/>
            <a:ext cx="809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XCMG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9125" y="2381261"/>
            <a:ext cx="154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GSQZ330.4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33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6175" y="2403359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9125" y="2686061"/>
            <a:ext cx="155212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SQZ325.4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32.5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6175" y="2708159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9125" y="2990861"/>
            <a:ext cx="152980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KSQZ300.3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30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6175" y="3012959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8175" y="2228099"/>
            <a:ext cx="9923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8175" y="2533661"/>
            <a:ext cx="166345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PK </a:t>
            </a:r>
            <a:r>
              <a:rPr sz="1018" b="0">
                <a:solidFill>
                  <a:srgbClr val="F4F1EE"/>
                </a:solidFill>
                <a:latin typeface="Arial"/>
              </a:rPr>
              <a:t>32080 </a:t>
            </a:r>
            <a:r>
              <a:rPr sz="1018" b="0">
                <a:solidFill>
                  <a:srgbClr val="F4F1EE"/>
                </a:solidFill>
                <a:latin typeface="Arial"/>
              </a:rPr>
              <a:t>C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30.4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25225" y="2555759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8175" y="2838461"/>
            <a:ext cx="188565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PK </a:t>
            </a:r>
            <a:r>
              <a:rPr sz="1018" b="0">
                <a:solidFill>
                  <a:srgbClr val="F4F1EE"/>
                </a:solidFill>
                <a:latin typeface="Arial"/>
              </a:rPr>
              <a:t>41002 </a:t>
            </a:r>
            <a:r>
              <a:rPr sz="1018" b="0">
                <a:solidFill>
                  <a:srgbClr val="F4F1EE"/>
                </a:solidFill>
                <a:latin typeface="Arial"/>
              </a:rPr>
              <a:t>EH </a:t>
            </a:r>
            <a:r>
              <a:rPr sz="1018" b="0">
                <a:solidFill>
                  <a:srgbClr val="F4F1EE"/>
                </a:solidFill>
                <a:latin typeface="Arial"/>
              </a:rPr>
              <a:t>C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38.4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25225" y="2860559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3758737"/>
            <a:ext cx="275733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111111"/>
                </a:solidFill>
                <a:latin typeface="Arial"/>
              </a:rPr>
              <a:t>HEAVY </a:t>
            </a:r>
            <a:r>
              <a:rPr sz="836" b="1">
                <a:solidFill>
                  <a:srgbClr val="111111"/>
                </a:solidFill>
                <a:latin typeface="Arial"/>
              </a:rPr>
              <a:t>· </a:t>
            </a:r>
            <a:r>
              <a:rPr sz="836" b="1">
                <a:solidFill>
                  <a:srgbClr val="111111"/>
                </a:solidFill>
                <a:latin typeface="Arial"/>
              </a:rPr>
              <a:t>&gt; </a:t>
            </a:r>
            <a:r>
              <a:rPr sz="836" b="1">
                <a:solidFill>
                  <a:srgbClr val="111111"/>
                </a:solidFill>
                <a:latin typeface="Arial"/>
              </a:rPr>
              <a:t>45 </a:t>
            </a:r>
            <a:r>
              <a:rPr sz="836" b="1">
                <a:solidFill>
                  <a:srgbClr val="111111"/>
                </a:solidFill>
                <a:latin typeface="Arial"/>
              </a:rPr>
              <a:t>tm </a:t>
            </a:r>
            <a:r>
              <a:rPr sz="836" b="1">
                <a:solidFill>
                  <a:srgbClr val="111111"/>
                </a:solidFill>
                <a:latin typeface="Arial"/>
              </a:rPr>
              <a:t>· </a:t>
            </a:r>
            <a:r>
              <a:rPr sz="836" b="1">
                <a:solidFill>
                  <a:srgbClr val="111111"/>
                </a:solidFill>
                <a:latin typeface="Arial"/>
              </a:rPr>
              <a:t>units </a:t>
            </a:r>
            <a:r>
              <a:rPr sz="836" b="1">
                <a:solidFill>
                  <a:srgbClr val="111111"/>
                </a:solidFill>
                <a:latin typeface="Arial"/>
              </a:rPr>
              <a:t>sold </a:t>
            </a:r>
            <a:r>
              <a:rPr sz="836" b="1">
                <a:solidFill>
                  <a:srgbClr val="111111"/>
                </a:solidFill>
                <a:latin typeface="Arial"/>
              </a:rPr>
              <a:t>by </a:t>
            </a:r>
            <a:r>
              <a:rPr sz="836" b="1">
                <a:solidFill>
                  <a:srgbClr val="111111"/>
                </a:solidFill>
                <a:latin typeface="Arial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075" y="4681531"/>
            <a:ext cx="99238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75" y="4987093"/>
            <a:ext cx="187835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PK </a:t>
            </a:r>
            <a:r>
              <a:rPr sz="1018" b="0">
                <a:solidFill>
                  <a:srgbClr val="F4F1EE"/>
                </a:solidFill>
                <a:latin typeface="Arial"/>
              </a:rPr>
              <a:t>53002 </a:t>
            </a:r>
            <a:r>
              <a:rPr sz="1018" b="0">
                <a:solidFill>
                  <a:srgbClr val="F4F1EE"/>
                </a:solidFill>
                <a:latin typeface="Arial"/>
              </a:rPr>
              <a:t>SH </a:t>
            </a:r>
            <a:r>
              <a:rPr sz="1018" b="0">
                <a:solidFill>
                  <a:srgbClr val="F4F1EE"/>
                </a:solidFill>
                <a:latin typeface="Arial"/>
              </a:rPr>
              <a:t>B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50.1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67125" y="5009191"/>
            <a:ext cx="50289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9125" y="4681531"/>
            <a:ext cx="115133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Amco </a:t>
            </a:r>
            <a:r>
              <a:rPr sz="1091" b="1">
                <a:solidFill>
                  <a:srgbClr val="F4F1EE"/>
                </a:solidFill>
                <a:latin typeface="Arial"/>
              </a:rPr>
              <a:t>Veba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9125" y="4987093"/>
            <a:ext cx="12556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V950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45.9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6175" y="5009191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8175" y="4529131"/>
            <a:ext cx="809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91" b="1">
                <a:solidFill>
                  <a:srgbClr val="F4F1EE"/>
                </a:solidFill>
                <a:latin typeface="Arial"/>
              </a:rPr>
              <a:t>XCMG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8175" y="4834693"/>
            <a:ext cx="154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GSQZ880.6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88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25225" y="4856791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8175" y="5139493"/>
            <a:ext cx="15446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4F1EE"/>
                </a:solidFill>
                <a:latin typeface="Arial"/>
              </a:rPr>
              <a:t>GSQZ860.6 </a:t>
            </a:r>
            <a:r>
              <a:rPr sz="1018" b="0">
                <a:solidFill>
                  <a:srgbClr val="F4F1EE"/>
                </a:solidFill>
                <a:latin typeface="Arial"/>
              </a:rPr>
              <a:t>· </a:t>
            </a:r>
            <a:r>
              <a:rPr sz="1018" b="0">
                <a:solidFill>
                  <a:srgbClr val="F4F1EE"/>
                </a:solidFill>
                <a:latin typeface="Arial"/>
              </a:rPr>
              <a:t>86 </a:t>
            </a:r>
            <a:r>
              <a:rPr sz="1018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25225" y="5161591"/>
            <a:ext cx="44201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6133683"/>
            <a:ext cx="517847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45" b="0">
                <a:solidFill>
                  <a:srgbClr val="A9A29C"/>
                </a:solidFill>
                <a:latin typeface="Arial"/>
              </a:rPr>
              <a:t>Each </a:t>
            </a:r>
            <a:r>
              <a:rPr sz="945" b="0">
                <a:solidFill>
                  <a:srgbClr val="A9A29C"/>
                </a:solidFill>
                <a:latin typeface="Arial"/>
              </a:rPr>
              <a:t>leader </a:t>
            </a:r>
            <a:r>
              <a:rPr sz="945" b="0">
                <a:solidFill>
                  <a:srgbClr val="A9A29C"/>
                </a:solidFill>
                <a:latin typeface="Arial"/>
              </a:rPr>
              <a:t>relies </a:t>
            </a:r>
            <a:r>
              <a:rPr sz="945" b="0">
                <a:solidFill>
                  <a:srgbClr val="A9A29C"/>
                </a:solidFill>
                <a:latin typeface="Arial"/>
              </a:rPr>
              <a:t>on </a:t>
            </a:r>
            <a:r>
              <a:rPr sz="945" b="0">
                <a:solidFill>
                  <a:srgbClr val="A9A29C"/>
                </a:solidFill>
                <a:latin typeface="Arial"/>
              </a:rPr>
              <a:t>one </a:t>
            </a:r>
            <a:r>
              <a:rPr sz="945" b="0">
                <a:solidFill>
                  <a:srgbClr val="A9A29C"/>
                </a:solidFill>
                <a:latin typeface="Arial"/>
              </a:rPr>
              <a:t>main </a:t>
            </a:r>
            <a:r>
              <a:rPr sz="945" b="0">
                <a:solidFill>
                  <a:srgbClr val="A9A29C"/>
                </a:solidFill>
                <a:latin typeface="Arial"/>
              </a:rPr>
              <a:t>model; </a:t>
            </a:r>
            <a:r>
              <a:rPr sz="945" b="1">
                <a:solidFill>
                  <a:srgbClr val="F4F1EE"/>
                </a:solidFill>
                <a:latin typeface="Arial"/>
              </a:rPr>
              <a:t>PK </a:t>
            </a:r>
            <a:r>
              <a:rPr sz="945" b="1">
                <a:solidFill>
                  <a:srgbClr val="F4F1EE"/>
                </a:solidFill>
                <a:latin typeface="Arial"/>
              </a:rPr>
              <a:t>53002 </a:t>
            </a:r>
            <a:r>
              <a:rPr sz="945" b="1">
                <a:solidFill>
                  <a:srgbClr val="F4F1EE"/>
                </a:solidFill>
                <a:latin typeface="Arial"/>
              </a:rPr>
              <a:t>alone </a:t>
            </a:r>
            <a:r>
              <a:rPr sz="945" b="1">
                <a:solidFill>
                  <a:srgbClr val="F4F1EE"/>
                </a:solidFill>
                <a:latin typeface="Arial"/>
              </a:rPr>
              <a:t>is </a:t>
            </a:r>
            <a:r>
              <a:rPr sz="945" b="1">
                <a:solidFill>
                  <a:srgbClr val="F4F1EE"/>
                </a:solidFill>
                <a:latin typeface="Arial"/>
              </a:rPr>
              <a:t>63% </a:t>
            </a:r>
            <a:r>
              <a:rPr sz="945" b="1">
                <a:solidFill>
                  <a:srgbClr val="F4F1EE"/>
                </a:solidFill>
                <a:latin typeface="Arial"/>
              </a:rPr>
              <a:t>of </a:t>
            </a:r>
            <a:r>
              <a:rPr sz="945" b="1">
                <a:solidFill>
                  <a:srgbClr val="F4F1EE"/>
                </a:solidFill>
                <a:latin typeface="Arial"/>
              </a:rPr>
              <a:t>Heavy </a:t>
            </a:r>
            <a:r>
              <a:rPr sz="945" b="1">
                <a:solidFill>
                  <a:srgbClr val="F4F1EE"/>
                </a:solidFill>
                <a:latin typeface="Arial"/>
              </a:rPr>
              <a:t>units </a:t>
            </a:r>
            <a:r>
              <a:rPr sz="945" b="0">
                <a:solidFill>
                  <a:srgbClr val="A9A29C"/>
                </a:solidFill>
                <a:latin typeface="Arial"/>
              </a:rPr>
              <a:t>in </a:t>
            </a:r>
            <a:r>
              <a:rPr sz="945" b="0">
                <a:solidFill>
                  <a:srgbClr val="A9A29C"/>
                </a:solidFill>
                <a:latin typeface="Arial"/>
              </a:rPr>
              <a:t>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22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06 </a:t>
            </a:r>
            <a:r>
              <a:rPr sz="873" b="1">
                <a:solidFill>
                  <a:srgbClr val="FF5A1F"/>
                </a:solidFill>
                <a:latin typeface="Arial"/>
              </a:rPr>
              <a:t>· </a:t>
            </a:r>
            <a:r>
              <a:rPr sz="873" b="1">
                <a:solidFill>
                  <a:srgbClr val="FF5A1F"/>
                </a:solidFill>
                <a:latin typeface="Arial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4885283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Price </a:t>
            </a:r>
            <a:r>
              <a:rPr sz="4510" b="0">
                <a:solidFill>
                  <a:srgbClr val="F0ECE8"/>
                </a:solidFill>
                <a:latin typeface="Arial"/>
              </a:rPr>
              <a:t>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Market </a:t>
            </a:r>
            <a:r>
              <a:rPr sz="1018" b="0">
                <a:solidFill>
                  <a:srgbClr val="6F6963"/>
                </a:solidFill>
                <a:latin typeface="Arial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2833" y="3454908"/>
            <a:ext cx="17372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B </a:t>
            </a:r>
            <a:r>
              <a:rPr sz="1018" b="0">
                <a:solidFill>
                  <a:srgbClr val="FF5A1F"/>
                </a:solidFill>
                <a:latin typeface="Arial"/>
              </a:rPr>
              <a:t>— </a:t>
            </a:r>
            <a:r>
              <a:rPr sz="1018" b="0">
                <a:solidFill>
                  <a:srgbClr val="FF5A1F"/>
                </a:solidFill>
                <a:latin typeface="Arial"/>
              </a:rPr>
              <a:t>Price </a:t>
            </a:r>
            <a:r>
              <a:rPr sz="1018" b="0">
                <a:solidFill>
                  <a:srgbClr val="FF5A1F"/>
                </a:solidFill>
                <a:latin typeface="Arial"/>
              </a:rP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F.lli </a:t>
            </a:r>
            <a:r>
              <a:rPr sz="1018" b="0">
                <a:solidFill>
                  <a:srgbClr val="6F6963"/>
                </a:solidFill>
                <a:latin typeface="Arial"/>
              </a:rPr>
              <a:t>Ferrari </a:t>
            </a:r>
            <a:r>
              <a:rPr sz="1018" b="0">
                <a:solidFill>
                  <a:srgbClr val="6F6963"/>
                </a:solidFill>
                <a:latin typeface="Arial"/>
              </a:rPr>
              <a:t>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23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514603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Price </a:t>
            </a:r>
            <a:r>
              <a:rPr sz="2182" b="0">
                <a:solidFill>
                  <a:srgbClr val="F0ECE8"/>
                </a:solidFill>
                <a:latin typeface="Arial"/>
              </a:rPr>
              <a:t>Comparison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Medium </a:t>
            </a:r>
            <a:r>
              <a:rPr sz="2182" b="0">
                <a:solidFill>
                  <a:srgbClr val="F0ECE8"/>
                </a:solidFill>
                <a:latin typeface="Arial"/>
              </a:rPr>
              <a:t>25 </a:t>
            </a:r>
            <a:r>
              <a:rPr sz="2182" b="0">
                <a:solidFill>
                  <a:srgbClr val="F0ECE8"/>
                </a:solidFill>
                <a:latin typeface="Arial"/>
              </a:rPr>
              <a:t>– </a:t>
            </a:r>
            <a:r>
              <a:rPr sz="2182" b="0">
                <a:solidFill>
                  <a:srgbClr val="F0ECE8"/>
                </a:solidFill>
                <a:latin typeface="Arial"/>
              </a:rPr>
              <a:t>35 </a:t>
            </a:r>
            <a:r>
              <a:rPr sz="2182" b="0">
                <a:solidFill>
                  <a:srgbClr val="F0ECE8"/>
                </a:solidFill>
                <a:latin typeface="Arial"/>
              </a:rPr>
              <a:t>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858" y="1867281"/>
            <a:ext cx="81944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tm </a:t>
            </a:r>
            <a:r>
              <a:rPr sz="836" b="1">
                <a:solidFill>
                  <a:srgbClr val="F4F1EE"/>
                </a:solidFill>
                <a:latin typeface="Arial"/>
              </a:rP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7703" y="1867281"/>
            <a:ext cx="9350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F.lli </a:t>
            </a:r>
            <a:r>
              <a:rPr sz="836" b="1">
                <a:solidFill>
                  <a:srgbClr val="F4F1EE"/>
                </a:solidFill>
                <a:latin typeface="Arial"/>
              </a:rPr>
              <a:t>Ferrari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4857" y="1810131"/>
            <a:ext cx="1141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Sany </a:t>
            </a:r>
            <a:r>
              <a:rPr sz="836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5094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88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0576" y="1810131"/>
            <a:ext cx="9715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Amco </a:t>
            </a:r>
            <a:r>
              <a:rPr sz="836" b="1">
                <a:solidFill>
                  <a:srgbClr val="F4F1EE"/>
                </a:solidFill>
                <a:latin typeface="Arial"/>
              </a:rPr>
              <a:t>Veba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5683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36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134" y="1810131"/>
            <a:ext cx="70961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XCMG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6273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33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2625" y="1810131"/>
            <a:ext cx="84980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6862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29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9003" y="1810131"/>
            <a:ext cx="61838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Hiab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7600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10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680" y="2219706"/>
            <a:ext cx="9139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&gt;25–30 </a:t>
            </a:r>
            <a:r>
              <a:rPr sz="836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062" y="2372998"/>
            <a:ext cx="7950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49 </a:t>
            </a:r>
            <a:r>
              <a:rPr sz="836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5414" y="2219706"/>
            <a:ext cx="7301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268 </a:t>
            </a:r>
            <a:r>
              <a:rPr sz="836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5414" y="2372998"/>
            <a:ext cx="74637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25.4 </a:t>
            </a:r>
            <a:r>
              <a:rPr sz="836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5414" y="2526291"/>
            <a:ext cx="8499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Rp </a:t>
            </a:r>
            <a:r>
              <a:rPr sz="836" b="0">
                <a:solidFill>
                  <a:srgbClr val="F4F1EE"/>
                </a:solidFill>
                <a:latin typeface="Arial"/>
              </a:rPr>
              <a:t>500 </a:t>
            </a:r>
            <a:r>
              <a:rPr sz="836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6593" y="2219706"/>
            <a:ext cx="95056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V825 </a:t>
            </a:r>
            <a:r>
              <a:rPr sz="836" b="1">
                <a:solidFill>
                  <a:srgbClr val="5BD17A"/>
                </a:solidFill>
                <a:latin typeface="Arial"/>
              </a:rPr>
              <a:t>−23%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6593" y="2372998"/>
            <a:ext cx="122738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25.6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31 </a:t>
            </a:r>
            <a:r>
              <a:rPr sz="836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6593" y="2526291"/>
            <a:ext cx="8499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650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7182" y="2219706"/>
            <a:ext cx="12123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KSQZ300.3 </a:t>
            </a:r>
            <a:r>
              <a:rPr sz="836" b="1">
                <a:solidFill>
                  <a:srgbClr val="5BD17A"/>
                </a:solidFill>
                <a:latin typeface="Arial"/>
              </a:rPr>
              <a:t>−3%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7182" y="2372998"/>
            <a:ext cx="15863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30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15 </a:t>
            </a:r>
            <a:r>
              <a:rPr sz="836" b="0">
                <a:solidFill>
                  <a:srgbClr val="A9A29C"/>
                </a:solidFill>
                <a:latin typeface="Arial"/>
              </a:rPr>
              <a:t>units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smaller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7182" y="2526291"/>
            <a:ext cx="65514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crane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7182" y="2679584"/>
            <a:ext cx="8499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510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7182" y="2994802"/>
            <a:ext cx="120223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SQ12ZK3Q </a:t>
            </a:r>
            <a:r>
              <a:rPr sz="836" b="1">
                <a:solidFill>
                  <a:srgbClr val="DDDDDD"/>
                </a:solidFill>
                <a:latin typeface="Arial"/>
              </a:rPr>
              <a:t>±0%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7182" y="3148095"/>
            <a:ext cx="107513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30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2 </a:t>
            </a:r>
            <a:r>
              <a:rPr sz="836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87182" y="3301388"/>
            <a:ext cx="8499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500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7182" y="3616606"/>
            <a:ext cx="127322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KSQZ300.4 </a:t>
            </a:r>
            <a:r>
              <a:rPr sz="836" b="1">
                <a:solidFill>
                  <a:srgbClr val="5BD17A"/>
                </a:solidFill>
                <a:latin typeface="Arial"/>
              </a:rPr>
              <a:t>−12%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7182" y="3769899"/>
            <a:ext cx="177507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30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1 </a:t>
            </a:r>
            <a:r>
              <a:rPr sz="836" b="0">
                <a:solidFill>
                  <a:srgbClr val="A9A29C"/>
                </a:solidFill>
                <a:latin typeface="Arial"/>
              </a:rPr>
              <a:t>unit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smaller </a:t>
            </a:r>
            <a:r>
              <a:rPr sz="836" b="0">
                <a:solidFill>
                  <a:srgbClr val="A9A29C"/>
                </a:solidFill>
                <a:latin typeface="Arial"/>
              </a:rPr>
              <a:t>crane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7182" y="3923192"/>
            <a:ext cx="8499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570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680" y="4238410"/>
            <a:ext cx="9139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&gt;30–35 </a:t>
            </a:r>
            <a:r>
              <a:rPr sz="836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062" y="4391703"/>
            <a:ext cx="7950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62 </a:t>
            </a:r>
            <a:r>
              <a:rPr sz="836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25414" y="4238410"/>
            <a:ext cx="103450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FBR350R </a:t>
            </a:r>
            <a:r>
              <a:rPr sz="836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25414" y="4391703"/>
            <a:ext cx="74637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32.8 </a:t>
            </a:r>
            <a:r>
              <a:rPr sz="836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5414" y="4544996"/>
            <a:ext cx="9413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Rp </a:t>
            </a:r>
            <a:r>
              <a:rPr sz="836" b="0">
                <a:solidFill>
                  <a:srgbClr val="F4F1EE"/>
                </a:solidFill>
                <a:latin typeface="Arial"/>
              </a:rPr>
              <a:t>1.090 </a:t>
            </a:r>
            <a:r>
              <a:rPr sz="836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6003" y="4229647"/>
            <a:ext cx="117901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SPK32080 </a:t>
            </a:r>
            <a:r>
              <a:rPr sz="691" b="1">
                <a:solidFill>
                  <a:srgbClr val="FF8A8A"/>
                </a:solidFill>
                <a:latin typeface="Arial"/>
              </a:rPr>
              <a:t>+107%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6003" y="4356300"/>
            <a:ext cx="114538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30.4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33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6003" y="4482953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530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6593" y="4229647"/>
            <a:ext cx="88433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V933 </a:t>
            </a:r>
            <a:r>
              <a:rPr sz="691" b="1">
                <a:solidFill>
                  <a:srgbClr val="FF8A8A"/>
                </a:solidFill>
                <a:latin typeface="Arial"/>
              </a:rPr>
              <a:t>+30%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6593" y="4356300"/>
            <a:ext cx="10913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31.9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4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66593" y="4482953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840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7182" y="4229647"/>
            <a:ext cx="11739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GSQZ330.4 </a:t>
            </a:r>
            <a:r>
              <a:rPr sz="691" b="1">
                <a:solidFill>
                  <a:srgbClr val="FF8A8A"/>
                </a:solidFill>
                <a:latin typeface="Arial"/>
              </a:rPr>
              <a:t>+40%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87182" y="4356300"/>
            <a:ext cx="10087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33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4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87182" y="4482953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780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07772" y="4238410"/>
            <a:ext cx="122679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PK </a:t>
            </a:r>
            <a:r>
              <a:rPr sz="836" b="1">
                <a:solidFill>
                  <a:srgbClr val="F4F1EE"/>
                </a:solidFill>
                <a:latin typeface="Arial"/>
              </a:rPr>
              <a:t>32080 </a:t>
            </a:r>
            <a:r>
              <a:rPr sz="836" b="1">
                <a:solidFill>
                  <a:srgbClr val="F4F1EE"/>
                </a:solidFill>
                <a:latin typeface="Arial"/>
              </a:rPr>
              <a:t>C </a:t>
            </a:r>
            <a:r>
              <a:rPr sz="836" b="1">
                <a:solidFill>
                  <a:srgbClr val="DDDDDD"/>
                </a:solidFill>
                <a:latin typeface="Arial"/>
              </a:rPr>
              <a:t>±0%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7772" y="4391703"/>
            <a:ext cx="116651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30.4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8 </a:t>
            </a:r>
            <a:r>
              <a:rPr sz="836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07772" y="4544996"/>
            <a:ext cx="9413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1.090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28361" y="4238410"/>
            <a:ext cx="123661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X-CLX </a:t>
            </a:r>
            <a:r>
              <a:rPr sz="836" b="1">
                <a:solidFill>
                  <a:srgbClr val="F4F1EE"/>
                </a:solidFill>
                <a:latin typeface="Arial"/>
              </a:rPr>
              <a:t>388 </a:t>
            </a:r>
            <a:r>
              <a:rPr sz="836" b="1">
                <a:solidFill>
                  <a:srgbClr val="5BD17A"/>
                </a:solidFill>
                <a:latin typeface="Arial"/>
              </a:rPr>
              <a:t>−25%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8361" y="4391703"/>
            <a:ext cx="116651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34.3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9 </a:t>
            </a:r>
            <a:r>
              <a:rPr sz="836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28361" y="4544996"/>
            <a:ext cx="9413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1.460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87182" y="4851451"/>
            <a:ext cx="109983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SQZ325.4 </a:t>
            </a:r>
            <a:r>
              <a:rPr sz="691" b="1">
                <a:solidFill>
                  <a:srgbClr val="FF8A8A"/>
                </a:solidFill>
                <a:latin typeface="Arial"/>
              </a:rPr>
              <a:t>+98%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7182" y="4978104"/>
            <a:ext cx="10913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32.5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3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87182" y="5104757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550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28361" y="4860214"/>
            <a:ext cx="117574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X-CLX </a:t>
            </a:r>
            <a:r>
              <a:rPr sz="836" b="1">
                <a:solidFill>
                  <a:srgbClr val="F4F1EE"/>
                </a:solidFill>
                <a:latin typeface="Arial"/>
              </a:rPr>
              <a:t>328 </a:t>
            </a:r>
            <a:r>
              <a:rPr sz="836" b="1">
                <a:solidFill>
                  <a:srgbClr val="5BD17A"/>
                </a:solidFill>
                <a:latin typeface="Arial"/>
              </a:rPr>
              <a:t>−2%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28361" y="5013507"/>
            <a:ext cx="111174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30.3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1 </a:t>
            </a:r>
            <a:r>
              <a:rPr sz="836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8361" y="5166800"/>
            <a:ext cx="9413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1.120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9100" y="5558980"/>
            <a:ext cx="1022746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Competitor: </a:t>
            </a:r>
            <a:r>
              <a:rPr sz="691" b="0">
                <a:solidFill>
                  <a:srgbClr val="6F6963"/>
                </a:solidFill>
                <a:latin typeface="Arial"/>
              </a:rPr>
              <a:t>highest </a:t>
            </a:r>
            <a:r>
              <a:rPr sz="691" b="0">
                <a:solidFill>
                  <a:srgbClr val="6F6963"/>
                </a:solidFill>
                <a:latin typeface="Arial"/>
              </a:rPr>
              <a:t>import </a:t>
            </a:r>
            <a:r>
              <a:rPr sz="691" b="0">
                <a:solidFill>
                  <a:srgbClr val="6F6963"/>
                </a:solidFill>
                <a:latin typeface="Arial"/>
              </a:rPr>
              <a:t>unit </a:t>
            </a:r>
            <a:r>
              <a:rPr sz="691" b="0">
                <a:solidFill>
                  <a:srgbClr val="6F6963"/>
                </a:solidFill>
                <a:latin typeface="Arial"/>
              </a:rPr>
              <a:t>price </a:t>
            </a:r>
            <a:r>
              <a:rPr sz="691" b="0">
                <a:solidFill>
                  <a:srgbClr val="6F6963"/>
                </a:solidFill>
                <a:latin typeface="Arial"/>
              </a:rPr>
              <a:t>2023 </a:t>
            </a:r>
            <a:r>
              <a:rPr sz="691" b="0">
                <a:solidFill>
                  <a:srgbClr val="6F6963"/>
                </a:solidFill>
                <a:latin typeface="Arial"/>
              </a:rPr>
              <a:t>– </a:t>
            </a:r>
            <a:r>
              <a:rPr sz="691" b="0">
                <a:solidFill>
                  <a:srgbClr val="6F6963"/>
                </a:solidFill>
                <a:latin typeface="Arial"/>
              </a:rPr>
              <a:t>14 </a:t>
            </a:r>
            <a:r>
              <a:rPr sz="691" b="0">
                <a:solidFill>
                  <a:srgbClr val="6F6963"/>
                </a:solidFill>
                <a:latin typeface="Arial"/>
              </a:rPr>
              <a:t>Aug </a:t>
            </a:r>
            <a:r>
              <a:rPr sz="691" b="0">
                <a:solidFill>
                  <a:srgbClr val="6F6963"/>
                </a:solidFill>
                <a:latin typeface="Arial"/>
              </a:rPr>
              <a:t>2026 </a:t>
            </a:r>
            <a:r>
              <a:rPr sz="691" b="0">
                <a:solidFill>
                  <a:srgbClr val="6F6963"/>
                </a:solidFill>
                <a:latin typeface="Arial"/>
              </a:rPr>
              <a:t>× </a:t>
            </a:r>
            <a:r>
              <a:rPr sz="691" b="0">
                <a:solidFill>
                  <a:srgbClr val="6F6963"/>
                </a:solidFill>
                <a:latin typeface="Arial"/>
              </a:rPr>
              <a:t>Rp </a:t>
            </a:r>
            <a:r>
              <a:rPr sz="691" b="0">
                <a:solidFill>
                  <a:srgbClr val="6F6963"/>
                </a:solidFill>
                <a:latin typeface="Arial"/>
              </a:rPr>
              <a:t>17.803/USD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import </a:t>
            </a:r>
            <a:r>
              <a:rPr sz="691" b="0">
                <a:solidFill>
                  <a:srgbClr val="6F6963"/>
                </a:solidFill>
                <a:latin typeface="Arial"/>
              </a:rPr>
              <a:t>duty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PPN </a:t>
            </a:r>
            <a:r>
              <a:rPr sz="691" b="0">
                <a:solidFill>
                  <a:srgbClr val="6F6963"/>
                </a:solidFill>
                <a:latin typeface="Arial"/>
              </a:rPr>
              <a:t>11%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PPh </a:t>
            </a:r>
            <a:r>
              <a:rPr sz="691" b="0">
                <a:solidFill>
                  <a:srgbClr val="6F6963"/>
                </a:solidFill>
                <a:latin typeface="Arial"/>
              </a:rPr>
              <a:t>22 </a:t>
            </a:r>
            <a:r>
              <a:rPr sz="691" b="0">
                <a:solidFill>
                  <a:srgbClr val="6F6963"/>
                </a:solidFill>
                <a:latin typeface="Arial"/>
              </a:rPr>
              <a:t>2.5%, </a:t>
            </a:r>
            <a:r>
              <a:rPr sz="691" b="0">
                <a:solidFill>
                  <a:srgbClr val="6F6963"/>
                </a:solidFill>
                <a:latin typeface="Arial"/>
              </a:rPr>
              <a:t>before </a:t>
            </a:r>
            <a:r>
              <a:rPr sz="691" b="0">
                <a:solidFill>
                  <a:srgbClr val="6F6963"/>
                </a:solidFill>
                <a:latin typeface="Arial"/>
              </a:rPr>
              <a:t>distributor </a:t>
            </a:r>
            <a:r>
              <a:rPr sz="691" b="0">
                <a:solidFill>
                  <a:srgbClr val="6F6963"/>
                </a:solidFill>
                <a:latin typeface="Arial"/>
              </a:rPr>
              <a:t>margin. </a:t>
            </a:r>
            <a:r>
              <a:rPr sz="691" b="0">
                <a:solidFill>
                  <a:srgbClr val="6F6963"/>
                </a:solidFill>
                <a:latin typeface="Arial"/>
              </a:rPr>
              <a:t>F.lli </a:t>
            </a:r>
            <a:r>
              <a:rPr sz="691" b="0">
                <a:solidFill>
                  <a:srgbClr val="6F6963"/>
                </a:solidFill>
                <a:latin typeface="Arial"/>
              </a:rPr>
              <a:t>Ferrari: </a:t>
            </a:r>
            <a:r>
              <a:rPr sz="691" b="0">
                <a:solidFill>
                  <a:srgbClr val="6F6963"/>
                </a:solidFill>
                <a:latin typeface="Arial"/>
              </a:rPr>
              <a:t>TSP </a:t>
            </a:r>
            <a:r>
              <a:rPr sz="691" b="0">
                <a:solidFill>
                  <a:srgbClr val="6F6963"/>
                </a:solidFill>
                <a:latin typeface="Arial"/>
              </a:rPr>
              <a:t>price </a:t>
            </a:r>
            <a:r>
              <a:rPr sz="691" b="0">
                <a:solidFill>
                  <a:srgbClr val="6F6963"/>
                </a:solidFill>
                <a:latin typeface="Arial"/>
              </a:rPr>
              <a:t>list </a:t>
            </a:r>
            <a:r>
              <a:rPr sz="691" b="0">
                <a:solidFill>
                  <a:srgbClr val="6F6963"/>
                </a:solidFill>
                <a:latin typeface="Arial"/>
              </a:rPr>
              <a:t>Rev1 </a:t>
            </a:r>
            <a:r>
              <a:rPr sz="691" b="0">
                <a:solidFill>
                  <a:srgbClr val="6F6963"/>
                </a:solidFill>
                <a:latin typeface="Arial"/>
              </a:rPr>
              <a:t>(Jun </a:t>
            </a:r>
            <a:r>
              <a:rPr sz="691" b="0">
                <a:solidFill>
                  <a:srgbClr val="6F6963"/>
                </a:solidFill>
                <a:latin typeface="Arial"/>
              </a:rPr>
              <a:t>2026) </a:t>
            </a:r>
            <a:r>
              <a:rPr sz="691" b="0">
                <a:solidFill>
                  <a:srgbClr val="6F6963"/>
                </a:solidFill>
                <a:latin typeface="Arial"/>
              </a:rPr>
              <a:t>less </a:t>
            </a:r>
            <a:r>
              <a:rPr sz="691" b="0">
                <a:solidFill>
                  <a:srgbClr val="6F6963"/>
                </a:solidFill>
                <a:latin typeface="Arial"/>
              </a:rPr>
              <a:t>13.6% </a:t>
            </a:r>
            <a:r>
              <a:rPr sz="691" b="0">
                <a:solidFill>
                  <a:srgbClr val="6F6963"/>
                </a:solidFill>
                <a:latin typeface="Arial"/>
              </a:rPr>
              <a:t>margin </a:t>
            </a:r>
            <a:r>
              <a:rPr sz="691" b="0">
                <a:solidFill>
                  <a:srgbClr val="6F6963"/>
                </a:solidFill>
                <a:latin typeface="Arial"/>
              </a:rPr>
              <a:t>and </a:t>
            </a:r>
            <a:r>
              <a:rPr sz="691" b="0">
                <a:solidFill>
                  <a:srgbClr val="6F6963"/>
                </a:solidFill>
                <a:latin typeface="Arial"/>
              </a:rPr>
              <a:t>3% </a:t>
            </a:r>
            <a:r>
              <a:rPr sz="691" b="0">
                <a:solidFill>
                  <a:srgbClr val="6F6963"/>
                </a:solidFill>
                <a:latin typeface="Arial"/>
              </a:rPr>
              <a:t>warranty. </a:t>
            </a:r>
            <a:r>
              <a:rPr sz="691" b="0">
                <a:solidFill>
                  <a:srgbClr val="6F6963"/>
                </a:solidFill>
                <a:latin typeface="Arial"/>
              </a:rPr>
              <a:t>Rounded </a:t>
            </a:r>
            <a:r>
              <a:rPr sz="691" b="0">
                <a:solidFill>
                  <a:srgbClr val="6F6963"/>
                </a:solidFill>
                <a:latin typeface="Arial"/>
              </a:rPr>
              <a:t>to </a:t>
            </a:r>
            <a:r>
              <a:rPr sz="691" b="0">
                <a:solidFill>
                  <a:srgbClr val="6F6963"/>
                </a:solidFill>
                <a:latin typeface="Arial"/>
              </a:rPr>
              <a:t>Rp </a:t>
            </a:r>
            <a:r>
              <a:rPr sz="691" b="0">
                <a:solidFill>
                  <a:srgbClr val="6F6963"/>
                </a:solidFill>
                <a:latin typeface="Arial"/>
              </a:rPr>
              <a:t>10 </a:t>
            </a:r>
            <a:r>
              <a:rPr sz="691" b="0">
                <a:solidFill>
                  <a:srgbClr val="6F6963"/>
                </a:solidFill>
                <a:latin typeface="Arial"/>
              </a:rPr>
              <a:t>Jt.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24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5146030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Price </a:t>
            </a:r>
            <a:r>
              <a:rPr sz="2182" b="0">
                <a:solidFill>
                  <a:srgbClr val="F0ECE8"/>
                </a:solidFill>
                <a:latin typeface="Arial"/>
              </a:rPr>
              <a:t>Comparison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Medium </a:t>
            </a:r>
            <a:r>
              <a:rPr sz="2182" b="0">
                <a:solidFill>
                  <a:srgbClr val="F0ECE8"/>
                </a:solidFill>
                <a:latin typeface="Arial"/>
              </a:rPr>
              <a:t>35 </a:t>
            </a:r>
            <a:r>
              <a:rPr sz="2182" b="0">
                <a:solidFill>
                  <a:srgbClr val="F0ECE8"/>
                </a:solidFill>
                <a:latin typeface="Arial"/>
              </a:rPr>
              <a:t>– </a:t>
            </a:r>
            <a:r>
              <a:rPr sz="2182" b="0">
                <a:solidFill>
                  <a:srgbClr val="F0ECE8"/>
                </a:solidFill>
                <a:latin typeface="Arial"/>
              </a:rPr>
              <a:t>45 </a:t>
            </a:r>
            <a:r>
              <a:rPr sz="2182" b="0">
                <a:solidFill>
                  <a:srgbClr val="F0ECE8"/>
                </a:solidFill>
                <a:latin typeface="Arial"/>
              </a:rPr>
              <a:t>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9994" y="1867281"/>
            <a:ext cx="81944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tm </a:t>
            </a:r>
            <a:r>
              <a:rPr sz="836" b="1">
                <a:solidFill>
                  <a:srgbClr val="F4F1EE"/>
                </a:solidFill>
                <a:latin typeface="Arial"/>
              </a:rP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2813" y="1867281"/>
            <a:ext cx="9350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F.lli </a:t>
            </a:r>
            <a:r>
              <a:rPr sz="836" b="1">
                <a:solidFill>
                  <a:srgbClr val="F4F1EE"/>
                </a:solidFill>
                <a:latin typeface="Arial"/>
              </a:rPr>
              <a:t>Ferrari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0090" y="1810131"/>
            <a:ext cx="1141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Sany </a:t>
            </a:r>
            <a:r>
              <a:rPr sz="836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476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88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6081" y="1810131"/>
            <a:ext cx="9715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Amco </a:t>
            </a:r>
            <a:r>
              <a:rPr sz="836" b="1">
                <a:solidFill>
                  <a:srgbClr val="F4F1EE"/>
                </a:solidFill>
                <a:latin typeface="Arial"/>
              </a:rPr>
              <a:t>Veba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1188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36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7762" y="1810131"/>
            <a:ext cx="70961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XCMG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1901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33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88376" y="1810131"/>
            <a:ext cx="84980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72613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29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667" y="2219706"/>
            <a:ext cx="9139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&gt;35–40 </a:t>
            </a:r>
            <a:r>
              <a:rPr sz="836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198" y="2372998"/>
            <a:ext cx="7950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66 </a:t>
            </a:r>
            <a:r>
              <a:rPr sz="836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537" y="2219706"/>
            <a:ext cx="70380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7441C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537" y="2372998"/>
            <a:ext cx="125774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37.7 </a:t>
            </a:r>
            <a:r>
              <a:rPr sz="836" b="0">
                <a:solidFill>
                  <a:srgbClr val="F4F1EE"/>
                </a:solidFill>
                <a:latin typeface="Arial"/>
              </a:rPr>
              <a:t>tm </a:t>
            </a:r>
            <a:r>
              <a:rPr sz="836" b="0">
                <a:solidFill>
                  <a:srgbClr val="F4F1EE"/>
                </a:solidFill>
                <a:latin typeface="Arial"/>
              </a:rPr>
              <a:t>· </a:t>
            </a:r>
            <a:r>
              <a:rPr sz="836" b="0">
                <a:solidFill>
                  <a:srgbClr val="F4F1EE"/>
                </a:solidFill>
                <a:latin typeface="Arial"/>
              </a:rPr>
              <a:t>estimate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537" y="2526291"/>
            <a:ext cx="9413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Rp </a:t>
            </a:r>
            <a:r>
              <a:rPr sz="836" b="0">
                <a:solidFill>
                  <a:srgbClr val="F4F1EE"/>
                </a:solidFill>
                <a:latin typeface="Arial"/>
              </a:rPr>
              <a:t>1.240 </a:t>
            </a:r>
            <a:r>
              <a:rPr sz="836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6250" y="2210943"/>
            <a:ext cx="11251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SPK36080 </a:t>
            </a:r>
            <a:r>
              <a:rPr sz="691" b="1">
                <a:solidFill>
                  <a:srgbClr val="FF8A8A"/>
                </a:solidFill>
                <a:latin typeface="Arial"/>
              </a:rPr>
              <a:t>+88%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86250" y="2337595"/>
            <a:ext cx="106263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36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37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6250" y="2464248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660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7675" y="2210943"/>
            <a:ext cx="116889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KSQZ400.4 </a:t>
            </a:r>
            <a:r>
              <a:rPr sz="691" b="1">
                <a:solidFill>
                  <a:srgbClr val="FF8A8A"/>
                </a:solidFill>
                <a:latin typeface="Arial"/>
              </a:rPr>
              <a:t>+66%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7675" y="2337595"/>
            <a:ext cx="10087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40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2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7675" y="2464248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750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8387" y="2219706"/>
            <a:ext cx="118199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PK </a:t>
            </a:r>
            <a:r>
              <a:rPr sz="836" b="1">
                <a:solidFill>
                  <a:srgbClr val="F4F1EE"/>
                </a:solidFill>
                <a:latin typeface="Arial"/>
              </a:rPr>
              <a:t>41002 </a:t>
            </a:r>
            <a:r>
              <a:rPr sz="836" b="1">
                <a:solidFill>
                  <a:srgbClr val="5BD17A"/>
                </a:solidFill>
                <a:latin typeface="Arial"/>
              </a:rPr>
              <a:t>−14%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8387" y="2372998"/>
            <a:ext cx="122738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38.4 </a:t>
            </a:r>
            <a:r>
              <a:rPr sz="836" b="0">
                <a:solidFill>
                  <a:srgbClr val="A9A29C"/>
                </a:solidFill>
                <a:latin typeface="Arial"/>
              </a:rPr>
              <a:t>tm </a:t>
            </a:r>
            <a:r>
              <a:rPr sz="836" b="0">
                <a:solidFill>
                  <a:srgbClr val="A9A29C"/>
                </a:solidFill>
                <a:latin typeface="Arial"/>
              </a:rPr>
              <a:t>· </a:t>
            </a:r>
            <a:r>
              <a:rPr sz="836" b="0">
                <a:solidFill>
                  <a:srgbClr val="A9A29C"/>
                </a:solidFill>
                <a:latin typeface="Arial"/>
              </a:rPr>
              <a:t>21 </a:t>
            </a:r>
            <a:r>
              <a:rPr sz="836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8387" y="2526291"/>
            <a:ext cx="9413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A9A29C"/>
                </a:solidFill>
                <a:latin typeface="Arial"/>
              </a:rPr>
              <a:t>Rp </a:t>
            </a:r>
            <a:r>
              <a:rPr sz="836" b="0">
                <a:solidFill>
                  <a:srgbClr val="A9A29C"/>
                </a:solidFill>
                <a:latin typeface="Arial"/>
              </a:rPr>
              <a:t>1.440 </a:t>
            </a:r>
            <a:r>
              <a:rPr sz="836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7675" y="2832746"/>
            <a:ext cx="11739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GSQZ400.4 </a:t>
            </a:r>
            <a:r>
              <a:rPr sz="691" b="1">
                <a:solidFill>
                  <a:srgbClr val="FF8A8A"/>
                </a:solidFill>
                <a:latin typeface="Arial"/>
              </a:rPr>
              <a:t>+76%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67675" y="2959399"/>
            <a:ext cx="10087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40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2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7675" y="3086052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700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7675" y="3374630"/>
            <a:ext cx="115371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SQZ365.4 </a:t>
            </a:r>
            <a:r>
              <a:rPr sz="691" b="1">
                <a:solidFill>
                  <a:srgbClr val="FF8A8A"/>
                </a:solidFill>
                <a:latin typeface="Arial"/>
              </a:rPr>
              <a:t>+107%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7675" y="3501282"/>
            <a:ext cx="10913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36.5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2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7675" y="3627935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600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7675" y="3916513"/>
            <a:ext cx="107111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SQZ400 </a:t>
            </a:r>
            <a:r>
              <a:rPr sz="691" b="1">
                <a:solidFill>
                  <a:srgbClr val="FF8A8A"/>
                </a:solidFill>
                <a:latin typeface="Arial"/>
              </a:rPr>
              <a:t>+109%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7675" y="4043166"/>
            <a:ext cx="9597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40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1 </a:t>
            </a:r>
            <a:r>
              <a:rPr sz="691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7675" y="4169818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600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7675" y="4458396"/>
            <a:ext cx="122277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KSQZ365.4 </a:t>
            </a:r>
            <a:r>
              <a:rPr sz="691" b="1">
                <a:solidFill>
                  <a:srgbClr val="FF8A8A"/>
                </a:solidFill>
                <a:latin typeface="Arial"/>
              </a:rPr>
              <a:t>+129%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7675" y="4585049"/>
            <a:ext cx="104254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36.5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1 </a:t>
            </a:r>
            <a:r>
              <a:rPr sz="691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67675" y="4711701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540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2667" y="5009042"/>
            <a:ext cx="91395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&gt;40–45 </a:t>
            </a:r>
            <a:r>
              <a:rPr sz="836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2198" y="5162335"/>
            <a:ext cx="7950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4DA3FF"/>
                </a:solidFill>
                <a:latin typeface="Arial"/>
              </a:rPr>
              <a:t>19 </a:t>
            </a:r>
            <a:r>
              <a:rPr sz="836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95537" y="5009042"/>
            <a:ext cx="7301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746 </a:t>
            </a:r>
            <a:r>
              <a:rPr sz="836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95537" y="5162335"/>
            <a:ext cx="74637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43.4 </a:t>
            </a:r>
            <a:r>
              <a:rPr sz="836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95537" y="5315628"/>
            <a:ext cx="94133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0">
                <a:solidFill>
                  <a:srgbClr val="F4F1EE"/>
                </a:solidFill>
                <a:latin typeface="Arial"/>
              </a:rPr>
              <a:t>Rp </a:t>
            </a:r>
            <a:r>
              <a:rPr sz="836" b="0">
                <a:solidFill>
                  <a:srgbClr val="F4F1EE"/>
                </a:solidFill>
                <a:latin typeface="Arial"/>
              </a:rPr>
              <a:t>1.420 </a:t>
            </a:r>
            <a:r>
              <a:rPr sz="836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86250" y="5000279"/>
            <a:ext cx="11251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SPK42502 </a:t>
            </a:r>
            <a:r>
              <a:rPr sz="691" b="1">
                <a:solidFill>
                  <a:srgbClr val="FF8A8A"/>
                </a:solidFill>
                <a:latin typeface="Arial"/>
              </a:rPr>
              <a:t>+48%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86250" y="5126932"/>
            <a:ext cx="114538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42.5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18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86250" y="5253585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960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6962" y="5000279"/>
            <a:ext cx="9532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V946B </a:t>
            </a:r>
            <a:r>
              <a:rPr sz="691" b="1">
                <a:solidFill>
                  <a:srgbClr val="FF8A8A"/>
                </a:solidFill>
                <a:latin typeface="Arial"/>
              </a:rPr>
              <a:t>+12%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6962" y="5126932"/>
            <a:ext cx="104254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44.2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1 </a:t>
            </a:r>
            <a:r>
              <a:rPr sz="691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6962" y="5253585"/>
            <a:ext cx="8835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1.270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9100" y="5707808"/>
            <a:ext cx="1022746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Competitor: </a:t>
            </a:r>
            <a:r>
              <a:rPr sz="691" b="0">
                <a:solidFill>
                  <a:srgbClr val="6F6963"/>
                </a:solidFill>
                <a:latin typeface="Arial"/>
              </a:rPr>
              <a:t>highest </a:t>
            </a:r>
            <a:r>
              <a:rPr sz="691" b="0">
                <a:solidFill>
                  <a:srgbClr val="6F6963"/>
                </a:solidFill>
                <a:latin typeface="Arial"/>
              </a:rPr>
              <a:t>import </a:t>
            </a:r>
            <a:r>
              <a:rPr sz="691" b="0">
                <a:solidFill>
                  <a:srgbClr val="6F6963"/>
                </a:solidFill>
                <a:latin typeface="Arial"/>
              </a:rPr>
              <a:t>unit </a:t>
            </a:r>
            <a:r>
              <a:rPr sz="691" b="0">
                <a:solidFill>
                  <a:srgbClr val="6F6963"/>
                </a:solidFill>
                <a:latin typeface="Arial"/>
              </a:rPr>
              <a:t>price </a:t>
            </a:r>
            <a:r>
              <a:rPr sz="691" b="0">
                <a:solidFill>
                  <a:srgbClr val="6F6963"/>
                </a:solidFill>
                <a:latin typeface="Arial"/>
              </a:rPr>
              <a:t>2023 </a:t>
            </a:r>
            <a:r>
              <a:rPr sz="691" b="0">
                <a:solidFill>
                  <a:srgbClr val="6F6963"/>
                </a:solidFill>
                <a:latin typeface="Arial"/>
              </a:rPr>
              <a:t>– </a:t>
            </a:r>
            <a:r>
              <a:rPr sz="691" b="0">
                <a:solidFill>
                  <a:srgbClr val="6F6963"/>
                </a:solidFill>
                <a:latin typeface="Arial"/>
              </a:rPr>
              <a:t>14 </a:t>
            </a:r>
            <a:r>
              <a:rPr sz="691" b="0">
                <a:solidFill>
                  <a:srgbClr val="6F6963"/>
                </a:solidFill>
                <a:latin typeface="Arial"/>
              </a:rPr>
              <a:t>Aug </a:t>
            </a:r>
            <a:r>
              <a:rPr sz="691" b="0">
                <a:solidFill>
                  <a:srgbClr val="6F6963"/>
                </a:solidFill>
                <a:latin typeface="Arial"/>
              </a:rPr>
              <a:t>2026 </a:t>
            </a:r>
            <a:r>
              <a:rPr sz="691" b="0">
                <a:solidFill>
                  <a:srgbClr val="6F6963"/>
                </a:solidFill>
                <a:latin typeface="Arial"/>
              </a:rPr>
              <a:t>× </a:t>
            </a:r>
            <a:r>
              <a:rPr sz="691" b="0">
                <a:solidFill>
                  <a:srgbClr val="6F6963"/>
                </a:solidFill>
                <a:latin typeface="Arial"/>
              </a:rPr>
              <a:t>Rp </a:t>
            </a:r>
            <a:r>
              <a:rPr sz="691" b="0">
                <a:solidFill>
                  <a:srgbClr val="6F6963"/>
                </a:solidFill>
                <a:latin typeface="Arial"/>
              </a:rPr>
              <a:t>17.803/USD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import </a:t>
            </a:r>
            <a:r>
              <a:rPr sz="691" b="0">
                <a:solidFill>
                  <a:srgbClr val="6F6963"/>
                </a:solidFill>
                <a:latin typeface="Arial"/>
              </a:rPr>
              <a:t>duty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PPN </a:t>
            </a:r>
            <a:r>
              <a:rPr sz="691" b="0">
                <a:solidFill>
                  <a:srgbClr val="6F6963"/>
                </a:solidFill>
                <a:latin typeface="Arial"/>
              </a:rPr>
              <a:t>11%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PPh </a:t>
            </a:r>
            <a:r>
              <a:rPr sz="691" b="0">
                <a:solidFill>
                  <a:srgbClr val="6F6963"/>
                </a:solidFill>
                <a:latin typeface="Arial"/>
              </a:rPr>
              <a:t>22 </a:t>
            </a:r>
            <a:r>
              <a:rPr sz="691" b="0">
                <a:solidFill>
                  <a:srgbClr val="6F6963"/>
                </a:solidFill>
                <a:latin typeface="Arial"/>
              </a:rPr>
              <a:t>2.5%, </a:t>
            </a:r>
            <a:r>
              <a:rPr sz="691" b="0">
                <a:solidFill>
                  <a:srgbClr val="6F6963"/>
                </a:solidFill>
                <a:latin typeface="Arial"/>
              </a:rPr>
              <a:t>before </a:t>
            </a:r>
            <a:r>
              <a:rPr sz="691" b="0">
                <a:solidFill>
                  <a:srgbClr val="6F6963"/>
                </a:solidFill>
                <a:latin typeface="Arial"/>
              </a:rPr>
              <a:t>distributor </a:t>
            </a:r>
            <a:r>
              <a:rPr sz="691" b="0">
                <a:solidFill>
                  <a:srgbClr val="6F6963"/>
                </a:solidFill>
                <a:latin typeface="Arial"/>
              </a:rPr>
              <a:t>margin. </a:t>
            </a:r>
            <a:r>
              <a:rPr sz="691" b="0">
                <a:solidFill>
                  <a:srgbClr val="6F6963"/>
                </a:solidFill>
                <a:latin typeface="Arial"/>
              </a:rPr>
              <a:t>F.lli </a:t>
            </a:r>
            <a:r>
              <a:rPr sz="691" b="0">
                <a:solidFill>
                  <a:srgbClr val="6F6963"/>
                </a:solidFill>
                <a:latin typeface="Arial"/>
              </a:rPr>
              <a:t>Ferrari: </a:t>
            </a:r>
            <a:r>
              <a:rPr sz="691" b="0">
                <a:solidFill>
                  <a:srgbClr val="6F6963"/>
                </a:solidFill>
                <a:latin typeface="Arial"/>
              </a:rPr>
              <a:t>TSP </a:t>
            </a:r>
            <a:r>
              <a:rPr sz="691" b="0">
                <a:solidFill>
                  <a:srgbClr val="6F6963"/>
                </a:solidFill>
                <a:latin typeface="Arial"/>
              </a:rPr>
              <a:t>price </a:t>
            </a:r>
            <a:r>
              <a:rPr sz="691" b="0">
                <a:solidFill>
                  <a:srgbClr val="6F6963"/>
                </a:solidFill>
                <a:latin typeface="Arial"/>
              </a:rPr>
              <a:t>list </a:t>
            </a:r>
            <a:r>
              <a:rPr sz="691" b="0">
                <a:solidFill>
                  <a:srgbClr val="6F6963"/>
                </a:solidFill>
                <a:latin typeface="Arial"/>
              </a:rPr>
              <a:t>Rev1 </a:t>
            </a:r>
            <a:r>
              <a:rPr sz="691" b="0">
                <a:solidFill>
                  <a:srgbClr val="6F6963"/>
                </a:solidFill>
                <a:latin typeface="Arial"/>
              </a:rPr>
              <a:t>(Jun </a:t>
            </a:r>
            <a:r>
              <a:rPr sz="691" b="0">
                <a:solidFill>
                  <a:srgbClr val="6F6963"/>
                </a:solidFill>
                <a:latin typeface="Arial"/>
              </a:rPr>
              <a:t>2026) </a:t>
            </a:r>
            <a:r>
              <a:rPr sz="691" b="0">
                <a:solidFill>
                  <a:srgbClr val="6F6963"/>
                </a:solidFill>
                <a:latin typeface="Arial"/>
              </a:rPr>
              <a:t>less </a:t>
            </a:r>
            <a:r>
              <a:rPr sz="691" b="0">
                <a:solidFill>
                  <a:srgbClr val="6F6963"/>
                </a:solidFill>
                <a:latin typeface="Arial"/>
              </a:rPr>
              <a:t>13.6% </a:t>
            </a:r>
            <a:r>
              <a:rPr sz="691" b="0">
                <a:solidFill>
                  <a:srgbClr val="6F6963"/>
                </a:solidFill>
                <a:latin typeface="Arial"/>
              </a:rPr>
              <a:t>margin </a:t>
            </a:r>
            <a:r>
              <a:rPr sz="691" b="0">
                <a:solidFill>
                  <a:srgbClr val="6F6963"/>
                </a:solidFill>
                <a:latin typeface="Arial"/>
              </a:rPr>
              <a:t>and </a:t>
            </a:r>
            <a:r>
              <a:rPr sz="691" b="0">
                <a:solidFill>
                  <a:srgbClr val="6F6963"/>
                </a:solidFill>
                <a:latin typeface="Arial"/>
              </a:rPr>
              <a:t>3% </a:t>
            </a:r>
            <a:r>
              <a:rPr sz="691" b="0">
                <a:solidFill>
                  <a:srgbClr val="6F6963"/>
                </a:solidFill>
                <a:latin typeface="Arial"/>
              </a:rPr>
              <a:t>warranty. </a:t>
            </a:r>
            <a:r>
              <a:rPr sz="691" b="0">
                <a:solidFill>
                  <a:srgbClr val="6F6963"/>
                </a:solidFill>
                <a:latin typeface="Arial"/>
              </a:rPr>
              <a:t>Rounded </a:t>
            </a:r>
            <a:r>
              <a:rPr sz="691" b="0">
                <a:solidFill>
                  <a:srgbClr val="6F6963"/>
                </a:solidFill>
                <a:latin typeface="Arial"/>
              </a:rPr>
              <a:t>to </a:t>
            </a:r>
            <a:r>
              <a:rPr sz="691" b="0">
                <a:solidFill>
                  <a:srgbClr val="6F6963"/>
                </a:solidFill>
                <a:latin typeface="Arial"/>
              </a:rPr>
              <a:t>Rp </a:t>
            </a:r>
            <a:r>
              <a:rPr sz="691" b="0">
                <a:solidFill>
                  <a:srgbClr val="6F6963"/>
                </a:solidFill>
                <a:latin typeface="Arial"/>
              </a:rPr>
              <a:t>10 </a:t>
            </a:r>
            <a:r>
              <a:rPr sz="691" b="0">
                <a:solidFill>
                  <a:srgbClr val="6F6963"/>
                </a:solidFill>
                <a:latin typeface="Arial"/>
              </a:rPr>
              <a:t>Jt.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25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4945409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Price </a:t>
            </a:r>
            <a:r>
              <a:rPr sz="2182" b="0">
                <a:solidFill>
                  <a:srgbClr val="F0ECE8"/>
                </a:solidFill>
                <a:latin typeface="Arial"/>
              </a:rPr>
              <a:t>Comparison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Heavy </a:t>
            </a:r>
            <a:r>
              <a:rPr sz="2182" b="0">
                <a:solidFill>
                  <a:srgbClr val="F0ECE8"/>
                </a:solidFill>
                <a:latin typeface="Arial"/>
              </a:rPr>
              <a:t>45 </a:t>
            </a:r>
            <a:r>
              <a:rPr sz="2182" b="0">
                <a:solidFill>
                  <a:srgbClr val="F0ECE8"/>
                </a:solidFill>
                <a:latin typeface="Arial"/>
              </a:rPr>
              <a:t>– </a:t>
            </a:r>
            <a:r>
              <a:rPr sz="2182" b="0">
                <a:solidFill>
                  <a:srgbClr val="F0ECE8"/>
                </a:solidFill>
                <a:latin typeface="Arial"/>
              </a:rPr>
              <a:t>90 </a:t>
            </a:r>
            <a:r>
              <a:rPr sz="2182" b="0">
                <a:solidFill>
                  <a:srgbClr val="F0ECE8"/>
                </a:solidFill>
                <a:latin typeface="Arial"/>
              </a:rPr>
              <a:t>tm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3655" y="1867281"/>
            <a:ext cx="81944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tm </a:t>
            </a:r>
            <a:r>
              <a:rPr sz="836" b="1">
                <a:solidFill>
                  <a:srgbClr val="F4F1EE"/>
                </a:solidFill>
                <a:latin typeface="Arial"/>
              </a:rPr>
              <a:t>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3796" y="1867281"/>
            <a:ext cx="9350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F.lli </a:t>
            </a:r>
            <a:r>
              <a:rPr sz="836" b="1">
                <a:solidFill>
                  <a:srgbClr val="F4F1EE"/>
                </a:solidFill>
                <a:latin typeface="Arial"/>
              </a:rPr>
              <a:t>Ferrari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4544" y="1810131"/>
            <a:ext cx="84980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8780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42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1707" y="1810131"/>
            <a:ext cx="97155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Amco </a:t>
            </a:r>
            <a:r>
              <a:rPr sz="836" b="1">
                <a:solidFill>
                  <a:srgbClr val="F4F1EE"/>
                </a:solidFill>
                <a:latin typeface="Arial"/>
              </a:rPr>
              <a:t>Veba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6815" y="1935480"/>
            <a:ext cx="681335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12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0710" y="1810131"/>
            <a:ext cx="70961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XCMG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8662" y="1935480"/>
            <a:ext cx="633710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7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4286" y="1810131"/>
            <a:ext cx="61838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Hiab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696" y="1935480"/>
            <a:ext cx="633710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2 </a:t>
            </a:r>
            <a:r>
              <a:rPr sz="654" b="0">
                <a:solidFill>
                  <a:srgbClr val="6F6963"/>
                </a:solidFill>
                <a:latin typeface="Arial"/>
              </a:rPr>
              <a:t>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889" y="1810131"/>
            <a:ext cx="66124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Fassi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6162" y="1935480"/>
            <a:ext cx="590847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1 </a:t>
            </a:r>
            <a:r>
              <a:rPr sz="654" b="0">
                <a:solidFill>
                  <a:srgbClr val="6F6963"/>
                </a:solidFill>
                <a:latin typeface="Arial"/>
              </a:rPr>
              <a:t>unit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78566" y="1810131"/>
            <a:ext cx="1141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36" b="1">
                <a:solidFill>
                  <a:srgbClr val="F4F1EE"/>
                </a:solidFill>
                <a:latin typeface="Arial"/>
              </a:rPr>
              <a:t>Sany </a:t>
            </a:r>
            <a:r>
              <a:rPr sz="836" b="1">
                <a:solidFill>
                  <a:srgbClr val="F4F1EE"/>
                </a:solidFill>
                <a:latin typeface="Arial"/>
              </a:rPr>
              <a:t>Palfinger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196" y="1935480"/>
            <a:ext cx="590847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1 </a:t>
            </a:r>
            <a:r>
              <a:rPr sz="654" b="0">
                <a:solidFill>
                  <a:srgbClr val="6F6963"/>
                </a:solidFill>
                <a:latin typeface="Arial"/>
              </a:rPr>
              <a:t>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699" y="2172081"/>
            <a:ext cx="8813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&gt;45–50 </a:t>
            </a:r>
            <a:r>
              <a:rPr sz="785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510" y="2305728"/>
            <a:ext cx="7697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17 </a:t>
            </a:r>
            <a:r>
              <a:rPr sz="785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3334" y="2172081"/>
            <a:ext cx="99446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FBR450R </a:t>
            </a:r>
            <a:r>
              <a:rPr sz="785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13334" y="2305728"/>
            <a:ext cx="7240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45.5 </a:t>
            </a:r>
            <a:r>
              <a:rPr sz="785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13334" y="2439376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Rp </a:t>
            </a:r>
            <a:r>
              <a:rPr sz="785" b="0">
                <a:solidFill>
                  <a:srgbClr val="F4F1EE"/>
                </a:solidFill>
                <a:latin typeface="Arial"/>
              </a:rPr>
              <a:t>1.350 </a:t>
            </a:r>
            <a:r>
              <a:rPr sz="785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9403" y="2172081"/>
            <a:ext cx="9157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V950 </a:t>
            </a:r>
            <a:r>
              <a:rPr sz="785" b="1">
                <a:solidFill>
                  <a:srgbClr val="5BD17A"/>
                </a:solidFill>
                <a:latin typeface="Arial"/>
              </a:rPr>
              <a:t>−32%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9403" y="2305728"/>
            <a:ext cx="117559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45.9 </a:t>
            </a:r>
            <a:r>
              <a:rPr sz="785" b="0">
                <a:solidFill>
                  <a:srgbClr val="A9A29C"/>
                </a:solidFill>
                <a:latin typeface="Arial"/>
              </a:rPr>
              <a:t>tm </a:t>
            </a:r>
            <a:r>
              <a:rPr sz="785" b="0">
                <a:solidFill>
                  <a:srgbClr val="A9A29C"/>
                </a:solidFill>
                <a:latin typeface="Arial"/>
              </a:rPr>
              <a:t>· </a:t>
            </a:r>
            <a:r>
              <a:rPr sz="785" b="0">
                <a:solidFill>
                  <a:srgbClr val="A9A29C"/>
                </a:solidFill>
                <a:latin typeface="Arial"/>
              </a:rPr>
              <a:t>12 </a:t>
            </a:r>
            <a:r>
              <a:rPr sz="785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49403" y="2439376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Rp </a:t>
            </a:r>
            <a:r>
              <a:rPr sz="785" b="0">
                <a:solidFill>
                  <a:srgbClr val="A9A29C"/>
                </a:solidFill>
                <a:latin typeface="Arial"/>
              </a:rPr>
              <a:t>1.990 </a:t>
            </a:r>
            <a:r>
              <a:rPr sz="785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7437" y="2163318"/>
            <a:ext cx="11739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GSQZ460.4 </a:t>
            </a:r>
            <a:r>
              <a:rPr sz="691" b="1">
                <a:solidFill>
                  <a:srgbClr val="FF8A8A"/>
                </a:solidFill>
                <a:latin typeface="Arial"/>
              </a:rPr>
              <a:t>+66%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7437" y="2280892"/>
            <a:ext cx="10087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46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3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67437" y="2398466"/>
            <a:ext cx="8009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810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5471" y="2172081"/>
            <a:ext cx="1287065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EFFER </a:t>
            </a:r>
            <a:r>
              <a:rPr sz="785" b="1">
                <a:solidFill>
                  <a:srgbClr val="F4F1EE"/>
                </a:solidFill>
                <a:latin typeface="Arial"/>
              </a:rPr>
              <a:t>525H </a:t>
            </a:r>
            <a:r>
              <a:rPr sz="785" b="1">
                <a:solidFill>
                  <a:srgbClr val="5BD17A"/>
                </a:solidFill>
                <a:latin typeface="Arial"/>
              </a:rPr>
              <a:t>−10%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5471" y="2305728"/>
            <a:ext cx="140404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50 </a:t>
            </a:r>
            <a:r>
              <a:rPr sz="785" b="0">
                <a:solidFill>
                  <a:srgbClr val="A9A29C"/>
                </a:solidFill>
                <a:latin typeface="Arial"/>
              </a:rPr>
              <a:t>tm </a:t>
            </a:r>
            <a:r>
              <a:rPr sz="785" b="0">
                <a:solidFill>
                  <a:srgbClr val="A9A29C"/>
                </a:solidFill>
                <a:latin typeface="Arial"/>
              </a:rPr>
              <a:t>· </a:t>
            </a:r>
            <a:r>
              <a:rPr sz="785" b="0">
                <a:solidFill>
                  <a:srgbClr val="A9A29C"/>
                </a:solidFill>
                <a:latin typeface="Arial"/>
              </a:rPr>
              <a:t>1 </a:t>
            </a:r>
            <a:r>
              <a:rPr sz="785" b="0">
                <a:solidFill>
                  <a:srgbClr val="A9A29C"/>
                </a:solidFill>
                <a:latin typeface="Arial"/>
              </a:rPr>
              <a:t>unit </a:t>
            </a:r>
            <a:r>
              <a:rPr sz="785" b="0">
                <a:solidFill>
                  <a:srgbClr val="A9A29C"/>
                </a:solidFill>
                <a:latin typeface="Arial"/>
              </a:rPr>
              <a:t>· </a:t>
            </a:r>
            <a:r>
              <a:rPr sz="785" b="0">
                <a:solidFill>
                  <a:srgbClr val="A9A29C"/>
                </a:solidFill>
                <a:latin typeface="Arial"/>
              </a:rPr>
              <a:t>smaller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5471" y="2439376"/>
            <a:ext cx="63832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crane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5471" y="2573023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Rp </a:t>
            </a:r>
            <a:r>
              <a:rPr sz="785" b="0">
                <a:solidFill>
                  <a:srgbClr val="A9A29C"/>
                </a:solidFill>
                <a:latin typeface="Arial"/>
              </a:rPr>
              <a:t>1.510 </a:t>
            </a:r>
            <a:r>
              <a:rPr sz="785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3506" y="2172081"/>
            <a:ext cx="128721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F485RA.2.23 </a:t>
            </a:r>
            <a:r>
              <a:rPr sz="785" b="1">
                <a:solidFill>
                  <a:srgbClr val="5BD17A"/>
                </a:solidFill>
                <a:latin typeface="Arial"/>
              </a:rPr>
              <a:t>−16%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3506" y="2305728"/>
            <a:ext cx="98122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47 </a:t>
            </a:r>
            <a:r>
              <a:rPr sz="785" b="0">
                <a:solidFill>
                  <a:srgbClr val="A9A29C"/>
                </a:solidFill>
                <a:latin typeface="Arial"/>
              </a:rPr>
              <a:t>tm </a:t>
            </a:r>
            <a:r>
              <a:rPr sz="785" b="0">
                <a:solidFill>
                  <a:srgbClr val="A9A29C"/>
                </a:solidFill>
                <a:latin typeface="Arial"/>
              </a:rPr>
              <a:t>· </a:t>
            </a:r>
            <a:r>
              <a:rPr sz="785" b="0">
                <a:solidFill>
                  <a:srgbClr val="A9A29C"/>
                </a:solidFill>
                <a:latin typeface="Arial"/>
              </a:rPr>
              <a:t>1 </a:t>
            </a:r>
            <a:r>
              <a:rPr sz="785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3506" y="2439376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Rp </a:t>
            </a:r>
            <a:r>
              <a:rPr sz="785" b="0">
                <a:solidFill>
                  <a:srgbClr val="A9A29C"/>
                </a:solidFill>
                <a:latin typeface="Arial"/>
              </a:rPr>
              <a:t>1.610 </a:t>
            </a:r>
            <a:r>
              <a:rPr sz="785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699" y="2792396"/>
            <a:ext cx="8813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&gt;50–55 </a:t>
            </a:r>
            <a:r>
              <a:rPr sz="785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510" y="2926044"/>
            <a:ext cx="76973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40 </a:t>
            </a:r>
            <a:r>
              <a:rPr sz="785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3334" y="2792396"/>
            <a:ext cx="9145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9601CR </a:t>
            </a:r>
            <a:r>
              <a:rPr sz="785" b="1">
                <a:solidFill>
                  <a:srgbClr val="F4F1EE"/>
                </a:solidFill>
                <a:latin typeface="Arial"/>
              </a:rPr>
              <a:t>A8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13334" y="2926044"/>
            <a:ext cx="7240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50.7 </a:t>
            </a:r>
            <a:r>
              <a:rPr sz="785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13334" y="3059691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Rp </a:t>
            </a:r>
            <a:r>
              <a:rPr sz="785" b="0">
                <a:solidFill>
                  <a:srgbClr val="F4F1EE"/>
                </a:solidFill>
                <a:latin typeface="Arial"/>
              </a:rPr>
              <a:t>3.260 </a:t>
            </a:r>
            <a:r>
              <a:rPr sz="785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1368" y="2783633"/>
            <a:ext cx="108986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PK </a:t>
            </a:r>
            <a:r>
              <a:rPr sz="691" b="1">
                <a:solidFill>
                  <a:srgbClr val="F4F1EE"/>
                </a:solidFill>
                <a:latin typeface="Arial"/>
              </a:rPr>
              <a:t>53002 </a:t>
            </a:r>
            <a:r>
              <a:rPr sz="691" b="1">
                <a:solidFill>
                  <a:srgbClr val="FF8A8A"/>
                </a:solidFill>
                <a:latin typeface="Arial"/>
              </a:rPr>
              <a:t>+85%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1368" y="2901207"/>
            <a:ext cx="114538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50.1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39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1368" y="3018782"/>
            <a:ext cx="8835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1.760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5471" y="2792396"/>
            <a:ext cx="1264146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X-HIPRO </a:t>
            </a:r>
            <a:r>
              <a:rPr sz="785" b="1">
                <a:solidFill>
                  <a:srgbClr val="F4F1EE"/>
                </a:solidFill>
                <a:latin typeface="Arial"/>
              </a:rPr>
              <a:t>B58 </a:t>
            </a:r>
            <a:r>
              <a:rPr sz="785" b="1">
                <a:solidFill>
                  <a:srgbClr val="5BD17A"/>
                </a:solidFill>
                <a:latin typeface="Arial"/>
              </a:rPr>
              <a:t>−3%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5471" y="2926044"/>
            <a:ext cx="112424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50.93 </a:t>
            </a:r>
            <a:r>
              <a:rPr sz="785" b="0">
                <a:solidFill>
                  <a:srgbClr val="A9A29C"/>
                </a:solidFill>
                <a:latin typeface="Arial"/>
              </a:rPr>
              <a:t>tm </a:t>
            </a:r>
            <a:r>
              <a:rPr sz="785" b="0">
                <a:solidFill>
                  <a:srgbClr val="A9A29C"/>
                </a:solidFill>
                <a:latin typeface="Arial"/>
              </a:rPr>
              <a:t>· </a:t>
            </a:r>
            <a:r>
              <a:rPr sz="785" b="0">
                <a:solidFill>
                  <a:srgbClr val="A9A29C"/>
                </a:solidFill>
                <a:latin typeface="Arial"/>
              </a:rPr>
              <a:t>1 </a:t>
            </a:r>
            <a:r>
              <a:rPr sz="785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5471" y="3059691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Rp </a:t>
            </a:r>
            <a:r>
              <a:rPr sz="785" b="0">
                <a:solidFill>
                  <a:srgbClr val="A9A29C"/>
                </a:solidFill>
                <a:latin typeface="Arial"/>
              </a:rPr>
              <a:t>3.370 </a:t>
            </a:r>
            <a:r>
              <a:rPr sz="785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699" y="3279064"/>
            <a:ext cx="8813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&gt;55–60 </a:t>
            </a:r>
            <a:r>
              <a:rPr sz="785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085" y="3412712"/>
            <a:ext cx="71244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0 </a:t>
            </a:r>
            <a:r>
              <a:rPr sz="785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13334" y="3279064"/>
            <a:ext cx="994469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FBR660R </a:t>
            </a:r>
            <a:r>
              <a:rPr sz="785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13334" y="3412712"/>
            <a:ext cx="7240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58.8 </a:t>
            </a:r>
            <a:r>
              <a:rPr sz="785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13334" y="3546359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Rp </a:t>
            </a:r>
            <a:r>
              <a:rPr sz="785" b="0">
                <a:solidFill>
                  <a:srgbClr val="F4F1EE"/>
                </a:solidFill>
                <a:latin typeface="Arial"/>
              </a:rPr>
              <a:t>2.030 </a:t>
            </a:r>
            <a:r>
              <a:rPr sz="785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699" y="3765732"/>
            <a:ext cx="8813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&gt;60–65 </a:t>
            </a:r>
            <a:r>
              <a:rPr sz="785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5660" y="3899380"/>
            <a:ext cx="65529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1 </a:t>
            </a:r>
            <a:r>
              <a:rPr sz="785" b="1">
                <a:solidFill>
                  <a:srgbClr val="4DA3FF"/>
                </a:solidFill>
                <a:latin typeface="Arial"/>
              </a:rPr>
              <a:t>unit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13334" y="3765732"/>
            <a:ext cx="68416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9661C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13334" y="3899380"/>
            <a:ext cx="7240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63.2 </a:t>
            </a:r>
            <a:r>
              <a:rPr sz="785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13334" y="4033027"/>
            <a:ext cx="1278582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Price </a:t>
            </a:r>
            <a:r>
              <a:rPr sz="785" b="0">
                <a:solidFill>
                  <a:srgbClr val="F4F1EE"/>
                </a:solidFill>
                <a:latin typeface="Arial"/>
              </a:rPr>
              <a:t>not </a:t>
            </a:r>
            <a:r>
              <a:rPr sz="785" b="0">
                <a:solidFill>
                  <a:srgbClr val="F4F1EE"/>
                </a:solidFill>
                <a:latin typeface="Arial"/>
              </a:rPr>
              <a:t>yet </a:t>
            </a:r>
            <a:r>
              <a:rPr sz="785" b="0">
                <a:solidFill>
                  <a:srgbClr val="F4F1EE"/>
                </a:solidFill>
                <a:latin typeface="Arial"/>
              </a:rPr>
              <a:t>known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1540" y="3765732"/>
            <a:ext cx="130715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SPK61502 </a:t>
            </a:r>
            <a:r>
              <a:rPr sz="785" b="1">
                <a:solidFill>
                  <a:srgbClr val="DDDDDD"/>
                </a:solidFill>
                <a:latin typeface="Arial"/>
              </a:rPr>
              <a:t>no </a:t>
            </a:r>
            <a:r>
              <a:rPr sz="785" b="1">
                <a:solidFill>
                  <a:srgbClr val="DDDDDD"/>
                </a:solidFill>
                <a:latin typeface="Arial"/>
              </a:rPr>
              <a:t>price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1540" y="3899380"/>
            <a:ext cx="10669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61.5 </a:t>
            </a:r>
            <a:r>
              <a:rPr sz="785" b="0">
                <a:solidFill>
                  <a:srgbClr val="A9A29C"/>
                </a:solidFill>
                <a:latin typeface="Arial"/>
              </a:rPr>
              <a:t>tm </a:t>
            </a:r>
            <a:r>
              <a:rPr sz="785" b="0">
                <a:solidFill>
                  <a:srgbClr val="A9A29C"/>
                </a:solidFill>
                <a:latin typeface="Arial"/>
              </a:rPr>
              <a:t>· </a:t>
            </a:r>
            <a:r>
              <a:rPr sz="785" b="0">
                <a:solidFill>
                  <a:srgbClr val="A9A29C"/>
                </a:solidFill>
                <a:latin typeface="Arial"/>
              </a:rPr>
              <a:t>1 </a:t>
            </a:r>
            <a:r>
              <a:rPr sz="785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1540" y="4033027"/>
            <a:ext cx="90695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A9A29C"/>
                </a:solidFill>
                <a:latin typeface="Arial"/>
              </a:rPr>
              <a:t>Rp </a:t>
            </a:r>
            <a:r>
              <a:rPr sz="785" b="0">
                <a:solidFill>
                  <a:srgbClr val="A9A29C"/>
                </a:solidFill>
                <a:latin typeface="Arial"/>
              </a:rPr>
              <a:t>1.400 </a:t>
            </a:r>
            <a:r>
              <a:rPr sz="785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699" y="4252400"/>
            <a:ext cx="8813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&gt;70–75 </a:t>
            </a:r>
            <a:r>
              <a:rPr sz="785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7085" y="4386048"/>
            <a:ext cx="71244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2 </a:t>
            </a:r>
            <a:r>
              <a:rPr sz="785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13334" y="4252400"/>
            <a:ext cx="626864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F4F1EE"/>
                </a:solidFill>
                <a:latin typeface="Arial"/>
              </a:rPr>
              <a:t>990R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13334" y="4386048"/>
            <a:ext cx="63832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74 </a:t>
            </a:r>
            <a:r>
              <a:rPr sz="785" b="0">
                <a:solidFill>
                  <a:srgbClr val="F4F1EE"/>
                </a:solidFill>
                <a:latin typeface="Arial"/>
              </a:rPr>
              <a:t>tm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13334" y="4519695"/>
            <a:ext cx="89936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Rp </a:t>
            </a:r>
            <a:r>
              <a:rPr sz="785" b="0">
                <a:solidFill>
                  <a:srgbClr val="F4F1EE"/>
                </a:solidFill>
                <a:latin typeface="Arial"/>
              </a:rPr>
              <a:t>4.110 </a:t>
            </a:r>
            <a:r>
              <a:rPr sz="785" b="0">
                <a:solidFill>
                  <a:srgbClr val="F4F1EE"/>
                </a:solidFill>
                <a:latin typeface="Arial"/>
              </a:rPr>
              <a:t>Jt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31368" y="4243637"/>
            <a:ext cx="134927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PK </a:t>
            </a:r>
            <a:r>
              <a:rPr sz="691" b="1">
                <a:solidFill>
                  <a:srgbClr val="F4F1EE"/>
                </a:solidFill>
                <a:latin typeface="Arial"/>
              </a:rPr>
              <a:t>76002 </a:t>
            </a:r>
            <a:r>
              <a:rPr sz="691" b="1">
                <a:solidFill>
                  <a:srgbClr val="F4F1EE"/>
                </a:solidFill>
                <a:latin typeface="Arial"/>
              </a:rPr>
              <a:t>EH </a:t>
            </a:r>
            <a:r>
              <a:rPr sz="691" b="1">
                <a:solidFill>
                  <a:srgbClr val="F4F1EE"/>
                </a:solidFill>
                <a:latin typeface="Arial"/>
              </a:rPr>
              <a:t>D </a:t>
            </a:r>
            <a:r>
              <a:rPr sz="691" b="1">
                <a:solidFill>
                  <a:srgbClr val="FF8A8A"/>
                </a:solidFill>
                <a:latin typeface="Arial"/>
              </a:rPr>
              <a:t>+80%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31368" y="4361211"/>
            <a:ext cx="109135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71.6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2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31368" y="4478785"/>
            <a:ext cx="8835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2.290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2699" y="4739068"/>
            <a:ext cx="8813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&gt;80–85 </a:t>
            </a:r>
            <a:r>
              <a:rPr sz="785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5660" y="4872716"/>
            <a:ext cx="65529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1 </a:t>
            </a:r>
            <a:r>
              <a:rPr sz="785" b="1">
                <a:solidFill>
                  <a:srgbClr val="4DA3FF"/>
                </a:solidFill>
                <a:latin typeface="Arial"/>
              </a:rPr>
              <a:t>unit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913334" y="4739068"/>
            <a:ext cx="132963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No </a:t>
            </a:r>
            <a:r>
              <a:rPr sz="785" b="0">
                <a:solidFill>
                  <a:srgbClr val="F4F1EE"/>
                </a:solidFill>
                <a:latin typeface="Arial"/>
              </a:rPr>
              <a:t>F.lli </a:t>
            </a:r>
            <a:r>
              <a:rPr sz="785" b="0">
                <a:solidFill>
                  <a:srgbClr val="F4F1EE"/>
                </a:solidFill>
                <a:latin typeface="Arial"/>
              </a:rPr>
              <a:t>Ferrari </a:t>
            </a:r>
            <a:r>
              <a:rPr sz="785" b="0">
                <a:solidFill>
                  <a:srgbClr val="F4F1EE"/>
                </a:solidFill>
                <a:latin typeface="Arial"/>
              </a:rPr>
              <a:t>model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31368" y="4730305"/>
            <a:ext cx="1349275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PK </a:t>
            </a:r>
            <a:r>
              <a:rPr sz="691" b="1">
                <a:solidFill>
                  <a:srgbClr val="F4F1EE"/>
                </a:solidFill>
                <a:latin typeface="Arial"/>
              </a:rPr>
              <a:t>88002 </a:t>
            </a:r>
            <a:r>
              <a:rPr sz="691" b="1">
                <a:solidFill>
                  <a:srgbClr val="F4F1EE"/>
                </a:solidFill>
                <a:latin typeface="Arial"/>
              </a:rPr>
              <a:t>EH </a:t>
            </a:r>
            <a:r>
              <a:rPr sz="691" b="1">
                <a:solidFill>
                  <a:srgbClr val="F4F1EE"/>
                </a:solidFill>
                <a:latin typeface="Arial"/>
              </a:rPr>
              <a:t>C </a:t>
            </a:r>
            <a:r>
              <a:rPr sz="691" b="1">
                <a:solidFill>
                  <a:srgbClr val="FF8A8A"/>
                </a:solidFill>
                <a:latin typeface="Arial"/>
              </a:rPr>
              <a:t>+85%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31368" y="4847879"/>
            <a:ext cx="1042541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81.6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1 </a:t>
            </a:r>
            <a:r>
              <a:rPr sz="691" b="0">
                <a:solidFill>
                  <a:srgbClr val="A9A29C"/>
                </a:solidFill>
                <a:latin typeface="Arial"/>
              </a:rPr>
              <a:t>unit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31368" y="4965453"/>
            <a:ext cx="8835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2.220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2699" y="5177516"/>
            <a:ext cx="88136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&gt;85–90 </a:t>
            </a:r>
            <a:r>
              <a:rPr sz="785" b="1">
                <a:solidFill>
                  <a:srgbClr val="4DA3FF"/>
                </a:solidFill>
                <a:latin typeface="Arial"/>
              </a:rPr>
              <a:t>tm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7085" y="5311163"/>
            <a:ext cx="71244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1">
                <a:solidFill>
                  <a:srgbClr val="4DA3FF"/>
                </a:solidFill>
                <a:latin typeface="Arial"/>
              </a:rPr>
              <a:t>4 </a:t>
            </a:r>
            <a:r>
              <a:rPr sz="785" b="1">
                <a:solidFill>
                  <a:srgbClr val="4DA3FF"/>
                </a:solidFill>
                <a:latin typeface="Arial"/>
              </a:rPr>
              <a:t>units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913334" y="5177516"/>
            <a:ext cx="1329630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85" b="0">
                <a:solidFill>
                  <a:srgbClr val="F4F1EE"/>
                </a:solidFill>
                <a:latin typeface="Arial"/>
              </a:rPr>
              <a:t>No </a:t>
            </a:r>
            <a:r>
              <a:rPr sz="785" b="0">
                <a:solidFill>
                  <a:srgbClr val="F4F1EE"/>
                </a:solidFill>
                <a:latin typeface="Arial"/>
              </a:rPr>
              <a:t>F.lli </a:t>
            </a:r>
            <a:r>
              <a:rPr sz="785" b="0">
                <a:solidFill>
                  <a:srgbClr val="F4F1EE"/>
                </a:solidFill>
                <a:latin typeface="Arial"/>
              </a:rPr>
              <a:t>Ferrari </a:t>
            </a:r>
            <a:r>
              <a:rPr sz="785" b="0">
                <a:solidFill>
                  <a:srgbClr val="F4F1EE"/>
                </a:solidFill>
                <a:latin typeface="Arial"/>
              </a:rPr>
              <a:t>model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437" y="5168753"/>
            <a:ext cx="1553616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F4F1EE"/>
                </a:solidFill>
                <a:latin typeface="Arial"/>
              </a:rPr>
              <a:t>GSQZ880.6 </a:t>
            </a:r>
            <a:r>
              <a:rPr sz="691" b="1">
                <a:solidFill>
                  <a:srgbClr val="F4F1EE"/>
                </a:solidFill>
                <a:latin typeface="Arial"/>
              </a:rPr>
              <a:t>/ </a:t>
            </a:r>
            <a:r>
              <a:rPr sz="691" b="1">
                <a:solidFill>
                  <a:srgbClr val="F4F1EE"/>
                </a:solidFill>
                <a:latin typeface="Arial"/>
              </a:rPr>
              <a:t>860.6 </a:t>
            </a:r>
            <a:r>
              <a:rPr sz="691" b="1">
                <a:solidFill>
                  <a:srgbClr val="FF8A8A"/>
                </a:solidFill>
                <a:latin typeface="Arial"/>
              </a:rPr>
              <a:t>+211%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67437" y="5286327"/>
            <a:ext cx="1170533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86–88 </a:t>
            </a:r>
            <a:r>
              <a:rPr sz="691" b="0">
                <a:solidFill>
                  <a:srgbClr val="A9A29C"/>
                </a:solidFill>
                <a:latin typeface="Arial"/>
              </a:rPr>
              <a:t>tm </a:t>
            </a:r>
            <a:r>
              <a:rPr sz="691" b="0">
                <a:solidFill>
                  <a:srgbClr val="A9A29C"/>
                </a:solidFill>
                <a:latin typeface="Arial"/>
              </a:rPr>
              <a:t>· </a:t>
            </a:r>
            <a:r>
              <a:rPr sz="691" b="0">
                <a:solidFill>
                  <a:srgbClr val="A9A29C"/>
                </a:solidFill>
                <a:latin typeface="Arial"/>
              </a:rPr>
              <a:t>4 </a:t>
            </a:r>
            <a:r>
              <a:rPr sz="691" b="0">
                <a:solidFill>
                  <a:srgbClr val="A9A29C"/>
                </a:solidFill>
                <a:latin typeface="Arial"/>
              </a:rPr>
              <a:t>units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67437" y="5403901"/>
            <a:ext cx="883592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A9A29C"/>
                </a:solidFill>
                <a:latin typeface="Arial"/>
              </a:rPr>
              <a:t>Rp </a:t>
            </a:r>
            <a:r>
              <a:rPr sz="691" b="0">
                <a:solidFill>
                  <a:srgbClr val="A9A29C"/>
                </a:solidFill>
                <a:latin typeface="Arial"/>
              </a:rPr>
              <a:t>1.320 </a:t>
            </a:r>
            <a:r>
              <a:rPr sz="691" b="0">
                <a:solidFill>
                  <a:srgbClr val="A9A29C"/>
                </a:solidFill>
                <a:latin typeface="Arial"/>
              </a:rPr>
              <a:t>Jt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9100" y="5740550"/>
            <a:ext cx="10227468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Competitor: </a:t>
            </a:r>
            <a:r>
              <a:rPr sz="691" b="0">
                <a:solidFill>
                  <a:srgbClr val="6F6963"/>
                </a:solidFill>
                <a:latin typeface="Arial"/>
              </a:rPr>
              <a:t>highest </a:t>
            </a:r>
            <a:r>
              <a:rPr sz="691" b="0">
                <a:solidFill>
                  <a:srgbClr val="6F6963"/>
                </a:solidFill>
                <a:latin typeface="Arial"/>
              </a:rPr>
              <a:t>import </a:t>
            </a:r>
            <a:r>
              <a:rPr sz="691" b="0">
                <a:solidFill>
                  <a:srgbClr val="6F6963"/>
                </a:solidFill>
                <a:latin typeface="Arial"/>
              </a:rPr>
              <a:t>unit </a:t>
            </a:r>
            <a:r>
              <a:rPr sz="691" b="0">
                <a:solidFill>
                  <a:srgbClr val="6F6963"/>
                </a:solidFill>
                <a:latin typeface="Arial"/>
              </a:rPr>
              <a:t>price </a:t>
            </a:r>
            <a:r>
              <a:rPr sz="691" b="0">
                <a:solidFill>
                  <a:srgbClr val="6F6963"/>
                </a:solidFill>
                <a:latin typeface="Arial"/>
              </a:rPr>
              <a:t>2023 </a:t>
            </a:r>
            <a:r>
              <a:rPr sz="691" b="0">
                <a:solidFill>
                  <a:srgbClr val="6F6963"/>
                </a:solidFill>
                <a:latin typeface="Arial"/>
              </a:rPr>
              <a:t>– </a:t>
            </a:r>
            <a:r>
              <a:rPr sz="691" b="0">
                <a:solidFill>
                  <a:srgbClr val="6F6963"/>
                </a:solidFill>
                <a:latin typeface="Arial"/>
              </a:rPr>
              <a:t>14 </a:t>
            </a:r>
            <a:r>
              <a:rPr sz="691" b="0">
                <a:solidFill>
                  <a:srgbClr val="6F6963"/>
                </a:solidFill>
                <a:latin typeface="Arial"/>
              </a:rPr>
              <a:t>Aug </a:t>
            </a:r>
            <a:r>
              <a:rPr sz="691" b="0">
                <a:solidFill>
                  <a:srgbClr val="6F6963"/>
                </a:solidFill>
                <a:latin typeface="Arial"/>
              </a:rPr>
              <a:t>2026 </a:t>
            </a:r>
            <a:r>
              <a:rPr sz="691" b="0">
                <a:solidFill>
                  <a:srgbClr val="6F6963"/>
                </a:solidFill>
                <a:latin typeface="Arial"/>
              </a:rPr>
              <a:t>× </a:t>
            </a:r>
            <a:r>
              <a:rPr sz="691" b="0">
                <a:solidFill>
                  <a:srgbClr val="6F6963"/>
                </a:solidFill>
                <a:latin typeface="Arial"/>
              </a:rPr>
              <a:t>Rp </a:t>
            </a:r>
            <a:r>
              <a:rPr sz="691" b="0">
                <a:solidFill>
                  <a:srgbClr val="6F6963"/>
                </a:solidFill>
                <a:latin typeface="Arial"/>
              </a:rPr>
              <a:t>17.803/USD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import </a:t>
            </a:r>
            <a:r>
              <a:rPr sz="691" b="0">
                <a:solidFill>
                  <a:srgbClr val="6F6963"/>
                </a:solidFill>
                <a:latin typeface="Arial"/>
              </a:rPr>
              <a:t>duty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PPN </a:t>
            </a:r>
            <a:r>
              <a:rPr sz="691" b="0">
                <a:solidFill>
                  <a:srgbClr val="6F6963"/>
                </a:solidFill>
                <a:latin typeface="Arial"/>
              </a:rPr>
              <a:t>11% </a:t>
            </a:r>
            <a:r>
              <a:rPr sz="691" b="0">
                <a:solidFill>
                  <a:srgbClr val="6F6963"/>
                </a:solidFill>
                <a:latin typeface="Arial"/>
              </a:rPr>
              <a:t>+ </a:t>
            </a:r>
            <a:r>
              <a:rPr sz="691" b="0">
                <a:solidFill>
                  <a:srgbClr val="6F6963"/>
                </a:solidFill>
                <a:latin typeface="Arial"/>
              </a:rPr>
              <a:t>PPh </a:t>
            </a:r>
            <a:r>
              <a:rPr sz="691" b="0">
                <a:solidFill>
                  <a:srgbClr val="6F6963"/>
                </a:solidFill>
                <a:latin typeface="Arial"/>
              </a:rPr>
              <a:t>22 </a:t>
            </a:r>
            <a:r>
              <a:rPr sz="691" b="0">
                <a:solidFill>
                  <a:srgbClr val="6F6963"/>
                </a:solidFill>
                <a:latin typeface="Arial"/>
              </a:rPr>
              <a:t>2.5%, </a:t>
            </a:r>
            <a:r>
              <a:rPr sz="691" b="0">
                <a:solidFill>
                  <a:srgbClr val="6F6963"/>
                </a:solidFill>
                <a:latin typeface="Arial"/>
              </a:rPr>
              <a:t>before </a:t>
            </a:r>
            <a:r>
              <a:rPr sz="691" b="0">
                <a:solidFill>
                  <a:srgbClr val="6F6963"/>
                </a:solidFill>
                <a:latin typeface="Arial"/>
              </a:rPr>
              <a:t>distributor </a:t>
            </a:r>
            <a:r>
              <a:rPr sz="691" b="0">
                <a:solidFill>
                  <a:srgbClr val="6F6963"/>
                </a:solidFill>
                <a:latin typeface="Arial"/>
              </a:rPr>
              <a:t>margin. </a:t>
            </a:r>
            <a:r>
              <a:rPr sz="691" b="0">
                <a:solidFill>
                  <a:srgbClr val="6F6963"/>
                </a:solidFill>
                <a:latin typeface="Arial"/>
              </a:rPr>
              <a:t>F.lli </a:t>
            </a:r>
            <a:r>
              <a:rPr sz="691" b="0">
                <a:solidFill>
                  <a:srgbClr val="6F6963"/>
                </a:solidFill>
                <a:latin typeface="Arial"/>
              </a:rPr>
              <a:t>Ferrari: </a:t>
            </a:r>
            <a:r>
              <a:rPr sz="691" b="0">
                <a:solidFill>
                  <a:srgbClr val="6F6963"/>
                </a:solidFill>
                <a:latin typeface="Arial"/>
              </a:rPr>
              <a:t>TSP </a:t>
            </a:r>
            <a:r>
              <a:rPr sz="691" b="0">
                <a:solidFill>
                  <a:srgbClr val="6F6963"/>
                </a:solidFill>
                <a:latin typeface="Arial"/>
              </a:rPr>
              <a:t>price </a:t>
            </a:r>
            <a:r>
              <a:rPr sz="691" b="0">
                <a:solidFill>
                  <a:srgbClr val="6F6963"/>
                </a:solidFill>
                <a:latin typeface="Arial"/>
              </a:rPr>
              <a:t>list </a:t>
            </a:r>
            <a:r>
              <a:rPr sz="691" b="0">
                <a:solidFill>
                  <a:srgbClr val="6F6963"/>
                </a:solidFill>
                <a:latin typeface="Arial"/>
              </a:rPr>
              <a:t>Rev1 </a:t>
            </a:r>
            <a:r>
              <a:rPr sz="691" b="0">
                <a:solidFill>
                  <a:srgbClr val="6F6963"/>
                </a:solidFill>
                <a:latin typeface="Arial"/>
              </a:rPr>
              <a:t>(Jun </a:t>
            </a:r>
            <a:r>
              <a:rPr sz="691" b="0">
                <a:solidFill>
                  <a:srgbClr val="6F6963"/>
                </a:solidFill>
                <a:latin typeface="Arial"/>
              </a:rPr>
              <a:t>2026) </a:t>
            </a:r>
            <a:r>
              <a:rPr sz="691" b="0">
                <a:solidFill>
                  <a:srgbClr val="6F6963"/>
                </a:solidFill>
                <a:latin typeface="Arial"/>
              </a:rPr>
              <a:t>less </a:t>
            </a:r>
            <a:r>
              <a:rPr sz="691" b="0">
                <a:solidFill>
                  <a:srgbClr val="6F6963"/>
                </a:solidFill>
                <a:latin typeface="Arial"/>
              </a:rPr>
              <a:t>13.6% </a:t>
            </a:r>
            <a:r>
              <a:rPr sz="691" b="0">
                <a:solidFill>
                  <a:srgbClr val="6F6963"/>
                </a:solidFill>
                <a:latin typeface="Arial"/>
              </a:rPr>
              <a:t>margin </a:t>
            </a:r>
            <a:r>
              <a:rPr sz="691" b="0">
                <a:solidFill>
                  <a:srgbClr val="6F6963"/>
                </a:solidFill>
                <a:latin typeface="Arial"/>
              </a:rPr>
              <a:t>and </a:t>
            </a:r>
            <a:r>
              <a:rPr sz="691" b="0">
                <a:solidFill>
                  <a:srgbClr val="6F6963"/>
                </a:solidFill>
                <a:latin typeface="Arial"/>
              </a:rPr>
              <a:t>3% </a:t>
            </a:r>
            <a:r>
              <a:rPr sz="691" b="0">
                <a:solidFill>
                  <a:srgbClr val="6F6963"/>
                </a:solidFill>
                <a:latin typeface="Arial"/>
              </a:rPr>
              <a:t>warranty. </a:t>
            </a:r>
            <a:r>
              <a:rPr sz="691" b="0">
                <a:solidFill>
                  <a:srgbClr val="6F6963"/>
                </a:solidFill>
                <a:latin typeface="Arial"/>
              </a:rPr>
              <a:t>Rounded </a:t>
            </a:r>
            <a:r>
              <a:rPr sz="691" b="0">
                <a:solidFill>
                  <a:srgbClr val="6F6963"/>
                </a:solidFill>
                <a:latin typeface="Arial"/>
              </a:rPr>
              <a:t>to </a:t>
            </a:r>
            <a:r>
              <a:rPr sz="691" b="0">
                <a:solidFill>
                  <a:srgbClr val="6F6963"/>
                </a:solidFill>
                <a:latin typeface="Arial"/>
              </a:rPr>
              <a:t>Rp </a:t>
            </a:r>
            <a:r>
              <a:rPr sz="691" b="0">
                <a:solidFill>
                  <a:srgbClr val="6F6963"/>
                </a:solidFill>
                <a:latin typeface="Arial"/>
              </a:rPr>
              <a:t>10 </a:t>
            </a:r>
            <a:r>
              <a:rPr sz="691" b="0">
                <a:solidFill>
                  <a:srgbClr val="6F6963"/>
                </a:solidFill>
                <a:latin typeface="Arial"/>
              </a:rPr>
              <a:t>Jt.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26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06 </a:t>
            </a:r>
            <a:r>
              <a:rPr sz="873" b="1">
                <a:solidFill>
                  <a:srgbClr val="FF5A1F"/>
                </a:solidFill>
                <a:latin typeface="Arial"/>
              </a:rPr>
              <a:t>· </a:t>
            </a:r>
            <a:r>
              <a:rPr sz="873" b="1">
                <a:solidFill>
                  <a:srgbClr val="FF5A1F"/>
                </a:solidFill>
                <a:latin typeface="Arial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5820519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F.lli </a:t>
            </a:r>
            <a:r>
              <a:rPr sz="4510" b="0">
                <a:solidFill>
                  <a:srgbClr val="F0ECE8"/>
                </a:solidFill>
                <a:latin typeface="Arial"/>
              </a:rPr>
              <a:t>Ferrari </a:t>
            </a:r>
            <a:r>
              <a:rPr sz="4510" b="0">
                <a:solidFill>
                  <a:srgbClr val="F0ECE8"/>
                </a:solidFill>
                <a:latin typeface="Arial"/>
              </a:rPr>
              <a:t>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Market </a:t>
            </a:r>
            <a:r>
              <a:rPr sz="1018" b="0">
                <a:solidFill>
                  <a:srgbClr val="6F6963"/>
                </a:solidFill>
                <a:latin typeface="Arial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Price </a:t>
            </a:r>
            <a:r>
              <a:rPr sz="1018" b="0">
                <a:solidFill>
                  <a:srgbClr val="6F6963"/>
                </a:solidFill>
                <a:latin typeface="Arial"/>
              </a:rP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833" y="3721608"/>
            <a:ext cx="197450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C </a:t>
            </a:r>
            <a:r>
              <a:rPr sz="1018" b="0">
                <a:solidFill>
                  <a:srgbClr val="FF5A1F"/>
                </a:solidFill>
                <a:latin typeface="Arial"/>
              </a:rPr>
              <a:t>— </a:t>
            </a:r>
            <a:r>
              <a:rPr sz="1018" b="0">
                <a:solidFill>
                  <a:srgbClr val="FF5A1F"/>
                </a:solidFill>
                <a:latin typeface="Arial"/>
              </a:rPr>
              <a:t>F.lli </a:t>
            </a:r>
            <a:r>
              <a:rPr sz="1018" b="0">
                <a:solidFill>
                  <a:srgbClr val="FF5A1F"/>
                </a:solidFill>
                <a:latin typeface="Arial"/>
              </a:rPr>
              <a:t>Ferrari </a:t>
            </a:r>
            <a:r>
              <a:rPr sz="1018" b="0">
                <a:solidFill>
                  <a:srgbClr val="FF5A1F"/>
                </a:solidFill>
                <a:latin typeface="Arial"/>
              </a:rPr>
              <a:t>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" y="3988308"/>
            <a:ext cx="12334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D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27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3836491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F.lli </a:t>
            </a:r>
            <a:r>
              <a:rPr sz="2182" b="0">
                <a:solidFill>
                  <a:srgbClr val="F0ECE8"/>
                </a:solidFill>
                <a:latin typeface="Arial"/>
              </a:rPr>
              <a:t>Ferrari </a:t>
            </a:r>
            <a:r>
              <a:rPr sz="2182" b="0">
                <a:solidFill>
                  <a:srgbClr val="F0ECE8"/>
                </a:solidFill>
                <a:latin typeface="Arial"/>
              </a:rPr>
              <a:t>Crane </a:t>
            </a:r>
            <a:r>
              <a:rPr sz="2182" b="0">
                <a:solidFill>
                  <a:srgbClr val="F0ECE8"/>
                </a:solidFill>
                <a:latin typeface="Arial"/>
              </a:rPr>
              <a:t>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1420368"/>
            <a:ext cx="7676257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1">
                <a:solidFill>
                  <a:srgbClr val="6F6963"/>
                </a:solidFill>
                <a:latin typeface="Arial"/>
              </a:rPr>
              <a:t>FIVE </a:t>
            </a:r>
            <a:r>
              <a:rPr sz="691" b="1">
                <a:solidFill>
                  <a:srgbClr val="6F6963"/>
                </a:solidFill>
                <a:latin typeface="Arial"/>
              </a:rPr>
              <a:t>F.LLI </a:t>
            </a:r>
            <a:r>
              <a:rPr sz="691" b="1">
                <a:solidFill>
                  <a:srgbClr val="6F6963"/>
                </a:solidFill>
                <a:latin typeface="Arial"/>
              </a:rPr>
              <a:t>FERRARI </a:t>
            </a:r>
            <a:r>
              <a:rPr sz="691" b="1">
                <a:solidFill>
                  <a:srgbClr val="6F6963"/>
                </a:solidFill>
                <a:latin typeface="Arial"/>
              </a:rPr>
              <a:t>CRANES </a:t>
            </a:r>
            <a:r>
              <a:rPr sz="691" b="1">
                <a:solidFill>
                  <a:srgbClr val="6F6963"/>
                </a:solidFill>
                <a:latin typeface="Arial"/>
              </a:rPr>
              <a:t>· </a:t>
            </a:r>
            <a:r>
              <a:rPr sz="691" b="1">
                <a:solidFill>
                  <a:srgbClr val="6F6963"/>
                </a:solidFill>
                <a:latin typeface="Arial"/>
              </a:rPr>
              <a:t>SAME </a:t>
            </a:r>
            <a:r>
              <a:rPr sz="691" b="1">
                <a:solidFill>
                  <a:srgbClr val="6F6963"/>
                </a:solidFill>
                <a:latin typeface="Arial"/>
              </a:rPr>
              <a:t>SIZE </a:t>
            </a:r>
            <a:r>
              <a:rPr sz="691" b="1">
                <a:solidFill>
                  <a:srgbClr val="6F6963"/>
                </a:solidFill>
                <a:latin typeface="Arial"/>
              </a:rPr>
              <a:t>OR </a:t>
            </a:r>
            <a:r>
              <a:rPr sz="691" b="1">
                <a:solidFill>
                  <a:srgbClr val="6F6963"/>
                </a:solidFill>
                <a:latin typeface="Arial"/>
              </a:rPr>
              <a:t>BIGGER </a:t>
            </a:r>
            <a:r>
              <a:rPr sz="691" b="1">
                <a:solidFill>
                  <a:srgbClr val="6F6963"/>
                </a:solidFill>
                <a:latin typeface="Arial"/>
              </a:rPr>
              <a:t>AND </a:t>
            </a:r>
            <a:r>
              <a:rPr sz="691" b="1">
                <a:solidFill>
                  <a:srgbClr val="6F6963"/>
                </a:solidFill>
                <a:latin typeface="Arial"/>
              </a:rPr>
              <a:t>LOWER </a:t>
            </a:r>
            <a:r>
              <a:rPr sz="691" b="1">
                <a:solidFill>
                  <a:srgbClr val="6F6963"/>
                </a:solidFill>
                <a:latin typeface="Arial"/>
              </a:rPr>
              <a:t>PRICE </a:t>
            </a:r>
            <a:r>
              <a:rPr sz="691" b="1">
                <a:solidFill>
                  <a:srgbClr val="6F6963"/>
                </a:solidFill>
                <a:latin typeface="Arial"/>
              </a:rPr>
              <a:t>THAN </a:t>
            </a:r>
            <a:r>
              <a:rPr sz="691" b="1">
                <a:solidFill>
                  <a:srgbClr val="6F6963"/>
                </a:solidFill>
                <a:latin typeface="Arial"/>
              </a:rPr>
              <a:t>THESE </a:t>
            </a:r>
            <a:r>
              <a:rPr sz="691" b="1">
                <a:solidFill>
                  <a:srgbClr val="6F6963"/>
                </a:solidFill>
                <a:latin typeface="Arial"/>
              </a:rPr>
              <a:t>COMPETITORS </a:t>
            </a:r>
            <a:r>
              <a:rPr sz="691" b="1">
                <a:solidFill>
                  <a:srgbClr val="6F6963"/>
                </a:solidFill>
                <a:latin typeface="Arial"/>
              </a:rPr>
              <a:t>· </a:t>
            </a:r>
            <a:r>
              <a:rPr sz="691" b="1">
                <a:solidFill>
                  <a:srgbClr val="6F6963"/>
                </a:solidFill>
                <a:latin typeface="Arial"/>
              </a:rPr>
              <a:t>JAN </a:t>
            </a:r>
            <a:r>
              <a:rPr sz="691" b="1">
                <a:solidFill>
                  <a:srgbClr val="6F6963"/>
                </a:solidFill>
                <a:latin typeface="Arial"/>
              </a:rPr>
              <a:t>2023 </a:t>
            </a:r>
            <a:r>
              <a:rPr sz="691" b="1">
                <a:solidFill>
                  <a:srgbClr val="6F6963"/>
                </a:solidFill>
                <a:latin typeface="Arial"/>
              </a:rPr>
              <a:t>– </a:t>
            </a:r>
            <a:r>
              <a:rPr sz="691" b="1">
                <a:solidFill>
                  <a:srgbClr val="6F6963"/>
                </a:solidFill>
                <a:latin typeface="Arial"/>
              </a:rPr>
              <a:t>14 </a:t>
            </a:r>
            <a:r>
              <a:rPr sz="691" b="1">
                <a:solidFill>
                  <a:srgbClr val="6F6963"/>
                </a:solidFill>
                <a:latin typeface="Arial"/>
              </a:rPr>
              <a:t>AUG </a:t>
            </a:r>
            <a:r>
              <a:rPr sz="691" b="1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1975" y="3835146"/>
            <a:ext cx="8667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268 </a:t>
            </a:r>
            <a:r>
              <a:rPr sz="1164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247" y="3877056"/>
            <a:ext cx="7304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25.4 </a:t>
            </a:r>
            <a:r>
              <a:rPr sz="800" b="0">
                <a:solidFill>
                  <a:srgbClr val="A9A29C"/>
                </a:solidFill>
                <a:latin typeface="Arial"/>
              </a:rPr>
              <a:t>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1975" y="4022979"/>
            <a:ext cx="931961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83" b="1">
                <a:solidFill>
                  <a:srgbClr val="FF5A1F"/>
                </a:solidFill>
                <a:latin typeface="Arial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086" y="4410456"/>
            <a:ext cx="82376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units </a:t>
            </a:r>
            <a:r>
              <a:rPr sz="800" b="0">
                <a:solidFill>
                  <a:srgbClr val="A9A29C"/>
                </a:solidFill>
                <a:latin typeface="Arial"/>
              </a:rPr>
              <a:t>won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975" y="4756665"/>
            <a:ext cx="119508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CHEAPER </a:t>
            </a:r>
            <a:r>
              <a:rPr sz="654" b="0">
                <a:solidFill>
                  <a:srgbClr val="6F6963"/>
                </a:solidFill>
                <a:latin typeface="Arial"/>
              </a:rPr>
              <a:t>THAN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1975" y="4906017"/>
            <a:ext cx="228972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0">
                <a:solidFill>
                  <a:srgbClr val="F4F1EE"/>
                </a:solidFill>
                <a:latin typeface="Arial"/>
              </a:rPr>
              <a:t>Amco </a:t>
            </a:r>
            <a:r>
              <a:rPr sz="909" b="0">
                <a:solidFill>
                  <a:srgbClr val="F4F1EE"/>
                </a:solidFill>
                <a:latin typeface="Arial"/>
              </a:rPr>
              <a:t>Veba </a:t>
            </a:r>
            <a:r>
              <a:rPr sz="909" b="0">
                <a:solidFill>
                  <a:srgbClr val="F4F1EE"/>
                </a:solidFill>
                <a:latin typeface="Arial"/>
              </a:rPr>
              <a:t>V825 </a:t>
            </a:r>
            <a:r>
              <a:rPr sz="909" b="0">
                <a:solidFill>
                  <a:srgbClr val="F4F1EE"/>
                </a:solidFill>
                <a:latin typeface="Arial"/>
              </a:rPr>
              <a:t>· </a:t>
            </a:r>
            <a:r>
              <a:rPr sz="909" b="0">
                <a:solidFill>
                  <a:srgbClr val="F4F1EE"/>
                </a:solidFill>
                <a:latin typeface="Arial"/>
              </a:rPr>
              <a:t>31 </a:t>
            </a:r>
            <a:r>
              <a:rPr sz="909" b="1">
                <a:solidFill>
                  <a:srgbClr val="5BD17A"/>
                </a:solidFill>
                <a:latin typeface="Arial"/>
              </a:rPr>
              <a:t>−23%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1695" y="3835146"/>
            <a:ext cx="88939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7441C*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1116" y="3877056"/>
            <a:ext cx="7304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37.7 </a:t>
            </a:r>
            <a:r>
              <a:rPr sz="800" b="0">
                <a:solidFill>
                  <a:srgbClr val="A9A29C"/>
                </a:solidFill>
                <a:latin typeface="Arial"/>
              </a:rPr>
              <a:t>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1695" y="4022979"/>
            <a:ext cx="931961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83" b="1">
                <a:solidFill>
                  <a:srgbClr val="FF5A1F"/>
                </a:solidFill>
                <a:latin typeface="Arial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807" y="4410456"/>
            <a:ext cx="82376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units </a:t>
            </a:r>
            <a:r>
              <a:rPr sz="800" b="0">
                <a:solidFill>
                  <a:srgbClr val="A9A29C"/>
                </a:solidFill>
                <a:latin typeface="Arial"/>
              </a:rPr>
              <a:t>won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1695" y="4756665"/>
            <a:ext cx="119508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CHEAPER </a:t>
            </a:r>
            <a:r>
              <a:rPr sz="654" b="0">
                <a:solidFill>
                  <a:srgbClr val="6F6963"/>
                </a:solidFill>
                <a:latin typeface="Arial"/>
              </a:rPr>
              <a:t>THAN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51695" y="4906017"/>
            <a:ext cx="228986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0">
                <a:solidFill>
                  <a:srgbClr val="F4F1EE"/>
                </a:solidFill>
                <a:latin typeface="Arial"/>
              </a:rPr>
              <a:t>Palfinger </a:t>
            </a:r>
            <a:r>
              <a:rPr sz="909" b="0">
                <a:solidFill>
                  <a:srgbClr val="F4F1EE"/>
                </a:solidFill>
                <a:latin typeface="Arial"/>
              </a:rPr>
              <a:t>PK </a:t>
            </a:r>
            <a:r>
              <a:rPr sz="909" b="0">
                <a:solidFill>
                  <a:srgbClr val="F4F1EE"/>
                </a:solidFill>
                <a:latin typeface="Arial"/>
              </a:rPr>
              <a:t>41002 </a:t>
            </a:r>
            <a:r>
              <a:rPr sz="909" b="0">
                <a:solidFill>
                  <a:srgbClr val="F4F1EE"/>
                </a:solidFill>
                <a:latin typeface="Arial"/>
              </a:rPr>
              <a:t>· </a:t>
            </a:r>
            <a:r>
              <a:rPr sz="909" b="0">
                <a:solidFill>
                  <a:srgbClr val="F4F1EE"/>
                </a:solidFill>
                <a:latin typeface="Arial"/>
              </a:rPr>
              <a:t>21 </a:t>
            </a:r>
            <a:r>
              <a:rPr sz="909" b="1">
                <a:solidFill>
                  <a:srgbClr val="5BD17A"/>
                </a:solidFill>
                <a:latin typeface="Arial"/>
              </a:rPr>
              <a:t>−14%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1565" y="3835146"/>
            <a:ext cx="129004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FBR450R </a:t>
            </a:r>
            <a:r>
              <a:rPr sz="1164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0837" y="3877056"/>
            <a:ext cx="7304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45.5 </a:t>
            </a:r>
            <a:r>
              <a:rPr sz="800" b="0">
                <a:solidFill>
                  <a:srgbClr val="A9A29C"/>
                </a:solidFill>
                <a:latin typeface="Arial"/>
              </a:rPr>
              <a:t>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1565" y="4022979"/>
            <a:ext cx="931961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83" b="1">
                <a:solidFill>
                  <a:srgbClr val="FF5A1F"/>
                </a:solidFill>
                <a:latin typeface="Arial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9676" y="4410456"/>
            <a:ext cx="82376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units </a:t>
            </a:r>
            <a:r>
              <a:rPr sz="800" b="0">
                <a:solidFill>
                  <a:srgbClr val="A9A29C"/>
                </a:solidFill>
                <a:latin typeface="Arial"/>
              </a:rPr>
              <a:t>won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1565" y="4756665"/>
            <a:ext cx="119508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CHEAPER </a:t>
            </a:r>
            <a:r>
              <a:rPr sz="654" b="0">
                <a:solidFill>
                  <a:srgbClr val="6F6963"/>
                </a:solidFill>
                <a:latin typeface="Arial"/>
              </a:rPr>
              <a:t>THAN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1565" y="4906017"/>
            <a:ext cx="228972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0">
                <a:solidFill>
                  <a:srgbClr val="F4F1EE"/>
                </a:solidFill>
                <a:latin typeface="Arial"/>
              </a:rPr>
              <a:t>Amco </a:t>
            </a:r>
            <a:r>
              <a:rPr sz="909" b="0">
                <a:solidFill>
                  <a:srgbClr val="F4F1EE"/>
                </a:solidFill>
                <a:latin typeface="Arial"/>
              </a:rPr>
              <a:t>Veba </a:t>
            </a:r>
            <a:r>
              <a:rPr sz="909" b="0">
                <a:solidFill>
                  <a:srgbClr val="F4F1EE"/>
                </a:solidFill>
                <a:latin typeface="Arial"/>
              </a:rPr>
              <a:t>V950 </a:t>
            </a:r>
            <a:r>
              <a:rPr sz="909" b="0">
                <a:solidFill>
                  <a:srgbClr val="F4F1EE"/>
                </a:solidFill>
                <a:latin typeface="Arial"/>
              </a:rPr>
              <a:t>· </a:t>
            </a:r>
            <a:r>
              <a:rPr sz="909" b="0">
                <a:solidFill>
                  <a:srgbClr val="F4F1EE"/>
                </a:solidFill>
                <a:latin typeface="Arial"/>
              </a:rPr>
              <a:t>12 </a:t>
            </a:r>
            <a:r>
              <a:rPr sz="909" b="1">
                <a:solidFill>
                  <a:srgbClr val="5BD17A"/>
                </a:solidFill>
                <a:latin typeface="Arial"/>
              </a:rPr>
              <a:t>−32%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1565" y="5096517"/>
            <a:ext cx="228972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0">
                <a:solidFill>
                  <a:srgbClr val="F4F1EE"/>
                </a:solidFill>
                <a:latin typeface="Arial"/>
              </a:rPr>
              <a:t>Fassi </a:t>
            </a:r>
            <a:r>
              <a:rPr sz="909" b="0">
                <a:solidFill>
                  <a:srgbClr val="F4F1EE"/>
                </a:solidFill>
                <a:latin typeface="Arial"/>
              </a:rPr>
              <a:t>F485RA.2.23 </a:t>
            </a:r>
            <a:r>
              <a:rPr sz="909" b="0">
                <a:solidFill>
                  <a:srgbClr val="F4F1EE"/>
                </a:solidFill>
                <a:latin typeface="Arial"/>
              </a:rPr>
              <a:t>· </a:t>
            </a:r>
            <a:r>
              <a:rPr sz="909" b="0">
                <a:solidFill>
                  <a:srgbClr val="F4F1EE"/>
                </a:solidFill>
                <a:latin typeface="Arial"/>
              </a:rPr>
              <a:t>1 </a:t>
            </a:r>
            <a:r>
              <a:rPr sz="909" b="1">
                <a:solidFill>
                  <a:srgbClr val="5BD17A"/>
                </a:solidFill>
                <a:latin typeface="Arial"/>
              </a:rPr>
              <a:t>−16%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1285" y="3835146"/>
            <a:ext cx="129004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FBR350R </a:t>
            </a:r>
            <a:r>
              <a:rPr sz="1164" b="1">
                <a:solidFill>
                  <a:srgbClr val="F4F1EE"/>
                </a:solidFill>
                <a:latin typeface="Arial"/>
              </a:rPr>
              <a:t>A4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0707" y="3877056"/>
            <a:ext cx="7304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32.8 </a:t>
            </a:r>
            <a:r>
              <a:rPr sz="800" b="0">
                <a:solidFill>
                  <a:srgbClr val="A9A29C"/>
                </a:solidFill>
                <a:latin typeface="Arial"/>
              </a:rPr>
              <a:t>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1285" y="4022979"/>
            <a:ext cx="931961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83" b="1">
                <a:solidFill>
                  <a:srgbClr val="FF5A1F"/>
                </a:solidFill>
                <a:latin typeface="Arial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39397" y="4410456"/>
            <a:ext cx="82376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units </a:t>
            </a:r>
            <a:r>
              <a:rPr sz="800" b="0">
                <a:solidFill>
                  <a:srgbClr val="A9A29C"/>
                </a:solidFill>
                <a:latin typeface="Arial"/>
              </a:rPr>
              <a:t>won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1285" y="4756665"/>
            <a:ext cx="119508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CHEAPER </a:t>
            </a:r>
            <a:r>
              <a:rPr sz="654" b="0">
                <a:solidFill>
                  <a:srgbClr val="6F6963"/>
                </a:solidFill>
                <a:latin typeface="Arial"/>
              </a:rPr>
              <a:t>THAN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1285" y="4906017"/>
            <a:ext cx="228986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0">
                <a:solidFill>
                  <a:srgbClr val="F4F1EE"/>
                </a:solidFill>
                <a:latin typeface="Arial"/>
              </a:rPr>
              <a:t>Hiab </a:t>
            </a:r>
            <a:r>
              <a:rPr sz="909" b="0">
                <a:solidFill>
                  <a:srgbClr val="F4F1EE"/>
                </a:solidFill>
                <a:latin typeface="Arial"/>
              </a:rPr>
              <a:t>X-CLX </a:t>
            </a:r>
            <a:r>
              <a:rPr sz="909" b="0">
                <a:solidFill>
                  <a:srgbClr val="F4F1EE"/>
                </a:solidFill>
                <a:latin typeface="Arial"/>
              </a:rPr>
              <a:t>388 </a:t>
            </a:r>
            <a:r>
              <a:rPr sz="909" b="0">
                <a:solidFill>
                  <a:srgbClr val="F4F1EE"/>
                </a:solidFill>
                <a:latin typeface="Arial"/>
              </a:rPr>
              <a:t>· </a:t>
            </a:r>
            <a:r>
              <a:rPr sz="909" b="0">
                <a:solidFill>
                  <a:srgbClr val="F4F1EE"/>
                </a:solidFill>
                <a:latin typeface="Arial"/>
              </a:rPr>
              <a:t>9 </a:t>
            </a:r>
            <a:r>
              <a:rPr sz="909" b="1">
                <a:solidFill>
                  <a:srgbClr val="5BD17A"/>
                </a:solidFill>
                <a:latin typeface="Arial"/>
              </a:rPr>
              <a:t>−25%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1285" y="5096517"/>
            <a:ext cx="2289869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0">
                <a:solidFill>
                  <a:srgbClr val="F4F1EE"/>
                </a:solidFill>
                <a:latin typeface="Arial"/>
              </a:rPr>
              <a:t>Hiab </a:t>
            </a:r>
            <a:r>
              <a:rPr sz="909" b="0">
                <a:solidFill>
                  <a:srgbClr val="F4F1EE"/>
                </a:solidFill>
                <a:latin typeface="Arial"/>
              </a:rPr>
              <a:t>X-CLX </a:t>
            </a:r>
            <a:r>
              <a:rPr sz="909" b="0">
                <a:solidFill>
                  <a:srgbClr val="F4F1EE"/>
                </a:solidFill>
                <a:latin typeface="Arial"/>
              </a:rPr>
              <a:t>328 </a:t>
            </a:r>
            <a:r>
              <a:rPr sz="909" b="0">
                <a:solidFill>
                  <a:srgbClr val="F4F1EE"/>
                </a:solidFill>
                <a:latin typeface="Arial"/>
              </a:rPr>
              <a:t>· </a:t>
            </a:r>
            <a:r>
              <a:rPr sz="909" b="0">
                <a:solidFill>
                  <a:srgbClr val="F4F1EE"/>
                </a:solidFill>
                <a:latin typeface="Arial"/>
              </a:rPr>
              <a:t>1 </a:t>
            </a:r>
            <a:r>
              <a:rPr sz="909" b="1">
                <a:solidFill>
                  <a:srgbClr val="5BD17A"/>
                </a:solidFill>
                <a:latin typeface="Arial"/>
              </a:rPr>
              <a:t>−2%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1155" y="3835146"/>
            <a:ext cx="117172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64" b="1">
                <a:solidFill>
                  <a:srgbClr val="F4F1EE"/>
                </a:solidFill>
                <a:latin typeface="Arial"/>
              </a:rPr>
              <a:t>9601CR </a:t>
            </a:r>
            <a:r>
              <a:rPr sz="1164" b="1">
                <a:solidFill>
                  <a:srgbClr val="F4F1EE"/>
                </a:solidFill>
                <a:latin typeface="Arial"/>
              </a:rPr>
              <a:t>A8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80427" y="3877056"/>
            <a:ext cx="730448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50.7 </a:t>
            </a:r>
            <a:r>
              <a:rPr sz="800" b="0">
                <a:solidFill>
                  <a:srgbClr val="A9A29C"/>
                </a:solidFill>
                <a:latin typeface="Arial"/>
              </a:rPr>
              <a:t>tm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1155" y="4022979"/>
            <a:ext cx="656480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783" b="1">
                <a:solidFill>
                  <a:srgbClr val="FF5A1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3786" y="4410456"/>
            <a:ext cx="823763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9A29C"/>
                </a:solidFill>
                <a:latin typeface="Arial"/>
              </a:rPr>
              <a:t>units </a:t>
            </a:r>
            <a:r>
              <a:rPr sz="800" b="0">
                <a:solidFill>
                  <a:srgbClr val="A9A29C"/>
                </a:solidFill>
                <a:latin typeface="Arial"/>
              </a:rPr>
              <a:t>won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1155" y="4756665"/>
            <a:ext cx="1195089" cy="95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54" b="0">
                <a:solidFill>
                  <a:srgbClr val="6F6963"/>
                </a:solidFill>
                <a:latin typeface="Arial"/>
              </a:rPr>
              <a:t>CHEAPER </a:t>
            </a:r>
            <a:r>
              <a:rPr sz="654" b="0">
                <a:solidFill>
                  <a:srgbClr val="6F6963"/>
                </a:solidFill>
                <a:latin typeface="Arial"/>
              </a:rPr>
              <a:t>THAN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1155" y="4906017"/>
            <a:ext cx="2289720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9" b="0">
                <a:solidFill>
                  <a:srgbClr val="F4F1EE"/>
                </a:solidFill>
                <a:latin typeface="Arial"/>
              </a:rPr>
              <a:t>Hiab </a:t>
            </a:r>
            <a:r>
              <a:rPr sz="909" b="0">
                <a:solidFill>
                  <a:srgbClr val="F4F1EE"/>
                </a:solidFill>
                <a:latin typeface="Arial"/>
              </a:rPr>
              <a:t>X-HIPRO </a:t>
            </a:r>
            <a:r>
              <a:rPr sz="909" b="0">
                <a:solidFill>
                  <a:srgbClr val="F4F1EE"/>
                </a:solidFill>
                <a:latin typeface="Arial"/>
              </a:rPr>
              <a:t>B58 </a:t>
            </a:r>
            <a:r>
              <a:rPr sz="909" b="0">
                <a:solidFill>
                  <a:srgbClr val="F4F1EE"/>
                </a:solidFill>
                <a:latin typeface="Arial"/>
              </a:rPr>
              <a:t>· </a:t>
            </a:r>
            <a:r>
              <a:rPr sz="909" b="0">
                <a:solidFill>
                  <a:srgbClr val="F4F1EE"/>
                </a:solidFill>
                <a:latin typeface="Arial"/>
              </a:rPr>
              <a:t>1 </a:t>
            </a:r>
            <a:r>
              <a:rPr sz="909" b="1">
                <a:solidFill>
                  <a:srgbClr val="5BD17A"/>
                </a:solidFill>
                <a:latin typeface="Arial"/>
              </a:rPr>
              <a:t>−3%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9100" y="6327528"/>
            <a:ext cx="5817989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91" b="0">
                <a:solidFill>
                  <a:srgbClr val="6F6963"/>
                </a:solidFill>
                <a:latin typeface="Arial"/>
              </a:rPr>
              <a:t>Units </a:t>
            </a:r>
            <a:r>
              <a:rPr sz="691" b="0">
                <a:solidFill>
                  <a:srgbClr val="6F6963"/>
                </a:solidFill>
                <a:latin typeface="Arial"/>
              </a:rPr>
              <a:t>won </a:t>
            </a:r>
            <a:r>
              <a:rPr sz="691" b="0">
                <a:solidFill>
                  <a:srgbClr val="6F6963"/>
                </a:solidFill>
                <a:latin typeface="Arial"/>
              </a:rPr>
              <a:t>= </a:t>
            </a:r>
            <a:r>
              <a:rPr sz="691" b="0">
                <a:solidFill>
                  <a:srgbClr val="6F6963"/>
                </a:solidFill>
                <a:latin typeface="Arial"/>
              </a:rPr>
              <a:t>imports </a:t>
            </a:r>
            <a:r>
              <a:rPr sz="691" b="0">
                <a:solidFill>
                  <a:srgbClr val="6F6963"/>
                </a:solidFill>
                <a:latin typeface="Arial"/>
              </a:rPr>
              <a:t>of </a:t>
            </a:r>
            <a:r>
              <a:rPr sz="691" b="0">
                <a:solidFill>
                  <a:srgbClr val="6F6963"/>
                </a:solidFill>
                <a:latin typeface="Arial"/>
              </a:rPr>
              <a:t>the </a:t>
            </a:r>
            <a:r>
              <a:rPr sz="691" b="0">
                <a:solidFill>
                  <a:srgbClr val="6F6963"/>
                </a:solidFill>
                <a:latin typeface="Arial"/>
              </a:rPr>
              <a:t>rival </a:t>
            </a:r>
            <a:r>
              <a:rPr sz="691" b="0">
                <a:solidFill>
                  <a:srgbClr val="6F6963"/>
                </a:solidFill>
                <a:latin typeface="Arial"/>
              </a:rPr>
              <a:t>model. </a:t>
            </a:r>
            <a:r>
              <a:rPr sz="691" b="0">
                <a:solidFill>
                  <a:srgbClr val="6F6963"/>
                </a:solidFill>
                <a:latin typeface="Arial"/>
              </a:rPr>
              <a:t>Head </a:t>
            </a:r>
            <a:r>
              <a:rPr sz="691" b="0">
                <a:solidFill>
                  <a:srgbClr val="6F6963"/>
                </a:solidFill>
                <a:latin typeface="Arial"/>
              </a:rPr>
              <a:t>to </a:t>
            </a:r>
            <a:r>
              <a:rPr sz="691" b="0">
                <a:solidFill>
                  <a:srgbClr val="6F6963"/>
                </a:solidFill>
                <a:latin typeface="Arial"/>
              </a:rPr>
              <a:t>head </a:t>
            </a:r>
            <a:r>
              <a:rPr sz="691" b="0">
                <a:solidFill>
                  <a:srgbClr val="6F6963"/>
                </a:solidFill>
                <a:latin typeface="Arial"/>
              </a:rPr>
              <a:t>= </a:t>
            </a:r>
            <a:r>
              <a:rPr sz="691" b="0">
                <a:solidFill>
                  <a:srgbClr val="6F6963"/>
                </a:solidFill>
                <a:latin typeface="Arial"/>
              </a:rPr>
              <a:t>F.lli </a:t>
            </a:r>
            <a:r>
              <a:rPr sz="691" b="0">
                <a:solidFill>
                  <a:srgbClr val="6F6963"/>
                </a:solidFill>
                <a:latin typeface="Arial"/>
              </a:rPr>
              <a:t>Ferrari </a:t>
            </a:r>
            <a:r>
              <a:rPr sz="691" b="0">
                <a:solidFill>
                  <a:srgbClr val="6F6963"/>
                </a:solidFill>
                <a:latin typeface="Arial"/>
              </a:rPr>
              <a:t>cheaper </a:t>
            </a:r>
            <a:r>
              <a:rPr sz="691" b="0">
                <a:solidFill>
                  <a:srgbClr val="6F6963"/>
                </a:solidFill>
                <a:latin typeface="Arial"/>
              </a:rPr>
              <a:t>and </a:t>
            </a:r>
            <a:r>
              <a:rPr sz="691" b="0">
                <a:solidFill>
                  <a:srgbClr val="6F6963"/>
                </a:solidFill>
                <a:latin typeface="Arial"/>
              </a:rPr>
              <a:t>not </a:t>
            </a:r>
            <a:r>
              <a:rPr sz="691" b="0">
                <a:solidFill>
                  <a:srgbClr val="6F6963"/>
                </a:solidFill>
                <a:latin typeface="Arial"/>
              </a:rPr>
              <a:t>more </a:t>
            </a:r>
            <a:r>
              <a:rPr sz="691" b="0">
                <a:solidFill>
                  <a:srgbClr val="6F6963"/>
                </a:solidFill>
                <a:latin typeface="Arial"/>
              </a:rPr>
              <a:t>than </a:t>
            </a:r>
            <a:r>
              <a:rPr sz="691" b="0">
                <a:solidFill>
                  <a:srgbClr val="6F6963"/>
                </a:solidFill>
                <a:latin typeface="Arial"/>
              </a:rPr>
              <a:t>2 </a:t>
            </a:r>
            <a:r>
              <a:rPr sz="691" b="0">
                <a:solidFill>
                  <a:srgbClr val="6F6963"/>
                </a:solidFill>
                <a:latin typeface="Arial"/>
              </a:rPr>
              <a:t>tm </a:t>
            </a:r>
            <a:r>
              <a:rPr sz="691" b="0">
                <a:solidFill>
                  <a:srgbClr val="6F6963"/>
                </a:solidFill>
                <a:latin typeface="Arial"/>
              </a:rPr>
              <a:t>smaller. </a:t>
            </a:r>
            <a:r>
              <a:rPr sz="691" b="0">
                <a:solidFill>
                  <a:srgbClr val="6F6963"/>
                </a:solidFill>
                <a:latin typeface="Arial"/>
              </a:rPr>
              <a:t>*7441C </a:t>
            </a:r>
            <a:r>
              <a:rPr sz="691" b="0">
                <a:solidFill>
                  <a:srgbClr val="6F6963"/>
                </a:solidFill>
                <a:latin typeface="Arial"/>
              </a:rPr>
              <a:t>price </a:t>
            </a:r>
            <a:r>
              <a:rPr sz="691" b="0">
                <a:solidFill>
                  <a:srgbClr val="6F6963"/>
                </a:solidFill>
                <a:latin typeface="Arial"/>
              </a:rPr>
              <a:t>is </a:t>
            </a:r>
            <a:r>
              <a:rPr sz="691" b="0">
                <a:solidFill>
                  <a:srgbClr val="6F6963"/>
                </a:solidFill>
                <a:latin typeface="Arial"/>
              </a:rPr>
              <a:t>an </a:t>
            </a:r>
            <a:r>
              <a:rPr sz="691" b="0">
                <a:solidFill>
                  <a:srgbClr val="6F6963"/>
                </a:solidFill>
                <a:latin typeface="Arial"/>
              </a:rPr>
              <a:t>estimate.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28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1132332"/>
            <a:ext cx="2238077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73" b="1">
                <a:solidFill>
                  <a:srgbClr val="FF5A1F"/>
                </a:solidFill>
                <a:latin typeface="Arial"/>
              </a:rPr>
              <a:t>SECTION </a:t>
            </a:r>
            <a:r>
              <a:rPr sz="873" b="1">
                <a:solidFill>
                  <a:srgbClr val="FF5A1F"/>
                </a:solidFill>
                <a:latin typeface="Arial"/>
              </a:rPr>
              <a:t>06 </a:t>
            </a:r>
            <a:r>
              <a:rPr sz="873" b="1">
                <a:solidFill>
                  <a:srgbClr val="FF5A1F"/>
                </a:solidFill>
                <a:latin typeface="Arial"/>
              </a:rPr>
              <a:t>· </a:t>
            </a:r>
            <a:r>
              <a:rPr sz="873" b="1">
                <a:solidFill>
                  <a:srgbClr val="FF5A1F"/>
                </a:solidFill>
                <a:latin typeface="Arial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1347597"/>
            <a:ext cx="2749153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510" b="0">
                <a:solidFill>
                  <a:srgbClr val="F0ECE8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3188208"/>
            <a:ext cx="167044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A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Market </a:t>
            </a:r>
            <a:r>
              <a:rPr sz="1018" b="0">
                <a:solidFill>
                  <a:srgbClr val="6F6963"/>
                </a:solidFill>
                <a:latin typeface="Arial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3454908"/>
            <a:ext cx="173727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B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Price </a:t>
            </a:r>
            <a:r>
              <a:rPr sz="1018" b="0">
                <a:solidFill>
                  <a:srgbClr val="6F6963"/>
                </a:solidFill>
                <a:latin typeface="Arial"/>
              </a:rPr>
              <a:t>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3721608"/>
            <a:ext cx="197450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6F6963"/>
                </a:solidFill>
                <a:latin typeface="Arial"/>
              </a:rPr>
              <a:t>C </a:t>
            </a:r>
            <a:r>
              <a:rPr sz="1018" b="0">
                <a:solidFill>
                  <a:srgbClr val="6F6963"/>
                </a:solidFill>
                <a:latin typeface="Arial"/>
              </a:rPr>
              <a:t>— </a:t>
            </a:r>
            <a:r>
              <a:rPr sz="1018" b="0">
                <a:solidFill>
                  <a:srgbClr val="6F6963"/>
                </a:solidFill>
                <a:latin typeface="Arial"/>
              </a:rPr>
              <a:t>F.lli </a:t>
            </a:r>
            <a:r>
              <a:rPr sz="1018" b="0">
                <a:solidFill>
                  <a:srgbClr val="6F6963"/>
                </a:solidFill>
                <a:latin typeface="Arial"/>
              </a:rPr>
              <a:t>Ferrari </a:t>
            </a:r>
            <a:r>
              <a:rPr sz="1018" b="0">
                <a:solidFill>
                  <a:srgbClr val="6F6963"/>
                </a:solidFill>
                <a:latin typeface="Arial"/>
              </a:rPr>
              <a:t>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833" y="3988308"/>
            <a:ext cx="12334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8" b="0">
                <a:solidFill>
                  <a:srgbClr val="FF5A1F"/>
                </a:solidFill>
                <a:latin typeface="Arial"/>
              </a:rPr>
              <a:t>D </a:t>
            </a:r>
            <a:r>
              <a:rPr sz="1018" b="0">
                <a:solidFill>
                  <a:srgbClr val="FF5A1F"/>
                </a:solidFill>
                <a:latin typeface="Arial"/>
              </a:rPr>
              <a:t>— </a:t>
            </a:r>
            <a:r>
              <a:rPr sz="1018" b="0">
                <a:solidFill>
                  <a:srgbClr val="FF5A1F"/>
                </a:solidFill>
                <a:latin typeface="Arial"/>
              </a:rPr>
              <a:t>Appendix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29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466129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Appendix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Model </a:t>
            </a:r>
            <a:r>
              <a:rPr sz="2182" b="0">
                <a:solidFill>
                  <a:srgbClr val="F0ECE8"/>
                </a:solidFill>
                <a:latin typeface="Arial"/>
              </a:rPr>
              <a:t>Photos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30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9100" y="348805"/>
            <a:ext cx="176019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[ </a:t>
            </a:r>
            <a:r>
              <a:rPr sz="727" b="1">
                <a:solidFill>
                  <a:srgbClr val="FF5A1F"/>
                </a:solidFill>
                <a:latin typeface="Arial"/>
              </a:rPr>
              <a:t>INTERNAL </a:t>
            </a:r>
            <a:r>
              <a:rPr sz="727" b="1">
                <a:solidFill>
                  <a:srgbClr val="FF5A1F"/>
                </a:solidFill>
                <a:latin typeface="Arial"/>
              </a:rPr>
              <a:t>USE </a:t>
            </a:r>
            <a:r>
              <a:rPr sz="727" b="1">
                <a:solidFill>
                  <a:srgbClr val="FF5A1F"/>
                </a:solidFill>
                <a:latin typeface="Arial"/>
              </a:rPr>
              <a:t>ONLY </a:t>
            </a:r>
            <a:r>
              <a:rPr sz="727" b="1">
                <a:solidFill>
                  <a:srgbClr val="FF5A1F"/>
                </a:solidFill>
                <a:latin typeface="Arial"/>
              </a:rPr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" y="772668"/>
            <a:ext cx="3772644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FF5A1F"/>
                </a:solidFill>
                <a:latin typeface="Arial"/>
              </a:rPr>
              <a:t>SECTION </a:t>
            </a:r>
            <a:r>
              <a:rPr sz="727" b="0">
                <a:solidFill>
                  <a:srgbClr val="FF5A1F"/>
                </a:solidFill>
                <a:latin typeface="Arial"/>
              </a:rPr>
              <a:t>06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PROJECT </a:t>
            </a:r>
            <a:r>
              <a:rPr sz="727" b="0">
                <a:solidFill>
                  <a:srgbClr val="FF5A1F"/>
                </a:solidFill>
                <a:latin typeface="Arial"/>
              </a:rPr>
              <a:t>· </a:t>
            </a:r>
            <a:r>
              <a:rPr sz="727" b="0">
                <a:solidFill>
                  <a:srgbClr val="FF5A1F"/>
                </a:solidFill>
                <a:latin typeface="Arial"/>
              </a:rPr>
              <a:t>F.LLI </a:t>
            </a:r>
            <a:r>
              <a:rPr sz="727" b="0">
                <a:solidFill>
                  <a:srgbClr val="FF5A1F"/>
                </a:solidFill>
                <a:latin typeface="Arial"/>
              </a:rPr>
              <a:t>FERRARI </a:t>
            </a:r>
            <a:r>
              <a:rPr sz="727" b="0">
                <a:solidFill>
                  <a:srgbClr val="FF5A1F"/>
                </a:solidFill>
                <a:latin typeface="Arial"/>
              </a:rPr>
              <a:t>CRANE </a:t>
            </a:r>
            <a:r>
              <a:rPr sz="727" b="0">
                <a:solidFill>
                  <a:srgbClr val="FF5A1F"/>
                </a:solidFill>
                <a:latin typeface="Arial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" y="936879"/>
            <a:ext cx="6051946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82" b="0">
                <a:solidFill>
                  <a:srgbClr val="F0ECE8"/>
                </a:solidFill>
                <a:latin typeface="Arial"/>
              </a:rPr>
              <a:t>Appendix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Model </a:t>
            </a:r>
            <a:r>
              <a:rPr sz="2182" b="0">
                <a:solidFill>
                  <a:srgbClr val="F0ECE8"/>
                </a:solidFill>
                <a:latin typeface="Arial"/>
              </a:rPr>
              <a:t>Photos </a:t>
            </a:r>
            <a:r>
              <a:rPr sz="2182" b="0">
                <a:solidFill>
                  <a:srgbClr val="F0ECE8"/>
                </a:solidFill>
                <a:latin typeface="Arial"/>
              </a:rPr>
              <a:t>· </a:t>
            </a:r>
            <a:r>
              <a:rPr sz="2182" b="0">
                <a:solidFill>
                  <a:srgbClr val="F0ECE8"/>
                </a:solidFill>
                <a:latin typeface="Arial"/>
              </a:rPr>
              <a:t>Heavy </a:t>
            </a:r>
            <a:r>
              <a:rPr sz="2182" b="0">
                <a:solidFill>
                  <a:srgbClr val="F0ECE8"/>
                </a:solidFill>
                <a:latin typeface="Arial"/>
              </a:rPr>
              <a:t>&amp; </a:t>
            </a:r>
            <a:r>
              <a:rPr sz="2182" b="0">
                <a:solidFill>
                  <a:srgbClr val="F0ECE8"/>
                </a:solidFill>
                <a:latin typeface="Arial"/>
              </a:rPr>
              <a:t>F.lli </a:t>
            </a:r>
            <a:r>
              <a:rPr sz="2182" b="0">
                <a:solidFill>
                  <a:srgbClr val="F0ECE8"/>
                </a:solidFill>
                <a:latin typeface="Arial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9100" y="6592443"/>
            <a:ext cx="200784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0">
                <a:solidFill>
                  <a:srgbClr val="6F6963"/>
                </a:solidFill>
                <a:latin typeface="Arial"/>
              </a:rPr>
              <a:t>NEDP </a:t>
            </a:r>
            <a:r>
              <a:rPr sz="727" b="0">
                <a:solidFill>
                  <a:srgbClr val="6F6963"/>
                </a:solidFill>
                <a:latin typeface="Arial"/>
              </a:rPr>
              <a:t>MID </a:t>
            </a:r>
            <a:r>
              <a:rPr sz="727" b="0">
                <a:solidFill>
                  <a:srgbClr val="6F6963"/>
                </a:solidFill>
                <a:latin typeface="Arial"/>
              </a:rPr>
              <a:t>YEAR </a:t>
            </a:r>
            <a:r>
              <a:rPr sz="727" b="0">
                <a:solidFill>
                  <a:srgbClr val="6F6963"/>
                </a:solidFill>
                <a:latin typeface="Arial"/>
              </a:rPr>
              <a:t>REVIEW </a:t>
            </a:r>
            <a:r>
              <a:rPr sz="727" b="0">
                <a:solidFill>
                  <a:srgbClr val="6F6963"/>
                </a:solidFill>
                <a:latin typeface="Arial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819" y="6592443"/>
            <a:ext cx="739080" cy="104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7" b="1">
                <a:solidFill>
                  <a:srgbClr val="FF5A1F"/>
                </a:solidFill>
                <a:latin typeface="Arial"/>
              </a:rPr>
              <a:t>31 </a:t>
            </a:r>
            <a:r>
              <a:rPr sz="727" b="0">
                <a:solidFill>
                  <a:srgbClr val="6F6963"/>
                </a:solidFill>
                <a:latin typeface="Arial"/>
              </a:rPr>
              <a:t>/ </a:t>
            </a:r>
            <a:r>
              <a:rPr sz="727" b="0">
                <a:solidFill>
                  <a:srgbClr val="6F69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