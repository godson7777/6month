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NEDP MID YEAR REVIEW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125" y="15382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6571" y="1595437"/>
            <a:ext cx="19948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Personal 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" y="21478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571" y="2205037"/>
            <a:ext cx="160061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Company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27574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571" y="2814637"/>
            <a:ext cx="13873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Site Operation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125" y="33670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6571" y="3424237"/>
            <a:ext cx="180285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Organization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" y="39766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6571" y="4033837"/>
            <a:ext cx="215481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Roles &amp; Responsibility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125" y="45862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571" y="4643437"/>
            <a:ext cx="249588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Job Description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25" y="5195887"/>
            <a:ext cx="41317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6571" y="5253037"/>
            <a:ext cx="3413251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68" b="1">
                <a:solidFill>
                  <a:srgbClr val="F4F1EE"/>
                </a:solidFill>
                <a:latin typeface="Arial"/>
              </a:rPr>
              <a:t>Project — F.lli Ferrari Crane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2061" y="1700212"/>
            <a:ext cx="41398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F5A1F"/>
                </a:solidFill>
                <a:latin typeface="Arial"/>
              </a:rPr>
              <a:t>PRESENTER /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2061" y="1881187"/>
            <a:ext cx="4139883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16" b="1">
                <a:solidFill>
                  <a:srgbClr val="F4F1EE"/>
                </a:solidFill>
                <a:latin typeface="Arial"/>
              </a:rPr>
              <a:t>Tiberias K. Simu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2061" y="2214562"/>
            <a:ext cx="4139883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6F6963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2061" y="2757487"/>
            <a:ext cx="41398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F5A1F"/>
                </a:solidFill>
                <a:latin typeface="Arial"/>
              </a:rPr>
              <a:t>PRODUCTS I 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2061" y="2938462"/>
            <a:ext cx="4139883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39" b="1">
                <a:solidFill>
                  <a:srgbClr val="F4F1EE"/>
                </a:solidFill>
                <a:latin typeface="Arial"/>
              </a:rPr>
              <a:t>Small Suppeq</a:t>
            </a:r>
          </a:p>
          <a:p>
            <a:pPr algn="l"/>
            <a:r>
              <a:rPr sz="1439" b="1">
                <a:solidFill>
                  <a:srgbClr val="F4F1EE"/>
                </a:solidFill>
                <a:latin typeface="Arial"/>
              </a:rPr>
              <a:t>Truck Others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2061" y="3938587"/>
            <a:ext cx="4139883" cy="2827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PT Triatra Sinergia Pratama</a:t>
            </a:r>
          </a:p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Marketing Unit &amp; Strategic Division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01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98204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5601825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35719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About 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35719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Onboarding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02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PERSONAL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About 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975" y="1533525"/>
            <a:ext cx="3529834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84" b="1">
                <a:solidFill>
                  <a:srgbClr val="F4F1EE"/>
                </a:solidFill>
                <a:latin typeface="Arial"/>
              </a:rPr>
              <a:t>Tiberias Krisgaharu Simu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975" y="1800225"/>
            <a:ext cx="352983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F5A1F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975" y="2152650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75" y="2257425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975" y="2524125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DIVISION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" y="2628900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Marketing Unit &amp; Strategic · PT Triatra Sinergia Pratama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975" y="2895600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975" y="3000375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Small Suppeq · Truck Others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975" y="3267075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DATE OF BIRTH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975" y="3371850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[ fill in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975" y="3638550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PLACE OF BIRTH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1975" y="3743325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[ fill in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975" y="4010025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975" y="4114800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[ fill in ]@triatra.co.id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975" y="4381500"/>
            <a:ext cx="3529834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975" y="4486275"/>
            <a:ext cx="352983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F4F1EE"/>
                </a:solidFill>
                <a:latin typeface="Arial"/>
              </a:rPr>
              <a:t>[ fill in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1120" y="1533525"/>
            <a:ext cx="4468966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1EE"/>
                </a:solidFill>
                <a:latin typeface="Arial"/>
              </a:rPr>
              <a:t>Education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420" y="1781175"/>
            <a:ext cx="434780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1">
                <a:solidFill>
                  <a:srgbClr val="F4F1EE"/>
                </a:solidFill>
                <a:latin typeface="Arial"/>
              </a:rPr>
              <a:t>[ University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420" y="1933575"/>
            <a:ext cx="434780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[ Degree · Major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420" y="2066925"/>
            <a:ext cx="434780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[ Year – Year ] · GPA [ x.xx / 4.00 ]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1120" y="2371725"/>
            <a:ext cx="4468966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1EE"/>
                </a:solidFill>
                <a:latin typeface="Arial"/>
              </a:rPr>
              <a:t>Work 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420" y="2619375"/>
            <a:ext cx="434780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1">
                <a:solidFill>
                  <a:srgbClr val="F4F1EE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420" y="2771775"/>
            <a:ext cx="434780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Marketing Strategic 2 Associate · 2026 – 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420" y="3057525"/>
            <a:ext cx="434780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1">
                <a:solidFill>
                  <a:srgbClr val="F4F1EE"/>
                </a:solidFill>
                <a:latin typeface="Arial"/>
              </a:rPr>
              <a:t>[ Company 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420" y="3209925"/>
            <a:ext cx="434780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[ Role · Period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420" y="3495675"/>
            <a:ext cx="4347808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1">
                <a:solidFill>
                  <a:srgbClr val="F4F1EE"/>
                </a:solidFill>
                <a:latin typeface="Arial"/>
              </a:rPr>
              <a:t>[ Company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420" y="3648075"/>
            <a:ext cx="434780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[ Role · Period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16714" y="1524000"/>
            <a:ext cx="3174247" cy="493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6F6963"/>
                </a:solidFill>
                <a:latin typeface="Arial"/>
              </a:rPr>
              <a:t>PROFILE PHOTO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03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PERSONAL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975" y="6096000"/>
            <a:ext cx="6734683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B-ONE · Basic Orientation for New Employee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4563" y="3590925"/>
            <a:ext cx="4745831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Basic Technical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4563" y="6096000"/>
            <a:ext cx="4745831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Batch gathering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75" y="6210300"/>
            <a:ext cx="6734683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Marketing HO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04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81050"/>
            <a:ext cx="1299972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F5A1F"/>
                </a:solidFill>
                <a:latin typeface="Arial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90600"/>
            <a:ext cx="1299972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48" b="1">
                <a:solidFill>
                  <a:srgbClr val="F0ECE8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038350"/>
            <a:ext cx="1299972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24" b="0">
                <a:solidFill>
                  <a:srgbClr val="EFE9E4"/>
                </a:solidFill>
                <a:latin typeface="Arial"/>
              </a:rPr>
              <a:t>Part of the UTPE Group · Distributor of PATRIA and ULTRA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FFFF"/>
                </a:solidFill>
                <a:latin typeface="Arial"/>
              </a:rPr>
              <a:t>NEDP MID YEAR REVIEW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05</a:t>
            </a:r>
            <a:r>
              <a:rPr sz="719" b="0">
                <a:solidFill>
                  <a:srgbClr val="FFFFFF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01 · COMPANY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66850"/>
            <a:ext cx="5790819" cy="26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F5A1F"/>
                </a:solidFill>
                <a:latin typeface="Arial"/>
              </a:rPr>
              <a:t>01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Triatra is part of the UTPE Group and AHEMCE, focusing on Distributorship and Trading.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7450" y="1466850"/>
            <a:ext cx="5790819" cy="26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F5A1F"/>
                </a:solidFill>
                <a:latin typeface="Arial"/>
              </a:rPr>
              <a:t>02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Starting in 2025, Triatra develops a new business line in Marine.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1905000"/>
            <a:ext cx="574570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CORPORATE ENTITY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2066925"/>
            <a:ext cx="5745700" cy="279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PT Triatra Sinergia Pratama is one of the entities within the UTPE Group, part of the UT Group and the AHEMCE business line of PT Astra International Tbk.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1675" y="2597943"/>
            <a:ext cx="2816295" cy="278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Astra International</a:t>
            </a:r>
          </a:p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Astra Heavy Equipment, Mining, Construction, and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1675" y="3321843"/>
            <a:ext cx="1189812" cy="278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United Tractors</a:t>
            </a:r>
          </a:p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Construction Machinery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1675" y="4045743"/>
            <a:ext cx="1508325" cy="278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UTPE</a:t>
            </a:r>
          </a:p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Engineering Solution &amp; Marine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815" y="4680346"/>
            <a:ext cx="738309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6" b="1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825" y="5826323"/>
            <a:ext cx="1730448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9" b="0">
                <a:solidFill>
                  <a:srgbClr val="FFD3C0"/>
                </a:solidFill>
                <a:latin typeface="Arial"/>
              </a:rPr>
              <a:t>Distributorship and Trading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3086" y="5826323"/>
            <a:ext cx="1730448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9" b="0">
                <a:solidFill>
                  <a:srgbClr val="A9A29C"/>
                </a:solidFill>
                <a:latin typeface="Arial"/>
              </a:rPr>
              <a:t>Ship Owner &amp; Operator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1348" y="5826323"/>
            <a:ext cx="1730448" cy="123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9" b="0">
                <a:solidFill>
                  <a:srgbClr val="A9A29C"/>
                </a:solidFill>
                <a:latin typeface="Arial"/>
              </a:rPr>
              <a:t>Ship Building and Repair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6285" y="1905000"/>
            <a:ext cx="619941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0585" y="2162175"/>
            <a:ext cx="5957095" cy="417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Distributor of </a:t>
            </a:r>
            <a:r>
              <a:rPr sz="792" b="1">
                <a:solidFill>
                  <a:srgbClr val="F4F1EE"/>
                </a:solidFill>
                <a:latin typeface="Arial"/>
              </a:rPr>
              <a:t>PATRIA</a:t>
            </a:r>
            <a:r>
              <a:rPr sz="792" b="0">
                <a:solidFill>
                  <a:srgbClr val="A9A29C"/>
                </a:solidFill>
                <a:latin typeface="Arial"/>
              </a:rPr>
              <a:t> and </a:t>
            </a:r>
            <a:r>
              <a:rPr sz="792" b="1">
                <a:solidFill>
                  <a:srgbClr val="F4F1EE"/>
                </a:solidFill>
                <a:latin typeface="Arial"/>
              </a:rPr>
              <a:t>ULTRA</a:t>
            </a:r>
            <a:r>
              <a:rPr sz="792" b="0">
                <a:solidFill>
                  <a:srgbClr val="A9A29C"/>
                </a:solidFill>
                <a:latin typeface="Arial"/>
              </a:rPr>
              <a:t> products for mining, construction, agriculture, forestry and maritime. Triatra offers both equipment units and full after-sales support, from spare parts and remanufacturing to maintenance services.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6910" y="2742009"/>
            <a:ext cx="1724295" cy="408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Unit</a:t>
            </a:r>
          </a:p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International &amp; domestic trader of UTPE units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13317" y="2742009"/>
            <a:ext cx="1724295" cy="408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Part, Component &amp; Services</a:t>
            </a:r>
          </a:p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After-sales maintenance &amp; remanufacturing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6285" y="3350418"/>
            <a:ext cx="619941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INDUSTRY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0110" y="4689871"/>
            <a:ext cx="24468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F5A1F"/>
                </a:solidFill>
                <a:latin typeface="Arial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258" y="4708921"/>
            <a:ext cx="134173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Coal &amp; Mineral Mining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6517" y="4689871"/>
            <a:ext cx="24468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F5A1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666" y="4708921"/>
            <a:ext cx="830124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Construction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0110" y="6191250"/>
            <a:ext cx="24468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F5A1F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258" y="6210300"/>
            <a:ext cx="1472041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Forestry &amp; Agroindustry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14037" y="5128021"/>
            <a:ext cx="613049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6" b="1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6517" y="6191250"/>
            <a:ext cx="24468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F5A1F"/>
                </a:solidFill>
                <a:latin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666" y="6210300"/>
            <a:ext cx="574556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Maritime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06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107401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3902615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07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02 · SITE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Site Operation &amp;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85900"/>
            <a:ext cx="630558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Triatra covers many areas in Indonesia, with the Head Office in Jakarta, 5 Site Operations and Site Representatives.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175" y="4686300"/>
            <a:ext cx="2083037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Head Office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Raya Bekasi KM 22, Cakung, Jakarta Timur, 13910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175" y="5145881"/>
            <a:ext cx="2083037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Jakarta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Raya Bekasi KM 22, Cakung, Jakarta Timur, 13910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5605462"/>
            <a:ext cx="2426318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Tanjung Enim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Lingga Raya 10, Kel. Muara Enim, Sumatera Selatan, 31711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6065043"/>
            <a:ext cx="2320778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Pekanbaru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Soekarno Hatta KM 3,5 No. 151, Pekanbaru, Riau, 28291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9962" y="4686300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Banjarmasin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Ahmad Yani KM 13,5 Gambut, Banjarmasin, Kalimantan Selatan, 70652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9962" y="5145881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Sungai Danau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Ds. Karang Indah RT 12/RW 03, Kec. Angsana, Tanah Bambu, Kalimantan Selatan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9962" y="5605462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Tanjung Tabalong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A. Yani KM 7,5 Maburai, Kec. Murung Pudak, Kab. Tabalong, Kalimantan Selatan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9962" y="6065043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Batu Kajang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Negara KM 140 Batukajang, Kec. Batu Sopang, Kab. Paser, Kalimantan Timur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750" y="4686300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Muara Teweh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Ahmad Yani No. 85, Kel. Melayu, Kab. Barito Utara, Kalimantan Tengah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1750" y="5145881"/>
            <a:ext cx="2631087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Balikpapan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Jenderal Sudirman No. 844, Balikpapan, Kalimantan Timur, 76114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5605462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Melak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D/A PT Tambang Raya Usaha Tama, Hauling Road Trubaindo, Muara Lawa, Kutai Barat, Kalimantan Timur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6065043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Tabang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Site Indonesia Pratama, Workshop Buma Km 6, Hauling Road Baratabang, Kec. Muara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537" y="4686300"/>
            <a:ext cx="2164282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Tanjung Redeb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Gunung Panjang RT.04 No. 101B, Kab. Berau, 77311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537" y="5145881"/>
            <a:ext cx="2584391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Sangatta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HDRS Tango Delta KPC, Mine Site Sangatta, Kutai Timur, 75683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537" y="5605462"/>
            <a:ext cx="2746724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Sumbawa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Memco Area Tongo, Sekongkang, West Sumbawa, Nusa Tenggara Barat, 84457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537" y="6065043"/>
            <a:ext cx="2224703" cy="411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Timika</a:t>
            </a:r>
          </a:p>
          <a:p>
            <a:pPr algn="l"/>
            <a:r>
              <a:rPr sz="597" b="0">
                <a:solidFill>
                  <a:srgbClr val="A9A29C"/>
                </a:solidFill>
                <a:latin typeface="Arial"/>
              </a:rPr>
              <a:t>Jl. Kuala Tembaga E-4 LIP Kuala Kencana, Timika, 99920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08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107401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5104888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Organization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09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03 · ORGANIZATION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Organization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2025" y="1500187"/>
            <a:ext cx="288302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Ceisar Centiaga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2025" y="1671637"/>
            <a:ext cx="2883027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DIRECTOR IN CHARGE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2025" y="2024062"/>
            <a:ext cx="288302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Ricardo Tanada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2025" y="2195512"/>
            <a:ext cx="2883027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MKT UNIT &amp; STRATEGIC DIV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700337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Kresnanto A.W.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871787"/>
            <a:ext cx="27214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MKT STRATEGIC 1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186112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Satrio F.R.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3357562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3708499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M. Fawwaz J.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3879949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Cabin, Forestry, Agro, Forklift, Towerlamp, Pump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9950" y="2700337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Ricardo Tanada (c)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9950" y="2871787"/>
            <a:ext cx="27214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MKT STRATEGIC 2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9950" y="3186112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Ignatius Indrawan 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9950" y="3357562"/>
            <a:ext cx="27214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DEPUTY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9950" y="3671887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Ervin Bahar 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9950" y="3843337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9950" y="4194274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FD3C0"/>
                </a:solidFill>
                <a:latin typeface="Arial"/>
              </a:rPr>
              <a:t>Tiberias K.S. </a:t>
            </a:r>
            <a:r>
              <a:rPr sz="648" b="1">
                <a:solidFill>
                  <a:srgbClr val="FF5A1F"/>
                </a:solidFill>
                <a:latin typeface="Arial"/>
              </a:rPr>
              <a:t>◄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9950" y="4365724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FFD3C0"/>
                </a:solidFill>
                <a:latin typeface="Arial"/>
              </a:rPr>
              <a:t>Small Suppeq, Truck Others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9950" y="4716660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Eurico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9950" y="4888110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2325" y="5229522"/>
            <a:ext cx="2822448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2" b="0">
                <a:solidFill>
                  <a:srgbClr val="6F6963"/>
                </a:solidFill>
                <a:latin typeface="Arial"/>
              </a:rPr>
              <a:t>Nandu Narpati —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0" y="2700337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Ugik Praseno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871787"/>
            <a:ext cx="27214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MKT STRATEGIC 3 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6500" y="3186112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Baihaqi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6500" y="3357562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Mineral Processing, EPC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6500" y="3708499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Yuda Prana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0" y="3879949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Maritime, Renewable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0" y="4230885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Celine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6500" y="4402335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Ultra Product 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0" y="4753272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Hanifa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6500" y="4924722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Automation, EV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63050" y="2700337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Marketing Communication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3050" y="2871787"/>
            <a:ext cx="272148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MARCOMM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3050" y="3186112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Karina Audina 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3050" y="3538537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Adinda Siti K.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63050" y="3890962"/>
            <a:ext cx="2721483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Rahma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3050" y="4062412"/>
            <a:ext cx="2721483" cy="141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Graphic Designer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10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107401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6028560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Roles &amp;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200889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F5A1F"/>
                </a:solidFill>
                <a:latin typeface="Arial"/>
              </a:rPr>
              <a:t>A — Position &amp;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200889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B — Strategic vs Supply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0028" y="6600825"/>
            <a:ext cx="45024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11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04 · ROLES &amp; RESPONSIBILITY ·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Position &amp; 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43037"/>
            <a:ext cx="1106516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REPORTING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290" y="1747837"/>
            <a:ext cx="273189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Ricardo Tanada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290" y="1919287"/>
            <a:ext cx="273189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DEPT HEAD (CONCURRENT)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2180" y="2443162"/>
            <a:ext cx="3590886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6" b="1">
                <a:solidFill>
                  <a:srgbClr val="F4F1EE"/>
                </a:solidFill>
                <a:latin typeface="Arial"/>
              </a:rPr>
              <a:t>Ignatius Indrawan Sumawinata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180" y="2614612"/>
            <a:ext cx="3590886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4" b="0">
                <a:solidFill>
                  <a:srgbClr val="6F6963"/>
                </a:solidFill>
                <a:latin typeface="Arial"/>
              </a:rPr>
              <a:t>DEPUTY 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" y="3290887"/>
            <a:ext cx="1236824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F4F1EE"/>
                </a:solidFill>
                <a:latin typeface="Arial"/>
              </a:rPr>
              <a:t>Ervin Bahar 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975" y="3452812"/>
            <a:ext cx="1236824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9" b="0">
                <a:solidFill>
                  <a:srgbClr val="A9A29C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8853" y="3233737"/>
            <a:ext cx="145658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FFD3C0"/>
                </a:solidFill>
                <a:latin typeface="Arial"/>
              </a:rPr>
              <a:t>Tiberias K. Simu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8853" y="3395662"/>
            <a:ext cx="1456580" cy="128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9" b="0">
                <a:solidFill>
                  <a:srgbClr val="FFD3C0"/>
                </a:solidFill>
                <a:latin typeface="Arial"/>
              </a:rPr>
              <a:t>Small Suppeq, Truck Others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3049" y="3290887"/>
            <a:ext cx="1236824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F4F1EE"/>
                </a:solidFill>
                <a:latin typeface="Arial"/>
              </a:rPr>
              <a:t>Eurico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3049" y="3452812"/>
            <a:ext cx="1236824" cy="128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9" b="0">
                <a:solidFill>
                  <a:srgbClr val="A9A29C"/>
                </a:solidFill>
                <a:latin typeface="Arial"/>
              </a:rPr>
              <a:t>Trailer, Overseas Zone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6069" y="3910012"/>
            <a:ext cx="720482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ASSOCIATES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4851" y="1443037"/>
            <a:ext cx="699593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MY PRODUCTS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726" y="1747837"/>
            <a:ext cx="3162416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Small Suppeq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7726" y="1947862"/>
            <a:ext cx="3162416" cy="2827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Water Truck (WT20, WT35), Lube Truck (LT08), Fuel Truck (FT20) and similar supporting units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8351" y="1747837"/>
            <a:ext cx="3162573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Truck Others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8351" y="1947862"/>
            <a:ext cx="3162573" cy="2827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Mining Crane, Fire Truck, Mixer Truck, Tyre Truck, Steaming Truck and other special-purpose trucks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576" y="3563540"/>
            <a:ext cx="79983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4F1EE"/>
                </a:solidFill>
                <a:latin typeface="Arial"/>
              </a:rPr>
              <a:t>Fuel Truck (FT)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576" y="4905970"/>
            <a:ext cx="90269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4F1EE"/>
                </a:solidFill>
                <a:latin typeface="Arial"/>
              </a:rPr>
              <a:t>Water Truck (WT)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576" y="6248400"/>
            <a:ext cx="826022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4F1EE"/>
                </a:solidFill>
                <a:latin typeface="Arial"/>
              </a:rPr>
              <a:t>Lube Truck (LT)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7401" y="3563540"/>
            <a:ext cx="65990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4F1EE"/>
                </a:solidFill>
                <a:latin typeface="Arial"/>
              </a:rPr>
              <a:t>Crane Truck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7401" y="4905970"/>
            <a:ext cx="637502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4F1EE"/>
                </a:solidFill>
                <a:latin typeface="Arial"/>
              </a:rPr>
              <a:t>Mixer Truck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7401" y="6248400"/>
            <a:ext cx="86183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4F1EE"/>
                </a:solidFill>
                <a:latin typeface="Arial"/>
              </a:rPr>
              <a:t>Stemming Truck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12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04 · ROLES &amp; RESPONSIBILITY ·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Strategic vs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390650"/>
            <a:ext cx="29832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414462"/>
            <a:ext cx="19445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Strategic vs Supply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925" y="1790700"/>
            <a:ext cx="115005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F5A1F"/>
                </a:solidFill>
                <a:latin typeface="Arial"/>
              </a:rPr>
              <a:t>A. STRATEGIC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4169" y="1828800"/>
            <a:ext cx="2027506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Sets the direction · for management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009775"/>
            <a:ext cx="3090478" cy="148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6F6963"/>
                </a:solidFill>
                <a:latin typeface="Arial"/>
              </a:rPr>
              <a:t>EXAMPLE ACTIVITIES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3733" y="2009775"/>
            <a:ext cx="2635189" cy="148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6F6963"/>
                </a:solidFill>
                <a:latin typeface="Arial"/>
              </a:rPr>
              <a:t>END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2186433"/>
            <a:ext cx="3090478" cy="156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Pricing &amp; Market Analysis: price &amp; market analysis 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3733" y="2186433"/>
            <a:ext cx="2635189" cy="156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Basis for the pricing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925" y="2371873"/>
            <a:ext cx="3090478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Market Study &amp; Program Development: market data, competitor mapping, new product analysis, 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3733" y="2371873"/>
            <a:ext cx="2635189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Market size / share, segmentation, positioning &amp; 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925" y="2676078"/>
            <a:ext cx="3090478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Market Program for Support Sales: sales tools (pamphlet), campaign &amp; project showcase, event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3733" y="2676078"/>
            <a:ext cx="2635189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Programs ready for the sales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925" y="2980283"/>
            <a:ext cx="3090478" cy="156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Performance Reporting: PICA analysis, billing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3733" y="2980283"/>
            <a:ext cx="2635189" cy="156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Input for performance evaluation &amp; management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925" y="3165723"/>
            <a:ext cx="3090478" cy="15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Innovation &amp; Development: innovation project &amp;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3733" y="3165723"/>
            <a:ext cx="2635189" cy="15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Innovation framework; field conditions documented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6975" y="1790700"/>
            <a:ext cx="1403731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FB089"/>
                </a:solidFill>
                <a:latin typeface="Arial"/>
              </a:rPr>
              <a:t>B. SUPPLY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5350" y="1828800"/>
            <a:ext cx="162774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Runs the transaction · for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6975" y="2009775"/>
            <a:ext cx="3090478" cy="148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6F6963"/>
                </a:solidFill>
                <a:latin typeface="Arial"/>
              </a:rPr>
              <a:t>EXAMPLE ACTIVITIES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783" y="2009775"/>
            <a:ext cx="2635189" cy="148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6F6963"/>
                </a:solidFill>
                <a:latin typeface="Arial"/>
              </a:rPr>
              <a:t>END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6975" y="2186433"/>
            <a:ext cx="3090478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Demand Check: rising demand in PCR, buying reason, location, priority, expected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783" y="2186433"/>
            <a:ext cx="2635189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Clear demand before quoting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6975" y="2490638"/>
            <a:ext cx="3090478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Preliminary Drawing Review: unit function, critical components, Application Engineering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7783" y="2490638"/>
            <a:ext cx="2635189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Critical price / lead-time items identified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6975" y="2794843"/>
            <a:ext cx="3090478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Request Quote to UTE: full data, standard GP 13.6%, SLA, result into PCR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783" y="2794843"/>
            <a:ext cx="2635189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Quote ready for the sales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6975" y="3099048"/>
            <a:ext cx="3090478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Close Won → CPO: PO / PJB in CRM, QFD, RFD = PO Interco due date, approval 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7783" y="3099048"/>
            <a:ext cx="2635189" cy="275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PO Interco issued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6975" y="3403252"/>
            <a:ext cx="3090478" cy="15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F4F1EE"/>
                </a:solidFill>
                <a:latin typeface="Arial"/>
              </a:rPr>
              <a:t>Monitoring: production follow-up, QFD vs actual, painting style, FAT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7783" y="3403252"/>
            <a:ext cx="2635189" cy="1521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91" b="0">
                <a:solidFill>
                  <a:srgbClr val="A9A29C"/>
                </a:solidFill>
                <a:latin typeface="Arial"/>
              </a:rPr>
              <a:t>Unit delivered on RFD; billing documents 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100" y="3707755"/>
            <a:ext cx="29832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900" y="3731567"/>
            <a:ext cx="54758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SIPOC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19250" y="4079230"/>
            <a:ext cx="2062370" cy="176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F4F1EE"/>
                </a:solidFill>
                <a:latin typeface="Arial"/>
              </a:rPr>
              <a:t>SUPPLIER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5396" y="4079230"/>
            <a:ext cx="1982229" cy="176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F4F1EE"/>
                </a:solidFill>
                <a:latin typeface="Arial"/>
              </a:rPr>
              <a:t>INPUT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5937" y="4079230"/>
            <a:ext cx="2894543" cy="176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FF5A1F"/>
                </a:solidFill>
                <a:latin typeface="Arial"/>
              </a:rPr>
              <a:t>PROCESS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7151" y="4079230"/>
            <a:ext cx="2077515" cy="176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F4F1EE"/>
                </a:solidFill>
                <a:latin typeface="Arial"/>
              </a:rPr>
              <a:t>OUTPUT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7585" y="4079230"/>
            <a:ext cx="1400261" cy="176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F4F1EE"/>
                </a:solidFill>
                <a:latin typeface="Arial"/>
              </a:rPr>
              <a:t>CUSTOMER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300" y="4293542"/>
            <a:ext cx="1106043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1">
                <a:solidFill>
                  <a:srgbClr val="FFB089"/>
                </a:solidFill>
                <a:latin typeface="Arial"/>
              </a:rPr>
              <a:t>SUPPLY CHAIN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9250" y="4293542"/>
            <a:ext cx="2062370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BC / Sales, UTE (Patria), non-Patria vendors, forwarders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5396" y="4293542"/>
            <a:ext cx="1982229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PCR demand, preliminary drawing, PO / PJB, QFD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5937" y="4293542"/>
            <a:ext cx="2894543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1">
                <a:solidFill>
                  <a:srgbClr val="F4F1EE"/>
                </a:solidFill>
                <a:latin typeface="Arial"/>
              </a:rPr>
              <a:t>Quote request → close won → PO Interco → production monitoring → billing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7151" y="4293542"/>
            <a:ext cx="2077515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Quotation, PO Interco, BAST / BAPB, invoice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585" y="4293542"/>
            <a:ext cx="1400261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Sales team, end customer, Finance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5300" y="4631084"/>
            <a:ext cx="1106043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1">
                <a:solidFill>
                  <a:srgbClr val="FF5A1F"/>
                </a:solidFill>
                <a:latin typeface="Arial"/>
              </a:rPr>
              <a:t>STRATEGIC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19250" y="4631084"/>
            <a:ext cx="2062370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CRM, sales &amp; GP data, market sources,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45396" y="4631084"/>
            <a:ext cx="1982229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Market data, competitor specs, price history, GP results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5937" y="4631084"/>
            <a:ext cx="2894543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1">
                <a:solidFill>
                  <a:srgbClr val="F4F1EE"/>
                </a:solidFill>
                <a:latin typeface="Arial"/>
              </a:rPr>
              <a:t>Market study, price analysis, sales programs, GP &amp; PICA reporting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7151" y="4631084"/>
            <a:ext cx="2077515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Market study, CRM price list, sales tools, GP / PICA report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47585" y="4631084"/>
            <a:ext cx="1400261" cy="299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Management / BOD, Sales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9100" y="5011489"/>
            <a:ext cx="29832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3900" y="5035301"/>
            <a:ext cx="4076307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Dimensions, Working Relationships &amp; Work Challenges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925" y="5402014"/>
            <a:ext cx="374454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Dimensions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275" y="5563939"/>
            <a:ext cx="3603191" cy="270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1">
                <a:solidFill>
                  <a:srgbClr val="F4F1EE"/>
                </a:solidFill>
                <a:latin typeface="Arial"/>
              </a:rPr>
              <a:t>Financial:</a:t>
            </a:r>
            <a:r>
              <a:rPr sz="705" b="0">
                <a:solidFill>
                  <a:srgbClr val="A9A29C"/>
                </a:solidFill>
                <a:latin typeface="Arial"/>
              </a:rPr>
              <a:t> non-Patria procurement budget, COGS per unit, target margin per PO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6275" y="5872608"/>
            <a:ext cx="3603191" cy="270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1">
                <a:solidFill>
                  <a:srgbClr val="F4F1EE"/>
                </a:solidFill>
                <a:latin typeface="Arial"/>
              </a:rPr>
              <a:t>Non-financial:</a:t>
            </a:r>
            <a:r>
              <a:rPr sz="705" b="0">
                <a:solidFill>
                  <a:srgbClr val="A9A29C"/>
                </a:solidFill>
                <a:latin typeface="Arial"/>
              </a:rPr>
              <a:t> vendors &amp; customers, documents verified, report frequency, meetings &amp; site visits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5575" y="5402014"/>
            <a:ext cx="3744542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Working Relationships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98925" y="5563939"/>
            <a:ext cx="3603191" cy="270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1">
                <a:solidFill>
                  <a:srgbClr val="F4F1EE"/>
                </a:solidFill>
                <a:latin typeface="Arial"/>
              </a:rPr>
              <a:t>Internal:</a:t>
            </a:r>
            <a:r>
              <a:rPr sz="705" b="0">
                <a:solidFill>
                  <a:srgbClr val="A9A29C"/>
                </a:solidFill>
                <a:latin typeface="Arial"/>
              </a:rPr>
              <a:t> Sales &amp; Marketing, Warehouse, Finance &amp; Accounting, Legal, Procurement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98925" y="5872608"/>
            <a:ext cx="3603191" cy="135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1">
                <a:solidFill>
                  <a:srgbClr val="F4F1EE"/>
                </a:solidFill>
                <a:latin typeface="Arial"/>
              </a:rPr>
              <a:t>External:</a:t>
            </a:r>
            <a:r>
              <a:rPr sz="705" b="0">
                <a:solidFill>
                  <a:srgbClr val="A9A29C"/>
                </a:solidFill>
                <a:latin typeface="Arial"/>
              </a:rPr>
              <a:t> customers, Patria &amp; non-Patria vendors, forwarders, UTPE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88225" y="5402014"/>
            <a:ext cx="3744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Work Challenges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575" y="5563939"/>
            <a:ext cx="3603349" cy="135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Push UTPE marketing to send unit price quotes quickly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575" y="5737324"/>
            <a:ext cx="3603349" cy="270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Push UTPE marketing and escalate to superiors when production problems threaten the timeline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575" y="6045993"/>
            <a:ext cx="3603349" cy="135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5" b="0">
                <a:solidFill>
                  <a:srgbClr val="A9A29C"/>
                </a:solidFill>
                <a:latin typeface="Arial"/>
              </a:rPr>
              <a:t>Sudden customer quote requests that need a price in a very short 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13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107401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7000663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Job Description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23130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F5A1F"/>
                </a:solidFill>
                <a:latin typeface="Arial"/>
              </a:rPr>
              <a:t>A — Strategic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23130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B — Supply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14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05 · JOB DESCRIPTION EXECUTION ·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Strategic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21764" y="1047750"/>
            <a:ext cx="75124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STEPS 1–5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1611659"/>
            <a:ext cx="1683436" cy="1485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Pricing &amp; Market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1876425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Price &amp; market analysis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145208"/>
            <a:ext cx="1921808" cy="2728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FF5A1F"/>
                </a:solidFill>
                <a:latin typeface="Arial"/>
              </a:rPr>
              <a:t>END RESULT</a:t>
            </a:r>
          </a:p>
          <a:p>
            <a:pPr algn="l"/>
            <a:r>
              <a:rPr sz="756" b="0">
                <a:solidFill>
                  <a:srgbClr val="F4F1EE"/>
                </a:solidFill>
                <a:latin typeface="Arial"/>
              </a:rPr>
              <a:t>Basis for the pricing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7515" y="1552575"/>
            <a:ext cx="1699685" cy="29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Market Study &amp; Program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915" y="1906785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Collect market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8915" y="2089844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Map competitor 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8915" y="2272903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Analyse new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8915" y="2455961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Write the market study 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1765" y="2724745"/>
            <a:ext cx="1921808" cy="4077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FF5A1F"/>
                </a:solidFill>
                <a:latin typeface="Arial"/>
              </a:rPr>
              <a:t>END RESULT</a:t>
            </a:r>
          </a:p>
          <a:p>
            <a:pPr algn="l"/>
            <a:r>
              <a:rPr sz="756" b="0">
                <a:solidFill>
                  <a:srgbClr val="F4F1EE"/>
                </a:solidFill>
                <a:latin typeface="Arial"/>
              </a:rPr>
              <a:t>Market size / share, segmentation, positioning &amp; 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1105" y="1552575"/>
            <a:ext cx="1699685" cy="29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Market Program for Support Sales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2505" y="1906785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Sales tools (pamphlet)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2505" y="2089844"/>
            <a:ext cx="1942001" cy="289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Campaign, portfolio &amp; project showcase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2505" y="2417861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Event support (mining expo)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5355" y="2686645"/>
            <a:ext cx="1921808" cy="2728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FF5A1F"/>
                </a:solidFill>
                <a:latin typeface="Arial"/>
              </a:rPr>
              <a:t>END RESULT</a:t>
            </a:r>
          </a:p>
          <a:p>
            <a:pPr algn="l"/>
            <a:r>
              <a:rPr sz="756" b="0">
                <a:solidFill>
                  <a:srgbClr val="F4F1EE"/>
                </a:solidFill>
                <a:latin typeface="Arial"/>
              </a:rPr>
              <a:t>Programs ready for the sales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4695" y="1611659"/>
            <a:ext cx="1534986" cy="1485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Performance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6095" y="1876425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PICA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6095" y="2059483"/>
            <a:ext cx="1942001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Billing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8945" y="2328267"/>
            <a:ext cx="1921808" cy="4077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FF5A1F"/>
                </a:solidFill>
                <a:latin typeface="Arial"/>
              </a:rPr>
              <a:t>END RESULT</a:t>
            </a:r>
          </a:p>
          <a:p>
            <a:pPr algn="l"/>
            <a:r>
              <a:rPr sz="756" b="0">
                <a:solidFill>
                  <a:srgbClr val="F4F1EE"/>
                </a:solidFill>
                <a:latin typeface="Arial"/>
              </a:rPr>
              <a:t>Input for performance evaluation &amp; management 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98285" y="1552575"/>
            <a:ext cx="1699843" cy="29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Innovation &amp; Development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9685" y="1906785"/>
            <a:ext cx="1942159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Innovation project &amp;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2535" y="2175569"/>
            <a:ext cx="1921966" cy="4077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12" b="1">
                <a:solidFill>
                  <a:srgbClr val="FF5A1F"/>
                </a:solidFill>
                <a:latin typeface="Arial"/>
              </a:rPr>
              <a:t>END RESULT</a:t>
            </a:r>
          </a:p>
          <a:p>
            <a:pPr algn="l"/>
            <a:r>
              <a:rPr sz="756" b="0">
                <a:solidFill>
                  <a:srgbClr val="F4F1EE"/>
                </a:solidFill>
                <a:latin typeface="Arial"/>
              </a:rPr>
              <a:t>Innovation framework; field conditions documented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925" y="5959375"/>
            <a:ext cx="2827496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F5A1F"/>
                </a:solidFill>
                <a:latin typeface="Arial"/>
              </a:rPr>
              <a:t>DELIVERABLES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925" y="6092725"/>
            <a:ext cx="2827496" cy="26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Market study report, competitor mapping, sales tools, GP and performance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76612" y="5959375"/>
            <a:ext cx="2827496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F5A1F"/>
                </a:solidFill>
                <a:latin typeface="Arial"/>
              </a:rPr>
              <a:t>DEPARTMENTS INVOLVED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76612" y="6092725"/>
            <a:ext cx="2827496" cy="26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Sales, Marketing Communication, Marketing Parts, UTPE,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0300" y="5959375"/>
            <a:ext cx="2827496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F5A1F"/>
                </a:solidFill>
                <a:latin typeface="Arial"/>
              </a:rPr>
              <a:t>CHALLENGES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0300" y="6092725"/>
            <a:ext cx="2827496" cy="26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Keeping market data current, validating competitor data, tight timelines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3987" y="5959375"/>
            <a:ext cx="2837592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F5A1F"/>
                </a:solidFill>
                <a:latin typeface="Arial"/>
              </a:rPr>
              <a:t>IMPROVEMENTS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43987" y="6092725"/>
            <a:ext cx="2837592" cy="269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Standard report template, automate market data updates, review competitor data regularly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15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B089"/>
                </a:solidFill>
                <a:latin typeface="Arial"/>
              </a:rPr>
              <a:t>SECTION 05 · JOB DESCRIPTION EXECUTION ·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Supply Chain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398" y="1047750"/>
            <a:ext cx="1832833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B089"/>
                </a:solidFill>
                <a:latin typeface="Arial"/>
              </a:rPr>
              <a:t>MAIN PROCESS · STEPS 1–3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1611659"/>
            <a:ext cx="1024482" cy="1485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Demand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1876425"/>
            <a:ext cx="3562805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Look at which demands are rising in PCR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325" y="2059483"/>
            <a:ext cx="3562805" cy="289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Clarify with the Business Consultant why the customer is buying — expansion, new business or replacement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2387500"/>
            <a:ext cx="3562805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where the project is located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325" y="2570559"/>
            <a:ext cx="3562805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whether the customer wants it fast or cheap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325" y="2753617"/>
            <a:ext cx="3562805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the expected price and when the PO is likely to 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6575" y="1611659"/>
            <a:ext cx="1834253" cy="1485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Preliminary Drawing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975" y="1876425"/>
            <a:ext cx="3562805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what the unit does and 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975" y="2059483"/>
            <a:ext cx="3562805" cy="289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the main components and find which ones are critical on price or lead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975" y="2387500"/>
            <a:ext cx="3562805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Consult Application Engineering to understand the unit in more depth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9225" y="1611659"/>
            <a:ext cx="1469043" cy="1485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Request Quote to 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0625" y="1876425"/>
            <a:ext cx="3562963" cy="289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Attach the preliminary drawing, expected price and lead time, end customer name and expected delivery so UTE has the full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5" y="2204442"/>
            <a:ext cx="3562963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the standard GP (13.6%, the price before negotiation)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5" y="2387500"/>
            <a:ext cx="3562963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the SLA and escalate if it takes too long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0625" y="2570559"/>
            <a:ext cx="3562963" cy="144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Enter the quote result into PCR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16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B089"/>
                </a:solidFill>
                <a:latin typeface="Arial"/>
              </a:rPr>
              <a:t>SECTION 05 · JOB DESCRIPTION EXECUTION ·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Supply Chain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398" y="1047750"/>
            <a:ext cx="1832833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B089"/>
                </a:solidFill>
                <a:latin typeface="Arial"/>
              </a:rPr>
              <a:t>MAIN PROCESS · STEPS 4–5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1585912"/>
            <a:ext cx="1419823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Close Won → CPO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1857375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Check the PO, preliminary drawing and PJB in CRM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325" y="2030462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Request QFD from UTE and collect special requests and painting style from the Business Consultant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2203549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The RFD date from QFD becomes the due date of the PO Interco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325" y="2376636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Close won route: Sales Manager → Marketing Associate → Marketing Manager → GM Marketing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325" y="2549723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PO Interco approval: Marketing Manager → GM Marketing → Marketing Director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0" y="1585912"/>
            <a:ext cx="85852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900" y="1857375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Follow production regularly and update sales — visit the plant or request photos from Nandu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30462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Compare the QFD plan against actual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900" y="2203549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Escalate any production issue that puts the agreed RFD at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2376636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Request and track painting style at least one month before RFD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900" y="2549723"/>
            <a:ext cx="5578792" cy="1349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6" b="0">
                <a:solidFill>
                  <a:srgbClr val="A9A29C"/>
                </a:solidFill>
                <a:latin typeface="Arial"/>
              </a:rPr>
              <a:t>Join the customer FAT together with the Business Consultant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4299495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INTERNAL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975" y="4556670"/>
            <a:ext cx="272653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1EE"/>
                </a:solidFill>
                <a:latin typeface="Arial"/>
              </a:rPr>
              <a:t>1. Pipeline–OSPO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975" y="4728120"/>
            <a:ext cx="2726531" cy="128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Build it and update it every month.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4237" y="4556670"/>
            <a:ext cx="272653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1EE"/>
                </a:solidFill>
                <a:latin typeface="Arial"/>
              </a:rPr>
              <a:t>2. Staging Pipeline in CRM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4237" y="4728120"/>
            <a:ext cx="2726531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No preliminary yet means the deal is still far off; once there is one, validate it and request a quote from UTPE.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6500" y="4556670"/>
            <a:ext cx="272653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1EE"/>
                </a:solidFill>
                <a:latin typeface="Arial"/>
              </a:rPr>
              <a:t>3. Quote Price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6500" y="4728120"/>
            <a:ext cx="2726531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Track the detail, average SLA and initial price of quotes from UTE.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8762" y="4556670"/>
            <a:ext cx="272653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F1EE"/>
                </a:solidFill>
                <a:latin typeface="Arial"/>
              </a:rPr>
              <a:t>4. Billing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8762" y="4728120"/>
            <a:ext cx="2726531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Check whether it sits in production, UTE administration or Triatra administration, and escalate any blockage.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100" y="5156745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BILLING PROCESS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" y="5432970"/>
            <a:ext cx="1085850" cy="4649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111111"/>
                </a:solidFill>
                <a:latin typeface="Arial"/>
              </a:rPr>
              <a:t>AT 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1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PO Interco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2073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2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PRO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9196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3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PR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96320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4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PO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443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5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Drawing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0567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6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BOM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7690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7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LPPB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4814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8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PB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1937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9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Fabrication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79060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10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Assembly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6184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11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QC passed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3307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12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GR Teco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70431" y="5471070"/>
            <a:ext cx="779799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13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GI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100" y="5993159"/>
            <a:ext cx="1085850" cy="4649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1">
                <a:solidFill>
                  <a:srgbClr val="FFFFFF"/>
                </a:solidFill>
                <a:latin typeface="Arial"/>
              </a:rPr>
              <a:t>AT TRIATRA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04950" y="6031259"/>
            <a:ext cx="1765628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1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GR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32100" y="6031259"/>
            <a:ext cx="1765628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2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DO / 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59250" y="6031259"/>
            <a:ext cx="1765628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3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GI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6401" y="6031259"/>
            <a:ext cx="1765628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4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BAST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3551" y="6031259"/>
            <a:ext cx="1765628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5</a:t>
            </a:r>
          </a:p>
          <a:p>
            <a:pPr algn="ctr"/>
            <a:r>
              <a:rPr sz="792" b="1">
                <a:solidFill>
                  <a:srgbClr val="F4F1EE"/>
                </a:solidFill>
                <a:latin typeface="Arial"/>
              </a:rPr>
              <a:t>BAST approval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0701" y="6031259"/>
            <a:ext cx="1765628" cy="42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8" b="1">
                <a:solidFill>
                  <a:srgbClr val="6F6963"/>
                </a:solidFill>
                <a:latin typeface="Arial"/>
              </a:rPr>
              <a:t>6</a:t>
            </a:r>
          </a:p>
          <a:p>
            <a:pPr algn="ctr"/>
            <a:r>
              <a:rPr sz="792" b="1">
                <a:solidFill>
                  <a:srgbClr val="FF5A1F"/>
                </a:solidFill>
                <a:latin typeface="Arial"/>
              </a:rPr>
              <a:t>Invoice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17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1074018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1936953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A — Market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B — Price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6766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C — F.lli Ferrari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433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D — 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18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20447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06 ·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4584287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Market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F5A1F"/>
                </a:solidFill>
                <a:latin typeface="Arial"/>
              </a:rPr>
              <a:t>A — Market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B — Price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6766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C — F.lli Ferrari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433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D — 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19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Market Size by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28750"/>
            <a:ext cx="665012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UNITS IMPORTED PER YEAR BY CLASS · 2023 – 2026*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1628775"/>
            <a:ext cx="821763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Light (≤ 8 tm)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5811" y="1628775"/>
            <a:ext cx="940239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Small (8–25 tm)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4293" y="1628775"/>
            <a:ext cx="110304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Medium (25–45 tm)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6365" y="1628775"/>
            <a:ext cx="94875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Heavy (&gt; 45 tm)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4657725"/>
            <a:ext cx="665012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TOTAL UNITS &amp; IMPORT VALUE · 2023 – 14 AUG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" y="4886325"/>
            <a:ext cx="894489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9671" y="4886325"/>
            <a:ext cx="1724611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LIFTING MOMENT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176" y="4886325"/>
            <a:ext cx="713226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0544" y="4886325"/>
            <a:ext cx="2021038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IMPORT VALUE (IDR)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7697" y="4886325"/>
            <a:ext cx="793840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" y="5110162"/>
            <a:ext cx="89448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9671" y="5110162"/>
            <a:ext cx="1724611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≤ 8 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176" y="5110162"/>
            <a:ext cx="71322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177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0544" y="5110162"/>
            <a:ext cx="202103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Rp 40.118.000.000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7697" y="5110162"/>
            <a:ext cx="79384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300" y="5386387"/>
            <a:ext cx="89448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Small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9671" y="5386387"/>
            <a:ext cx="1724611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8 – 25 tm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176" y="5386387"/>
            <a:ext cx="71322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0544" y="5386387"/>
            <a:ext cx="202103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Rp 77.241.000.000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697" y="5386387"/>
            <a:ext cx="79384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24%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" y="5662612"/>
            <a:ext cx="89448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Medium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9671" y="5662612"/>
            <a:ext cx="1724611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25 – 45 tm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27176" y="5662612"/>
            <a:ext cx="71322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196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0544" y="5662612"/>
            <a:ext cx="202103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Rp 118.328.000.000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67697" y="5662612"/>
            <a:ext cx="79384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36%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" y="5938837"/>
            <a:ext cx="89448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Heavy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9671" y="5938837"/>
            <a:ext cx="1724611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&gt; 45 tm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27176" y="5938837"/>
            <a:ext cx="71322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0544" y="5938837"/>
            <a:ext cx="202103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Rp 91.154.000.000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67697" y="5938837"/>
            <a:ext cx="79384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28%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300" y="6215062"/>
            <a:ext cx="894489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Total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27176" y="6215062"/>
            <a:ext cx="71322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638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0544" y="6215062"/>
            <a:ext cx="202103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Rp 326.841.000.000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67697" y="6215062"/>
            <a:ext cx="79384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4F1EE"/>
                </a:solidFill>
                <a:latin typeface="Arial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1416" y="1428750"/>
            <a:ext cx="5335372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AVERAGE UNITS PER YEAR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5241" y="1714500"/>
            <a:ext cx="2402812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5241" y="2066925"/>
            <a:ext cx="2402812" cy="142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Medium + Heavy · target classes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54008" y="1714500"/>
            <a:ext cx="2402969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1">
                <a:solidFill>
                  <a:srgbClr val="FF5A1F"/>
                </a:solidFill>
                <a:latin typeface="Arial"/>
              </a:rPr>
              <a:t>104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008" y="2066925"/>
            <a:ext cx="2402969" cy="142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Light + Small · non-target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1416" y="2428279"/>
            <a:ext cx="5335372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KEY POINTS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7641" y="2714029"/>
            <a:ext cx="4891126" cy="17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Medium + Heavy:</a:t>
            </a:r>
            <a:r>
              <a:rPr sz="936" b="0">
                <a:solidFill>
                  <a:srgbClr val="A9A29C"/>
                </a:solidFill>
                <a:latin typeface="Arial"/>
              </a:rPr>
              <a:t> 41% of units, 64% of import value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7641" y="2931616"/>
            <a:ext cx="4891126" cy="17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Value per unit:</a:t>
            </a:r>
            <a:r>
              <a:rPr sz="936" b="0">
                <a:solidFill>
                  <a:srgbClr val="A9A29C"/>
                </a:solidFill>
                <a:latin typeface="Arial"/>
              </a:rPr>
              <a:t> Rp 803 Jt vs Rp 311 Jt for Light + Small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7641" y="3149203"/>
            <a:ext cx="4891126" cy="3589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Use:</a:t>
            </a:r>
            <a:r>
              <a:rPr sz="936" b="0">
                <a:solidFill>
                  <a:srgbClr val="A9A29C"/>
                </a:solidFill>
                <a:latin typeface="Arial"/>
              </a:rPr>
              <a:t> 88% of Medium &amp; Heavy cranes need a truck GVW ≥ 24 t — mining, construction, heavy logistics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87641" y="3546276"/>
            <a:ext cx="4891126" cy="3589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1">
                <a:solidFill>
                  <a:srgbClr val="F4F1EE"/>
                </a:solidFill>
                <a:latin typeface="Arial"/>
              </a:rPr>
              <a:t>2026 is partial:</a:t>
            </a:r>
            <a:r>
              <a:rPr sz="936" b="0">
                <a:solidFill>
                  <a:srgbClr val="A9A29C"/>
                </a:solidFill>
                <a:latin typeface="Arial"/>
              </a:rPr>
              <a:t> only 12 Medium and 1 Heavy unit to 14 Aug; import records may be incomplete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1416" y="4105275"/>
            <a:ext cx="5335372" cy="2440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*2026 annualised (Jan – 14 Aug × 1.61). Source: Indonesia import records HS 84269100 + 84264900; truck-mounted knuckle boom cranes; Zoomlion &amp; Hyva excluded; USD 1 = Rp 17.803.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20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Brand Leaders ·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66850"/>
            <a:ext cx="5750433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111111"/>
                </a:solidFill>
                <a:latin typeface="Arial"/>
              </a:rPr>
              <a:t>MEDIUM · 25 – 45 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1676400"/>
            <a:ext cx="5992749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UNITS &amp; IMPORT VALUE BY BRAND ·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2190750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Amco Veba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2209800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5 · Rp 2,7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3028950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3048000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5 · Rp 4,9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100" y="3867150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3000" y="3886200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14 · Rp 7,2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100" y="4705350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Sany Palfinger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4724400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30 · Rp 13,2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" y="5295900"/>
            <a:ext cx="288542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022" y="5295900"/>
            <a:ext cx="1552497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3156" y="5295900"/>
            <a:ext cx="738782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0634" y="5295900"/>
            <a:ext cx="2088243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IMPORT VALUE (IDR)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188" y="5295900"/>
            <a:ext cx="821763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" y="5519737"/>
            <a:ext cx="28854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022" y="5519737"/>
            <a:ext cx="1552497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Sany Palfinger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3156" y="5519737"/>
            <a:ext cx="73878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0634" y="5519737"/>
            <a:ext cx="208824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Rp 13.226.000.000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1188" y="5519737"/>
            <a:ext cx="82176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8A3D"/>
                </a:solidFill>
                <a:latin typeface="Arial"/>
              </a:rPr>
              <a:t>47%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300" y="5795962"/>
            <a:ext cx="28854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022" y="5795962"/>
            <a:ext cx="1552497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93156" y="5795962"/>
            <a:ext cx="73878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0634" y="5795962"/>
            <a:ext cx="208824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Rp 7.197.000.000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1188" y="5795962"/>
            <a:ext cx="82176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26%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00" y="6072187"/>
            <a:ext cx="28854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022" y="6072187"/>
            <a:ext cx="1552497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Palfinger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93156" y="6072187"/>
            <a:ext cx="73878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70634" y="6072187"/>
            <a:ext cx="208824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Rp 4.869.000.000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21188" y="6072187"/>
            <a:ext cx="821763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17%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100" y="6343650"/>
            <a:ext cx="5992749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Total Medium 2025: 54 units · Rp 28,0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5550" y="1466850"/>
            <a:ext cx="5750433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111111"/>
                </a:solidFill>
                <a:latin typeface="Arial"/>
              </a:rPr>
              <a:t>HEAVY · &gt; 45 tm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1250" y="1676400"/>
            <a:ext cx="5992749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UNITS &amp; IMPORT VALUE BY BRAND ·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1250" y="2203846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150" y="2222896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4 · Rp 4,6 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1250" y="3068389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Amco Veba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150" y="3087439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7 · Rp 11,1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1250" y="3932932"/>
            <a:ext cx="169164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5150" y="3951982"/>
            <a:ext cx="11868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22 · Rp 29,7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7450" y="4536876"/>
            <a:ext cx="312994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#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3241" y="4536876"/>
            <a:ext cx="1273266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BRAND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4948" y="4536876"/>
            <a:ext cx="792578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177" y="4536876"/>
            <a:ext cx="2230225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IMPORT VALUE (IDR)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7676" y="4536876"/>
            <a:ext cx="880764" cy="157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6F6963"/>
                </a:solidFill>
                <a:latin typeface="Arial"/>
              </a:rPr>
              <a:t>SHARE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7450" y="4760714"/>
            <a:ext cx="312994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43241" y="4760714"/>
            <a:ext cx="127326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Palfinger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24948" y="4760714"/>
            <a:ext cx="79257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177" y="4760714"/>
            <a:ext cx="22302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Rp 29.738.000.000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37676" y="4760714"/>
            <a:ext cx="880764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4DA3FF"/>
                </a:solidFill>
                <a:latin typeface="Arial"/>
              </a:rPr>
              <a:t>62%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7450" y="5036939"/>
            <a:ext cx="312994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3241" y="5036939"/>
            <a:ext cx="127326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Amco Veba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4948" y="5036939"/>
            <a:ext cx="79257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3177" y="5036939"/>
            <a:ext cx="22302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Rp 11.065.000.000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37676" y="5036939"/>
            <a:ext cx="880764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23%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67450" y="5313164"/>
            <a:ext cx="312994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43241" y="5313164"/>
            <a:ext cx="1273266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XCMG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24948" y="5313164"/>
            <a:ext cx="792578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3177" y="5313164"/>
            <a:ext cx="22302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Rp 4.647.000.000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37676" y="5313164"/>
            <a:ext cx="880764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0">
                <a:solidFill>
                  <a:srgbClr val="A9A29C"/>
                </a:solidFill>
                <a:latin typeface="Arial"/>
              </a:rPr>
              <a:t>10%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250" y="5584626"/>
            <a:ext cx="5992749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Total Heavy 2025: 35 units · Rp 48,0 M. Sany Palfinger = Sany–Palfinger JV, made in China.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67475" y="5918001"/>
            <a:ext cx="5548503" cy="17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A9A29C"/>
                </a:solidFill>
                <a:latin typeface="Arial"/>
              </a:rPr>
              <a:t>Both leaders are well ahead of the next brand in value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75" y="6135588"/>
            <a:ext cx="5548503" cy="17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A9A29C"/>
                </a:solidFill>
                <a:latin typeface="Arial"/>
              </a:rPr>
              <a:t>Scope: 2025 only, so figures are smaller than the 2023 – 2026 totals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21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Models of the Brand Leaders ·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66850"/>
            <a:ext cx="1186891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111111"/>
                </a:solidFill>
                <a:latin typeface="Arial"/>
              </a:rPr>
              <a:t>MEDIUM · 25 – 45 tm · units sold by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75" y="2088653"/>
            <a:ext cx="36099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Sany Palfinger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3934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SPK36080 · 36 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7125" y="24125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75" y="26982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SPK42502 · 42.5 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7125" y="27173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75" y="30030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SPK32080 · 30.4 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7125" y="30221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9125" y="2088653"/>
            <a:ext cx="36099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9125" y="23934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GSQZ330.4 · 33 tm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6175" y="24125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9125" y="26982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SQZ325.4 · 32.5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6175" y="27173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9125" y="30030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KSQZ300.3 · 30 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6175" y="30221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8175" y="2241053"/>
            <a:ext cx="36099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175" y="25458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PK 32080 C · 30.4 tm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25225" y="25649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8175" y="2850653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PK 41002 EH C · 38.4 tm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25225" y="2869703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" y="3767881"/>
            <a:ext cx="11868912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111111"/>
                </a:solidFill>
                <a:latin typeface="Arial"/>
              </a:rPr>
              <a:t>HEAVY · &gt; 45 tm · units sold by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075" y="4694485"/>
            <a:ext cx="36099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Palfinger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075" y="4999285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PK 53002 SH B · 50.1 tm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7125" y="5018335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9125" y="4694485"/>
            <a:ext cx="36099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Amco Veba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125" y="4999285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V950 · 45.9 tm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6175" y="5018335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4542085"/>
            <a:ext cx="36099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F4F1EE"/>
                </a:solidFill>
                <a:latin typeface="Arial"/>
              </a:rPr>
              <a:t>XCMG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4846885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GSQZ880.6 · 88 tm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25225" y="4865935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8175" y="5151685"/>
            <a:ext cx="179260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4F1EE"/>
                </a:solidFill>
                <a:latin typeface="Arial"/>
              </a:rPr>
              <a:t>GSQZ860.6 · 86 tm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25225" y="5170735"/>
            <a:ext cx="35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325" y="6135588"/>
            <a:ext cx="11666982" cy="179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6" b="0">
                <a:solidFill>
                  <a:srgbClr val="A9A29C"/>
                </a:solidFill>
                <a:latin typeface="Arial"/>
              </a:rPr>
              <a:t>Each leader relies on one main model; </a:t>
            </a:r>
            <a:r>
              <a:rPr sz="936" b="1">
                <a:solidFill>
                  <a:srgbClr val="F4F1EE"/>
                </a:solidFill>
                <a:latin typeface="Arial"/>
              </a:rPr>
              <a:t>PK 53002 alone is 63% of Heavy units</a:t>
            </a:r>
            <a:r>
              <a:rPr sz="936" b="0">
                <a:solidFill>
                  <a:srgbClr val="A9A29C"/>
                </a:solidFill>
                <a:latin typeface="Arial"/>
              </a:rPr>
              <a:t> in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22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20447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06 ·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4850740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Price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A — Market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F5A1F"/>
                </a:solidFill>
                <a:latin typeface="Arial"/>
              </a:rPr>
              <a:t>B — Price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6766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C — F.lli Ferrari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433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D — 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23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Price Comparison · Medium 25 – 35 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47800"/>
            <a:ext cx="109184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F.lli Ferrari cheaper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0605" y="1447800"/>
            <a:ext cx="14397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F.lli Ferrari more expensive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276" y="1447800"/>
            <a:ext cx="123161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About the same (±0%)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012" y="1814512"/>
            <a:ext cx="1672866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tm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1601" y="1814512"/>
            <a:ext cx="1672866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F.lli Ferrari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191" y="1814512"/>
            <a:ext cx="1672866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Sany Palfinger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88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2780" y="1814512"/>
            <a:ext cx="1672866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Amco Veba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36 units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3370" y="1814512"/>
            <a:ext cx="1672866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XCMG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33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83959" y="1814512"/>
            <a:ext cx="1672866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Palfinger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29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549" y="1814512"/>
            <a:ext cx="1673024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Hiab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10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062" y="2205037"/>
            <a:ext cx="1632480" cy="69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&gt;25–30 tm</a:t>
            </a:r>
          </a:p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49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0651" y="2205037"/>
            <a:ext cx="1632480" cy="69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268 A4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25.4 tm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Rp 500 Jt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1830" y="2205037"/>
            <a:ext cx="1632480" cy="69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V825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5BD17A"/>
                </a:solidFill>
                <a:latin typeface="Arial"/>
              </a:rPr>
              <a:t>−23%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25.6 tm · 31 units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650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2420" y="2205037"/>
            <a:ext cx="1632480" cy="69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KSQZ300.3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5BD17A"/>
                </a:solidFill>
                <a:latin typeface="Arial"/>
              </a:rPr>
              <a:t>−3%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30 tm · 15 units · smaller crane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510 Jt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2420" y="2980134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SQ12ZK3Q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DDDDDD"/>
                </a:solidFill>
                <a:latin typeface="Arial"/>
              </a:rPr>
              <a:t>±0%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30 tm · 2 units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500 Jt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2420" y="3601938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KSQZ300.4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5BD17A"/>
                </a:solidFill>
                <a:latin typeface="Arial"/>
              </a:rPr>
              <a:t>−12%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30 tm · 1 unit · smaller crane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570 Jt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62" y="4223742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&gt;30–35 tm</a:t>
            </a:r>
          </a:p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62 units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20651" y="4223742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FBR350R A4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32.8 tm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Rp 1.090 Jt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1241" y="4223742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SPK32080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+107%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30.4 tm · 33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530 Jt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61830" y="4223742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V933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+30%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31.9 tm · 4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840 Jt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2420" y="4223742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GSQZ330.4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+40%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33 tm · 4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780 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03009" y="4223742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PK 32080 C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DDDDDD"/>
                </a:solidFill>
                <a:latin typeface="Arial"/>
              </a:rPr>
              <a:t>±0%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30.4 tm · 8 units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1.090 Jt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3599" y="4223742"/>
            <a:ext cx="1632638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X-CLX 388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5BD17A"/>
                </a:solidFill>
                <a:latin typeface="Arial"/>
              </a:rPr>
              <a:t>−25%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34.3 tm · 9 units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1.460 Jt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2420" y="4845546"/>
            <a:ext cx="1632480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SQZ325.4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+98%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32.5 tm · 3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550 Jt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3599" y="4845546"/>
            <a:ext cx="1632638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X-CLX 328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5BD17A"/>
                </a:solidFill>
                <a:latin typeface="Arial"/>
              </a:rPr>
              <a:t>−2%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30.3 tm · 1 unit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1.120 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9100" y="5567362"/>
            <a:ext cx="12111228" cy="122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Competitor: highest import unit price 2023 – 14 Aug 2026 × Rp 17.803/USD + import duty + PPN 11% + PPh 22 2.5%, before distributor margin. F.lli Ferrari: TSP price list Rev1 (Jun 2026) less 13.6% margin and 3% warranty. Rounded to Rp 10 Jt.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24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Price Comparison · Medium 35 – 45 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47800"/>
            <a:ext cx="109184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F.lli Ferrari cheaper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0605" y="1447800"/>
            <a:ext cx="14397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F.lli Ferrari more expensive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276" y="1447800"/>
            <a:ext cx="123161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About the same (±0%)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012" y="1814512"/>
            <a:ext cx="1959197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tm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1725" y="1814512"/>
            <a:ext cx="1959197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F.lli Ferrari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437" y="1814512"/>
            <a:ext cx="1959197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Sany Palfinger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88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150" y="1814512"/>
            <a:ext cx="1959197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Amco Veba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36 units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3862" y="1814512"/>
            <a:ext cx="1959197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XCMG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33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575" y="1814512"/>
            <a:ext cx="1959197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Palfinger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29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062" y="2205037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&gt;35–40 tm</a:t>
            </a:r>
          </a:p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66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0775" y="2205037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7441C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37.7 tm · estimate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Rp 1.240 Jt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1487" y="2205037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SPK36080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+88%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36 tm · 37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660 Jt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2912" y="2205037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KSQZ400.4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+66%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40 tm · 2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750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3625" y="2205037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PK 41002</a:t>
            </a:r>
            <a:r>
              <a:rPr sz="827" b="0">
                <a:solidFill>
                  <a:srgbClr val="A9A29C"/>
                </a:solidFill>
                <a:latin typeface="Arial"/>
              </a:rPr>
              <a:t> </a:t>
            </a:r>
            <a:r>
              <a:rPr sz="827" b="1">
                <a:solidFill>
                  <a:srgbClr val="5BD17A"/>
                </a:solidFill>
                <a:latin typeface="Arial"/>
              </a:rPr>
              <a:t>−14%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38.4 tm · 21 units</a:t>
            </a:r>
          </a:p>
          <a:p>
            <a:pPr algn="l"/>
            <a:r>
              <a:rPr sz="827" b="0">
                <a:solidFill>
                  <a:srgbClr val="A9A29C"/>
                </a:solidFill>
                <a:latin typeface="Arial"/>
              </a:rPr>
              <a:t>Rp 1.440 Jt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2912" y="2826841"/>
            <a:ext cx="1918811" cy="465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GSQZ400.4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+76%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40 tm · 2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700 Jt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2912" y="3368724"/>
            <a:ext cx="1918811" cy="465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SQZ365.4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+107%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36.5 tm · 2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600 Jt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2912" y="3910607"/>
            <a:ext cx="1918811" cy="465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SQZ400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+109%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40 tm · 1 unit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600 Jt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2912" y="4452491"/>
            <a:ext cx="1918811" cy="465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KSQZ365.4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+129%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36.5 tm · 1 unit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540 Jt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062" y="4994374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&gt;40–45 tm</a:t>
            </a:r>
          </a:p>
          <a:p>
            <a:pPr algn="ctr"/>
            <a:r>
              <a:rPr sz="827" b="1">
                <a:solidFill>
                  <a:srgbClr val="4DA3FF"/>
                </a:solidFill>
                <a:latin typeface="Arial"/>
              </a:rPr>
              <a:t>19 units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90775" y="4994374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7" b="1">
                <a:solidFill>
                  <a:srgbClr val="F4F1EE"/>
                </a:solidFill>
                <a:latin typeface="Arial"/>
              </a:rPr>
              <a:t>746 A4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43.4 tm</a:t>
            </a:r>
          </a:p>
          <a:p>
            <a:pPr algn="l"/>
            <a:r>
              <a:rPr sz="827" b="0">
                <a:solidFill>
                  <a:srgbClr val="F4F1EE"/>
                </a:solidFill>
                <a:latin typeface="Arial"/>
              </a:rPr>
              <a:t>Rp 1.420 Jt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81487" y="4994374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SPK42502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+48%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42.5 tm · 18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960 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4994374"/>
            <a:ext cx="1918811" cy="545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V946B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+12%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44.2 tm · 1 unit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1.270 Jt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100" y="5716190"/>
            <a:ext cx="12111228" cy="122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Competitor: highest import unit price 2023 – 14 Aug 2026 × Rp 17.803/USD + import duty + PPN 11% + PPh 22 2.5%, before distributor margin. F.lli Ferrari: TSP price list Rev1 (Jun 2026) less 13.6% margin and 3% warranty. Rounded to Rp 10 Jt.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25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Price Comparison · Heavy 45 – 90 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47800"/>
            <a:ext cx="109184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F.lli Ferrari cheaper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0605" y="1447800"/>
            <a:ext cx="14397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F.lli Ferrari more expensive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276" y="1447800"/>
            <a:ext cx="123161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A9A29C"/>
                </a:solidFill>
                <a:latin typeface="Arial"/>
              </a:rPr>
              <a:t>About the same (±0%)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012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tm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9046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F.lli Ferrari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7081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Palfinger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42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5115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Amco Veba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12 units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3150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XCMG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7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184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Hiab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2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9218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Fassi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1 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7253" y="1814512"/>
            <a:ext cx="1458158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27" b="1">
                <a:solidFill>
                  <a:srgbClr val="F4F1EE"/>
                </a:solidFill>
                <a:latin typeface="Arial"/>
              </a:rPr>
              <a:t>Sany Palfinger</a:t>
            </a:r>
          </a:p>
          <a:p>
            <a:pPr algn="ctr"/>
            <a:r>
              <a:rPr sz="648" b="0">
                <a:solidFill>
                  <a:srgbClr val="6F6963"/>
                </a:solidFill>
                <a:latin typeface="Arial"/>
              </a:rPr>
              <a:t>1 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537" y="2166937"/>
            <a:ext cx="1437965" cy="58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&gt;45–50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17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8571" y="2166937"/>
            <a:ext cx="1437965" cy="58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FBR450R A4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45.5 tm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Rp 1.350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2166937"/>
            <a:ext cx="1437965" cy="58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V950</a:t>
            </a:r>
            <a:r>
              <a:rPr sz="777" b="0">
                <a:solidFill>
                  <a:srgbClr val="A9A29C"/>
                </a:solidFill>
                <a:latin typeface="Arial"/>
              </a:rPr>
              <a:t> </a:t>
            </a:r>
            <a:r>
              <a:rPr sz="777" b="1">
                <a:solidFill>
                  <a:srgbClr val="5BD17A"/>
                </a:solidFill>
                <a:latin typeface="Arial"/>
              </a:rPr>
              <a:t>−32%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45.9 tm · 12 units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Rp 1.990 Jt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2675" y="2166937"/>
            <a:ext cx="1437965" cy="58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GSQZ460.4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+66%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46 tm · 3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810 Jt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0709" y="2166937"/>
            <a:ext cx="1437965" cy="58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EFFER 525H</a:t>
            </a:r>
            <a:r>
              <a:rPr sz="777" b="0">
                <a:solidFill>
                  <a:srgbClr val="A9A29C"/>
                </a:solidFill>
                <a:latin typeface="Arial"/>
              </a:rPr>
              <a:t> </a:t>
            </a:r>
            <a:r>
              <a:rPr sz="777" b="1">
                <a:solidFill>
                  <a:srgbClr val="5BD17A"/>
                </a:solidFill>
                <a:latin typeface="Arial"/>
              </a:rPr>
              <a:t>−10%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50 tm · 1 unit · smaller crane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Rp 1.510 Jt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8743" y="2166937"/>
            <a:ext cx="1437965" cy="58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F485RA.2.23</a:t>
            </a:r>
            <a:r>
              <a:rPr sz="777" b="0">
                <a:solidFill>
                  <a:srgbClr val="A9A29C"/>
                </a:solidFill>
                <a:latin typeface="Arial"/>
              </a:rPr>
              <a:t> </a:t>
            </a:r>
            <a:r>
              <a:rPr sz="777" b="1">
                <a:solidFill>
                  <a:srgbClr val="5BD17A"/>
                </a:solidFill>
                <a:latin typeface="Arial"/>
              </a:rPr>
              <a:t>−16%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47 tm · 1 unit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Rp 1.610 Jt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537" y="2787253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&gt;50–55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40 units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8571" y="2787253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9601CR A8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50.7 tm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Rp 3.260 Jt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6606" y="2787253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PK 53002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+85%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50.1 tm · 39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1.760 Jt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709" y="2787253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X-HIPRO B58</a:t>
            </a:r>
            <a:r>
              <a:rPr sz="777" b="0">
                <a:solidFill>
                  <a:srgbClr val="A9A29C"/>
                </a:solidFill>
                <a:latin typeface="Arial"/>
              </a:rPr>
              <a:t> </a:t>
            </a:r>
            <a:r>
              <a:rPr sz="777" b="1">
                <a:solidFill>
                  <a:srgbClr val="5BD17A"/>
                </a:solidFill>
                <a:latin typeface="Arial"/>
              </a:rPr>
              <a:t>−3%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50.93 tm · 1 unit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Rp 3.370 Jt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537" y="3273921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&gt;55–60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0 units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8571" y="3273921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FBR660R A4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58.8 tm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Rp 2.030 Jt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537" y="3760589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&gt;60–65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1 unit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8571" y="3760589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9661C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63.2 tm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Price not yet known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6778" y="3760589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SPK61502</a:t>
            </a:r>
            <a:r>
              <a:rPr sz="777" b="0">
                <a:solidFill>
                  <a:srgbClr val="A9A29C"/>
                </a:solidFill>
                <a:latin typeface="Arial"/>
              </a:rPr>
              <a:t> </a:t>
            </a:r>
            <a:r>
              <a:rPr sz="777" b="1">
                <a:solidFill>
                  <a:srgbClr val="DDDDDD"/>
                </a:solidFill>
                <a:latin typeface="Arial"/>
              </a:rPr>
              <a:t>no price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61.5 tm · 1 unit</a:t>
            </a:r>
          </a:p>
          <a:p>
            <a:pPr algn="l"/>
            <a:r>
              <a:rPr sz="777" b="0">
                <a:solidFill>
                  <a:srgbClr val="A9A29C"/>
                </a:solidFill>
                <a:latin typeface="Arial"/>
              </a:rPr>
              <a:t>Rp 1.400 Jt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537" y="4247257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&gt;70–75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2 units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8571" y="4247257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F4F1EE"/>
                </a:solidFill>
                <a:latin typeface="Arial"/>
              </a:rPr>
              <a:t>990R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74 tm</a:t>
            </a:r>
          </a:p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Rp 4.110 Jt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6606" y="4247257"/>
            <a:ext cx="1437965" cy="448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PK 76002 EH D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+80%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71.6 tm · 2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2.290 Jt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537" y="4733925"/>
            <a:ext cx="1437965" cy="400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&gt;80–85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1 unit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8571" y="4733925"/>
            <a:ext cx="1437965" cy="400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No F.lli Ferrari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26606" y="4733925"/>
            <a:ext cx="1437965" cy="400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PK 88002 EH C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+85%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81.6 tm · 1 unit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2.220 Jt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537" y="5172372"/>
            <a:ext cx="1437965" cy="400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&gt;85–90 tm</a:t>
            </a:r>
          </a:p>
          <a:p>
            <a:pPr algn="ctr"/>
            <a:r>
              <a:rPr sz="777" b="1">
                <a:solidFill>
                  <a:srgbClr val="4DA3FF"/>
                </a:solidFill>
                <a:latin typeface="Arial"/>
              </a:rPr>
              <a:t>4 units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08571" y="5172372"/>
            <a:ext cx="1437965" cy="400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77" b="0">
                <a:solidFill>
                  <a:srgbClr val="F4F1EE"/>
                </a:solidFill>
                <a:latin typeface="Arial"/>
              </a:rPr>
              <a:t>No F.lli Ferrari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62675" y="5172372"/>
            <a:ext cx="1437965" cy="400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F4F1EE"/>
                </a:solidFill>
                <a:latin typeface="Arial"/>
              </a:rPr>
              <a:t>GSQZ880.6 / 860.6</a:t>
            </a:r>
            <a:r>
              <a:rPr sz="684" b="0">
                <a:solidFill>
                  <a:srgbClr val="A9A29C"/>
                </a:solidFill>
                <a:latin typeface="Arial"/>
              </a:rPr>
              <a:t> </a:t>
            </a:r>
            <a:r>
              <a:rPr sz="684" b="1">
                <a:solidFill>
                  <a:srgbClr val="FF8A8A"/>
                </a:solidFill>
                <a:latin typeface="Arial"/>
              </a:rPr>
              <a:t>+211%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86–88 tm · 4 units</a:t>
            </a:r>
          </a:p>
          <a:p>
            <a:pPr algn="l"/>
            <a:r>
              <a:rPr sz="684" b="0">
                <a:solidFill>
                  <a:srgbClr val="A9A29C"/>
                </a:solidFill>
                <a:latin typeface="Arial"/>
              </a:rPr>
              <a:t>Rp 1.320 Jt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100" y="5748932"/>
            <a:ext cx="12111228" cy="122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Competitor: highest import unit price 2023 – 14 Aug 2026 × Rp 17.803/USD + import duty + PPN 11% + PPh 22 2.5%, before distributor margin. F.lli Ferrari: TSP price list Rev1 (Jun 2026) less 13.6% margin and 3% warranty. Rounded to Rp 10 Jt.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26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20447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06 ·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5842090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F.lli Ferrari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87527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A — Market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87527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B — Price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676650"/>
            <a:ext cx="187527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F5A1F"/>
                </a:solidFill>
                <a:latin typeface="Arial"/>
              </a:rPr>
              <a:t>C — F.lli Ferrari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43350"/>
            <a:ext cx="187527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D — 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27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F.lli Ferrari Crane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14287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1">
                <a:solidFill>
                  <a:srgbClr val="6F6963"/>
                </a:solidFill>
                <a:latin typeface="Arial"/>
              </a:rPr>
              <a:t>FIVE F.LLI FERRARI CRANES · SAME SIZE OR BIGGER AND LOWER PRICE THAN THESE COMPETITORS · JAN 2023 – 14 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975" y="3848100"/>
            <a:ext cx="591121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268 A4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247" y="3886200"/>
            <a:ext cx="4466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25.4 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75" y="4076700"/>
            <a:ext cx="2099443" cy="544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44" b="1">
                <a:solidFill>
                  <a:srgbClr val="FF5A1F"/>
                </a:solidFill>
                <a:latin typeface="Arial"/>
              </a:rPr>
              <a:t>31</a:t>
            </a:r>
            <a:r>
              <a:rPr sz="792" b="0">
                <a:solidFill>
                  <a:srgbClr val="A9A29C"/>
                </a:solidFill>
                <a:latin typeface="Arial"/>
              </a:rPr>
              <a:t>units won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975" y="4754760"/>
            <a:ext cx="209944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8" b="0">
                <a:solidFill>
                  <a:srgbClr val="6F6963"/>
                </a:solidFill>
                <a:latin typeface="Arial"/>
              </a:rPr>
              <a:t>CHEAPER THAN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" y="4916685"/>
            <a:ext cx="2099443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Amco Veba V825 · 31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1695" y="3848100"/>
            <a:ext cx="615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7441C*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16" y="3886200"/>
            <a:ext cx="4466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37.7 tm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1695" y="4076700"/>
            <a:ext cx="2099601" cy="544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44" b="1">
                <a:solidFill>
                  <a:srgbClr val="FF5A1F"/>
                </a:solidFill>
                <a:latin typeface="Arial"/>
              </a:rPr>
              <a:t>21</a:t>
            </a:r>
            <a:r>
              <a:rPr sz="792" b="0">
                <a:solidFill>
                  <a:srgbClr val="A9A29C"/>
                </a:solidFill>
                <a:latin typeface="Arial"/>
              </a:rPr>
              <a:t>units won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1695" y="4754760"/>
            <a:ext cx="209960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8" b="0">
                <a:solidFill>
                  <a:srgbClr val="6F6963"/>
                </a:solidFill>
                <a:latin typeface="Arial"/>
              </a:rPr>
              <a:t>CHEAPER THAN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1695" y="4916685"/>
            <a:ext cx="20996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Palfinger PK 41002 · 21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−14%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1565" y="3848100"/>
            <a:ext cx="103978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FBR450R A4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0837" y="3886200"/>
            <a:ext cx="4466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45.5 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1565" y="4076700"/>
            <a:ext cx="2099443" cy="544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44" b="1">
                <a:solidFill>
                  <a:srgbClr val="FF5A1F"/>
                </a:solidFill>
                <a:latin typeface="Arial"/>
              </a:rPr>
              <a:t>13</a:t>
            </a:r>
            <a:r>
              <a:rPr sz="792" b="0">
                <a:solidFill>
                  <a:srgbClr val="A9A29C"/>
                </a:solidFill>
                <a:latin typeface="Arial"/>
              </a:rPr>
              <a:t>units won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1565" y="4754760"/>
            <a:ext cx="209944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8" b="0">
                <a:solidFill>
                  <a:srgbClr val="6F6963"/>
                </a:solidFill>
                <a:latin typeface="Arial"/>
              </a:rPr>
              <a:t>CHEAPER THAN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1565" y="4916685"/>
            <a:ext cx="2099443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Amco Veba V950 · 12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1565" y="5107185"/>
            <a:ext cx="2099443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Fassi F485RA.2.23 · 1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−16%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1285" y="3848100"/>
            <a:ext cx="103978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FBR350R A4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0707" y="3886200"/>
            <a:ext cx="4466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32.8 tm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1285" y="4076700"/>
            <a:ext cx="2099601" cy="544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44" b="1">
                <a:solidFill>
                  <a:srgbClr val="FF5A1F"/>
                </a:solidFill>
                <a:latin typeface="Arial"/>
              </a:rPr>
              <a:t>10</a:t>
            </a:r>
            <a:r>
              <a:rPr sz="792" b="0">
                <a:solidFill>
                  <a:srgbClr val="A9A29C"/>
                </a:solidFill>
                <a:latin typeface="Arial"/>
              </a:rPr>
              <a:t>units won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1285" y="4754760"/>
            <a:ext cx="209960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8" b="0">
                <a:solidFill>
                  <a:srgbClr val="6F6963"/>
                </a:solidFill>
                <a:latin typeface="Arial"/>
              </a:rPr>
              <a:t>CHEAPER THAN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1285" y="4916685"/>
            <a:ext cx="20996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Hiab X-CLX 388 · 9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1285" y="5107185"/>
            <a:ext cx="20996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Hiab X-CLX 328 · 1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1155" y="3848100"/>
            <a:ext cx="914367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2" b="1">
                <a:solidFill>
                  <a:srgbClr val="F4F1EE"/>
                </a:solidFill>
                <a:latin typeface="Arial"/>
              </a:rPr>
              <a:t>9601CR A8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80427" y="3886200"/>
            <a:ext cx="44661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92" b="0">
                <a:solidFill>
                  <a:srgbClr val="A9A29C"/>
                </a:solidFill>
                <a:latin typeface="Arial"/>
              </a:rPr>
              <a:t>50.7 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1155" y="4076700"/>
            <a:ext cx="2099443" cy="544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44" b="1">
                <a:solidFill>
                  <a:srgbClr val="FF5A1F"/>
                </a:solidFill>
                <a:latin typeface="Arial"/>
              </a:rPr>
              <a:t>1</a:t>
            </a:r>
            <a:r>
              <a:rPr sz="792" b="0">
                <a:solidFill>
                  <a:srgbClr val="A9A29C"/>
                </a:solidFill>
                <a:latin typeface="Arial"/>
              </a:rPr>
              <a:t>units won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1155" y="4754760"/>
            <a:ext cx="2099443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8" b="0">
                <a:solidFill>
                  <a:srgbClr val="6F6963"/>
                </a:solidFill>
                <a:latin typeface="Arial"/>
              </a:rPr>
              <a:t>CHEAPER THAN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1155" y="4916685"/>
            <a:ext cx="2099443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4F1EE"/>
                </a:solidFill>
                <a:latin typeface="Arial"/>
              </a:rPr>
              <a:t>Hiab X-HIPRO B58 · 1 </a:t>
            </a:r>
          </a:p>
          <a:p>
            <a:pPr algn="l"/>
            <a:r>
              <a:rPr sz="900" b="1">
                <a:solidFill>
                  <a:srgbClr val="5BD17A"/>
                </a:solidFill>
                <a:latin typeface="Arial"/>
              </a:rPr>
              <a:t>−3%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100" y="6335910"/>
            <a:ext cx="12111228" cy="122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4" b="0">
                <a:solidFill>
                  <a:srgbClr val="6F6963"/>
                </a:solidFill>
                <a:latin typeface="Arial"/>
              </a:rPr>
              <a:t>Units won = imports of the rival model. Head to head = F.lli Ferrari cheaper and not more than 2 tm smaller. *7441C price is an estimate.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28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1143000"/>
            <a:ext cx="2044701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4" b="1">
                <a:solidFill>
                  <a:srgbClr val="FF5A1F"/>
                </a:solidFill>
                <a:latin typeface="Arial"/>
              </a:rPr>
              <a:t>SECTION 06 ·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1428750"/>
            <a:ext cx="2586442" cy="60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64" b="0">
                <a:solidFill>
                  <a:srgbClr val="F0ECE8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31432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A — Market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34099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B — Price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" y="36766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6F6963"/>
                </a:solidFill>
                <a:latin typeface="Arial"/>
              </a:rPr>
              <a:t>C — F.lli Ferrari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100" y="3943350"/>
            <a:ext cx="17653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8" b="0">
                <a:solidFill>
                  <a:srgbClr val="FF5A1F"/>
                </a:solidFill>
                <a:latin typeface="Arial"/>
              </a:rPr>
              <a:t>D — 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29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Appendix · Model Photos · Medium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30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9100" y="357187"/>
            <a:ext cx="1538141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[ INTERNAL USE ONLY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" y="781050"/>
            <a:ext cx="12111228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FF5A1F"/>
                </a:solidFill>
                <a:latin typeface="Arial"/>
              </a:rPr>
              <a:t>SECTION 06 · PROJECT · F.LLI FERRARI CRANE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" y="962025"/>
            <a:ext cx="10677525" cy="32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60" b="0">
                <a:solidFill>
                  <a:srgbClr val="F0ECE8"/>
                </a:solidFill>
                <a:latin typeface="Arial"/>
              </a:rPr>
              <a:t>Appendix · Model Photos · Heavy &amp; F.lli Ferrari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100" y="6600825"/>
            <a:ext cx="1800650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0">
                <a:solidFill>
                  <a:srgbClr val="6F6963"/>
                </a:solidFill>
                <a:latin typeface="Arial"/>
              </a:rPr>
              <a:t>NEDP MID YEAR REVIEW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819" y="6600825"/>
            <a:ext cx="455765" cy="104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19" b="1">
                <a:solidFill>
                  <a:srgbClr val="FF5A1F"/>
                </a:solidFill>
                <a:latin typeface="Arial"/>
              </a:rPr>
              <a:t>31</a:t>
            </a:r>
            <a:r>
              <a:rPr sz="719" b="0">
                <a:solidFill>
                  <a:srgbClr val="6F6963"/>
                </a:solidFill>
                <a:latin typeface="Arial"/>
              </a:rPr>
              <a:t>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