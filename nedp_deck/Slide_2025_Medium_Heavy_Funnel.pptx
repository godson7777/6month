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40404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</c:v>
                </c:pt>
                <c:pt idx="1">
                  <c:v>8.8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40404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</c:v>
                </c:pt>
                <c:pt idx="1">
                  <c:v>28.4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</c:v>
                </c:pt>
                <c:pt idx="1">
                  <c:v>28.2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</c:v>
                </c:pt>
                <c:pt idx="1">
                  <c:v>47.2</c:v>
                </c:pt>
              </c:numCache>
            </c:numRef>
          </c:val>
        </c:ser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000" b="1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</c:ser>
        <c:gapWidth val="4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 b="1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Neue Haas Grotesk Text Pr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2095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10/18/2026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91000" y="20955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Neue Haas Grotesk Text Pro"/>
              </a:rPr>
              <a:t>Shaping the future of our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6600" y="2095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000000"/>
                </a:solidFill>
                <a:latin typeface="Neue Haas Grotesk Text Pro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" y="495300"/>
            <a:ext cx="8572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Neue Haas Grotesk Text Pro"/>
              </a:rPr>
              <a:t>Indonesian Import Folding Crane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0" y="514350"/>
            <a:ext cx="28956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Where is the value?</a:t>
            </a:r>
          </a:p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And who holds it?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6700" y="1104900"/>
            <a:ext cx="1165860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2900" y="1162050"/>
            <a:ext cx="115062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000000"/>
                </a:solidFill>
                <a:latin typeface="Neue Haas Grotesk Text Pro"/>
              </a:rPr>
              <a:t>Medium and Heavy are 44% of units but 67% of value; 3 brands hold 80%+ of each class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6700" y="14478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2900" y="1495425"/>
            <a:ext cx="11506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Neue Haas Grotesk Text Pro"/>
              </a:rPr>
              <a:t>In 2025, Medium and Heavy imports reached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99 units (Rp 75,4 Bio)</a:t>
            </a:r>
            <a:r>
              <a:rPr sz="1400" b="0">
                <a:solidFill>
                  <a:srgbClr val="000000"/>
                </a:solidFill>
                <a:latin typeface="Neue Haas Grotesk Text Pro"/>
              </a:rPr>
              <a:t> out of 227 units (Rp 112,6 Bio).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Three brands cover 82% of Medium and 85% of Heavy units.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" y="19431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42900" y="2038350"/>
            <a:ext cx="3619500" cy="24765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" y="2286000"/>
            <a:ext cx="3619500" cy="3924300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362200"/>
            <a:ext cx="33909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Market size by class, 2025, 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units vs value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1123950" y="2724150"/>
          <a:ext cx="1905000" cy="31432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6" name="Connector 15"/>
          <p:cNvCxnSpPr/>
          <p:nvPr/>
        </p:nvCxnSpPr>
        <p:spPr>
          <a:xfrm>
            <a:off x="1047750" y="3976960"/>
            <a:ext cx="0" cy="1557065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47750" y="3976960"/>
            <a:ext cx="47625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750" y="5534025"/>
            <a:ext cx="47625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19100" y="4507843"/>
            <a:ext cx="5715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Neue Haas Grotesk Text Pro"/>
              </a:rPr>
              <a:t>Light +</a:t>
            </a:r>
          </a:p>
          <a:p>
            <a:pPr algn="r"/>
            <a:r>
              <a:rPr sz="900" b="0">
                <a:solidFill>
                  <a:srgbClr val="6B6B6B"/>
                </a:solidFill>
                <a:latin typeface="Neue Haas Grotesk Text Pro"/>
              </a:rPr>
              <a:t>Small</a:t>
            </a:r>
          </a:p>
          <a:p>
            <a:pPr algn="r"/>
            <a:r>
              <a:rPr sz="900" b="1">
                <a:solidFill>
                  <a:srgbClr val="6B6B6B"/>
                </a:solidFill>
                <a:latin typeface="Neue Haas Grotesk Text Pro"/>
              </a:rPr>
              <a:t>excluded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7750" y="2743200"/>
            <a:ext cx="0" cy="119566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47750" y="27432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7750" y="393886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9100" y="315053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9E57"/>
                </a:solidFill>
                <a:latin typeface="Neue Haas Grotesk Text Pro"/>
              </a:rPr>
              <a:t>44%</a:t>
            </a:r>
          </a:p>
          <a:p>
            <a:pPr algn="r"/>
            <a:r>
              <a:rPr sz="1000" b="0">
                <a:solidFill>
                  <a:srgbClr val="000000"/>
                </a:solidFill>
                <a:latin typeface="Neue Haas Grotesk Text Pro"/>
              </a:rPr>
              <a:t>99 units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086100" y="2743200"/>
            <a:ext cx="0" cy="185520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038475" y="27432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038475" y="45984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43250" y="3480300"/>
            <a:ext cx="7810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67%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Rp 75,4 Bio</a:t>
            </a:r>
          </a:p>
        </p:txBody>
      </p:sp>
      <p:sp>
        <p:nvSpPr>
          <p:cNvPr id="28" name="Chevron 27"/>
          <p:cNvSpPr/>
          <p:nvPr/>
        </p:nvSpPr>
        <p:spPr>
          <a:xfrm>
            <a:off x="4010025" y="4000500"/>
            <a:ext cx="171450" cy="342900"/>
          </a:xfrm>
          <a:prstGeom prst="chevron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5300" y="2038350"/>
            <a:ext cx="7543800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05300" y="2286000"/>
            <a:ext cx="7543800" cy="3924300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2381250"/>
            <a:ext cx="4953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Brand share of units, Medium vs Heavy, 2025, 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% of class units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257175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Neue Haas Grotesk Text Pro"/>
              </a:rPr>
              <a:t>Medium = 60 units (Rp 28,2 Bio)  ·  Heavy = 39 units (Rp 47,2 Bio)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4381500" y="2781300"/>
          <a:ext cx="5048250" cy="31432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4" name="Rectangle 33"/>
          <p:cNvSpPr/>
          <p:nvPr/>
        </p:nvSpPr>
        <p:spPr>
          <a:xfrm>
            <a:off x="9525000" y="2857500"/>
            <a:ext cx="2190750" cy="1352550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20250" y="2905125"/>
            <a:ext cx="571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Medium</a:t>
            </a:r>
          </a:p>
        </p:txBody>
      </p:sp>
      <p:pic>
        <p:nvPicPr>
          <p:cNvPr id="36" name="Picture 35" descr="sany_palfin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0250" y="3084393"/>
            <a:ext cx="641958" cy="136765"/>
          </a:xfrm>
          <a:prstGeom prst="rect">
            <a:avLst/>
          </a:prstGeom>
        </p:spPr>
      </p:pic>
      <p:pic>
        <p:nvPicPr>
          <p:cNvPr id="37" name="Picture 36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9356" y="3084393"/>
            <a:ext cx="626405" cy="136765"/>
          </a:xfrm>
          <a:prstGeom prst="rect">
            <a:avLst/>
          </a:prstGeom>
        </p:spPr>
      </p:pic>
      <p:pic>
        <p:nvPicPr>
          <p:cNvPr id="38" name="Picture 37" descr="palfing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2909" y="3084393"/>
            <a:ext cx="617593" cy="13676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620250" y="3295650"/>
            <a:ext cx="2000250" cy="895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9E57"/>
                </a:solidFill>
                <a:latin typeface="Neue Haas Grotesk Text Pro"/>
              </a:rPr>
              <a:t>3 brands = 82% of units</a:t>
            </a:r>
            <a:r>
              <a:rPr sz="900" b="0">
                <a:solidFill>
                  <a:srgbClr val="000000"/>
                </a:solidFill>
                <a:latin typeface="Neue Haas Grotesk Text Pro"/>
              </a:rPr>
              <a:t> (49 of 60) and 81% of value: Sany Palfinger, XCMG and Palfinger.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Sany Palfinger</a:t>
            </a:r>
            <a:r>
              <a:rPr sz="900" b="0">
                <a:solidFill>
                  <a:srgbClr val="000000"/>
                </a:solidFill>
                <a:latin typeface="Neue Haas Grotesk Text Pro"/>
              </a:rPr>
              <a:t> alone holds 30 units (50%).</a:t>
            </a:r>
          </a:p>
          <a:p>
            <a:pPr algn="l"/>
            <a:r>
              <a:rPr sz="900" b="1">
                <a:solidFill>
                  <a:srgbClr val="6B6B6B"/>
                </a:solidFill>
                <a:latin typeface="Neue Haas Grotesk Text Pro"/>
              </a:rPr>
              <a:t>Others: </a:t>
            </a:r>
            <a:r>
              <a:rPr sz="900" b="0">
                <a:solidFill>
                  <a:srgbClr val="6B6B6B"/>
                </a:solidFill>
                <a:latin typeface="Neue Haas Grotesk Text Pro"/>
              </a:rPr>
              <a:t>Amco Veba 5, HIAB 5, Hyva 1.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25000" y="4267200"/>
            <a:ext cx="2190750" cy="1352550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20250" y="4314825"/>
            <a:ext cx="571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Heavy</a:t>
            </a:r>
          </a:p>
        </p:txBody>
      </p:sp>
      <p:pic>
        <p:nvPicPr>
          <p:cNvPr id="42" name="Picture 41" descr="palfing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0250" y="4492958"/>
            <a:ext cx="627839" cy="139034"/>
          </a:xfrm>
          <a:prstGeom prst="rect">
            <a:avLst/>
          </a:prstGeom>
        </p:spPr>
      </p:pic>
      <p:pic>
        <p:nvPicPr>
          <p:cNvPr id="43" name="Picture 42" descr="amco_ve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5241" y="4492958"/>
            <a:ext cx="621308" cy="139034"/>
          </a:xfrm>
          <a:prstGeom prst="rect">
            <a:avLst/>
          </a:prstGeom>
        </p:spPr>
      </p:pic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83701" y="4492958"/>
            <a:ext cx="636797" cy="13903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620250" y="4705350"/>
            <a:ext cx="2000250" cy="895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9E57"/>
                </a:solidFill>
                <a:latin typeface="Neue Haas Grotesk Text Pro"/>
              </a:rPr>
              <a:t>3 brands = 85% of units</a:t>
            </a:r>
            <a:r>
              <a:rPr sz="900" b="0">
                <a:solidFill>
                  <a:srgbClr val="000000"/>
                </a:solidFill>
                <a:latin typeface="Neue Haas Grotesk Text Pro"/>
              </a:rPr>
              <a:t> (33 of 39) and 86% of value: Palfinger, Amco Veba and XCMG.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Palfinger</a:t>
            </a:r>
            <a:r>
              <a:rPr sz="900" b="0">
                <a:solidFill>
                  <a:srgbClr val="000000"/>
                </a:solidFill>
                <a:latin typeface="Neue Haas Grotesk Text Pro"/>
              </a:rPr>
              <a:t> alone holds 22 units (56%).</a:t>
            </a:r>
          </a:p>
          <a:p>
            <a:pPr algn="l"/>
            <a:r>
              <a:rPr sz="900" b="1">
                <a:solidFill>
                  <a:srgbClr val="6B6B6B"/>
                </a:solidFill>
                <a:latin typeface="Neue Haas Grotesk Text Pro"/>
              </a:rPr>
              <a:t>Others: </a:t>
            </a:r>
            <a:r>
              <a:rPr sz="900" b="0">
                <a:solidFill>
                  <a:srgbClr val="6B6B6B"/>
                </a:solidFill>
                <a:latin typeface="Neue Haas Grotesk Text Pro"/>
              </a:rPr>
              <a:t>Hyva 3, Fassi 1, Sany Palfinger 1, Zoomlion 1.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2900" y="630555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Source: </a:t>
            </a:r>
            <a:r>
              <a:rPr sz="1000" b="0">
                <a:solidFill>
                  <a:srgbClr val="000000"/>
                </a:solidFill>
                <a:latin typeface="Neue Haas Grotesk Text Pro"/>
              </a:rPr>
              <a:t>Crane Market GVW Pairing v11 (Noir), sheet 8. Pivot Source, 2025 rows; value converted from USD at assumed Rp 16.000/USD (Bio = billion).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" y="647700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Neue Haas Grotesk Text Pro"/>
              </a:rPr>
              <a:t>Note: </a:t>
            </a:r>
            <a:r>
              <a:rPr sz="1000" b="0">
                <a:solidFill>
                  <a:srgbClr val="6B6B6B"/>
                </a:solidFill>
                <a:latin typeface="Neue Haas Grotesk Text Pro"/>
              </a:rPr>
              <a:t>Chart data = SUMIFS on 2025 database rows (Edit Data). Brands shown until 80% of class units (Pareto); Others = rest. Light (&lt; 8 tm) and Small (8–25 tm) excluded from focus.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66700" y="6667500"/>
            <a:ext cx="11658600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