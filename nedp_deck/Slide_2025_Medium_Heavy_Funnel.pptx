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</c:v>
                </c:pt>
                <c:pt idx="1">
                  <c:v>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40404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</c:v>
                </c:pt>
                <c:pt idx="1">
                  <c:v>28.4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</c:v>
                </c:pt>
                <c:pt idx="1">
                  <c:v>28.2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numFmt formatCode="General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</c:v>
                </c:pt>
                <c:pt idx="1">
                  <c:v>47.2</c:v>
                </c:pt>
              </c:numCache>
            </c:numRef>
          </c:val>
        </c:ser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000" b="1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FFFFFF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dLbls>
            <c:numFmt formatCode="0&quot; units&quot;;;;" sourceLinked="0"/>
            <c:txPr>
              <a:bodyPr/>
              <a:lstStyle/>
              <a:p>
                <a:pPr>
                  <a:defRPr sz="900" b="1">
                    <a:solidFill>
                      <a:srgbClr val="000000"/>
                    </a:solidFill>
                    <a:latin typeface="Neue Haas Grotesk Text Pro"/>
                  </a:defRPr>
                </a:pPr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1"/>
            <c:separator>
</c:separator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</c:ser>
        <c:gapWidth val="4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1200" b="1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Neue Haas Grotesk Text Pro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0" y="20955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Neue Haas Grotesk Text Pro"/>
              </a:rPr>
              <a:t>10/18/2026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91000" y="20955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Neue Haas Grotesk Text Pro"/>
              </a:rPr>
              <a:t>Shaping the future of our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96600" y="209550"/>
            <a:ext cx="9525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000000"/>
                </a:solidFill>
                <a:latin typeface="Neue Haas Grotesk Text Pr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495300"/>
            <a:ext cx="8572500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000000"/>
                </a:solidFill>
                <a:latin typeface="Neue Haas Grotesk Text Pro"/>
              </a:rPr>
              <a:t>Indonesian Import Folding Crane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2895600" cy="533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Where is the value?</a:t>
            </a:r>
          </a:p>
          <a:p>
            <a:pPr algn="r"/>
            <a:r>
              <a:rPr sz="1600" b="1">
                <a:solidFill>
                  <a:srgbClr val="000000"/>
                </a:solidFill>
                <a:latin typeface="Neue Haas Grotesk Text Pro"/>
              </a:rPr>
              <a:t>And who holds it?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6700" y="1104900"/>
            <a:ext cx="11658600" cy="0"/>
          </a:xfrm>
          <a:prstGeom prst="line">
            <a:avLst/>
          </a:prstGeom>
          <a:ln w="381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42900" y="1162050"/>
            <a:ext cx="11506200" cy="266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>
                <a:solidFill>
                  <a:srgbClr val="000000"/>
                </a:solidFill>
                <a:latin typeface="Neue Haas Grotesk Text Pro"/>
              </a:rPr>
              <a:t>Medium and Heavy are 44% of units but 67% of value; 3 brands hold 80%+ of each class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6700" y="14478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42900" y="1495425"/>
            <a:ext cx="11506200" cy="419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Neue Haas Grotesk Text Pro"/>
              </a:rPr>
              <a:t>In 2025, Medium and Heavy imports reached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99 units (Rp 75,4 Bio)</a:t>
            </a:r>
            <a:r>
              <a:rPr sz="1400" b="0">
                <a:solidFill>
                  <a:srgbClr val="000000"/>
                </a:solidFill>
                <a:latin typeface="Neue Haas Grotesk Text Pro"/>
              </a:rPr>
              <a:t> out of 227 units (Rp 112,6 Bio). </a:t>
            </a:r>
            <a:r>
              <a:rPr sz="1400" b="1">
                <a:solidFill>
                  <a:srgbClr val="000000"/>
                </a:solidFill>
                <a:latin typeface="Neue Haas Grotesk Text Pro"/>
              </a:rPr>
              <a:t>Three brands cover 82% of Medium and 85% of Heavy units.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" y="1943100"/>
            <a:ext cx="11658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2900" y="2038350"/>
            <a:ext cx="3619500" cy="247650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" y="2286000"/>
            <a:ext cx="3619500" cy="3924300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362200"/>
            <a:ext cx="3390900" cy="323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Market size by class,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units vs value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1123950" y="2724150"/>
          <a:ext cx="1905000" cy="31432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6" name="Connector 15"/>
          <p:cNvCxnSpPr/>
          <p:nvPr/>
        </p:nvCxnSpPr>
        <p:spPr>
          <a:xfrm>
            <a:off x="1047750" y="3976960"/>
            <a:ext cx="0" cy="1557065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7750" y="3976960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47750" y="5534025"/>
            <a:ext cx="47625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19100" y="4507843"/>
            <a:ext cx="571500" cy="495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Light +</a:t>
            </a:r>
          </a:p>
          <a:p>
            <a:pPr algn="r"/>
            <a:r>
              <a:rPr sz="900" b="0">
                <a:solidFill>
                  <a:srgbClr val="6B6B6B"/>
                </a:solidFill>
                <a:latin typeface="Neue Haas Grotesk Text Pro"/>
              </a:rPr>
              <a:t>Small</a:t>
            </a:r>
          </a:p>
          <a:p>
            <a:pPr algn="r"/>
            <a:r>
              <a:rPr sz="900" b="1">
                <a:solidFill>
                  <a:srgbClr val="6B6B6B"/>
                </a:solidFill>
                <a:latin typeface="Neue Haas Grotesk Text Pro"/>
              </a:rPr>
              <a:t>excluded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7750" y="2743200"/>
            <a:ext cx="0" cy="119566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47750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47750" y="393886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19100" y="3150530"/>
            <a:ext cx="57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1E9E57"/>
                </a:solidFill>
                <a:latin typeface="Neue Haas Grotesk Text Pro"/>
              </a:rPr>
              <a:t>44%</a:t>
            </a:r>
          </a:p>
          <a:p>
            <a:pPr algn="r"/>
            <a:r>
              <a:rPr sz="1000" b="0">
                <a:solidFill>
                  <a:srgbClr val="000000"/>
                </a:solidFill>
                <a:latin typeface="Neue Haas Grotesk Text Pro"/>
              </a:rPr>
              <a:t>99 units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086100" y="2743200"/>
            <a:ext cx="0" cy="185520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3038475" y="27432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038475" y="4598400"/>
            <a:ext cx="47625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43250" y="3480300"/>
            <a:ext cx="78105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67%</a:t>
            </a:r>
          </a:p>
          <a:p>
            <a:pPr algn="l"/>
            <a:r>
              <a:rPr sz="1000" b="0">
                <a:solidFill>
                  <a:srgbClr val="000000"/>
                </a:solidFill>
                <a:latin typeface="Neue Haas Grotesk Text Pro"/>
              </a:rPr>
              <a:t>Rp 75,4 Bio</a:t>
            </a:r>
          </a:p>
        </p:txBody>
      </p:sp>
      <p:sp>
        <p:nvSpPr>
          <p:cNvPr id="28" name="Chevron 27"/>
          <p:cNvSpPr/>
          <p:nvPr/>
        </p:nvSpPr>
        <p:spPr>
          <a:xfrm>
            <a:off x="4010025" y="4000500"/>
            <a:ext cx="171450" cy="342900"/>
          </a:xfrm>
          <a:prstGeom prst="chevron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5300" y="2038350"/>
            <a:ext cx="7543800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05300" y="2286000"/>
            <a:ext cx="7543800" cy="3924300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2381250"/>
            <a:ext cx="4953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Neue Haas Grotesk Text Pro"/>
              </a:rPr>
              <a:t>Brand share of units, Medium vs Heavy, 2025, 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% of class units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8650" y="2571750"/>
            <a:ext cx="4953000" cy="1714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Medium = 60 units (Rp 28,2 Bio)  ·  Heavy = 39 units (Rp 47,2 Bio)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4381500" y="2781300"/>
          <a:ext cx="5048250" cy="314325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4" name="Rectangle 33"/>
          <p:cNvSpPr/>
          <p:nvPr/>
        </p:nvSpPr>
        <p:spPr>
          <a:xfrm>
            <a:off x="9525000" y="28575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20250" y="29146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Medium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3 brands = 82% of units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(49 of 60) and 81% of value: Sany Palfinger, XCMG and Palfinger.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Sany 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alone holds 30 units (50%).</a:t>
            </a:r>
          </a:p>
          <a:p>
            <a:pPr algn="l"/>
            <a:r>
              <a:rPr sz="95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50" b="0">
                <a:solidFill>
                  <a:srgbClr val="6B6B6B"/>
                </a:solidFill>
                <a:latin typeface="Neue Haas Grotesk Text Pro"/>
              </a:rPr>
              <a:t>Amco Veba 5, HIAB 5, Hyva 1.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25000" y="4267200"/>
            <a:ext cx="2190750" cy="1352550"/>
          </a:xfrm>
          <a:prstGeom prst="rect">
            <a:avLst/>
          </a:prstGeom>
          <a:solidFill>
            <a:srgbClr val="F2F2F2"/>
          </a:solidFill>
          <a:ln w="6350">
            <a:solidFill>
              <a:srgbClr val="F2F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620250" y="4324350"/>
            <a:ext cx="2000250" cy="1257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Heavy</a:t>
            </a:r>
          </a:p>
          <a:p>
            <a:pPr algn="l"/>
            <a:r>
              <a:rPr sz="950" b="1">
                <a:solidFill>
                  <a:srgbClr val="1E9E57"/>
                </a:solidFill>
                <a:latin typeface="Neue Haas Grotesk Text Pro"/>
              </a:rPr>
              <a:t>3 brands = 85% of units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(33 of 39) and 86% of value: Palfinger, Amco Veba and XCMG.</a:t>
            </a:r>
          </a:p>
          <a:p>
            <a:pPr algn="l"/>
            <a:r>
              <a:rPr sz="950" b="1">
                <a:solidFill>
                  <a:srgbClr val="000000"/>
                </a:solidFill>
                <a:latin typeface="Neue Haas Grotesk Text Pro"/>
              </a:rPr>
              <a:t>Palfinger</a:t>
            </a:r>
            <a:r>
              <a:rPr sz="950" b="0">
                <a:solidFill>
                  <a:srgbClr val="000000"/>
                </a:solidFill>
                <a:latin typeface="Neue Haas Grotesk Text Pro"/>
              </a:rPr>
              <a:t> alone holds 22 units (56%).</a:t>
            </a:r>
          </a:p>
          <a:p>
            <a:pPr algn="l"/>
            <a:r>
              <a:rPr sz="950" b="1">
                <a:solidFill>
                  <a:srgbClr val="6B6B6B"/>
                </a:solidFill>
                <a:latin typeface="Neue Haas Grotesk Text Pro"/>
              </a:rPr>
              <a:t>Others: </a:t>
            </a:r>
            <a:r>
              <a:rPr sz="950" b="0">
                <a:solidFill>
                  <a:srgbClr val="6B6B6B"/>
                </a:solidFill>
                <a:latin typeface="Neue Haas Grotesk Text Pro"/>
              </a:rPr>
              <a:t>Hyva 3, Fassi 1, Sany Palfinger 1, Zoomlion 1.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2900" y="630555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00000"/>
                </a:solidFill>
                <a:latin typeface="Neue Haas Grotesk Text Pro"/>
              </a:rPr>
              <a:t>Source: </a:t>
            </a:r>
            <a:r>
              <a:rPr sz="1000" b="0">
                <a:solidFill>
                  <a:srgbClr val="000000"/>
                </a:solidFill>
                <a:latin typeface="Neue Haas Grotesk Text Pro"/>
              </a:rPr>
              <a:t>Crane Market GVW Pairing v11 (Noir), sheet 8. Pivot Source, 2025 rows; value converted from USD at assumed Rp 16.000/USD (Bio = billion).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" y="6477000"/>
            <a:ext cx="115062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Neue Haas Grotesk Text Pro"/>
              </a:rPr>
              <a:t>Note: </a:t>
            </a:r>
            <a:r>
              <a:rPr sz="1000" b="0">
                <a:solidFill>
                  <a:srgbClr val="6B6B6B"/>
                </a:solidFill>
                <a:latin typeface="Neue Haas Grotesk Text Pro"/>
              </a:rPr>
              <a:t>Chart data = SUMIFS on 2025 database rows (Edit Data). Brands shown until 80% of class units (Pareto); Others = rest. Light (&lt; 8 tm) and Small (8–25 tm) excluded from focus.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66700" y="6667500"/>
            <a:ext cx="11658600" cy="0"/>
          </a:xfrm>
          <a:prstGeom prst="line">
            <a:avLst/>
          </a:prstGeom>
          <a:ln w="127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