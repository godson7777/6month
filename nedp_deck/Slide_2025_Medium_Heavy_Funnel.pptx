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ayout>
        <c:manualLayout>
          <c:layoutTarget val="inner"/>
          <c:xMode val="edge"/>
          <c:yMode val="edge"/>
          <c:x val="0"/>
          <c:y val="0"/>
          <c:w val="1"/>
          <c:h val="0.9"/>
        </c:manualLayout>
      </c:layout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Light</c:v>
                </c:pt>
              </c:strCache>
            </c:strRef>
          </c:tx>
          <c:spPr>
            <a:solidFill>
              <a:srgbClr val="E3E3E3"/>
            </a:solidFill>
            <a:ln>
              <a:solidFill>
                <a:srgbClr val="FFFFFF"/>
              </a:solidFill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b="1">
                        <a:solidFill>
                          <a:srgbClr val="595959"/>
                        </a:solidFill>
                      </a:rPr>
                      <a:t>Light 53</a:t>
                    </a:r>
                  </a:p>
                  <a:p>
                    <a:r>
                      <a:rPr b="1">
                        <a:solidFill>
                          <a:srgbClr val="595959"/>
                        </a:solidFill>
                      </a:rPr>
                      <a:t>23%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b="1">
                        <a:solidFill>
                          <a:srgbClr val="595959"/>
                        </a:solidFill>
                      </a:rPr>
                      <a:t>Rp 8,8 Bio</a:t>
                    </a:r>
                  </a:p>
                  <a:p>
                    <a:r>
                      <a:rPr b="1">
                        <a:solidFill>
                          <a:srgbClr val="595959"/>
                        </a:solidFill>
                      </a:rPr>
                      <a:t>8%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txPr>
              <a:bodyPr/>
              <a:lstStyle/>
              <a:p>
                <a:pPr>
                  <a:defRPr sz="900">
                    <a:latin typeface="Neue Haas Grotesk Text Pro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112,6 Bio)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53</c:v>
                </c:pt>
                <c:pt idx="1">
                  <c:v>8.81608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</c:v>
                </c:pt>
              </c:strCache>
            </c:strRef>
          </c:tx>
          <c:spPr>
            <a:solidFill>
              <a:srgbClr val="C9C9C9"/>
            </a:solidFill>
            <a:ln>
              <a:solidFill>
                <a:srgbClr val="FFFFFF"/>
              </a:solidFill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b="1">
                        <a:solidFill>
                          <a:srgbClr val="595959"/>
                        </a:solidFill>
                      </a:rPr>
                      <a:t>Small 75</a:t>
                    </a:r>
                  </a:p>
                  <a:p>
                    <a:r>
                      <a:rPr b="1">
                        <a:solidFill>
                          <a:srgbClr val="595959"/>
                        </a:solidFill>
                      </a:rPr>
                      <a:t>33%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b="1">
                        <a:solidFill>
                          <a:srgbClr val="595959"/>
                        </a:solidFill>
                      </a:rPr>
                      <a:t>Rp 28,4 Bio</a:t>
                    </a:r>
                  </a:p>
                  <a:p>
                    <a:r>
                      <a:rPr b="1">
                        <a:solidFill>
                          <a:srgbClr val="595959"/>
                        </a:solidFill>
                      </a:rPr>
                      <a:t>25%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txPr>
              <a:bodyPr/>
              <a:lstStyle/>
              <a:p>
                <a:pPr>
                  <a:defRPr sz="900">
                    <a:latin typeface="Neue Haas Grotesk Text Pro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112,6 Bio)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75</c:v>
                </c:pt>
                <c:pt idx="1">
                  <c:v>28.433984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b="1">
                        <a:solidFill>
                          <a:srgbClr val="FFFFFF"/>
                        </a:solidFill>
                      </a:rPr>
                      <a:t>Medium 60</a:t>
                    </a:r>
                  </a:p>
                  <a:p>
                    <a:r>
                      <a:rPr b="1">
                        <a:solidFill>
                          <a:srgbClr val="FFFFFF"/>
                        </a:solidFill>
                      </a:rPr>
                      <a:t>26%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b="1">
                        <a:solidFill>
                          <a:srgbClr val="FFFFFF"/>
                        </a:solidFill>
                      </a:rPr>
                      <a:t>Rp 28,2 Bio</a:t>
                    </a:r>
                  </a:p>
                  <a:p>
                    <a:r>
                      <a:rPr b="1">
                        <a:solidFill>
                          <a:srgbClr val="FFFFFF"/>
                        </a:solidFill>
                      </a:rPr>
                      <a:t>25%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txPr>
              <a:bodyPr/>
              <a:lstStyle/>
              <a:p>
                <a:pPr>
                  <a:defRPr sz="900">
                    <a:latin typeface="Neue Haas Grotesk Text Pro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112,6 Bio)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60</c:v>
                </c:pt>
                <c:pt idx="1">
                  <c:v>28.150192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b="1">
                        <a:solidFill>
                          <a:srgbClr val="FFFFFF"/>
                        </a:solidFill>
                      </a:rPr>
                      <a:t>Heavy 39</a:t>
                    </a:r>
                  </a:p>
                  <a:p>
                    <a:r>
                      <a:rPr b="1">
                        <a:solidFill>
                          <a:srgbClr val="FFFFFF"/>
                        </a:solidFill>
                      </a:rPr>
                      <a:t>17%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b="1">
                        <a:solidFill>
                          <a:srgbClr val="FFFFFF"/>
                        </a:solidFill>
                      </a:rPr>
                      <a:t>Rp 47,2 Bio</a:t>
                    </a:r>
                  </a:p>
                  <a:p>
                    <a:r>
                      <a:rPr b="1">
                        <a:solidFill>
                          <a:srgbClr val="FFFFFF"/>
                        </a:solidFill>
                      </a:rPr>
                      <a:t>42%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txPr>
              <a:bodyPr/>
              <a:lstStyle/>
              <a:p>
                <a:pPr>
                  <a:defRPr sz="900">
                    <a:latin typeface="Neue Haas Grotesk Text Pro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112,6 Bio)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39</c:v>
                </c:pt>
                <c:pt idx="1">
                  <c:v>47.227872</c:v>
                </c:pt>
              </c:numCache>
            </c:numRef>
          </c:val>
        </c:ser>
        <c:gapWidth val="55"/>
        <c:overlap val="100"/>
        <c:serLines>
          <c:spPr>
            <a:ln w="6350">
              <a:solidFill>
                <a:srgbClr val="7F7F7F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sz="1000" b="1">
                <a:latin typeface="Neue Haas Grotesk Text Pr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Neue Haas Grotesk Text Pro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0" y="209550"/>
            <a:ext cx="190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Neue Haas Grotesk Text Pro"/>
              </a:rPr>
              <a:t>10/18/2026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91000" y="209550"/>
            <a:ext cx="3810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Neue Haas Grotesk Text Pro"/>
              </a:rPr>
              <a:t>Shaping the future of our industry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96600" y="209550"/>
            <a:ext cx="952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000000"/>
                </a:solidFill>
                <a:latin typeface="Neue Haas Grotesk Text Pro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2900" y="495300"/>
            <a:ext cx="8572500" cy="571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Neue Haas Grotesk Text Pro"/>
              </a:rPr>
              <a:t>Indonesian Import Folding Crane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0" y="514350"/>
            <a:ext cx="2895600" cy="533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1">
                <a:solidFill>
                  <a:srgbClr val="000000"/>
                </a:solidFill>
                <a:latin typeface="Neue Haas Grotesk Text Pro"/>
              </a:rPr>
              <a:t>Where is the value?</a:t>
            </a:r>
          </a:p>
          <a:p>
            <a:pPr algn="r"/>
            <a:r>
              <a:rPr sz="1600" b="1">
                <a:solidFill>
                  <a:srgbClr val="000000"/>
                </a:solidFill>
                <a:latin typeface="Neue Haas Grotesk Text Pro"/>
              </a:rPr>
              <a:t>And who holds it?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6700" y="1104900"/>
            <a:ext cx="11658600" cy="0"/>
          </a:xfrm>
          <a:prstGeom prst="line">
            <a:avLst/>
          </a:prstGeom>
          <a:ln w="381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42900" y="1162050"/>
            <a:ext cx="11506200" cy="266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>
                <a:solidFill>
                  <a:srgbClr val="000000"/>
                </a:solidFill>
                <a:latin typeface="Neue Haas Grotesk Text Pro"/>
              </a:rPr>
              <a:t>Medium and Heavy are 44% of units but 67% of value, and each class has one clear leader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6700" y="1447800"/>
            <a:ext cx="1165860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42900" y="1495425"/>
            <a:ext cx="115062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Neue Haas Grotesk Text Pro"/>
              </a:rPr>
              <a:t>In 2025, Medium and Heavy imports reached </a:t>
            </a:r>
            <a:r>
              <a:rPr sz="1400" b="1">
                <a:solidFill>
                  <a:srgbClr val="000000"/>
                </a:solidFill>
                <a:latin typeface="Neue Haas Grotesk Text Pro"/>
              </a:rPr>
              <a:t>99 units (Rp 75,4 Bio)</a:t>
            </a:r>
            <a:r>
              <a:rPr sz="1400" b="0">
                <a:solidFill>
                  <a:srgbClr val="000000"/>
                </a:solidFill>
                <a:latin typeface="Neue Haas Grotesk Text Pro"/>
              </a:rPr>
              <a:t> out of 227 units (Rp 112,6 Bio). </a:t>
            </a:r>
            <a:r>
              <a:rPr sz="1400" b="1">
                <a:solidFill>
                  <a:srgbClr val="000000"/>
                </a:solidFill>
                <a:latin typeface="Neue Haas Grotesk Text Pro"/>
              </a:rPr>
              <a:t>Sany Palfinger leads Medium with half of the units; Palfinger leads Heavy with 56%.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6700" y="1943100"/>
            <a:ext cx="1165860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42900" y="2038350"/>
            <a:ext cx="3619500" cy="247650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eue Haas Grotesk Text Pro"/>
              </a:rPr>
              <a:t>Market 2025: focus on Medium &amp; Heavy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900" y="2286000"/>
            <a:ext cx="3619500" cy="3924300"/>
          </a:xfrm>
          <a:prstGeom prst="rect">
            <a:avLst/>
          </a:prstGeom>
          <a:noFill/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362200"/>
            <a:ext cx="33909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Neue Haas Grotesk Text Pro"/>
              </a:rPr>
              <a:t>Market size by class, 2025, </a:t>
            </a:r>
            <a:r>
              <a:rPr sz="1200" b="0">
                <a:solidFill>
                  <a:srgbClr val="000000"/>
                </a:solidFill>
                <a:latin typeface="Neue Haas Grotesk Text Pro"/>
              </a:rPr>
              <a:t>units vs value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1123950" y="2724150"/>
          <a:ext cx="1905000" cy="314325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16" name="Connector 15"/>
          <p:cNvCxnSpPr/>
          <p:nvPr/>
        </p:nvCxnSpPr>
        <p:spPr>
          <a:xfrm>
            <a:off x="1047750" y="3976960"/>
            <a:ext cx="0" cy="1557065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47750" y="3976960"/>
            <a:ext cx="47625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47750" y="5534025"/>
            <a:ext cx="47625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19100" y="4507843"/>
            <a:ext cx="57150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Neue Haas Grotesk Text Pro"/>
              </a:rPr>
              <a:t>Light +</a:t>
            </a:r>
          </a:p>
          <a:p>
            <a:pPr algn="r"/>
            <a:r>
              <a:rPr sz="900" b="0">
                <a:solidFill>
                  <a:srgbClr val="6B6B6B"/>
                </a:solidFill>
                <a:latin typeface="Neue Haas Grotesk Text Pro"/>
              </a:rPr>
              <a:t>Small</a:t>
            </a:r>
          </a:p>
          <a:p>
            <a:pPr algn="r"/>
            <a:r>
              <a:rPr sz="900" b="1">
                <a:solidFill>
                  <a:srgbClr val="6B6B6B"/>
                </a:solidFill>
                <a:latin typeface="Neue Haas Grotesk Text Pro"/>
              </a:rPr>
              <a:t>excluded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47750" y="2743200"/>
            <a:ext cx="0" cy="1195660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47750" y="2743200"/>
            <a:ext cx="47625" cy="0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47750" y="3938860"/>
            <a:ext cx="47625" cy="0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19100" y="3150530"/>
            <a:ext cx="57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1E9E57"/>
                </a:solidFill>
                <a:latin typeface="Neue Haas Grotesk Text Pro"/>
              </a:rPr>
              <a:t>44%</a:t>
            </a:r>
          </a:p>
          <a:p>
            <a:pPr algn="r"/>
            <a:r>
              <a:rPr sz="1000" b="0">
                <a:solidFill>
                  <a:srgbClr val="000000"/>
                </a:solidFill>
                <a:latin typeface="Neue Haas Grotesk Text Pro"/>
              </a:rPr>
              <a:t>99 units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086100" y="2743200"/>
            <a:ext cx="0" cy="1855200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3038475" y="2743200"/>
            <a:ext cx="47625" cy="0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3038475" y="4598400"/>
            <a:ext cx="47625" cy="0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143250" y="3480300"/>
            <a:ext cx="7810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67%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Neue Haas Grotesk Text Pro"/>
              </a:rPr>
              <a:t>Rp 75,4 Bio</a:t>
            </a:r>
          </a:p>
        </p:txBody>
      </p:sp>
      <p:sp>
        <p:nvSpPr>
          <p:cNvPr id="28" name="Chevron 27"/>
          <p:cNvSpPr/>
          <p:nvPr/>
        </p:nvSpPr>
        <p:spPr>
          <a:xfrm>
            <a:off x="4010025" y="4000500"/>
            <a:ext cx="171450" cy="342900"/>
          </a:xfrm>
          <a:prstGeom prst="chevron">
            <a:avLst/>
          </a:prstGeom>
          <a:solidFill>
            <a:srgbClr val="1E9E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05300" y="2038350"/>
            <a:ext cx="7543800" cy="24765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eue Haas Grotesk Text Pro"/>
              </a:rPr>
              <a:t>Medium &amp; Heavy 2025: who holds the market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05300" y="2286000"/>
            <a:ext cx="7543800" cy="3924300"/>
          </a:xfrm>
          <a:prstGeom prst="rect">
            <a:avLst/>
          </a:prstGeom>
          <a:noFill/>
          <a:ln w="19050">
            <a:solidFill>
              <a:srgbClr val="1E9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38650" y="2381250"/>
            <a:ext cx="4953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Neue Haas Grotesk Text Pro"/>
              </a:rPr>
              <a:t>Medium class (25–45 tm), 2025, </a:t>
            </a:r>
            <a:r>
              <a:rPr sz="1200" b="0">
                <a:solidFill>
                  <a:srgbClr val="000000"/>
                </a:solidFill>
                <a:latin typeface="Neue Haas Grotesk Text Pro"/>
              </a:rPr>
              <a:t>share of units by brand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8650" y="2571750"/>
            <a:ext cx="4953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Neue Haas Grotesk Text Pro"/>
              </a:rPr>
              <a:t>60 units  ·  Rp 28,2 Bio  ·  25% of market value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38650" y="2819400"/>
            <a:ext cx="2381250" cy="438150"/>
          </a:xfrm>
          <a:prstGeom prst="rect">
            <a:avLst/>
          </a:prstGeom>
          <a:solidFill>
            <a:srgbClr val="0B4D2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Neue Haas Grotesk Text Pro"/>
              </a:rPr>
              <a:t>50%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629275" y="3257550"/>
            <a:ext cx="0" cy="133350"/>
          </a:xfrm>
          <a:prstGeom prst="line">
            <a:avLst/>
          </a:prstGeom>
          <a:ln w="95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191125" y="3409950"/>
            <a:ext cx="8763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Neue Haas Grotesk Text Pro"/>
              </a:rPr>
              <a:t>Sany Palfinger</a:t>
            </a:r>
          </a:p>
          <a:p>
            <a:pPr algn="ctr"/>
            <a:r>
              <a:rPr sz="1000" b="0">
                <a:solidFill>
                  <a:srgbClr val="6B6B6B"/>
                </a:solidFill>
                <a:latin typeface="Neue Haas Grotesk Text Pro"/>
              </a:rPr>
              <a:t>30 units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19900" y="2819400"/>
            <a:ext cx="1111250" cy="438150"/>
          </a:xfrm>
          <a:prstGeom prst="rect">
            <a:avLst/>
          </a:prstGeom>
          <a:solidFill>
            <a:srgbClr val="6FCF97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000000"/>
                </a:solidFill>
                <a:latin typeface="Neue Haas Grotesk Text Pro"/>
              </a:rPr>
              <a:t>23%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375525" y="3257550"/>
            <a:ext cx="0" cy="133350"/>
          </a:xfrm>
          <a:prstGeom prst="line">
            <a:avLst/>
          </a:prstGeom>
          <a:ln w="95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937375" y="3409950"/>
            <a:ext cx="8763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Neue Haas Grotesk Text Pro"/>
              </a:rPr>
              <a:t>XCMG</a:t>
            </a:r>
          </a:p>
          <a:p>
            <a:pPr algn="ctr"/>
            <a:r>
              <a:rPr sz="1000" b="0">
                <a:solidFill>
                  <a:srgbClr val="6B6B6B"/>
                </a:solidFill>
                <a:latin typeface="Neue Haas Grotesk Text Pro"/>
              </a:rPr>
              <a:t>14 units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31150" y="2819400"/>
            <a:ext cx="396875" cy="438150"/>
          </a:xfrm>
          <a:prstGeom prst="rect">
            <a:avLst/>
          </a:prstGeom>
          <a:solidFill>
            <a:srgbClr val="1E9E57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Neue Haas Grotesk Text Pro"/>
              </a:rPr>
              <a:t>8%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129588" y="3257550"/>
            <a:ext cx="0" cy="133350"/>
          </a:xfrm>
          <a:prstGeom prst="line">
            <a:avLst/>
          </a:prstGeom>
          <a:ln w="95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7691438" y="3409950"/>
            <a:ext cx="8763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Neue Haas Grotesk Text Pro"/>
              </a:rPr>
              <a:t>Palfinger</a:t>
            </a:r>
          </a:p>
          <a:p>
            <a:pPr algn="ctr"/>
            <a:r>
              <a:rPr sz="1000" b="0">
                <a:solidFill>
                  <a:srgbClr val="6B6B6B"/>
                </a:solidFill>
                <a:latin typeface="Neue Haas Grotesk Text Pro"/>
              </a:rPr>
              <a:t>5 units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28025" y="2819400"/>
            <a:ext cx="873125" cy="438150"/>
          </a:xfrm>
          <a:prstGeom prst="rect">
            <a:avLst/>
          </a:prstGeom>
          <a:solidFill>
            <a:srgbClr val="D9D9D9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000000"/>
                </a:solidFill>
                <a:latin typeface="Neue Haas Grotesk Text Pro"/>
              </a:rPr>
              <a:t>18%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764588" y="3257550"/>
            <a:ext cx="0" cy="133350"/>
          </a:xfrm>
          <a:prstGeom prst="line">
            <a:avLst/>
          </a:prstGeom>
          <a:ln w="95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326438" y="3409950"/>
            <a:ext cx="8763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Neue Haas Grotesk Text Pro"/>
              </a:rPr>
              <a:t>Others</a:t>
            </a:r>
          </a:p>
          <a:p>
            <a:pPr algn="ctr"/>
            <a:r>
              <a:rPr sz="1000" b="0">
                <a:solidFill>
                  <a:srgbClr val="6B6B6B"/>
                </a:solidFill>
                <a:latin typeface="Neue Haas Grotesk Text Pro"/>
              </a:rPr>
              <a:t>11 units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448800" y="2381250"/>
            <a:ext cx="2266950" cy="1676400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63100" y="2476500"/>
            <a:ext cx="2038350" cy="1485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E9E57"/>
                </a:solidFill>
                <a:latin typeface="Neue Haas Grotesk Text Pro"/>
              </a:rPr>
              <a:t>Sany Palfinger</a:t>
            </a:r>
            <a:r>
              <a:rPr sz="1100" b="0">
                <a:solidFill>
                  <a:srgbClr val="000000"/>
                </a:solidFill>
                <a:latin typeface="Neue Haas Grotesk Text Pro"/>
              </a:rPr>
              <a:t> leads with half of the class (30 units).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Neue Haas Grotesk Text Pro"/>
              </a:rPr>
              <a:t/>
            </a:r>
          </a:p>
          <a:p>
            <a:pPr algn="l"/>
            <a:r>
              <a:rPr sz="1100" b="1">
                <a:solidFill>
                  <a:srgbClr val="000000"/>
                </a:solidFill>
                <a:latin typeface="Neue Haas Grotesk Text Pro"/>
              </a:rPr>
              <a:t>XCMG</a:t>
            </a:r>
            <a:r>
              <a:rPr sz="1100" b="0">
                <a:solidFill>
                  <a:srgbClr val="000000"/>
                </a:solidFill>
                <a:latin typeface="Neue Haas Grotesk Text Pro"/>
              </a:rPr>
              <a:t> is a distant #2 at 23%; Palfinger sells only 5 units here.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Neue Haas Grotesk Text Pro"/>
              </a:rPr>
              <a:t/>
            </a:r>
          </a:p>
          <a:p>
            <a:pPr algn="l"/>
            <a:r>
              <a:rPr sz="1100" b="1">
                <a:solidFill>
                  <a:srgbClr val="000000"/>
                </a:solidFill>
                <a:latin typeface="Neue Haas Grotesk Text Pro"/>
              </a:rPr>
              <a:t>So what: </a:t>
            </a:r>
            <a:r>
              <a:rPr sz="1100" b="0">
                <a:solidFill>
                  <a:srgbClr val="000000"/>
                </a:solidFill>
                <a:latin typeface="Neue Haas Grotesk Text Pro"/>
              </a:rPr>
              <a:t>Medium is a one-leader market; to grow, we take units from Sany Palfinger.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4438650" y="4229100"/>
            <a:ext cx="7277100" cy="0"/>
          </a:xfrm>
          <a:prstGeom prst="line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4438650" y="4324350"/>
            <a:ext cx="4953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Neue Haas Grotesk Text Pro"/>
              </a:rPr>
              <a:t>Heavy class (&gt; 45 tm), 2025, </a:t>
            </a:r>
            <a:r>
              <a:rPr sz="1200" b="0">
                <a:solidFill>
                  <a:srgbClr val="000000"/>
                </a:solidFill>
                <a:latin typeface="Neue Haas Grotesk Text Pro"/>
              </a:rPr>
              <a:t>share of units by brand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38650" y="4514850"/>
            <a:ext cx="4953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Neue Haas Grotesk Text Pro"/>
              </a:rPr>
              <a:t>39 units  ·  Rp 47,2 Bio  ·  42% of market value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38650" y="4762500"/>
            <a:ext cx="2686538" cy="438150"/>
          </a:xfrm>
          <a:prstGeom prst="rect">
            <a:avLst/>
          </a:prstGeom>
          <a:solidFill>
            <a:srgbClr val="1E9E57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Neue Haas Grotesk Text Pro"/>
              </a:rPr>
              <a:t>56%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781919" y="5200650"/>
            <a:ext cx="0" cy="133350"/>
          </a:xfrm>
          <a:prstGeom prst="line">
            <a:avLst/>
          </a:prstGeom>
          <a:ln w="95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5343769" y="5353050"/>
            <a:ext cx="8763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Neue Haas Grotesk Text Pro"/>
              </a:rPr>
              <a:t>Palfinger</a:t>
            </a:r>
          </a:p>
          <a:p>
            <a:pPr algn="ctr"/>
            <a:r>
              <a:rPr sz="1000" b="0">
                <a:solidFill>
                  <a:srgbClr val="6B6B6B"/>
                </a:solidFill>
                <a:latin typeface="Neue Haas Grotesk Text Pro"/>
              </a:rPr>
              <a:t>22 units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125188" y="4762500"/>
            <a:ext cx="854808" cy="438150"/>
          </a:xfrm>
          <a:prstGeom prst="rect">
            <a:avLst/>
          </a:prstGeom>
          <a:solidFill>
            <a:srgbClr val="9ADBB5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000000"/>
                </a:solidFill>
                <a:latin typeface="Neue Haas Grotesk Text Pro"/>
              </a:rPr>
              <a:t>18%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552592" y="5200650"/>
            <a:ext cx="0" cy="133350"/>
          </a:xfrm>
          <a:prstGeom prst="line">
            <a:avLst/>
          </a:prstGeom>
          <a:ln w="95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114442" y="5353050"/>
            <a:ext cx="8763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Neue Haas Grotesk Text Pro"/>
              </a:rPr>
              <a:t>Amco Veba</a:t>
            </a:r>
          </a:p>
          <a:p>
            <a:pPr algn="ctr"/>
            <a:r>
              <a:rPr sz="1000" b="0">
                <a:solidFill>
                  <a:srgbClr val="6B6B6B"/>
                </a:solidFill>
                <a:latin typeface="Neue Haas Grotesk Text Pro"/>
              </a:rPr>
              <a:t>7 units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979996" y="4762500"/>
            <a:ext cx="488462" cy="438150"/>
          </a:xfrm>
          <a:prstGeom prst="rect">
            <a:avLst/>
          </a:prstGeom>
          <a:solidFill>
            <a:srgbClr val="6FCF97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000000"/>
                </a:solidFill>
                <a:latin typeface="Neue Haas Grotesk Text Pro"/>
              </a:rPr>
              <a:t>10%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8224227" y="5200650"/>
            <a:ext cx="0" cy="133350"/>
          </a:xfrm>
          <a:prstGeom prst="line">
            <a:avLst/>
          </a:prstGeom>
          <a:ln w="95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7786077" y="5353050"/>
            <a:ext cx="8763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Neue Haas Grotesk Text Pro"/>
              </a:rPr>
              <a:t>XCMG</a:t>
            </a:r>
          </a:p>
          <a:p>
            <a:pPr algn="ctr"/>
            <a:r>
              <a:rPr sz="1000" b="0">
                <a:solidFill>
                  <a:srgbClr val="6B6B6B"/>
                </a:solidFill>
                <a:latin typeface="Neue Haas Grotesk Text Pro"/>
              </a:rPr>
              <a:t>4 units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468458" y="4762500"/>
            <a:ext cx="732692" cy="438150"/>
          </a:xfrm>
          <a:prstGeom prst="rect">
            <a:avLst/>
          </a:prstGeom>
          <a:solidFill>
            <a:srgbClr val="D9D9D9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000000"/>
                </a:solidFill>
                <a:latin typeface="Neue Haas Grotesk Text Pro"/>
              </a:rPr>
              <a:t>15%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8834804" y="5200650"/>
            <a:ext cx="0" cy="133350"/>
          </a:xfrm>
          <a:prstGeom prst="line">
            <a:avLst/>
          </a:prstGeom>
          <a:ln w="95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8396654" y="5353050"/>
            <a:ext cx="8763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Neue Haas Grotesk Text Pro"/>
              </a:rPr>
              <a:t>Others</a:t>
            </a:r>
          </a:p>
          <a:p>
            <a:pPr algn="ctr"/>
            <a:r>
              <a:rPr sz="1000" b="0">
                <a:solidFill>
                  <a:srgbClr val="6B6B6B"/>
                </a:solidFill>
                <a:latin typeface="Neue Haas Grotesk Text Pro"/>
              </a:rPr>
              <a:t>6 units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448800" y="4324350"/>
            <a:ext cx="2266950" cy="1676400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563100" y="4419600"/>
            <a:ext cx="2038350" cy="1485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E9E57"/>
                </a:solidFill>
                <a:latin typeface="Neue Haas Grotesk Text Pro"/>
              </a:rPr>
              <a:t>Palfinger</a:t>
            </a:r>
            <a:r>
              <a:rPr sz="1100" b="0">
                <a:solidFill>
                  <a:srgbClr val="000000"/>
                </a:solidFill>
                <a:latin typeface="Neue Haas Grotesk Text Pro"/>
              </a:rPr>
              <a:t> holds 56% of units (22 of 39).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Neue Haas Grotesk Text Pro"/>
              </a:rPr>
              <a:t/>
            </a:r>
          </a:p>
          <a:p>
            <a:pPr algn="l"/>
            <a:r>
              <a:rPr sz="1100" b="1">
                <a:solidFill>
                  <a:srgbClr val="000000"/>
                </a:solidFill>
                <a:latin typeface="Neue Haas Grotesk Text Pro"/>
              </a:rPr>
              <a:t>Amco Veba</a:t>
            </a:r>
            <a:r>
              <a:rPr sz="1100" b="0">
                <a:solidFill>
                  <a:srgbClr val="000000"/>
                </a:solidFill>
                <a:latin typeface="Neue Haas Grotesk Text Pro"/>
              </a:rPr>
              <a:t> (7) and </a:t>
            </a:r>
            <a:r>
              <a:rPr sz="1100" b="1">
                <a:solidFill>
                  <a:srgbClr val="000000"/>
                </a:solidFill>
                <a:latin typeface="Neue Haas Grotesk Text Pro"/>
              </a:rPr>
              <a:t>XCMG</a:t>
            </a:r>
            <a:r>
              <a:rPr sz="1100" b="0">
                <a:solidFill>
                  <a:srgbClr val="000000"/>
                </a:solidFill>
                <a:latin typeface="Neue Haas Grotesk Text Pro"/>
              </a:rPr>
              <a:t> (4) follow; top 3 = 85% of units.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Neue Haas Grotesk Text Pro"/>
              </a:rPr>
              <a:t/>
            </a:r>
          </a:p>
          <a:p>
            <a:pPr algn="l"/>
            <a:r>
              <a:rPr sz="1100" b="1">
                <a:solidFill>
                  <a:srgbClr val="000000"/>
                </a:solidFill>
                <a:latin typeface="Neue Haas Grotesk Text Pro"/>
              </a:rPr>
              <a:t>So what: </a:t>
            </a:r>
            <a:r>
              <a:rPr sz="1100" b="0">
                <a:solidFill>
                  <a:srgbClr val="000000"/>
                </a:solidFill>
                <a:latin typeface="Neue Haas Grotesk Text Pro"/>
              </a:rPr>
              <a:t>Heavy is small in units but 42% of market value; each unit is worth about Rp 1,2 Bio.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2900" y="6305550"/>
            <a:ext cx="115062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Neue Haas Grotesk Text Pro"/>
              </a:rPr>
              <a:t>Source: </a:t>
            </a:r>
            <a:r>
              <a:rPr sz="1000" b="0">
                <a:solidFill>
                  <a:srgbClr val="000000"/>
                </a:solidFill>
                <a:latin typeface="Neue Haas Grotesk Text Pro"/>
              </a:rPr>
              <a:t>Indonesia import records 2025, knuckle boom (folding) cranes; value converted from USD at assumed Rp 16.000/USD (Bio = billion).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2900" y="6477000"/>
            <a:ext cx="115062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6B6B"/>
                </a:solidFill>
                <a:latin typeface="Neue Haas Grotesk Text Pro"/>
              </a:rPr>
              <a:t>Note: </a:t>
            </a:r>
            <a:r>
              <a:rPr sz="1000" b="0">
                <a:solidFill>
                  <a:srgbClr val="6B6B6B"/>
                </a:solidFill>
                <a:latin typeface="Neue Haas Grotesk Text Pro"/>
              </a:rPr>
              <a:t>Brand units for top 3 per class from earlier data cut; Others = 2025 class total minus top 3. Light (&lt; 8 tm) and Small (8–25 tm) excluded from focus.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266700" y="6667500"/>
            <a:ext cx="11658600" cy="0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