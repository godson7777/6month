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E3E3E3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595959"/>
                        </a:solidFill>
                      </a:rPr>
                      <a:t>Light 53</a:t>
                    </a:r>
                  </a:p>
                  <a:p>
                    <a:r>
                      <a:rPr b="1">
                        <a:solidFill>
                          <a:srgbClr val="595959"/>
                        </a:solidFill>
                      </a:rPr>
                      <a:t>23%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595959"/>
                        </a:solidFill>
                      </a:rPr>
                      <a:t>Rp 8,8 Bio</a:t>
                    </a:r>
                  </a:p>
                  <a:p>
                    <a:r>
                      <a:rPr b="1">
                        <a:solidFill>
                          <a:srgbClr val="595959"/>
                        </a:solidFill>
                      </a:rPr>
                      <a:t>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112,6 Bio)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8.81608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9C9C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595959"/>
                        </a:solidFill>
                      </a:rPr>
                      <a:t>Small 75</a:t>
                    </a:r>
                  </a:p>
                  <a:p>
                    <a:r>
                      <a:rPr b="1">
                        <a:solidFill>
                          <a:srgbClr val="595959"/>
                        </a:solidFill>
                      </a:rPr>
                      <a:t>33%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595959"/>
                        </a:solidFill>
                      </a:rPr>
                      <a:t>Rp 28,4 Bio</a:t>
                    </a:r>
                  </a:p>
                  <a:p>
                    <a:r>
                      <a:rPr b="1">
                        <a:solidFill>
                          <a:srgbClr val="595959"/>
                        </a:solidFill>
                      </a:rPr>
                      <a:t>25%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112,6 Bio)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28.433984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Medium 60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Rp 28,2 Bio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112,6 Bio)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</c:v>
                </c:pt>
                <c:pt idx="1">
                  <c:v>28.150192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Heavy 39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17%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Rp 47,2 Bio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42%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112,6 Bio)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</c:v>
                </c:pt>
                <c:pt idx="1">
                  <c:v>47.227872</c:v>
                </c:pt>
              </c:numCache>
            </c:numRef>
          </c:val>
        </c:ser>
        <c:gapWidth val="55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 b="1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Neue Haas Grotesk Text Pr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095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10/18/2026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95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Neue Haas Grotesk Text Pro"/>
              </a:rPr>
              <a:t>Shaping the future of our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6600" y="2095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95300"/>
            <a:ext cx="8572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Neue Haas Grotesk Text Pro"/>
              </a:rPr>
              <a:t>Indonesian Import Folding Crane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0" y="514350"/>
            <a:ext cx="28956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Where is the value?</a:t>
            </a:r>
          </a:p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And who holds it?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700" y="1104900"/>
            <a:ext cx="116586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162050"/>
            <a:ext cx="115062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Neue Haas Grotesk Text Pro"/>
              </a:rPr>
              <a:t>Medium and Heavy are 44% of units but 67% of value, and each class has one clear leader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6700" y="14478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" y="1495425"/>
            <a:ext cx="11506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In 2025, Medium and Heavy imports reached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99 units (Rp 75,4 Bio)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 out of 227 units (Rp 112,6 Bio).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Sany Palfinger leads Medium with half of the units; Palfinger leads Heavy with 56%.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" y="19431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2900" y="2038350"/>
            <a:ext cx="3619500" cy="24765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Market 2025: focus on Medium &amp; Heavy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2286000"/>
            <a:ext cx="3619500" cy="3924300"/>
          </a:xfrm>
          <a:prstGeom prst="rect">
            <a:avLst/>
          </a:prstGeom>
          <a:noFill/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62200"/>
            <a:ext cx="33909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Market size by class, 2025, 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units vs value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123950" y="2724150"/>
          <a:ext cx="1905000" cy="3143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1047750" y="3976960"/>
            <a:ext cx="0" cy="1557065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7750" y="3976960"/>
            <a:ext cx="47625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7750" y="5534025"/>
            <a:ext cx="47625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9100" y="4507843"/>
            <a:ext cx="5715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Neue Haas Grotesk Text Pro"/>
              </a:rPr>
              <a:t>Light +</a:t>
            </a:r>
          </a:p>
          <a:p>
            <a:pPr algn="r"/>
            <a:r>
              <a:rPr sz="900" b="0">
                <a:solidFill>
                  <a:srgbClr val="6B6B6B"/>
                </a:solidFill>
                <a:latin typeface="Neue Haas Grotesk Text Pro"/>
              </a:rPr>
              <a:t>Small</a:t>
            </a:r>
          </a:p>
          <a:p>
            <a:pPr algn="r"/>
            <a:r>
              <a:rPr sz="900" b="1">
                <a:solidFill>
                  <a:srgbClr val="6B6B6B"/>
                </a:solidFill>
                <a:latin typeface="Neue Haas Grotesk Text Pro"/>
              </a:rPr>
              <a:t>excluded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7750" y="2743200"/>
            <a:ext cx="0" cy="119566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47750" y="2743200"/>
            <a:ext cx="47625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7750" y="3938860"/>
            <a:ext cx="47625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9100" y="3150530"/>
            <a:ext cx="57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9E57"/>
                </a:solidFill>
                <a:latin typeface="Neue Haas Grotesk Text Pro"/>
              </a:rPr>
              <a:t>44%</a:t>
            </a:r>
          </a:p>
          <a:p>
            <a:pPr algn="r"/>
            <a:r>
              <a:rPr sz="1000" b="0">
                <a:solidFill>
                  <a:srgbClr val="000000"/>
                </a:solidFill>
                <a:latin typeface="Neue Haas Grotesk Text Pro"/>
              </a:rPr>
              <a:t>99 units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86100" y="2743200"/>
            <a:ext cx="0" cy="185520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38475" y="2743200"/>
            <a:ext cx="47625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38475" y="4598400"/>
            <a:ext cx="47625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43250" y="3480300"/>
            <a:ext cx="7810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67%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Rp 75,4 Bio</a:t>
            </a:r>
          </a:p>
        </p:txBody>
      </p:sp>
      <p:sp>
        <p:nvSpPr>
          <p:cNvPr id="28" name="Chevron 27"/>
          <p:cNvSpPr/>
          <p:nvPr/>
        </p:nvSpPr>
        <p:spPr>
          <a:xfrm>
            <a:off x="4010025" y="4000500"/>
            <a:ext cx="171450" cy="342900"/>
          </a:xfrm>
          <a:prstGeom prst="chevron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7905750" y="4000500"/>
            <a:ext cx="171450" cy="342900"/>
          </a:xfrm>
          <a:prstGeom prst="chevron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5300" y="2038350"/>
            <a:ext cx="3562350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Medium class (25–45 tm): who fills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05300" y="2286000"/>
            <a:ext cx="3562350" cy="3924300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9600" y="2362200"/>
            <a:ext cx="3333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Medium class market, 2025, 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n of units by brand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2571750"/>
            <a:ext cx="3333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Neue Haas Grotesk Text Pro"/>
              </a:rPr>
              <a:t>60 units · Rp 28,2 Bio · 25% of market 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19600" y="2819400"/>
            <a:ext cx="1666875" cy="2190750"/>
          </a:xfrm>
          <a:prstGeom prst="rect">
            <a:avLst/>
          </a:prstGeom>
          <a:solidFill>
            <a:srgbClr val="0B4D2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FFFFFF"/>
                </a:solidFill>
                <a:latin typeface="Neue Haas Grotesk Text Pro"/>
              </a:rPr>
              <a:t>~50%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7225" y="4629150"/>
            <a:ext cx="1571625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eue Haas Grotesk Text Pro"/>
              </a:rPr>
              <a:t>Sany Palfinger, 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6475" y="2819400"/>
            <a:ext cx="1666875" cy="1022350"/>
          </a:xfrm>
          <a:prstGeom prst="rect">
            <a:avLst/>
          </a:prstGeom>
          <a:solidFill>
            <a:srgbClr val="1E9E5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FFFFFF"/>
                </a:solidFill>
                <a:latin typeface="Neue Haas Grotesk Text Pro"/>
              </a:rPr>
              <a:t>~23%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4100" y="3460750"/>
            <a:ext cx="1571625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eue Haas Grotesk Text Pro"/>
              </a:rPr>
              <a:t>XCMG, 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6475" y="3841750"/>
            <a:ext cx="520898" cy="1168400"/>
          </a:xfrm>
          <a:prstGeom prst="rect">
            <a:avLst/>
          </a:prstGeom>
          <a:solidFill>
            <a:srgbClr val="6FCF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~8%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4100" y="4629150"/>
            <a:ext cx="425648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Neue Haas Grotesk Text Pro"/>
              </a:rPr>
              <a:t>Palfinger,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7373" y="3841750"/>
            <a:ext cx="1145977" cy="1168400"/>
          </a:xfrm>
          <a:prstGeom prst="rect">
            <a:avLst/>
          </a:prstGeom>
          <a:solidFill>
            <a:srgbClr val="C7EFD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~18%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4998" y="4629150"/>
            <a:ext cx="1050727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Neue Haas Grotesk Text Pro"/>
              </a:rPr>
              <a:t>Others,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9600" y="5124450"/>
            <a:ext cx="3333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Triatra Medium market share, </a:t>
            </a:r>
            <a:r>
              <a:rPr sz="1100" b="0">
                <a:solidFill>
                  <a:srgbClr val="000000"/>
                </a:solidFill>
                <a:latin typeface="Neue Haas Grotesk Text Pro"/>
              </a:rPr>
              <a:t>quantity of 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9600" y="5353050"/>
            <a:ext cx="95250" cy="95250"/>
          </a:xfrm>
          <a:prstGeom prst="rect">
            <a:avLst/>
          </a:prstGeom>
          <a:solidFill>
            <a:srgbClr val="1E9E57"/>
          </a:solidFill>
          <a:ln w="63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2950" y="5324475"/>
            <a:ext cx="571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05400" y="5353050"/>
            <a:ext cx="95250" cy="9525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38750" y="532447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Rest of market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9600" y="5562600"/>
            <a:ext cx="3333750" cy="28575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6B6B6B"/>
                </a:solidFill>
                <a:latin typeface="Neue Haas Grotesk Text Pro"/>
              </a:rPr>
              <a:t>Triatra units sold in 2025: to be added  ·  market = 60 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9600" y="5905500"/>
            <a:ext cx="33337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9E57"/>
                </a:solidFill>
                <a:latin typeface="Neue Haas Grotesk Text Pro"/>
              </a:rPr>
              <a:t>Sany Palfinger holds 30 of 60 units (50%)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0550" y="2038350"/>
            <a:ext cx="3638550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Heavy class (&gt; 45 tm): who fills 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10550" y="2286000"/>
            <a:ext cx="3638550" cy="3924300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4850" y="2362200"/>
            <a:ext cx="34099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Heavy class market, 2025, 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n of units by brand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4850" y="2571750"/>
            <a:ext cx="3409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Neue Haas Grotesk Text Pro"/>
              </a:rPr>
              <a:t>39 units · Rp 47,2 Bio · 42% of market 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4850" y="2819400"/>
            <a:ext cx="1923562" cy="2190750"/>
          </a:xfrm>
          <a:prstGeom prst="rect">
            <a:avLst/>
          </a:prstGeom>
          <a:solidFill>
            <a:srgbClr val="0B4D2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FFFFFF"/>
                </a:solidFill>
                <a:latin typeface="Neue Haas Grotesk Text Pro"/>
              </a:rPr>
              <a:t>~56%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2475" y="4629150"/>
            <a:ext cx="1828312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eue Haas Grotesk Text Pro"/>
              </a:rPr>
              <a:t>Palfinger, 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48412" y="2819400"/>
            <a:ext cx="1486388" cy="902074"/>
          </a:xfrm>
          <a:prstGeom prst="rect">
            <a:avLst/>
          </a:prstGeom>
          <a:solidFill>
            <a:srgbClr val="1E9E5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FFFFFF"/>
                </a:solidFill>
                <a:latin typeface="Neue Haas Grotesk Text Pro"/>
              </a:rPr>
              <a:t>~18%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96037" y="3340474"/>
            <a:ext cx="1391138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Neue Haas Grotesk Text Pro"/>
              </a:rPr>
              <a:t>Amco Veba, 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8412" y="3721474"/>
            <a:ext cx="594555" cy="1288676"/>
          </a:xfrm>
          <a:prstGeom prst="rect">
            <a:avLst/>
          </a:prstGeom>
          <a:solidFill>
            <a:srgbClr val="6FCF9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~10%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96037" y="4629150"/>
            <a:ext cx="499305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Neue Haas Grotesk Text Pro"/>
              </a:rPr>
              <a:t>XCMG,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42967" y="3721474"/>
            <a:ext cx="891833" cy="1288676"/>
          </a:xfrm>
          <a:prstGeom prst="rect">
            <a:avLst/>
          </a:prstGeom>
          <a:solidFill>
            <a:srgbClr val="C7EFD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7150" rIns="57150" tIns="47625" bIns="47625"/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~15%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90592" y="4629150"/>
            <a:ext cx="796583" cy="3429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Neue Haas Grotesk Text Pro"/>
              </a:rPr>
              <a:t>Others,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4850" y="5124450"/>
            <a:ext cx="3409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Triatra Heavy market share, </a:t>
            </a:r>
            <a:r>
              <a:rPr sz="1100" b="0">
                <a:solidFill>
                  <a:srgbClr val="000000"/>
                </a:solidFill>
                <a:latin typeface="Neue Haas Grotesk Text Pro"/>
              </a:rPr>
              <a:t>quantity of sales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4850" y="5353050"/>
            <a:ext cx="95250" cy="95250"/>
          </a:xfrm>
          <a:prstGeom prst="rect">
            <a:avLst/>
          </a:prstGeom>
          <a:solidFill>
            <a:srgbClr val="1E9E57"/>
          </a:solidFill>
          <a:ln w="63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5324475"/>
            <a:ext cx="571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Triatra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10650" y="5353050"/>
            <a:ext cx="95250" cy="95250"/>
          </a:xfrm>
          <a:prstGeom prst="rect">
            <a:avLst/>
          </a:prstGeom>
          <a:solidFill>
            <a:srgbClr val="D9D9D9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0" y="5324475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Neue Haas Grotesk Text Pro"/>
              </a:rPr>
              <a:t>Rest of market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4850" y="5562600"/>
            <a:ext cx="3409950" cy="28575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6B6B6B"/>
                </a:solidFill>
                <a:latin typeface="Neue Haas Grotesk Text Pro"/>
              </a:rPr>
              <a:t>Triatra units sold in 2025: to be added  ·  market = 39 units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4850" y="5905500"/>
            <a:ext cx="34099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9E57"/>
                </a:solidFill>
                <a:latin typeface="Neue Haas Grotesk Text Pro"/>
              </a:rPr>
              <a:t>Palfinger holds 22 of 39 units (56%)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" y="630555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Source: </a:t>
            </a:r>
            <a:r>
              <a:rPr sz="1000" b="0">
                <a:solidFill>
                  <a:srgbClr val="000000"/>
                </a:solidFill>
                <a:latin typeface="Neue Haas Grotesk Text Pro"/>
              </a:rPr>
              <a:t>Indonesia import records 2025, knuckle boom (folding) cranes; value converted from USD at assumed Rp 16.000/USD (Bio = billion).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" y="647700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Neue Haas Grotesk Text Pro"/>
              </a:rPr>
              <a:t>Note: </a:t>
            </a:r>
            <a:r>
              <a:rPr sz="1000" b="0">
                <a:solidFill>
                  <a:srgbClr val="6B6B6B"/>
                </a:solidFill>
                <a:latin typeface="Neue Haas Grotesk Text Pro"/>
              </a:rPr>
              <a:t>Brand units for top 3 per class from earlier data cut; Others = 2025 class total minus top 3. Light (&lt; 8 tm) and Small (8–25 tm) excluded from focus.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66700" y="6667500"/>
            <a:ext cx="11658600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