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ayout>
        <c:manualLayout>
          <c:layoutTarget val="inner"/>
          <c:xMode val="edge"/>
          <c:yMode val="edge"/>
          <c:x val="0"/>
          <c:y val="0"/>
          <c:w val="1"/>
          <c:h val="0.9"/>
        </c:manualLayout>
      </c:layout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Light</c:v>
                </c:pt>
              </c:strCache>
            </c:strRef>
          </c:tx>
          <c:spPr>
            <a:solidFill>
              <a:srgbClr val="E3E3E3"/>
            </a:solidFill>
            <a:ln>
              <a:solidFill>
                <a:srgbClr val="FFFFFF"/>
              </a:solidFill>
            </a:ln>
          </c:spPr>
          <c:dLbls>
            <c:numFmt formatCode="General" sourceLinked="0"/>
            <c:txPr>
              <a:bodyPr/>
              <a:lstStyle/>
              <a:p>
                <a:pPr>
                  <a:defRPr sz="900" b="1">
                    <a:solidFill>
                      <a:srgbClr val="404040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53</c:v>
                </c:pt>
                <c:pt idx="1">
                  <c:v>8.8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</c:v>
                </c:pt>
              </c:strCache>
            </c:strRef>
          </c:tx>
          <c:spPr>
            <a:solidFill>
              <a:srgbClr val="C9C9C9"/>
            </a:solidFill>
            <a:ln>
              <a:solidFill>
                <a:srgbClr val="FFFFFF"/>
              </a:solidFill>
            </a:ln>
          </c:spPr>
          <c:dLbls>
            <c:numFmt formatCode="General" sourceLinked="0"/>
            <c:txPr>
              <a:bodyPr/>
              <a:lstStyle/>
              <a:p>
                <a:pPr>
                  <a:defRPr sz="900" b="1">
                    <a:solidFill>
                      <a:srgbClr val="404040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75</c:v>
                </c:pt>
                <c:pt idx="1">
                  <c:v>28.4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dLbls>
            <c:numFmt formatCode="General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60</c:v>
                </c:pt>
                <c:pt idx="1">
                  <c:v>28.2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dLbls>
            <c:numFmt formatCode="General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39</c:v>
                </c:pt>
                <c:pt idx="1">
                  <c:v>47.2</c:v>
                </c:pt>
              </c:numCache>
            </c:numRef>
          </c:val>
        </c:ser>
        <c:gapWidth val="55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1000" b="1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Sany Palfinger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dLbls>
            <c:dLbl>
              <c:idx val="1"/>
              <c:delete val="1"/>
            </c:dLbl>
            <c:numFmt formatCode="0&quot; units&quot;;;;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separator>
</c:separator>
            <c:extLst xmlns:c15="http://schemas.microsoft.com/office/drawing/2012/chart">
              <c:ext uri="{CE6537A1-D6FC-4f65-9D91-7224C49458BB}">
                <c15:showDataLabelsRange val="1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</c:v>
                </c:pt>
                <c:pt idx="1">
                  <c:v>0</c:v>
                </c:pt>
              </c:numCache>
            </c:numRef>
          </c:val>
          <c:extLst xmlns:c15="http://schemas.microsoft.com/office/drawing/2012/chart">
            <c:ext uri="{02D57815-91ED-43cb-92C2-25804820EDAC}">
              <c15:datalabelsRange>
                <c15:f>Sheet1!$B$12:$B$13</c15:f>
                <c15:dlblRangeCache>
                  <c:ptCount val="2"/>
                  <c:pt idx="0">
                    <c:v>Sany Palfinger
30 units
Rp 11,9 Bio</c:v>
                  </c:pt>
                  <c:pt idx="1">
                    <c:v/>
                  </c:pt>
                </c15:dlblRangeCache>
              </c15:datalabelsRange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Palfinger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dLbls>
            <c:numFmt formatCode="0&quot; units&quot;;;;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separator>
</c:separator>
            <c:extLst xmlns:c15="http://schemas.microsoft.com/office/drawing/2012/chart">
              <c:ext uri="{CE6537A1-D6FC-4f65-9D91-7224C49458BB}">
                <c15:showDataLabelsRange val="1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</c:v>
                </c:pt>
                <c:pt idx="1">
                  <c:v>22</c:v>
                </c:pt>
              </c:numCache>
            </c:numRef>
          </c:val>
          <c:extLst xmlns:c15="http://schemas.microsoft.com/office/drawing/2012/chart">
            <c:ext uri="{02D57815-91ED-43cb-92C2-25804820EDAC}">
              <c15:datalabelsRange>
                <c15:f>Sheet1!$C$12:$C$13</c15:f>
                <c15:dlblRangeCache>
                  <c:ptCount val="2"/>
                  <c:pt idx="0">
                    <c:v>Palfinger
5 units
Rp 4,4 Bio</c:v>
                  </c:pt>
                  <c:pt idx="1">
                    <c:v>Palfinger
22 units
Rp 26,7 Bio</c:v>
                  </c:pt>
                </c15:dlblRangeCache>
              </c15:datalabelsRange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Amco Veba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dLbls>
            <c:dLbl>
              <c:idx val="0"/>
              <c:delete val="1"/>
            </c:dLbl>
            <c:numFmt formatCode="0&quot; units&quot;;;;" sourceLinked="0"/>
            <c:txPr>
              <a:bodyPr/>
              <a:lstStyle/>
              <a:p>
                <a:pPr>
                  <a:defRPr sz="9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separator>
</c:separator>
            <c:extLst xmlns:c15="http://schemas.microsoft.com/office/drawing/2012/chart">
              <c:ext uri="{CE6537A1-D6FC-4f65-9D91-7224C49458BB}">
                <c15:showDataLabelsRange val="1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</c:v>
                </c:pt>
                <c:pt idx="1">
                  <c:v>7</c:v>
                </c:pt>
              </c:numCache>
            </c:numRef>
          </c:val>
          <c:extLst xmlns:c15="http://schemas.microsoft.com/office/drawing/2012/chart">
            <c:ext uri="{02D57815-91ED-43cb-92C2-25804820EDAC}">
              <c15:datalabelsRange>
                <c15:f>Sheet1!$D$12:$D$13</c15:f>
                <c15:dlblRangeCache>
                  <c:ptCount val="2"/>
                  <c:pt idx="0">
                    <c:v/>
                  </c:pt>
                  <c:pt idx="1">
                    <c:v>Amco Veba
7 units
Rp 9,9 Bio</c:v>
                  </c:pt>
                </c15:dlblRangeCache>
              </c15:datalabelsRange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XCMG</c:v>
                </c:pt>
              </c:strCache>
            </c:strRef>
          </c:tx>
          <c:spPr>
            <a:solidFill>
              <a:srgbClr val="9ADBB5"/>
            </a:solidFill>
            <a:ln>
              <a:solidFill>
                <a:srgbClr val="FFFFFF"/>
              </a:solidFill>
            </a:ln>
          </c:spPr>
          <c:dLbls>
            <c:numFmt formatCode="0&quot; units&quot;;;;" sourceLinked="0"/>
            <c:txPr>
              <a:bodyPr/>
              <a:lstStyle/>
              <a:p>
                <a:pPr>
                  <a:defRPr sz="9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separator>
</c:separator>
            <c:extLst xmlns:c15="http://schemas.microsoft.com/office/drawing/2012/chart">
              <c:ext uri="{CE6537A1-D6FC-4f65-9D91-7224C49458BB}">
                <c15:showDataLabelsRange val="1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14</c:v>
                </c:pt>
                <c:pt idx="1">
                  <c:v>4</c:v>
                </c:pt>
              </c:numCache>
            </c:numRef>
          </c:val>
          <c:extLst xmlns:c15="http://schemas.microsoft.com/office/drawing/2012/chart">
            <c:ext uri="{02D57815-91ED-43cb-92C2-25804820EDAC}">
              <c15:datalabelsRange>
                <c15:f>Sheet1!$E$12:$E$13</c15:f>
                <c15:dlblRangeCache>
                  <c:ptCount val="2"/>
                  <c:pt idx="0">
                    <c:v>XCMG
14 units
Rp 6,5 Bio</c:v>
                  </c:pt>
                  <c:pt idx="1">
                    <c:v>XCMG
4 units
Rp 4,2 Bio</c:v>
                  </c:pt>
                </c15:dlblRangeCache>
              </c15:datalabelsRange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D9D9D9"/>
            </a:solidFill>
            <a:ln>
              <a:solidFill>
                <a:srgbClr val="FFFFFF"/>
              </a:solidFill>
            </a:ln>
          </c:spPr>
          <c:dLbls>
            <c:numFmt formatCode="0&quot; units&quot;;;;" sourceLinked="0"/>
            <c:txPr>
              <a:bodyPr/>
              <a:lstStyle/>
              <a:p>
                <a:pPr>
                  <a:defRPr sz="9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separator>
</c:separator>
            <c:extLst xmlns:c15="http://schemas.microsoft.com/office/drawing/2012/chart">
              <c:ext uri="{CE6537A1-D6FC-4f65-9D91-7224C49458BB}">
                <c15:showDataLabelsRange val="1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11</c:v>
                </c:pt>
                <c:pt idx="1">
                  <c:v>6</c:v>
                </c:pt>
              </c:numCache>
            </c:numRef>
          </c:val>
          <c:extLst xmlns:c15="http://schemas.microsoft.com/office/drawing/2012/chart">
            <c:ext uri="{02D57815-91ED-43cb-92C2-25804820EDAC}">
              <c15:datalabelsRange>
                <c15:f>Sheet1!$F$12:$F$13</c15:f>
                <c15:dlblRangeCache>
                  <c:ptCount val="2"/>
                  <c:pt idx="0">
                    <c:v>Others
11 units
Rp 5,4 Bio</c:v>
                  </c:pt>
                  <c:pt idx="1">
                    <c:v>Others
6 units
Rp 6,4 Bio</c:v>
                  </c:pt>
                </c15:dlblRangeCache>
              </c15:datalabelsRange>
            </c:ext>
          </c:extLst>
        </c:ser>
        <c:gapWidth val="45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1200" b="1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Neue Haas Grotesk Text Pro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image" Target="../media/image1.png"/><Relationship Id="rId5" Type="http://schemas.openxmlformats.org/officeDocument/2006/relationships/image" Target="../media/image2.png"/><Relationship Id="rId6" Type="http://schemas.openxmlformats.org/officeDocument/2006/relationships/image" Target="../media/image3.png"/><Relationship Id="rId7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0" y="209550"/>
            <a:ext cx="190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Neue Haas Grotesk Text Pro"/>
              </a:rPr>
              <a:t>10/18/2026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91000" y="209550"/>
            <a:ext cx="3810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Neue Haas Grotesk Text Pro"/>
              </a:rPr>
              <a:t>Shaping the future of our industry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96600" y="209550"/>
            <a:ext cx="952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000000"/>
                </a:solidFill>
                <a:latin typeface="Neue Haas Grotesk Text Pro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2900" y="495300"/>
            <a:ext cx="8572500" cy="571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Neue Haas Grotesk Text Pro"/>
              </a:rPr>
              <a:t>Indonesian Import Folding Crane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0" y="514350"/>
            <a:ext cx="28956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1">
                <a:solidFill>
                  <a:srgbClr val="000000"/>
                </a:solidFill>
                <a:latin typeface="Neue Haas Grotesk Text Pro"/>
              </a:rPr>
              <a:t>Where is the value?</a:t>
            </a:r>
          </a:p>
          <a:p>
            <a:pPr algn="r"/>
            <a:r>
              <a:rPr sz="1600" b="1">
                <a:solidFill>
                  <a:srgbClr val="000000"/>
                </a:solidFill>
                <a:latin typeface="Neue Haas Grotesk Text Pro"/>
              </a:rPr>
              <a:t>And who holds it?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6700" y="1104900"/>
            <a:ext cx="11658600" cy="0"/>
          </a:xfrm>
          <a:prstGeom prst="line">
            <a:avLst/>
          </a:prstGeom>
          <a:ln w="381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42900" y="1162050"/>
            <a:ext cx="11506200" cy="266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>
                <a:solidFill>
                  <a:srgbClr val="000000"/>
                </a:solidFill>
                <a:latin typeface="Neue Haas Grotesk Text Pro"/>
              </a:rPr>
              <a:t>Medium and Heavy are 44% of units but 67% of value; 3 brands hold 80%+ of each class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6700" y="1447800"/>
            <a:ext cx="116586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2900" y="1495425"/>
            <a:ext cx="115062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Neue Haas Grotesk Text Pro"/>
              </a:rPr>
              <a:t>In 2025, Medium and Heavy imports reached </a:t>
            </a:r>
            <a:r>
              <a:rPr sz="1400" b="1">
                <a:solidFill>
                  <a:srgbClr val="000000"/>
                </a:solidFill>
                <a:latin typeface="Neue Haas Grotesk Text Pro"/>
              </a:rPr>
              <a:t>99 units (Rp 75,4 Bio)</a:t>
            </a:r>
            <a:r>
              <a:rPr sz="1400" b="0">
                <a:solidFill>
                  <a:srgbClr val="000000"/>
                </a:solidFill>
                <a:latin typeface="Neue Haas Grotesk Text Pro"/>
              </a:rPr>
              <a:t> out of 227 units (Rp 112,6 Bio). </a:t>
            </a:r>
            <a:r>
              <a:rPr sz="1400" b="1">
                <a:solidFill>
                  <a:srgbClr val="000000"/>
                </a:solidFill>
                <a:latin typeface="Neue Haas Grotesk Text Pro"/>
              </a:rPr>
              <a:t>Three brands cover 82% of Medium and 85% of Heavy units.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6700" y="1943100"/>
            <a:ext cx="116586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42900" y="2038350"/>
            <a:ext cx="3619500" cy="24765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eue Haas Grotesk Text Pro"/>
              </a:rPr>
              <a:t>Market 2025: focus on Medium &amp; Heavy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900" y="2286000"/>
            <a:ext cx="3619500" cy="3924300"/>
          </a:xfrm>
          <a:prstGeom prst="rect">
            <a:avLst/>
          </a:prstGeom>
          <a:noFill/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362200"/>
            <a:ext cx="33909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Neue Haas Grotesk Text Pro"/>
              </a:rPr>
              <a:t>Market size by class, 2025, </a:t>
            </a:r>
            <a:r>
              <a:rPr sz="1200" b="0">
                <a:solidFill>
                  <a:srgbClr val="000000"/>
                </a:solidFill>
                <a:latin typeface="Neue Haas Grotesk Text Pro"/>
              </a:rPr>
              <a:t>units vs value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1123950" y="2724150"/>
          <a:ext cx="1905000" cy="31432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16" name="Connector 15"/>
          <p:cNvCxnSpPr/>
          <p:nvPr/>
        </p:nvCxnSpPr>
        <p:spPr>
          <a:xfrm>
            <a:off x="1047750" y="3976960"/>
            <a:ext cx="0" cy="1557065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47750" y="3976960"/>
            <a:ext cx="47625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47750" y="5534025"/>
            <a:ext cx="47625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19100" y="4507843"/>
            <a:ext cx="5715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Neue Haas Grotesk Text Pro"/>
              </a:rPr>
              <a:t>Light +</a:t>
            </a:r>
          </a:p>
          <a:p>
            <a:pPr algn="r"/>
            <a:r>
              <a:rPr sz="900" b="0">
                <a:solidFill>
                  <a:srgbClr val="6B6B6B"/>
                </a:solidFill>
                <a:latin typeface="Neue Haas Grotesk Text Pro"/>
              </a:rPr>
              <a:t>Small</a:t>
            </a:r>
          </a:p>
          <a:p>
            <a:pPr algn="r"/>
            <a:r>
              <a:rPr sz="900" b="1">
                <a:solidFill>
                  <a:srgbClr val="6B6B6B"/>
                </a:solidFill>
                <a:latin typeface="Neue Haas Grotesk Text Pro"/>
              </a:rPr>
              <a:t>excluded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47750" y="2743200"/>
            <a:ext cx="0" cy="119566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47750" y="2743200"/>
            <a:ext cx="47625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47750" y="3938860"/>
            <a:ext cx="47625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19100" y="3150530"/>
            <a:ext cx="57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1E9E57"/>
                </a:solidFill>
                <a:latin typeface="Neue Haas Grotesk Text Pro"/>
              </a:rPr>
              <a:t>44%</a:t>
            </a:r>
          </a:p>
          <a:p>
            <a:pPr algn="r"/>
            <a:r>
              <a:rPr sz="1000" b="0">
                <a:solidFill>
                  <a:srgbClr val="000000"/>
                </a:solidFill>
                <a:latin typeface="Neue Haas Grotesk Text Pro"/>
              </a:rPr>
              <a:t>99 units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086100" y="2743200"/>
            <a:ext cx="0" cy="185520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3038475" y="2743200"/>
            <a:ext cx="47625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3038475" y="4598400"/>
            <a:ext cx="47625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143250" y="3480300"/>
            <a:ext cx="7810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67%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Rp 75,4 Bio</a:t>
            </a:r>
          </a:p>
        </p:txBody>
      </p:sp>
      <p:sp>
        <p:nvSpPr>
          <p:cNvPr id="28" name="Chevron 27"/>
          <p:cNvSpPr/>
          <p:nvPr/>
        </p:nvSpPr>
        <p:spPr>
          <a:xfrm>
            <a:off x="4010025" y="4000500"/>
            <a:ext cx="171450" cy="342900"/>
          </a:xfrm>
          <a:prstGeom prst="chevron">
            <a:avLst/>
          </a:prstGeom>
          <a:solidFill>
            <a:srgbClr val="1E9E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05300" y="2038350"/>
            <a:ext cx="7543800" cy="24765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eue Haas Grotesk Text Pro"/>
              </a:rPr>
              <a:t>Medium &amp; Heavy 2025: who holds the market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05300" y="2286000"/>
            <a:ext cx="7543800" cy="3924300"/>
          </a:xfrm>
          <a:prstGeom prst="rect">
            <a:avLst/>
          </a:prstGeom>
          <a:noFill/>
          <a:ln w="19050">
            <a:solidFill>
              <a:srgbClr val="1E9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8650" y="2381250"/>
            <a:ext cx="4953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Neue Haas Grotesk Text Pro"/>
              </a:rPr>
              <a:t>Brand share of units, Medium vs Heavy, 2025, </a:t>
            </a:r>
            <a:r>
              <a:rPr sz="1200" b="0">
                <a:solidFill>
                  <a:srgbClr val="000000"/>
                </a:solidFill>
                <a:latin typeface="Neue Haas Grotesk Text Pro"/>
              </a:rPr>
              <a:t>% of class units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8650" y="2571750"/>
            <a:ext cx="495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6B6B"/>
                </a:solidFill>
                <a:latin typeface="Neue Haas Grotesk Text Pro"/>
              </a:rPr>
              <a:t>Medium = 60 units (Rp 28,2 Bio)  ·  Heavy = 39 units (Rp 47,2 Bio)</a:t>
            </a:r>
          </a:p>
        </p:txBody>
      </p:sp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4381500" y="2781300"/>
          <a:ext cx="5048250" cy="314325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4" name="Rectangle 33"/>
          <p:cNvSpPr/>
          <p:nvPr/>
        </p:nvSpPr>
        <p:spPr>
          <a:xfrm>
            <a:off x="9525000" y="2857500"/>
            <a:ext cx="2190750" cy="1352550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20250" y="2905125"/>
            <a:ext cx="571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Neue Haas Grotesk Text Pro"/>
              </a:rPr>
              <a:t>Medium</a:t>
            </a:r>
          </a:p>
        </p:txBody>
      </p:sp>
      <p:pic>
        <p:nvPicPr>
          <p:cNvPr id="36" name="Picture 35" descr="sany_palfing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0250" y="3084393"/>
            <a:ext cx="641958" cy="136765"/>
          </a:xfrm>
          <a:prstGeom prst="rect">
            <a:avLst/>
          </a:prstGeom>
        </p:spPr>
      </p:pic>
      <p:pic>
        <p:nvPicPr>
          <p:cNvPr id="37" name="Picture 36" descr="xcm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19356" y="3084393"/>
            <a:ext cx="626405" cy="136765"/>
          </a:xfrm>
          <a:prstGeom prst="rect">
            <a:avLst/>
          </a:prstGeom>
        </p:spPr>
      </p:pic>
      <p:pic>
        <p:nvPicPr>
          <p:cNvPr id="38" name="Picture 37" descr="palfing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02909" y="3084393"/>
            <a:ext cx="617593" cy="136765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620250" y="3295650"/>
            <a:ext cx="2000250" cy="895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E9E57"/>
                </a:solidFill>
                <a:latin typeface="Neue Haas Grotesk Text Pro"/>
              </a:rPr>
              <a:t>3 brands = 82% of units</a:t>
            </a:r>
            <a:r>
              <a:rPr sz="900" b="0">
                <a:solidFill>
                  <a:srgbClr val="000000"/>
                </a:solidFill>
                <a:latin typeface="Neue Haas Grotesk Text Pro"/>
              </a:rPr>
              <a:t> (49 of 60) and 81% of value: Sany Palfinger, XCMG and Palfinger.</a:t>
            </a:r>
          </a:p>
          <a:p>
            <a:pPr algn="l"/>
            <a:r>
              <a:rPr sz="900" b="1">
                <a:solidFill>
                  <a:srgbClr val="000000"/>
                </a:solidFill>
                <a:latin typeface="Neue Haas Grotesk Text Pro"/>
              </a:rPr>
              <a:t>Sany Palfinger</a:t>
            </a:r>
            <a:r>
              <a:rPr sz="900" b="0">
                <a:solidFill>
                  <a:srgbClr val="000000"/>
                </a:solidFill>
                <a:latin typeface="Neue Haas Grotesk Text Pro"/>
              </a:rPr>
              <a:t> alone holds 30 units (50%).</a:t>
            </a:r>
          </a:p>
          <a:p>
            <a:pPr algn="l"/>
            <a:r>
              <a:rPr sz="900" b="1">
                <a:solidFill>
                  <a:srgbClr val="6B6B6B"/>
                </a:solidFill>
                <a:latin typeface="Neue Haas Grotesk Text Pro"/>
              </a:rPr>
              <a:t>Others: </a:t>
            </a:r>
            <a:r>
              <a:rPr sz="900" b="0">
                <a:solidFill>
                  <a:srgbClr val="6B6B6B"/>
                </a:solidFill>
                <a:latin typeface="Neue Haas Grotesk Text Pro"/>
              </a:rPr>
              <a:t>Amco Veba 5, HIAB 5, Hyva 1.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525000" y="4267200"/>
            <a:ext cx="2190750" cy="1352550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20250" y="4314825"/>
            <a:ext cx="571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Neue Haas Grotesk Text Pro"/>
              </a:rPr>
              <a:t>Heavy</a:t>
            </a:r>
          </a:p>
        </p:txBody>
      </p:sp>
      <p:pic>
        <p:nvPicPr>
          <p:cNvPr id="42" name="Picture 41" descr="palfing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20250" y="4492958"/>
            <a:ext cx="627839" cy="139034"/>
          </a:xfrm>
          <a:prstGeom prst="rect">
            <a:avLst/>
          </a:prstGeom>
        </p:spPr>
      </p:pic>
      <p:pic>
        <p:nvPicPr>
          <p:cNvPr id="43" name="Picture 42" descr="amco_veb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5241" y="4492958"/>
            <a:ext cx="621308" cy="139034"/>
          </a:xfrm>
          <a:prstGeom prst="rect">
            <a:avLst/>
          </a:prstGeom>
        </p:spPr>
      </p:pic>
      <p:pic>
        <p:nvPicPr>
          <p:cNvPr id="44" name="Picture 43" descr="xcm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83701" y="4492958"/>
            <a:ext cx="636797" cy="13903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9620250" y="4705350"/>
            <a:ext cx="2000250" cy="895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E9E57"/>
                </a:solidFill>
                <a:latin typeface="Neue Haas Grotesk Text Pro"/>
              </a:rPr>
              <a:t>3 brands = 85% of units</a:t>
            </a:r>
            <a:r>
              <a:rPr sz="900" b="0">
                <a:solidFill>
                  <a:srgbClr val="000000"/>
                </a:solidFill>
                <a:latin typeface="Neue Haas Grotesk Text Pro"/>
              </a:rPr>
              <a:t> (33 of 39) and 86% of value: Palfinger, Amco Veba and XCMG.</a:t>
            </a:r>
          </a:p>
          <a:p>
            <a:pPr algn="l"/>
            <a:r>
              <a:rPr sz="900" b="1">
                <a:solidFill>
                  <a:srgbClr val="000000"/>
                </a:solidFill>
                <a:latin typeface="Neue Haas Grotesk Text Pro"/>
              </a:rPr>
              <a:t>Palfinger</a:t>
            </a:r>
            <a:r>
              <a:rPr sz="900" b="0">
                <a:solidFill>
                  <a:srgbClr val="000000"/>
                </a:solidFill>
                <a:latin typeface="Neue Haas Grotesk Text Pro"/>
              </a:rPr>
              <a:t> alone holds 22 units (56%).</a:t>
            </a:r>
          </a:p>
          <a:p>
            <a:pPr algn="l"/>
            <a:r>
              <a:rPr sz="900" b="1">
                <a:solidFill>
                  <a:srgbClr val="6B6B6B"/>
                </a:solidFill>
                <a:latin typeface="Neue Haas Grotesk Text Pro"/>
              </a:rPr>
              <a:t>Others: </a:t>
            </a:r>
            <a:r>
              <a:rPr sz="900" b="0">
                <a:solidFill>
                  <a:srgbClr val="6B6B6B"/>
                </a:solidFill>
                <a:latin typeface="Neue Haas Grotesk Text Pro"/>
              </a:rPr>
              <a:t>Hyva 3, Fassi 1, Sany Palfinger 1, Zoomlion 1.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2900" y="6305550"/>
            <a:ext cx="11506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Neue Haas Grotesk Text Pro"/>
              </a:rPr>
              <a:t>Source: </a:t>
            </a:r>
            <a:r>
              <a:rPr sz="1000" b="0">
                <a:solidFill>
                  <a:srgbClr val="000000"/>
                </a:solidFill>
                <a:latin typeface="Neue Haas Grotesk Text Pro"/>
              </a:rPr>
              <a:t>Crane Market GVW Pairing v11 (Noir), sheet 8. Pivot Source, 2025 rows; value converted from USD at assumed Rp 16.000/USD (Bio = billion).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2900" y="6477000"/>
            <a:ext cx="11506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6B6B"/>
                </a:solidFill>
                <a:latin typeface="Neue Haas Grotesk Text Pro"/>
              </a:rPr>
              <a:t>Note: </a:t>
            </a:r>
            <a:r>
              <a:rPr sz="1000" b="0">
                <a:solidFill>
                  <a:srgbClr val="6B6B6B"/>
                </a:solidFill>
                <a:latin typeface="Neue Haas Grotesk Text Pro"/>
              </a:rPr>
              <a:t>Chart data = SUMIFS on 2025 database rows (Edit Data). Brands shown until 80% of class units (Pareto); Others = rest. Light (&lt; 8 tm) and Small (8–25 tm) excluded from focus.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266700" y="6667500"/>
            <a:ext cx="11658600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