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</c:v>
                </c:pt>
                <c:pt idx="1">
                  <c:v>28.4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</c:v>
                </c:pt>
                <c:pt idx="1">
                  <c:v>28.2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</c:v>
                </c:pt>
                <c:pt idx="1">
                  <c:v>47.2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</c:ser>
        <c:gapWidth val="4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Neue Haas Grotesk Text Pr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095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10/18/2026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1000" y="20955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Neue Haas Grotesk Text Pro"/>
              </a:rPr>
              <a:t>Shaping the future of our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6600" y="2095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495300"/>
            <a:ext cx="8572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Neue Haas Grotesk Text Pro"/>
              </a:rPr>
              <a:t>Indonesian Import Folding Crane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2895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Where is the value?</a:t>
            </a:r>
          </a:p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And who holds it?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6700" y="1104900"/>
            <a:ext cx="116586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162050"/>
            <a:ext cx="115062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0000"/>
                </a:solidFill>
                <a:latin typeface="Neue Haas Grotesk Text Pro"/>
              </a:rPr>
              <a:t>Medium and Heavy are 44% of units but 67% of value, and each class has one clear leader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700" y="14478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2900" y="1495425"/>
            <a:ext cx="11506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Neue Haas Grotesk Text Pro"/>
              </a:rPr>
              <a:t>In 2025, Medium and Heavy imports reached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99 units (Rp 75,4 Bio)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out of 227 units (Rp 112,6 Bio).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Sany Palfinger leads Medium with half of the units; Palfinger leads Heavy with 56%.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" y="19431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2900" y="2038350"/>
            <a:ext cx="3619500" cy="24765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" y="2286000"/>
            <a:ext cx="3619500" cy="3924300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2200"/>
            <a:ext cx="33909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Market size by class,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units vs value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123950" y="2724150"/>
          <a:ext cx="1905000" cy="3143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1047750" y="3976960"/>
            <a:ext cx="0" cy="1557065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7750" y="3976960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750" y="5534025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9100" y="4507843"/>
            <a:ext cx="5715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Light +</a:t>
            </a:r>
          </a:p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1">
                <a:solidFill>
                  <a:srgbClr val="6B6B6B"/>
                </a:solidFill>
                <a:latin typeface="Neue Haas Grotesk Text Pro"/>
              </a:rPr>
              <a:t>excluded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7750" y="2743200"/>
            <a:ext cx="0" cy="119566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7750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7750" y="393886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9100" y="315053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r"/>
            <a:r>
              <a:rPr sz="1000" b="0">
                <a:solidFill>
                  <a:srgbClr val="000000"/>
                </a:solidFill>
                <a:latin typeface="Neue Haas Grotesk Text Pro"/>
              </a:rPr>
              <a:t>99 units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86100" y="2743200"/>
            <a:ext cx="0" cy="185520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038475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038475" y="45984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43250" y="3480300"/>
            <a:ext cx="7810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67%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Rp 75,4 Bio</a:t>
            </a:r>
          </a:p>
        </p:txBody>
      </p:sp>
      <p:sp>
        <p:nvSpPr>
          <p:cNvPr id="28" name="Chevron 27"/>
          <p:cNvSpPr/>
          <p:nvPr/>
        </p:nvSpPr>
        <p:spPr>
          <a:xfrm>
            <a:off x="4010025" y="4000500"/>
            <a:ext cx="171450" cy="342900"/>
          </a:xfrm>
          <a:prstGeom prst="chevron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5300" y="2038350"/>
            <a:ext cx="7543800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05300" y="2286000"/>
            <a:ext cx="7543800" cy="3924300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238125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Brand share of units, Medium vs Heavy,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% of class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25717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Medium = 60 units (Rp 28,2 Bio)  ·  Heavy = 39 units (Rp 47,2 Bio)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4381500" y="2781300"/>
          <a:ext cx="5048250" cy="31432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4" name="Rectangle 33"/>
          <p:cNvSpPr/>
          <p:nvPr/>
        </p:nvSpPr>
        <p:spPr>
          <a:xfrm>
            <a:off x="9525000" y="28575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20250" y="2914650"/>
            <a:ext cx="200025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Medium</a:t>
            </a:r>
          </a:p>
          <a:p>
            <a:pPr algn="l"/>
            <a:r>
              <a:rPr sz="950" b="1">
                <a:solidFill>
                  <a:srgbClr val="1E9E57"/>
                </a:solidFill>
                <a:latin typeface="Neue Haas Grotesk Text Pro"/>
              </a:rPr>
              <a:t>Sany Palfinger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leads with 30 of 60 units (50%).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XCMG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is #2 with 14 units; Palfinger sells 5.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So what: 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one-leader market; growth means taking units from Sany Palfinger.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25000" y="42672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20250" y="4324350"/>
            <a:ext cx="200025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Heavy</a:t>
            </a:r>
          </a:p>
          <a:p>
            <a:pPr algn="l"/>
            <a:r>
              <a:rPr sz="950" b="1">
                <a:solidFill>
                  <a:srgbClr val="1E9E57"/>
                </a:solidFill>
                <a:latin typeface="Neue Haas Grotesk Text Pro"/>
              </a:rPr>
              <a:t>Palfinger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holds 22 of 39 units (56%).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Amco Veba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(7) and </a:t>
            </a:r>
            <a:r>
              <a:rPr sz="950" b="1">
                <a:solidFill>
                  <a:srgbClr val="000000"/>
                </a:solidFill>
                <a:latin typeface="Neue Haas Grotesk Text Pro"/>
              </a:rPr>
              <a:t>XCMG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(4) follow.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So what: 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small in units but 42% of market value; about Rp 1,2 Bio per unit.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" y="630555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Source: </a:t>
            </a:r>
            <a:r>
              <a:rPr sz="1000" b="0">
                <a:solidFill>
                  <a:srgbClr val="000000"/>
                </a:solidFill>
                <a:latin typeface="Neue Haas Grotesk Text Pro"/>
              </a:rPr>
              <a:t>Indonesia import records 2025, knuckle boom (folding) cranes; value converted from USD at assumed Rp 16.000/USD (Bio = billion).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" y="647700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Note: </a:t>
            </a:r>
            <a:r>
              <a:rPr sz="1000" b="0">
                <a:solidFill>
                  <a:srgbClr val="6B6B6B"/>
                </a:solidFill>
                <a:latin typeface="Neue Haas Grotesk Text Pro"/>
              </a:rPr>
              <a:t>Chart numbers live in chart data (Edit Data); Others = class total minus named brands (formula); brand units from earlier data cut. Light (&lt; 8 tm) and Small (8–25 tm) excluded from focus.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66700" y="6667500"/>
            <a:ext cx="11658600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