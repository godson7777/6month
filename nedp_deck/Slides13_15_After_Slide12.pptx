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17%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26%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Sany 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47%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47</c:v>
                </c:pt>
              </c:numCache>
            </c:numRef>
          </c:val>
        </c:ser>
        <c:gapWidth val="1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9D9D9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XCMG</c:v>
                </c:pt>
              </c:strCache>
            </c:strRef>
          </c:tx>
          <c:spPr>
            <a:solidFill>
              <a:srgbClr val="6FCF9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000000"/>
                        </a:solidFill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Amco Veba</c:v>
                </c:pt>
              </c:strCache>
            </c:strRef>
          </c:tx>
          <c:spPr>
            <a:solidFill>
              <a:srgbClr val="1E9E57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23%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Palfinger</c:v>
                </c:pt>
              </c:strCache>
            </c:strRef>
          </c:tx>
          <c:spPr>
            <a:solidFill>
              <a:srgbClr val="0B4D2A"/>
            </a:solidFill>
            <a:ln>
              <a:solidFill>
                <a:srgbClr val="FFFFFF"/>
              </a:solidFill>
            </a:ln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b="1">
                        <a:solidFill>
                          <a:srgbClr val="FFFFFF"/>
                        </a:solidFill>
                      </a:rPr>
                      <a:t>62%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100">
                    <a:latin typeface="Neue Haas Grotesk Text Pro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Value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62</c:v>
                </c:pt>
              </c:numCache>
            </c:numRef>
          </c:val>
        </c:ser>
        <c:gapWidth val="1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095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10/18/2026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95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Neue Haas Grotesk Text Pro"/>
              </a:rPr>
              <a:t>Shaping the future of our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6600" y="2095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95300"/>
            <a:ext cx="8572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Neue Haas Grotesk Text Pro"/>
              </a:rPr>
              <a:t>Who Leads Medium and Heavy?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0" y="514350"/>
            <a:ext cx="28956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Who's lead the market?</a:t>
            </a:r>
          </a:p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And how strong are they?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700" y="1104900"/>
            <a:ext cx="116586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162050"/>
            <a:ext cx="115062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Neue Haas Grotesk Text Pro"/>
              </a:rPr>
              <a:t>Two brands lead: Sany Palfinger in Medium, Palfinger in Heavy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6700" y="14478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" y="1495425"/>
            <a:ext cx="11506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In 2025,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Sany Palfinger holds 47% of Medium value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 and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Palfinger holds 62% of Heavy value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. The top 3 brands take 90% of Medium and 95% of Heavy value, so each class has one clear leader to win against.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" y="19431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" y="2038350"/>
            <a:ext cx="5334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Medium class (25–45 tm)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, share of import value by brand, 2025, %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342900" y="2495550"/>
          <a:ext cx="5334000" cy="66675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42900" y="3352800"/>
          <a:ext cx="53340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143000"/>
                <a:gridCol w="1143000"/>
                <a:gridCol w="1143000"/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#  Brand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Units 2025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 of units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 of value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  Sany Palfinger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30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50%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47%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  XCMG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14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23%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26%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  Palfinger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8%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17%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    Others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11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18%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    Total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60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42900" y="544830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9E57"/>
                </a:solidFill>
                <a:latin typeface="Neue Haas Grotesk Text Pro"/>
              </a:rPr>
              <a:t>Sany Palfinger leads with 30 of 60 units (50%) and 47% of value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Top 3 brands = 90% of value, 49 of 60 units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6000" y="2095500"/>
            <a:ext cx="0" cy="4095750"/>
          </a:xfrm>
          <a:prstGeom prst="line">
            <a:avLst/>
          </a:prstGeom>
          <a:ln w="254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943600" y="4000500"/>
            <a:ext cx="304800" cy="304800"/>
          </a:xfrm>
          <a:prstGeom prst="ellipse">
            <a:avLst/>
          </a:prstGeom>
          <a:solidFill>
            <a:srgbClr val="1E9E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600">
                <a:solidFill>
                  <a:srgbClr val="FFFFFF"/>
                </a:solidFill>
                <a:latin typeface="Neue Haas Grotesk Text Pro"/>
              </a:rPr>
              <a:t>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4600" y="2038350"/>
            <a:ext cx="533400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Heavy class (&gt; 45 tm)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, share of import value by brand, 2025, %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6324600" y="2495550"/>
          <a:ext cx="5334000" cy="66675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324600" y="3352800"/>
          <a:ext cx="5334000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143000"/>
                <a:gridCol w="1143000"/>
                <a:gridCol w="1143000"/>
              </a:tblGrid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#  Brand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Units 2025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 of units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Share of value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1  Palfinger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22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56%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62%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  Amco Veba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18%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23%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  XCMG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    Others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6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15%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    Total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39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000000"/>
                          </a:solidFill>
                          <a:latin typeface="Neue Haas Grotesk Text Pro"/>
                        </a:rPr>
                        <a:t>100%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324600" y="5448300"/>
            <a:ext cx="53340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E9E57"/>
                </a:solidFill>
                <a:latin typeface="Neue Haas Grotesk Text Pro"/>
              </a:rPr>
              <a:t>Palfinger leads with 22 of 39 units (56%) and 62% of value</a:t>
            </a:r>
          </a:p>
          <a:p>
            <a:pPr algn="l"/>
            <a:r>
              <a:rPr sz="1200" b="0">
                <a:solidFill>
                  <a:srgbClr val="000000"/>
                </a:solidFill>
                <a:latin typeface="Neue Haas Grotesk Text Pro"/>
              </a:rPr>
              <a:t>Top 3 brands = 95% of value, 33 of 39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" y="630555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Source: </a:t>
            </a:r>
            <a:r>
              <a:rPr sz="1000" b="0">
                <a:solidFill>
                  <a:srgbClr val="000000"/>
                </a:solidFill>
                <a:latin typeface="Neue Haas Grotesk Text Pro"/>
              </a:rPr>
              <a:t>Indonesia import records 2025, knuckle boom (folding) cranes; value in IDR before tax; brand split from earlier data cut (F.lli Ferrari Market Strategy).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" y="647700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Neue Haas Grotesk Text Pro"/>
              </a:rPr>
              <a:t>Note: </a:t>
            </a:r>
            <a:r>
              <a:rPr sz="1000" b="0">
                <a:solidFill>
                  <a:srgbClr val="6B6B6B"/>
                </a:solidFill>
                <a:latin typeface="Neue Haas Grotesk Text Pro"/>
              </a:rPr>
              <a:t>Total units 2025 from database (Medium 60, Heavy 39); "Others" = total minus top 3. Share may not add to 100% due to rounding.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6700" y="6667500"/>
            <a:ext cx="11658600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095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10/18/2026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95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Neue Haas Grotesk Text Pro"/>
              </a:rPr>
              <a:t>Shaping the future of our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6600" y="2095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95300"/>
            <a:ext cx="8572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Neue Haas Grotesk Text Pro"/>
              </a:rPr>
              <a:t>Where Can F.lli Ferrari Win?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0" y="514350"/>
            <a:ext cx="28956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Where are we cheaper?</a:t>
            </a:r>
          </a:p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And where are we not?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700" y="1104900"/>
            <a:ext cx="116586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162050"/>
            <a:ext cx="115062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Neue Haas Grotesk Text Pro"/>
              </a:rPr>
              <a:t>F.lli Ferrari is cheaper head to head in 76 Medium and Heavy units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6700" y="14478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" y="1495425"/>
            <a:ext cx="11506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Against the leader in each tm class,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F.lli Ferrari is 14–32% cheaper in four matchups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 covering 76 units, but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48–107% more expensive against Sany Palfinger SPK and Palfinger PK 53002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, which together sold 127 units.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" y="19431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2900" y="2038350"/>
            <a:ext cx="115062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Neue Haas Grotesk Text Pro"/>
              </a:rPr>
              <a:t>Head-to-head price by tm class, Medium and Heavy, 2023 – 2026*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, IDR per unit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42900" y="2305050"/>
          <a:ext cx="115062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/>
                <a:gridCol w="1619250"/>
                <a:gridCol w="1238250"/>
                <a:gridCol w="857250"/>
                <a:gridCol w="1047750"/>
                <a:gridCol w="1238250"/>
                <a:gridCol w="1047750"/>
                <a:gridCol w="1524000"/>
                <a:gridCol w="1600200"/>
              </a:tblGrid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tm class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Competitor model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Brand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Units sold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Price / unit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F.lli Ferrari model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Price / unit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Ferrari vs competitor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Neue Haas Grotesk Text Pro"/>
                        </a:rPr>
                        <a:t>Result</a:t>
                      </a:r>
                    </a:p>
                  </a:txBody>
                  <a:tcPr anchor="ctr" marL="57150" marR="57150" marT="19050" marB="19050">
                    <a:solidFill>
                      <a:srgbClr val="000000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25 – 30 (Medium)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V825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31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650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268 A4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500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−23%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Cheaper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30 – 35 (Medium)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SPK32080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33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530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+107%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More expensive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30 – 35 (Medium)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X-CLX 388 / 328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XCMG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10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1.460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FBR350R A4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1.090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−25%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Cheaper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35 – 40 (Medium)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SPK36080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37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660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+88%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More expensive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35 – 40 (Medium)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41002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21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1.440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7441C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1.240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−14%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Cheaper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40 – 45 (Medium)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SPK42502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Sany Palfinger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18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960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746 A4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1.420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+48%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More expensive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45 – 50 (Heavy)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V950 + 2 others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Amco Veba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14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1.990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FBR450R A4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1.350 Jt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−32%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1E9E57"/>
                          </a:solidFill>
                          <a:latin typeface="Neue Haas Grotesk Text Pro"/>
                        </a:rPr>
                        <a:t>Cheaper</a:t>
                      </a:r>
                    </a:p>
                  </a:txBody>
                  <a:tcPr anchor="ctr" marL="57150" marR="57150" marT="19050" marB="19050">
                    <a:solidFill>
                      <a:srgbClr val="E8F7EE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50 – 55 (Heavy)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53002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39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1.760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9601CR A8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Rp 3.260 Jt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+85%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C0392B"/>
                          </a:solidFill>
                          <a:latin typeface="Neue Haas Grotesk Text Pro"/>
                        </a:rPr>
                        <a:t>More expensive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&gt; 74 (Heavy)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PK 88002, GSQZ860/880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Palfinger / XCMG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5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—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No model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—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000000"/>
                          </a:solidFill>
                          <a:latin typeface="Neue Haas Grotesk Text Pro"/>
                        </a:rPr>
                        <a:t>—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6B6B6B"/>
                          </a:solidFill>
                          <a:latin typeface="Neue Haas Grotesk Text Pro"/>
                        </a:rPr>
                        <a:t>No offer</a:t>
                      </a:r>
                    </a:p>
                  </a:txBody>
                  <a:tcPr anchor="ctr" marL="57150" marR="5715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42900" y="5410200"/>
            <a:ext cx="3619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1E9E57"/>
                </a:solidFill>
                <a:latin typeface="Neue Haas Grotesk Text Pro"/>
              </a:rPr>
              <a:t>76 units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where F.lli Ferrari is cheaper than the competitor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900" y="5410200"/>
            <a:ext cx="36195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Neue Haas Grotesk Text Pro"/>
              </a:rPr>
              <a:t>127 units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sold by SPK and PK 53002 at prices F.lli Ferrari cannot match 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62900" y="5410200"/>
            <a:ext cx="38862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B6B"/>
                </a:solidFill>
                <a:latin typeface="Neue Haas Grotesk Text Pro"/>
              </a:rPr>
              <a:t>5 units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above 74 tm, no F.lli Ferrari model (largest is 990R, 74 tm)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" y="630555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Source: </a:t>
            </a:r>
            <a:r>
              <a:rPr sz="1000" b="0">
                <a:solidFill>
                  <a:srgbClr val="000000"/>
                </a:solidFill>
                <a:latin typeface="Neue Haas Grotesk Text Pro"/>
              </a:rPr>
              <a:t>Indonesia import records 2023 – Aug 2026 (earlier data cut, 638 units); F.lli Ferrari price list; competitor price = import value per unit, before tax.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" y="647700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Neue Haas Grotesk Text Pro"/>
              </a:rPr>
              <a:t>Note: </a:t>
            </a:r>
            <a:r>
              <a:rPr sz="1000" b="0">
                <a:solidFill>
                  <a:srgbClr val="6B6B6B"/>
                </a:solidFill>
                <a:latin typeface="Neue Haas Grotesk Text Pro"/>
              </a:rPr>
              <a:t>*2026 = Jan–Aug. 7441C price is an estimate. 45–50 tm includes V950 (12), X-HIPRO B58 (1), F485RA.2.23 (1). Jt = million rupiah.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6700" y="6667500"/>
            <a:ext cx="11658600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42900" y="2095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10/18/2026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91000" y="209550"/>
            <a:ext cx="3810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Neue Haas Grotesk Text Pro"/>
              </a:rPr>
              <a:t>Shaping the future of our 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96600" y="209550"/>
            <a:ext cx="95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000000"/>
                </a:solidFill>
                <a:latin typeface="Neue Haas Grotesk Text Pr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495300"/>
            <a:ext cx="8572500" cy="571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Neue Haas Grotesk Text Pro"/>
              </a:rPr>
              <a:t>Where Do We Attack First?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53500" y="514350"/>
            <a:ext cx="28956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What do we focus on?</a:t>
            </a:r>
          </a:p>
          <a:p>
            <a:pPr algn="r"/>
            <a:r>
              <a:rPr sz="1600" b="1">
                <a:solidFill>
                  <a:srgbClr val="000000"/>
                </a:solidFill>
                <a:latin typeface="Neue Haas Grotesk Text Pro"/>
              </a:rPr>
              <a:t>And what do we need?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6700" y="1104900"/>
            <a:ext cx="11658600" cy="0"/>
          </a:xfrm>
          <a:prstGeom prst="line">
            <a:avLst/>
          </a:prstGeom>
          <a:ln w="381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00" y="1162050"/>
            <a:ext cx="11506200" cy="2667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000000"/>
                </a:solidFill>
                <a:latin typeface="Neue Haas Grotesk Text Pro"/>
              </a:rPr>
              <a:t>Attack 25–30 tm and 45–50 tm first, then 35–40 tm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6700" y="14478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2900" y="1495425"/>
            <a:ext cx="115062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Neue Haas Grotesk Text Pro"/>
              </a:rPr>
              <a:t>In 25–30 and 45–50 tm, </a:t>
            </a:r>
            <a:r>
              <a:rPr sz="1400" b="1">
                <a:solidFill>
                  <a:srgbClr val="000000"/>
                </a:solidFill>
                <a:latin typeface="Neue Haas Grotesk Text Pro"/>
              </a:rPr>
              <a:t>F.lli Ferrari matches Amco Veba feature by feature at 23–32% lower price</a:t>
            </a:r>
            <a:r>
              <a:rPr sz="1400" b="0">
                <a:solidFill>
                  <a:srgbClr val="000000"/>
                </a:solidFill>
                <a:latin typeface="Neue Haas Grotesk Text Pro"/>
              </a:rPr>
              <a:t>. These two classes sold 66 units in 2023 – 2026*; Amco Veba sold 43 of them (V825 31, V950 12).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6700" y="1943100"/>
            <a:ext cx="11658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42900" y="2038350"/>
            <a:ext cx="2819400" cy="3143250"/>
          </a:xfrm>
          <a:prstGeom prst="rect">
            <a:avLst/>
          </a:prstGeom>
          <a:solidFill>
            <a:srgbClr val="E8F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250" y="215265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PRIORITY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" y="2324100"/>
            <a:ext cx="2552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Neue Haas Grotesk Text Pro"/>
              </a:rPr>
              <a:t>25 – 30 tm (Medium)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250" y="2590800"/>
            <a:ext cx="2552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Neue Haas Grotesk Text Pro"/>
              </a:rPr>
              <a:t>268 A4 vs Amco Veba V825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49 units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2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class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25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31 units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25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V825 sold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88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9E57"/>
                </a:solidFill>
                <a:latin typeface="Neue Haas Grotesk Text Pro"/>
              </a:rPr>
              <a:t>−23%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288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Ferrari price vs V825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76250" y="3543300"/>
            <a:ext cx="25527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6250" y="361950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Equal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3810000"/>
            <a:ext cx="25527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Red Power = Articulated Powerlink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PB = AVPS power boost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ECM = EBB electronic control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Magic Touch = Magic Touch auto fold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14700" y="2038350"/>
            <a:ext cx="2819400" cy="3143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8050" y="215265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PRIORITY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8050" y="2324100"/>
            <a:ext cx="2552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Neue Haas Grotesk Text Pro"/>
              </a:rPr>
              <a:t>45 – 50 tm (Heavy)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48050" y="2590800"/>
            <a:ext cx="2552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Neue Haas Grotesk Text Pro"/>
              </a:rPr>
              <a:t>FBR450R A4 vs Amco Veba V950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480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17 units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480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class size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243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12 units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243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V950 sold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006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9E57"/>
                </a:solidFill>
                <a:latin typeface="Neue Haas Grotesk Text Pro"/>
              </a:rPr>
              <a:t>−32%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006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Ferrari price vs V950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448050" y="3543300"/>
            <a:ext cx="25527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48050" y="361950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Equal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48050" y="3810000"/>
            <a:ext cx="25527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Red Power = Articulated Powerlink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PB = AVPS power boost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ECM = EBB electronic control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Magic Touch = Magic Touch auto fold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2038350"/>
            <a:ext cx="2819400" cy="314325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850" y="215265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E9E57"/>
                </a:solidFill>
                <a:latin typeface="Neue Haas Grotesk Text Pro"/>
              </a:rPr>
              <a:t>PRIORITY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850" y="2324100"/>
            <a:ext cx="25527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Neue Haas Grotesk Text Pro"/>
              </a:rPr>
              <a:t>35 – 40 tm (Medium)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9850" y="2590800"/>
            <a:ext cx="2552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Neue Haas Grotesk Text Pro"/>
              </a:rPr>
              <a:t>7441C vs Palfinger PK 41002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198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66 units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8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class size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961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Neue Haas Grotesk Text Pro"/>
              </a:rPr>
              <a:t>21 units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1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PK 41002 sold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72450" y="2857500"/>
            <a:ext cx="85725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E9E57"/>
                </a:solidFill>
                <a:latin typeface="Neue Haas Grotesk Text Pro"/>
              </a:rPr>
              <a:t>−14%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2450" y="3105150"/>
            <a:ext cx="83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Neue Haas Grotesk Text Pro"/>
              </a:rPr>
              <a:t>Ferrari price vs PK 41002 (est.)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19850" y="3543300"/>
            <a:ext cx="2552700" cy="0"/>
          </a:xfrm>
          <a:prstGeom prst="line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19850" y="3619500"/>
            <a:ext cx="25527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Neue Haas Grotesk Text Pro"/>
              </a:rPr>
              <a:t>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19850" y="3810000"/>
            <a:ext cx="25527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Confirm 7441C price with principal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Target PK 41002 users first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SPK36080 (37 units) is +88%:</a:t>
            </a:r>
          </a:p>
          <a:p>
            <a:pPr algn="l"/>
            <a:r>
              <a:rPr sz="1100" b="0">
                <a:solidFill>
                  <a:srgbClr val="000000"/>
                </a:solidFill>
                <a:latin typeface="Neue Haas Grotesk Text Pro"/>
              </a:rPr>
              <a:t>• not a target at today's price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334500" y="2038350"/>
            <a:ext cx="2514600" cy="3143250"/>
          </a:xfrm>
          <a:prstGeom prst="rect">
            <a:avLst/>
          </a:prstGeom>
          <a:solidFill>
            <a:srgbClr val="0B4D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86900" y="2152650"/>
            <a:ext cx="22479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7EFD5"/>
                </a:solidFill>
                <a:latin typeface="Neue Haas Grotesk Text Pro"/>
              </a:rPr>
              <a:t>ASK TO BOD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86900" y="2362200"/>
            <a:ext cx="2247900" cy="2762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Neue Haas Grotesk Text Pro"/>
              </a:rPr>
              <a:t>1. </a:t>
            </a:r>
            <a:r>
              <a:rPr sz="1200" b="0">
                <a:solidFill>
                  <a:srgbClr val="FFFFFF"/>
                </a:solidFill>
                <a:latin typeface="Neue Haas Grotesk Text Pro"/>
              </a:rPr>
              <a:t>Approve focus on 25–30, 45–50 and 35–40 tm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Neue Haas Grotesk Text Pro"/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Neue Haas Grotesk Text Pro"/>
              </a:rPr>
              <a:t>2. </a:t>
            </a:r>
            <a:r>
              <a:rPr sz="1200" b="0">
                <a:solidFill>
                  <a:srgbClr val="FFFFFF"/>
                </a:solidFill>
                <a:latin typeface="Neue Haas Grotesk Text Pro"/>
              </a:rPr>
              <a:t>Support a price review with F.lli Ferrari for 30–35, 40–45 and 50–55 tm, where we are 48–107% above SPK and PK 53002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Neue Haas Grotesk Text Pro"/>
              </a:rPr>
              <a:t/>
            </a:r>
          </a:p>
          <a:p>
            <a:pPr algn="l"/>
            <a:r>
              <a:rPr sz="1200" b="1">
                <a:solidFill>
                  <a:srgbClr val="FFFFFF"/>
                </a:solidFill>
                <a:latin typeface="Neue Haas Grotesk Text Pro"/>
              </a:rPr>
              <a:t>3. </a:t>
            </a:r>
            <a:r>
              <a:rPr sz="1200" b="0">
                <a:solidFill>
                  <a:srgbClr val="FFFFFF"/>
                </a:solidFill>
                <a:latin typeface="Neue Haas Grotesk Text Pro"/>
              </a:rPr>
              <a:t>Refresh brand and price data on the full 764-unit database before targets are set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2900" y="5334000"/>
            <a:ext cx="11506200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C0392B"/>
                </a:solidFill>
                <a:latin typeface="Neue Haas Grotesk Text Pro"/>
              </a:rPr>
              <a:t>Not now: </a:t>
            </a:r>
            <a:r>
              <a:rPr sz="1200" b="0">
                <a:solidFill>
                  <a:srgbClr val="000000"/>
                </a:solidFill>
                <a:latin typeface="Neue Haas Grotesk Text Pro"/>
              </a:rPr>
              <a:t>30–35, 40–45 and 50–55 tm (SPK32080, SPK42502, PK 53002, 90 units) until price gap is closed; &gt; 74 tm has no F.lli Ferrari model.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2900" y="630555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000000"/>
                </a:solidFill>
                <a:latin typeface="Neue Haas Grotesk Text Pro"/>
              </a:rPr>
              <a:t>Source: </a:t>
            </a:r>
            <a:r>
              <a:rPr sz="1000" b="0">
                <a:solidFill>
                  <a:srgbClr val="000000"/>
                </a:solidFill>
                <a:latin typeface="Neue Haas Grotesk Text Pro"/>
              </a:rPr>
              <a:t>Slide 14 head-to-head prices; Crane STP 4P Medium &amp; Heavy (feature comparison); Indonesia import records 2023 – Aug 2026 (earlier data cut).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2900" y="6477000"/>
            <a:ext cx="115062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6B6B"/>
                </a:solidFill>
                <a:latin typeface="Neue Haas Grotesk Text Pro"/>
              </a:rPr>
              <a:t>Note: </a:t>
            </a:r>
            <a:r>
              <a:rPr sz="1000" b="0">
                <a:solidFill>
                  <a:srgbClr val="6B6B6B"/>
                </a:solidFill>
                <a:latin typeface="Neue Haas Grotesk Text Pro"/>
              </a:rPr>
              <a:t>*2026 = Jan–Aug. Unit counts per class from earlier data cut (638 units); refresh on 764-unit database before setting targets.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266700" y="6667500"/>
            <a:ext cx="11658600" cy="0"/>
          </a:xfrm>
          <a:prstGeom prst="line">
            <a:avLst/>
          </a:prstGeom>
          <a:ln w="12700">
            <a:solidFill>
              <a:srgbClr val="1E9E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