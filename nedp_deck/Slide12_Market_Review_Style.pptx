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</c:ser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2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248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Rp 48,3 Bio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
(n = 764)</c:v>
                </c:pt>
                <c:pt idx="1">
                  <c:v>Value
(= Rp 337,2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248</c:v>
                </c:pt>
                <c:pt idx="1">
                  <c:v>48.305392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223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Rp 80,6 Bio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
(n = 764)</c:v>
                </c:pt>
                <c:pt idx="1">
                  <c:v>Value
(= Rp 337,2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223</c:v>
                </c:pt>
                <c:pt idx="1">
                  <c:v>80.596752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218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116,9 Bio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
(n = 764)</c:v>
                </c:pt>
                <c:pt idx="1">
                  <c:v>Value
(= Rp 337,2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218</c:v>
                </c:pt>
                <c:pt idx="1">
                  <c:v>116.870896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75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91,4 Bio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
(n = 764)</c:v>
                </c:pt>
                <c:pt idx="1">
                  <c:v>Value
(= Rp 337,2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75</c:v>
                </c:pt>
                <c:pt idx="1">
                  <c:v>91.401312</c:v>
                </c:pt>
              </c:numCache>
            </c:numRef>
          </c:val>
        </c:ser>
        <c:gapWidth val="3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Neue Haas Grotesk Text Pro"/>
              </a:rPr>
              <a:t>Indonesian Import Folding Crane 23-26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How big the market is?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who's lead the market?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Triatra Need To Focus on Medium and Heavy class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Medium and Heavy class contribute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62% (Rp 208,3 Bio out of Rp 337,2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of the total market size from 2023 to 2026, while their transactions are just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38% (293 units out of 764 units)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of the total imported quantity.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2900" y="2038350"/>
            <a:ext cx="5334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Imported folding cranes by class per year, </a:t>
            </a:r>
            <a:r>
              <a:rPr sz="1200" b="1">
                <a:solidFill>
                  <a:srgbClr val="000000"/>
                </a:solidFill>
                <a:latin typeface="Neue Haas Grotesk Text Pro"/>
              </a:rPr>
              <a:t>2023 – 2026*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, n of units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409825"/>
            <a:ext cx="95250" cy="95250"/>
          </a:xfrm>
          <a:prstGeom prst="rect">
            <a:avLst/>
          </a:prstGeom>
          <a:solidFill>
            <a:srgbClr val="C7E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Light (&lt; 8 tm)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76400" y="2409825"/>
            <a:ext cx="95250" cy="95250"/>
          </a:xfrm>
          <a:prstGeom prst="rect">
            <a:avLst/>
          </a:prstGeom>
          <a:solidFill>
            <a:srgbClr val="6FC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097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9900" y="2409825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32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409825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67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71500" y="2857500"/>
          <a:ext cx="4953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731184" y="3333717"/>
            <a:ext cx="918882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267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9434" y="3961649"/>
            <a:ext cx="918882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191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7684" y="3664208"/>
            <a:ext cx="918882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934" y="4887022"/>
            <a:ext cx="918882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Neue Haas Grotesk Text Pro"/>
              </a:rPr>
              <a:t>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7666" y="5058472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B4D2A"/>
                </a:solidFill>
                <a:latin typeface="Neue Haas Grotesk Text Pro"/>
              </a:rPr>
              <a:t>3 Heavy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450" y="2838450"/>
            <a:ext cx="2381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" b="0">
                <a:solidFill>
                  <a:srgbClr val="000000"/>
                </a:solidFill>
                <a:latin typeface="Neue Haas Grotesk Text Pro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7534" y="2838450"/>
            <a:ext cx="3810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eue Haas Grotesk Text Pro"/>
              </a:rPr>
              <a:t>Light fell from </a:t>
            </a:r>
            <a:r>
              <a:rPr sz="1200" b="1">
                <a:solidFill>
                  <a:srgbClr val="1E9E57"/>
                </a:solidFill>
                <a:latin typeface="Neue Haas Grotesk Text Pro"/>
              </a:rPr>
              <a:t>109 to 52–53 units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 after 2023, while </a:t>
            </a:r>
            <a:r>
              <a:rPr sz="1200" b="1">
                <a:solidFill>
                  <a:srgbClr val="1E9E57"/>
                </a:solidFill>
                <a:latin typeface="Neue Haas Grotesk Text Pro"/>
              </a:rPr>
              <a:t>Heavy more than doubled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 to </a:t>
            </a:r>
            <a:r>
              <a:rPr sz="1200" b="1">
                <a:solidFill>
                  <a:srgbClr val="1E9E57"/>
                </a:solidFill>
                <a:latin typeface="Neue Haas Grotesk Text Pro"/>
              </a:rPr>
              <a:t>39 units in 2025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 (17% of that year).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7666" y="5210872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Neue Haas Grotesk Text Pro"/>
              </a:rPr>
              <a:t>*Jan–Aug</a:t>
            </a:r>
          </a:p>
          <a:p>
            <a:pPr algn="l"/>
            <a:r>
              <a:rPr sz="900" b="0">
                <a:solidFill>
                  <a:srgbClr val="6B6B6B"/>
                </a:solidFill>
                <a:latin typeface="Neue Haas Grotesk Text Pro"/>
              </a:rPr>
              <a:t>only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0" y="2095500"/>
            <a:ext cx="0" cy="4095750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43600" y="4000500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600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2038350"/>
            <a:ext cx="5524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Share of units vs value by class, </a:t>
            </a:r>
            <a:r>
              <a:rPr sz="1200" b="1">
                <a:solidFill>
                  <a:srgbClr val="000000"/>
                </a:solidFill>
                <a:latin typeface="Neue Haas Grotesk Text Pro"/>
              </a:rPr>
              <a:t>2023 – 2026*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, % of total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600" y="2409825"/>
            <a:ext cx="95250" cy="95250"/>
          </a:xfrm>
          <a:prstGeom prst="rect">
            <a:avLst/>
          </a:prstGeom>
          <a:solidFill>
            <a:srgbClr val="C7E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79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Light (&lt; 8 tm)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58100" y="2409825"/>
            <a:ext cx="95250" cy="95250"/>
          </a:xfrm>
          <a:prstGeom prst="rect">
            <a:avLst/>
          </a:prstGeom>
          <a:solidFill>
            <a:srgbClr val="6FC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914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91600" y="2409825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249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25100" y="2409825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58450" y="23812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graphicFrame>
        <p:nvGraphicFramePr>
          <p:cNvPr id="41" name="Chart 40"/>
          <p:cNvGraphicFramePr>
            <a:graphicFrameLocks noGrp="1"/>
          </p:cNvGraphicFramePr>
          <p:nvPr/>
        </p:nvGraphicFramePr>
        <p:xfrm>
          <a:off x="7143750" y="2857500"/>
          <a:ext cx="2667000" cy="31432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42" name="Connector 41"/>
          <p:cNvCxnSpPr/>
          <p:nvPr/>
        </p:nvCxnSpPr>
        <p:spPr>
          <a:xfrm>
            <a:off x="9771239" y="5354047"/>
            <a:ext cx="0" cy="376193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714089" y="5354047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9714089" y="5730240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47439" y="5389743"/>
            <a:ext cx="12001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~14% Light</a:t>
            </a:r>
          </a:p>
          <a:p>
            <a:pPr algn="l"/>
            <a:r>
              <a:rPr sz="1100" b="0">
                <a:solidFill>
                  <a:srgbClr val="6B6B6B"/>
                </a:solidFill>
                <a:latin typeface="Neue Haas Grotesk Text Pro"/>
              </a:rPr>
              <a:t>from 32% of units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771239" y="4662805"/>
            <a:ext cx="0" cy="653142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9714089" y="4662805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9714089" y="5315947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47439" y="4836976"/>
            <a:ext cx="12001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~24% Small</a:t>
            </a:r>
          </a:p>
          <a:p>
            <a:pPr algn="l"/>
            <a:r>
              <a:rPr sz="1100" b="0">
                <a:solidFill>
                  <a:srgbClr val="6B6B6B"/>
                </a:solidFill>
                <a:latin typeface="Neue Haas Grotesk Text Pro"/>
              </a:rPr>
              <a:t>from 29% of units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771239" y="3660457"/>
            <a:ext cx="0" cy="96424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9714089" y="3660457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714089" y="4624705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47439" y="3990181"/>
            <a:ext cx="12001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E9E57"/>
                </a:solidFill>
                <a:latin typeface="Neue Haas Grotesk Text Pro"/>
              </a:rPr>
              <a:t>~35% Medium</a:t>
            </a:r>
          </a:p>
          <a:p>
            <a:pPr algn="l"/>
            <a:r>
              <a:rPr sz="1100" b="0">
                <a:solidFill>
                  <a:srgbClr val="6B6B6B"/>
                </a:solidFill>
                <a:latin typeface="Neue Haas Grotesk Text Pro"/>
              </a:rPr>
              <a:t>from 29% of units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771239" y="2876550"/>
            <a:ext cx="0" cy="745807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9714089" y="2876550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714089" y="3622357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47439" y="3097054"/>
            <a:ext cx="12001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E9E57"/>
                </a:solidFill>
                <a:latin typeface="Neue Haas Grotesk Text Pro"/>
              </a:rPr>
              <a:t>~27% Heavy</a:t>
            </a:r>
          </a:p>
          <a:p>
            <a:pPr algn="l"/>
            <a:r>
              <a:rPr sz="1100" b="0">
                <a:solidFill>
                  <a:srgbClr val="6B6B6B"/>
                </a:solidFill>
                <a:latin typeface="Neue Haas Grotesk Text Pro"/>
              </a:rPr>
              <a:t>from 10% of units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202311" y="2876550"/>
            <a:ext cx="0" cy="107092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202311" y="2876550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202311" y="3947474"/>
            <a:ext cx="571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324600" y="3088162"/>
            <a:ext cx="801511" cy="647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~38%</a:t>
            </a:r>
          </a:p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Medium +</a:t>
            </a:r>
          </a:p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Heavy</a:t>
            </a:r>
          </a:p>
          <a:p>
            <a:pPr algn="r"/>
            <a:r>
              <a:rPr sz="1100" b="0">
                <a:solidFill>
                  <a:srgbClr val="6B6B6B"/>
                </a:solidFill>
                <a:latin typeface="Neue Haas Grotesk Text Pro"/>
              </a:rPr>
              <a:t>293 units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1085689" y="2876550"/>
            <a:ext cx="0" cy="1748155"/>
          </a:xfrm>
          <a:prstGeom prst="line">
            <a:avLst/>
          </a:prstGeom>
          <a:ln w="952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11028539" y="2876550"/>
            <a:ext cx="57150" cy="0"/>
          </a:xfrm>
          <a:prstGeom prst="line">
            <a:avLst/>
          </a:prstGeom>
          <a:ln w="952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1028539" y="4624705"/>
            <a:ext cx="57150" cy="0"/>
          </a:xfrm>
          <a:prstGeom prst="line">
            <a:avLst/>
          </a:prstGeom>
          <a:ln w="952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161889" y="3464878"/>
            <a:ext cx="687211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E9E57"/>
                </a:solidFill>
                <a:latin typeface="Neue Haas Grotesk Text Pro"/>
              </a:rPr>
              <a:t>~62%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of value</a:t>
            </a:r>
          </a:p>
          <a:p>
            <a:pPr algn="l"/>
            <a:r>
              <a:rPr sz="1100" b="0">
                <a:solidFill>
                  <a:srgbClr val="6B6B6B"/>
                </a:solidFill>
                <a:latin typeface="Neue Haas Grotesk Text Pro"/>
              </a:rPr>
              <a:t>Rp 208,3 Bio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Indonesia import records 2023 – Aug 2026, knuckle boom (folding) cranes; value converted from USD at assumed Rp 16.000/USD (Bio = billion).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*2026 = Jan–Aug. Application Engineering makes ton meter class classification to make easier identification class. Share may not add to 100% due to rounding.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