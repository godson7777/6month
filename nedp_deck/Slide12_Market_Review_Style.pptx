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ayout>
        <c:manualLayout>
          <c:layoutTarget val="inner"/>
          <c:xMode val="edge"/>
          <c:yMode val="edge"/>
          <c:x val="0"/>
          <c:y val="0"/>
          <c:w val="1"/>
          <c:h val="0.92"/>
        </c:manualLayout>
      </c:layout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Light (&lt; 8 tm)</c:v>
                </c:pt>
              </c:strCache>
            </c:strRef>
          </c:tx>
          <c:spPr>
            <a:solidFill>
              <a:srgbClr val="C7EFD5"/>
            </a:solidFill>
            <a:ln>
              <a:solidFill>
                <a:srgbClr val="FFFFFF"/>
              </a:solidFill>
            </a:ln>
          </c:spPr>
          <c:dLbls>
            <c:dLbl>
              <c:idx val="0"/>
              <c:tx>
                <c:rich>
                  <a:bodyPr/>
                  <a:lstStyle/>
                  <a:p>
                    <a:r>
                      <a:rPr b="1">
                        <a:solidFill>
                          <a:srgbClr val="000000"/>
                        </a:solidFill>
                      </a:rPr>
                      <a:t>109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b="1">
                        <a:solidFill>
                          <a:srgbClr val="000000"/>
                        </a:solidFill>
                      </a:rPr>
                      <a:t>52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b="1">
                        <a:solidFill>
                          <a:srgbClr val="000000"/>
                        </a:solidFill>
                      </a:rPr>
                      <a:t>53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b="1">
                        <a:solidFill>
                          <a:srgbClr val="000000"/>
                        </a:solidFill>
                      </a:rPr>
                      <a:t>34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sz="1100">
                    <a:latin typeface="Neue Haas Grotesk Text Pro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2026*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109</c:v>
                </c:pt>
                <c:pt idx="1">
                  <c:v>52</c:v>
                </c:pt>
                <c:pt idx="2">
                  <c:v>53</c:v>
                </c:pt>
                <c:pt idx="3">
                  <c:v>34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Small (8–25 tm)</c:v>
                </c:pt>
              </c:strCache>
            </c:strRef>
          </c:tx>
          <c:spPr>
            <a:solidFill>
              <a:srgbClr val="6FCF97"/>
            </a:solidFill>
            <a:ln>
              <a:solidFill>
                <a:srgbClr val="FFFFFF"/>
              </a:solidFill>
            </a:ln>
          </c:spPr>
          <c:dLbls>
            <c:dLbl>
              <c:idx val="0"/>
              <c:tx>
                <c:rich>
                  <a:bodyPr/>
                  <a:lstStyle/>
                  <a:p>
                    <a:r>
                      <a:rPr b="1">
                        <a:solidFill>
                          <a:srgbClr val="000000"/>
                        </a:solidFill>
                      </a:rPr>
                      <a:t>68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b="1">
                        <a:solidFill>
                          <a:srgbClr val="000000"/>
                        </a:solidFill>
                      </a:rPr>
                      <a:t>52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b="1">
                        <a:solidFill>
                          <a:srgbClr val="000000"/>
                        </a:solidFill>
                      </a:rPr>
                      <a:t>75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b="1">
                        <a:solidFill>
                          <a:srgbClr val="000000"/>
                        </a:solidFill>
                      </a:rPr>
                      <a:t>28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sz="1100">
                    <a:latin typeface="Neue Haas Grotesk Text Pro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2026*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68</c:v>
                </c:pt>
                <c:pt idx="1">
                  <c:v>52</c:v>
                </c:pt>
                <c:pt idx="2">
                  <c:v>75</c:v>
                </c:pt>
                <c:pt idx="3">
                  <c:v>28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Medium (25–45 tm)</c:v>
                </c:pt>
              </c:strCache>
            </c:strRef>
          </c:tx>
          <c:spPr>
            <a:solidFill>
              <a:srgbClr val="1E9E57"/>
            </a:solidFill>
            <a:ln>
              <a:solidFill>
                <a:srgbClr val="FFFFFF"/>
              </a:solidFill>
            </a:ln>
          </c:spPr>
          <c:dLbls>
            <c:dLbl>
              <c:idx val="0"/>
              <c:tx>
                <c:rich>
                  <a:bodyPr/>
                  <a:lstStyle/>
                  <a:p>
                    <a:r>
                      <a:rPr b="1">
                        <a:solidFill>
                          <a:srgbClr val="FFFFFF"/>
                        </a:solidFill>
                      </a:rPr>
                      <a:t>74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b="1">
                        <a:solidFill>
                          <a:srgbClr val="FFFFFF"/>
                        </a:solidFill>
                      </a:rPr>
                      <a:t>70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b="1">
                        <a:solidFill>
                          <a:srgbClr val="FFFFFF"/>
                        </a:solidFill>
                      </a:rPr>
                      <a:t>60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b="1">
                        <a:solidFill>
                          <a:srgbClr val="FFFFFF"/>
                        </a:solidFill>
                      </a:rPr>
                      <a:t>14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sz="1100">
                    <a:latin typeface="Neue Haas Grotesk Text Pro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2026*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74</c:v>
                </c:pt>
                <c:pt idx="1">
                  <c:v>70</c:v>
                </c:pt>
                <c:pt idx="2">
                  <c:v>60</c:v>
                </c:pt>
                <c:pt idx="3">
                  <c:v>14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Heavy (&gt; 45 tm)</c:v>
                </c:pt>
              </c:strCache>
            </c:strRef>
          </c:tx>
          <c:spPr>
            <a:solidFill>
              <a:srgbClr val="0B4D2A"/>
            </a:solidFill>
            <a:ln>
              <a:solidFill>
                <a:srgbClr val="FFFFFF"/>
              </a:solidFill>
            </a:ln>
          </c:spPr>
          <c:dLbls>
            <c:dLbl>
              <c:idx val="0"/>
              <c:tx>
                <c:rich>
                  <a:bodyPr/>
                  <a:lstStyle/>
                  <a:p>
                    <a:r>
                      <a:rPr b="1">
                        <a:solidFill>
                          <a:srgbClr val="FFFFFF"/>
                        </a:solidFill>
                      </a:rPr>
                      <a:t>16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b="1">
                        <a:solidFill>
                          <a:srgbClr val="FFFFFF"/>
                        </a:solidFill>
                      </a:rPr>
                      <a:t>17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b="1">
                        <a:solidFill>
                          <a:srgbClr val="FFFFFF"/>
                        </a:solidFill>
                      </a:rPr>
                      <a:t>39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sz="1100">
                    <a:latin typeface="Neue Haas Grotesk Text Pro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2026*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16</c:v>
                </c:pt>
                <c:pt idx="1">
                  <c:v>17</c:v>
                </c:pt>
                <c:pt idx="2">
                  <c:v>39</c:v>
                </c:pt>
                <c:pt idx="3">
                  <c:v>3</c:v>
                </c:pt>
              </c:numCache>
            </c:numRef>
          </c:val>
        </c:ser>
        <c:gapWidth val="70"/>
        <c:overlap val="100"/>
        <c:serLines>
          <c:spPr>
            <a:ln w="6350">
              <a:solidFill>
                <a:srgbClr val="7F7F7F"/>
              </a:solidFill>
            </a:ln>
          </c:spPr>
        </c:serLine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000000"/>
            </a:solidFill>
          </a:ln>
        </c:spPr>
        <c:txPr>
          <a:bodyPr/>
          <a:lstStyle/>
          <a:p>
            <a:pPr>
              <a:defRPr sz="1200">
                <a:latin typeface="Neue Haas Grotesk Text Pro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50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latin typeface="Neue Haas Grotesk Text Pro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ayout>
        <c:manualLayout>
          <c:layoutTarget val="inner"/>
          <c:xMode val="edge"/>
          <c:yMode val="edge"/>
          <c:x val="0"/>
          <c:y val="0"/>
          <c:w val="1"/>
          <c:h val="0.92"/>
        </c:manualLayout>
      </c:layout>
      <c:barChart>
        <c:barDir val="col"/>
        <c:grouping val="percentStacked"/>
        <c:ser>
          <c:idx val="0"/>
          <c:order val="0"/>
          <c:tx>
            <c:strRef>
              <c:f>Sheet1!$B$1</c:f>
              <c:strCache>
                <c:ptCount val="1"/>
                <c:pt idx="0">
                  <c:v>Light (&lt; 8 tm)</c:v>
                </c:pt>
              </c:strCache>
            </c:strRef>
          </c:tx>
          <c:spPr>
            <a:solidFill>
              <a:srgbClr val="C7EFD5"/>
            </a:solidFill>
            <a:ln>
              <a:solidFill>
                <a:srgbClr val="FFFFFF"/>
              </a:solidFill>
            </a:ln>
          </c:spPr>
          <c:dLbls>
            <c:dLbl>
              <c:idx val="0"/>
              <c:tx>
                <c:rich>
                  <a:bodyPr/>
                  <a:lstStyle/>
                  <a:p>
                    <a:r>
                      <a:rPr b="1">
                        <a:solidFill>
                          <a:srgbClr val="000000"/>
                        </a:solidFill>
                      </a:rPr>
                      <a:t>248</a:t>
                    </a:r>
                  </a:p>
                  <a:p>
                    <a:r>
                      <a:rPr b="1">
                        <a:solidFill>
                          <a:srgbClr val="000000"/>
                        </a:solidFill>
                      </a:rPr>
                      <a:t>32%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b="1">
                        <a:solidFill>
                          <a:srgbClr val="000000"/>
                        </a:solidFill>
                      </a:rPr>
                      <a:t>$3,02 M</a:t>
                    </a:r>
                  </a:p>
                  <a:p>
                    <a:r>
                      <a:rPr b="1">
                        <a:solidFill>
                          <a:srgbClr val="000000"/>
                        </a:solidFill>
                      </a:rPr>
                      <a:t>14%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sz="1100">
                    <a:latin typeface="Neue Haas Grotesk Text Pro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Units
(n = 764)</c:v>
                </c:pt>
                <c:pt idx="1">
                  <c:v>Value
(= $21,07 M)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248</c:v>
                </c:pt>
                <c:pt idx="1">
                  <c:v>3.019087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Small (8–25 tm)</c:v>
                </c:pt>
              </c:strCache>
            </c:strRef>
          </c:tx>
          <c:spPr>
            <a:solidFill>
              <a:srgbClr val="6FCF97"/>
            </a:solidFill>
            <a:ln>
              <a:solidFill>
                <a:srgbClr val="FFFFFF"/>
              </a:solidFill>
            </a:ln>
          </c:spPr>
          <c:dLbls>
            <c:dLbl>
              <c:idx val="0"/>
              <c:tx>
                <c:rich>
                  <a:bodyPr/>
                  <a:lstStyle/>
                  <a:p>
                    <a:r>
                      <a:rPr b="1">
                        <a:solidFill>
                          <a:srgbClr val="000000"/>
                        </a:solidFill>
                      </a:rPr>
                      <a:t>223</a:t>
                    </a:r>
                  </a:p>
                  <a:p>
                    <a:r>
                      <a:rPr b="1">
                        <a:solidFill>
                          <a:srgbClr val="000000"/>
                        </a:solidFill>
                      </a:rPr>
                      <a:t>29%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b="1">
                        <a:solidFill>
                          <a:srgbClr val="000000"/>
                        </a:solidFill>
                      </a:rPr>
                      <a:t>$5,04 M</a:t>
                    </a:r>
                  </a:p>
                  <a:p>
                    <a:r>
                      <a:rPr b="1">
                        <a:solidFill>
                          <a:srgbClr val="000000"/>
                        </a:solidFill>
                      </a:rPr>
                      <a:t>24%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sz="1100">
                    <a:latin typeface="Neue Haas Grotesk Text Pro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Units
(n = 764)</c:v>
                </c:pt>
                <c:pt idx="1">
                  <c:v>Value
(= $21,07 M)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223</c:v>
                </c:pt>
                <c:pt idx="1">
                  <c:v>5.037297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Medium (25–45 tm)</c:v>
                </c:pt>
              </c:strCache>
            </c:strRef>
          </c:tx>
          <c:spPr>
            <a:solidFill>
              <a:srgbClr val="1E9E57"/>
            </a:solidFill>
            <a:ln>
              <a:solidFill>
                <a:srgbClr val="FFFFFF"/>
              </a:solidFill>
            </a:ln>
          </c:spPr>
          <c:dLbls>
            <c:dLbl>
              <c:idx val="0"/>
              <c:tx>
                <c:rich>
                  <a:bodyPr/>
                  <a:lstStyle/>
                  <a:p>
                    <a:r>
                      <a:rPr b="1">
                        <a:solidFill>
                          <a:srgbClr val="FFFFFF"/>
                        </a:solidFill>
                      </a:rPr>
                      <a:t>218</a:t>
                    </a:r>
                  </a:p>
                  <a:p>
                    <a:r>
                      <a:rPr b="1">
                        <a:solidFill>
                          <a:srgbClr val="FFFFFF"/>
                        </a:solidFill>
                      </a:rPr>
                      <a:t>29%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b="1">
                        <a:solidFill>
                          <a:srgbClr val="FFFFFF"/>
                        </a:solidFill>
                      </a:rPr>
                      <a:t>$7,30 M</a:t>
                    </a:r>
                  </a:p>
                  <a:p>
                    <a:r>
                      <a:rPr b="1">
                        <a:solidFill>
                          <a:srgbClr val="FFFFFF"/>
                        </a:solidFill>
                      </a:rPr>
                      <a:t>35%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sz="1100">
                    <a:latin typeface="Neue Haas Grotesk Text Pro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Units
(n = 764)</c:v>
                </c:pt>
                <c:pt idx="1">
                  <c:v>Value
(= $21,07 M)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218</c:v>
                </c:pt>
                <c:pt idx="1">
                  <c:v>7.304431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Heavy (&gt; 45 tm)</c:v>
                </c:pt>
              </c:strCache>
            </c:strRef>
          </c:tx>
          <c:spPr>
            <a:solidFill>
              <a:srgbClr val="0B4D2A"/>
            </a:solidFill>
            <a:ln>
              <a:solidFill>
                <a:srgbClr val="FFFFFF"/>
              </a:solidFill>
            </a:ln>
          </c:spPr>
          <c:dLbls>
            <c:dLbl>
              <c:idx val="0"/>
              <c:tx>
                <c:rich>
                  <a:bodyPr/>
                  <a:lstStyle/>
                  <a:p>
                    <a:r>
                      <a:rPr b="1">
                        <a:solidFill>
                          <a:srgbClr val="FFFFFF"/>
                        </a:solidFill>
                      </a:rPr>
                      <a:t>75</a:t>
                    </a:r>
                  </a:p>
                  <a:p>
                    <a:r>
                      <a:rPr b="1">
                        <a:solidFill>
                          <a:srgbClr val="FFFFFF"/>
                        </a:solidFill>
                      </a:rPr>
                      <a:t>10%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b="1">
                        <a:solidFill>
                          <a:srgbClr val="FFFFFF"/>
                        </a:solidFill>
                      </a:rPr>
                      <a:t>$5,71 M</a:t>
                    </a:r>
                  </a:p>
                  <a:p>
                    <a:r>
                      <a:rPr b="1">
                        <a:solidFill>
                          <a:srgbClr val="FFFFFF"/>
                        </a:solidFill>
                      </a:rPr>
                      <a:t>27%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sz="1100">
                    <a:latin typeface="Neue Haas Grotesk Text Pro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Units
(n = 764)</c:v>
                </c:pt>
                <c:pt idx="1">
                  <c:v>Value
(= $21,07 M)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75</c:v>
                </c:pt>
                <c:pt idx="1">
                  <c:v>5.712582</c:v>
                </c:pt>
              </c:numCache>
            </c:numRef>
          </c:val>
        </c:ser>
        <c:gapWidth val="70"/>
        <c:overlap val="100"/>
        <c:serLines>
          <c:spPr>
            <a:ln w="6350">
              <a:solidFill>
                <a:srgbClr val="7F7F7F"/>
              </a:solidFill>
            </a:ln>
          </c:spPr>
        </c:serLine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000000"/>
            </a:solidFill>
          </a:ln>
        </c:spPr>
        <c:txPr>
          <a:bodyPr/>
          <a:lstStyle/>
          <a:p>
            <a:pPr>
              <a:defRPr sz="1200">
                <a:latin typeface="Neue Haas Grotesk Text Pro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latin typeface="Neue Haas Grotesk Text Pro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2900" y="209550"/>
            <a:ext cx="1905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Neue Haas Grotesk Text Pro"/>
              </a:rPr>
              <a:t>10/18/2026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91000" y="209550"/>
            <a:ext cx="3810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000000"/>
                </a:solidFill>
                <a:latin typeface="Neue Haas Grotesk Text Pro"/>
              </a:rPr>
              <a:t>Shaping the future of our industry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96600" y="209550"/>
            <a:ext cx="9525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000000"/>
                </a:solidFill>
                <a:latin typeface="Neue Haas Grotesk Text Pro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900" y="495300"/>
            <a:ext cx="8572500" cy="571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Neue Haas Grotesk Text Pro"/>
              </a:rPr>
              <a:t>Indonesian Import Folding Crane 23-26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53500" y="514350"/>
            <a:ext cx="2895600" cy="53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1">
                <a:solidFill>
                  <a:srgbClr val="000000"/>
                </a:solidFill>
                <a:latin typeface="Neue Haas Grotesk Text Pro"/>
              </a:rPr>
              <a:t>How big the market is?</a:t>
            </a:r>
          </a:p>
          <a:p>
            <a:pPr algn="r"/>
            <a:r>
              <a:rPr sz="1600" b="1">
                <a:solidFill>
                  <a:srgbClr val="000000"/>
                </a:solidFill>
                <a:latin typeface="Neue Haas Grotesk Text Pro"/>
              </a:rPr>
              <a:t>And who's lead the market?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66700" y="1104900"/>
            <a:ext cx="11658600" cy="0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42900" y="1162050"/>
            <a:ext cx="11506200" cy="2667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>
                <a:solidFill>
                  <a:srgbClr val="000000"/>
                </a:solidFill>
                <a:latin typeface="Neue Haas Grotesk Text Pro"/>
              </a:rPr>
              <a:t>Triatra Need To Focus on Medium and Heavy class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66700" y="1447800"/>
            <a:ext cx="116586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42900" y="1495425"/>
            <a:ext cx="11506200" cy="419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Neue Haas Grotesk Text Pro"/>
              </a:rPr>
              <a:t>Medium and Heavy class contribute </a:t>
            </a:r>
            <a:r>
              <a:rPr sz="1400" b="1">
                <a:solidFill>
                  <a:srgbClr val="000000"/>
                </a:solidFill>
                <a:latin typeface="Neue Haas Grotesk Text Pro"/>
              </a:rPr>
              <a:t>62% ($13,02 M out of $21,07 M)</a:t>
            </a:r>
            <a:r>
              <a:rPr sz="1400" b="0">
                <a:solidFill>
                  <a:srgbClr val="000000"/>
                </a:solidFill>
                <a:latin typeface="Neue Haas Grotesk Text Pro"/>
              </a:rPr>
              <a:t> of the total market size from 2023 to 2026, while their transactions are just </a:t>
            </a:r>
            <a:r>
              <a:rPr sz="1400" b="1">
                <a:solidFill>
                  <a:srgbClr val="000000"/>
                </a:solidFill>
                <a:latin typeface="Neue Haas Grotesk Text Pro"/>
              </a:rPr>
              <a:t>38% (293 units out of 764 units)</a:t>
            </a:r>
            <a:r>
              <a:rPr sz="1400" b="0">
                <a:solidFill>
                  <a:srgbClr val="000000"/>
                </a:solidFill>
                <a:latin typeface="Neue Haas Grotesk Text Pro"/>
              </a:rPr>
              <a:t> of the total imported quantity.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6700" y="1943100"/>
            <a:ext cx="116586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42900" y="2038350"/>
            <a:ext cx="53340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Neue Haas Grotesk Text Pro"/>
              </a:rPr>
              <a:t>Imported folding cranes by class per year, </a:t>
            </a:r>
            <a:r>
              <a:rPr sz="1200" b="1">
                <a:solidFill>
                  <a:srgbClr val="000000"/>
                </a:solidFill>
                <a:latin typeface="Neue Haas Grotesk Text Pro"/>
              </a:rPr>
              <a:t>2023 – 2026*</a:t>
            </a:r>
            <a:r>
              <a:rPr sz="1200" b="0">
                <a:solidFill>
                  <a:srgbClr val="000000"/>
                </a:solidFill>
                <a:latin typeface="Neue Haas Grotesk Text Pro"/>
              </a:rPr>
              <a:t>, n of units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2900" y="2409825"/>
            <a:ext cx="95250" cy="95250"/>
          </a:xfrm>
          <a:prstGeom prst="rect">
            <a:avLst/>
          </a:prstGeom>
          <a:solidFill>
            <a:srgbClr val="C7E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6250" y="2381250"/>
            <a:ext cx="12382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Neue Haas Grotesk Text Pro"/>
              </a:rPr>
              <a:t>Light (&lt; 8 tm)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76400" y="2409825"/>
            <a:ext cx="95250" cy="95250"/>
          </a:xfrm>
          <a:prstGeom prst="rect">
            <a:avLst/>
          </a:prstGeom>
          <a:solidFill>
            <a:srgbClr val="6FC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09750" y="2381250"/>
            <a:ext cx="12382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Neue Haas Grotesk Text Pro"/>
              </a:rPr>
              <a:t>Small (8–25 tm)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09900" y="2409825"/>
            <a:ext cx="95250" cy="95250"/>
          </a:xfrm>
          <a:prstGeom prst="rect">
            <a:avLst/>
          </a:prstGeom>
          <a:solidFill>
            <a:srgbClr val="1E9E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43250" y="2381250"/>
            <a:ext cx="12382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Neue Haas Grotesk Text Pro"/>
              </a:rPr>
              <a:t>Medium (25–45 tm)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43400" y="2409825"/>
            <a:ext cx="95250" cy="95250"/>
          </a:xfrm>
          <a:prstGeom prst="rect">
            <a:avLst/>
          </a:prstGeom>
          <a:solidFill>
            <a:srgbClr val="0B4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76750" y="2381250"/>
            <a:ext cx="12382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Neue Haas Grotesk Text Pro"/>
              </a:rPr>
              <a:t>Heavy (&gt; 45 tm)</a:t>
            </a:r>
          </a:p>
        </p:txBody>
      </p:sp>
      <p:graphicFrame>
        <p:nvGraphicFramePr>
          <p:cNvPr id="21" name="Chart 20"/>
          <p:cNvGraphicFramePr>
            <a:graphicFrameLocks noGrp="1"/>
          </p:cNvGraphicFramePr>
          <p:nvPr/>
        </p:nvGraphicFramePr>
        <p:xfrm>
          <a:off x="571500" y="2857500"/>
          <a:ext cx="4953000" cy="314325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731184" y="3333717"/>
            <a:ext cx="918882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Neue Haas Grotesk Text Pro"/>
              </a:rPr>
              <a:t>267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9434" y="3961649"/>
            <a:ext cx="918882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Neue Haas Grotesk Text Pro"/>
              </a:rPr>
              <a:t>191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7684" y="3664208"/>
            <a:ext cx="918882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Neue Haas Grotesk Text Pro"/>
              </a:rPr>
              <a:t>227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45934" y="4887022"/>
            <a:ext cx="918882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Neue Haas Grotesk Text Pro"/>
              </a:rPr>
              <a:t>79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7666" y="5058472"/>
            <a:ext cx="57150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0B4D2A"/>
                </a:solidFill>
                <a:latin typeface="Neue Haas Grotesk Text Pro"/>
              </a:rPr>
              <a:t>3 Heavy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2450" y="2838450"/>
            <a:ext cx="238125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" b="0">
                <a:solidFill>
                  <a:srgbClr val="000000"/>
                </a:solidFill>
                <a:latin typeface="Neue Haas Grotesk Text Pro"/>
              </a:rPr>
              <a:t/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07534" y="2838450"/>
            <a:ext cx="3810000" cy="476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Neue Haas Grotesk Text Pro"/>
              </a:rPr>
              <a:t>Light fell from </a:t>
            </a:r>
            <a:r>
              <a:rPr sz="1200" b="1">
                <a:solidFill>
                  <a:srgbClr val="1E9E57"/>
                </a:solidFill>
                <a:latin typeface="Neue Haas Grotesk Text Pro"/>
              </a:rPr>
              <a:t>109 to 52–53 units</a:t>
            </a:r>
            <a:r>
              <a:rPr sz="1200" b="0">
                <a:solidFill>
                  <a:srgbClr val="000000"/>
                </a:solidFill>
                <a:latin typeface="Neue Haas Grotesk Text Pro"/>
              </a:rPr>
              <a:t> after 2023, while </a:t>
            </a:r>
            <a:r>
              <a:rPr sz="1200" b="1">
                <a:solidFill>
                  <a:srgbClr val="1E9E57"/>
                </a:solidFill>
                <a:latin typeface="Neue Haas Grotesk Text Pro"/>
              </a:rPr>
              <a:t>Heavy more than doubled</a:t>
            </a:r>
            <a:r>
              <a:rPr sz="1200" b="0">
                <a:solidFill>
                  <a:srgbClr val="000000"/>
                </a:solidFill>
                <a:latin typeface="Neue Haas Grotesk Text Pro"/>
              </a:rPr>
              <a:t> to </a:t>
            </a:r>
            <a:r>
              <a:rPr sz="1200" b="1">
                <a:solidFill>
                  <a:srgbClr val="1E9E57"/>
                </a:solidFill>
                <a:latin typeface="Neue Haas Grotesk Text Pro"/>
              </a:rPr>
              <a:t>39 units in 2025</a:t>
            </a:r>
            <a:r>
              <a:rPr sz="1200" b="0">
                <a:solidFill>
                  <a:srgbClr val="000000"/>
                </a:solidFill>
                <a:latin typeface="Neue Haas Grotesk Text Pro"/>
              </a:rPr>
              <a:t> (17% of that year).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7666" y="5210872"/>
            <a:ext cx="4953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Neue Haas Grotesk Text Pro"/>
              </a:rPr>
              <a:t>*Jan–Aug</a:t>
            </a:r>
          </a:p>
          <a:p>
            <a:pPr algn="l"/>
            <a:r>
              <a:rPr sz="900" b="0">
                <a:solidFill>
                  <a:srgbClr val="6B6B6B"/>
                </a:solidFill>
                <a:latin typeface="Neue Haas Grotesk Text Pro"/>
              </a:rPr>
              <a:t>only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096000" y="2095500"/>
            <a:ext cx="0" cy="4095750"/>
          </a:xfrm>
          <a:prstGeom prst="line">
            <a:avLst/>
          </a:prstGeom>
          <a:ln w="25400">
            <a:solidFill>
              <a:srgbClr val="1E9E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5943600" y="4000500"/>
            <a:ext cx="304800" cy="304800"/>
          </a:xfrm>
          <a:prstGeom prst="ellipse">
            <a:avLst/>
          </a:prstGeom>
          <a:solidFill>
            <a:srgbClr val="1E9E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600">
                <a:solidFill>
                  <a:srgbClr val="FFFFFF"/>
                </a:solidFill>
                <a:latin typeface="Neue Haas Grotesk Text Pro"/>
              </a:rPr>
              <a:t>&gt;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24600" y="2038350"/>
            <a:ext cx="55245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Neue Haas Grotesk Text Pro"/>
              </a:rPr>
              <a:t>Share of units vs value by class, </a:t>
            </a:r>
            <a:r>
              <a:rPr sz="1200" b="1">
                <a:solidFill>
                  <a:srgbClr val="000000"/>
                </a:solidFill>
                <a:latin typeface="Neue Haas Grotesk Text Pro"/>
              </a:rPr>
              <a:t>2023 – 2026*</a:t>
            </a:r>
            <a:r>
              <a:rPr sz="1200" b="0">
                <a:solidFill>
                  <a:srgbClr val="000000"/>
                </a:solidFill>
                <a:latin typeface="Neue Haas Grotesk Text Pro"/>
              </a:rPr>
              <a:t>, % of total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24600" y="2409825"/>
            <a:ext cx="95250" cy="95250"/>
          </a:xfrm>
          <a:prstGeom prst="rect">
            <a:avLst/>
          </a:prstGeom>
          <a:solidFill>
            <a:srgbClr val="C7E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57950" y="2381250"/>
            <a:ext cx="12382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Neue Haas Grotesk Text Pro"/>
              </a:rPr>
              <a:t>Light (&lt; 8 tm)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658100" y="2409825"/>
            <a:ext cx="95250" cy="95250"/>
          </a:xfrm>
          <a:prstGeom prst="rect">
            <a:avLst/>
          </a:prstGeom>
          <a:solidFill>
            <a:srgbClr val="6FC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91450" y="2381250"/>
            <a:ext cx="12382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Neue Haas Grotesk Text Pro"/>
              </a:rPr>
              <a:t>Small (8–25 tm)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991600" y="2409825"/>
            <a:ext cx="95250" cy="95250"/>
          </a:xfrm>
          <a:prstGeom prst="rect">
            <a:avLst/>
          </a:prstGeom>
          <a:solidFill>
            <a:srgbClr val="1E9E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24950" y="2381250"/>
            <a:ext cx="12382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Neue Haas Grotesk Text Pro"/>
              </a:rPr>
              <a:t>Medium (25–45 tm)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325100" y="2409825"/>
            <a:ext cx="95250" cy="95250"/>
          </a:xfrm>
          <a:prstGeom prst="rect">
            <a:avLst/>
          </a:prstGeom>
          <a:solidFill>
            <a:srgbClr val="0B4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458450" y="2381250"/>
            <a:ext cx="12382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Neue Haas Grotesk Text Pro"/>
              </a:rPr>
              <a:t>Heavy (&gt; 45 tm)</a:t>
            </a:r>
          </a:p>
        </p:txBody>
      </p:sp>
      <p:graphicFrame>
        <p:nvGraphicFramePr>
          <p:cNvPr id="41" name="Chart 40"/>
          <p:cNvGraphicFramePr>
            <a:graphicFrameLocks noGrp="1"/>
          </p:cNvGraphicFramePr>
          <p:nvPr/>
        </p:nvGraphicFramePr>
        <p:xfrm>
          <a:off x="7143750" y="2857500"/>
          <a:ext cx="2667000" cy="314325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cxnSp>
        <p:nvCxnSpPr>
          <p:cNvPr id="42" name="Connector 41"/>
          <p:cNvCxnSpPr/>
          <p:nvPr/>
        </p:nvCxnSpPr>
        <p:spPr>
          <a:xfrm>
            <a:off x="9669556" y="5354047"/>
            <a:ext cx="0" cy="376193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H="1">
            <a:off x="9612406" y="5354047"/>
            <a:ext cx="57150" cy="0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H="1">
            <a:off x="9612406" y="5730240"/>
            <a:ext cx="57150" cy="0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9745756" y="5389743"/>
            <a:ext cx="1200150" cy="3238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0000"/>
                </a:solidFill>
                <a:latin typeface="Neue Haas Grotesk Text Pro"/>
              </a:rPr>
              <a:t>~14% Light</a:t>
            </a:r>
          </a:p>
          <a:p>
            <a:pPr algn="l"/>
            <a:r>
              <a:rPr sz="1100" b="0">
                <a:solidFill>
                  <a:srgbClr val="6B6B6B"/>
                </a:solidFill>
                <a:latin typeface="Neue Haas Grotesk Text Pro"/>
              </a:rPr>
              <a:t>from 32% of units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9669556" y="4662805"/>
            <a:ext cx="0" cy="653142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H="1">
            <a:off x="9612406" y="4662805"/>
            <a:ext cx="57150" cy="0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H="1">
            <a:off x="9612406" y="5315947"/>
            <a:ext cx="57150" cy="0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9745756" y="4836976"/>
            <a:ext cx="1200150" cy="3238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0000"/>
                </a:solidFill>
                <a:latin typeface="Neue Haas Grotesk Text Pro"/>
              </a:rPr>
              <a:t>~24% Small</a:t>
            </a:r>
          </a:p>
          <a:p>
            <a:pPr algn="l"/>
            <a:r>
              <a:rPr sz="1100" b="0">
                <a:solidFill>
                  <a:srgbClr val="6B6B6B"/>
                </a:solidFill>
                <a:latin typeface="Neue Haas Grotesk Text Pro"/>
              </a:rPr>
              <a:t>from 29% of units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9669556" y="3660457"/>
            <a:ext cx="0" cy="964248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H="1">
            <a:off x="9612406" y="3660457"/>
            <a:ext cx="57150" cy="0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>
            <a:off x="9612406" y="4624705"/>
            <a:ext cx="57150" cy="0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9745756" y="3990181"/>
            <a:ext cx="1200150" cy="3238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1E9E57"/>
                </a:solidFill>
                <a:latin typeface="Neue Haas Grotesk Text Pro"/>
              </a:rPr>
              <a:t>~35% Medium</a:t>
            </a:r>
          </a:p>
          <a:p>
            <a:pPr algn="l"/>
            <a:r>
              <a:rPr sz="1100" b="0">
                <a:solidFill>
                  <a:srgbClr val="6B6B6B"/>
                </a:solidFill>
                <a:latin typeface="Neue Haas Grotesk Text Pro"/>
              </a:rPr>
              <a:t>from 29% of units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9669556" y="2876550"/>
            <a:ext cx="0" cy="745807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H="1">
            <a:off x="9612406" y="2876550"/>
            <a:ext cx="57150" cy="0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H="1">
            <a:off x="9612406" y="3622357"/>
            <a:ext cx="57150" cy="0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9745756" y="3097054"/>
            <a:ext cx="1200150" cy="3238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1E9E57"/>
                </a:solidFill>
                <a:latin typeface="Neue Haas Grotesk Text Pro"/>
              </a:rPr>
              <a:t>~27% Heavy</a:t>
            </a:r>
          </a:p>
          <a:p>
            <a:pPr algn="l"/>
            <a:r>
              <a:rPr sz="1100" b="0">
                <a:solidFill>
                  <a:srgbClr val="6B6B6B"/>
                </a:solidFill>
                <a:latin typeface="Neue Haas Grotesk Text Pro"/>
              </a:rPr>
              <a:t>from 10% of units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7303994" y="2876550"/>
            <a:ext cx="0" cy="1070924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7303994" y="2876550"/>
            <a:ext cx="57150" cy="0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7303994" y="3947474"/>
            <a:ext cx="57150" cy="0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6324600" y="3088162"/>
            <a:ext cx="903194" cy="647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1E9E57"/>
                </a:solidFill>
                <a:latin typeface="Neue Haas Grotesk Text Pro"/>
              </a:rPr>
              <a:t>~38%</a:t>
            </a:r>
          </a:p>
          <a:p>
            <a:pPr algn="r"/>
            <a:r>
              <a:rPr sz="1100" b="0">
                <a:solidFill>
                  <a:srgbClr val="000000"/>
                </a:solidFill>
                <a:latin typeface="Neue Haas Grotesk Text Pro"/>
              </a:rPr>
              <a:t>Medium +</a:t>
            </a:r>
          </a:p>
          <a:p>
            <a:pPr algn="r"/>
            <a:r>
              <a:rPr sz="1100" b="0">
                <a:solidFill>
                  <a:srgbClr val="000000"/>
                </a:solidFill>
                <a:latin typeface="Neue Haas Grotesk Text Pro"/>
              </a:rPr>
              <a:t>Heavy</a:t>
            </a:r>
          </a:p>
          <a:p>
            <a:pPr algn="r"/>
            <a:r>
              <a:rPr sz="1100" b="0">
                <a:solidFill>
                  <a:srgbClr val="6B6B6B"/>
                </a:solidFill>
                <a:latin typeface="Neue Haas Grotesk Text Pro"/>
              </a:rPr>
              <a:t>293 units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10984006" y="2876550"/>
            <a:ext cx="0" cy="1748155"/>
          </a:xfrm>
          <a:prstGeom prst="line">
            <a:avLst/>
          </a:prstGeom>
          <a:ln w="9525">
            <a:solidFill>
              <a:srgbClr val="1E9E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H="1">
            <a:off x="10926856" y="2876550"/>
            <a:ext cx="57150" cy="0"/>
          </a:xfrm>
          <a:prstGeom prst="line">
            <a:avLst/>
          </a:prstGeom>
          <a:ln w="9525">
            <a:solidFill>
              <a:srgbClr val="1E9E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H="1">
            <a:off x="10926856" y="4624705"/>
            <a:ext cx="57150" cy="0"/>
          </a:xfrm>
          <a:prstGeom prst="line">
            <a:avLst/>
          </a:prstGeom>
          <a:ln w="9525">
            <a:solidFill>
              <a:srgbClr val="1E9E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11060206" y="3464878"/>
            <a:ext cx="788894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E9E57"/>
                </a:solidFill>
                <a:latin typeface="Neue Haas Grotesk Text Pro"/>
              </a:rPr>
              <a:t>~62%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Neue Haas Grotesk Text Pro"/>
              </a:rPr>
              <a:t>of value</a:t>
            </a:r>
          </a:p>
          <a:p>
            <a:pPr algn="l"/>
            <a:r>
              <a:rPr sz="1100" b="0">
                <a:solidFill>
                  <a:srgbClr val="6B6B6B"/>
                </a:solidFill>
                <a:latin typeface="Neue Haas Grotesk Text Pro"/>
              </a:rPr>
              <a:t>$13,02 M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42900" y="6305550"/>
            <a:ext cx="115062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Neue Haas Grotesk Text Pro"/>
              </a:rPr>
              <a:t>Source: </a:t>
            </a:r>
            <a:r>
              <a:rPr sz="1000" b="0">
                <a:solidFill>
                  <a:srgbClr val="000000"/>
                </a:solidFill>
                <a:latin typeface="Neue Haas Grotesk Text Pro"/>
              </a:rPr>
              <a:t>Indonesia import records 2023 – Aug 2026, knuckle boom (folding) cranes; value in USD (M = million).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42900" y="6477000"/>
            <a:ext cx="115062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6B6B"/>
                </a:solidFill>
                <a:latin typeface="Neue Haas Grotesk Text Pro"/>
              </a:rPr>
              <a:t>Note: </a:t>
            </a:r>
            <a:r>
              <a:rPr sz="1000" b="0">
                <a:solidFill>
                  <a:srgbClr val="6B6B6B"/>
                </a:solidFill>
                <a:latin typeface="Neue Haas Grotesk Text Pro"/>
              </a:rPr>
              <a:t>*2026 = Jan–Aug. Application Engineering makes ton meter class classification to make easier identification class. Share may not add to 100% due to rounding.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266700" y="6667500"/>
            <a:ext cx="11658600" cy="0"/>
          </a:xfrm>
          <a:prstGeom prst="line">
            <a:avLst/>
          </a:prstGeom>
          <a:ln w="12700">
            <a:solidFill>
              <a:srgbClr val="1E9E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