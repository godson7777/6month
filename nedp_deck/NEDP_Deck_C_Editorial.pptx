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Five Sections Prove I Know the Company, My Products and How I Execute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987552"/>
            <a:ext cx="457200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8408" y="914400"/>
            <a:ext cx="5486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AGENDA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2240280"/>
            <a:ext cx="7223760" cy="0"/>
          </a:xfrm>
          <a:prstGeom prst="line">
            <a:avLst/>
          </a:prstGeom>
          <a:ln w="9525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1508760"/>
            <a:ext cx="8229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200" b="1">
                <a:solidFill>
                  <a:srgbClr val="D85A30"/>
                </a:solidFill>
                <a:latin typeface="Neue Haas Grotesk Text Pr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508760"/>
            <a:ext cx="548640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C1B19"/>
                </a:solidFill>
                <a:latin typeface="Neue Haas Grotesk Text Pro"/>
              </a:rPr>
              <a:t>Company Profile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" y="3081528"/>
            <a:ext cx="7223760" cy="0"/>
          </a:xfrm>
          <a:prstGeom prst="line">
            <a:avLst/>
          </a:prstGeom>
          <a:ln w="9525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2350008"/>
            <a:ext cx="8229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200" b="1">
                <a:solidFill>
                  <a:srgbClr val="D85A30"/>
                </a:solidFill>
                <a:latin typeface="Neue Haas Grotesk Text Pr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350008"/>
            <a:ext cx="548640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C1B19"/>
                </a:solidFill>
                <a:latin typeface="Neue Haas Grotesk Text Pro"/>
              </a:rPr>
              <a:t>Site Operation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" y="3922776"/>
            <a:ext cx="7223760" cy="0"/>
          </a:xfrm>
          <a:prstGeom prst="line">
            <a:avLst/>
          </a:prstGeom>
          <a:ln w="9525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3191256"/>
            <a:ext cx="8229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200" b="1">
                <a:solidFill>
                  <a:srgbClr val="D85A30"/>
                </a:solidFill>
                <a:latin typeface="Neue Haas Grotesk Text Pr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91256"/>
            <a:ext cx="548640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C1B19"/>
                </a:solidFill>
                <a:latin typeface="Neue Haas Grotesk Text Pro"/>
              </a:rPr>
              <a:t>Organization Chart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" y="4764024"/>
            <a:ext cx="7223760" cy="0"/>
          </a:xfrm>
          <a:prstGeom prst="line">
            <a:avLst/>
          </a:prstGeom>
          <a:ln w="9525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4032504"/>
            <a:ext cx="8229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200" b="1">
                <a:solidFill>
                  <a:srgbClr val="D85A30"/>
                </a:solidFill>
                <a:latin typeface="Neue Haas Grotesk Text Pr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32504"/>
            <a:ext cx="548640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C1B19"/>
                </a:solidFill>
                <a:latin typeface="Neue Haas Grotesk Text Pro"/>
              </a:rPr>
              <a:t>Roles &amp; Responsibility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1480" y="5605272"/>
            <a:ext cx="7223760" cy="0"/>
          </a:xfrm>
          <a:prstGeom prst="line">
            <a:avLst/>
          </a:prstGeom>
          <a:ln w="9525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4873752"/>
            <a:ext cx="8229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200" b="1">
                <a:solidFill>
                  <a:srgbClr val="D85A30"/>
                </a:solidFill>
                <a:latin typeface="Neue Haas Grotesk Text Pr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73752"/>
            <a:ext cx="548640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C1B19"/>
                </a:solidFill>
                <a:latin typeface="Neue Haas Grotesk Text Pro"/>
              </a:rPr>
              <a:t>Job Description Execution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508760"/>
            <a:ext cx="3550615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229600" y="1508760"/>
            <a:ext cx="3550615" cy="36576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503920" y="1737360"/>
            <a:ext cx="3017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D85A30"/>
                </a:solidFill>
                <a:latin typeface="Neue Haas Grotesk Text Pro"/>
              </a:rPr>
              <a:t>PRESENTER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011680"/>
            <a:ext cx="301752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1C1B19"/>
                </a:solidFill>
                <a:latin typeface="Neue Haas Grotesk Text Pro"/>
              </a:rPr>
              <a:t>Tiberias K. Simu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514600"/>
            <a:ext cx="301752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6E6C64"/>
                </a:solidFill>
                <a:latin typeface="Neue Haas Grotesk Text Pro"/>
              </a:rPr>
              <a:t>Marketing Strategic 2 Associate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03920" y="3063240"/>
            <a:ext cx="3001975" cy="0"/>
          </a:xfrm>
          <a:prstGeom prst="line">
            <a:avLst/>
          </a:prstGeom>
          <a:ln w="9525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03920" y="3200400"/>
            <a:ext cx="3017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D85A30"/>
                </a:solidFill>
                <a:latin typeface="Neue Haas Grotesk Text Pro"/>
              </a:rPr>
              <a:t>PRODUCTS I 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474720"/>
            <a:ext cx="301752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C1B19"/>
                </a:solidFill>
                <a:latin typeface="Neue Haas Grotesk Text Pro"/>
              </a:rPr>
              <a:t>Small Suppeq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C1B19"/>
                </a:solidFill>
                <a:latin typeface="Neue Haas Grotesk Text Pro"/>
              </a:rPr>
              <a:t>Truck Others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03920" y="4343400"/>
            <a:ext cx="3001975" cy="0"/>
          </a:xfrm>
          <a:prstGeom prst="line">
            <a:avLst/>
          </a:prstGeom>
          <a:ln w="9525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503920" y="4480560"/>
            <a:ext cx="3017520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E6C64"/>
                </a:solidFill>
                <a:latin typeface="Neue Haas Grotesk Text Pro"/>
              </a:rPr>
              <a:t>PT Triatra Sinergia Pratama
Marketing Unit &amp; Strategic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822960"/>
            <a:ext cx="5486400" cy="4114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26000" b="1">
                <a:solidFill>
                  <a:srgbClr val="EBD9CF"/>
                </a:solidFill>
                <a:latin typeface="Neue Haas Grotesk Text Pr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6888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  <a:latin typeface="Neue Haas Grotesk Text Pro"/>
              </a:rPr>
              <a:t>SECTION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43200"/>
            <a:ext cx="73152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200" b="1">
                <a:solidFill>
                  <a:srgbClr val="1C1B19"/>
                </a:solidFill>
                <a:latin typeface="Neue Haas Grotesk Text Pro"/>
              </a:rPr>
              <a:t>Company 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3547872"/>
            <a:ext cx="731520" cy="457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Triatra Is Astra's Mining Support Arm — From Unit Selling to After Sales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987552"/>
            <a:ext cx="457200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8408" y="914400"/>
            <a:ext cx="5486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COMPANY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08760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OWNERSHIP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828800"/>
            <a:ext cx="475488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11480" y="1828800"/>
            <a:ext cx="4754880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Astra International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212848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Diversified conglomerate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88920" y="2560320"/>
            <a:ext cx="0" cy="292608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11480" y="2852928"/>
            <a:ext cx="475488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11480" y="2852928"/>
            <a:ext cx="4754880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2944368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United Tractors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236976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Heavy equipment, mining &amp; energy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88920" y="3584448"/>
            <a:ext cx="0" cy="292608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11480" y="3877056"/>
            <a:ext cx="475488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11480" y="3877056"/>
            <a:ext cx="4754880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94360" y="3968496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UTPE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261104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United Tractors Pandu Engineering — manufacturing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88920" y="4608576"/>
            <a:ext cx="0" cy="292608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11480" y="4901184"/>
            <a:ext cx="4754880" cy="731520"/>
          </a:xfrm>
          <a:prstGeom prst="rect">
            <a:avLst/>
          </a:prstGeom>
          <a:solidFill>
            <a:srgbClr val="FBF3EE"/>
          </a:solidFill>
          <a:ln w="1587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4992624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4A1B0C"/>
                </a:solidFill>
                <a:latin typeface="Neue Haas Grotesk Text Pro"/>
              </a:rPr>
              <a:t>PT Triatra Sinergia Pratama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285232"/>
            <a:ext cx="4389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4A1B0C"/>
                </a:solidFill>
                <a:latin typeface="Neue Haas Grotesk Text Pro"/>
              </a:rPr>
              <a:t>Marketing &amp; sales of Patria products and after-sales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1508760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BUSINESS LINES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1828800"/>
            <a:ext cx="2964027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669280" y="1828800"/>
            <a:ext cx="2964027" cy="36576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897880" y="1965960"/>
            <a:ext cx="2598267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1C1B19"/>
                </a:solidFill>
                <a:latin typeface="Neue Haas Grotesk Text Pro"/>
              </a:rPr>
              <a:t>PATRIA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2377439"/>
            <a:ext cx="2598267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E6C64"/>
                </a:solidFill>
                <a:latin typeface="Neue Haas Grotesk Text Pro"/>
              </a:rPr>
              <a:t>Unit selling — vessels, trailers, supporting equipment and special-purpose trucks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16187" y="1828800"/>
            <a:ext cx="2964027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816187" y="1828800"/>
            <a:ext cx="2964027" cy="36576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44787" y="1965960"/>
            <a:ext cx="2598267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1C1B19"/>
                </a:solidFill>
                <a:latin typeface="Neue Haas Grotesk Text Pro"/>
              </a:rPr>
              <a:t>ULTRA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44787" y="2377439"/>
            <a:ext cx="2598267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E6C64"/>
                </a:solidFill>
                <a:latin typeface="Neue Haas Grotesk Text Pro"/>
              </a:rPr>
              <a:t>After sales — parts, service and product support for the installed fleet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3474720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INDUSTRIES SERVED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3794760"/>
            <a:ext cx="2964027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669280" y="3794760"/>
            <a:ext cx="2964027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897880" y="3904488"/>
            <a:ext cx="5486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D85A30"/>
                </a:solidFill>
                <a:latin typeface="Neue Haas Grotesk Text Pro"/>
              </a:rP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4297680"/>
            <a:ext cx="2598267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Coal &amp; Mineral Mining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16187" y="3794760"/>
            <a:ext cx="2964027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816187" y="3794760"/>
            <a:ext cx="2964027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044787" y="3904488"/>
            <a:ext cx="5486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D85A30"/>
                </a:solidFill>
                <a:latin typeface="Neue Haas Grotesk Text Pro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4787" y="4297680"/>
            <a:ext cx="2598267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Construction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0" y="4937760"/>
            <a:ext cx="2964027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669280" y="4937760"/>
            <a:ext cx="2964027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897880" y="5047488"/>
            <a:ext cx="5486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D85A30"/>
                </a:solidFill>
                <a:latin typeface="Neue Haas Grotesk Text Pro"/>
              </a:rPr>
              <a:t>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5440680"/>
            <a:ext cx="2598267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Agro &amp; Forestry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16187" y="4937760"/>
            <a:ext cx="2964027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8816187" y="4937760"/>
            <a:ext cx="2964027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044787" y="5047488"/>
            <a:ext cx="5486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D85A30"/>
                </a:solidFill>
                <a:latin typeface="Neue Haas Grotesk Text Pro"/>
              </a:rP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44787" y="5440680"/>
            <a:ext cx="2598267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Marine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822960"/>
            <a:ext cx="5486400" cy="4114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26000" b="1">
                <a:solidFill>
                  <a:srgbClr val="EBD9CF"/>
                </a:solidFill>
                <a:latin typeface="Neue Haas Grotesk Text Pr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6888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  <a:latin typeface="Neue Haas Grotesk Text Pro"/>
              </a:rPr>
              <a:t>SECTION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43200"/>
            <a:ext cx="73152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200" b="1">
                <a:solidFill>
                  <a:srgbClr val="1C1B19"/>
                </a:solidFill>
                <a:latin typeface="Neue Haas Grotesk Text Pro"/>
              </a:rPr>
              <a:t>Site Operation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3547872"/>
            <a:ext cx="731520" cy="457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Our Coverage Follows Our Customers — From Head Office to Every Active Mine Site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987552"/>
            <a:ext cx="457200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8408" y="914400"/>
            <a:ext cx="5486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SITE OPERATION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63040"/>
            <a:ext cx="850392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1480" y="1463040"/>
            <a:ext cx="8503920" cy="4800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Coverage map — paste 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1463040"/>
            <a:ext cx="2681935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098280" y="1463040"/>
            <a:ext cx="2681935" cy="36576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9299448" y="1664208"/>
            <a:ext cx="146304" cy="146304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37192" y="1600200"/>
            <a:ext cx="213329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1C1B19"/>
                </a:solidFill>
                <a:latin typeface="Neue Haas Grotesk Text Pro"/>
              </a:rPr>
              <a:t>Head Office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9448" y="1965960"/>
            <a:ext cx="2316175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Jakarta — marketing, pricing, coordination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3090672"/>
            <a:ext cx="2681935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098280" y="3090672"/>
            <a:ext cx="2681935" cy="36576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299448" y="3291840"/>
            <a:ext cx="146304" cy="146304"/>
          </a:xfrm>
          <a:prstGeom prst="ellipse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37192" y="3227832"/>
            <a:ext cx="213329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1C1B19"/>
                </a:solidFill>
                <a:latin typeface="Neue Haas Grotesk Text Pro"/>
              </a:rPr>
              <a:t>Site Operation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3593591"/>
            <a:ext cx="2316175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[ add site list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4718304"/>
            <a:ext cx="2681935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9098280" y="4718304"/>
            <a:ext cx="2681935" cy="36576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299448" y="4919472"/>
            <a:ext cx="146304" cy="146304"/>
          </a:xfrm>
          <a:prstGeom prst="ellipse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537192" y="4855464"/>
            <a:ext cx="213329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1C1B19"/>
                </a:solidFill>
                <a:latin typeface="Neue Haas Grotesk Text Pro"/>
              </a:rPr>
              <a:t>Site Representative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5221224"/>
            <a:ext cx="2316175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[ add site list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822960"/>
            <a:ext cx="5486400" cy="4114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26000" b="1">
                <a:solidFill>
                  <a:srgbClr val="EBD9CF"/>
                </a:solidFill>
                <a:latin typeface="Neue Haas Grotesk Text Pro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6888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  <a:latin typeface="Neue Haas Grotesk Text Pro"/>
              </a:rPr>
              <a:t>SECTION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43200"/>
            <a:ext cx="73152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200" b="1">
                <a:solidFill>
                  <a:srgbClr val="1C1B19"/>
                </a:solidFill>
                <a:latin typeface="Neue Haas Grotesk Text Pro"/>
              </a:rPr>
              <a:t>Organization Chart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3547872"/>
            <a:ext cx="731520" cy="457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Each Associate Owns a Distinct Product Group — Mine Is Small Suppeq and Truck Others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987552"/>
            <a:ext cx="457200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8408" y="914400"/>
            <a:ext cx="5486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ORGANIZATION CHART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41367" y="1371600"/>
            <a:ext cx="31089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41367" y="1371600"/>
            <a:ext cx="310896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Ceisar Centiaga</a:t>
            </a:r>
          </a:p>
          <a:p>
            <a:pPr algn="ctr"/>
            <a:r>
              <a:rPr sz="740" b="0">
                <a:solidFill>
                  <a:srgbClr val="8A8880"/>
                </a:solidFill>
                <a:latin typeface="Neue Haas Grotesk Text Pro"/>
              </a:rPr>
              <a:t>Director in Charge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1755648"/>
            <a:ext cx="0" cy="118871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41367" y="1874519"/>
            <a:ext cx="31089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41367" y="1874519"/>
            <a:ext cx="310896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Ricardo Tanada</a:t>
            </a:r>
          </a:p>
          <a:p>
            <a:pPr algn="ctr"/>
            <a:r>
              <a:rPr sz="740" b="0">
                <a:solidFill>
                  <a:srgbClr val="8A8880"/>
                </a:solidFill>
                <a:latin typeface="Neue Haas Grotesk Text Pro"/>
              </a:rPr>
              <a:t>Marketing Unit &amp; Strategic Division Head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7" y="2258568"/>
            <a:ext cx="0" cy="118872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63991" y="2377440"/>
            <a:ext cx="8663712" cy="0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63991" y="2377440"/>
            <a:ext cx="0" cy="164592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11480" y="2542032"/>
            <a:ext cx="2705023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11480" y="2542032"/>
            <a:ext cx="2705023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Kresnanto A.W.</a:t>
            </a:r>
          </a:p>
          <a:p>
            <a:pPr algn="ctr"/>
            <a:r>
              <a:rPr sz="740" b="0">
                <a:solidFill>
                  <a:srgbClr val="8A8880"/>
                </a:solidFill>
                <a:latin typeface="Neue Haas Grotesk Text Pro"/>
              </a:rPr>
              <a:t>Marketing Strategic 1 Head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072384"/>
            <a:ext cx="2705023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11480" y="3072384"/>
            <a:ext cx="2705023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21208" y="3127248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Satrio F.R.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3319272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Big Suppeq, Big Vessel, Bucket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657600"/>
            <a:ext cx="2705023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11480" y="3657600"/>
            <a:ext cx="2705023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21208" y="3712463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M. Fawwaz J.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" y="3904487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Cabin, Forestry, Agro, Forklift, Towerlamp, Pump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51895" y="2377440"/>
            <a:ext cx="0" cy="164592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226231" y="2468879"/>
            <a:ext cx="2851327" cy="3218688"/>
          </a:xfrm>
          <a:prstGeom prst="rect">
            <a:avLst/>
          </a:prstGeom>
          <a:noFill/>
          <a:ln w="1587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3299383" y="2542032"/>
            <a:ext cx="2705023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299383" y="2542032"/>
            <a:ext cx="2705023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Ricardo Tanada (c)</a:t>
            </a:r>
          </a:p>
          <a:p>
            <a:pPr algn="ctr"/>
            <a:r>
              <a:rPr sz="740" b="0">
                <a:solidFill>
                  <a:srgbClr val="8A8880"/>
                </a:solidFill>
                <a:latin typeface="Neue Haas Grotesk Text Pro"/>
              </a:rPr>
              <a:t>Marketing Strategic 2 Head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9383" y="3072384"/>
            <a:ext cx="2705023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299383" y="3072384"/>
            <a:ext cx="2705023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299383" y="3072384"/>
            <a:ext cx="2705023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Ignatius Indrawan S.</a:t>
            </a:r>
          </a:p>
          <a:p>
            <a:pPr algn="ctr"/>
            <a:r>
              <a:rPr sz="740" b="0">
                <a:solidFill>
                  <a:srgbClr val="8A8880"/>
                </a:solidFill>
                <a:latin typeface="Neue Haas Grotesk Text Pro"/>
              </a:rPr>
              <a:t>Deputy Head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9383" y="3529584"/>
            <a:ext cx="2705023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299383" y="3529584"/>
            <a:ext cx="2705023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409111" y="3584448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Ervin Bahar 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09111" y="3776472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Medium Vessel, Man Hauler, Bus Scania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9383" y="4114800"/>
            <a:ext cx="2705023" cy="512064"/>
          </a:xfrm>
          <a:prstGeom prst="rect">
            <a:avLst/>
          </a:prstGeom>
          <a:solidFill>
            <a:srgbClr val="FBF3EE"/>
          </a:solidFill>
          <a:ln w="190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409111" y="4169663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4A1B0C"/>
                </a:solidFill>
                <a:latin typeface="Neue Haas Grotesk Text Pro"/>
              </a:rPr>
              <a:t>Tiberias K.S.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09111" y="4361688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4A1B0C"/>
                </a:solidFill>
                <a:latin typeface="Neue Haas Grotesk Text Pro"/>
              </a:rPr>
              <a:t>Small Suppeq, Truck Others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9383" y="4700016"/>
            <a:ext cx="2705023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299383" y="4700016"/>
            <a:ext cx="2705023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409111" y="4754879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Eurico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09111" y="4946904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Mining / Non-mining Trailer, Overseas Zone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9383" y="5285231"/>
            <a:ext cx="2705023" cy="329184"/>
          </a:xfrm>
          <a:prstGeom prst="rect">
            <a:avLst/>
          </a:prstGeom>
          <a:noFill/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299383" y="5285231"/>
            <a:ext cx="2705023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8A8880"/>
                </a:solidFill>
                <a:latin typeface="Neue Haas Grotesk Text Pro"/>
              </a:rPr>
              <a:t>Nandu Narpati — Admin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539799" y="2377440"/>
            <a:ext cx="0" cy="164592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187287" y="2542032"/>
            <a:ext cx="2705023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187287" y="2542032"/>
            <a:ext cx="2705023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Ugik Praseno</a:t>
            </a:r>
          </a:p>
          <a:p>
            <a:pPr algn="ctr"/>
            <a:r>
              <a:rPr sz="740" b="0">
                <a:solidFill>
                  <a:srgbClr val="8A8880"/>
                </a:solidFill>
                <a:latin typeface="Neue Haas Grotesk Text Pro"/>
              </a:rPr>
              <a:t>Marketing Strategic 3 Head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87287" y="3072384"/>
            <a:ext cx="2705023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6187287" y="3072384"/>
            <a:ext cx="2705023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297015" y="3127248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Baihaqi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97015" y="3319272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Mineral Processing, EPC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87287" y="3657600"/>
            <a:ext cx="2705023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6187287" y="3657600"/>
            <a:ext cx="2705023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297015" y="3712463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Yuda Prana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97015" y="3904487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Maritime, Renewable Energy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87287" y="4242816"/>
            <a:ext cx="2705023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6187287" y="4242816"/>
            <a:ext cx="2705023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297015" y="4297679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Celine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97015" y="4489704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Ultra Product Support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87287" y="4828031"/>
            <a:ext cx="2705023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6187287" y="4828031"/>
            <a:ext cx="2705023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297015" y="4882895"/>
            <a:ext cx="2522143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1C1B19"/>
                </a:solidFill>
                <a:latin typeface="Neue Haas Grotesk Text Pro"/>
              </a:rPr>
              <a:t>Hanifa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97015" y="5074919"/>
            <a:ext cx="2522143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Automation, EV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0427703" y="2377440"/>
            <a:ext cx="0" cy="164592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9075191" y="2542032"/>
            <a:ext cx="2705023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075191" y="2542032"/>
            <a:ext cx="2705023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Marketing Communication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075191" y="3072384"/>
            <a:ext cx="2705023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9075191" y="3072384"/>
            <a:ext cx="2705023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9075191" y="3072384"/>
            <a:ext cx="2705023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Karina Audina E.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075191" y="3474720"/>
            <a:ext cx="2705023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9075191" y="3474720"/>
            <a:ext cx="2705023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9075191" y="3474720"/>
            <a:ext cx="2705023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Adinda Siti K.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75191" y="3877056"/>
            <a:ext cx="2705023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9075191" y="3877056"/>
            <a:ext cx="2705023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9075191" y="3877056"/>
            <a:ext cx="2705023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C1B19"/>
                </a:solidFill>
                <a:latin typeface="Neue Haas Grotesk Text Pro"/>
              </a:rPr>
              <a:t>Rahma — Graphic Designer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822960"/>
            <a:ext cx="5486400" cy="4114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26000" b="1">
                <a:solidFill>
                  <a:srgbClr val="EBD9CF"/>
                </a:solidFill>
                <a:latin typeface="Neue Haas Grotesk Text Pro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6888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  <a:latin typeface="Neue Haas Grotesk Text Pro"/>
              </a:rPr>
              <a:t>SECTION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43200"/>
            <a:ext cx="73152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200" b="1">
                <a:solidFill>
                  <a:srgbClr val="1C1B19"/>
                </a:solidFill>
                <a:latin typeface="Neue Haas Grotesk Text Pro"/>
              </a:rPr>
              <a:t>Roles &amp; Responsibility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3547872"/>
            <a:ext cx="731520" cy="457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1480" y="3886200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D85A30"/>
                </a:solidFill>
                <a:latin typeface="Neue Haas Grotesk Text Pro"/>
              </a:rPr>
              <a:t>A — Position &amp; 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215384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>
                <a:solidFill>
                  <a:srgbClr val="8A8880"/>
                </a:solidFill>
                <a:latin typeface="Neue Haas Grotesk Text Pro"/>
              </a:rPr>
              <a:t>B — Strategic vs Supply Chain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I Report Through the Deputy Head and Own Two Product Groups End to 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987552"/>
            <a:ext cx="457200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8408" y="914400"/>
            <a:ext cx="5486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ROLES &amp; RESPONSIBILITY · POSITION &amp; 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463040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REPORTING 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1783080"/>
            <a:ext cx="28346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280160" y="1783080"/>
            <a:ext cx="2834640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80160" y="1783080"/>
            <a:ext cx="2834640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1C1B19"/>
                </a:solidFill>
                <a:latin typeface="Neue Haas Grotesk Text Pro"/>
              </a:rPr>
              <a:t>Ricardo Tanada</a:t>
            </a:r>
          </a:p>
          <a:p>
            <a:pPr algn="ctr"/>
            <a:r>
              <a:rPr sz="760" b="0">
                <a:solidFill>
                  <a:srgbClr val="8A8880"/>
                </a:solidFill>
                <a:latin typeface="Neue Haas Grotesk Text Pro"/>
              </a:rPr>
              <a:t>Dept Head (concurrent)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7480" y="2386584"/>
            <a:ext cx="0" cy="219456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2606040"/>
            <a:ext cx="356616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914400" y="2606040"/>
            <a:ext cx="3566160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606040"/>
            <a:ext cx="3566160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50" b="1">
                <a:solidFill>
                  <a:srgbClr val="1C1B19"/>
                </a:solidFill>
                <a:latin typeface="Neue Haas Grotesk Text Pro"/>
              </a:rPr>
              <a:t>Ignatius Indrawan Sumawinata</a:t>
            </a:r>
          </a:p>
          <a:p>
            <a:pPr algn="ctr"/>
            <a:r>
              <a:rPr sz="760" b="0">
                <a:solidFill>
                  <a:srgbClr val="8A8880"/>
                </a:solidFill>
                <a:latin typeface="Neue Haas Grotesk Text Pro"/>
              </a:rPr>
              <a:t>Deputy Head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97480" y="3209544"/>
            <a:ext cx="0" cy="219456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73480" y="3429000"/>
            <a:ext cx="3048000" cy="0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43000" y="3429000"/>
            <a:ext cx="0" cy="137160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11480" y="3566160"/>
            <a:ext cx="1463039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11480" y="3566160"/>
            <a:ext cx="1463039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84632" y="3657600"/>
            <a:ext cx="1316736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1">
                <a:solidFill>
                  <a:srgbClr val="1C1B19"/>
                </a:solidFill>
                <a:latin typeface="Neue Haas Grotesk Text Pro"/>
              </a:rPr>
              <a:t>Ervin Bahar P.</a:t>
            </a:r>
          </a:p>
          <a:p>
            <a:pPr algn="ctr"/>
            <a:r>
              <a:rPr sz="760" b="0">
                <a:solidFill>
                  <a:srgbClr val="6E6C64"/>
                </a:solidFill>
                <a:latin typeface="Neue Haas Grotesk Text Pro"/>
              </a:rPr>
              <a:t>Medium Vessel, Man Hauler, Bus Scania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97479" y="3429000"/>
            <a:ext cx="0" cy="137160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965960" y="3566160"/>
            <a:ext cx="1463039" cy="1005840"/>
          </a:xfrm>
          <a:prstGeom prst="rect">
            <a:avLst/>
          </a:prstGeom>
          <a:solidFill>
            <a:srgbClr val="FBF3EE"/>
          </a:solidFill>
          <a:ln w="190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039112" y="3657600"/>
            <a:ext cx="1316736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1">
                <a:solidFill>
                  <a:srgbClr val="4A1B0C"/>
                </a:solidFill>
                <a:latin typeface="Neue Haas Grotesk Text Pro"/>
              </a:rPr>
              <a:t>Tiberias K. Simu</a:t>
            </a:r>
          </a:p>
          <a:p>
            <a:pPr algn="ctr"/>
            <a:r>
              <a:rPr sz="760" b="0">
                <a:solidFill>
                  <a:srgbClr val="4A1B0C"/>
                </a:solidFill>
                <a:latin typeface="Neue Haas Grotesk Text Pro"/>
              </a:rPr>
              <a:t>Small Suppeq, Truck Others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251960" y="3429000"/>
            <a:ext cx="0" cy="137160"/>
          </a:xfrm>
          <a:prstGeom prst="line">
            <a:avLst/>
          </a:prstGeom>
          <a:ln w="12700">
            <a:solidFill>
              <a:srgbClr val="8A88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520440" y="3566160"/>
            <a:ext cx="1463039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520440" y="3566160"/>
            <a:ext cx="1463039" cy="13716"/>
          </a:xfrm>
          <a:prstGeom prst="rect">
            <a:avLst/>
          </a:prstGeom>
          <a:solidFill>
            <a:srgbClr val="D9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593592" y="3657600"/>
            <a:ext cx="1316736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1">
                <a:solidFill>
                  <a:srgbClr val="1C1B19"/>
                </a:solidFill>
                <a:latin typeface="Neue Haas Grotesk Text Pro"/>
              </a:rPr>
              <a:t>Eurico</a:t>
            </a:r>
          </a:p>
          <a:p>
            <a:pPr algn="ctr"/>
            <a:r>
              <a:rPr sz="760" b="0">
                <a:solidFill>
                  <a:srgbClr val="6E6C64"/>
                </a:solidFill>
                <a:latin typeface="Neue Haas Grotesk Text Pro"/>
              </a:rPr>
              <a:t>Trailer, Overseas Zone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709160"/>
            <a:ext cx="45720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60" b="0">
                <a:solidFill>
                  <a:srgbClr val="8A8880"/>
                </a:solidFill>
                <a:latin typeface="Neue Haas Grotesk Text Pro"/>
              </a:rPr>
              <a:t>Associate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463040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MY PRODUCTS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0680" y="1783080"/>
            <a:ext cx="3078327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440680" y="1783080"/>
            <a:ext cx="3078327" cy="36576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0" y="1892807"/>
            <a:ext cx="2712567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Small Suppeq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2212848"/>
            <a:ext cx="2712567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Water Truck (WT20, WT35), Lube Truck (LT08), Fuel Truck (FT20) and similar supporting units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01887" y="1783080"/>
            <a:ext cx="3078327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8701887" y="1783080"/>
            <a:ext cx="3078327" cy="36576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930487" y="1892807"/>
            <a:ext cx="2712567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1C1B19"/>
                </a:solidFill>
                <a:latin typeface="Neue Haas Grotesk Text Pro"/>
              </a:rPr>
              <a:t>Truck Others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0487" y="2212848"/>
            <a:ext cx="2712567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E6C64"/>
                </a:solidFill>
                <a:latin typeface="Neue Haas Grotesk Text Pro"/>
              </a:rPr>
              <a:t>Mining Crane, Fire Truck, Mixer Truck, Tyre Truck, Steaming Truck and other special-purpose trucks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40680" y="3200400"/>
            <a:ext cx="6339535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440680" y="3200400"/>
            <a:ext cx="6339535" cy="3063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Product photos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My Work Has Two Sides: Strategic Sets the Direction, Supply Chain Delivers the Order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987552"/>
            <a:ext cx="457200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8408" y="914400"/>
            <a:ext cx="5486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ROLES &amp; RESPONSIBILITY · STRATEGIC VS SUPPLY 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5592927" cy="2743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592927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Neue Haas Grotesk Text Pro"/>
              </a:rPr>
              <a:t>A. STRATEGIC</a:t>
            </a:r>
            <a:r>
              <a:rPr sz="760" b="0">
                <a:solidFill>
                  <a:srgbClr val="FFFFFF"/>
                </a:solidFill>
                <a:latin typeface="Neue Haas Grotesk Text Pro"/>
              </a:rPr>
              <a:t>   Decides direction — output feeds management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64792"/>
            <a:ext cx="2705023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0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Pricing &amp; Market Analysis</a:t>
            </a:r>
          </a:p>
          <a:p>
            <a:pPr algn="l">
              <a:spcAft>
                <a:spcPts val="150"/>
              </a:spcAft>
            </a:pPr>
            <a:r>
              <a:rPr sz="80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Market Study &amp; Program Development</a:t>
            </a:r>
          </a:p>
          <a:p>
            <a:pPr algn="l">
              <a:spcAft>
                <a:spcPts val="150"/>
              </a:spcAft>
            </a:pPr>
            <a:r>
              <a:rPr sz="80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Market Program for Support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7943" y="1764792"/>
            <a:ext cx="2705023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0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Performance Reporting (GP, PICA)</a:t>
            </a:r>
          </a:p>
          <a:p>
            <a:pPr algn="l">
              <a:spcAft>
                <a:spcPts val="150"/>
              </a:spcAft>
            </a:pPr>
            <a:r>
              <a:rPr sz="80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Innovation &amp; Development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1417320"/>
            <a:ext cx="5592927" cy="274320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24447" y="1417320"/>
            <a:ext cx="5592927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Neue Haas Grotesk Text Pro"/>
              </a:rPr>
              <a:t>B. SUPPLY CHAIN</a:t>
            </a:r>
            <a:r>
              <a:rPr sz="760" b="0">
                <a:solidFill>
                  <a:srgbClr val="FFFFFF"/>
                </a:solidFill>
                <a:latin typeface="Neue Haas Grotesk Text Pro"/>
              </a:rPr>
              <a:t>   Runs the transaction — output keeps operations moving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764792"/>
            <a:ext cx="2705023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00" b="1">
                <a:solidFill>
                  <a:srgbClr val="1B3A52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Quotation &amp; Production Coordination</a:t>
            </a:r>
          </a:p>
          <a:p>
            <a:pPr algn="l">
              <a:spcAft>
                <a:spcPts val="150"/>
              </a:spcAft>
            </a:pPr>
            <a:r>
              <a:rPr sz="800" b="1">
                <a:solidFill>
                  <a:srgbClr val="1B3A52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Operational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3751" y="1764792"/>
            <a:ext cx="2705023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00" b="1">
                <a:solidFill>
                  <a:srgbClr val="1B3A52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Internal &amp; External Coordination</a:t>
            </a:r>
          </a:p>
          <a:p>
            <a:pPr algn="l">
              <a:spcAft>
                <a:spcPts val="150"/>
              </a:spcAft>
            </a:pPr>
            <a:r>
              <a:rPr sz="800" b="1">
                <a:solidFill>
                  <a:srgbClr val="1B3A52"/>
                </a:solidFill>
                <a:latin typeface="Neue Haas Grotesk Text Pro"/>
              </a:rPr>
              <a:t>•  </a:t>
            </a:r>
            <a:r>
              <a:rPr sz="800" b="0">
                <a:solidFill>
                  <a:srgbClr val="2C2C2A"/>
                </a:solidFill>
                <a:latin typeface="Neue Haas Grotesk Text Pro"/>
              </a:rPr>
              <a:t>Routine Meetings &amp; 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606040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SIPOC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44774" y="2834640"/>
            <a:ext cx="2045147" cy="1572768"/>
          </a:xfrm>
          <a:prstGeom prst="rect">
            <a:avLst/>
          </a:prstGeom>
          <a:solidFill>
            <a:srgbClr val="EDEBE0"/>
          </a:solidFill>
          <a:ln w="12700">
            <a:solidFill>
              <a:srgbClr val="B0A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554480" y="2834640"/>
            <a:ext cx="2045147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80" b="1">
                <a:solidFill>
                  <a:srgbClr val="1C1B19"/>
                </a:solidFill>
                <a:latin typeface="Neue Haas Grotesk Text Pro"/>
              </a:rPr>
              <a:t>SUPPLIER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9627" y="2834640"/>
            <a:ext cx="2045147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80" b="1">
                <a:solidFill>
                  <a:srgbClr val="1C1B19"/>
                </a:solidFill>
                <a:latin typeface="Neue Haas Grotesk Text Pro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4774" y="2834640"/>
            <a:ext cx="2045147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80" b="1">
                <a:solidFill>
                  <a:srgbClr val="1C1B19"/>
                </a:solidFill>
                <a:latin typeface="Neue Haas Grotesk Text Pro"/>
              </a:rPr>
              <a:t>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9921" y="2834640"/>
            <a:ext cx="2045147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80" b="1">
                <a:solidFill>
                  <a:srgbClr val="1C1B19"/>
                </a:solidFill>
                <a:latin typeface="Neue Haas Grotesk Text Pro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5068" y="2834640"/>
            <a:ext cx="2045147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80" b="1">
                <a:solidFill>
                  <a:srgbClr val="1C1B19"/>
                </a:solidFill>
                <a:latin typeface="Neue Haas Grotesk Text Pro"/>
              </a:rPr>
              <a:t>CUSTOMER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127248"/>
            <a:ext cx="1051560" cy="585216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11480" y="3127248"/>
            <a:ext cx="1051560" cy="58521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Neue Haas Grotesk Text Pro"/>
              </a:rPr>
              <a:t>Supply Chain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554480" y="3090672"/>
            <a:ext cx="10225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627632" y="3145536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BC / Sales, UTE (Patria), non-Patria vendors, forwarders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2779" y="3145536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PCR demand, preliminary drawing, PO / PJB, QFD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7926" y="3145536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1">
                <a:solidFill>
                  <a:srgbClr val="2C2C2A"/>
                </a:solidFill>
                <a:latin typeface="Neue Haas Grotesk Text Pro"/>
              </a:rPr>
              <a:t>Quote request → close won → PO Interco → production monitoring → billing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073" y="3145536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Quotation, PO Interco, BAST / BAPB, invoice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8220" y="3145536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Sales team, end customer, Finance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785615"/>
            <a:ext cx="1051560" cy="585216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11480" y="3785615"/>
            <a:ext cx="1051560" cy="58521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Neue Haas Grotesk Text Pro"/>
              </a:rPr>
              <a:t>Strategic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554480" y="3749039"/>
            <a:ext cx="10225735" cy="0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627632" y="3803903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CRM, sales &amp; GP data, market sources, UTPE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2779" y="3803903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Market data, competitor specs, price history, GP results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7926" y="3803903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1">
                <a:solidFill>
                  <a:srgbClr val="2C2C2A"/>
                </a:solidFill>
                <a:latin typeface="Neue Haas Grotesk Text Pro"/>
              </a:rPr>
              <a:t>Market study, price analysis, sales programs, GP &amp; PICA reporting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63073" y="3803903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Market study, CRM price list, sales tools, GP / PICA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8220" y="3803903"/>
            <a:ext cx="1898843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60" b="0">
                <a:solidFill>
                  <a:srgbClr val="2C2C2A"/>
                </a:solidFill>
                <a:latin typeface="Neue Haas Grotesk Text Pro"/>
              </a:rPr>
              <a:t>Management / BOD, Sales team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709160"/>
            <a:ext cx="3667658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76072" y="4818888"/>
            <a:ext cx="339333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Dimensions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" y="5120640"/>
            <a:ext cx="3393338" cy="1143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Financial: non-Patria procurement budget, COGS per unit, target margin per PO</a:t>
            </a:r>
          </a:p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Non-financial: vendors &amp; customers handled, documents verified, report frequency, meetings &amp; site visits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2018" y="4709160"/>
            <a:ext cx="3667658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426610" y="4818888"/>
            <a:ext cx="339333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Working Relationships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26610" y="5120640"/>
            <a:ext cx="3393338" cy="1143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Internal: Sales &amp; Marketing, Warehouse, Finance &amp; Accounting, Legal, Procurement</a:t>
            </a:r>
          </a:p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External: customers, Patria &amp; non-Patria vendors, forwarders, UTPE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12556" y="4709160"/>
            <a:ext cx="3667658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277148" y="4818888"/>
            <a:ext cx="339333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Work Challenges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7148" y="5120640"/>
            <a:ext cx="3393338" cy="1143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Keep pricing, procurement and report data accurate</a:t>
            </a:r>
          </a:p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Align many functions on tight, shifting deadlines</a:t>
            </a:r>
          </a:p>
          <a:p>
            <a:pPr algn="l">
              <a:spcAft>
                <a:spcPts val="25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Adapt to changing market and stakeholder needs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822960"/>
            <a:ext cx="5486400" cy="4114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26000" b="1">
                <a:solidFill>
                  <a:srgbClr val="EBD9CF"/>
                </a:solidFill>
                <a:latin typeface="Neue Haas Grotesk Text Pro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6888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D85A30"/>
                </a:solidFill>
                <a:latin typeface="Neue Haas Grotesk Text Pro"/>
              </a:rPr>
              <a:t>SECTION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43200"/>
            <a:ext cx="73152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200" b="1">
                <a:solidFill>
                  <a:srgbClr val="1C1B19"/>
                </a:solidFill>
                <a:latin typeface="Neue Haas Grotesk Text Pro"/>
              </a:rPr>
              <a:t>Job Description Execution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3547872"/>
            <a:ext cx="731520" cy="4572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1480" y="3886200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D85A30"/>
                </a:solidFill>
                <a:latin typeface="Neue Haas Grotesk Text Pro"/>
              </a:rPr>
              <a:t>Strategic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215384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>
                <a:solidFill>
                  <a:srgbClr val="8A8880"/>
                </a:solidFill>
                <a:latin typeface="Neue Haas Grotesk Text Pro"/>
              </a:rPr>
              <a:t>Supply Chain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Strategy Starts With Data: I Frame the Question Before I Read the Market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987552"/>
            <a:ext cx="457200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8408" y="914400"/>
            <a:ext cx="5486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JOB DESCRIPTION EXECUTION · STRATEGIC (1/2)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74375" y="914400"/>
            <a:ext cx="1005840" cy="219456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74375" y="914400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eue Haas Grotesk Text Pro"/>
              </a:rPr>
              <a:t>Steps 1–4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463040"/>
            <a:ext cx="2718739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11480" y="1463040"/>
            <a:ext cx="2718739" cy="36576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94360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Define Market &amp;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057400"/>
            <a:ext cx="2398699" cy="12801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Set the business question for Small Suppeq / Truck Others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Agree scope and target segment with Dept 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310128"/>
            <a:ext cx="2371267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310128"/>
            <a:ext cx="2371267" cy="2834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4811" y="1463040"/>
            <a:ext cx="2718739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294811" y="1463040"/>
            <a:ext cx="2718739" cy="36576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3477691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77691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1739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Design Market Study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7691" y="2057400"/>
            <a:ext cx="2398699" cy="12801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Choose data sources and method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Set timeline and owners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7691" y="3310128"/>
            <a:ext cx="2371267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477691" y="3310128"/>
            <a:ext cx="2371267" cy="2834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8143" y="1463040"/>
            <a:ext cx="2718739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78143" y="1463040"/>
            <a:ext cx="2718739" cy="36576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361023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61023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5071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Collect Internal &amp; External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1023" y="2057400"/>
            <a:ext cx="2398699" cy="12801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CRM, PCR, GP history, sales feedback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Competitor specs and price points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61023" y="3310128"/>
            <a:ext cx="2371267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61023" y="3310128"/>
            <a:ext cx="2371267" cy="2834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61475" y="1463040"/>
            <a:ext cx="2718739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9061475" y="1463040"/>
            <a:ext cx="2718739" cy="36576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9244355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244355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28403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Analyse Market &amp; Competitors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4355" y="2057400"/>
            <a:ext cx="2398699" cy="12801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Market size / share, segmentation, positioning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Map competitor products against ours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44355" y="3310128"/>
            <a:ext cx="2371267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244355" y="3310128"/>
            <a:ext cx="2371267" cy="2834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Analysis Only Counts When It Turns Into Tools, Reports and Decisions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987552"/>
            <a:ext cx="457200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8408" y="914400"/>
            <a:ext cx="5486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JOB DESCRIPTION EXECUTION · STRATEGIC (2/2)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74375" y="914400"/>
            <a:ext cx="1005840" cy="219456"/>
          </a:xfrm>
          <a:prstGeom prst="roundRect">
            <a:avLst>
              <a:gd name="adj" fmla="val 8000"/>
            </a:avLst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74375" y="914400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eue Haas Grotesk Text Pro"/>
              </a:rPr>
              <a:t>Steps 5–8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463040"/>
            <a:ext cx="2718739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11480" y="1463040"/>
            <a:ext cx="2718739" cy="36576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94360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Build Sales Tools &amp; Programs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057400"/>
            <a:ext cx="2398699" cy="10972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Pamphlets, incentive programs, campaigns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Standard price list in CRM, event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127248"/>
            <a:ext cx="2371267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127248"/>
            <a:ext cx="2371267" cy="1417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4811" y="1463040"/>
            <a:ext cx="2718739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294811" y="1463040"/>
            <a:ext cx="2718739" cy="36576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3477691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77691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1739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Prepare Performance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7691" y="2057400"/>
            <a:ext cx="2398699" cy="10972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GP Report and Performance Report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PICA analysis on gaps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7691" y="3127248"/>
            <a:ext cx="2371267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477691" y="3127248"/>
            <a:ext cx="2371267" cy="1417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8143" y="1463040"/>
            <a:ext cx="2718739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78143" y="1463040"/>
            <a:ext cx="2718739" cy="36576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361023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61023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5071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Interpret Results &amp; Recommend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1023" y="2057400"/>
            <a:ext cx="2398699" cy="10972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Turn findings into pricing / program advice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Present to management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61023" y="3127248"/>
            <a:ext cx="2371267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61023" y="3127248"/>
            <a:ext cx="2371267" cy="1417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61475" y="1463040"/>
            <a:ext cx="2718739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9061475" y="1463040"/>
            <a:ext cx="2718739" cy="36576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9244355" y="1627632"/>
            <a:ext cx="292608" cy="292608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244355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28403" y="1591056"/>
            <a:ext cx="2032939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Innovation &amp; Development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4355" y="2057400"/>
            <a:ext cx="2398699" cy="10972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Project Charter for innovation projects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D85A30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Training (Patria Mover), site visit reports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44355" y="3127248"/>
            <a:ext cx="2371267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244355" y="3127248"/>
            <a:ext cx="2371267" cy="1417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4892040"/>
            <a:ext cx="11368735" cy="27432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4892040"/>
            <a:ext cx="2659303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Neue Haas Grotesk Text Pro"/>
              </a:rPr>
              <a:t>DELIVERABLES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239512"/>
            <a:ext cx="2567863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2C2C2A"/>
                </a:solidFill>
                <a:latin typeface="Neue Haas Grotesk Text Pro"/>
              </a:rPr>
              <a:t>Market study, sales tools, CRM price list, GP &amp; PICA reports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90823" y="4892040"/>
            <a:ext cx="2659303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Neue Haas Grotesk Text Pro"/>
              </a:rPr>
              <a:t>DEPARTMENTS INVOLVED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90823" y="5239512"/>
            <a:ext cx="2567863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2C2C2A"/>
                </a:solidFill>
                <a:latin typeface="Neue Haas Grotesk Text Pro"/>
              </a:rPr>
              <a:t>Sales, Finance &amp; Accounting, UTPE, Marketing Communication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253663" y="5212079"/>
            <a:ext cx="0" cy="960121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233007" y="4892040"/>
            <a:ext cx="2659303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Neue Haas Grotesk Text Pro"/>
              </a:rPr>
              <a:t>CHALLENGES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3007" y="5239512"/>
            <a:ext cx="2567863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2C2C2A"/>
                </a:solidFill>
                <a:latin typeface="Neue Haas Grotesk Text Pro"/>
              </a:rPr>
              <a:t>Scattered data sources; limited competitor price visibility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095847" y="5212079"/>
            <a:ext cx="0" cy="960121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075191" y="4892040"/>
            <a:ext cx="2659303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Neue Haas Grotesk Text Pro"/>
              </a:rPr>
              <a:t>IMPROVEMENTS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5191" y="5239512"/>
            <a:ext cx="2567863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2C2C2A"/>
                </a:solidFill>
                <a:latin typeface="Neue Haas Grotesk Text Pro"/>
              </a:rPr>
              <a:t>Single dashboard for GP and pipeline; regular competitor mapping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938031" y="5212079"/>
            <a:ext cx="0" cy="960121"/>
          </a:xfrm>
          <a:prstGeom prst="line">
            <a:avLst/>
          </a:prstGeom>
          <a:ln w="6350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11480" y="6217920"/>
            <a:ext cx="11368735" cy="0"/>
          </a:xfrm>
          <a:prstGeom prst="line">
            <a:avLst/>
          </a:prstGeom>
          <a:ln w="9525">
            <a:solidFill>
              <a:srgbClr val="D9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Before Any Price Goes Out, I Clarify the Demand and Read the Drawing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987552"/>
            <a:ext cx="457200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8408" y="914400"/>
            <a:ext cx="5486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JOB DESCRIPTION EXECUTION · SUPPLY CHAIN (1/2)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59975" y="914400"/>
            <a:ext cx="1920240" cy="219456"/>
          </a:xfrm>
          <a:prstGeom prst="roundRect">
            <a:avLst>
              <a:gd name="adj" fmla="val 8000"/>
            </a:avLst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59975" y="914400"/>
            <a:ext cx="19202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eue Haas Grotesk Text Pro"/>
              </a:rPr>
              <a:t>Main Process · Steps 1–3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463040"/>
            <a:ext cx="367985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11480" y="1463040"/>
            <a:ext cx="3679850" cy="36576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94360" y="1627632"/>
            <a:ext cx="292608" cy="292608"/>
          </a:xfrm>
          <a:prstGeom prst="ellipse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1591056"/>
            <a:ext cx="299405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Demand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057400"/>
            <a:ext cx="3359810" cy="1783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See demand rise in PCR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Clarify with BC: reason to buy (expansion / new business / replacement)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Project location; fast or low-cost priority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Expected price and estimated PO 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813048"/>
            <a:ext cx="333237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813048"/>
            <a:ext cx="3332378" cy="23317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5922" y="1463040"/>
            <a:ext cx="367985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55922" y="1463040"/>
            <a:ext cx="3679850" cy="36576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438802" y="1627632"/>
            <a:ext cx="292608" cy="292608"/>
          </a:xfrm>
          <a:prstGeom prst="ellipse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38802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2850" y="1591056"/>
            <a:ext cx="299405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Preliminary Drawing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8802" y="2057400"/>
            <a:ext cx="3359810" cy="1783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Check unit function and how it works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Flag critical main components on price and lead time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Consult Application Engineering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8802" y="3813048"/>
            <a:ext cx="333237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438802" y="3813048"/>
            <a:ext cx="3332378" cy="23317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0364" y="1463040"/>
            <a:ext cx="367985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100364" y="1463040"/>
            <a:ext cx="3679850" cy="36576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283244" y="1627632"/>
            <a:ext cx="292608" cy="292608"/>
          </a:xfrm>
          <a:prstGeom prst="ellipse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83244" y="162763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7292" y="1591056"/>
            <a:ext cx="299405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Request Quote to 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3244" y="2057400"/>
            <a:ext cx="3359810" cy="1783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Attach prelim, expected price &amp; lead time, end customer, expected delivery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Check standard GP (13.6% — pre-negotiation price)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Track SLA, escalate if late; log result in PCR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83244" y="3813048"/>
            <a:ext cx="333237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8A88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83244" y="3813048"/>
            <a:ext cx="3332378" cy="23317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8A8880"/>
                </a:solidFill>
                <a:latin typeface="Neue Haas Grotesk Text Pro"/>
              </a:rPr>
              <a:t>Evidence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"/>
            <a:ext cx="12191695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>
                <a:solidFill>
                  <a:srgbClr val="8A8880"/>
                </a:solidFill>
                <a:latin typeface="Neue Haas Grotesk Text Pro"/>
              </a:rPr>
              <a:t>[ INTERNAL USE ONLY ]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11535" y="128016"/>
            <a:ext cx="86868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3657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8A8880"/>
                </a:solidFill>
                <a:latin typeface="Neue Haas Grotesk Text Pro"/>
              </a:rPr>
              <a:t>NEDP Mid 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528816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8A8880"/>
                </a:solidFill>
                <a:latin typeface="Neue Haas Grotesk Text Pro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0362895" cy="457200"/>
          </a:xfrm>
          <a:prstGeom prst="rect">
            <a:avLst/>
          </a:prstGeom>
          <a:noFill/>
        </p:spPr>
        <p:txBody>
          <a:bodyPr wrap="square" lIns="18288" rIns="18288" tIns="9144" bIns="9144" anchor="b">
            <a:spAutoFit/>
          </a:bodyPr>
          <a:lstStyle/>
          <a:p>
            <a:pPr algn="l"/>
            <a:r>
              <a:rPr sz="1500" b="1">
                <a:solidFill>
                  <a:srgbClr val="1C1B19"/>
                </a:solidFill>
                <a:latin typeface="Neue Haas Grotesk Text Pro"/>
              </a:rPr>
              <a:t>Winning the Order Is Half the Job — Monitoring Keeps Delivery on Schedule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987552"/>
            <a:ext cx="457200" cy="3200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8408" y="914400"/>
            <a:ext cx="5486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D85A30"/>
                </a:solidFill>
                <a:latin typeface="Neue Haas Grotesk Text Pro"/>
              </a:rPr>
              <a:t>JOB DESCRIPTION EXECUTION · SUPPLY CHAIN (2/2)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59975" y="914400"/>
            <a:ext cx="1920240" cy="219456"/>
          </a:xfrm>
          <a:prstGeom prst="roundRect">
            <a:avLst>
              <a:gd name="adj" fmla="val 8000"/>
            </a:avLst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59975" y="914400"/>
            <a:ext cx="19202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eue Haas Grotesk Text Pro"/>
              </a:rPr>
              <a:t>Main Process · Steps 4–5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325880"/>
            <a:ext cx="5602071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11480" y="1325880"/>
            <a:ext cx="5602071" cy="36576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94360" y="1490472"/>
            <a:ext cx="292608" cy="292608"/>
          </a:xfrm>
          <a:prstGeom prst="ellipse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149047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1453895"/>
            <a:ext cx="4916271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Close Won → CPO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920240"/>
            <a:ext cx="5282031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Check PO / prelim / PJB in CRM; request QFD from UTE; collect special requests &amp; painting style from BC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RFD from QFD becomes PO Interco due date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Close won: Sales Mgr → Mkt Associate → Mkt Mgr → GM Mkt · PO Interco approval: Mkt Mgr → GM Mkt → Mkt Director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8143" y="1325880"/>
            <a:ext cx="5602071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178143" y="1325880"/>
            <a:ext cx="5602071" cy="36576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361023" y="1490472"/>
            <a:ext cx="292608" cy="292608"/>
          </a:xfrm>
          <a:prstGeom prst="ellipse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61023" y="1490472"/>
            <a:ext cx="292608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5071" y="1453895"/>
            <a:ext cx="4916271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>
                <a:solidFill>
                  <a:srgbClr val="1C1B19"/>
                </a:solidFill>
                <a:latin typeface="Neue Haas Grotesk Text Pro"/>
              </a:rPr>
              <a:t>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1023" y="1920240"/>
            <a:ext cx="5282031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Track production and update sales (factory visit or photos from Nandu); match QFD vs actual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Escalate when RFD is at risk; request painting style ≥1 month before RFD</a:t>
            </a:r>
          </a:p>
          <a:p>
            <a:pPr algn="l">
              <a:spcAft>
                <a:spcPts val="200"/>
              </a:spcAft>
            </a:pPr>
            <a:r>
              <a:rPr sz="780" b="1">
                <a:solidFill>
                  <a:srgbClr val="3A3936"/>
                </a:solidFill>
                <a:latin typeface="Neue Haas Grotesk Text Pro"/>
              </a:rPr>
              <a:t>•  </a:t>
            </a:r>
            <a:r>
              <a:rPr sz="780" b="0">
                <a:solidFill>
                  <a:srgbClr val="2C2C2A"/>
                </a:solidFill>
                <a:latin typeface="Neue Haas Grotesk Text Pro"/>
              </a:rPr>
              <a:t>Accompany BC at customer FAT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493008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INTERNAL MONITORING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739896"/>
            <a:ext cx="2739313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11480" y="3739896"/>
            <a:ext cx="2739313" cy="36576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3794759"/>
            <a:ext cx="2510713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60" b="1">
                <a:solidFill>
                  <a:srgbClr val="1C1B19"/>
                </a:solidFill>
                <a:latin typeface="Neue Haas Grotesk Text Pro"/>
              </a:rPr>
              <a:t>Pipeline–OSPO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023359"/>
            <a:ext cx="2510713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Dashboard, updated monthly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87953" y="3739896"/>
            <a:ext cx="2739313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3287953" y="3739896"/>
            <a:ext cx="2739313" cy="36576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443401" y="3794759"/>
            <a:ext cx="2510713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60" b="1">
                <a:solidFill>
                  <a:srgbClr val="1C1B19"/>
                </a:solidFill>
                <a:latin typeface="Neue Haas Grotesk Text Pro"/>
              </a:rPr>
              <a:t>CRM Staging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43401" y="4023359"/>
            <a:ext cx="2510713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No prelim = early talks; prelim = validate &amp; quote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4427" y="3739896"/>
            <a:ext cx="2739313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164427" y="3739896"/>
            <a:ext cx="2739313" cy="36576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19875" y="3794759"/>
            <a:ext cx="2510713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60" b="1">
                <a:solidFill>
                  <a:srgbClr val="1C1B19"/>
                </a:solidFill>
                <a:latin typeface="Neue Haas Grotesk Text Pro"/>
              </a:rPr>
              <a:t>Quote Price to UTE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9875" y="4023359"/>
            <a:ext cx="2510713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Detail, average SLA, initial price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40901" y="3739896"/>
            <a:ext cx="2739313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9040901" y="3739896"/>
            <a:ext cx="2739313" cy="36576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196349" y="3794759"/>
            <a:ext cx="2510713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60" b="1">
                <a:solidFill>
                  <a:srgbClr val="1C1B19"/>
                </a:solidFill>
                <a:latin typeface="Neue Haas Grotesk Text Pro"/>
              </a:rPr>
              <a:t>Progress Billing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6349" y="4023359"/>
            <a:ext cx="2510713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6E6C64"/>
                </a:solidFill>
                <a:latin typeface="Neue Haas Grotesk Text Pro"/>
              </a:rPr>
              <a:t>Check staging, escalate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4617720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8A8880"/>
                </a:solidFill>
                <a:latin typeface="Neue Haas Grotesk Text Pro"/>
              </a:rPr>
              <a:t>BILLING PROCESS CHAIN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892040"/>
            <a:ext cx="914400" cy="411480"/>
          </a:xfrm>
          <a:prstGeom prst="rect">
            <a:avLst/>
          </a:prstGeom>
          <a:solidFill>
            <a:srgbClr val="3A3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11480" y="4892040"/>
            <a:ext cx="91440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At UTE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17320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417320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PO Interco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94890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22906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2222906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PRO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00476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28492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028492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PR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06063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34079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834079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PO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11649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39665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639665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Drawing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17236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45252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445252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BOM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2822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50838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250838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LPPB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28408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56424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056424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PB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33995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62011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7862011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Fabrication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39581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67597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8667597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Assembly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45168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473184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9473184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QC passed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50754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278770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10278770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GR Teco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56340" y="489204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A3936"/>
                </a:solidFill>
                <a:latin typeface="Neue Haas Grotesk Text Pro"/>
              </a:rPr>
              <a:t>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084356" y="4892040"/>
            <a:ext cx="69585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3A3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11084356" y="4892040"/>
            <a:ext cx="695858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GI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1480" y="5532120"/>
            <a:ext cx="914400" cy="41148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11480" y="5532120"/>
            <a:ext cx="91440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At Triatra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417320" y="5532120"/>
            <a:ext cx="1014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1417320" y="5532120"/>
            <a:ext cx="1014139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GR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13171" y="553212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85A30"/>
                </a:solidFill>
                <a:latin typeface="Neue Haas Grotesk Text Pro"/>
              </a:rPr>
              <a:t>›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41187" y="5532120"/>
            <a:ext cx="1014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2541187" y="5532120"/>
            <a:ext cx="1014139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DO / TO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37039" y="553212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85A30"/>
                </a:solidFill>
                <a:latin typeface="Neue Haas Grotesk Text Pro"/>
              </a:rPr>
              <a:t>›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65055" y="5532120"/>
            <a:ext cx="1014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3665055" y="5532120"/>
            <a:ext cx="1014139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GI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60907" y="553212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85A30"/>
                </a:solidFill>
                <a:latin typeface="Neue Haas Grotesk Text Pro"/>
              </a:rPr>
              <a:t>›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788923" y="5532120"/>
            <a:ext cx="1014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4788923" y="5532120"/>
            <a:ext cx="1014139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BAST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84774" y="553212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85A30"/>
                </a:solidFill>
                <a:latin typeface="Neue Haas Grotesk Text Pro"/>
              </a:rPr>
              <a:t>›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12790" y="5532120"/>
            <a:ext cx="1014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5912790" y="5532120"/>
            <a:ext cx="1014139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BAST approval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08642" y="5532120"/>
            <a:ext cx="146304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85A30"/>
                </a:solidFill>
                <a:latin typeface="Neue Haas Grotesk Text Pro"/>
              </a:rPr>
              <a:t>›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036658" y="5532120"/>
            <a:ext cx="1014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7036658" y="5532120"/>
            <a:ext cx="1014139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2C2C2A"/>
                </a:solidFill>
                <a:latin typeface="Neue Haas Grotesk Text Pro"/>
              </a:rPr>
              <a:t>Invoice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