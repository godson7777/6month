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riat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171450"/>
            <a:ext cx="404960" cy="228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67500" y="209550"/>
            <a:ext cx="49911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00">
                <a:solidFill>
                  <a:srgbClr val="697177"/>
                </a:solidFill>
                <a:latin typeface="Arial"/>
              </a:rPr>
              <a:t>NEDP 6-MONTH REVIEW  ·  STP · MEDIUM CLASS 25–45 TM · 1 / 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476250"/>
            <a:ext cx="11125200" cy="0"/>
          </a:xfrm>
          <a:prstGeom prst="line">
            <a:avLst/>
          </a:prstGeom>
          <a:ln w="12700">
            <a:solidFill>
              <a:srgbClr val="E6E8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33400" y="666750"/>
            <a:ext cx="857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200">
                <a:solidFill>
                  <a:srgbClr val="697177"/>
                </a:solidFill>
                <a:latin typeface="Arial"/>
              </a:rPr>
              <a:t>STP · MEDIUM CLASS 25–45 TM · 1 /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933450"/>
            <a:ext cx="111442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 i="0">
                <a:solidFill>
                  <a:srgbClr val="11181C"/>
                </a:solidFill>
                <a:latin typeface="Georgia"/>
              </a:rPr>
              <a:t>Medium: target the value leaders with </a:t>
            </a:r>
            <a:r>
              <a:rPr sz="2400" b="1" i="1">
                <a:solidFill>
                  <a:srgbClr val="076932"/>
                </a:solidFill>
                <a:latin typeface="Georgia"/>
              </a:rPr>
              <a:t>FERRARI</a:t>
            </a:r>
            <a:r>
              <a:rPr sz="2400" b="0" i="0">
                <a:solidFill>
                  <a:srgbClr val="11181C"/>
                </a:solidFill>
                <a:latin typeface="Georgia"/>
              </a:rPr>
              <a:t> at 25–40 tm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3400" y="1524000"/>
            <a:ext cx="3619500" cy="102870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6750" y="1638300"/>
            <a:ext cx="33528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 spc="150">
                <a:solidFill>
                  <a:srgbClr val="076932"/>
                </a:solidFill>
                <a:latin typeface="Arial"/>
              </a:rPr>
              <a:t>SEGMENTATION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1771650"/>
            <a:ext cx="3352800" cy="742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1181C"/>
                </a:solidFill>
                <a:latin typeface="Arial"/>
              </a:rPr>
              <a:t>Medium class split into 4 tm tiers. 30–40 tm holds 69% of Medium value (142 of 214 units).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5300" y="1524000"/>
            <a:ext cx="3619500" cy="102870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8650" y="1638300"/>
            <a:ext cx="33528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 spc="150">
                <a:solidFill>
                  <a:srgbClr val="076932"/>
                </a:solidFill>
                <a:latin typeface="Arial"/>
              </a:rPr>
              <a:t>TARGETING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8650" y="1771650"/>
            <a:ext cx="3352800" cy="742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1181C"/>
                </a:solidFill>
                <a:latin typeface="Arial"/>
              </a:rPr>
              <a:t>Top 1 model by value in each tier: Amco Veba V825 (25–30); HIAB X-CLX 388 (30–35); Palfinger PK 41002 (35–40); Sany Palfinger SPK42502 (40–45).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77200" y="1524000"/>
            <a:ext cx="3619500" cy="1028700"/>
          </a:xfrm>
          <a:prstGeom prst="roundRect">
            <a:avLst>
              <a:gd name="adj" fmla="val 8000"/>
            </a:avLst>
          </a:prstGeom>
          <a:solidFill>
            <a:srgbClr val="E1F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0550" y="1638300"/>
            <a:ext cx="33528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 spc="150">
                <a:solidFill>
                  <a:srgbClr val="076932"/>
                </a:solidFill>
                <a:latin typeface="Arial"/>
              </a:rPr>
              <a:t>POSITIONING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0550" y="1771650"/>
            <a:ext cx="3352800" cy="742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1181C"/>
                </a:solidFill>
                <a:latin typeface="Arial"/>
              </a:rPr>
              <a:t>Ferrari is 14%–25% cheaper than the value leader at 25–40 tm (88% of Medium value). At 40–45 tm, 746 A4 is 48% above SPK42502.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33400" y="2686050"/>
          <a:ext cx="11125200" cy="3162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4850"/>
                <a:gridCol w="495300"/>
                <a:gridCol w="704850"/>
                <a:gridCol w="1295400"/>
                <a:gridCol w="1104900"/>
                <a:gridCol w="476250"/>
                <a:gridCol w="571500"/>
                <a:gridCol w="1428750"/>
                <a:gridCol w="952500"/>
                <a:gridCol w="1200150"/>
                <a:gridCol w="2190750"/>
              </a:tblGrid>
              <a:tr h="228600">
                <a:tc gridSpan="11"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Medium Class Crane</a:t>
                      </a:r>
                    </a:p>
                  </a:txBody>
                  <a:tcPr anchor="ctr" marL="38100" marR="38100" marT="9525" marB="9525">
                    <a:solidFill>
                      <a:srgbClr val="11181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47650">
                <a:tc rowSpan="2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TM Class</a:t>
                      </a:r>
                    </a:p>
                  </a:txBody>
                  <a:tcPr anchor="ctr" marL="38100" marR="38100" marT="9525" marB="9525">
                    <a:solidFill>
                      <a:srgbClr val="F0F2F4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Market Size</a:t>
                      </a:r>
                    </a:p>
                  </a:txBody>
                  <a:tcPr anchor="ctr" marL="38100" marR="38100" marT="9525" marB="9525"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5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Top 1 Competitor (by value)</a:t>
                      </a:r>
                    </a:p>
                  </a:txBody>
                  <a:tcPr anchor="ctr" marL="38100" marR="38100" marT="9525" marB="9525"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</a:p>
                  </a:txBody>
                  <a:tcPr anchor="ctr" marL="38100" marR="38100" marT="9525" marB="9525"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4765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Qty</a:t>
                      </a:r>
                    </a:p>
                  </a:txBody>
                  <a:tcPr anchor="ctr" marL="38100" marR="38100" marT="9525" marB="9525"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% of Medium</a:t>
                      </a:r>
                    </a:p>
                  </a:txBody>
                  <a:tcPr anchor="ctr" marL="38100" marR="38100" marT="9525" marB="9525"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</a:p>
                  </a:txBody>
                  <a:tcPr anchor="ctr" marL="38100" marR="38100" marT="9525" marB="9525"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</a:p>
                  </a:txBody>
                  <a:tcPr anchor="ctr" marL="38100" marR="38100" marT="9525" marB="9525"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Qty</a:t>
                      </a:r>
                    </a:p>
                  </a:txBody>
                  <a:tcPr anchor="ctr" marL="38100" marR="38100" marT="9525" marB="9525"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Value share</a:t>
                      </a:r>
                    </a:p>
                  </a:txBody>
                  <a:tcPr anchor="ctr" marL="38100" marR="38100" marT="9525" marB="9525"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</a:p>
                  </a:txBody>
                  <a:tcPr anchor="ctr" marL="38100" marR="38100" marT="9525" marB="9525"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</a:p>
                  </a:txBody>
                  <a:tcPr anchor="ctr" marL="38100" marR="38100" marT="9525" marB="9525"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</a:p>
                  </a:txBody>
                  <a:tcPr anchor="ctr" marL="38100" marR="38100" marT="9525" marB="9525"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</a:p>
                  </a:txBody>
                  <a:tcPr anchor="ctr" marL="38100" marR="38100" marT="9525" marB="9525">
                    <a:solidFill>
                      <a:srgbClr val="F0F2F4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81C"/>
                          </a:solidFill>
                          <a:latin typeface="Arial"/>
                        </a:rPr>
                        <a:t>25 – 30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19%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81C"/>
                          </a:solidFill>
                          <a:latin typeface="Arial"/>
                        </a:rPr>
                        <a:t>Amco Veba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V825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67%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Rp 650.000.000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</a:p>
                  </a:txBody>
                  <a:tcPr anchor="ctr" marL="38100" marR="38100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268 A4</a:t>
                      </a:r>
                    </a:p>
                  </a:txBody>
                  <a:tcPr anchor="ctr" marL="38100" marR="38100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Rp 500.000.000  (−23%)</a:t>
                      </a:r>
                    </a:p>
                  </a:txBody>
                  <a:tcPr anchor="ctr" marL="38100" marR="38100" marT="9525" marB="9525">
                    <a:solidFill>
                      <a:srgbClr val="E1F9EC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81C"/>
                          </a:solidFill>
                          <a:latin typeface="Arial"/>
                        </a:rPr>
                        <a:t>30 – 35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34%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81C"/>
                          </a:solidFill>
                          <a:latin typeface="Arial"/>
                        </a:rPr>
                        <a:t>HIAB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X-CLX 388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37%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Rp 1.460.000.000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</a:p>
                  </a:txBody>
                  <a:tcPr anchor="ctr" marL="38100" marR="38100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FBR350R A4</a:t>
                      </a:r>
                    </a:p>
                  </a:txBody>
                  <a:tcPr anchor="ctr" marL="38100" marR="38100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Rp 1.090.000.000  (−25%)</a:t>
                      </a:r>
                    </a:p>
                  </a:txBody>
                  <a:tcPr anchor="ctr" marL="38100" marR="38100" marT="9525" marB="9525">
                    <a:solidFill>
                      <a:srgbClr val="E1F9EC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81C"/>
                          </a:solidFill>
                          <a:latin typeface="Arial"/>
                        </a:rPr>
                        <a:t>35 – 40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34%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81C"/>
                          </a:solidFill>
                          <a:latin typeface="Arial"/>
                        </a:rPr>
                        <a:t>Palfinger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PK 41002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53%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Rp 1.440.000.000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</a:p>
                  </a:txBody>
                  <a:tcPr anchor="ctr" marL="38100" marR="38100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7441C*</a:t>
                      </a:r>
                    </a:p>
                  </a:txBody>
                  <a:tcPr anchor="ctr" marL="38100" marR="38100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Rp 1.240.000.000  (−14%)</a:t>
                      </a:r>
                    </a:p>
                  </a:txBody>
                  <a:tcPr anchor="ctr" marL="38100" marR="38100" marT="9525" marB="9525">
                    <a:solidFill>
                      <a:srgbClr val="E1F9EC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81C"/>
                          </a:solidFill>
                          <a:latin typeface="Arial"/>
                        </a:rPr>
                        <a:t>40 – 45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12%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81C"/>
                          </a:solidFill>
                          <a:latin typeface="Arial"/>
                        </a:rPr>
                        <a:t>Sany Palfinger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SPK42502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Rp 960.000.000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</a:p>
                  </a:txBody>
                  <a:tcPr anchor="ctr" marL="38100" marR="38100" marT="9525" marB="9525">
                    <a:solidFill>
                      <a:srgbClr val="FEEB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746 A4</a:t>
                      </a:r>
                    </a:p>
                  </a:txBody>
                  <a:tcPr anchor="ctr" marL="38100" marR="38100" marT="9525" marB="9525">
                    <a:solidFill>
                      <a:srgbClr val="FEEB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Rp 1.420.000.000  (+48%)</a:t>
                      </a:r>
                    </a:p>
                  </a:txBody>
                  <a:tcPr anchor="ctr" marL="38100" marR="38100" marT="9525" marB="9525">
                    <a:solidFill>
                      <a:srgbClr val="FEEBEC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533400" y="6115050"/>
            <a:ext cx="111252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697177"/>
                </a:solidFill>
                <a:latin typeface="Arial"/>
              </a:rPr>
              <a:t>Period Jan 2023 – 14 Aug 2026; source Crane Market GVW Pairing v11 (Noir). Tier by original max lifting moment; model variants merged (e.g. SPK32080 = SPK32080, B, C). % of Medium = tier import value / Medium import value. Top 1 = model with the highest import value in the tier; Share = model value / tier value. Competitor price = highest import unit price × Rp 17.803/USD (JISDOR 23 Sep 2026) × (1 + duty: 0% China ACFTA, 5% Europe) × (1 + PPN 11% + PPh 22 2.5%), before distributor margin. Ferrari = TSP price list Rev1 Jun 2026 less 13.6% TSP margin and 3% warranty; *7441C estimate; 990R less Rp 168 Jt cargo deck and install; 9601CR A8 = UTPE quote 15 Sep 2026, crane only. Fill: green = Ferrari cheaper, yellow = up to +30%, red = over +30%.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33400" y="6553200"/>
            <a:ext cx="11125200" cy="0"/>
          </a:xfrm>
          <a:prstGeom prst="line">
            <a:avLst/>
          </a:prstGeom>
          <a:ln w="12700">
            <a:solidFill>
              <a:srgbClr val="E6E8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33400" y="6610350"/>
            <a:ext cx="5715000" cy="114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15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77500" y="6610350"/>
            <a:ext cx="1181100" cy="114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1" i="0">
                <a:solidFill>
                  <a:srgbClr val="889096"/>
                </a:solidFill>
                <a:latin typeface="Arial"/>
              </a:rPr>
              <a:t>12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riat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171450"/>
            <a:ext cx="404960" cy="228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67500" y="209550"/>
            <a:ext cx="49911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00">
                <a:solidFill>
                  <a:srgbClr val="697177"/>
                </a:solidFill>
                <a:latin typeface="Arial"/>
              </a:rPr>
              <a:t>NEDP 6-MONTH REVIEW  ·  STP · HEAVY CLASS &gt; 45 TM · 2 / 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476250"/>
            <a:ext cx="11125200" cy="0"/>
          </a:xfrm>
          <a:prstGeom prst="line">
            <a:avLst/>
          </a:prstGeom>
          <a:ln w="12700">
            <a:solidFill>
              <a:srgbClr val="E6E8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33400" y="666750"/>
            <a:ext cx="857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200">
                <a:solidFill>
                  <a:srgbClr val="697177"/>
                </a:solidFill>
                <a:latin typeface="Arial"/>
              </a:rPr>
              <a:t>STP · HEAVY CLASS &gt; 45 TM · 2 /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933450"/>
            <a:ext cx="111442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 i="0">
                <a:solidFill>
                  <a:srgbClr val="11181C"/>
                </a:solidFill>
                <a:latin typeface="Georgia"/>
              </a:rPr>
              <a:t>Heavy: win 45–50 tm with </a:t>
            </a:r>
            <a:r>
              <a:rPr sz="2400" b="1" i="1">
                <a:solidFill>
                  <a:srgbClr val="076932"/>
                </a:solidFill>
                <a:latin typeface="Georgia"/>
              </a:rPr>
              <a:t>FERRARI</a:t>
            </a:r>
            <a:r>
              <a:rPr sz="2400" b="0" i="0">
                <a:solidFill>
                  <a:srgbClr val="11181C"/>
                </a:solidFill>
                <a:latin typeface="Georgia"/>
              </a:rPr>
              <a:t>; PK 53002 holds 50–55 tm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3400" y="1524000"/>
            <a:ext cx="3619500" cy="102870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6750" y="1638300"/>
            <a:ext cx="33528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 spc="150">
                <a:solidFill>
                  <a:srgbClr val="076932"/>
                </a:solidFill>
                <a:latin typeface="Arial"/>
              </a:rPr>
              <a:t>SEGMENTATION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1771650"/>
            <a:ext cx="3352800" cy="742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1181C"/>
                </a:solidFill>
                <a:latin typeface="Arial"/>
              </a:rPr>
              <a:t>Heavy class split into 6 tm tiers. 45–55 tm holds 87% of Heavy value (59 of 68 units); tiers above 55 tm have 1–4 units each.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5300" y="1524000"/>
            <a:ext cx="3619500" cy="102870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8650" y="1638300"/>
            <a:ext cx="33528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 spc="150">
                <a:solidFill>
                  <a:srgbClr val="076932"/>
                </a:solidFill>
                <a:latin typeface="Arial"/>
              </a:rPr>
              <a:t>TARGETING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8650" y="1771650"/>
            <a:ext cx="3352800" cy="742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1181C"/>
                </a:solidFill>
                <a:latin typeface="Arial"/>
              </a:rPr>
              <a:t>Top 1 model by value: Amco Veba V950 at 45–50 tm (77% of tier value) and Palfinger PK 53002 at 50–55 tm (95%).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77200" y="1524000"/>
            <a:ext cx="3619500" cy="1028700"/>
          </a:xfrm>
          <a:prstGeom prst="roundRect">
            <a:avLst>
              <a:gd name="adj" fmla="val 8000"/>
            </a:avLst>
          </a:prstGeom>
          <a:solidFill>
            <a:srgbClr val="E1F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0550" y="1638300"/>
            <a:ext cx="33528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 spc="150">
                <a:solidFill>
                  <a:srgbClr val="076932"/>
                </a:solidFill>
                <a:latin typeface="Arial"/>
              </a:rPr>
              <a:t>POSITIONING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0550" y="1771650"/>
            <a:ext cx="3352800" cy="742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1181C"/>
                </a:solidFill>
                <a:latin typeface="Arial"/>
              </a:rPr>
              <a:t>FBR450R A4 is 32% cheaper than V950 (26% of Heavy value). 9601CR A8 is 85% above PK 53002 at 50–55 tm (60%); no Ferrari model above 74 tm.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33400" y="2686050"/>
          <a:ext cx="11125200" cy="31813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4850"/>
                <a:gridCol w="495300"/>
                <a:gridCol w="704850"/>
                <a:gridCol w="1295400"/>
                <a:gridCol w="1104900"/>
                <a:gridCol w="476250"/>
                <a:gridCol w="571500"/>
                <a:gridCol w="1428750"/>
                <a:gridCol w="952500"/>
                <a:gridCol w="1200150"/>
                <a:gridCol w="2190750"/>
              </a:tblGrid>
              <a:tr h="228600">
                <a:tc gridSpan="11"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Heavy Class Crane</a:t>
                      </a:r>
                    </a:p>
                  </a:txBody>
                  <a:tcPr anchor="ctr" marL="38100" marR="38100" marT="9525" marB="9525">
                    <a:solidFill>
                      <a:srgbClr val="11181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47650">
                <a:tc rowSpan="2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TM Class</a:t>
                      </a:r>
                    </a:p>
                  </a:txBody>
                  <a:tcPr anchor="ctr" marL="38100" marR="38100" marT="9525" marB="9525">
                    <a:solidFill>
                      <a:srgbClr val="F0F2F4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Market Size</a:t>
                      </a:r>
                    </a:p>
                  </a:txBody>
                  <a:tcPr anchor="ctr" marL="38100" marR="38100" marT="9525" marB="9525"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5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Top 1 Competitor (by value)</a:t>
                      </a:r>
                    </a:p>
                  </a:txBody>
                  <a:tcPr anchor="ctr" marL="38100" marR="38100" marT="9525" marB="9525"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</a:p>
                  </a:txBody>
                  <a:tcPr anchor="ctr" marL="38100" marR="38100" marT="9525" marB="9525"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4765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Qty</a:t>
                      </a:r>
                    </a:p>
                  </a:txBody>
                  <a:tcPr anchor="ctr" marL="38100" marR="38100" marT="9525" marB="9525"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% of Heavy</a:t>
                      </a:r>
                    </a:p>
                  </a:txBody>
                  <a:tcPr anchor="ctr" marL="38100" marR="38100" marT="9525" marB="9525"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</a:p>
                  </a:txBody>
                  <a:tcPr anchor="ctr" marL="38100" marR="38100" marT="9525" marB="9525"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</a:p>
                  </a:txBody>
                  <a:tcPr anchor="ctr" marL="38100" marR="38100" marT="9525" marB="9525"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Qty</a:t>
                      </a:r>
                    </a:p>
                  </a:txBody>
                  <a:tcPr anchor="ctr" marL="38100" marR="38100" marT="9525" marB="9525"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Value share</a:t>
                      </a:r>
                    </a:p>
                  </a:txBody>
                  <a:tcPr anchor="ctr" marL="38100" marR="38100" marT="9525" marB="9525"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</a:p>
                  </a:txBody>
                  <a:tcPr anchor="ctr" marL="38100" marR="38100" marT="9525" marB="9525"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</a:p>
                  </a:txBody>
                  <a:tcPr anchor="ctr" marL="38100" marR="38100" marT="9525" marB="9525"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</a:p>
                  </a:txBody>
                  <a:tcPr anchor="ctr" marL="38100" marR="38100" marT="9525" marB="9525"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</a:p>
                  </a:txBody>
                  <a:tcPr anchor="ctr" marL="38100" marR="38100" marT="9525" marB="9525">
                    <a:solidFill>
                      <a:srgbClr val="F0F2F4"/>
                    </a:solidFill>
                  </a:tcPr>
                </a:tc>
              </a:tr>
              <a:tr h="409575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81C"/>
                          </a:solidFill>
                          <a:latin typeface="Arial"/>
                        </a:rPr>
                        <a:t>45 – 50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26%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81C"/>
                          </a:solidFill>
                          <a:latin typeface="Arial"/>
                        </a:rPr>
                        <a:t>Amco Veba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V950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77%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Rp 1.990.000.000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</a:p>
                  </a:txBody>
                  <a:tcPr anchor="ctr" marL="38100" marR="38100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FBR450R A4</a:t>
                      </a:r>
                    </a:p>
                  </a:txBody>
                  <a:tcPr anchor="ctr" marL="38100" marR="38100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Rp 1.350.000.000  (−32%)</a:t>
                      </a:r>
                    </a:p>
                  </a:txBody>
                  <a:tcPr anchor="ctr" marL="38100" marR="38100" marT="9525" marB="9525">
                    <a:solidFill>
                      <a:srgbClr val="E1F9EC"/>
                    </a:solidFill>
                  </a:tcPr>
                </a:tc>
              </a:tr>
              <a:tr h="409575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81C"/>
                          </a:solidFill>
                          <a:latin typeface="Arial"/>
                        </a:rPr>
                        <a:t>50 – 55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60%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81C"/>
                          </a:solidFill>
                          <a:latin typeface="Arial"/>
                        </a:rPr>
                        <a:t>Palfinger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PK 53002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95%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Rp 1.760.000.000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</a:p>
                  </a:txBody>
                  <a:tcPr anchor="ctr" marL="38100" marR="38100" marT="9525" marB="9525">
                    <a:solidFill>
                      <a:srgbClr val="FEEB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9601CR A8</a:t>
                      </a:r>
                    </a:p>
                  </a:txBody>
                  <a:tcPr anchor="ctr" marL="38100" marR="38100" marT="9525" marB="9525">
                    <a:solidFill>
                      <a:srgbClr val="FEEB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Rp 3.260.000.000  (+85%)</a:t>
                      </a:r>
                    </a:p>
                  </a:txBody>
                  <a:tcPr anchor="ctr" marL="38100" marR="38100" marT="9525" marB="9525">
                    <a:solidFill>
                      <a:srgbClr val="FEEBEC"/>
                    </a:solidFill>
                  </a:tcPr>
                </a:tc>
              </a:tr>
              <a:tr h="409575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81C"/>
                          </a:solidFill>
                          <a:latin typeface="Arial"/>
                        </a:rPr>
                        <a:t>60 – 65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81C"/>
                          </a:solidFill>
                          <a:latin typeface="Arial"/>
                        </a:rPr>
                        <a:t>Sany Palfinger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SPK61502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57%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Rp 1.400.000.000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</a:p>
                  </a:txBody>
                  <a:tcPr anchor="ctr" marL="38100" marR="38100" marT="9525" marB="9525">
                    <a:solidFill>
                      <a:srgbClr val="FEEB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9661C</a:t>
                      </a:r>
                    </a:p>
                  </a:txBody>
                  <a:tcPr anchor="ctr" marL="38100" marR="38100" marT="9525" marB="9525">
                    <a:solidFill>
                      <a:srgbClr val="FEEB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Rp 3.970.000.000  (+184%)</a:t>
                      </a:r>
                    </a:p>
                  </a:txBody>
                  <a:tcPr anchor="ctr" marL="38100" marR="38100" marT="9525" marB="9525">
                    <a:solidFill>
                      <a:srgbClr val="FEEBEC"/>
                    </a:solidFill>
                  </a:tcPr>
                </a:tc>
              </a:tr>
              <a:tr h="409575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81C"/>
                          </a:solidFill>
                          <a:latin typeface="Arial"/>
                        </a:rPr>
                        <a:t>70 – 75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81C"/>
                          </a:solidFill>
                          <a:latin typeface="Arial"/>
                        </a:rPr>
                        <a:t>Palfinger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PK 76002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Rp 2.290.000.000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</a:p>
                  </a:txBody>
                  <a:tcPr anchor="ctr" marL="38100" marR="38100" marT="9525" marB="9525">
                    <a:solidFill>
                      <a:srgbClr val="FEEB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990R</a:t>
                      </a:r>
                    </a:p>
                  </a:txBody>
                  <a:tcPr anchor="ctr" marL="38100" marR="38100" marT="9525" marB="9525">
                    <a:solidFill>
                      <a:srgbClr val="FEEB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Rp 4.110.000.000  (+79%)</a:t>
                      </a:r>
                    </a:p>
                  </a:txBody>
                  <a:tcPr anchor="ctr" marL="38100" marR="38100" marT="9525" marB="9525">
                    <a:solidFill>
                      <a:srgbClr val="FEEBEC"/>
                    </a:solidFill>
                  </a:tcPr>
                </a:tc>
              </a:tr>
              <a:tr h="409575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81C"/>
                          </a:solidFill>
                          <a:latin typeface="Arial"/>
                        </a:rPr>
                        <a:t>80 – 85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81C"/>
                          </a:solidFill>
                          <a:latin typeface="Arial"/>
                        </a:rPr>
                        <a:t>Palfinger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PK 88002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Rp 2.220.000.000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81C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 marL="38100" marR="38100" marT="9525" marB="9525"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 marL="38100" marR="38100" marT="9525" marB="9525"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No Ferrari model</a:t>
                      </a:r>
                    </a:p>
                  </a:txBody>
                  <a:tcPr anchor="ctr" marL="38100" marR="38100" marT="9525" marB="9525">
                    <a:solidFill>
                      <a:srgbClr val="F0F2F4"/>
                    </a:solidFill>
                  </a:tcPr>
                </a:tc>
              </a:tr>
              <a:tr h="409575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81C"/>
                          </a:solidFill>
                          <a:latin typeface="Arial"/>
                        </a:rPr>
                        <a:t>85 – 90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GSQZ880.6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50%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Rp 1.320.000.000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81C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 marL="38100" marR="38100" marT="9525" marB="9525"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 marL="38100" marR="38100" marT="9525" marB="9525"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1C"/>
                          </a:solidFill>
                          <a:latin typeface="Arial"/>
                        </a:rPr>
                        <a:t>No Ferrari model</a:t>
                      </a:r>
                    </a:p>
                  </a:txBody>
                  <a:tcPr anchor="ctr" marL="38100" marR="38100" marT="9525" marB="9525">
                    <a:solidFill>
                      <a:srgbClr val="F0F2F4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533400" y="6115050"/>
            <a:ext cx="111252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697177"/>
                </a:solidFill>
                <a:latin typeface="Arial"/>
              </a:rPr>
              <a:t>Period Jan 2023 – 14 Aug 2026; source Crane Market GVW Pairing v11 (Noir). Tier by original max lifting moment; model variants merged (e.g. SPK32080 = SPK32080, B, C). % of Heavy = tier import value / Heavy import value. Top 1 = model with the highest import value in the tier; Share = model value / tier value. Competitor price = highest import unit price × Rp 17.803/USD (JISDOR 23 Sep 2026) × (1 + duty: 0% China ACFTA, 5% Europe) × (1 + PPN 11% + PPh 22 2.5%), before distributor margin. Ferrari = TSP price list Rev1 Jun 2026 less 13.6% TSP margin and 3% warranty; *7441C estimate; 990R less Rp 168 Jt cargo deck and install; 9601CR A8 = UTPE quote 15 Sep 2026, crane only. Fill: green = Ferrari cheaper, yellow = up to +30%, red = over +30%.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33400" y="6553200"/>
            <a:ext cx="11125200" cy="0"/>
          </a:xfrm>
          <a:prstGeom prst="line">
            <a:avLst/>
          </a:prstGeom>
          <a:ln w="12700">
            <a:solidFill>
              <a:srgbClr val="E6E8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33400" y="6610350"/>
            <a:ext cx="5715000" cy="114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15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77500" y="6610350"/>
            <a:ext cx="1181100" cy="114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1" i="0">
                <a:solidFill>
                  <a:srgbClr val="889096"/>
                </a:solidFill>
                <a:latin typeface="Arial"/>
              </a:rPr>
              <a:t>13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