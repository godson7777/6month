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ia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1450"/>
            <a:ext cx="40496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0" y="209550"/>
            <a:ext cx="49911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697177"/>
                </a:solidFill>
                <a:latin typeface="Arial"/>
              </a:rPr>
              <a:t>NEDP 6-MONTH REVIEW  ·  STP · MEDIUM CLASS 25–45 TM · 1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476250"/>
            <a:ext cx="11125200" cy="0"/>
          </a:xfrm>
          <a:prstGeom prst="line">
            <a:avLst/>
          </a:prstGeom>
          <a:ln w="12700">
            <a:solidFill>
              <a:srgbClr val="E6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3400" y="666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200">
                <a:solidFill>
                  <a:srgbClr val="697177"/>
                </a:solidFill>
                <a:latin typeface="Arial"/>
              </a:rPr>
              <a:t>STP · MEDIUM CLASS 25–45 TM ·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933450"/>
            <a:ext cx="11144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1181C"/>
                </a:solidFill>
                <a:latin typeface="Georgia"/>
              </a:rPr>
              <a:t>Medium: target the value leaders with </a:t>
            </a:r>
            <a:r>
              <a:rPr sz="2400" b="1" i="1">
                <a:solidFill>
                  <a:srgbClr val="076932"/>
                </a:solidFill>
                <a:latin typeface="Georgia"/>
              </a:rPr>
              <a:t>FERRARI</a:t>
            </a:r>
            <a:r>
              <a:rPr sz="2400" b="0" i="0">
                <a:solidFill>
                  <a:srgbClr val="11181C"/>
                </a:solidFill>
                <a:latin typeface="Georgia"/>
              </a:rPr>
              <a:t> at 25–40 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Medium class split into 4 tm tiers. 30–40 tm holds 68% of Medium value (143 of 218 units).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53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86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TARGETING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86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Top 1 model by value in each tier: Amco Veba V825 (25–30); HIAB X-CLX 388 (30–35); Palfinger PK 41002 (35–40); Sany Palfinger SPK42502 (40–45).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05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5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Ferrari is 14%–25% cheaper than the value leader at 25–40 tm (86% of Medium value). At 40–45 tm, 746 A4 is 48% above SPK42502.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3400" y="2686050"/>
          <a:ext cx="11125200" cy="316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/>
                <a:gridCol w="495300"/>
                <a:gridCol w="704850"/>
                <a:gridCol w="1295400"/>
                <a:gridCol w="1104900"/>
                <a:gridCol w="476250"/>
                <a:gridCol w="571500"/>
                <a:gridCol w="1428750"/>
                <a:gridCol w="952500"/>
                <a:gridCol w="1200150"/>
                <a:gridCol w="2190750"/>
              </a:tblGrid>
              <a:tr h="228600">
                <a:tc gridSpan="1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Medium Class Crane</a:t>
                      </a:r>
                    </a:p>
                  </a:txBody>
                  <a:tcPr anchor="ctr" marL="38100" marR="38100" marT="9525" marB="9525"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Market Size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Top 1 Competitor (by value)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% of Medium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Value share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25 – 30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Amco Veba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V825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650.000.000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268 A4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500.000.000  (−23%)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30 – 35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HIAB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X-CLX 388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1.460.000.000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FBR350R A4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1.090.000.000  (−25%)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35 – 40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PK 41002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1.440.000.000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7441C*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1.240.000.000  (−14%)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40 – 45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Sany 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SPK42502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960.000.000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746 A4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1.420.000.000  (+48%)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3400" y="611505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697177"/>
                </a:solidFill>
                <a:latin typeface="Arial"/>
              </a:rPr>
              <a:t>Period Jan 2023 – 14 Aug 2026; source Crane Market GVW Pairing v11 (Noir). Tier by original max lifting moment; model variants merged (e.g. SPK32080 = SPK32080, B, C). % of Medium = tier import value / Medium import value. Top 1 = model with the highest import value in the tier; Share = model value / tier value. Competitor price = highest import unit price × Rp 17.803/USD (JISDOR 23 Sep 2026) × (1 + duty: 0% China ACFTA, 5% Europe) × (1 + PPN 11% + PPh 22 2.5%), before distributor margin. Ferrari = TSP price list Rev1 Jun 2026 less 13.6% TSP margin and 3% warranty; *7441C estimate; 990R less Rp 168 Jt cargo deck and install; 9601CR A8 = UTPE quote 15 Sep 2026, crane only. Fill: green = Ferrari cheaper, yellow = up to +30%, red = over +30%.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3400" y="6553200"/>
            <a:ext cx="11125200" cy="0"/>
          </a:xfrm>
          <a:prstGeom prst="line">
            <a:avLst/>
          </a:prstGeom>
          <a:ln w="12700">
            <a:solidFill>
              <a:srgbClr val="E6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" y="6610350"/>
            <a:ext cx="571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5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610350"/>
            <a:ext cx="11811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1" i="0">
                <a:solidFill>
                  <a:srgbClr val="889096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ia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1450"/>
            <a:ext cx="40496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0" y="209550"/>
            <a:ext cx="49911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697177"/>
                </a:solidFill>
                <a:latin typeface="Arial"/>
              </a:rPr>
              <a:t>NEDP 6-MONTH REVIEW  ·  STP · HEAVY CLASS &gt; 45 TM · 2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476250"/>
            <a:ext cx="11125200" cy="0"/>
          </a:xfrm>
          <a:prstGeom prst="line">
            <a:avLst/>
          </a:prstGeom>
          <a:ln w="12700">
            <a:solidFill>
              <a:srgbClr val="E6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3400" y="666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200">
                <a:solidFill>
                  <a:srgbClr val="697177"/>
                </a:solidFill>
                <a:latin typeface="Arial"/>
              </a:rPr>
              <a:t>STP · HEAVY CLASS &gt; 45 TM · 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933450"/>
            <a:ext cx="11144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1181C"/>
                </a:solidFill>
                <a:latin typeface="Georgia"/>
              </a:rPr>
              <a:t>Heavy: win 45–50 tm with </a:t>
            </a:r>
            <a:r>
              <a:rPr sz="2400" b="1" i="1">
                <a:solidFill>
                  <a:srgbClr val="076932"/>
                </a:solidFill>
                <a:latin typeface="Georgia"/>
              </a:rPr>
              <a:t>FERRARI</a:t>
            </a:r>
            <a:r>
              <a:rPr sz="2400" b="0" i="0">
                <a:solidFill>
                  <a:srgbClr val="11181C"/>
                </a:solidFill>
                <a:latin typeface="Georgia"/>
              </a:rPr>
              <a:t>; PK 53002 holds 50–55 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Heavy class split into 7 tm tiers. 45–55 tm holds 83% of Heavy value (63 of 75 units); tiers above 55 tm have 1–4 units each.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53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86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TARGETING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86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Top 1 model by value: Amco Veba V950 at 45–50 tm (66% of tier value) and Palfinger PK 53002 at 50–55 tm (95%).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05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5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FBR450R A4 is 32% cheaper than V950 (28% of Heavy value). 9601CR A8 is 85% above PK 53002 at 50–55 tm (55%); no Ferrari model above 74 tm.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3400" y="2686050"/>
          <a:ext cx="11125200" cy="319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/>
                <a:gridCol w="495300"/>
                <a:gridCol w="704850"/>
                <a:gridCol w="1295400"/>
                <a:gridCol w="1104900"/>
                <a:gridCol w="476250"/>
                <a:gridCol w="571500"/>
                <a:gridCol w="1428750"/>
                <a:gridCol w="952500"/>
                <a:gridCol w="1200150"/>
                <a:gridCol w="2190750"/>
              </a:tblGrid>
              <a:tr h="228600">
                <a:tc gridSpan="1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Heavy Class Crane</a:t>
                      </a:r>
                    </a:p>
                  </a:txBody>
                  <a:tcPr anchor="ctr" marL="38100" marR="38100" marT="9525" marB="9525"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Market Size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Top 1 Competitor (by value)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% of Heavy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Value share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45 – 50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Amco Veba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V950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1.990.000.000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FBR450R A4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1.350.000.000  (−32%)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50 – 55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PK 53002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1.760.000.000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9601CR A8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3.260.000.000  (+85%)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55 – 60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Hyva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HB660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1.980.000.000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FBR660R A4</a:t>
                      </a:r>
                    </a:p>
                  </a:txBody>
                  <a:tcPr anchor="ctr" marL="38100" marR="38100" marT="9525" marB="9525"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2.030.000.000  (+3%)</a:t>
                      </a:r>
                    </a:p>
                  </a:txBody>
                  <a:tcPr anchor="ctr" marL="38100" marR="38100" marT="9525" marB="9525">
                    <a:solidFill>
                      <a:srgbClr val="FFF7C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60 – 65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Sany 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SPK61502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1.400.000.000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9661C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Price not yet known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70 – 75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PK 76002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2.290.000.000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990R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4.110.000.000  (+79%)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80 – 85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PK 88002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2.220.000.000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No Ferrari model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85 – 90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GSQZ880.6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1.320.000.000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No Ferrari model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3400" y="611505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697177"/>
                </a:solidFill>
                <a:latin typeface="Arial"/>
              </a:rPr>
              <a:t>Period Jan 2023 – 14 Aug 2026; source Crane Market GVW Pairing v11 (Noir). Tier by original max lifting moment; model variants merged (e.g. SPK32080 = SPK32080, B, C). % of Heavy = tier import value / Heavy import value. Top 1 = model with the highest import value in the tier; Share = model value / tier value. Competitor price = highest import unit price × Rp 17.803/USD (JISDOR 23 Sep 2026) × (1 + duty: 0% China ACFTA, 5% Europe) × (1 + PPN 11% + PPh 22 2.5%), before distributor margin. Ferrari = TSP price list Rev1 Jun 2026 less 13.6% TSP margin and 3% warranty; *7441C estimate; 990R less Rp 168 Jt cargo deck and install; 9601CR A8 = UTPE quote 15 Sep 2026, crane only. Fill: green = Ferrari cheaper, yellow = up to +30%, red = over +30%.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3400" y="6553200"/>
            <a:ext cx="11125200" cy="0"/>
          </a:xfrm>
          <a:prstGeom prst="line">
            <a:avLst/>
          </a:prstGeom>
          <a:ln w="12700">
            <a:solidFill>
              <a:srgbClr val="E6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" y="6610350"/>
            <a:ext cx="571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5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610350"/>
            <a:ext cx="11811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1" i="0">
                <a:solidFill>
                  <a:srgbClr val="889096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