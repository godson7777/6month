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Medium + Heavy</c:v>
                </c:pt>
              </c:strCache>
            </c:strRef>
          </c:tx>
          <c:spPr>
            <a:solidFill>
              <a:srgbClr val="22C96A"/>
            </a:solidFill>
          </c:spPr>
          <c:cat>
            <c:strRef>
              <c:f>Sheet1!$A$2:$A$5</c:f>
              <c:strCache>
                <c:ptCount val="4"/>
                <c:pt idx="0">
                  <c:v>2023</c:v>
                </c:pt>
                <c:pt idx="1">
                  <c:v>2024</c:v>
                </c:pt>
                <c:pt idx="2">
                  <c:v>2025</c:v>
                </c:pt>
                <c:pt idx="3">
                  <c:v>2026*</c:v>
                </c:pt>
              </c:strCache>
            </c:strRef>
          </c:cat>
          <c:val>
            <c:numRef>
              <c:f>Sheet1!$B$2:$B$5</c:f>
              <c:numCache>
                <c:formatCode>General</c:formatCode>
                <c:ptCount val="4"/>
                <c:pt idx="0">
                  <c:v>90</c:v>
                </c:pt>
                <c:pt idx="1">
                  <c:v>77</c:v>
                </c:pt>
                <c:pt idx="2">
                  <c:v>89</c:v>
                </c:pt>
                <c:pt idx="3">
                  <c:v>21</c:v>
                </c:pt>
              </c:numCache>
            </c:numRef>
          </c:val>
        </c:ser>
        <c:ser>
          <c:idx val="1"/>
          <c:order val="1"/>
          <c:tx>
            <c:strRef>
              <c:f>Sheet1!$C$1</c:f>
              <c:strCache>
                <c:ptCount val="1"/>
                <c:pt idx="0">
                  <c:v>Light + Small</c:v>
                </c:pt>
              </c:strCache>
            </c:strRef>
          </c:tx>
          <c:spPr>
            <a:solidFill>
              <a:srgbClr val="C1C8CD"/>
            </a:solidFill>
          </c:spPr>
          <c:cat>
            <c:strRef>
              <c:f>Sheet1!$A$2:$A$5</c:f>
              <c:strCache>
                <c:ptCount val="4"/>
                <c:pt idx="0">
                  <c:v>2023</c:v>
                </c:pt>
                <c:pt idx="1">
                  <c:v>2024</c:v>
                </c:pt>
                <c:pt idx="2">
                  <c:v>2025</c:v>
                </c:pt>
                <c:pt idx="3">
                  <c:v>2026*</c:v>
                </c:pt>
              </c:strCache>
            </c:strRef>
          </c:cat>
          <c:val>
            <c:numRef>
              <c:f>Sheet1!$C$2:$C$5</c:f>
              <c:numCache>
                <c:formatCode>General</c:formatCode>
                <c:ptCount val="4"/>
                <c:pt idx="0">
                  <c:v>103</c:v>
                </c:pt>
                <c:pt idx="1">
                  <c:v>73</c:v>
                </c:pt>
                <c:pt idx="2">
                  <c:v>72</c:v>
                </c:pt>
                <c:pt idx="3">
                  <c:v>57</c:v>
                </c:pt>
              </c:numCache>
            </c:numRef>
          </c:val>
        </c:ser>
        <c:dLbls>
          <c:txPr>
            <a:bodyPr/>
            <a:lstStyle/>
            <a:p>
              <a:pPr>
                <a:defRPr sz="900">
                  <a:solidFill>
                    <a:srgbClr val="11181C"/>
                  </a:solidFill>
                  <a:latin typeface="Georgia"/>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out"/>
        <c:minorTickMark val="none"/>
        <c:tickLblPos val="nextTo"/>
        <c:spPr>
          <a:ln>
            <a:solidFill>
              <a:srgbClr val="E0E3E6"/>
            </a:solidFill>
          </a:ln>
        </c:spPr>
        <c:txPr>
          <a:bodyPr/>
          <a:lstStyle/>
          <a:p>
            <a:pPr>
              <a:defRPr sz="900">
                <a:solidFill>
                  <a:srgbClr val="697177"/>
                </a:solidFill>
                <a:latin typeface="Aria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850">
              <a:solidFill>
                <a:srgbClr val="4D555C"/>
              </a:solidFill>
              <a:latin typeface="Arial"/>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 Id="rId7"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jpg"/><Relationship Id="rId4" Type="http://schemas.openxmlformats.org/officeDocument/2006/relationships/image" Target="../media/image3.jpg"/><Relationship Id="rId5" Type="http://schemas.openxmlformats.org/officeDocument/2006/relationships/image" Target="../media/image10.jpg"/><Relationship Id="rId6"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1181C"/>
              </a:gs>
              <a:gs pos="100000">
                <a:srgbClr val="23343C"/>
              </a:gs>
            </a:gsLst>
            <a:lin scaled="0" ang="18900000"/>
          </a:gra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381000"/>
            <a:ext cx="609378" cy="279400"/>
          </a:xfrm>
          <a:prstGeom prst="rect">
            <a:avLst/>
          </a:prstGeom>
        </p:spPr>
      </p:pic>
      <p:sp>
        <p:nvSpPr>
          <p:cNvPr id="4" name="TextBox 3"/>
          <p:cNvSpPr txBox="1"/>
          <p:nvPr/>
        </p:nvSpPr>
        <p:spPr>
          <a:xfrm>
            <a:off x="7112000" y="457200"/>
            <a:ext cx="4470400" cy="152400"/>
          </a:xfrm>
          <a:prstGeom prst="rect">
            <a:avLst/>
          </a:prstGeom>
          <a:noFill/>
        </p:spPr>
        <p:txBody>
          <a:bodyPr wrap="square" lIns="0" rIns="0" tIns="0" bIns="0" anchor="t">
            <a:spAutoFit/>
          </a:bodyPr>
          <a:lstStyle/>
          <a:p>
            <a:pPr algn="r"/>
            <a:r>
              <a:rPr sz="700" b="1" i="0" spc="60">
                <a:solidFill>
                  <a:srgbClr val="FCFCFD"/>
                </a:solidFill>
                <a:latin typeface="Arial"/>
              </a:rPr>
              <a:t>DESIGN GUIDANCE</a:t>
            </a:r>
            <a:r>
              <a:rPr sz="700" b="1" i="0" spc="60">
                <a:solidFill>
                  <a:srgbClr val="697177"/>
                </a:solidFill>
                <a:latin typeface="Arial"/>
              </a:rPr>
              <a:t>     ·     </a:t>
            </a:r>
            <a:r>
              <a:rPr sz="700" b="1" i="0" spc="60">
                <a:solidFill>
                  <a:srgbClr val="889096"/>
                </a:solidFill>
                <a:latin typeface="Arial"/>
              </a:rPr>
              <a:t>V1 · 13 OCT 2026</a:t>
            </a:r>
          </a:p>
        </p:txBody>
      </p:sp>
      <p:sp>
        <p:nvSpPr>
          <p:cNvPr id="5" name="TextBox 4"/>
          <p:cNvSpPr txBox="1"/>
          <p:nvPr/>
        </p:nvSpPr>
        <p:spPr>
          <a:xfrm>
            <a:off x="609600" y="2159000"/>
            <a:ext cx="6350000" cy="152400"/>
          </a:xfrm>
          <a:prstGeom prst="rect">
            <a:avLst/>
          </a:prstGeom>
          <a:noFill/>
        </p:spPr>
        <p:txBody>
          <a:bodyPr wrap="square" lIns="0" rIns="0" tIns="0" bIns="0" anchor="t">
            <a:spAutoFit/>
          </a:bodyPr>
          <a:lstStyle/>
          <a:p>
            <a:pPr algn="l"/>
            <a:r>
              <a:rPr sz="850" b="1" i="0" spc="150">
                <a:solidFill>
                  <a:srgbClr val="83E7AE"/>
                </a:solidFill>
                <a:latin typeface="Arial"/>
              </a:rPr>
              <a:t>NEDP 6-MONTH REVIEW · SLIDE STANDARD</a:t>
            </a:r>
          </a:p>
        </p:txBody>
      </p:sp>
      <p:sp>
        <p:nvSpPr>
          <p:cNvPr id="6" name="TextBox 5"/>
          <p:cNvSpPr txBox="1"/>
          <p:nvPr/>
        </p:nvSpPr>
        <p:spPr>
          <a:xfrm>
            <a:off x="609600" y="2413000"/>
            <a:ext cx="8128000" cy="1397000"/>
          </a:xfrm>
          <a:prstGeom prst="rect">
            <a:avLst/>
          </a:prstGeom>
          <a:noFill/>
        </p:spPr>
        <p:txBody>
          <a:bodyPr wrap="square" lIns="0" rIns="0" tIns="0" bIns="0" anchor="t">
            <a:spAutoFit/>
          </a:bodyPr>
          <a:lstStyle/>
          <a:p>
            <a:pPr algn="l">
              <a:lnSpc>
                <a:spcPct val="105000"/>
              </a:lnSpc>
            </a:pPr>
            <a:r>
              <a:rPr sz="3800" b="0" i="0">
                <a:solidFill>
                  <a:srgbClr val="FFFFFF"/>
                </a:solidFill>
                <a:latin typeface="Georgia"/>
              </a:rPr>
              <a:t>A calm, </a:t>
            </a:r>
            <a:r>
              <a:rPr sz="3800" b="0" i="1">
                <a:solidFill>
                  <a:srgbClr val="FFFFFF"/>
                </a:solidFill>
                <a:latin typeface="Georgia"/>
              </a:rPr>
              <a:t>clear</a:t>
            </a:r>
            <a:r>
              <a:rPr sz="3800" b="0" i="0">
                <a:solidFill>
                  <a:srgbClr val="FFFFFF"/>
                </a:solidFill>
                <a:latin typeface="Georgia"/>
              </a:rPr>
              <a:t> standard for the six-month review.</a:t>
            </a:r>
          </a:p>
        </p:txBody>
      </p:sp>
      <p:sp>
        <p:nvSpPr>
          <p:cNvPr id="7" name="TextBox 6"/>
          <p:cNvSpPr txBox="1"/>
          <p:nvPr/>
        </p:nvSpPr>
        <p:spPr>
          <a:xfrm>
            <a:off x="609600" y="3810000"/>
            <a:ext cx="5969000" cy="508000"/>
          </a:xfrm>
          <a:prstGeom prst="rect">
            <a:avLst/>
          </a:prstGeom>
          <a:noFill/>
        </p:spPr>
        <p:txBody>
          <a:bodyPr wrap="square" lIns="0" rIns="0" tIns="0" bIns="0" anchor="t">
            <a:spAutoFit/>
          </a:bodyPr>
          <a:lstStyle/>
          <a:p>
            <a:pPr algn="l">
              <a:lnSpc>
                <a:spcPct val="140000"/>
              </a:lnSpc>
            </a:pPr>
            <a:r>
              <a:rPr sz="1050" b="0" i="0">
                <a:solidFill>
                  <a:srgbClr val="C1C8CD"/>
                </a:solidFill>
                <a:latin typeface="Arial"/>
              </a:rPr>
              <a:t>A design guidance that brings the calm, editorial style of the Bitwise website to every slide of the review deck: serif headlines, quiet neutrals, one confident green.</a:t>
            </a:r>
          </a:p>
        </p:txBody>
      </p:sp>
      <p:sp>
        <p:nvSpPr>
          <p:cNvPr id="8" name="Rounded Rectangle 7"/>
          <p:cNvSpPr/>
          <p:nvPr/>
        </p:nvSpPr>
        <p:spPr>
          <a:xfrm>
            <a:off x="609600" y="4572000"/>
            <a:ext cx="1397000" cy="304800"/>
          </a:xfrm>
          <a:prstGeom prst="roundRect">
            <a:avLst>
              <a:gd name="adj" fmla="val 12500"/>
            </a:avLst>
          </a:prstGeom>
          <a:solidFill>
            <a:srgbClr val="22C96A"/>
          </a:solidFill>
          <a:ln>
            <a:noFill/>
          </a:ln>
          <a:effectLst/>
        </p:spPr>
        <p:txBody>
          <a:bodyPr rtlCol="0" anchor="ctr"/>
          <a:lstStyle/>
          <a:p>
            <a:pPr algn="ctr"/>
          </a:p>
        </p:txBody>
      </p:sp>
      <p:sp>
        <p:nvSpPr>
          <p:cNvPr id="9" name="TextBox 8"/>
          <p:cNvSpPr txBox="1"/>
          <p:nvPr/>
        </p:nvSpPr>
        <p:spPr>
          <a:xfrm>
            <a:off x="609600" y="4572000"/>
            <a:ext cx="1397000" cy="304800"/>
          </a:xfrm>
          <a:prstGeom prst="rect">
            <a:avLst/>
          </a:prstGeom>
          <a:noFill/>
        </p:spPr>
        <p:txBody>
          <a:bodyPr wrap="square" lIns="0" rIns="0" tIns="0" bIns="0" anchor="ctr">
            <a:spAutoFit/>
          </a:bodyPr>
          <a:lstStyle/>
          <a:p>
            <a:pPr algn="ctr"/>
            <a:r>
              <a:rPr sz="750" b="1" i="0" spc="60">
                <a:solidFill>
                  <a:srgbClr val="FFFFFF"/>
                </a:solidFill>
                <a:latin typeface="Arial"/>
              </a:rPr>
              <a:t>START HERE</a:t>
            </a:r>
          </a:p>
        </p:txBody>
      </p:sp>
      <p:sp>
        <p:nvSpPr>
          <p:cNvPr id="10" name="Rounded Rectangle 9"/>
          <p:cNvSpPr/>
          <p:nvPr/>
        </p:nvSpPr>
        <p:spPr>
          <a:xfrm>
            <a:off x="2133600" y="4572000"/>
            <a:ext cx="1651000" cy="304800"/>
          </a:xfrm>
          <a:prstGeom prst="roundRect">
            <a:avLst>
              <a:gd name="adj" fmla="val 12500"/>
            </a:avLst>
          </a:prstGeom>
          <a:noFill/>
          <a:ln w="12700">
            <a:solidFill>
              <a:srgbClr val="22C96A"/>
            </a:solidFill>
          </a:ln>
          <a:effectLst/>
        </p:spPr>
        <p:txBody>
          <a:bodyPr rtlCol="0" anchor="ctr"/>
          <a:lstStyle/>
          <a:p>
            <a:pPr algn="ctr"/>
          </a:p>
        </p:txBody>
      </p:sp>
      <p:sp>
        <p:nvSpPr>
          <p:cNvPr id="11" name="TextBox 10"/>
          <p:cNvSpPr txBox="1"/>
          <p:nvPr/>
        </p:nvSpPr>
        <p:spPr>
          <a:xfrm>
            <a:off x="2133600" y="4572000"/>
            <a:ext cx="1651000" cy="304800"/>
          </a:xfrm>
          <a:prstGeom prst="rect">
            <a:avLst/>
          </a:prstGeom>
          <a:noFill/>
        </p:spPr>
        <p:txBody>
          <a:bodyPr wrap="square" lIns="0" rIns="0" tIns="0" bIns="0" anchor="ctr">
            <a:spAutoFit/>
          </a:bodyPr>
          <a:lstStyle/>
          <a:p>
            <a:pPr algn="ctr"/>
            <a:r>
              <a:rPr sz="750" b="1" i="0" spc="60">
                <a:solidFill>
                  <a:srgbClr val="22C96A"/>
                </a:solidFill>
                <a:latin typeface="Arial"/>
              </a:rPr>
              <a:t>SEE COMPONENTS</a:t>
            </a:r>
          </a:p>
        </p:txBody>
      </p:sp>
      <p:sp>
        <p:nvSpPr>
          <p:cNvPr id="12" name="Rounded Rectangle 11"/>
          <p:cNvSpPr/>
          <p:nvPr/>
        </p:nvSpPr>
        <p:spPr>
          <a:xfrm>
            <a:off x="8128000" y="5461000"/>
            <a:ext cx="3454400" cy="711200"/>
          </a:xfrm>
          <a:prstGeom prst="roundRect">
            <a:avLst>
              <a:gd name="adj" fmla="val 10714"/>
            </a:avLst>
          </a:prstGeom>
          <a:solidFill>
            <a:srgbClr val="FFFFFF"/>
          </a:solidFill>
          <a:ln>
            <a:noFill/>
          </a:ln>
          <a:effectLst>
            <a:outerShdw blurRad="203200" dist="76200" dir="5400000" algn="t" rotWithShape="0">
              <a:srgbClr val="11181C">
                <a:alpha val="7000"/>
              </a:srgbClr>
            </a:outerShdw>
          </a:effectLst>
        </p:spPr>
        <p:txBody>
          <a:bodyPr rtlCol="0" anchor="ctr"/>
          <a:lstStyle/>
          <a:p>
            <a:pPr algn="ctr"/>
          </a:p>
        </p:txBody>
      </p:sp>
      <p:sp>
        <p:nvSpPr>
          <p:cNvPr id="13" name="TextBox 12"/>
          <p:cNvSpPr txBox="1"/>
          <p:nvPr/>
        </p:nvSpPr>
        <p:spPr>
          <a:xfrm>
            <a:off x="8331200" y="5588000"/>
            <a:ext cx="2921000" cy="127000"/>
          </a:xfrm>
          <a:prstGeom prst="rect">
            <a:avLst/>
          </a:prstGeom>
          <a:noFill/>
        </p:spPr>
        <p:txBody>
          <a:bodyPr wrap="square" lIns="0" rIns="0" tIns="0" bIns="0" anchor="t">
            <a:spAutoFit/>
          </a:bodyPr>
          <a:lstStyle/>
          <a:p>
            <a:pPr algn="l"/>
            <a:r>
              <a:rPr sz="650" b="1" i="0" spc="80">
                <a:solidFill>
                  <a:srgbClr val="4D555C"/>
                </a:solidFill>
                <a:latin typeface="Arial"/>
              </a:rPr>
              <a:t>NOW IN USE</a:t>
            </a:r>
          </a:p>
        </p:txBody>
      </p:sp>
      <p:sp>
        <p:nvSpPr>
          <p:cNvPr id="14" name="TextBox 13"/>
          <p:cNvSpPr txBox="1"/>
          <p:nvPr/>
        </p:nvSpPr>
        <p:spPr>
          <a:xfrm>
            <a:off x="8331200" y="5778500"/>
            <a:ext cx="2921000" cy="228600"/>
          </a:xfrm>
          <a:prstGeom prst="rect">
            <a:avLst/>
          </a:prstGeom>
          <a:noFill/>
        </p:spPr>
        <p:txBody>
          <a:bodyPr wrap="square" lIns="0" rIns="0" tIns="0" bIns="0" anchor="t">
            <a:spAutoFit/>
          </a:bodyPr>
          <a:lstStyle/>
          <a:p>
            <a:pPr algn="l"/>
            <a:r>
              <a:rPr sz="950" b="1" i="0">
                <a:solidFill>
                  <a:srgbClr val="11181C"/>
                </a:solidFill>
                <a:latin typeface="Arial"/>
              </a:rPr>
              <a:t>NEDP6M</a:t>
            </a:r>
            <a:r>
              <a:rPr sz="950" b="0" i="0">
                <a:solidFill>
                  <a:srgbClr val="11181C"/>
                </a:solidFill>
                <a:latin typeface="Arial"/>
              </a:rPr>
              <a:t>   Tiberias K. Simu · Review deck</a:t>
            </a:r>
          </a:p>
        </p:txBody>
      </p:sp>
      <p:sp>
        <p:nvSpPr>
          <p:cNvPr id="15" name="TextBox 14"/>
          <p:cNvSpPr txBox="1"/>
          <p:nvPr/>
        </p:nvSpPr>
        <p:spPr>
          <a:xfrm>
            <a:off x="11176000" y="5715000"/>
            <a:ext cx="254000" cy="228600"/>
          </a:xfrm>
          <a:prstGeom prst="rect">
            <a:avLst/>
          </a:prstGeom>
          <a:noFill/>
        </p:spPr>
        <p:txBody>
          <a:bodyPr wrap="square" lIns="0" rIns="0" tIns="0" bIns="0" anchor="t">
            <a:spAutoFit/>
          </a:bodyPr>
          <a:lstStyle/>
          <a:p>
            <a:pPr algn="l"/>
            <a:r>
              <a:rPr sz="1200" b="0" i="0">
                <a:solidFill>
                  <a:srgbClr val="11181C"/>
                </a:solidFill>
                <a:latin typeface="Arial"/>
              </a:rPr>
              <a:t>→</a:t>
            </a:r>
          </a:p>
        </p:txBody>
      </p:sp>
      <p:sp>
        <p:nvSpPr>
          <p:cNvPr id="16" name="TextBox 15"/>
          <p:cNvSpPr txBox="1"/>
          <p:nvPr/>
        </p:nvSpPr>
        <p:spPr>
          <a:xfrm>
            <a:off x="609600" y="6350000"/>
            <a:ext cx="5080000" cy="127000"/>
          </a:xfrm>
          <a:prstGeom prst="rect">
            <a:avLst/>
          </a:prstGeom>
          <a:noFill/>
        </p:spPr>
        <p:txBody>
          <a:bodyPr wrap="square" lIns="0" rIns="0" tIns="0" bIns="0" anchor="t">
            <a:spAutoFit/>
          </a:bodyPr>
          <a:lstStyle/>
          <a:p>
            <a:pPr algn="l"/>
            <a:r>
              <a:rPr sz="650" b="1" i="0" spc="80">
                <a:solidFill>
                  <a:srgbClr val="889096"/>
                </a:solidFill>
                <a:latin typeface="Arial"/>
              </a:rPr>
              <a:t>PT TRIATRA SINERGIA PRATAMA  ·  MARKETING UNIT &amp; STRATEGIC DIVISION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CONTENTS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Everything you need, </a:t>
            </a:r>
            <a:r>
              <a:rPr sz="2400" b="0" i="1">
                <a:solidFill>
                  <a:srgbClr val="11181C"/>
                </a:solidFill>
                <a:latin typeface="Georgia"/>
              </a:rPr>
              <a:t>in one place</a:t>
            </a:r>
            <a:r>
              <a:rPr sz="2400" b="0" i="0">
                <a:solidFill>
                  <a:srgbClr val="11181C"/>
                </a:solidFill>
                <a:latin typeface="Georgia"/>
              </a:rPr>
              <a:t>.</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Four parts, read top to bottom the first time; afterwards jump straight to the page you need.</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02</a:t>
            </a:r>
          </a:p>
        </p:txBody>
      </p:sp>
      <p:sp>
        <p:nvSpPr>
          <p:cNvPr id="12" name="TextBox 11"/>
          <p:cNvSpPr txBox="1"/>
          <p:nvPr/>
        </p:nvSpPr>
        <p:spPr>
          <a:xfrm>
            <a:off x="609600" y="2235200"/>
            <a:ext cx="2540000" cy="152400"/>
          </a:xfrm>
          <a:prstGeom prst="rect">
            <a:avLst/>
          </a:prstGeom>
          <a:noFill/>
        </p:spPr>
        <p:txBody>
          <a:bodyPr wrap="square" lIns="0" rIns="0" tIns="0" bIns="0" anchor="t">
            <a:spAutoFit/>
          </a:bodyPr>
          <a:lstStyle/>
          <a:p>
            <a:pPr algn="l"/>
            <a:r>
              <a:rPr sz="850" b="1" i="0" spc="150">
                <a:solidFill>
                  <a:srgbClr val="697177"/>
                </a:solidFill>
                <a:latin typeface="Arial"/>
              </a:rPr>
              <a:t>FOUNDATIONS</a:t>
            </a:r>
          </a:p>
        </p:txBody>
      </p:sp>
      <p:cxnSp>
        <p:nvCxnSpPr>
          <p:cNvPr id="13" name="Connector 12"/>
          <p:cNvCxnSpPr/>
          <p:nvPr/>
        </p:nvCxnSpPr>
        <p:spPr>
          <a:xfrm>
            <a:off x="609600" y="2438400"/>
            <a:ext cx="2540000" cy="0"/>
          </a:xfrm>
          <a:prstGeom prst="line">
            <a:avLst/>
          </a:prstGeom>
          <a:ln w="9525">
            <a:solidFill>
              <a:srgbClr val="E6E8EB"/>
            </a:solidFill>
          </a:ln>
        </p:spPr>
      </p:cxnSp>
      <p:sp>
        <p:nvSpPr>
          <p:cNvPr id="14" name="TextBox 13"/>
          <p:cNvSpPr txBox="1"/>
          <p:nvPr/>
        </p:nvSpPr>
        <p:spPr>
          <a:xfrm>
            <a:off x="609600" y="2565400"/>
            <a:ext cx="381000" cy="177800"/>
          </a:xfrm>
          <a:prstGeom prst="rect">
            <a:avLst/>
          </a:prstGeom>
          <a:noFill/>
        </p:spPr>
        <p:txBody>
          <a:bodyPr wrap="square" lIns="0" rIns="0" tIns="0" bIns="0" anchor="t">
            <a:spAutoFit/>
          </a:bodyPr>
          <a:lstStyle/>
          <a:p>
            <a:pPr algn="l"/>
            <a:r>
              <a:rPr sz="900" b="1" i="0">
                <a:solidFill>
                  <a:srgbClr val="22C96A"/>
                </a:solidFill>
                <a:latin typeface="Arial"/>
              </a:rPr>
              <a:t>03</a:t>
            </a:r>
          </a:p>
        </p:txBody>
      </p:sp>
      <p:sp>
        <p:nvSpPr>
          <p:cNvPr id="15" name="TextBox 14"/>
          <p:cNvSpPr txBox="1"/>
          <p:nvPr/>
        </p:nvSpPr>
        <p:spPr>
          <a:xfrm>
            <a:off x="965200" y="2552700"/>
            <a:ext cx="2159000" cy="203200"/>
          </a:xfrm>
          <a:prstGeom prst="rect">
            <a:avLst/>
          </a:prstGeom>
          <a:noFill/>
        </p:spPr>
        <p:txBody>
          <a:bodyPr wrap="square" lIns="0" rIns="0" tIns="0" bIns="0" anchor="t">
            <a:spAutoFit/>
          </a:bodyPr>
          <a:lstStyle/>
          <a:p>
            <a:pPr algn="l"/>
            <a:r>
              <a:rPr sz="1100" b="0" i="0">
                <a:solidFill>
                  <a:srgbClr val="11181C"/>
                </a:solidFill>
                <a:latin typeface="Georgia"/>
              </a:rPr>
              <a:t>Design DNA</a:t>
            </a:r>
          </a:p>
        </p:txBody>
      </p:sp>
      <p:cxnSp>
        <p:nvCxnSpPr>
          <p:cNvPr id="16" name="Connector 15"/>
          <p:cNvCxnSpPr/>
          <p:nvPr/>
        </p:nvCxnSpPr>
        <p:spPr>
          <a:xfrm>
            <a:off x="609600" y="2832100"/>
            <a:ext cx="2540000" cy="0"/>
          </a:xfrm>
          <a:prstGeom prst="line">
            <a:avLst/>
          </a:prstGeom>
          <a:ln w="9525">
            <a:solidFill>
              <a:srgbClr val="EBEDEF"/>
            </a:solidFill>
          </a:ln>
        </p:spPr>
      </p:cxnSp>
      <p:sp>
        <p:nvSpPr>
          <p:cNvPr id="17" name="TextBox 16"/>
          <p:cNvSpPr txBox="1"/>
          <p:nvPr/>
        </p:nvSpPr>
        <p:spPr>
          <a:xfrm>
            <a:off x="609600" y="2959100"/>
            <a:ext cx="381000" cy="177800"/>
          </a:xfrm>
          <a:prstGeom prst="rect">
            <a:avLst/>
          </a:prstGeom>
          <a:noFill/>
        </p:spPr>
        <p:txBody>
          <a:bodyPr wrap="square" lIns="0" rIns="0" tIns="0" bIns="0" anchor="t">
            <a:spAutoFit/>
          </a:bodyPr>
          <a:lstStyle/>
          <a:p>
            <a:pPr algn="l"/>
            <a:r>
              <a:rPr sz="900" b="1" i="0">
                <a:solidFill>
                  <a:srgbClr val="22C96A"/>
                </a:solidFill>
                <a:latin typeface="Arial"/>
              </a:rPr>
              <a:t>04</a:t>
            </a:r>
          </a:p>
        </p:txBody>
      </p:sp>
      <p:sp>
        <p:nvSpPr>
          <p:cNvPr id="18" name="TextBox 17"/>
          <p:cNvSpPr txBox="1"/>
          <p:nvPr/>
        </p:nvSpPr>
        <p:spPr>
          <a:xfrm>
            <a:off x="965200" y="2946400"/>
            <a:ext cx="2159000" cy="203200"/>
          </a:xfrm>
          <a:prstGeom prst="rect">
            <a:avLst/>
          </a:prstGeom>
          <a:noFill/>
        </p:spPr>
        <p:txBody>
          <a:bodyPr wrap="square" lIns="0" rIns="0" tIns="0" bIns="0" anchor="t">
            <a:spAutoFit/>
          </a:bodyPr>
          <a:lstStyle/>
          <a:p>
            <a:pPr algn="l"/>
            <a:r>
              <a:rPr sz="1100" b="0" i="0">
                <a:solidFill>
                  <a:srgbClr val="11181C"/>
                </a:solidFill>
                <a:latin typeface="Georgia"/>
              </a:rPr>
              <a:t>Typefaces</a:t>
            </a:r>
          </a:p>
        </p:txBody>
      </p:sp>
      <p:cxnSp>
        <p:nvCxnSpPr>
          <p:cNvPr id="19" name="Connector 18"/>
          <p:cNvCxnSpPr/>
          <p:nvPr/>
        </p:nvCxnSpPr>
        <p:spPr>
          <a:xfrm>
            <a:off x="609600" y="3225800"/>
            <a:ext cx="2540000" cy="0"/>
          </a:xfrm>
          <a:prstGeom prst="line">
            <a:avLst/>
          </a:prstGeom>
          <a:ln w="9525">
            <a:solidFill>
              <a:srgbClr val="EBEDEF"/>
            </a:solidFill>
          </a:ln>
        </p:spPr>
      </p:cxnSp>
      <p:sp>
        <p:nvSpPr>
          <p:cNvPr id="20" name="TextBox 19"/>
          <p:cNvSpPr txBox="1"/>
          <p:nvPr/>
        </p:nvSpPr>
        <p:spPr>
          <a:xfrm>
            <a:off x="609600" y="3352800"/>
            <a:ext cx="381000" cy="177800"/>
          </a:xfrm>
          <a:prstGeom prst="rect">
            <a:avLst/>
          </a:prstGeom>
          <a:noFill/>
        </p:spPr>
        <p:txBody>
          <a:bodyPr wrap="square" lIns="0" rIns="0" tIns="0" bIns="0" anchor="t">
            <a:spAutoFit/>
          </a:bodyPr>
          <a:lstStyle/>
          <a:p>
            <a:pPr algn="l"/>
            <a:r>
              <a:rPr sz="900" b="1" i="0">
                <a:solidFill>
                  <a:srgbClr val="22C96A"/>
                </a:solidFill>
                <a:latin typeface="Arial"/>
              </a:rPr>
              <a:t>05</a:t>
            </a:r>
          </a:p>
        </p:txBody>
      </p:sp>
      <p:sp>
        <p:nvSpPr>
          <p:cNvPr id="21" name="TextBox 20"/>
          <p:cNvSpPr txBox="1"/>
          <p:nvPr/>
        </p:nvSpPr>
        <p:spPr>
          <a:xfrm>
            <a:off x="965200" y="3340100"/>
            <a:ext cx="2159000" cy="203200"/>
          </a:xfrm>
          <a:prstGeom prst="rect">
            <a:avLst/>
          </a:prstGeom>
          <a:noFill/>
        </p:spPr>
        <p:txBody>
          <a:bodyPr wrap="square" lIns="0" rIns="0" tIns="0" bIns="0" anchor="t">
            <a:spAutoFit/>
          </a:bodyPr>
          <a:lstStyle/>
          <a:p>
            <a:pPr algn="l"/>
            <a:r>
              <a:rPr sz="1100" b="0" i="0">
                <a:solidFill>
                  <a:srgbClr val="11181C"/>
                </a:solidFill>
                <a:latin typeface="Georgia"/>
              </a:rPr>
              <a:t>Type scale</a:t>
            </a:r>
          </a:p>
        </p:txBody>
      </p:sp>
      <p:cxnSp>
        <p:nvCxnSpPr>
          <p:cNvPr id="22" name="Connector 21"/>
          <p:cNvCxnSpPr/>
          <p:nvPr/>
        </p:nvCxnSpPr>
        <p:spPr>
          <a:xfrm>
            <a:off x="609600" y="3619500"/>
            <a:ext cx="2540000" cy="0"/>
          </a:xfrm>
          <a:prstGeom prst="line">
            <a:avLst/>
          </a:prstGeom>
          <a:ln w="9525">
            <a:solidFill>
              <a:srgbClr val="EBEDEF"/>
            </a:solidFill>
          </a:ln>
        </p:spPr>
      </p:cxnSp>
      <p:sp>
        <p:nvSpPr>
          <p:cNvPr id="23" name="TextBox 22"/>
          <p:cNvSpPr txBox="1"/>
          <p:nvPr/>
        </p:nvSpPr>
        <p:spPr>
          <a:xfrm>
            <a:off x="609600" y="3746500"/>
            <a:ext cx="381000" cy="177800"/>
          </a:xfrm>
          <a:prstGeom prst="rect">
            <a:avLst/>
          </a:prstGeom>
          <a:noFill/>
        </p:spPr>
        <p:txBody>
          <a:bodyPr wrap="square" lIns="0" rIns="0" tIns="0" bIns="0" anchor="t">
            <a:spAutoFit/>
          </a:bodyPr>
          <a:lstStyle/>
          <a:p>
            <a:pPr algn="l"/>
            <a:r>
              <a:rPr sz="900" b="1" i="0">
                <a:solidFill>
                  <a:srgbClr val="22C96A"/>
                </a:solidFill>
                <a:latin typeface="Arial"/>
              </a:rPr>
              <a:t>06</a:t>
            </a:r>
          </a:p>
        </p:txBody>
      </p:sp>
      <p:sp>
        <p:nvSpPr>
          <p:cNvPr id="24" name="TextBox 23"/>
          <p:cNvSpPr txBox="1"/>
          <p:nvPr/>
        </p:nvSpPr>
        <p:spPr>
          <a:xfrm>
            <a:off x="965200" y="3733800"/>
            <a:ext cx="2159000" cy="203200"/>
          </a:xfrm>
          <a:prstGeom prst="rect">
            <a:avLst/>
          </a:prstGeom>
          <a:noFill/>
        </p:spPr>
        <p:txBody>
          <a:bodyPr wrap="square" lIns="0" rIns="0" tIns="0" bIns="0" anchor="t">
            <a:spAutoFit/>
          </a:bodyPr>
          <a:lstStyle/>
          <a:p>
            <a:pPr algn="l"/>
            <a:r>
              <a:rPr sz="1100" b="0" i="0">
                <a:solidFill>
                  <a:srgbClr val="11181C"/>
                </a:solidFill>
                <a:latin typeface="Georgia"/>
              </a:rPr>
              <a:t>Type details</a:t>
            </a:r>
          </a:p>
        </p:txBody>
      </p:sp>
      <p:cxnSp>
        <p:nvCxnSpPr>
          <p:cNvPr id="25" name="Connector 24"/>
          <p:cNvCxnSpPr/>
          <p:nvPr/>
        </p:nvCxnSpPr>
        <p:spPr>
          <a:xfrm>
            <a:off x="609600" y="4013200"/>
            <a:ext cx="2540000" cy="0"/>
          </a:xfrm>
          <a:prstGeom prst="line">
            <a:avLst/>
          </a:prstGeom>
          <a:ln w="9525">
            <a:solidFill>
              <a:srgbClr val="EBEDEF"/>
            </a:solidFill>
          </a:ln>
        </p:spPr>
      </p:cxnSp>
      <p:sp>
        <p:nvSpPr>
          <p:cNvPr id="26" name="TextBox 25"/>
          <p:cNvSpPr txBox="1"/>
          <p:nvPr/>
        </p:nvSpPr>
        <p:spPr>
          <a:xfrm>
            <a:off x="609600" y="4140200"/>
            <a:ext cx="381000" cy="177800"/>
          </a:xfrm>
          <a:prstGeom prst="rect">
            <a:avLst/>
          </a:prstGeom>
          <a:noFill/>
        </p:spPr>
        <p:txBody>
          <a:bodyPr wrap="square" lIns="0" rIns="0" tIns="0" bIns="0" anchor="t">
            <a:spAutoFit/>
          </a:bodyPr>
          <a:lstStyle/>
          <a:p>
            <a:pPr algn="l"/>
            <a:r>
              <a:rPr sz="900" b="1" i="0">
                <a:solidFill>
                  <a:srgbClr val="22C96A"/>
                </a:solidFill>
                <a:latin typeface="Arial"/>
              </a:rPr>
              <a:t>07</a:t>
            </a:r>
          </a:p>
        </p:txBody>
      </p:sp>
      <p:sp>
        <p:nvSpPr>
          <p:cNvPr id="27" name="TextBox 26"/>
          <p:cNvSpPr txBox="1"/>
          <p:nvPr/>
        </p:nvSpPr>
        <p:spPr>
          <a:xfrm>
            <a:off x="965200" y="4127500"/>
            <a:ext cx="2159000" cy="203200"/>
          </a:xfrm>
          <a:prstGeom prst="rect">
            <a:avLst/>
          </a:prstGeom>
          <a:noFill/>
        </p:spPr>
        <p:txBody>
          <a:bodyPr wrap="square" lIns="0" rIns="0" tIns="0" bIns="0" anchor="t">
            <a:spAutoFit/>
          </a:bodyPr>
          <a:lstStyle/>
          <a:p>
            <a:pPr algn="l"/>
            <a:r>
              <a:rPr sz="1100" b="0" i="0">
                <a:solidFill>
                  <a:srgbClr val="11181C"/>
                </a:solidFill>
                <a:latin typeface="Georgia"/>
              </a:rPr>
              <a:t>Neutral colours</a:t>
            </a:r>
          </a:p>
        </p:txBody>
      </p:sp>
      <p:cxnSp>
        <p:nvCxnSpPr>
          <p:cNvPr id="28" name="Connector 27"/>
          <p:cNvCxnSpPr/>
          <p:nvPr/>
        </p:nvCxnSpPr>
        <p:spPr>
          <a:xfrm>
            <a:off x="609600" y="4406900"/>
            <a:ext cx="2540000" cy="0"/>
          </a:xfrm>
          <a:prstGeom prst="line">
            <a:avLst/>
          </a:prstGeom>
          <a:ln w="9525">
            <a:solidFill>
              <a:srgbClr val="EBEDEF"/>
            </a:solidFill>
          </a:ln>
        </p:spPr>
      </p:cxnSp>
      <p:sp>
        <p:nvSpPr>
          <p:cNvPr id="29" name="TextBox 28"/>
          <p:cNvSpPr txBox="1"/>
          <p:nvPr/>
        </p:nvSpPr>
        <p:spPr>
          <a:xfrm>
            <a:off x="609600" y="4533900"/>
            <a:ext cx="381000" cy="177800"/>
          </a:xfrm>
          <a:prstGeom prst="rect">
            <a:avLst/>
          </a:prstGeom>
          <a:noFill/>
        </p:spPr>
        <p:txBody>
          <a:bodyPr wrap="square" lIns="0" rIns="0" tIns="0" bIns="0" anchor="t">
            <a:spAutoFit/>
          </a:bodyPr>
          <a:lstStyle/>
          <a:p>
            <a:pPr algn="l"/>
            <a:r>
              <a:rPr sz="900" b="1" i="0">
                <a:solidFill>
                  <a:srgbClr val="22C96A"/>
                </a:solidFill>
                <a:latin typeface="Arial"/>
              </a:rPr>
              <a:t>08</a:t>
            </a:r>
          </a:p>
        </p:txBody>
      </p:sp>
      <p:sp>
        <p:nvSpPr>
          <p:cNvPr id="30" name="TextBox 29"/>
          <p:cNvSpPr txBox="1"/>
          <p:nvPr/>
        </p:nvSpPr>
        <p:spPr>
          <a:xfrm>
            <a:off x="965200" y="4521200"/>
            <a:ext cx="2159000" cy="203200"/>
          </a:xfrm>
          <a:prstGeom prst="rect">
            <a:avLst/>
          </a:prstGeom>
          <a:noFill/>
        </p:spPr>
        <p:txBody>
          <a:bodyPr wrap="square" lIns="0" rIns="0" tIns="0" bIns="0" anchor="t">
            <a:spAutoFit/>
          </a:bodyPr>
          <a:lstStyle/>
          <a:p>
            <a:pPr algn="l"/>
            <a:r>
              <a:rPr sz="1100" b="0" i="0">
                <a:solidFill>
                  <a:srgbClr val="11181C"/>
                </a:solidFill>
                <a:latin typeface="Georgia"/>
              </a:rPr>
              <a:t>Brand &amp; accent colours</a:t>
            </a:r>
          </a:p>
        </p:txBody>
      </p:sp>
      <p:cxnSp>
        <p:nvCxnSpPr>
          <p:cNvPr id="31" name="Connector 30"/>
          <p:cNvCxnSpPr/>
          <p:nvPr/>
        </p:nvCxnSpPr>
        <p:spPr>
          <a:xfrm>
            <a:off x="609600" y="4800600"/>
            <a:ext cx="2540000" cy="0"/>
          </a:xfrm>
          <a:prstGeom prst="line">
            <a:avLst/>
          </a:prstGeom>
          <a:ln w="9525">
            <a:solidFill>
              <a:srgbClr val="EBEDEF"/>
            </a:solidFill>
          </a:ln>
        </p:spPr>
      </p:cxnSp>
      <p:sp>
        <p:nvSpPr>
          <p:cNvPr id="32" name="TextBox 31"/>
          <p:cNvSpPr txBox="1"/>
          <p:nvPr/>
        </p:nvSpPr>
        <p:spPr>
          <a:xfrm>
            <a:off x="609600" y="4927600"/>
            <a:ext cx="381000" cy="177800"/>
          </a:xfrm>
          <a:prstGeom prst="rect">
            <a:avLst/>
          </a:prstGeom>
          <a:noFill/>
        </p:spPr>
        <p:txBody>
          <a:bodyPr wrap="square" lIns="0" rIns="0" tIns="0" bIns="0" anchor="t">
            <a:spAutoFit/>
          </a:bodyPr>
          <a:lstStyle/>
          <a:p>
            <a:pPr algn="l"/>
            <a:r>
              <a:rPr sz="900" b="1" i="0">
                <a:solidFill>
                  <a:srgbClr val="22C96A"/>
                </a:solidFill>
                <a:latin typeface="Arial"/>
              </a:rPr>
              <a:t>09</a:t>
            </a:r>
          </a:p>
        </p:txBody>
      </p:sp>
      <p:sp>
        <p:nvSpPr>
          <p:cNvPr id="33" name="TextBox 32"/>
          <p:cNvSpPr txBox="1"/>
          <p:nvPr/>
        </p:nvSpPr>
        <p:spPr>
          <a:xfrm>
            <a:off x="965200" y="4914900"/>
            <a:ext cx="2159000" cy="203200"/>
          </a:xfrm>
          <a:prstGeom prst="rect">
            <a:avLst/>
          </a:prstGeom>
          <a:noFill/>
        </p:spPr>
        <p:txBody>
          <a:bodyPr wrap="square" lIns="0" rIns="0" tIns="0" bIns="0" anchor="t">
            <a:spAutoFit/>
          </a:bodyPr>
          <a:lstStyle/>
          <a:p>
            <a:pPr algn="l"/>
            <a:r>
              <a:rPr sz="1100" b="0" i="0">
                <a:solidFill>
                  <a:srgbClr val="11181C"/>
                </a:solidFill>
                <a:latin typeface="Georgia"/>
              </a:rPr>
              <a:t>Colour in use</a:t>
            </a:r>
          </a:p>
        </p:txBody>
      </p:sp>
      <p:cxnSp>
        <p:nvCxnSpPr>
          <p:cNvPr id="34" name="Connector 33"/>
          <p:cNvCxnSpPr/>
          <p:nvPr/>
        </p:nvCxnSpPr>
        <p:spPr>
          <a:xfrm>
            <a:off x="609600" y="5194300"/>
            <a:ext cx="2540000" cy="0"/>
          </a:xfrm>
          <a:prstGeom prst="line">
            <a:avLst/>
          </a:prstGeom>
          <a:ln w="9525">
            <a:solidFill>
              <a:srgbClr val="EBEDEF"/>
            </a:solidFill>
          </a:ln>
        </p:spPr>
      </p:cxnSp>
      <p:sp>
        <p:nvSpPr>
          <p:cNvPr id="35" name="TextBox 34"/>
          <p:cNvSpPr txBox="1"/>
          <p:nvPr/>
        </p:nvSpPr>
        <p:spPr>
          <a:xfrm>
            <a:off x="609600" y="5321300"/>
            <a:ext cx="381000" cy="177800"/>
          </a:xfrm>
          <a:prstGeom prst="rect">
            <a:avLst/>
          </a:prstGeom>
          <a:noFill/>
        </p:spPr>
        <p:txBody>
          <a:bodyPr wrap="square" lIns="0" rIns="0" tIns="0" bIns="0" anchor="t">
            <a:spAutoFit/>
          </a:bodyPr>
          <a:lstStyle/>
          <a:p>
            <a:pPr algn="l"/>
            <a:r>
              <a:rPr sz="900" b="1" i="0">
                <a:solidFill>
                  <a:srgbClr val="22C96A"/>
                </a:solidFill>
                <a:latin typeface="Arial"/>
              </a:rPr>
              <a:t>10</a:t>
            </a:r>
          </a:p>
        </p:txBody>
      </p:sp>
      <p:sp>
        <p:nvSpPr>
          <p:cNvPr id="36" name="TextBox 35"/>
          <p:cNvSpPr txBox="1"/>
          <p:nvPr/>
        </p:nvSpPr>
        <p:spPr>
          <a:xfrm>
            <a:off x="965200" y="5308600"/>
            <a:ext cx="2159000" cy="203200"/>
          </a:xfrm>
          <a:prstGeom prst="rect">
            <a:avLst/>
          </a:prstGeom>
          <a:noFill/>
        </p:spPr>
        <p:txBody>
          <a:bodyPr wrap="square" lIns="0" rIns="0" tIns="0" bIns="0" anchor="t">
            <a:spAutoFit/>
          </a:bodyPr>
          <a:lstStyle/>
          <a:p>
            <a:pPr algn="l"/>
            <a:r>
              <a:rPr sz="1100" b="0" i="0">
                <a:solidFill>
                  <a:srgbClr val="11181C"/>
                </a:solidFill>
                <a:latin typeface="Georgia"/>
              </a:rPr>
              <a:t>Space, radius, elevation</a:t>
            </a:r>
          </a:p>
        </p:txBody>
      </p:sp>
      <p:cxnSp>
        <p:nvCxnSpPr>
          <p:cNvPr id="37" name="Connector 36"/>
          <p:cNvCxnSpPr/>
          <p:nvPr/>
        </p:nvCxnSpPr>
        <p:spPr>
          <a:xfrm>
            <a:off x="609600" y="5588000"/>
            <a:ext cx="2540000" cy="0"/>
          </a:xfrm>
          <a:prstGeom prst="line">
            <a:avLst/>
          </a:prstGeom>
          <a:ln w="9525">
            <a:solidFill>
              <a:srgbClr val="EBEDEF"/>
            </a:solidFill>
          </a:ln>
        </p:spPr>
      </p:cxnSp>
      <p:sp>
        <p:nvSpPr>
          <p:cNvPr id="38" name="TextBox 37"/>
          <p:cNvSpPr txBox="1"/>
          <p:nvPr/>
        </p:nvSpPr>
        <p:spPr>
          <a:xfrm>
            <a:off x="609600" y="5715000"/>
            <a:ext cx="381000" cy="177800"/>
          </a:xfrm>
          <a:prstGeom prst="rect">
            <a:avLst/>
          </a:prstGeom>
          <a:noFill/>
        </p:spPr>
        <p:txBody>
          <a:bodyPr wrap="square" lIns="0" rIns="0" tIns="0" bIns="0" anchor="t">
            <a:spAutoFit/>
          </a:bodyPr>
          <a:lstStyle/>
          <a:p>
            <a:pPr algn="l"/>
            <a:r>
              <a:rPr sz="900" b="1" i="0">
                <a:solidFill>
                  <a:srgbClr val="22C96A"/>
                </a:solidFill>
                <a:latin typeface="Arial"/>
              </a:rPr>
              <a:t>11</a:t>
            </a:r>
          </a:p>
        </p:txBody>
      </p:sp>
      <p:sp>
        <p:nvSpPr>
          <p:cNvPr id="39" name="TextBox 38"/>
          <p:cNvSpPr txBox="1"/>
          <p:nvPr/>
        </p:nvSpPr>
        <p:spPr>
          <a:xfrm>
            <a:off x="965200" y="5702300"/>
            <a:ext cx="2159000" cy="203200"/>
          </a:xfrm>
          <a:prstGeom prst="rect">
            <a:avLst/>
          </a:prstGeom>
          <a:noFill/>
        </p:spPr>
        <p:txBody>
          <a:bodyPr wrap="square" lIns="0" rIns="0" tIns="0" bIns="0" anchor="t">
            <a:spAutoFit/>
          </a:bodyPr>
          <a:lstStyle/>
          <a:p>
            <a:pPr algn="l"/>
            <a:r>
              <a:rPr sz="1100" b="0" i="0">
                <a:solidFill>
                  <a:srgbClr val="11181C"/>
                </a:solidFill>
                <a:latin typeface="Georgia"/>
              </a:rPr>
              <a:t>Grid</a:t>
            </a:r>
          </a:p>
        </p:txBody>
      </p:sp>
      <p:cxnSp>
        <p:nvCxnSpPr>
          <p:cNvPr id="40" name="Connector 39"/>
          <p:cNvCxnSpPr/>
          <p:nvPr/>
        </p:nvCxnSpPr>
        <p:spPr>
          <a:xfrm>
            <a:off x="609600" y="5981700"/>
            <a:ext cx="2540000" cy="0"/>
          </a:xfrm>
          <a:prstGeom prst="line">
            <a:avLst/>
          </a:prstGeom>
          <a:ln w="9525">
            <a:solidFill>
              <a:srgbClr val="EBEDEF"/>
            </a:solidFill>
          </a:ln>
        </p:spPr>
      </p:cxnSp>
      <p:sp>
        <p:nvSpPr>
          <p:cNvPr id="41" name="TextBox 40"/>
          <p:cNvSpPr txBox="1"/>
          <p:nvPr/>
        </p:nvSpPr>
        <p:spPr>
          <a:xfrm>
            <a:off x="3352800" y="2235200"/>
            <a:ext cx="2540000" cy="152400"/>
          </a:xfrm>
          <a:prstGeom prst="rect">
            <a:avLst/>
          </a:prstGeom>
          <a:noFill/>
        </p:spPr>
        <p:txBody>
          <a:bodyPr wrap="square" lIns="0" rIns="0" tIns="0" bIns="0" anchor="t">
            <a:spAutoFit/>
          </a:bodyPr>
          <a:lstStyle/>
          <a:p>
            <a:pPr algn="l"/>
            <a:r>
              <a:rPr sz="850" b="1" i="0" spc="150">
                <a:solidFill>
                  <a:srgbClr val="697177"/>
                </a:solidFill>
                <a:latin typeface="Arial"/>
              </a:rPr>
              <a:t>COMPONENTS</a:t>
            </a:r>
          </a:p>
        </p:txBody>
      </p:sp>
      <p:cxnSp>
        <p:nvCxnSpPr>
          <p:cNvPr id="42" name="Connector 41"/>
          <p:cNvCxnSpPr/>
          <p:nvPr/>
        </p:nvCxnSpPr>
        <p:spPr>
          <a:xfrm>
            <a:off x="3352800" y="2438400"/>
            <a:ext cx="2540000" cy="0"/>
          </a:xfrm>
          <a:prstGeom prst="line">
            <a:avLst/>
          </a:prstGeom>
          <a:ln w="9525">
            <a:solidFill>
              <a:srgbClr val="E6E8EB"/>
            </a:solidFill>
          </a:ln>
        </p:spPr>
      </p:cxnSp>
      <p:sp>
        <p:nvSpPr>
          <p:cNvPr id="43" name="TextBox 42"/>
          <p:cNvSpPr txBox="1"/>
          <p:nvPr/>
        </p:nvSpPr>
        <p:spPr>
          <a:xfrm>
            <a:off x="3352800" y="2565400"/>
            <a:ext cx="381000" cy="177800"/>
          </a:xfrm>
          <a:prstGeom prst="rect">
            <a:avLst/>
          </a:prstGeom>
          <a:noFill/>
        </p:spPr>
        <p:txBody>
          <a:bodyPr wrap="square" lIns="0" rIns="0" tIns="0" bIns="0" anchor="t">
            <a:spAutoFit/>
          </a:bodyPr>
          <a:lstStyle/>
          <a:p>
            <a:pPr algn="l"/>
            <a:r>
              <a:rPr sz="900" b="1" i="0">
                <a:solidFill>
                  <a:srgbClr val="22C96A"/>
                </a:solidFill>
                <a:latin typeface="Arial"/>
              </a:rPr>
              <a:t>12</a:t>
            </a:r>
          </a:p>
        </p:txBody>
      </p:sp>
      <p:sp>
        <p:nvSpPr>
          <p:cNvPr id="44" name="TextBox 43"/>
          <p:cNvSpPr txBox="1"/>
          <p:nvPr/>
        </p:nvSpPr>
        <p:spPr>
          <a:xfrm>
            <a:off x="3708400" y="2552700"/>
            <a:ext cx="2159000" cy="203200"/>
          </a:xfrm>
          <a:prstGeom prst="rect">
            <a:avLst/>
          </a:prstGeom>
          <a:noFill/>
        </p:spPr>
        <p:txBody>
          <a:bodyPr wrap="square" lIns="0" rIns="0" tIns="0" bIns="0" anchor="t">
            <a:spAutoFit/>
          </a:bodyPr>
          <a:lstStyle/>
          <a:p>
            <a:pPr algn="l"/>
            <a:r>
              <a:rPr sz="1100" b="0" i="0">
                <a:solidFill>
                  <a:srgbClr val="11181C"/>
                </a:solidFill>
                <a:latin typeface="Georgia"/>
              </a:rPr>
              <a:t>Slide anatomy</a:t>
            </a:r>
          </a:p>
        </p:txBody>
      </p:sp>
      <p:cxnSp>
        <p:nvCxnSpPr>
          <p:cNvPr id="45" name="Connector 44"/>
          <p:cNvCxnSpPr/>
          <p:nvPr/>
        </p:nvCxnSpPr>
        <p:spPr>
          <a:xfrm>
            <a:off x="3352800" y="2832100"/>
            <a:ext cx="2540000" cy="0"/>
          </a:xfrm>
          <a:prstGeom prst="line">
            <a:avLst/>
          </a:prstGeom>
          <a:ln w="9525">
            <a:solidFill>
              <a:srgbClr val="EBEDEF"/>
            </a:solidFill>
          </a:ln>
        </p:spPr>
      </p:cxnSp>
      <p:sp>
        <p:nvSpPr>
          <p:cNvPr id="46" name="TextBox 45"/>
          <p:cNvSpPr txBox="1"/>
          <p:nvPr/>
        </p:nvSpPr>
        <p:spPr>
          <a:xfrm>
            <a:off x="3352800" y="2959100"/>
            <a:ext cx="381000" cy="177800"/>
          </a:xfrm>
          <a:prstGeom prst="rect">
            <a:avLst/>
          </a:prstGeom>
          <a:noFill/>
        </p:spPr>
        <p:txBody>
          <a:bodyPr wrap="square" lIns="0" rIns="0" tIns="0" bIns="0" anchor="t">
            <a:spAutoFit/>
          </a:bodyPr>
          <a:lstStyle/>
          <a:p>
            <a:pPr algn="l"/>
            <a:r>
              <a:rPr sz="900" b="1" i="0">
                <a:solidFill>
                  <a:srgbClr val="22C96A"/>
                </a:solidFill>
                <a:latin typeface="Arial"/>
              </a:rPr>
              <a:t>13</a:t>
            </a:r>
          </a:p>
        </p:txBody>
      </p:sp>
      <p:sp>
        <p:nvSpPr>
          <p:cNvPr id="47" name="TextBox 46"/>
          <p:cNvSpPr txBox="1"/>
          <p:nvPr/>
        </p:nvSpPr>
        <p:spPr>
          <a:xfrm>
            <a:off x="3708400" y="2946400"/>
            <a:ext cx="2159000" cy="203200"/>
          </a:xfrm>
          <a:prstGeom prst="rect">
            <a:avLst/>
          </a:prstGeom>
          <a:noFill/>
        </p:spPr>
        <p:txBody>
          <a:bodyPr wrap="square" lIns="0" rIns="0" tIns="0" bIns="0" anchor="t">
            <a:spAutoFit/>
          </a:bodyPr>
          <a:lstStyle/>
          <a:p>
            <a:pPr algn="l"/>
            <a:r>
              <a:rPr sz="1100" b="0" i="0">
                <a:solidFill>
                  <a:srgbClr val="11181C"/>
                </a:solidFill>
                <a:latin typeface="Georgia"/>
              </a:rPr>
              <a:t>Buttons, links, tags</a:t>
            </a:r>
          </a:p>
        </p:txBody>
      </p:sp>
      <p:cxnSp>
        <p:nvCxnSpPr>
          <p:cNvPr id="48" name="Connector 47"/>
          <p:cNvCxnSpPr/>
          <p:nvPr/>
        </p:nvCxnSpPr>
        <p:spPr>
          <a:xfrm>
            <a:off x="3352800" y="3225800"/>
            <a:ext cx="2540000" cy="0"/>
          </a:xfrm>
          <a:prstGeom prst="line">
            <a:avLst/>
          </a:prstGeom>
          <a:ln w="9525">
            <a:solidFill>
              <a:srgbClr val="EBEDEF"/>
            </a:solidFill>
          </a:ln>
        </p:spPr>
      </p:cxnSp>
      <p:sp>
        <p:nvSpPr>
          <p:cNvPr id="49" name="TextBox 48"/>
          <p:cNvSpPr txBox="1"/>
          <p:nvPr/>
        </p:nvSpPr>
        <p:spPr>
          <a:xfrm>
            <a:off x="3352800" y="3352800"/>
            <a:ext cx="381000" cy="177800"/>
          </a:xfrm>
          <a:prstGeom prst="rect">
            <a:avLst/>
          </a:prstGeom>
          <a:noFill/>
        </p:spPr>
        <p:txBody>
          <a:bodyPr wrap="square" lIns="0" rIns="0" tIns="0" bIns="0" anchor="t">
            <a:spAutoFit/>
          </a:bodyPr>
          <a:lstStyle/>
          <a:p>
            <a:pPr algn="l"/>
            <a:r>
              <a:rPr sz="900" b="1" i="0">
                <a:solidFill>
                  <a:srgbClr val="22C96A"/>
                </a:solidFill>
                <a:latin typeface="Arial"/>
              </a:rPr>
              <a:t>14</a:t>
            </a:r>
          </a:p>
        </p:txBody>
      </p:sp>
      <p:sp>
        <p:nvSpPr>
          <p:cNvPr id="50" name="TextBox 49"/>
          <p:cNvSpPr txBox="1"/>
          <p:nvPr/>
        </p:nvSpPr>
        <p:spPr>
          <a:xfrm>
            <a:off x="3708400" y="3340100"/>
            <a:ext cx="2159000" cy="203200"/>
          </a:xfrm>
          <a:prstGeom prst="rect">
            <a:avLst/>
          </a:prstGeom>
          <a:noFill/>
        </p:spPr>
        <p:txBody>
          <a:bodyPr wrap="square" lIns="0" rIns="0" tIns="0" bIns="0" anchor="t">
            <a:spAutoFit/>
          </a:bodyPr>
          <a:lstStyle/>
          <a:p>
            <a:pPr algn="l"/>
            <a:r>
              <a:rPr sz="1100" b="0" i="0">
                <a:solidFill>
                  <a:srgbClr val="11181C"/>
                </a:solidFill>
                <a:latin typeface="Georgia"/>
              </a:rPr>
              <a:t>Cards</a:t>
            </a:r>
          </a:p>
        </p:txBody>
      </p:sp>
      <p:cxnSp>
        <p:nvCxnSpPr>
          <p:cNvPr id="51" name="Connector 50"/>
          <p:cNvCxnSpPr/>
          <p:nvPr/>
        </p:nvCxnSpPr>
        <p:spPr>
          <a:xfrm>
            <a:off x="3352800" y="3619500"/>
            <a:ext cx="2540000" cy="0"/>
          </a:xfrm>
          <a:prstGeom prst="line">
            <a:avLst/>
          </a:prstGeom>
          <a:ln w="9525">
            <a:solidFill>
              <a:srgbClr val="EBEDEF"/>
            </a:solidFill>
          </a:ln>
        </p:spPr>
      </p:cxnSp>
      <p:sp>
        <p:nvSpPr>
          <p:cNvPr id="52" name="TextBox 51"/>
          <p:cNvSpPr txBox="1"/>
          <p:nvPr/>
        </p:nvSpPr>
        <p:spPr>
          <a:xfrm>
            <a:off x="3352800" y="3746500"/>
            <a:ext cx="381000" cy="177800"/>
          </a:xfrm>
          <a:prstGeom prst="rect">
            <a:avLst/>
          </a:prstGeom>
          <a:noFill/>
        </p:spPr>
        <p:txBody>
          <a:bodyPr wrap="square" lIns="0" rIns="0" tIns="0" bIns="0" anchor="t">
            <a:spAutoFit/>
          </a:bodyPr>
          <a:lstStyle/>
          <a:p>
            <a:pPr algn="l"/>
            <a:r>
              <a:rPr sz="900" b="1" i="0">
                <a:solidFill>
                  <a:srgbClr val="22C96A"/>
                </a:solidFill>
                <a:latin typeface="Arial"/>
              </a:rPr>
              <a:t>15</a:t>
            </a:r>
          </a:p>
        </p:txBody>
      </p:sp>
      <p:sp>
        <p:nvSpPr>
          <p:cNvPr id="53" name="TextBox 52"/>
          <p:cNvSpPr txBox="1"/>
          <p:nvPr/>
        </p:nvSpPr>
        <p:spPr>
          <a:xfrm>
            <a:off x="3708400" y="3733800"/>
            <a:ext cx="2159000" cy="203200"/>
          </a:xfrm>
          <a:prstGeom prst="rect">
            <a:avLst/>
          </a:prstGeom>
          <a:noFill/>
        </p:spPr>
        <p:txBody>
          <a:bodyPr wrap="square" lIns="0" rIns="0" tIns="0" bIns="0" anchor="t">
            <a:spAutoFit/>
          </a:bodyPr>
          <a:lstStyle/>
          <a:p>
            <a:pPr algn="l"/>
            <a:r>
              <a:rPr sz="1100" b="0" i="0">
                <a:solidFill>
                  <a:srgbClr val="11181C"/>
                </a:solidFill>
                <a:latin typeface="Georgia"/>
              </a:rPr>
              <a:t>Section patterns</a:t>
            </a:r>
          </a:p>
        </p:txBody>
      </p:sp>
      <p:cxnSp>
        <p:nvCxnSpPr>
          <p:cNvPr id="54" name="Connector 53"/>
          <p:cNvCxnSpPr/>
          <p:nvPr/>
        </p:nvCxnSpPr>
        <p:spPr>
          <a:xfrm>
            <a:off x="3352800" y="4013200"/>
            <a:ext cx="2540000" cy="0"/>
          </a:xfrm>
          <a:prstGeom prst="line">
            <a:avLst/>
          </a:prstGeom>
          <a:ln w="9525">
            <a:solidFill>
              <a:srgbClr val="EBEDEF"/>
            </a:solidFill>
          </a:ln>
        </p:spPr>
      </p:cxnSp>
      <p:sp>
        <p:nvSpPr>
          <p:cNvPr id="55" name="TextBox 54"/>
          <p:cNvSpPr txBox="1"/>
          <p:nvPr/>
        </p:nvSpPr>
        <p:spPr>
          <a:xfrm>
            <a:off x="3352800" y="4140200"/>
            <a:ext cx="381000" cy="177800"/>
          </a:xfrm>
          <a:prstGeom prst="rect">
            <a:avLst/>
          </a:prstGeom>
          <a:noFill/>
        </p:spPr>
        <p:txBody>
          <a:bodyPr wrap="square" lIns="0" rIns="0" tIns="0" bIns="0" anchor="t">
            <a:spAutoFit/>
          </a:bodyPr>
          <a:lstStyle/>
          <a:p>
            <a:pPr algn="l"/>
            <a:r>
              <a:rPr sz="900" b="1" i="0">
                <a:solidFill>
                  <a:srgbClr val="22C96A"/>
                </a:solidFill>
                <a:latin typeface="Arial"/>
              </a:rPr>
              <a:t>16</a:t>
            </a:r>
          </a:p>
        </p:txBody>
      </p:sp>
      <p:sp>
        <p:nvSpPr>
          <p:cNvPr id="56" name="TextBox 55"/>
          <p:cNvSpPr txBox="1"/>
          <p:nvPr/>
        </p:nvSpPr>
        <p:spPr>
          <a:xfrm>
            <a:off x="3708400" y="4127500"/>
            <a:ext cx="2159000" cy="203200"/>
          </a:xfrm>
          <a:prstGeom prst="rect">
            <a:avLst/>
          </a:prstGeom>
          <a:noFill/>
        </p:spPr>
        <p:txBody>
          <a:bodyPr wrap="square" lIns="0" rIns="0" tIns="0" bIns="0" anchor="t">
            <a:spAutoFit/>
          </a:bodyPr>
          <a:lstStyle/>
          <a:p>
            <a:pPr algn="l"/>
            <a:r>
              <a:rPr sz="1100" b="0" i="0">
                <a:solidFill>
                  <a:srgbClr val="11181C"/>
                </a:solidFill>
                <a:latin typeface="Georgia"/>
              </a:rPr>
              <a:t>Charts</a:t>
            </a:r>
          </a:p>
        </p:txBody>
      </p:sp>
      <p:cxnSp>
        <p:nvCxnSpPr>
          <p:cNvPr id="57" name="Connector 56"/>
          <p:cNvCxnSpPr/>
          <p:nvPr/>
        </p:nvCxnSpPr>
        <p:spPr>
          <a:xfrm>
            <a:off x="3352800" y="4406900"/>
            <a:ext cx="2540000" cy="0"/>
          </a:xfrm>
          <a:prstGeom prst="line">
            <a:avLst/>
          </a:prstGeom>
          <a:ln w="9525">
            <a:solidFill>
              <a:srgbClr val="EBEDEF"/>
            </a:solidFill>
          </a:ln>
        </p:spPr>
      </p:cxnSp>
      <p:sp>
        <p:nvSpPr>
          <p:cNvPr id="58" name="TextBox 57"/>
          <p:cNvSpPr txBox="1"/>
          <p:nvPr/>
        </p:nvSpPr>
        <p:spPr>
          <a:xfrm>
            <a:off x="3352800" y="4533900"/>
            <a:ext cx="381000" cy="177800"/>
          </a:xfrm>
          <a:prstGeom prst="rect">
            <a:avLst/>
          </a:prstGeom>
          <a:noFill/>
        </p:spPr>
        <p:txBody>
          <a:bodyPr wrap="square" lIns="0" rIns="0" tIns="0" bIns="0" anchor="t">
            <a:spAutoFit/>
          </a:bodyPr>
          <a:lstStyle/>
          <a:p>
            <a:pPr algn="l"/>
            <a:r>
              <a:rPr sz="900" b="1" i="0">
                <a:solidFill>
                  <a:srgbClr val="22C96A"/>
                </a:solidFill>
                <a:latin typeface="Arial"/>
              </a:rPr>
              <a:t>17</a:t>
            </a:r>
          </a:p>
        </p:txBody>
      </p:sp>
      <p:sp>
        <p:nvSpPr>
          <p:cNvPr id="59" name="TextBox 58"/>
          <p:cNvSpPr txBox="1"/>
          <p:nvPr/>
        </p:nvSpPr>
        <p:spPr>
          <a:xfrm>
            <a:off x="3708400" y="4521200"/>
            <a:ext cx="2159000" cy="203200"/>
          </a:xfrm>
          <a:prstGeom prst="rect">
            <a:avLst/>
          </a:prstGeom>
          <a:noFill/>
        </p:spPr>
        <p:txBody>
          <a:bodyPr wrap="square" lIns="0" rIns="0" tIns="0" bIns="0" anchor="t">
            <a:spAutoFit/>
          </a:bodyPr>
          <a:lstStyle/>
          <a:p>
            <a:pPr algn="l"/>
            <a:r>
              <a:rPr sz="1100" b="0" i="0">
                <a:solidFill>
                  <a:srgbClr val="11181C"/>
                </a:solidFill>
                <a:latin typeface="Georgia"/>
              </a:rPr>
              <a:t>Tables</a:t>
            </a:r>
          </a:p>
        </p:txBody>
      </p:sp>
      <p:cxnSp>
        <p:nvCxnSpPr>
          <p:cNvPr id="60" name="Connector 59"/>
          <p:cNvCxnSpPr/>
          <p:nvPr/>
        </p:nvCxnSpPr>
        <p:spPr>
          <a:xfrm>
            <a:off x="3352800" y="4800600"/>
            <a:ext cx="2540000" cy="0"/>
          </a:xfrm>
          <a:prstGeom prst="line">
            <a:avLst/>
          </a:prstGeom>
          <a:ln w="9525">
            <a:solidFill>
              <a:srgbClr val="EBEDEF"/>
            </a:solidFill>
          </a:ln>
        </p:spPr>
      </p:cxnSp>
      <p:sp>
        <p:nvSpPr>
          <p:cNvPr id="61" name="TextBox 60"/>
          <p:cNvSpPr txBox="1"/>
          <p:nvPr/>
        </p:nvSpPr>
        <p:spPr>
          <a:xfrm>
            <a:off x="3352800" y="4927600"/>
            <a:ext cx="381000" cy="177800"/>
          </a:xfrm>
          <a:prstGeom prst="rect">
            <a:avLst/>
          </a:prstGeom>
          <a:noFill/>
        </p:spPr>
        <p:txBody>
          <a:bodyPr wrap="square" lIns="0" rIns="0" tIns="0" bIns="0" anchor="t">
            <a:spAutoFit/>
          </a:bodyPr>
          <a:lstStyle/>
          <a:p>
            <a:pPr algn="l"/>
            <a:r>
              <a:rPr sz="900" b="1" i="0">
                <a:solidFill>
                  <a:srgbClr val="22C96A"/>
                </a:solidFill>
                <a:latin typeface="Arial"/>
              </a:rPr>
              <a:t>18</a:t>
            </a:r>
          </a:p>
        </p:txBody>
      </p:sp>
      <p:sp>
        <p:nvSpPr>
          <p:cNvPr id="62" name="TextBox 61"/>
          <p:cNvSpPr txBox="1"/>
          <p:nvPr/>
        </p:nvSpPr>
        <p:spPr>
          <a:xfrm>
            <a:off x="3708400" y="4914900"/>
            <a:ext cx="2159000" cy="203200"/>
          </a:xfrm>
          <a:prstGeom prst="rect">
            <a:avLst/>
          </a:prstGeom>
          <a:noFill/>
        </p:spPr>
        <p:txBody>
          <a:bodyPr wrap="square" lIns="0" rIns="0" tIns="0" bIns="0" anchor="t">
            <a:spAutoFit/>
          </a:bodyPr>
          <a:lstStyle/>
          <a:p>
            <a:pPr algn="l"/>
            <a:r>
              <a:rPr sz="1100" b="0" i="0">
                <a:solidFill>
                  <a:srgbClr val="11181C"/>
                </a:solidFill>
                <a:latin typeface="Georgia"/>
              </a:rPr>
              <a:t>Imagery</a:t>
            </a:r>
          </a:p>
        </p:txBody>
      </p:sp>
      <p:cxnSp>
        <p:nvCxnSpPr>
          <p:cNvPr id="63" name="Connector 62"/>
          <p:cNvCxnSpPr/>
          <p:nvPr/>
        </p:nvCxnSpPr>
        <p:spPr>
          <a:xfrm>
            <a:off x="3352800" y="5194300"/>
            <a:ext cx="2540000" cy="0"/>
          </a:xfrm>
          <a:prstGeom prst="line">
            <a:avLst/>
          </a:prstGeom>
          <a:ln w="9525">
            <a:solidFill>
              <a:srgbClr val="EBEDEF"/>
            </a:solidFill>
          </a:ln>
        </p:spPr>
      </p:cxnSp>
      <p:sp>
        <p:nvSpPr>
          <p:cNvPr id="64" name="TextBox 63"/>
          <p:cNvSpPr txBox="1"/>
          <p:nvPr/>
        </p:nvSpPr>
        <p:spPr>
          <a:xfrm>
            <a:off x="6096000" y="2235200"/>
            <a:ext cx="2540000" cy="152400"/>
          </a:xfrm>
          <a:prstGeom prst="rect">
            <a:avLst/>
          </a:prstGeom>
          <a:noFill/>
        </p:spPr>
        <p:txBody>
          <a:bodyPr wrap="square" lIns="0" rIns="0" tIns="0" bIns="0" anchor="t">
            <a:spAutoFit/>
          </a:bodyPr>
          <a:lstStyle/>
          <a:p>
            <a:pPr algn="l"/>
            <a:r>
              <a:rPr sz="850" b="1" i="0" spc="150">
                <a:solidFill>
                  <a:srgbClr val="697177"/>
                </a:solidFill>
                <a:latin typeface="Arial"/>
              </a:rPr>
              <a:t>LAYOUTS</a:t>
            </a:r>
          </a:p>
        </p:txBody>
      </p:sp>
      <p:cxnSp>
        <p:nvCxnSpPr>
          <p:cNvPr id="65" name="Connector 64"/>
          <p:cNvCxnSpPr/>
          <p:nvPr/>
        </p:nvCxnSpPr>
        <p:spPr>
          <a:xfrm>
            <a:off x="6096000" y="2438400"/>
            <a:ext cx="2540000" cy="0"/>
          </a:xfrm>
          <a:prstGeom prst="line">
            <a:avLst/>
          </a:prstGeom>
          <a:ln w="9525">
            <a:solidFill>
              <a:srgbClr val="E6E8EB"/>
            </a:solidFill>
          </a:ln>
        </p:spPr>
      </p:cxnSp>
      <p:sp>
        <p:nvSpPr>
          <p:cNvPr id="66" name="TextBox 65"/>
          <p:cNvSpPr txBox="1"/>
          <p:nvPr/>
        </p:nvSpPr>
        <p:spPr>
          <a:xfrm>
            <a:off x="6096000" y="2565400"/>
            <a:ext cx="381000" cy="177800"/>
          </a:xfrm>
          <a:prstGeom prst="rect">
            <a:avLst/>
          </a:prstGeom>
          <a:noFill/>
        </p:spPr>
        <p:txBody>
          <a:bodyPr wrap="square" lIns="0" rIns="0" tIns="0" bIns="0" anchor="t">
            <a:spAutoFit/>
          </a:bodyPr>
          <a:lstStyle/>
          <a:p>
            <a:pPr algn="l"/>
            <a:r>
              <a:rPr sz="900" b="1" i="0">
                <a:solidFill>
                  <a:srgbClr val="22C96A"/>
                </a:solidFill>
                <a:latin typeface="Arial"/>
              </a:rPr>
              <a:t>19</a:t>
            </a:r>
          </a:p>
        </p:txBody>
      </p:sp>
      <p:sp>
        <p:nvSpPr>
          <p:cNvPr id="67" name="TextBox 66"/>
          <p:cNvSpPr txBox="1"/>
          <p:nvPr/>
        </p:nvSpPr>
        <p:spPr>
          <a:xfrm>
            <a:off x="6451600" y="2552700"/>
            <a:ext cx="2159000" cy="203200"/>
          </a:xfrm>
          <a:prstGeom prst="rect">
            <a:avLst/>
          </a:prstGeom>
          <a:noFill/>
        </p:spPr>
        <p:txBody>
          <a:bodyPr wrap="square" lIns="0" rIns="0" tIns="0" bIns="0" anchor="t">
            <a:spAutoFit/>
          </a:bodyPr>
          <a:lstStyle/>
          <a:p>
            <a:pPr algn="l"/>
            <a:r>
              <a:rPr sz="1100" b="0" i="0">
                <a:solidFill>
                  <a:srgbClr val="11181C"/>
                </a:solidFill>
                <a:latin typeface="Georgia"/>
              </a:rPr>
              <a:t>Page types</a:t>
            </a:r>
          </a:p>
        </p:txBody>
      </p:sp>
      <p:cxnSp>
        <p:nvCxnSpPr>
          <p:cNvPr id="68" name="Connector 67"/>
          <p:cNvCxnSpPr/>
          <p:nvPr/>
        </p:nvCxnSpPr>
        <p:spPr>
          <a:xfrm>
            <a:off x="6096000" y="2832100"/>
            <a:ext cx="2540000" cy="0"/>
          </a:xfrm>
          <a:prstGeom prst="line">
            <a:avLst/>
          </a:prstGeom>
          <a:ln w="9525">
            <a:solidFill>
              <a:srgbClr val="EBEDEF"/>
            </a:solidFill>
          </a:ln>
        </p:spPr>
      </p:cxnSp>
      <p:sp>
        <p:nvSpPr>
          <p:cNvPr id="69" name="TextBox 68"/>
          <p:cNvSpPr txBox="1"/>
          <p:nvPr/>
        </p:nvSpPr>
        <p:spPr>
          <a:xfrm>
            <a:off x="6096000" y="2959100"/>
            <a:ext cx="381000" cy="177800"/>
          </a:xfrm>
          <a:prstGeom prst="rect">
            <a:avLst/>
          </a:prstGeom>
          <a:noFill/>
        </p:spPr>
        <p:txBody>
          <a:bodyPr wrap="square" lIns="0" rIns="0" tIns="0" bIns="0" anchor="t">
            <a:spAutoFit/>
          </a:bodyPr>
          <a:lstStyle/>
          <a:p>
            <a:pPr algn="l"/>
            <a:r>
              <a:rPr sz="900" b="1" i="0">
                <a:solidFill>
                  <a:srgbClr val="22C96A"/>
                </a:solidFill>
                <a:latin typeface="Arial"/>
              </a:rPr>
              <a:t>20</a:t>
            </a:r>
          </a:p>
        </p:txBody>
      </p:sp>
      <p:sp>
        <p:nvSpPr>
          <p:cNvPr id="70" name="TextBox 69"/>
          <p:cNvSpPr txBox="1"/>
          <p:nvPr/>
        </p:nvSpPr>
        <p:spPr>
          <a:xfrm>
            <a:off x="6451600" y="2946400"/>
            <a:ext cx="2159000" cy="203200"/>
          </a:xfrm>
          <a:prstGeom prst="rect">
            <a:avLst/>
          </a:prstGeom>
          <a:noFill/>
        </p:spPr>
        <p:txBody>
          <a:bodyPr wrap="square" lIns="0" rIns="0" tIns="0" bIns="0" anchor="t">
            <a:spAutoFit/>
          </a:bodyPr>
          <a:lstStyle/>
          <a:p>
            <a:pPr algn="l"/>
            <a:r>
              <a:rPr sz="1100" b="0" i="0">
                <a:solidFill>
                  <a:srgbClr val="11181C"/>
                </a:solidFill>
                <a:latin typeface="Georgia"/>
              </a:rPr>
              <a:t>Dark sections</a:t>
            </a:r>
          </a:p>
        </p:txBody>
      </p:sp>
      <p:cxnSp>
        <p:nvCxnSpPr>
          <p:cNvPr id="71" name="Connector 70"/>
          <p:cNvCxnSpPr/>
          <p:nvPr/>
        </p:nvCxnSpPr>
        <p:spPr>
          <a:xfrm>
            <a:off x="6096000" y="3225800"/>
            <a:ext cx="2540000" cy="0"/>
          </a:xfrm>
          <a:prstGeom prst="line">
            <a:avLst/>
          </a:prstGeom>
          <a:ln w="9525">
            <a:solidFill>
              <a:srgbClr val="EBEDEF"/>
            </a:solidFill>
          </a:ln>
        </p:spPr>
      </p:cxnSp>
      <p:sp>
        <p:nvSpPr>
          <p:cNvPr id="72" name="TextBox 71"/>
          <p:cNvSpPr txBox="1"/>
          <p:nvPr/>
        </p:nvSpPr>
        <p:spPr>
          <a:xfrm>
            <a:off x="6096000" y="3352800"/>
            <a:ext cx="381000" cy="177800"/>
          </a:xfrm>
          <a:prstGeom prst="rect">
            <a:avLst/>
          </a:prstGeom>
          <a:noFill/>
        </p:spPr>
        <p:txBody>
          <a:bodyPr wrap="square" lIns="0" rIns="0" tIns="0" bIns="0" anchor="t">
            <a:spAutoFit/>
          </a:bodyPr>
          <a:lstStyle/>
          <a:p>
            <a:pPr algn="l"/>
            <a:r>
              <a:rPr sz="900" b="1" i="0">
                <a:solidFill>
                  <a:srgbClr val="22C96A"/>
                </a:solidFill>
                <a:latin typeface="Arial"/>
              </a:rPr>
              <a:t>21</a:t>
            </a:r>
          </a:p>
        </p:txBody>
      </p:sp>
      <p:sp>
        <p:nvSpPr>
          <p:cNvPr id="73" name="TextBox 72"/>
          <p:cNvSpPr txBox="1"/>
          <p:nvPr/>
        </p:nvSpPr>
        <p:spPr>
          <a:xfrm>
            <a:off x="6451600" y="3340100"/>
            <a:ext cx="2159000" cy="203200"/>
          </a:xfrm>
          <a:prstGeom prst="rect">
            <a:avLst/>
          </a:prstGeom>
          <a:noFill/>
        </p:spPr>
        <p:txBody>
          <a:bodyPr wrap="square" lIns="0" rIns="0" tIns="0" bIns="0" anchor="t">
            <a:spAutoFit/>
          </a:bodyPr>
          <a:lstStyle/>
          <a:p>
            <a:pPr algn="l"/>
            <a:r>
              <a:rPr sz="1100" b="0" i="0">
                <a:solidFill>
                  <a:srgbClr val="11181C"/>
                </a:solidFill>
                <a:latin typeface="Georgia"/>
              </a:rPr>
              <a:t>Applied example</a:t>
            </a:r>
          </a:p>
        </p:txBody>
      </p:sp>
      <p:cxnSp>
        <p:nvCxnSpPr>
          <p:cNvPr id="74" name="Connector 73"/>
          <p:cNvCxnSpPr/>
          <p:nvPr/>
        </p:nvCxnSpPr>
        <p:spPr>
          <a:xfrm>
            <a:off x="6096000" y="3619500"/>
            <a:ext cx="2540000" cy="0"/>
          </a:xfrm>
          <a:prstGeom prst="line">
            <a:avLst/>
          </a:prstGeom>
          <a:ln w="9525">
            <a:solidFill>
              <a:srgbClr val="EBEDEF"/>
            </a:solidFill>
          </a:ln>
        </p:spPr>
      </p:cxnSp>
      <p:sp>
        <p:nvSpPr>
          <p:cNvPr id="75" name="TextBox 74"/>
          <p:cNvSpPr txBox="1"/>
          <p:nvPr/>
        </p:nvSpPr>
        <p:spPr>
          <a:xfrm>
            <a:off x="8839200" y="2235200"/>
            <a:ext cx="2540000" cy="152400"/>
          </a:xfrm>
          <a:prstGeom prst="rect">
            <a:avLst/>
          </a:prstGeom>
          <a:noFill/>
        </p:spPr>
        <p:txBody>
          <a:bodyPr wrap="square" lIns="0" rIns="0" tIns="0" bIns="0" anchor="t">
            <a:spAutoFit/>
          </a:bodyPr>
          <a:lstStyle/>
          <a:p>
            <a:pPr algn="l"/>
            <a:r>
              <a:rPr sz="850" b="1" i="0" spc="150">
                <a:solidFill>
                  <a:srgbClr val="697177"/>
                </a:solidFill>
                <a:latin typeface="Arial"/>
              </a:rPr>
              <a:t>APPLICATION</a:t>
            </a:r>
          </a:p>
        </p:txBody>
      </p:sp>
      <p:cxnSp>
        <p:nvCxnSpPr>
          <p:cNvPr id="76" name="Connector 75"/>
          <p:cNvCxnSpPr/>
          <p:nvPr/>
        </p:nvCxnSpPr>
        <p:spPr>
          <a:xfrm>
            <a:off x="8839200" y="2438400"/>
            <a:ext cx="2540000" cy="0"/>
          </a:xfrm>
          <a:prstGeom prst="line">
            <a:avLst/>
          </a:prstGeom>
          <a:ln w="9525">
            <a:solidFill>
              <a:srgbClr val="E6E8EB"/>
            </a:solidFill>
          </a:ln>
        </p:spPr>
      </p:cxnSp>
      <p:sp>
        <p:nvSpPr>
          <p:cNvPr id="77" name="TextBox 76"/>
          <p:cNvSpPr txBox="1"/>
          <p:nvPr/>
        </p:nvSpPr>
        <p:spPr>
          <a:xfrm>
            <a:off x="8839200" y="2565400"/>
            <a:ext cx="381000" cy="177800"/>
          </a:xfrm>
          <a:prstGeom prst="rect">
            <a:avLst/>
          </a:prstGeom>
          <a:noFill/>
        </p:spPr>
        <p:txBody>
          <a:bodyPr wrap="square" lIns="0" rIns="0" tIns="0" bIns="0" anchor="t">
            <a:spAutoFit/>
          </a:bodyPr>
          <a:lstStyle/>
          <a:p>
            <a:pPr algn="l"/>
            <a:r>
              <a:rPr sz="900" b="1" i="0">
                <a:solidFill>
                  <a:srgbClr val="22C96A"/>
                </a:solidFill>
                <a:latin typeface="Arial"/>
              </a:rPr>
              <a:t>22</a:t>
            </a:r>
          </a:p>
        </p:txBody>
      </p:sp>
      <p:sp>
        <p:nvSpPr>
          <p:cNvPr id="78" name="TextBox 77"/>
          <p:cNvSpPr txBox="1"/>
          <p:nvPr/>
        </p:nvSpPr>
        <p:spPr>
          <a:xfrm>
            <a:off x="9194800" y="2552700"/>
            <a:ext cx="2159000" cy="203200"/>
          </a:xfrm>
          <a:prstGeom prst="rect">
            <a:avLst/>
          </a:prstGeom>
          <a:noFill/>
        </p:spPr>
        <p:txBody>
          <a:bodyPr wrap="square" lIns="0" rIns="0" tIns="0" bIns="0" anchor="t">
            <a:spAutoFit/>
          </a:bodyPr>
          <a:lstStyle/>
          <a:p>
            <a:pPr algn="l"/>
            <a:r>
              <a:rPr sz="1100" b="0" i="0">
                <a:solidFill>
                  <a:srgbClr val="11181C"/>
                </a:solidFill>
                <a:latin typeface="Georgia"/>
              </a:rPr>
              <a:t>Writing &amp; voice</a:t>
            </a:r>
          </a:p>
        </p:txBody>
      </p:sp>
      <p:cxnSp>
        <p:nvCxnSpPr>
          <p:cNvPr id="79" name="Connector 78"/>
          <p:cNvCxnSpPr/>
          <p:nvPr/>
        </p:nvCxnSpPr>
        <p:spPr>
          <a:xfrm>
            <a:off x="8839200" y="2832100"/>
            <a:ext cx="2540000" cy="0"/>
          </a:xfrm>
          <a:prstGeom prst="line">
            <a:avLst/>
          </a:prstGeom>
          <a:ln w="9525">
            <a:solidFill>
              <a:srgbClr val="EBEDEF"/>
            </a:solidFill>
          </a:ln>
        </p:spPr>
      </p:cxnSp>
      <p:sp>
        <p:nvSpPr>
          <p:cNvPr id="80" name="TextBox 79"/>
          <p:cNvSpPr txBox="1"/>
          <p:nvPr/>
        </p:nvSpPr>
        <p:spPr>
          <a:xfrm>
            <a:off x="8839200" y="2959100"/>
            <a:ext cx="381000" cy="177800"/>
          </a:xfrm>
          <a:prstGeom prst="rect">
            <a:avLst/>
          </a:prstGeom>
          <a:noFill/>
        </p:spPr>
        <p:txBody>
          <a:bodyPr wrap="square" lIns="0" rIns="0" tIns="0" bIns="0" anchor="t">
            <a:spAutoFit/>
          </a:bodyPr>
          <a:lstStyle/>
          <a:p>
            <a:pPr algn="l"/>
            <a:r>
              <a:rPr sz="900" b="1" i="0">
                <a:solidFill>
                  <a:srgbClr val="22C96A"/>
                </a:solidFill>
                <a:latin typeface="Arial"/>
              </a:rPr>
              <a:t>23</a:t>
            </a:r>
          </a:p>
        </p:txBody>
      </p:sp>
      <p:sp>
        <p:nvSpPr>
          <p:cNvPr id="81" name="TextBox 80"/>
          <p:cNvSpPr txBox="1"/>
          <p:nvPr/>
        </p:nvSpPr>
        <p:spPr>
          <a:xfrm>
            <a:off x="9194800" y="2946400"/>
            <a:ext cx="2159000" cy="203200"/>
          </a:xfrm>
          <a:prstGeom prst="rect">
            <a:avLst/>
          </a:prstGeom>
          <a:noFill/>
        </p:spPr>
        <p:txBody>
          <a:bodyPr wrap="square" lIns="0" rIns="0" tIns="0" bIns="0" anchor="t">
            <a:spAutoFit/>
          </a:bodyPr>
          <a:lstStyle/>
          <a:p>
            <a:pPr algn="l"/>
            <a:r>
              <a:rPr sz="1100" b="0" i="0">
                <a:solidFill>
                  <a:srgbClr val="11181C"/>
                </a:solidFill>
                <a:latin typeface="Georgia"/>
              </a:rPr>
              <a:t>Numbers &amp; formats</a:t>
            </a:r>
          </a:p>
        </p:txBody>
      </p:sp>
      <p:cxnSp>
        <p:nvCxnSpPr>
          <p:cNvPr id="82" name="Connector 81"/>
          <p:cNvCxnSpPr/>
          <p:nvPr/>
        </p:nvCxnSpPr>
        <p:spPr>
          <a:xfrm>
            <a:off x="8839200" y="3225800"/>
            <a:ext cx="2540000" cy="0"/>
          </a:xfrm>
          <a:prstGeom prst="line">
            <a:avLst/>
          </a:prstGeom>
          <a:ln w="9525">
            <a:solidFill>
              <a:srgbClr val="EBEDEF"/>
            </a:solidFill>
          </a:ln>
        </p:spPr>
      </p:cxnSp>
      <p:sp>
        <p:nvSpPr>
          <p:cNvPr id="83" name="TextBox 82"/>
          <p:cNvSpPr txBox="1"/>
          <p:nvPr/>
        </p:nvSpPr>
        <p:spPr>
          <a:xfrm>
            <a:off x="8839200" y="3352800"/>
            <a:ext cx="381000" cy="177800"/>
          </a:xfrm>
          <a:prstGeom prst="rect">
            <a:avLst/>
          </a:prstGeom>
          <a:noFill/>
        </p:spPr>
        <p:txBody>
          <a:bodyPr wrap="square" lIns="0" rIns="0" tIns="0" bIns="0" anchor="t">
            <a:spAutoFit/>
          </a:bodyPr>
          <a:lstStyle/>
          <a:p>
            <a:pPr algn="l"/>
            <a:r>
              <a:rPr sz="900" b="1" i="0">
                <a:solidFill>
                  <a:srgbClr val="22C96A"/>
                </a:solidFill>
                <a:latin typeface="Arial"/>
              </a:rPr>
              <a:t>24</a:t>
            </a:r>
          </a:p>
        </p:txBody>
      </p:sp>
      <p:sp>
        <p:nvSpPr>
          <p:cNvPr id="84" name="TextBox 83"/>
          <p:cNvSpPr txBox="1"/>
          <p:nvPr/>
        </p:nvSpPr>
        <p:spPr>
          <a:xfrm>
            <a:off x="9194800" y="3340100"/>
            <a:ext cx="2159000" cy="203200"/>
          </a:xfrm>
          <a:prstGeom prst="rect">
            <a:avLst/>
          </a:prstGeom>
          <a:noFill/>
        </p:spPr>
        <p:txBody>
          <a:bodyPr wrap="square" lIns="0" rIns="0" tIns="0" bIns="0" anchor="t">
            <a:spAutoFit/>
          </a:bodyPr>
          <a:lstStyle/>
          <a:p>
            <a:pPr algn="l"/>
            <a:r>
              <a:rPr sz="1100" b="0" i="0">
                <a:solidFill>
                  <a:srgbClr val="11181C"/>
                </a:solidFill>
                <a:latin typeface="Georgia"/>
              </a:rPr>
              <a:t>Draft → final workflow</a:t>
            </a:r>
          </a:p>
        </p:txBody>
      </p:sp>
      <p:cxnSp>
        <p:nvCxnSpPr>
          <p:cNvPr id="85" name="Connector 84"/>
          <p:cNvCxnSpPr/>
          <p:nvPr/>
        </p:nvCxnSpPr>
        <p:spPr>
          <a:xfrm>
            <a:off x="8839200" y="3619500"/>
            <a:ext cx="2540000" cy="0"/>
          </a:xfrm>
          <a:prstGeom prst="line">
            <a:avLst/>
          </a:prstGeom>
          <a:ln w="9525">
            <a:solidFill>
              <a:srgbClr val="EBEDEF"/>
            </a:solidFill>
          </a:ln>
        </p:spPr>
      </p:cxnSp>
      <p:sp>
        <p:nvSpPr>
          <p:cNvPr id="86" name="TextBox 85"/>
          <p:cNvSpPr txBox="1"/>
          <p:nvPr/>
        </p:nvSpPr>
        <p:spPr>
          <a:xfrm>
            <a:off x="8839200" y="3746500"/>
            <a:ext cx="381000" cy="177800"/>
          </a:xfrm>
          <a:prstGeom prst="rect">
            <a:avLst/>
          </a:prstGeom>
          <a:noFill/>
        </p:spPr>
        <p:txBody>
          <a:bodyPr wrap="square" lIns="0" rIns="0" tIns="0" bIns="0" anchor="t">
            <a:spAutoFit/>
          </a:bodyPr>
          <a:lstStyle/>
          <a:p>
            <a:pPr algn="l"/>
            <a:r>
              <a:rPr sz="900" b="1" i="0">
                <a:solidFill>
                  <a:srgbClr val="22C96A"/>
                </a:solidFill>
                <a:latin typeface="Arial"/>
              </a:rPr>
              <a:t>25</a:t>
            </a:r>
          </a:p>
        </p:txBody>
      </p:sp>
      <p:sp>
        <p:nvSpPr>
          <p:cNvPr id="87" name="TextBox 86"/>
          <p:cNvSpPr txBox="1"/>
          <p:nvPr/>
        </p:nvSpPr>
        <p:spPr>
          <a:xfrm>
            <a:off x="9194800" y="3733800"/>
            <a:ext cx="2159000" cy="203200"/>
          </a:xfrm>
          <a:prstGeom prst="rect">
            <a:avLst/>
          </a:prstGeom>
          <a:noFill/>
        </p:spPr>
        <p:txBody>
          <a:bodyPr wrap="square" lIns="0" rIns="0" tIns="0" bIns="0" anchor="t">
            <a:spAutoFit/>
          </a:bodyPr>
          <a:lstStyle/>
          <a:p>
            <a:pPr algn="l"/>
            <a:r>
              <a:rPr sz="1100" b="0" i="0">
                <a:solidFill>
                  <a:srgbClr val="11181C"/>
                </a:solidFill>
                <a:latin typeface="Georgia"/>
              </a:rPr>
              <a:t>Pre-send checklist</a:t>
            </a:r>
          </a:p>
        </p:txBody>
      </p:sp>
      <p:cxnSp>
        <p:nvCxnSpPr>
          <p:cNvPr id="88" name="Connector 87"/>
          <p:cNvCxnSpPr/>
          <p:nvPr/>
        </p:nvCxnSpPr>
        <p:spPr>
          <a:xfrm>
            <a:off x="8839200" y="4013200"/>
            <a:ext cx="2540000" cy="0"/>
          </a:xfrm>
          <a:prstGeom prst="line">
            <a:avLst/>
          </a:prstGeom>
          <a:ln w="9525">
            <a:solidFill>
              <a:srgbClr val="EBEDEF"/>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WHY THIS STYLE</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Professional slides, </a:t>
            </a:r>
            <a:r>
              <a:rPr sz="2400" b="0" i="1">
                <a:solidFill>
                  <a:srgbClr val="11181C"/>
                </a:solidFill>
                <a:latin typeface="Georgia"/>
              </a:rPr>
              <a:t>managed</a:t>
            </a:r>
            <a:r>
              <a:rPr sz="2400" b="0" i="0">
                <a:solidFill>
                  <a:srgbClr val="11181C"/>
                </a:solidFill>
                <a:latin typeface="Georgia"/>
              </a:rPr>
              <a:t> like a fund.</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Bitwise explains a complicated market to cautious investors. A 6-month review has the same job: explain a lot of work to busy reviewers, clearly.</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03</a:t>
            </a:r>
          </a:p>
        </p:txBody>
      </p:sp>
      <p:cxnSp>
        <p:nvCxnSpPr>
          <p:cNvPr id="12" name="Connector 11"/>
          <p:cNvCxnSpPr/>
          <p:nvPr/>
        </p:nvCxnSpPr>
        <p:spPr>
          <a:xfrm flipV="1">
            <a:off x="355600" y="3022600"/>
            <a:ext cx="11480800" cy="127000"/>
          </a:xfrm>
          <a:prstGeom prst="line">
            <a:avLst/>
          </a:prstGeom>
          <a:ln w="12700">
            <a:solidFill>
              <a:srgbClr val="E6E8EB"/>
            </a:solidFill>
          </a:ln>
        </p:spPr>
      </p:cxnSp>
      <p:sp>
        <p:nvSpPr>
          <p:cNvPr id="13" name="TextBox 12"/>
          <p:cNvSpPr txBox="1"/>
          <p:nvPr/>
        </p:nvSpPr>
        <p:spPr>
          <a:xfrm>
            <a:off x="609600" y="2667000"/>
            <a:ext cx="3429000" cy="228600"/>
          </a:xfrm>
          <a:prstGeom prst="rect">
            <a:avLst/>
          </a:prstGeom>
          <a:noFill/>
        </p:spPr>
        <p:txBody>
          <a:bodyPr wrap="square" lIns="0" rIns="0" tIns="0" bIns="0" anchor="t">
            <a:spAutoFit/>
          </a:bodyPr>
          <a:lstStyle/>
          <a:p>
            <a:pPr algn="l"/>
            <a:r>
              <a:rPr sz="1300" b="0" i="0">
                <a:solidFill>
                  <a:srgbClr val="11181C"/>
                </a:solidFill>
                <a:latin typeface="Georgia"/>
              </a:rPr>
              <a:t>Editorial serif headlines</a:t>
            </a:r>
          </a:p>
        </p:txBody>
      </p:sp>
      <p:sp>
        <p:nvSpPr>
          <p:cNvPr id="14" name="Oval 13"/>
          <p:cNvSpPr/>
          <p:nvPr/>
        </p:nvSpPr>
        <p:spPr>
          <a:xfrm>
            <a:off x="609600" y="3098800"/>
            <a:ext cx="76200" cy="76200"/>
          </a:xfrm>
          <a:prstGeom prst="ellipse">
            <a:avLst/>
          </a:prstGeom>
          <a:solidFill>
            <a:srgbClr val="22C96A"/>
          </a:solidFill>
          <a:ln>
            <a:noFill/>
          </a:ln>
          <a:effectLst/>
        </p:spPr>
        <p:txBody>
          <a:bodyPr rtlCol="0" anchor="ctr"/>
          <a:lstStyle/>
          <a:p>
            <a:pPr algn="ctr"/>
          </a:p>
        </p:txBody>
      </p:sp>
      <p:sp>
        <p:nvSpPr>
          <p:cNvPr id="15" name="TextBox 14"/>
          <p:cNvSpPr txBox="1"/>
          <p:nvPr/>
        </p:nvSpPr>
        <p:spPr>
          <a:xfrm>
            <a:off x="609600" y="3378200"/>
            <a:ext cx="3302000" cy="889000"/>
          </a:xfrm>
          <a:prstGeom prst="rect">
            <a:avLst/>
          </a:prstGeom>
          <a:noFill/>
        </p:spPr>
        <p:txBody>
          <a:bodyPr wrap="square" lIns="0" rIns="0" tIns="0" bIns="0" anchor="t">
            <a:spAutoFit/>
          </a:bodyPr>
          <a:lstStyle/>
          <a:p>
            <a:pPr algn="l">
              <a:lnSpc>
                <a:spcPct val="145000"/>
              </a:lnSpc>
            </a:pPr>
            <a:r>
              <a:rPr sz="1000" b="0" i="0">
                <a:solidFill>
                  <a:srgbClr val="4D555C"/>
                </a:solidFill>
                <a:latin typeface="Arial"/>
              </a:rPr>
              <a:t>Headlines are set in a light serif with one phrase in italic. It reads like a research note, not a sales pitch.</a:t>
            </a:r>
          </a:p>
        </p:txBody>
      </p:sp>
      <p:sp>
        <p:nvSpPr>
          <p:cNvPr id="16" name="TextBox 15"/>
          <p:cNvSpPr txBox="1"/>
          <p:nvPr/>
        </p:nvSpPr>
        <p:spPr>
          <a:xfrm>
            <a:off x="4419600" y="2667000"/>
            <a:ext cx="3429000" cy="228600"/>
          </a:xfrm>
          <a:prstGeom prst="rect">
            <a:avLst/>
          </a:prstGeom>
          <a:noFill/>
        </p:spPr>
        <p:txBody>
          <a:bodyPr wrap="square" lIns="0" rIns="0" tIns="0" bIns="0" anchor="t">
            <a:spAutoFit/>
          </a:bodyPr>
          <a:lstStyle/>
          <a:p>
            <a:pPr algn="l"/>
            <a:r>
              <a:rPr sz="1300" b="0" i="0">
                <a:solidFill>
                  <a:srgbClr val="11181C"/>
                </a:solidFill>
                <a:latin typeface="Georgia"/>
              </a:rPr>
              <a:t>Quiet neutrals, one green</a:t>
            </a:r>
          </a:p>
        </p:txBody>
      </p:sp>
      <p:sp>
        <p:nvSpPr>
          <p:cNvPr id="17" name="Oval 16"/>
          <p:cNvSpPr/>
          <p:nvPr/>
        </p:nvSpPr>
        <p:spPr>
          <a:xfrm>
            <a:off x="4419600" y="3040380"/>
            <a:ext cx="76200" cy="76200"/>
          </a:xfrm>
          <a:prstGeom prst="ellipse">
            <a:avLst/>
          </a:prstGeom>
          <a:solidFill>
            <a:srgbClr val="22C96A"/>
          </a:solidFill>
          <a:ln>
            <a:noFill/>
          </a:ln>
          <a:effectLst/>
        </p:spPr>
        <p:txBody>
          <a:bodyPr rtlCol="0" anchor="ctr"/>
          <a:lstStyle/>
          <a:p>
            <a:pPr algn="ctr"/>
          </a:p>
        </p:txBody>
      </p:sp>
      <p:sp>
        <p:nvSpPr>
          <p:cNvPr id="18" name="TextBox 17"/>
          <p:cNvSpPr txBox="1"/>
          <p:nvPr/>
        </p:nvSpPr>
        <p:spPr>
          <a:xfrm>
            <a:off x="4419600" y="3378200"/>
            <a:ext cx="3302000" cy="889000"/>
          </a:xfrm>
          <a:prstGeom prst="rect">
            <a:avLst/>
          </a:prstGeom>
          <a:noFill/>
        </p:spPr>
        <p:txBody>
          <a:bodyPr wrap="square" lIns="0" rIns="0" tIns="0" bIns="0" anchor="t">
            <a:spAutoFit/>
          </a:bodyPr>
          <a:lstStyle/>
          <a:p>
            <a:pPr algn="l">
              <a:lnSpc>
                <a:spcPct val="145000"/>
              </a:lnSpc>
            </a:pPr>
            <a:r>
              <a:rPr sz="1000" b="0" i="0">
                <a:solidFill>
                  <a:srgbClr val="4D555C"/>
                </a:solidFill>
                <a:latin typeface="Arial"/>
              </a:rPr>
              <a:t>Almost everything is slate grey on white. Green is used only for actions, highlights and the focus series in a chart.</a:t>
            </a:r>
          </a:p>
        </p:txBody>
      </p:sp>
      <p:sp>
        <p:nvSpPr>
          <p:cNvPr id="19" name="TextBox 18"/>
          <p:cNvSpPr txBox="1"/>
          <p:nvPr/>
        </p:nvSpPr>
        <p:spPr>
          <a:xfrm>
            <a:off x="8229600" y="2667000"/>
            <a:ext cx="3429000" cy="228600"/>
          </a:xfrm>
          <a:prstGeom prst="rect">
            <a:avLst/>
          </a:prstGeom>
          <a:noFill/>
        </p:spPr>
        <p:txBody>
          <a:bodyPr wrap="square" lIns="0" rIns="0" tIns="0" bIns="0" anchor="t">
            <a:spAutoFit/>
          </a:bodyPr>
          <a:lstStyle/>
          <a:p>
            <a:pPr algn="l"/>
            <a:r>
              <a:rPr sz="1300" b="0" i="0">
                <a:solidFill>
                  <a:srgbClr val="11181C"/>
                </a:solidFill>
                <a:latin typeface="Georgia"/>
              </a:rPr>
              <a:t>Space does the work</a:t>
            </a:r>
          </a:p>
        </p:txBody>
      </p:sp>
      <p:sp>
        <p:nvSpPr>
          <p:cNvPr id="20" name="Oval 19"/>
          <p:cNvSpPr/>
          <p:nvPr/>
        </p:nvSpPr>
        <p:spPr>
          <a:xfrm>
            <a:off x="8229600" y="2981960"/>
            <a:ext cx="76200" cy="76200"/>
          </a:xfrm>
          <a:prstGeom prst="ellipse">
            <a:avLst/>
          </a:prstGeom>
          <a:solidFill>
            <a:srgbClr val="22C96A"/>
          </a:solidFill>
          <a:ln>
            <a:noFill/>
          </a:ln>
          <a:effectLst/>
        </p:spPr>
        <p:txBody>
          <a:bodyPr rtlCol="0" anchor="ctr"/>
          <a:lstStyle/>
          <a:p>
            <a:pPr algn="ctr"/>
          </a:p>
        </p:txBody>
      </p:sp>
      <p:sp>
        <p:nvSpPr>
          <p:cNvPr id="21" name="TextBox 20"/>
          <p:cNvSpPr txBox="1"/>
          <p:nvPr/>
        </p:nvSpPr>
        <p:spPr>
          <a:xfrm>
            <a:off x="8229600" y="3378200"/>
            <a:ext cx="3302000" cy="889000"/>
          </a:xfrm>
          <a:prstGeom prst="rect">
            <a:avLst/>
          </a:prstGeom>
          <a:noFill/>
        </p:spPr>
        <p:txBody>
          <a:bodyPr wrap="square" lIns="0" rIns="0" tIns="0" bIns="0" anchor="t">
            <a:spAutoFit/>
          </a:bodyPr>
          <a:lstStyle/>
          <a:p>
            <a:pPr algn="l">
              <a:lnSpc>
                <a:spcPct val="145000"/>
              </a:lnSpc>
            </a:pPr>
            <a:r>
              <a:rPr sz="1000" b="0" i="0">
                <a:solidFill>
                  <a:srgbClr val="4D555C"/>
                </a:solidFill>
                <a:latin typeface="Arial"/>
              </a:rPr>
              <a:t>Large margins, one idea per block and centred section intros. Nothing is boxed unless it must be grouped.</a:t>
            </a:r>
          </a:p>
        </p:txBody>
      </p:sp>
      <p:sp>
        <p:nvSpPr>
          <p:cNvPr id="22" name="Rounded Rectangle 21"/>
          <p:cNvSpPr/>
          <p:nvPr/>
        </p:nvSpPr>
        <p:spPr>
          <a:xfrm>
            <a:off x="609600" y="4572000"/>
            <a:ext cx="10972800" cy="1676400"/>
          </a:xfrm>
          <a:prstGeom prst="roundRect">
            <a:avLst>
              <a:gd name="adj" fmla="val 9090"/>
            </a:avLst>
          </a:prstGeom>
          <a:solidFill>
            <a:srgbClr val="F9FAFB"/>
          </a:solidFill>
          <a:ln>
            <a:noFill/>
          </a:ln>
          <a:effectLst/>
        </p:spPr>
        <p:txBody>
          <a:bodyPr rtlCol="0" anchor="ctr"/>
          <a:lstStyle/>
          <a:p>
            <a:pPr algn="ctr"/>
          </a:p>
        </p:txBody>
      </p:sp>
      <p:sp>
        <p:nvSpPr>
          <p:cNvPr id="23" name="TextBox 22"/>
          <p:cNvSpPr txBox="1"/>
          <p:nvPr/>
        </p:nvSpPr>
        <p:spPr>
          <a:xfrm>
            <a:off x="609600" y="4826000"/>
            <a:ext cx="10972800" cy="152400"/>
          </a:xfrm>
          <a:prstGeom prst="rect">
            <a:avLst/>
          </a:prstGeom>
          <a:noFill/>
        </p:spPr>
        <p:txBody>
          <a:bodyPr wrap="square" lIns="0" rIns="0" tIns="0" bIns="0" anchor="t">
            <a:spAutoFit/>
          </a:bodyPr>
          <a:lstStyle/>
          <a:p>
            <a:pPr algn="ctr"/>
            <a:r>
              <a:rPr sz="850" b="1" i="0" spc="150">
                <a:solidFill>
                  <a:srgbClr val="697177"/>
                </a:solidFill>
                <a:latin typeface="Arial"/>
              </a:rPr>
              <a:t>THE STYLE IN THREE WORDS</a:t>
            </a:r>
          </a:p>
        </p:txBody>
      </p:sp>
      <p:sp>
        <p:nvSpPr>
          <p:cNvPr id="24" name="TextBox 23"/>
          <p:cNvSpPr txBox="1"/>
          <p:nvPr/>
        </p:nvSpPr>
        <p:spPr>
          <a:xfrm>
            <a:off x="609600" y="5054600"/>
            <a:ext cx="10972800" cy="508000"/>
          </a:xfrm>
          <a:prstGeom prst="rect">
            <a:avLst/>
          </a:prstGeom>
          <a:noFill/>
        </p:spPr>
        <p:txBody>
          <a:bodyPr wrap="square" lIns="0" rIns="0" tIns="0" bIns="0" anchor="t">
            <a:spAutoFit/>
          </a:bodyPr>
          <a:lstStyle/>
          <a:p>
            <a:pPr algn="ctr"/>
            <a:r>
              <a:rPr sz="2600" b="0" i="0">
                <a:solidFill>
                  <a:srgbClr val="11181C"/>
                </a:solidFill>
                <a:latin typeface="Georgia"/>
              </a:rPr>
              <a:t>Calm. </a:t>
            </a:r>
            <a:r>
              <a:rPr sz="2600" b="0" i="1">
                <a:solidFill>
                  <a:srgbClr val="11181C"/>
                </a:solidFill>
                <a:latin typeface="Georgia"/>
              </a:rPr>
              <a:t>Clear.</a:t>
            </a:r>
            <a:r>
              <a:rPr sz="2600" b="0" i="0">
                <a:solidFill>
                  <a:srgbClr val="11181C"/>
                </a:solidFill>
                <a:latin typeface="Georgia"/>
              </a:rPr>
              <a:t> Credible.</a:t>
            </a:r>
          </a:p>
        </p:txBody>
      </p:sp>
      <p:sp>
        <p:nvSpPr>
          <p:cNvPr id="25" name="Rounded Rectangle 24"/>
          <p:cNvSpPr/>
          <p:nvPr/>
        </p:nvSpPr>
        <p:spPr>
          <a:xfrm>
            <a:off x="5334000" y="5689600"/>
            <a:ext cx="1524000" cy="304800"/>
          </a:xfrm>
          <a:prstGeom prst="roundRect">
            <a:avLst>
              <a:gd name="adj" fmla="val 12500"/>
            </a:avLst>
          </a:prstGeom>
          <a:solidFill>
            <a:srgbClr val="22C96A"/>
          </a:solidFill>
          <a:ln>
            <a:noFill/>
          </a:ln>
          <a:effectLst/>
        </p:spPr>
        <p:txBody>
          <a:bodyPr rtlCol="0" anchor="ctr"/>
          <a:lstStyle/>
          <a:p>
            <a:pPr algn="ctr"/>
          </a:p>
        </p:txBody>
      </p:sp>
      <p:sp>
        <p:nvSpPr>
          <p:cNvPr id="26" name="TextBox 25"/>
          <p:cNvSpPr txBox="1"/>
          <p:nvPr/>
        </p:nvSpPr>
        <p:spPr>
          <a:xfrm>
            <a:off x="5334000" y="5689600"/>
            <a:ext cx="1524000" cy="304800"/>
          </a:xfrm>
          <a:prstGeom prst="rect">
            <a:avLst/>
          </a:prstGeom>
          <a:noFill/>
        </p:spPr>
        <p:txBody>
          <a:bodyPr wrap="square" lIns="0" rIns="0" tIns="0" bIns="0" anchor="ctr">
            <a:spAutoFit/>
          </a:bodyPr>
          <a:lstStyle/>
          <a:p>
            <a:pPr algn="ctr"/>
            <a:r>
              <a:rPr sz="750" b="1" i="0" spc="60">
                <a:solidFill>
                  <a:srgbClr val="FFFFFF"/>
                </a:solidFill>
                <a:latin typeface="Arial"/>
              </a:rPr>
              <a:t>READ THE RULES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FOUNDATIONS · TYPEFACES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Two families: a </a:t>
            </a:r>
            <a:r>
              <a:rPr sz="2400" b="0" i="1">
                <a:solidFill>
                  <a:srgbClr val="11181C"/>
                </a:solidFill>
                <a:latin typeface="Georgia"/>
              </a:rPr>
              <a:t>serif</a:t>
            </a:r>
            <a:r>
              <a:rPr sz="2400" b="0" i="0">
                <a:solidFill>
                  <a:srgbClr val="11181C"/>
                </a:solidFill>
                <a:latin typeface="Georgia"/>
              </a:rPr>
              <a:t> to speak, a sans to explain.</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Bitwise pairs the serif 'Items' with the grotesk 'Neue Montreal'. Both are licensed web fonts, so the deck uses the closest fonts every Office computer already has.</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04</a:t>
            </a:r>
          </a:p>
        </p:txBody>
      </p:sp>
      <p:sp>
        <p:nvSpPr>
          <p:cNvPr id="12" name="Rounded Rectangle 11"/>
          <p:cNvSpPr/>
          <p:nvPr/>
        </p:nvSpPr>
        <p:spPr>
          <a:xfrm>
            <a:off x="609600" y="2133600"/>
            <a:ext cx="5410200" cy="3810000"/>
          </a:xfrm>
          <a:prstGeom prst="roundRect">
            <a:avLst>
              <a:gd name="adj" fmla="val 3333"/>
            </a:avLst>
          </a:prstGeom>
          <a:solidFill>
            <a:srgbClr val="FFFFFF"/>
          </a:solidFill>
          <a:ln w="9525">
            <a:solidFill>
              <a:srgbClr val="E6E8EB"/>
            </a:solidFill>
          </a:ln>
          <a:effectLst/>
        </p:spPr>
        <p:txBody>
          <a:bodyPr rtlCol="0" anchor="ctr"/>
          <a:lstStyle/>
          <a:p>
            <a:pPr algn="ctr"/>
          </a:p>
        </p:txBody>
      </p:sp>
      <p:sp>
        <p:nvSpPr>
          <p:cNvPr id="13" name="TextBox 12"/>
          <p:cNvSpPr txBox="1"/>
          <p:nvPr/>
        </p:nvSpPr>
        <p:spPr>
          <a:xfrm>
            <a:off x="914400" y="2362200"/>
            <a:ext cx="2540000" cy="1143000"/>
          </a:xfrm>
          <a:prstGeom prst="rect">
            <a:avLst/>
          </a:prstGeom>
          <a:noFill/>
        </p:spPr>
        <p:txBody>
          <a:bodyPr wrap="square" lIns="0" rIns="0" tIns="0" bIns="0" anchor="t">
            <a:spAutoFit/>
          </a:bodyPr>
          <a:lstStyle/>
          <a:p>
            <a:pPr algn="l"/>
            <a:r>
              <a:rPr sz="6600" b="0" i="0">
                <a:solidFill>
                  <a:srgbClr val="11181C"/>
                </a:solidFill>
                <a:latin typeface="Georgia"/>
              </a:rPr>
              <a:t>Aa</a:t>
            </a:r>
          </a:p>
        </p:txBody>
      </p:sp>
      <p:sp>
        <p:nvSpPr>
          <p:cNvPr id="14" name="TextBox 13"/>
          <p:cNvSpPr txBox="1"/>
          <p:nvPr/>
        </p:nvSpPr>
        <p:spPr>
          <a:xfrm>
            <a:off x="3149600" y="2489200"/>
            <a:ext cx="2667000" cy="279400"/>
          </a:xfrm>
          <a:prstGeom prst="rect">
            <a:avLst/>
          </a:prstGeom>
          <a:noFill/>
        </p:spPr>
        <p:txBody>
          <a:bodyPr wrap="square" lIns="0" rIns="0" tIns="0" bIns="0" anchor="t">
            <a:spAutoFit/>
          </a:bodyPr>
          <a:lstStyle/>
          <a:p>
            <a:pPr algn="l"/>
            <a:r>
              <a:rPr sz="1800" b="0" i="0">
                <a:solidFill>
                  <a:srgbClr val="11181C"/>
                </a:solidFill>
                <a:latin typeface="Georgia"/>
              </a:rPr>
              <a:t>Georgia</a:t>
            </a:r>
          </a:p>
        </p:txBody>
      </p:sp>
      <p:sp>
        <p:nvSpPr>
          <p:cNvPr id="15" name="TextBox 14"/>
          <p:cNvSpPr txBox="1"/>
          <p:nvPr/>
        </p:nvSpPr>
        <p:spPr>
          <a:xfrm>
            <a:off x="3149600" y="2819400"/>
            <a:ext cx="2667000" cy="381000"/>
          </a:xfrm>
          <a:prstGeom prst="rect">
            <a:avLst/>
          </a:prstGeom>
          <a:noFill/>
        </p:spPr>
        <p:txBody>
          <a:bodyPr wrap="square" lIns="0" rIns="0" tIns="0" bIns="0" anchor="t">
            <a:spAutoFit/>
          </a:bodyPr>
          <a:lstStyle/>
          <a:p>
            <a:pPr algn="l">
              <a:lnSpc>
                <a:spcPct val="130000"/>
              </a:lnSpc>
            </a:pPr>
            <a:r>
              <a:rPr sz="950" b="0" i="0">
                <a:solidFill>
                  <a:srgbClr val="4D555C"/>
                </a:solidFill>
                <a:latin typeface="Arial"/>
              </a:rPr>
              <a:t>Headlines, card titles, big numbers</a:t>
            </a:r>
          </a:p>
        </p:txBody>
      </p:sp>
      <p:sp>
        <p:nvSpPr>
          <p:cNvPr id="16" name="TextBox 15"/>
          <p:cNvSpPr txBox="1"/>
          <p:nvPr/>
        </p:nvSpPr>
        <p:spPr>
          <a:xfrm>
            <a:off x="914400" y="3683000"/>
            <a:ext cx="4826000" cy="152400"/>
          </a:xfrm>
          <a:prstGeom prst="rect">
            <a:avLst/>
          </a:prstGeom>
          <a:noFill/>
        </p:spPr>
        <p:txBody>
          <a:bodyPr wrap="square" lIns="0" rIns="0" tIns="0" bIns="0" anchor="t">
            <a:spAutoFit/>
          </a:bodyPr>
          <a:lstStyle/>
          <a:p>
            <a:pPr algn="l"/>
            <a:r>
              <a:rPr sz="850" b="1" i="0" spc="150">
                <a:solidFill>
                  <a:srgbClr val="697177"/>
                </a:solidFill>
                <a:latin typeface="Arial"/>
              </a:rPr>
              <a:t>ROLE</a:t>
            </a:r>
          </a:p>
        </p:txBody>
      </p:sp>
      <p:sp>
        <p:nvSpPr>
          <p:cNvPr id="17" name="TextBox 16"/>
          <p:cNvSpPr txBox="1"/>
          <p:nvPr/>
        </p:nvSpPr>
        <p:spPr>
          <a:xfrm>
            <a:off x="914400" y="3886200"/>
            <a:ext cx="4826000" cy="177800"/>
          </a:xfrm>
          <a:prstGeom prst="rect">
            <a:avLst/>
          </a:prstGeom>
          <a:noFill/>
        </p:spPr>
        <p:txBody>
          <a:bodyPr wrap="square" lIns="0" rIns="0" tIns="0" bIns="0" anchor="t">
            <a:spAutoFit/>
          </a:bodyPr>
          <a:lstStyle/>
          <a:p>
            <a:pPr algn="l"/>
            <a:r>
              <a:rPr sz="1000" b="0" i="0">
                <a:solidFill>
                  <a:srgbClr val="11181C"/>
                </a:solidFill>
                <a:latin typeface="Arial"/>
              </a:rPr>
              <a:t>Replaces Bitwise 'Items' (serif, weight 350–500)</a:t>
            </a:r>
          </a:p>
        </p:txBody>
      </p:sp>
      <p:sp>
        <p:nvSpPr>
          <p:cNvPr id="18" name="TextBox 17"/>
          <p:cNvSpPr txBox="1"/>
          <p:nvPr/>
        </p:nvSpPr>
        <p:spPr>
          <a:xfrm>
            <a:off x="914400" y="4216400"/>
            <a:ext cx="4826000" cy="152400"/>
          </a:xfrm>
          <a:prstGeom prst="rect">
            <a:avLst/>
          </a:prstGeom>
          <a:noFill/>
        </p:spPr>
        <p:txBody>
          <a:bodyPr wrap="square" lIns="0" rIns="0" tIns="0" bIns="0" anchor="t">
            <a:spAutoFit/>
          </a:bodyPr>
          <a:lstStyle/>
          <a:p>
            <a:pPr algn="l"/>
            <a:r>
              <a:rPr sz="850" b="1" i="0" spc="150">
                <a:solidFill>
                  <a:srgbClr val="697177"/>
                </a:solidFill>
                <a:latin typeface="Arial"/>
              </a:rPr>
              <a:t>WEIGHTS</a:t>
            </a:r>
          </a:p>
        </p:txBody>
      </p:sp>
      <p:sp>
        <p:nvSpPr>
          <p:cNvPr id="19" name="TextBox 18"/>
          <p:cNvSpPr txBox="1"/>
          <p:nvPr/>
        </p:nvSpPr>
        <p:spPr>
          <a:xfrm>
            <a:off x="914400" y="4419600"/>
            <a:ext cx="4826000" cy="177800"/>
          </a:xfrm>
          <a:prstGeom prst="rect">
            <a:avLst/>
          </a:prstGeom>
          <a:noFill/>
        </p:spPr>
        <p:txBody>
          <a:bodyPr wrap="square" lIns="0" rIns="0" tIns="0" bIns="0" anchor="t">
            <a:spAutoFit/>
          </a:bodyPr>
          <a:lstStyle/>
          <a:p>
            <a:pPr algn="l"/>
            <a:r>
              <a:rPr sz="1000" b="0" i="0">
                <a:solidFill>
                  <a:srgbClr val="11181C"/>
                </a:solidFill>
                <a:latin typeface="Arial"/>
              </a:rPr>
              <a:t>Regular 400 · Italic 400</a:t>
            </a:r>
          </a:p>
        </p:txBody>
      </p:sp>
      <p:sp>
        <p:nvSpPr>
          <p:cNvPr id="20" name="TextBox 19"/>
          <p:cNvSpPr txBox="1"/>
          <p:nvPr/>
        </p:nvSpPr>
        <p:spPr>
          <a:xfrm>
            <a:off x="914400" y="4749800"/>
            <a:ext cx="4826000" cy="152400"/>
          </a:xfrm>
          <a:prstGeom prst="rect">
            <a:avLst/>
          </a:prstGeom>
          <a:noFill/>
        </p:spPr>
        <p:txBody>
          <a:bodyPr wrap="square" lIns="0" rIns="0" tIns="0" bIns="0" anchor="t">
            <a:spAutoFit/>
          </a:bodyPr>
          <a:lstStyle/>
          <a:p>
            <a:pPr algn="l"/>
            <a:r>
              <a:rPr sz="850" b="1" i="0" spc="150">
                <a:solidFill>
                  <a:srgbClr val="697177"/>
                </a:solidFill>
                <a:latin typeface="Arial"/>
              </a:rPr>
              <a:t>RULE</a:t>
            </a:r>
          </a:p>
        </p:txBody>
      </p:sp>
      <p:sp>
        <p:nvSpPr>
          <p:cNvPr id="21" name="TextBox 20"/>
          <p:cNvSpPr txBox="1"/>
          <p:nvPr/>
        </p:nvSpPr>
        <p:spPr>
          <a:xfrm>
            <a:off x="914400" y="4953000"/>
            <a:ext cx="4826000" cy="177800"/>
          </a:xfrm>
          <a:prstGeom prst="rect">
            <a:avLst/>
          </a:prstGeom>
          <a:noFill/>
        </p:spPr>
        <p:txBody>
          <a:bodyPr wrap="square" lIns="0" rIns="0" tIns="0" bIns="0" anchor="t">
            <a:spAutoFit/>
          </a:bodyPr>
          <a:lstStyle/>
          <a:p>
            <a:pPr algn="l"/>
            <a:r>
              <a:rPr sz="1000" b="0" i="0">
                <a:solidFill>
                  <a:srgbClr val="11181C"/>
                </a:solidFill>
                <a:latin typeface="Arial"/>
              </a:rPr>
              <a:t>Regular + Italic only. Never bold.</a:t>
            </a:r>
          </a:p>
        </p:txBody>
      </p:sp>
      <p:sp>
        <p:nvSpPr>
          <p:cNvPr id="22" name="TextBox 21"/>
          <p:cNvSpPr txBox="1"/>
          <p:nvPr/>
        </p:nvSpPr>
        <p:spPr>
          <a:xfrm>
            <a:off x="914400" y="5334000"/>
            <a:ext cx="4826000" cy="508000"/>
          </a:xfrm>
          <a:prstGeom prst="rect">
            <a:avLst/>
          </a:prstGeom>
          <a:noFill/>
        </p:spPr>
        <p:txBody>
          <a:bodyPr wrap="square" lIns="0" rIns="0" tIns="0" bIns="0" anchor="t">
            <a:spAutoFit/>
          </a:bodyPr>
          <a:lstStyle/>
          <a:p>
            <a:pPr algn="l"/>
            <a:r>
              <a:rPr sz="900" b="0" i="1">
                <a:solidFill>
                  <a:srgbClr val="697177"/>
                </a:solidFill>
                <a:latin typeface="Georgia"/>
              </a:rPr>
              <a:t>ABCDEFGHIJKLMNOPQRSTUVWXYZ
abcdefghijklmnopqrstuvwxyz 0123456789 Rp % –</a:t>
            </a:r>
          </a:p>
        </p:txBody>
      </p:sp>
      <p:sp>
        <p:nvSpPr>
          <p:cNvPr id="23" name="Rounded Rectangle 22"/>
          <p:cNvSpPr/>
          <p:nvPr/>
        </p:nvSpPr>
        <p:spPr>
          <a:xfrm>
            <a:off x="6172200" y="2133600"/>
            <a:ext cx="5410200" cy="3810000"/>
          </a:xfrm>
          <a:prstGeom prst="roundRect">
            <a:avLst>
              <a:gd name="adj" fmla="val 3333"/>
            </a:avLst>
          </a:prstGeom>
          <a:solidFill>
            <a:srgbClr val="FFFFFF"/>
          </a:solidFill>
          <a:ln w="9525">
            <a:solidFill>
              <a:srgbClr val="E6E8EB"/>
            </a:solidFill>
          </a:ln>
          <a:effectLst/>
        </p:spPr>
        <p:txBody>
          <a:bodyPr rtlCol="0" anchor="ctr"/>
          <a:lstStyle/>
          <a:p>
            <a:pPr algn="ctr"/>
          </a:p>
        </p:txBody>
      </p:sp>
      <p:sp>
        <p:nvSpPr>
          <p:cNvPr id="24" name="TextBox 23"/>
          <p:cNvSpPr txBox="1"/>
          <p:nvPr/>
        </p:nvSpPr>
        <p:spPr>
          <a:xfrm>
            <a:off x="6477000" y="2362200"/>
            <a:ext cx="2540000" cy="1143000"/>
          </a:xfrm>
          <a:prstGeom prst="rect">
            <a:avLst/>
          </a:prstGeom>
          <a:noFill/>
        </p:spPr>
        <p:txBody>
          <a:bodyPr wrap="square" lIns="0" rIns="0" tIns="0" bIns="0" anchor="t">
            <a:spAutoFit/>
          </a:bodyPr>
          <a:lstStyle/>
          <a:p>
            <a:pPr algn="l"/>
            <a:r>
              <a:rPr sz="6600" b="0" i="0">
                <a:solidFill>
                  <a:srgbClr val="11181C"/>
                </a:solidFill>
                <a:latin typeface="Arial"/>
              </a:rPr>
              <a:t>Aa</a:t>
            </a:r>
          </a:p>
        </p:txBody>
      </p:sp>
      <p:sp>
        <p:nvSpPr>
          <p:cNvPr id="25" name="TextBox 24"/>
          <p:cNvSpPr txBox="1"/>
          <p:nvPr/>
        </p:nvSpPr>
        <p:spPr>
          <a:xfrm>
            <a:off x="8712200" y="2489200"/>
            <a:ext cx="2667000" cy="279400"/>
          </a:xfrm>
          <a:prstGeom prst="rect">
            <a:avLst/>
          </a:prstGeom>
          <a:noFill/>
        </p:spPr>
        <p:txBody>
          <a:bodyPr wrap="square" lIns="0" rIns="0" tIns="0" bIns="0" anchor="t">
            <a:spAutoFit/>
          </a:bodyPr>
          <a:lstStyle/>
          <a:p>
            <a:pPr algn="l"/>
            <a:r>
              <a:rPr sz="1800" b="0" i="0">
                <a:solidFill>
                  <a:srgbClr val="11181C"/>
                </a:solidFill>
                <a:latin typeface="Arial"/>
              </a:rPr>
              <a:t>Arial</a:t>
            </a:r>
          </a:p>
        </p:txBody>
      </p:sp>
      <p:sp>
        <p:nvSpPr>
          <p:cNvPr id="26" name="TextBox 25"/>
          <p:cNvSpPr txBox="1"/>
          <p:nvPr/>
        </p:nvSpPr>
        <p:spPr>
          <a:xfrm>
            <a:off x="8712200" y="2819400"/>
            <a:ext cx="2667000" cy="381000"/>
          </a:xfrm>
          <a:prstGeom prst="rect">
            <a:avLst/>
          </a:prstGeom>
          <a:noFill/>
        </p:spPr>
        <p:txBody>
          <a:bodyPr wrap="square" lIns="0" rIns="0" tIns="0" bIns="0" anchor="t">
            <a:spAutoFit/>
          </a:bodyPr>
          <a:lstStyle/>
          <a:p>
            <a:pPr algn="l">
              <a:lnSpc>
                <a:spcPct val="130000"/>
              </a:lnSpc>
            </a:pPr>
            <a:r>
              <a:rPr sz="950" b="0" i="0">
                <a:solidFill>
                  <a:srgbClr val="4D555C"/>
                </a:solidFill>
                <a:latin typeface="Arial"/>
              </a:rPr>
              <a:t>Kickers, body, labels, buttons, tables</a:t>
            </a:r>
          </a:p>
        </p:txBody>
      </p:sp>
      <p:sp>
        <p:nvSpPr>
          <p:cNvPr id="27" name="TextBox 26"/>
          <p:cNvSpPr txBox="1"/>
          <p:nvPr/>
        </p:nvSpPr>
        <p:spPr>
          <a:xfrm>
            <a:off x="6477000" y="3683000"/>
            <a:ext cx="4826000" cy="152400"/>
          </a:xfrm>
          <a:prstGeom prst="rect">
            <a:avLst/>
          </a:prstGeom>
          <a:noFill/>
        </p:spPr>
        <p:txBody>
          <a:bodyPr wrap="square" lIns="0" rIns="0" tIns="0" bIns="0" anchor="t">
            <a:spAutoFit/>
          </a:bodyPr>
          <a:lstStyle/>
          <a:p>
            <a:pPr algn="l"/>
            <a:r>
              <a:rPr sz="850" b="1" i="0" spc="150">
                <a:solidFill>
                  <a:srgbClr val="697177"/>
                </a:solidFill>
                <a:latin typeface="Arial"/>
              </a:rPr>
              <a:t>ROLE</a:t>
            </a:r>
          </a:p>
        </p:txBody>
      </p:sp>
      <p:sp>
        <p:nvSpPr>
          <p:cNvPr id="28" name="TextBox 27"/>
          <p:cNvSpPr txBox="1"/>
          <p:nvPr/>
        </p:nvSpPr>
        <p:spPr>
          <a:xfrm>
            <a:off x="6477000" y="3886200"/>
            <a:ext cx="4826000" cy="177800"/>
          </a:xfrm>
          <a:prstGeom prst="rect">
            <a:avLst/>
          </a:prstGeom>
          <a:noFill/>
        </p:spPr>
        <p:txBody>
          <a:bodyPr wrap="square" lIns="0" rIns="0" tIns="0" bIns="0" anchor="t">
            <a:spAutoFit/>
          </a:bodyPr>
          <a:lstStyle/>
          <a:p>
            <a:pPr algn="l"/>
            <a:r>
              <a:rPr sz="1000" b="0" i="0">
                <a:solidFill>
                  <a:srgbClr val="11181C"/>
                </a:solidFill>
                <a:latin typeface="Arial"/>
              </a:rPr>
              <a:t>Replaces Bitwise 'Neue Montreal' (sans, 400 / 550 / 650)</a:t>
            </a:r>
          </a:p>
        </p:txBody>
      </p:sp>
      <p:sp>
        <p:nvSpPr>
          <p:cNvPr id="29" name="TextBox 28"/>
          <p:cNvSpPr txBox="1"/>
          <p:nvPr/>
        </p:nvSpPr>
        <p:spPr>
          <a:xfrm>
            <a:off x="6477000" y="4216400"/>
            <a:ext cx="4826000" cy="152400"/>
          </a:xfrm>
          <a:prstGeom prst="rect">
            <a:avLst/>
          </a:prstGeom>
          <a:noFill/>
        </p:spPr>
        <p:txBody>
          <a:bodyPr wrap="square" lIns="0" rIns="0" tIns="0" bIns="0" anchor="t">
            <a:spAutoFit/>
          </a:bodyPr>
          <a:lstStyle/>
          <a:p>
            <a:pPr algn="l"/>
            <a:r>
              <a:rPr sz="850" b="1" i="0" spc="150">
                <a:solidFill>
                  <a:srgbClr val="697177"/>
                </a:solidFill>
                <a:latin typeface="Arial"/>
              </a:rPr>
              <a:t>WEIGHTS</a:t>
            </a:r>
          </a:p>
        </p:txBody>
      </p:sp>
      <p:sp>
        <p:nvSpPr>
          <p:cNvPr id="30" name="TextBox 29"/>
          <p:cNvSpPr txBox="1"/>
          <p:nvPr/>
        </p:nvSpPr>
        <p:spPr>
          <a:xfrm>
            <a:off x="6477000" y="4419600"/>
            <a:ext cx="4826000" cy="177800"/>
          </a:xfrm>
          <a:prstGeom prst="rect">
            <a:avLst/>
          </a:prstGeom>
          <a:noFill/>
        </p:spPr>
        <p:txBody>
          <a:bodyPr wrap="square" lIns="0" rIns="0" tIns="0" bIns="0" anchor="t">
            <a:spAutoFit/>
          </a:bodyPr>
          <a:lstStyle/>
          <a:p>
            <a:pPr algn="l"/>
            <a:r>
              <a:rPr sz="1000" b="0" i="0">
                <a:solidFill>
                  <a:srgbClr val="11181C"/>
                </a:solidFill>
                <a:latin typeface="Arial"/>
              </a:rPr>
              <a:t>Regular 400 · Bold 700</a:t>
            </a:r>
          </a:p>
        </p:txBody>
      </p:sp>
      <p:sp>
        <p:nvSpPr>
          <p:cNvPr id="31" name="TextBox 30"/>
          <p:cNvSpPr txBox="1"/>
          <p:nvPr/>
        </p:nvSpPr>
        <p:spPr>
          <a:xfrm>
            <a:off x="6477000" y="4749800"/>
            <a:ext cx="4826000" cy="152400"/>
          </a:xfrm>
          <a:prstGeom prst="rect">
            <a:avLst/>
          </a:prstGeom>
          <a:noFill/>
        </p:spPr>
        <p:txBody>
          <a:bodyPr wrap="square" lIns="0" rIns="0" tIns="0" bIns="0" anchor="t">
            <a:spAutoFit/>
          </a:bodyPr>
          <a:lstStyle/>
          <a:p>
            <a:pPr algn="l"/>
            <a:r>
              <a:rPr sz="850" b="1" i="0" spc="150">
                <a:solidFill>
                  <a:srgbClr val="697177"/>
                </a:solidFill>
                <a:latin typeface="Arial"/>
              </a:rPr>
              <a:t>RULE</a:t>
            </a:r>
          </a:p>
        </p:txBody>
      </p:sp>
      <p:sp>
        <p:nvSpPr>
          <p:cNvPr id="32" name="TextBox 31"/>
          <p:cNvSpPr txBox="1"/>
          <p:nvPr/>
        </p:nvSpPr>
        <p:spPr>
          <a:xfrm>
            <a:off x="6477000" y="4953000"/>
            <a:ext cx="4826000" cy="177800"/>
          </a:xfrm>
          <a:prstGeom prst="rect">
            <a:avLst/>
          </a:prstGeom>
          <a:noFill/>
        </p:spPr>
        <p:txBody>
          <a:bodyPr wrap="square" lIns="0" rIns="0" tIns="0" bIns="0" anchor="t">
            <a:spAutoFit/>
          </a:bodyPr>
          <a:lstStyle/>
          <a:p>
            <a:pPr algn="l"/>
            <a:r>
              <a:rPr sz="1000" b="0" i="0">
                <a:solidFill>
                  <a:srgbClr val="11181C"/>
                </a:solidFill>
                <a:latin typeface="Arial"/>
              </a:rPr>
              <a:t>Regular for text, Bold for kickers, labels, buttons.</a:t>
            </a:r>
          </a:p>
        </p:txBody>
      </p:sp>
      <p:sp>
        <p:nvSpPr>
          <p:cNvPr id="33" name="TextBox 32"/>
          <p:cNvSpPr txBox="1"/>
          <p:nvPr/>
        </p:nvSpPr>
        <p:spPr>
          <a:xfrm>
            <a:off x="6477000" y="5334000"/>
            <a:ext cx="4826000" cy="508000"/>
          </a:xfrm>
          <a:prstGeom prst="rect">
            <a:avLst/>
          </a:prstGeom>
          <a:noFill/>
        </p:spPr>
        <p:txBody>
          <a:bodyPr wrap="square" lIns="0" rIns="0" tIns="0" bIns="0" anchor="t">
            <a:spAutoFit/>
          </a:bodyPr>
          <a:lstStyle/>
          <a:p>
            <a:pPr algn="l"/>
            <a:r>
              <a:rPr sz="900" b="0" i="0">
                <a:solidFill>
                  <a:srgbClr val="697177"/>
                </a:solidFill>
                <a:latin typeface="Arial"/>
              </a:rPr>
              <a:t>ABCDEFGHIJKLMNOPQRSTUVWXYZ
abcdefghijklmnopqrstuvwxyz 0123456789 Rp % –</a:t>
            </a:r>
          </a:p>
        </p:txBody>
      </p:sp>
      <p:sp>
        <p:nvSpPr>
          <p:cNvPr id="34" name="TextBox 33"/>
          <p:cNvSpPr txBox="1"/>
          <p:nvPr/>
        </p:nvSpPr>
        <p:spPr>
          <a:xfrm>
            <a:off x="609600" y="6070600"/>
            <a:ext cx="10972800" cy="355600"/>
          </a:xfrm>
          <a:prstGeom prst="rect">
            <a:avLst/>
          </a:prstGeom>
          <a:noFill/>
        </p:spPr>
        <p:txBody>
          <a:bodyPr wrap="square" lIns="0" rIns="0" tIns="0" bIns="0" anchor="t">
            <a:spAutoFit/>
          </a:bodyPr>
          <a:lstStyle/>
          <a:p>
            <a:pPr algn="l">
              <a:lnSpc>
                <a:spcPct val="130000"/>
              </a:lnSpc>
            </a:pPr>
            <a:r>
              <a:rPr sz="850" b="1" i="0">
                <a:solidFill>
                  <a:srgbClr val="11181C"/>
                </a:solidFill>
                <a:latin typeface="Arial"/>
              </a:rPr>
              <a:t>If fonts may be installed:  </a:t>
            </a:r>
            <a:r>
              <a:rPr sz="850" b="0" i="0">
                <a:solidFill>
                  <a:srgbClr val="4D555C"/>
                </a:solidFill>
                <a:latin typeface="Arial"/>
              </a:rPr>
              <a:t>'Newsreader Light' or 'Fraunces' come closest to Items, and 'Inter' or 'Manrope' to Neue Montreal (all free, Google Fonts). Embed them when saving (File › Options › Save › Embed fonts).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FOUNDATIONS · TYPE SCALE</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Nine sizes, </a:t>
            </a:r>
            <a:r>
              <a:rPr sz="2400" b="0" i="1">
                <a:solidFill>
                  <a:srgbClr val="11181C"/>
                </a:solidFill>
                <a:latin typeface="Georgia"/>
              </a:rPr>
              <a:t>no more</a:t>
            </a:r>
            <a:r>
              <a:rPr sz="2400" b="0" i="0">
                <a:solidFill>
                  <a:srgbClr val="11181C"/>
                </a:solidFill>
                <a:latin typeface="Georgia"/>
              </a:rPr>
              <a:t>.</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Sizes are set for a 13.33 × 7.5 in slide. Web values from Bitwise are shown for reference (16 px ≈ 11 pt on a slide).</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05</a:t>
            </a:r>
          </a:p>
        </p:txBody>
      </p:sp>
      <p:sp>
        <p:nvSpPr>
          <p:cNvPr id="12" name="TextBox 11"/>
          <p:cNvSpPr txBox="1"/>
          <p:nvPr/>
        </p:nvSpPr>
        <p:spPr>
          <a:xfrm>
            <a:off x="609600" y="2159000"/>
            <a:ext cx="2032000" cy="127000"/>
          </a:xfrm>
          <a:prstGeom prst="rect">
            <a:avLst/>
          </a:prstGeom>
          <a:noFill/>
        </p:spPr>
        <p:txBody>
          <a:bodyPr wrap="square" lIns="0" rIns="0" tIns="0" bIns="0" anchor="t">
            <a:spAutoFit/>
          </a:bodyPr>
          <a:lstStyle/>
          <a:p>
            <a:pPr algn="l"/>
            <a:r>
              <a:rPr sz="700" b="1" i="0" spc="100">
                <a:solidFill>
                  <a:srgbClr val="697177"/>
                </a:solidFill>
                <a:latin typeface="Arial"/>
              </a:rPr>
              <a:t>STYLE</a:t>
            </a:r>
          </a:p>
        </p:txBody>
      </p:sp>
      <p:sp>
        <p:nvSpPr>
          <p:cNvPr id="13" name="TextBox 12"/>
          <p:cNvSpPr txBox="1"/>
          <p:nvPr/>
        </p:nvSpPr>
        <p:spPr>
          <a:xfrm>
            <a:off x="2159000" y="2159000"/>
            <a:ext cx="2032000" cy="127000"/>
          </a:xfrm>
          <a:prstGeom prst="rect">
            <a:avLst/>
          </a:prstGeom>
          <a:noFill/>
        </p:spPr>
        <p:txBody>
          <a:bodyPr wrap="square" lIns="0" rIns="0" tIns="0" bIns="0" anchor="t">
            <a:spAutoFit/>
          </a:bodyPr>
          <a:lstStyle/>
          <a:p>
            <a:pPr algn="l"/>
            <a:r>
              <a:rPr sz="700" b="1" i="0" spc="100">
                <a:solidFill>
                  <a:srgbClr val="697177"/>
                </a:solidFill>
                <a:latin typeface="Arial"/>
              </a:rPr>
              <a:t>SAMPLE</a:t>
            </a:r>
          </a:p>
        </p:txBody>
      </p:sp>
      <p:sp>
        <p:nvSpPr>
          <p:cNvPr id="14" name="TextBox 13"/>
          <p:cNvSpPr txBox="1"/>
          <p:nvPr/>
        </p:nvSpPr>
        <p:spPr>
          <a:xfrm>
            <a:off x="6604000" y="2159000"/>
            <a:ext cx="2032000" cy="127000"/>
          </a:xfrm>
          <a:prstGeom prst="rect">
            <a:avLst/>
          </a:prstGeom>
          <a:noFill/>
        </p:spPr>
        <p:txBody>
          <a:bodyPr wrap="square" lIns="0" rIns="0" tIns="0" bIns="0" anchor="t">
            <a:spAutoFit/>
          </a:bodyPr>
          <a:lstStyle/>
          <a:p>
            <a:pPr algn="l"/>
            <a:r>
              <a:rPr sz="700" b="1" i="0" spc="100">
                <a:solidFill>
                  <a:srgbClr val="697177"/>
                </a:solidFill>
                <a:latin typeface="Arial"/>
              </a:rPr>
              <a:t>FONT · SIZE · WEIGHT</a:t>
            </a:r>
          </a:p>
        </p:txBody>
      </p:sp>
      <p:sp>
        <p:nvSpPr>
          <p:cNvPr id="15" name="TextBox 14"/>
          <p:cNvSpPr txBox="1"/>
          <p:nvPr/>
        </p:nvSpPr>
        <p:spPr>
          <a:xfrm>
            <a:off x="8763000" y="2159000"/>
            <a:ext cx="2032000" cy="127000"/>
          </a:xfrm>
          <a:prstGeom prst="rect">
            <a:avLst/>
          </a:prstGeom>
          <a:noFill/>
        </p:spPr>
        <p:txBody>
          <a:bodyPr wrap="square" lIns="0" rIns="0" tIns="0" bIns="0" anchor="t">
            <a:spAutoFit/>
          </a:bodyPr>
          <a:lstStyle/>
          <a:p>
            <a:pPr algn="l"/>
            <a:r>
              <a:rPr sz="700" b="1" i="0" spc="100">
                <a:solidFill>
                  <a:srgbClr val="697177"/>
                </a:solidFill>
                <a:latin typeface="Arial"/>
              </a:rPr>
              <a:t>TRACKING · LEADING</a:t>
            </a:r>
          </a:p>
        </p:txBody>
      </p:sp>
      <p:sp>
        <p:nvSpPr>
          <p:cNvPr id="16" name="TextBox 15"/>
          <p:cNvSpPr txBox="1"/>
          <p:nvPr/>
        </p:nvSpPr>
        <p:spPr>
          <a:xfrm>
            <a:off x="10414000" y="2159000"/>
            <a:ext cx="2032000" cy="127000"/>
          </a:xfrm>
          <a:prstGeom prst="rect">
            <a:avLst/>
          </a:prstGeom>
          <a:noFill/>
        </p:spPr>
        <p:txBody>
          <a:bodyPr wrap="square" lIns="0" rIns="0" tIns="0" bIns="0" anchor="t">
            <a:spAutoFit/>
          </a:bodyPr>
          <a:lstStyle/>
          <a:p>
            <a:pPr algn="l"/>
            <a:r>
              <a:rPr sz="700" b="1" i="0" spc="100">
                <a:solidFill>
                  <a:srgbClr val="697177"/>
                </a:solidFill>
                <a:latin typeface="Arial"/>
              </a:rPr>
              <a:t>WEB REF</a:t>
            </a:r>
          </a:p>
        </p:txBody>
      </p:sp>
      <p:cxnSp>
        <p:nvCxnSpPr>
          <p:cNvPr id="17" name="Connector 16"/>
          <p:cNvCxnSpPr/>
          <p:nvPr/>
        </p:nvCxnSpPr>
        <p:spPr>
          <a:xfrm>
            <a:off x="609600" y="2336800"/>
            <a:ext cx="10972800" cy="0"/>
          </a:xfrm>
          <a:prstGeom prst="line">
            <a:avLst/>
          </a:prstGeom>
          <a:ln w="12700">
            <a:solidFill>
              <a:srgbClr val="252D31"/>
            </a:solidFill>
          </a:ln>
        </p:spPr>
      </p:cxnSp>
      <p:sp>
        <p:nvSpPr>
          <p:cNvPr id="18" name="TextBox 17"/>
          <p:cNvSpPr txBox="1"/>
          <p:nvPr/>
        </p:nvSpPr>
        <p:spPr>
          <a:xfrm>
            <a:off x="609600" y="2647950"/>
            <a:ext cx="1524000" cy="152400"/>
          </a:xfrm>
          <a:prstGeom prst="rect">
            <a:avLst/>
          </a:prstGeom>
          <a:noFill/>
        </p:spPr>
        <p:txBody>
          <a:bodyPr wrap="square" lIns="0" rIns="0" tIns="0" bIns="0" anchor="t">
            <a:spAutoFit/>
          </a:bodyPr>
          <a:lstStyle/>
          <a:p>
            <a:pPr algn="l"/>
            <a:r>
              <a:rPr sz="900" b="1" i="0">
                <a:solidFill>
                  <a:srgbClr val="11181C"/>
                </a:solidFill>
                <a:latin typeface="Arial"/>
              </a:rPr>
              <a:t>Display</a:t>
            </a:r>
          </a:p>
        </p:txBody>
      </p:sp>
      <p:sp>
        <p:nvSpPr>
          <p:cNvPr id="19" name="TextBox 18"/>
          <p:cNvSpPr txBox="1"/>
          <p:nvPr/>
        </p:nvSpPr>
        <p:spPr>
          <a:xfrm>
            <a:off x="2159000" y="2438400"/>
            <a:ext cx="4318000" cy="571500"/>
          </a:xfrm>
          <a:prstGeom prst="rect">
            <a:avLst/>
          </a:prstGeom>
          <a:noFill/>
        </p:spPr>
        <p:txBody>
          <a:bodyPr wrap="square" lIns="0" rIns="0" tIns="0" bIns="0" anchor="ctr">
            <a:spAutoFit/>
          </a:bodyPr>
          <a:lstStyle/>
          <a:p>
            <a:pPr algn="l"/>
            <a:r>
              <a:rPr sz="3600" b="0" i="0">
                <a:solidFill>
                  <a:srgbClr val="11181C"/>
                </a:solidFill>
                <a:latin typeface="Georgia"/>
              </a:rPr>
              <a:t>Clear by </a:t>
            </a:r>
            <a:r>
              <a:rPr sz="3600" b="0" i="1">
                <a:solidFill>
                  <a:srgbClr val="11181C"/>
                </a:solidFill>
                <a:latin typeface="Georgia"/>
              </a:rPr>
              <a:t>design</a:t>
            </a:r>
          </a:p>
        </p:txBody>
      </p:sp>
      <p:sp>
        <p:nvSpPr>
          <p:cNvPr id="20" name="TextBox 19"/>
          <p:cNvSpPr txBox="1"/>
          <p:nvPr/>
        </p:nvSpPr>
        <p:spPr>
          <a:xfrm>
            <a:off x="6604000" y="2647950"/>
            <a:ext cx="2095500" cy="152400"/>
          </a:xfrm>
          <a:prstGeom prst="rect">
            <a:avLst/>
          </a:prstGeom>
          <a:noFill/>
        </p:spPr>
        <p:txBody>
          <a:bodyPr wrap="square" lIns="0" rIns="0" tIns="0" bIns="0" anchor="t">
            <a:spAutoFit/>
          </a:bodyPr>
          <a:lstStyle/>
          <a:p>
            <a:pPr algn="l"/>
            <a:r>
              <a:rPr sz="850" b="0" i="0">
                <a:solidFill>
                  <a:srgbClr val="4D555C"/>
                </a:solidFill>
                <a:latin typeface="Arial"/>
              </a:rPr>
              <a:t>Georgia 36 Regular</a:t>
            </a:r>
          </a:p>
        </p:txBody>
      </p:sp>
      <p:sp>
        <p:nvSpPr>
          <p:cNvPr id="21" name="TextBox 20"/>
          <p:cNvSpPr txBox="1"/>
          <p:nvPr/>
        </p:nvSpPr>
        <p:spPr>
          <a:xfrm>
            <a:off x="8763000" y="2647950"/>
            <a:ext cx="1587500" cy="152400"/>
          </a:xfrm>
          <a:prstGeom prst="rect">
            <a:avLst/>
          </a:prstGeom>
          <a:noFill/>
        </p:spPr>
        <p:txBody>
          <a:bodyPr wrap="square" lIns="0" rIns="0" tIns="0" bIns="0" anchor="t">
            <a:spAutoFit/>
          </a:bodyPr>
          <a:lstStyle/>
          <a:p>
            <a:pPr algn="l"/>
            <a:r>
              <a:rPr sz="850" b="0" i="0">
                <a:solidFill>
                  <a:srgbClr val="4D555C"/>
                </a:solidFill>
                <a:latin typeface="Arial"/>
              </a:rPr>
              <a:t>-0.5 · 1.0</a:t>
            </a:r>
          </a:p>
        </p:txBody>
      </p:sp>
      <p:sp>
        <p:nvSpPr>
          <p:cNvPr id="22" name="TextBox 21"/>
          <p:cNvSpPr txBox="1"/>
          <p:nvPr/>
        </p:nvSpPr>
        <p:spPr>
          <a:xfrm>
            <a:off x="10414000" y="2647950"/>
            <a:ext cx="1168400" cy="152400"/>
          </a:xfrm>
          <a:prstGeom prst="rect">
            <a:avLst/>
          </a:prstGeom>
          <a:noFill/>
        </p:spPr>
        <p:txBody>
          <a:bodyPr wrap="square" lIns="0" rIns="0" tIns="0" bIns="0" anchor="t">
            <a:spAutoFit/>
          </a:bodyPr>
          <a:lstStyle/>
          <a:p>
            <a:pPr algn="l"/>
            <a:r>
              <a:rPr sz="850" b="0" i="0">
                <a:solidFill>
                  <a:srgbClr val="697177"/>
                </a:solidFill>
                <a:latin typeface="Arial"/>
              </a:rPr>
              <a:t>48–64 px</a:t>
            </a:r>
          </a:p>
        </p:txBody>
      </p:sp>
      <p:cxnSp>
        <p:nvCxnSpPr>
          <p:cNvPr id="23" name="Connector 22"/>
          <p:cNvCxnSpPr/>
          <p:nvPr/>
        </p:nvCxnSpPr>
        <p:spPr>
          <a:xfrm>
            <a:off x="609600" y="3048000"/>
            <a:ext cx="10972800" cy="0"/>
          </a:xfrm>
          <a:prstGeom prst="line">
            <a:avLst/>
          </a:prstGeom>
          <a:ln w="9525">
            <a:solidFill>
              <a:srgbClr val="EBEDEF"/>
            </a:solidFill>
          </a:ln>
        </p:spPr>
      </p:cxnSp>
      <p:sp>
        <p:nvSpPr>
          <p:cNvPr id="24" name="TextBox 23"/>
          <p:cNvSpPr txBox="1"/>
          <p:nvPr/>
        </p:nvSpPr>
        <p:spPr>
          <a:xfrm>
            <a:off x="609600" y="3200400"/>
            <a:ext cx="1524000" cy="152400"/>
          </a:xfrm>
          <a:prstGeom prst="rect">
            <a:avLst/>
          </a:prstGeom>
          <a:noFill/>
        </p:spPr>
        <p:txBody>
          <a:bodyPr wrap="square" lIns="0" rIns="0" tIns="0" bIns="0" anchor="t">
            <a:spAutoFit/>
          </a:bodyPr>
          <a:lstStyle/>
          <a:p>
            <a:pPr algn="l"/>
            <a:r>
              <a:rPr sz="900" b="1" i="0">
                <a:solidFill>
                  <a:srgbClr val="11181C"/>
                </a:solidFill>
                <a:latin typeface="Arial"/>
              </a:rPr>
              <a:t>H1 · slide title</a:t>
            </a:r>
          </a:p>
        </p:txBody>
      </p:sp>
      <p:sp>
        <p:nvSpPr>
          <p:cNvPr id="25" name="TextBox 24"/>
          <p:cNvSpPr txBox="1"/>
          <p:nvPr/>
        </p:nvSpPr>
        <p:spPr>
          <a:xfrm>
            <a:off x="2159000" y="3086100"/>
            <a:ext cx="4318000" cy="381000"/>
          </a:xfrm>
          <a:prstGeom prst="rect">
            <a:avLst/>
          </a:prstGeom>
          <a:noFill/>
        </p:spPr>
        <p:txBody>
          <a:bodyPr wrap="square" lIns="0" rIns="0" tIns="0" bIns="0" anchor="ctr">
            <a:spAutoFit/>
          </a:bodyPr>
          <a:lstStyle/>
          <a:p>
            <a:pPr algn="l"/>
            <a:r>
              <a:rPr sz="2400" b="0" i="0">
                <a:solidFill>
                  <a:srgbClr val="11181C"/>
                </a:solidFill>
                <a:latin typeface="Georgia"/>
              </a:rPr>
              <a:t>Professional funds</a:t>
            </a:r>
          </a:p>
        </p:txBody>
      </p:sp>
      <p:sp>
        <p:nvSpPr>
          <p:cNvPr id="26" name="TextBox 25"/>
          <p:cNvSpPr txBox="1"/>
          <p:nvPr/>
        </p:nvSpPr>
        <p:spPr>
          <a:xfrm>
            <a:off x="6604000" y="3200400"/>
            <a:ext cx="2095500" cy="152400"/>
          </a:xfrm>
          <a:prstGeom prst="rect">
            <a:avLst/>
          </a:prstGeom>
          <a:noFill/>
        </p:spPr>
        <p:txBody>
          <a:bodyPr wrap="square" lIns="0" rIns="0" tIns="0" bIns="0" anchor="t">
            <a:spAutoFit/>
          </a:bodyPr>
          <a:lstStyle/>
          <a:p>
            <a:pPr algn="l"/>
            <a:r>
              <a:rPr sz="850" b="0" i="0">
                <a:solidFill>
                  <a:srgbClr val="4D555C"/>
                </a:solidFill>
                <a:latin typeface="Arial"/>
              </a:rPr>
              <a:t>Georgia 24 Regular</a:t>
            </a:r>
          </a:p>
        </p:txBody>
      </p:sp>
      <p:sp>
        <p:nvSpPr>
          <p:cNvPr id="27" name="TextBox 26"/>
          <p:cNvSpPr txBox="1"/>
          <p:nvPr/>
        </p:nvSpPr>
        <p:spPr>
          <a:xfrm>
            <a:off x="8763000" y="3200400"/>
            <a:ext cx="1587500" cy="152400"/>
          </a:xfrm>
          <a:prstGeom prst="rect">
            <a:avLst/>
          </a:prstGeom>
          <a:noFill/>
        </p:spPr>
        <p:txBody>
          <a:bodyPr wrap="square" lIns="0" rIns="0" tIns="0" bIns="0" anchor="t">
            <a:spAutoFit/>
          </a:bodyPr>
          <a:lstStyle/>
          <a:p>
            <a:pPr algn="l"/>
            <a:r>
              <a:rPr sz="850" b="0" i="0">
                <a:solidFill>
                  <a:srgbClr val="4D555C"/>
                </a:solidFill>
                <a:latin typeface="Arial"/>
              </a:rPr>
              <a:t>0 · 1.1</a:t>
            </a:r>
          </a:p>
        </p:txBody>
      </p:sp>
      <p:sp>
        <p:nvSpPr>
          <p:cNvPr id="28" name="TextBox 27"/>
          <p:cNvSpPr txBox="1"/>
          <p:nvPr/>
        </p:nvSpPr>
        <p:spPr>
          <a:xfrm>
            <a:off x="10414000" y="3200400"/>
            <a:ext cx="1168400" cy="152400"/>
          </a:xfrm>
          <a:prstGeom prst="rect">
            <a:avLst/>
          </a:prstGeom>
          <a:noFill/>
        </p:spPr>
        <p:txBody>
          <a:bodyPr wrap="square" lIns="0" rIns="0" tIns="0" bIns="0" anchor="t">
            <a:spAutoFit/>
          </a:bodyPr>
          <a:lstStyle/>
          <a:p>
            <a:pPr algn="l"/>
            <a:r>
              <a:rPr sz="850" b="0" i="0">
                <a:solidFill>
                  <a:srgbClr val="697177"/>
                </a:solidFill>
                <a:latin typeface="Arial"/>
              </a:rPr>
              <a:t>32 px</a:t>
            </a:r>
          </a:p>
        </p:txBody>
      </p:sp>
      <p:cxnSp>
        <p:nvCxnSpPr>
          <p:cNvPr id="29" name="Connector 28"/>
          <p:cNvCxnSpPr/>
          <p:nvPr/>
        </p:nvCxnSpPr>
        <p:spPr>
          <a:xfrm>
            <a:off x="609600" y="3505200"/>
            <a:ext cx="10972800" cy="0"/>
          </a:xfrm>
          <a:prstGeom prst="line">
            <a:avLst/>
          </a:prstGeom>
          <a:ln w="9525">
            <a:solidFill>
              <a:srgbClr val="EBEDEF"/>
            </a:solidFill>
          </a:ln>
        </p:spPr>
      </p:cxnSp>
      <p:sp>
        <p:nvSpPr>
          <p:cNvPr id="30" name="TextBox 29"/>
          <p:cNvSpPr txBox="1"/>
          <p:nvPr/>
        </p:nvSpPr>
        <p:spPr>
          <a:xfrm>
            <a:off x="609600" y="3632200"/>
            <a:ext cx="1524000" cy="152400"/>
          </a:xfrm>
          <a:prstGeom prst="rect">
            <a:avLst/>
          </a:prstGeom>
          <a:noFill/>
        </p:spPr>
        <p:txBody>
          <a:bodyPr wrap="square" lIns="0" rIns="0" tIns="0" bIns="0" anchor="t">
            <a:spAutoFit/>
          </a:bodyPr>
          <a:lstStyle/>
          <a:p>
            <a:pPr algn="l"/>
            <a:r>
              <a:rPr sz="900" b="1" i="0">
                <a:solidFill>
                  <a:srgbClr val="11181C"/>
                </a:solidFill>
                <a:latin typeface="Arial"/>
              </a:rPr>
              <a:t>H2 · section</a:t>
            </a:r>
          </a:p>
        </p:txBody>
      </p:sp>
      <p:sp>
        <p:nvSpPr>
          <p:cNvPr id="31" name="TextBox 30"/>
          <p:cNvSpPr txBox="1"/>
          <p:nvPr/>
        </p:nvSpPr>
        <p:spPr>
          <a:xfrm>
            <a:off x="2159000" y="3543300"/>
            <a:ext cx="4318000" cy="330200"/>
          </a:xfrm>
          <a:prstGeom prst="rect">
            <a:avLst/>
          </a:prstGeom>
          <a:noFill/>
        </p:spPr>
        <p:txBody>
          <a:bodyPr wrap="square" lIns="0" rIns="0" tIns="0" bIns="0" anchor="ctr">
            <a:spAutoFit/>
          </a:bodyPr>
          <a:lstStyle/>
          <a:p>
            <a:pPr algn="l"/>
            <a:r>
              <a:rPr sz="1800" b="0" i="0">
                <a:solidFill>
                  <a:srgbClr val="11181C"/>
                </a:solidFill>
                <a:latin typeface="Georgia"/>
              </a:rPr>
              <a:t>Why the price </a:t>
            </a:r>
            <a:r>
              <a:rPr sz="1800" b="0" i="1">
                <a:solidFill>
                  <a:srgbClr val="11181C"/>
                </a:solidFill>
                <a:latin typeface="Georgia"/>
              </a:rPr>
              <a:t>wins</a:t>
            </a:r>
          </a:p>
        </p:txBody>
      </p:sp>
      <p:sp>
        <p:nvSpPr>
          <p:cNvPr id="32" name="TextBox 31"/>
          <p:cNvSpPr txBox="1"/>
          <p:nvPr/>
        </p:nvSpPr>
        <p:spPr>
          <a:xfrm>
            <a:off x="6604000" y="3632200"/>
            <a:ext cx="2095500" cy="152400"/>
          </a:xfrm>
          <a:prstGeom prst="rect">
            <a:avLst/>
          </a:prstGeom>
          <a:noFill/>
        </p:spPr>
        <p:txBody>
          <a:bodyPr wrap="square" lIns="0" rIns="0" tIns="0" bIns="0" anchor="t">
            <a:spAutoFit/>
          </a:bodyPr>
          <a:lstStyle/>
          <a:p>
            <a:pPr algn="l"/>
            <a:r>
              <a:rPr sz="850" b="0" i="0">
                <a:solidFill>
                  <a:srgbClr val="4D555C"/>
                </a:solidFill>
                <a:latin typeface="Arial"/>
              </a:rPr>
              <a:t>Georgia 18 Regular</a:t>
            </a:r>
          </a:p>
        </p:txBody>
      </p:sp>
      <p:sp>
        <p:nvSpPr>
          <p:cNvPr id="33" name="TextBox 32"/>
          <p:cNvSpPr txBox="1"/>
          <p:nvPr/>
        </p:nvSpPr>
        <p:spPr>
          <a:xfrm>
            <a:off x="8763000" y="3632200"/>
            <a:ext cx="1587500" cy="152400"/>
          </a:xfrm>
          <a:prstGeom prst="rect">
            <a:avLst/>
          </a:prstGeom>
          <a:noFill/>
        </p:spPr>
        <p:txBody>
          <a:bodyPr wrap="square" lIns="0" rIns="0" tIns="0" bIns="0" anchor="t">
            <a:spAutoFit/>
          </a:bodyPr>
          <a:lstStyle/>
          <a:p>
            <a:pPr algn="l"/>
            <a:r>
              <a:rPr sz="850" b="0" i="0">
                <a:solidFill>
                  <a:srgbClr val="4D555C"/>
                </a:solidFill>
                <a:latin typeface="Arial"/>
              </a:rPr>
              <a:t>0 · 1.2</a:t>
            </a:r>
          </a:p>
        </p:txBody>
      </p:sp>
      <p:sp>
        <p:nvSpPr>
          <p:cNvPr id="34" name="TextBox 33"/>
          <p:cNvSpPr txBox="1"/>
          <p:nvPr/>
        </p:nvSpPr>
        <p:spPr>
          <a:xfrm>
            <a:off x="10414000" y="3632200"/>
            <a:ext cx="1168400" cy="152400"/>
          </a:xfrm>
          <a:prstGeom prst="rect">
            <a:avLst/>
          </a:prstGeom>
          <a:noFill/>
        </p:spPr>
        <p:txBody>
          <a:bodyPr wrap="square" lIns="0" rIns="0" tIns="0" bIns="0" anchor="t">
            <a:spAutoFit/>
          </a:bodyPr>
          <a:lstStyle/>
          <a:p>
            <a:pPr algn="l"/>
            <a:r>
              <a:rPr sz="850" b="0" i="0">
                <a:solidFill>
                  <a:srgbClr val="697177"/>
                </a:solidFill>
                <a:latin typeface="Arial"/>
              </a:rPr>
              <a:t>24 px</a:t>
            </a:r>
          </a:p>
        </p:txBody>
      </p:sp>
      <p:cxnSp>
        <p:nvCxnSpPr>
          <p:cNvPr id="35" name="Connector 34"/>
          <p:cNvCxnSpPr/>
          <p:nvPr/>
        </p:nvCxnSpPr>
        <p:spPr>
          <a:xfrm>
            <a:off x="609600" y="3911600"/>
            <a:ext cx="10972800" cy="0"/>
          </a:xfrm>
          <a:prstGeom prst="line">
            <a:avLst/>
          </a:prstGeom>
          <a:ln w="9525">
            <a:solidFill>
              <a:srgbClr val="EBEDEF"/>
            </a:solidFill>
          </a:ln>
        </p:spPr>
      </p:cxnSp>
      <p:sp>
        <p:nvSpPr>
          <p:cNvPr id="36" name="TextBox 35"/>
          <p:cNvSpPr txBox="1"/>
          <p:nvPr/>
        </p:nvSpPr>
        <p:spPr>
          <a:xfrm>
            <a:off x="609600" y="4038600"/>
            <a:ext cx="1524000" cy="152400"/>
          </a:xfrm>
          <a:prstGeom prst="rect">
            <a:avLst/>
          </a:prstGeom>
          <a:noFill/>
        </p:spPr>
        <p:txBody>
          <a:bodyPr wrap="square" lIns="0" rIns="0" tIns="0" bIns="0" anchor="t">
            <a:spAutoFit/>
          </a:bodyPr>
          <a:lstStyle/>
          <a:p>
            <a:pPr algn="l"/>
            <a:r>
              <a:rPr sz="900" b="1" i="0">
                <a:solidFill>
                  <a:srgbClr val="11181C"/>
                </a:solidFill>
                <a:latin typeface="Arial"/>
              </a:rPr>
              <a:t>H3 · card title</a:t>
            </a:r>
          </a:p>
        </p:txBody>
      </p:sp>
      <p:sp>
        <p:nvSpPr>
          <p:cNvPr id="37" name="TextBox 36"/>
          <p:cNvSpPr txBox="1"/>
          <p:nvPr/>
        </p:nvSpPr>
        <p:spPr>
          <a:xfrm>
            <a:off x="2159000" y="3949700"/>
            <a:ext cx="4318000" cy="330200"/>
          </a:xfrm>
          <a:prstGeom prst="rect">
            <a:avLst/>
          </a:prstGeom>
          <a:noFill/>
        </p:spPr>
        <p:txBody>
          <a:bodyPr wrap="square" lIns="0" rIns="0" tIns="0" bIns="0" anchor="ctr">
            <a:spAutoFit/>
          </a:bodyPr>
          <a:lstStyle/>
          <a:p>
            <a:pPr algn="l"/>
            <a:r>
              <a:rPr sz="1300" b="0" i="0">
                <a:solidFill>
                  <a:srgbClr val="11181C"/>
                </a:solidFill>
                <a:latin typeface="Georgia"/>
              </a:rPr>
              <a:t>Crypto Market Review</a:t>
            </a:r>
          </a:p>
        </p:txBody>
      </p:sp>
      <p:sp>
        <p:nvSpPr>
          <p:cNvPr id="38" name="TextBox 37"/>
          <p:cNvSpPr txBox="1"/>
          <p:nvPr/>
        </p:nvSpPr>
        <p:spPr>
          <a:xfrm>
            <a:off x="6604000" y="4038600"/>
            <a:ext cx="2095500" cy="152400"/>
          </a:xfrm>
          <a:prstGeom prst="rect">
            <a:avLst/>
          </a:prstGeom>
          <a:noFill/>
        </p:spPr>
        <p:txBody>
          <a:bodyPr wrap="square" lIns="0" rIns="0" tIns="0" bIns="0" anchor="t">
            <a:spAutoFit/>
          </a:bodyPr>
          <a:lstStyle/>
          <a:p>
            <a:pPr algn="l"/>
            <a:r>
              <a:rPr sz="850" b="0" i="0">
                <a:solidFill>
                  <a:srgbClr val="4D555C"/>
                </a:solidFill>
                <a:latin typeface="Arial"/>
              </a:rPr>
              <a:t>Georgia 13 Regular</a:t>
            </a:r>
          </a:p>
        </p:txBody>
      </p:sp>
      <p:sp>
        <p:nvSpPr>
          <p:cNvPr id="39" name="TextBox 38"/>
          <p:cNvSpPr txBox="1"/>
          <p:nvPr/>
        </p:nvSpPr>
        <p:spPr>
          <a:xfrm>
            <a:off x="8763000" y="4038600"/>
            <a:ext cx="1587500" cy="152400"/>
          </a:xfrm>
          <a:prstGeom prst="rect">
            <a:avLst/>
          </a:prstGeom>
          <a:noFill/>
        </p:spPr>
        <p:txBody>
          <a:bodyPr wrap="square" lIns="0" rIns="0" tIns="0" bIns="0" anchor="t">
            <a:spAutoFit/>
          </a:bodyPr>
          <a:lstStyle/>
          <a:p>
            <a:pPr algn="l"/>
            <a:r>
              <a:rPr sz="850" b="0" i="0">
                <a:solidFill>
                  <a:srgbClr val="4D555C"/>
                </a:solidFill>
                <a:latin typeface="Arial"/>
              </a:rPr>
              <a:t>0.2 · 1.25</a:t>
            </a:r>
          </a:p>
        </p:txBody>
      </p:sp>
      <p:sp>
        <p:nvSpPr>
          <p:cNvPr id="40" name="TextBox 39"/>
          <p:cNvSpPr txBox="1"/>
          <p:nvPr/>
        </p:nvSpPr>
        <p:spPr>
          <a:xfrm>
            <a:off x="10414000" y="4038600"/>
            <a:ext cx="1168400" cy="152400"/>
          </a:xfrm>
          <a:prstGeom prst="rect">
            <a:avLst/>
          </a:prstGeom>
          <a:noFill/>
        </p:spPr>
        <p:txBody>
          <a:bodyPr wrap="square" lIns="0" rIns="0" tIns="0" bIns="0" anchor="t">
            <a:spAutoFit/>
          </a:bodyPr>
          <a:lstStyle/>
          <a:p>
            <a:pPr algn="l"/>
            <a:r>
              <a:rPr sz="850" b="0" i="0">
                <a:solidFill>
                  <a:srgbClr val="697177"/>
                </a:solidFill>
                <a:latin typeface="Arial"/>
              </a:rPr>
              <a:t>16 px Items</a:t>
            </a:r>
          </a:p>
        </p:txBody>
      </p:sp>
      <p:cxnSp>
        <p:nvCxnSpPr>
          <p:cNvPr id="41" name="Connector 40"/>
          <p:cNvCxnSpPr/>
          <p:nvPr/>
        </p:nvCxnSpPr>
        <p:spPr>
          <a:xfrm>
            <a:off x="609600" y="4318000"/>
            <a:ext cx="10972800" cy="0"/>
          </a:xfrm>
          <a:prstGeom prst="line">
            <a:avLst/>
          </a:prstGeom>
          <a:ln w="9525">
            <a:solidFill>
              <a:srgbClr val="EBEDEF"/>
            </a:solidFill>
          </a:ln>
        </p:spPr>
      </p:cxnSp>
      <p:sp>
        <p:nvSpPr>
          <p:cNvPr id="42" name="TextBox 41"/>
          <p:cNvSpPr txBox="1"/>
          <p:nvPr/>
        </p:nvSpPr>
        <p:spPr>
          <a:xfrm>
            <a:off x="609600" y="4445000"/>
            <a:ext cx="1524000" cy="152400"/>
          </a:xfrm>
          <a:prstGeom prst="rect">
            <a:avLst/>
          </a:prstGeom>
          <a:noFill/>
        </p:spPr>
        <p:txBody>
          <a:bodyPr wrap="square" lIns="0" rIns="0" tIns="0" bIns="0" anchor="t">
            <a:spAutoFit/>
          </a:bodyPr>
          <a:lstStyle/>
          <a:p>
            <a:pPr algn="l"/>
            <a:r>
              <a:rPr sz="900" b="1" i="0">
                <a:solidFill>
                  <a:srgbClr val="11181C"/>
                </a:solidFill>
                <a:latin typeface="Arial"/>
              </a:rPr>
              <a:t>Kicker</a:t>
            </a:r>
          </a:p>
        </p:txBody>
      </p:sp>
      <p:sp>
        <p:nvSpPr>
          <p:cNvPr id="43" name="TextBox 42"/>
          <p:cNvSpPr txBox="1"/>
          <p:nvPr/>
        </p:nvSpPr>
        <p:spPr>
          <a:xfrm>
            <a:off x="2159000" y="4356100"/>
            <a:ext cx="4318000" cy="330200"/>
          </a:xfrm>
          <a:prstGeom prst="rect">
            <a:avLst/>
          </a:prstGeom>
          <a:noFill/>
        </p:spPr>
        <p:txBody>
          <a:bodyPr wrap="square" lIns="0" rIns="0" tIns="0" bIns="0" anchor="ctr">
            <a:spAutoFit/>
          </a:bodyPr>
          <a:lstStyle/>
          <a:p>
            <a:pPr algn="l"/>
            <a:r>
              <a:rPr sz="850" b="1" i="0" spc="150">
                <a:solidFill>
                  <a:srgbClr val="697177"/>
                </a:solidFill>
                <a:latin typeface="Arial"/>
              </a:rPr>
              <a:t>WHY BITWISE</a:t>
            </a:r>
          </a:p>
        </p:txBody>
      </p:sp>
      <p:sp>
        <p:nvSpPr>
          <p:cNvPr id="44" name="TextBox 43"/>
          <p:cNvSpPr txBox="1"/>
          <p:nvPr/>
        </p:nvSpPr>
        <p:spPr>
          <a:xfrm>
            <a:off x="6604000" y="4445000"/>
            <a:ext cx="2095500" cy="152400"/>
          </a:xfrm>
          <a:prstGeom prst="rect">
            <a:avLst/>
          </a:prstGeom>
          <a:noFill/>
        </p:spPr>
        <p:txBody>
          <a:bodyPr wrap="square" lIns="0" rIns="0" tIns="0" bIns="0" anchor="t">
            <a:spAutoFit/>
          </a:bodyPr>
          <a:lstStyle/>
          <a:p>
            <a:pPr algn="l"/>
            <a:r>
              <a:rPr sz="850" b="0" i="0">
                <a:solidFill>
                  <a:srgbClr val="4D555C"/>
                </a:solidFill>
                <a:latin typeface="Arial"/>
              </a:rPr>
              <a:t>Arial 8.5 Bold CAPS</a:t>
            </a:r>
          </a:p>
        </p:txBody>
      </p:sp>
      <p:sp>
        <p:nvSpPr>
          <p:cNvPr id="45" name="TextBox 44"/>
          <p:cNvSpPr txBox="1"/>
          <p:nvPr/>
        </p:nvSpPr>
        <p:spPr>
          <a:xfrm>
            <a:off x="8763000" y="4445000"/>
            <a:ext cx="1587500" cy="152400"/>
          </a:xfrm>
          <a:prstGeom prst="rect">
            <a:avLst/>
          </a:prstGeom>
          <a:noFill/>
        </p:spPr>
        <p:txBody>
          <a:bodyPr wrap="square" lIns="0" rIns="0" tIns="0" bIns="0" anchor="t">
            <a:spAutoFit/>
          </a:bodyPr>
          <a:lstStyle/>
          <a:p>
            <a:pPr algn="l"/>
            <a:r>
              <a:rPr sz="850" b="0" i="0">
                <a:solidFill>
                  <a:srgbClr val="4D555C"/>
                </a:solidFill>
                <a:latin typeface="Arial"/>
              </a:rPr>
              <a:t>+1.5 · 1.0</a:t>
            </a:r>
          </a:p>
        </p:txBody>
      </p:sp>
      <p:sp>
        <p:nvSpPr>
          <p:cNvPr id="46" name="TextBox 45"/>
          <p:cNvSpPr txBox="1"/>
          <p:nvPr/>
        </p:nvSpPr>
        <p:spPr>
          <a:xfrm>
            <a:off x="10414000" y="4445000"/>
            <a:ext cx="1168400" cy="152400"/>
          </a:xfrm>
          <a:prstGeom prst="rect">
            <a:avLst/>
          </a:prstGeom>
          <a:noFill/>
        </p:spPr>
        <p:txBody>
          <a:bodyPr wrap="square" lIns="0" rIns="0" tIns="0" bIns="0" anchor="t">
            <a:spAutoFit/>
          </a:bodyPr>
          <a:lstStyle/>
          <a:p>
            <a:pPr algn="l"/>
            <a:r>
              <a:rPr sz="850" b="0" i="0">
                <a:solidFill>
                  <a:srgbClr val="697177"/>
                </a:solidFill>
                <a:latin typeface="Arial"/>
              </a:rPr>
              <a:t>16 px 550 +2</a:t>
            </a:r>
          </a:p>
        </p:txBody>
      </p:sp>
      <p:cxnSp>
        <p:nvCxnSpPr>
          <p:cNvPr id="47" name="Connector 46"/>
          <p:cNvCxnSpPr/>
          <p:nvPr/>
        </p:nvCxnSpPr>
        <p:spPr>
          <a:xfrm>
            <a:off x="609600" y="4724400"/>
            <a:ext cx="10972800" cy="0"/>
          </a:xfrm>
          <a:prstGeom prst="line">
            <a:avLst/>
          </a:prstGeom>
          <a:ln w="9525">
            <a:solidFill>
              <a:srgbClr val="EBEDEF"/>
            </a:solidFill>
          </a:ln>
        </p:spPr>
      </p:cxnSp>
      <p:sp>
        <p:nvSpPr>
          <p:cNvPr id="48" name="TextBox 47"/>
          <p:cNvSpPr txBox="1"/>
          <p:nvPr/>
        </p:nvSpPr>
        <p:spPr>
          <a:xfrm>
            <a:off x="609600" y="4851400"/>
            <a:ext cx="1524000" cy="152400"/>
          </a:xfrm>
          <a:prstGeom prst="rect">
            <a:avLst/>
          </a:prstGeom>
          <a:noFill/>
        </p:spPr>
        <p:txBody>
          <a:bodyPr wrap="square" lIns="0" rIns="0" tIns="0" bIns="0" anchor="t">
            <a:spAutoFit/>
          </a:bodyPr>
          <a:lstStyle/>
          <a:p>
            <a:pPr algn="l"/>
            <a:r>
              <a:rPr sz="900" b="1" i="0">
                <a:solidFill>
                  <a:srgbClr val="11181C"/>
                </a:solidFill>
                <a:latin typeface="Arial"/>
              </a:rPr>
              <a:t>Lede</a:t>
            </a:r>
          </a:p>
        </p:txBody>
      </p:sp>
      <p:sp>
        <p:nvSpPr>
          <p:cNvPr id="49" name="TextBox 48"/>
          <p:cNvSpPr txBox="1"/>
          <p:nvPr/>
        </p:nvSpPr>
        <p:spPr>
          <a:xfrm>
            <a:off x="2159000" y="4762500"/>
            <a:ext cx="4318000" cy="330200"/>
          </a:xfrm>
          <a:prstGeom prst="rect">
            <a:avLst/>
          </a:prstGeom>
          <a:noFill/>
        </p:spPr>
        <p:txBody>
          <a:bodyPr wrap="square" lIns="0" rIns="0" tIns="0" bIns="0" anchor="ctr">
            <a:spAutoFit/>
          </a:bodyPr>
          <a:lstStyle/>
          <a:p>
            <a:pPr algn="l"/>
            <a:r>
              <a:rPr sz="1050" b="0" i="0">
                <a:solidFill>
                  <a:srgbClr val="4D555C"/>
                </a:solidFill>
                <a:latin typeface="Arial"/>
              </a:rPr>
              <a:t>One sentence that frames the slide.</a:t>
            </a:r>
          </a:p>
        </p:txBody>
      </p:sp>
      <p:sp>
        <p:nvSpPr>
          <p:cNvPr id="50" name="TextBox 49"/>
          <p:cNvSpPr txBox="1"/>
          <p:nvPr/>
        </p:nvSpPr>
        <p:spPr>
          <a:xfrm>
            <a:off x="6604000" y="4851400"/>
            <a:ext cx="2095500" cy="152400"/>
          </a:xfrm>
          <a:prstGeom prst="rect">
            <a:avLst/>
          </a:prstGeom>
          <a:noFill/>
        </p:spPr>
        <p:txBody>
          <a:bodyPr wrap="square" lIns="0" rIns="0" tIns="0" bIns="0" anchor="t">
            <a:spAutoFit/>
          </a:bodyPr>
          <a:lstStyle/>
          <a:p>
            <a:pPr algn="l"/>
            <a:r>
              <a:rPr sz="850" b="0" i="0">
                <a:solidFill>
                  <a:srgbClr val="4D555C"/>
                </a:solidFill>
                <a:latin typeface="Arial"/>
              </a:rPr>
              <a:t>Arial 10.5 Regular</a:t>
            </a:r>
          </a:p>
        </p:txBody>
      </p:sp>
      <p:sp>
        <p:nvSpPr>
          <p:cNvPr id="51" name="TextBox 50"/>
          <p:cNvSpPr txBox="1"/>
          <p:nvPr/>
        </p:nvSpPr>
        <p:spPr>
          <a:xfrm>
            <a:off x="8763000" y="4851400"/>
            <a:ext cx="1587500" cy="152400"/>
          </a:xfrm>
          <a:prstGeom prst="rect">
            <a:avLst/>
          </a:prstGeom>
          <a:noFill/>
        </p:spPr>
        <p:txBody>
          <a:bodyPr wrap="square" lIns="0" rIns="0" tIns="0" bIns="0" anchor="t">
            <a:spAutoFit/>
          </a:bodyPr>
          <a:lstStyle/>
          <a:p>
            <a:pPr algn="l"/>
            <a:r>
              <a:rPr sz="850" b="0" i="0">
                <a:solidFill>
                  <a:srgbClr val="4D555C"/>
                </a:solidFill>
                <a:latin typeface="Arial"/>
              </a:rPr>
              <a:t>0 · 1.3</a:t>
            </a:r>
          </a:p>
        </p:txBody>
      </p:sp>
      <p:sp>
        <p:nvSpPr>
          <p:cNvPr id="52" name="TextBox 51"/>
          <p:cNvSpPr txBox="1"/>
          <p:nvPr/>
        </p:nvSpPr>
        <p:spPr>
          <a:xfrm>
            <a:off x="10414000" y="4851400"/>
            <a:ext cx="1168400" cy="152400"/>
          </a:xfrm>
          <a:prstGeom prst="rect">
            <a:avLst/>
          </a:prstGeom>
          <a:noFill/>
        </p:spPr>
        <p:txBody>
          <a:bodyPr wrap="square" lIns="0" rIns="0" tIns="0" bIns="0" anchor="t">
            <a:spAutoFit/>
          </a:bodyPr>
          <a:lstStyle/>
          <a:p>
            <a:pPr algn="l"/>
            <a:r>
              <a:rPr sz="850" b="0" i="0">
                <a:solidFill>
                  <a:srgbClr val="697177"/>
                </a:solidFill>
                <a:latin typeface="Arial"/>
              </a:rPr>
              <a:t>18 px</a:t>
            </a:r>
          </a:p>
        </p:txBody>
      </p:sp>
      <p:cxnSp>
        <p:nvCxnSpPr>
          <p:cNvPr id="53" name="Connector 52"/>
          <p:cNvCxnSpPr/>
          <p:nvPr/>
        </p:nvCxnSpPr>
        <p:spPr>
          <a:xfrm>
            <a:off x="609600" y="5130800"/>
            <a:ext cx="10972800" cy="0"/>
          </a:xfrm>
          <a:prstGeom prst="line">
            <a:avLst/>
          </a:prstGeom>
          <a:ln w="9525">
            <a:solidFill>
              <a:srgbClr val="EBEDEF"/>
            </a:solidFill>
          </a:ln>
        </p:spPr>
      </p:cxnSp>
      <p:sp>
        <p:nvSpPr>
          <p:cNvPr id="54" name="TextBox 53"/>
          <p:cNvSpPr txBox="1"/>
          <p:nvPr/>
        </p:nvSpPr>
        <p:spPr>
          <a:xfrm>
            <a:off x="609600" y="5257800"/>
            <a:ext cx="1524000" cy="152400"/>
          </a:xfrm>
          <a:prstGeom prst="rect">
            <a:avLst/>
          </a:prstGeom>
          <a:noFill/>
        </p:spPr>
        <p:txBody>
          <a:bodyPr wrap="square" lIns="0" rIns="0" tIns="0" bIns="0" anchor="t">
            <a:spAutoFit/>
          </a:bodyPr>
          <a:lstStyle/>
          <a:p>
            <a:pPr algn="l"/>
            <a:r>
              <a:rPr sz="900" b="1" i="0">
                <a:solidFill>
                  <a:srgbClr val="11181C"/>
                </a:solidFill>
                <a:latin typeface="Arial"/>
              </a:rPr>
              <a:t>Body</a:t>
            </a:r>
          </a:p>
        </p:txBody>
      </p:sp>
      <p:sp>
        <p:nvSpPr>
          <p:cNvPr id="55" name="TextBox 54"/>
          <p:cNvSpPr txBox="1"/>
          <p:nvPr/>
        </p:nvSpPr>
        <p:spPr>
          <a:xfrm>
            <a:off x="2159000" y="5168900"/>
            <a:ext cx="4318000" cy="330200"/>
          </a:xfrm>
          <a:prstGeom prst="rect">
            <a:avLst/>
          </a:prstGeom>
          <a:noFill/>
        </p:spPr>
        <p:txBody>
          <a:bodyPr wrap="square" lIns="0" rIns="0" tIns="0" bIns="0" anchor="ctr">
            <a:spAutoFit/>
          </a:bodyPr>
          <a:lstStyle/>
          <a:p>
            <a:pPr algn="l"/>
            <a:r>
              <a:rPr sz="1000" b="0" i="0">
                <a:solidFill>
                  <a:srgbClr val="4D555C"/>
                </a:solidFill>
                <a:latin typeface="Arial"/>
              </a:rPr>
              <a:t>Short paragraphs, slate 12.</a:t>
            </a:r>
          </a:p>
        </p:txBody>
      </p:sp>
      <p:sp>
        <p:nvSpPr>
          <p:cNvPr id="56" name="TextBox 55"/>
          <p:cNvSpPr txBox="1"/>
          <p:nvPr/>
        </p:nvSpPr>
        <p:spPr>
          <a:xfrm>
            <a:off x="6604000" y="5257800"/>
            <a:ext cx="2095500" cy="152400"/>
          </a:xfrm>
          <a:prstGeom prst="rect">
            <a:avLst/>
          </a:prstGeom>
          <a:noFill/>
        </p:spPr>
        <p:txBody>
          <a:bodyPr wrap="square" lIns="0" rIns="0" tIns="0" bIns="0" anchor="t">
            <a:spAutoFit/>
          </a:bodyPr>
          <a:lstStyle/>
          <a:p>
            <a:pPr algn="l"/>
            <a:r>
              <a:rPr sz="850" b="0" i="0">
                <a:solidFill>
                  <a:srgbClr val="4D555C"/>
                </a:solidFill>
                <a:latin typeface="Arial"/>
              </a:rPr>
              <a:t>Arial 10 Regular</a:t>
            </a:r>
          </a:p>
        </p:txBody>
      </p:sp>
      <p:sp>
        <p:nvSpPr>
          <p:cNvPr id="57" name="TextBox 56"/>
          <p:cNvSpPr txBox="1"/>
          <p:nvPr/>
        </p:nvSpPr>
        <p:spPr>
          <a:xfrm>
            <a:off x="8763000" y="5257800"/>
            <a:ext cx="1587500" cy="152400"/>
          </a:xfrm>
          <a:prstGeom prst="rect">
            <a:avLst/>
          </a:prstGeom>
          <a:noFill/>
        </p:spPr>
        <p:txBody>
          <a:bodyPr wrap="square" lIns="0" rIns="0" tIns="0" bIns="0" anchor="t">
            <a:spAutoFit/>
          </a:bodyPr>
          <a:lstStyle/>
          <a:p>
            <a:pPr algn="l"/>
            <a:r>
              <a:rPr sz="850" b="0" i="0">
                <a:solidFill>
                  <a:srgbClr val="4D555C"/>
                </a:solidFill>
                <a:latin typeface="Arial"/>
              </a:rPr>
              <a:t>0 · 1.45</a:t>
            </a:r>
          </a:p>
        </p:txBody>
      </p:sp>
      <p:sp>
        <p:nvSpPr>
          <p:cNvPr id="58" name="TextBox 57"/>
          <p:cNvSpPr txBox="1"/>
          <p:nvPr/>
        </p:nvSpPr>
        <p:spPr>
          <a:xfrm>
            <a:off x="10414000" y="5257800"/>
            <a:ext cx="1168400" cy="152400"/>
          </a:xfrm>
          <a:prstGeom prst="rect">
            <a:avLst/>
          </a:prstGeom>
          <a:noFill/>
        </p:spPr>
        <p:txBody>
          <a:bodyPr wrap="square" lIns="0" rIns="0" tIns="0" bIns="0" anchor="t">
            <a:spAutoFit/>
          </a:bodyPr>
          <a:lstStyle/>
          <a:p>
            <a:pPr algn="l"/>
            <a:r>
              <a:rPr sz="850" b="0" i="0">
                <a:solidFill>
                  <a:srgbClr val="697177"/>
                </a:solidFill>
                <a:latin typeface="Arial"/>
              </a:rPr>
              <a:t>16 px 400</a:t>
            </a:r>
          </a:p>
        </p:txBody>
      </p:sp>
      <p:cxnSp>
        <p:nvCxnSpPr>
          <p:cNvPr id="59" name="Connector 58"/>
          <p:cNvCxnSpPr/>
          <p:nvPr/>
        </p:nvCxnSpPr>
        <p:spPr>
          <a:xfrm>
            <a:off x="609600" y="5537200"/>
            <a:ext cx="10972800" cy="0"/>
          </a:xfrm>
          <a:prstGeom prst="line">
            <a:avLst/>
          </a:prstGeom>
          <a:ln w="9525">
            <a:solidFill>
              <a:srgbClr val="EBEDEF"/>
            </a:solidFill>
          </a:ln>
        </p:spPr>
      </p:cxnSp>
      <p:sp>
        <p:nvSpPr>
          <p:cNvPr id="60" name="TextBox 59"/>
          <p:cNvSpPr txBox="1"/>
          <p:nvPr/>
        </p:nvSpPr>
        <p:spPr>
          <a:xfrm>
            <a:off x="609600" y="5664200"/>
            <a:ext cx="1524000" cy="152400"/>
          </a:xfrm>
          <a:prstGeom prst="rect">
            <a:avLst/>
          </a:prstGeom>
          <a:noFill/>
        </p:spPr>
        <p:txBody>
          <a:bodyPr wrap="square" lIns="0" rIns="0" tIns="0" bIns="0" anchor="t">
            <a:spAutoFit/>
          </a:bodyPr>
          <a:lstStyle/>
          <a:p>
            <a:pPr algn="l"/>
            <a:r>
              <a:rPr sz="900" b="1" i="0">
                <a:solidFill>
                  <a:srgbClr val="11181C"/>
                </a:solidFill>
                <a:latin typeface="Arial"/>
              </a:rPr>
              <a:t>Meta · label</a:t>
            </a:r>
          </a:p>
        </p:txBody>
      </p:sp>
      <p:sp>
        <p:nvSpPr>
          <p:cNvPr id="61" name="TextBox 60"/>
          <p:cNvSpPr txBox="1"/>
          <p:nvPr/>
        </p:nvSpPr>
        <p:spPr>
          <a:xfrm>
            <a:off x="2159000" y="5575300"/>
            <a:ext cx="4318000" cy="330200"/>
          </a:xfrm>
          <a:prstGeom prst="rect">
            <a:avLst/>
          </a:prstGeom>
          <a:noFill/>
        </p:spPr>
        <p:txBody>
          <a:bodyPr wrap="square" lIns="0" rIns="0" tIns="0" bIns="0" anchor="ctr">
            <a:spAutoFit/>
          </a:bodyPr>
          <a:lstStyle/>
          <a:p>
            <a:pPr algn="l"/>
            <a:r>
              <a:rPr sz="850" b="1" i="0">
                <a:solidFill>
                  <a:srgbClr val="4D555C"/>
                </a:solidFill>
                <a:latin typeface="Arial"/>
              </a:rPr>
              <a:t>Research  •  Oct 8, 2026</a:t>
            </a:r>
          </a:p>
        </p:txBody>
      </p:sp>
      <p:sp>
        <p:nvSpPr>
          <p:cNvPr id="62" name="TextBox 61"/>
          <p:cNvSpPr txBox="1"/>
          <p:nvPr/>
        </p:nvSpPr>
        <p:spPr>
          <a:xfrm>
            <a:off x="6604000" y="5664200"/>
            <a:ext cx="2095500" cy="152400"/>
          </a:xfrm>
          <a:prstGeom prst="rect">
            <a:avLst/>
          </a:prstGeom>
          <a:noFill/>
        </p:spPr>
        <p:txBody>
          <a:bodyPr wrap="square" lIns="0" rIns="0" tIns="0" bIns="0" anchor="t">
            <a:spAutoFit/>
          </a:bodyPr>
          <a:lstStyle/>
          <a:p>
            <a:pPr algn="l"/>
            <a:r>
              <a:rPr sz="850" b="0" i="0">
                <a:solidFill>
                  <a:srgbClr val="4D555C"/>
                </a:solidFill>
                <a:latin typeface="Arial"/>
              </a:rPr>
              <a:t>Arial 8.5 Bold</a:t>
            </a:r>
          </a:p>
        </p:txBody>
      </p:sp>
      <p:sp>
        <p:nvSpPr>
          <p:cNvPr id="63" name="TextBox 62"/>
          <p:cNvSpPr txBox="1"/>
          <p:nvPr/>
        </p:nvSpPr>
        <p:spPr>
          <a:xfrm>
            <a:off x="8763000" y="5664200"/>
            <a:ext cx="1587500" cy="152400"/>
          </a:xfrm>
          <a:prstGeom prst="rect">
            <a:avLst/>
          </a:prstGeom>
          <a:noFill/>
        </p:spPr>
        <p:txBody>
          <a:bodyPr wrap="square" lIns="0" rIns="0" tIns="0" bIns="0" anchor="t">
            <a:spAutoFit/>
          </a:bodyPr>
          <a:lstStyle/>
          <a:p>
            <a:pPr algn="l"/>
            <a:r>
              <a:rPr sz="850" b="0" i="0">
                <a:solidFill>
                  <a:srgbClr val="4D555C"/>
                </a:solidFill>
                <a:latin typeface="Arial"/>
              </a:rPr>
              <a:t>0 · 1.2</a:t>
            </a:r>
          </a:p>
        </p:txBody>
      </p:sp>
      <p:sp>
        <p:nvSpPr>
          <p:cNvPr id="64" name="TextBox 63"/>
          <p:cNvSpPr txBox="1"/>
          <p:nvPr/>
        </p:nvSpPr>
        <p:spPr>
          <a:xfrm>
            <a:off x="10414000" y="5664200"/>
            <a:ext cx="1168400" cy="152400"/>
          </a:xfrm>
          <a:prstGeom prst="rect">
            <a:avLst/>
          </a:prstGeom>
          <a:noFill/>
        </p:spPr>
        <p:txBody>
          <a:bodyPr wrap="square" lIns="0" rIns="0" tIns="0" bIns="0" anchor="t">
            <a:spAutoFit/>
          </a:bodyPr>
          <a:lstStyle/>
          <a:p>
            <a:pPr algn="l"/>
            <a:r>
              <a:rPr sz="850" b="0" i="0">
                <a:solidFill>
                  <a:srgbClr val="697177"/>
                </a:solidFill>
                <a:latin typeface="Arial"/>
              </a:rPr>
              <a:t>14 px 550</a:t>
            </a:r>
          </a:p>
        </p:txBody>
      </p:sp>
      <p:cxnSp>
        <p:nvCxnSpPr>
          <p:cNvPr id="65" name="Connector 64"/>
          <p:cNvCxnSpPr/>
          <p:nvPr/>
        </p:nvCxnSpPr>
        <p:spPr>
          <a:xfrm>
            <a:off x="609600" y="5943600"/>
            <a:ext cx="10972800" cy="0"/>
          </a:xfrm>
          <a:prstGeom prst="line">
            <a:avLst/>
          </a:prstGeom>
          <a:ln w="9525">
            <a:solidFill>
              <a:srgbClr val="EBEDEF"/>
            </a:solidFill>
          </a:ln>
        </p:spPr>
      </p:cxnSp>
      <p:sp>
        <p:nvSpPr>
          <p:cNvPr id="66" name="TextBox 65"/>
          <p:cNvSpPr txBox="1"/>
          <p:nvPr/>
        </p:nvSpPr>
        <p:spPr>
          <a:xfrm>
            <a:off x="609600" y="6070600"/>
            <a:ext cx="1524000" cy="152400"/>
          </a:xfrm>
          <a:prstGeom prst="rect">
            <a:avLst/>
          </a:prstGeom>
          <a:noFill/>
        </p:spPr>
        <p:txBody>
          <a:bodyPr wrap="square" lIns="0" rIns="0" tIns="0" bIns="0" anchor="t">
            <a:spAutoFit/>
          </a:bodyPr>
          <a:lstStyle/>
          <a:p>
            <a:pPr algn="l"/>
            <a:r>
              <a:rPr sz="900" b="1" i="0">
                <a:solidFill>
                  <a:srgbClr val="11181C"/>
                </a:solidFill>
                <a:latin typeface="Arial"/>
              </a:rPr>
              <a:t>Button · source</a:t>
            </a:r>
          </a:p>
        </p:txBody>
      </p:sp>
      <p:sp>
        <p:nvSpPr>
          <p:cNvPr id="67" name="TextBox 66"/>
          <p:cNvSpPr txBox="1"/>
          <p:nvPr/>
        </p:nvSpPr>
        <p:spPr>
          <a:xfrm>
            <a:off x="2159000" y="5981700"/>
            <a:ext cx="4318000" cy="330200"/>
          </a:xfrm>
          <a:prstGeom prst="rect">
            <a:avLst/>
          </a:prstGeom>
          <a:noFill/>
        </p:spPr>
        <p:txBody>
          <a:bodyPr wrap="square" lIns="0" rIns="0" tIns="0" bIns="0" anchor="ctr">
            <a:spAutoFit/>
          </a:bodyPr>
          <a:lstStyle/>
          <a:p>
            <a:pPr algn="l"/>
            <a:r>
              <a:rPr sz="750" b="1" i="0" spc="60">
                <a:solidFill>
                  <a:srgbClr val="22C96A"/>
                </a:solidFill>
                <a:latin typeface="Arial"/>
              </a:rPr>
              <a:t>VIEW ALL</a:t>
            </a:r>
          </a:p>
        </p:txBody>
      </p:sp>
      <p:sp>
        <p:nvSpPr>
          <p:cNvPr id="68" name="TextBox 67"/>
          <p:cNvSpPr txBox="1"/>
          <p:nvPr/>
        </p:nvSpPr>
        <p:spPr>
          <a:xfrm>
            <a:off x="6604000" y="6070600"/>
            <a:ext cx="2095500" cy="152400"/>
          </a:xfrm>
          <a:prstGeom prst="rect">
            <a:avLst/>
          </a:prstGeom>
          <a:noFill/>
        </p:spPr>
        <p:txBody>
          <a:bodyPr wrap="square" lIns="0" rIns="0" tIns="0" bIns="0" anchor="t">
            <a:spAutoFit/>
          </a:bodyPr>
          <a:lstStyle/>
          <a:p>
            <a:pPr algn="l"/>
            <a:r>
              <a:rPr sz="850" b="0" i="0">
                <a:solidFill>
                  <a:srgbClr val="4D555C"/>
                </a:solidFill>
                <a:latin typeface="Arial"/>
              </a:rPr>
              <a:t>Arial 7.5 Bold CAPS</a:t>
            </a:r>
          </a:p>
        </p:txBody>
      </p:sp>
      <p:sp>
        <p:nvSpPr>
          <p:cNvPr id="69" name="TextBox 68"/>
          <p:cNvSpPr txBox="1"/>
          <p:nvPr/>
        </p:nvSpPr>
        <p:spPr>
          <a:xfrm>
            <a:off x="8763000" y="6070600"/>
            <a:ext cx="1587500" cy="152400"/>
          </a:xfrm>
          <a:prstGeom prst="rect">
            <a:avLst/>
          </a:prstGeom>
          <a:noFill/>
        </p:spPr>
        <p:txBody>
          <a:bodyPr wrap="square" lIns="0" rIns="0" tIns="0" bIns="0" anchor="t">
            <a:spAutoFit/>
          </a:bodyPr>
          <a:lstStyle/>
          <a:p>
            <a:pPr algn="l"/>
            <a:r>
              <a:rPr sz="850" b="0" i="0">
                <a:solidFill>
                  <a:srgbClr val="4D555C"/>
                </a:solidFill>
                <a:latin typeface="Arial"/>
              </a:rPr>
              <a:t>+0.6 · 1.0</a:t>
            </a:r>
          </a:p>
        </p:txBody>
      </p:sp>
      <p:sp>
        <p:nvSpPr>
          <p:cNvPr id="70" name="TextBox 69"/>
          <p:cNvSpPr txBox="1"/>
          <p:nvPr/>
        </p:nvSpPr>
        <p:spPr>
          <a:xfrm>
            <a:off x="10414000" y="6070600"/>
            <a:ext cx="1168400" cy="152400"/>
          </a:xfrm>
          <a:prstGeom prst="rect">
            <a:avLst/>
          </a:prstGeom>
          <a:noFill/>
        </p:spPr>
        <p:txBody>
          <a:bodyPr wrap="square" lIns="0" rIns="0" tIns="0" bIns="0" anchor="t">
            <a:spAutoFit/>
          </a:bodyPr>
          <a:lstStyle/>
          <a:p>
            <a:pPr algn="l"/>
            <a:r>
              <a:rPr sz="850" b="0" i="0">
                <a:solidFill>
                  <a:srgbClr val="697177"/>
                </a:solidFill>
                <a:latin typeface="Arial"/>
              </a:rPr>
              <a:t>12 px 550 +0.8</a:t>
            </a:r>
          </a:p>
        </p:txBody>
      </p:sp>
      <p:cxnSp>
        <p:nvCxnSpPr>
          <p:cNvPr id="71" name="Connector 70"/>
          <p:cNvCxnSpPr/>
          <p:nvPr/>
        </p:nvCxnSpPr>
        <p:spPr>
          <a:xfrm>
            <a:off x="609600" y="6350000"/>
            <a:ext cx="10972800" cy="0"/>
          </a:xfrm>
          <a:prstGeom prst="line">
            <a:avLst/>
          </a:prstGeom>
          <a:ln w="9525">
            <a:solidFill>
              <a:srgbClr val="EBEDEF"/>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FOUNDATIONS · TYPE DETAILS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Small rules that make it </a:t>
            </a:r>
            <a:r>
              <a:rPr sz="2400" b="0" i="1">
                <a:solidFill>
                  <a:srgbClr val="11181C"/>
                </a:solidFill>
                <a:latin typeface="Georgia"/>
              </a:rPr>
              <a:t>feel</a:t>
            </a:r>
            <a:r>
              <a:rPr sz="2400" b="0" i="0">
                <a:solidFill>
                  <a:srgbClr val="11181C"/>
                </a:solidFill>
                <a:latin typeface="Georgia"/>
              </a:rPr>
              <a:t> like Bitwise.</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06</a:t>
            </a:r>
          </a:p>
        </p:txBody>
      </p:sp>
      <p:sp>
        <p:nvSpPr>
          <p:cNvPr id="11" name="Rounded Rectangle 10"/>
          <p:cNvSpPr/>
          <p:nvPr/>
        </p:nvSpPr>
        <p:spPr>
          <a:xfrm>
            <a:off x="609600" y="1905000"/>
            <a:ext cx="3556000" cy="2082800"/>
          </a:xfrm>
          <a:prstGeom prst="roundRect">
            <a:avLst>
              <a:gd name="adj" fmla="val 6097"/>
            </a:avLst>
          </a:prstGeom>
          <a:solidFill>
            <a:srgbClr val="F9FAFB"/>
          </a:solidFill>
          <a:ln>
            <a:noFill/>
          </a:ln>
          <a:effectLst/>
        </p:spPr>
        <p:txBody>
          <a:bodyPr rtlCol="0" anchor="ctr"/>
          <a:lstStyle/>
          <a:p>
            <a:pPr algn="ctr"/>
          </a:p>
        </p:txBody>
      </p:sp>
      <p:sp>
        <p:nvSpPr>
          <p:cNvPr id="12" name="TextBox 11"/>
          <p:cNvSpPr txBox="1"/>
          <p:nvPr/>
        </p:nvSpPr>
        <p:spPr>
          <a:xfrm>
            <a:off x="838200" y="2108200"/>
            <a:ext cx="3175000" cy="152400"/>
          </a:xfrm>
          <a:prstGeom prst="rect">
            <a:avLst/>
          </a:prstGeom>
          <a:noFill/>
        </p:spPr>
        <p:txBody>
          <a:bodyPr wrap="square" lIns="0" rIns="0" tIns="0" bIns="0" anchor="t">
            <a:spAutoFit/>
          </a:bodyPr>
          <a:lstStyle/>
          <a:p>
            <a:pPr algn="l"/>
            <a:r>
              <a:rPr sz="850" b="1" i="0" spc="150">
                <a:solidFill>
                  <a:srgbClr val="11181C"/>
                </a:solidFill>
                <a:latin typeface="Arial"/>
              </a:rPr>
              <a:t>ITALIC, NOT BOLD, FOR EMPHASIS</a:t>
            </a:r>
          </a:p>
        </p:txBody>
      </p:sp>
      <p:sp>
        <p:nvSpPr>
          <p:cNvPr id="13" name="TextBox 12"/>
          <p:cNvSpPr txBox="1"/>
          <p:nvPr/>
        </p:nvSpPr>
        <p:spPr>
          <a:xfrm>
            <a:off x="838200" y="2413000"/>
            <a:ext cx="3175000" cy="711200"/>
          </a:xfrm>
          <a:prstGeom prst="rect">
            <a:avLst/>
          </a:prstGeom>
          <a:noFill/>
        </p:spPr>
        <p:txBody>
          <a:bodyPr wrap="square" lIns="0" rIns="0" tIns="0" bIns="0" anchor="ctr">
            <a:spAutoFit/>
          </a:bodyPr>
          <a:lstStyle/>
          <a:p>
            <a:pPr algn="l"/>
            <a:r>
              <a:rPr sz="1700" b="0" i="0">
                <a:solidFill>
                  <a:srgbClr val="11181C"/>
                </a:solidFill>
                <a:latin typeface="Georgia"/>
              </a:rPr>
              <a:t>Crypto is </a:t>
            </a:r>
            <a:r>
              <a:rPr sz="1700" b="0" i="1">
                <a:solidFill>
                  <a:srgbClr val="11181C"/>
                </a:solidFill>
                <a:latin typeface="Georgia"/>
              </a:rPr>
              <a:t>complicated</a:t>
            </a:r>
            <a:r>
              <a:rPr sz="1700" b="0" i="0">
                <a:solidFill>
                  <a:srgbClr val="11181C"/>
                </a:solidFill>
                <a:latin typeface="Georgia"/>
              </a:rPr>
              <a:t>. We make it </a:t>
            </a:r>
            <a:r>
              <a:rPr sz="1700" b="0" i="1">
                <a:solidFill>
                  <a:srgbClr val="11181C"/>
                </a:solidFill>
                <a:latin typeface="Georgia"/>
              </a:rPr>
              <a:t>clear</a:t>
            </a:r>
            <a:r>
              <a:rPr sz="1700" b="0" i="0">
                <a:solidFill>
                  <a:srgbClr val="11181C"/>
                </a:solidFill>
                <a:latin typeface="Georgia"/>
              </a:rPr>
              <a:t>.</a:t>
            </a:r>
          </a:p>
        </p:txBody>
      </p:sp>
      <p:cxnSp>
        <p:nvCxnSpPr>
          <p:cNvPr id="14" name="Connector 13"/>
          <p:cNvCxnSpPr/>
          <p:nvPr/>
        </p:nvCxnSpPr>
        <p:spPr>
          <a:xfrm>
            <a:off x="838200" y="3200400"/>
            <a:ext cx="3098800" cy="0"/>
          </a:xfrm>
          <a:prstGeom prst="line">
            <a:avLst/>
          </a:prstGeom>
          <a:ln w="9525">
            <a:solidFill>
              <a:srgbClr val="E0E3E6"/>
            </a:solidFill>
          </a:ln>
        </p:spPr>
      </p:cxnSp>
      <p:sp>
        <p:nvSpPr>
          <p:cNvPr id="15" name="TextBox 14"/>
          <p:cNvSpPr txBox="1"/>
          <p:nvPr/>
        </p:nvSpPr>
        <p:spPr>
          <a:xfrm>
            <a:off x="838200" y="3302000"/>
            <a:ext cx="3149600" cy="635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In serif headlines, put the one idea that matters in italic. Never bold a serif.</a:t>
            </a:r>
          </a:p>
        </p:txBody>
      </p:sp>
      <p:sp>
        <p:nvSpPr>
          <p:cNvPr id="16" name="Rounded Rectangle 15"/>
          <p:cNvSpPr/>
          <p:nvPr/>
        </p:nvSpPr>
        <p:spPr>
          <a:xfrm>
            <a:off x="4318000" y="1905000"/>
            <a:ext cx="3556000" cy="2082800"/>
          </a:xfrm>
          <a:prstGeom prst="roundRect">
            <a:avLst>
              <a:gd name="adj" fmla="val 6097"/>
            </a:avLst>
          </a:prstGeom>
          <a:solidFill>
            <a:srgbClr val="F9FAFB"/>
          </a:solidFill>
          <a:ln>
            <a:noFill/>
          </a:ln>
          <a:effectLst/>
        </p:spPr>
        <p:txBody>
          <a:bodyPr rtlCol="0" anchor="ctr"/>
          <a:lstStyle/>
          <a:p>
            <a:pPr algn="ctr"/>
          </a:p>
        </p:txBody>
      </p:sp>
      <p:sp>
        <p:nvSpPr>
          <p:cNvPr id="17" name="TextBox 16"/>
          <p:cNvSpPr txBox="1"/>
          <p:nvPr/>
        </p:nvSpPr>
        <p:spPr>
          <a:xfrm>
            <a:off x="4546600" y="2108200"/>
            <a:ext cx="3175000" cy="152400"/>
          </a:xfrm>
          <a:prstGeom prst="rect">
            <a:avLst/>
          </a:prstGeom>
          <a:noFill/>
        </p:spPr>
        <p:txBody>
          <a:bodyPr wrap="square" lIns="0" rIns="0" tIns="0" bIns="0" anchor="t">
            <a:spAutoFit/>
          </a:bodyPr>
          <a:lstStyle/>
          <a:p>
            <a:pPr algn="l"/>
            <a:r>
              <a:rPr sz="850" b="1" i="0" spc="150">
                <a:solidFill>
                  <a:srgbClr val="11181C"/>
                </a:solidFill>
                <a:latin typeface="Arial"/>
              </a:rPr>
              <a:t>SENTENCE CASE HEADLINES</a:t>
            </a:r>
          </a:p>
        </p:txBody>
      </p:sp>
      <p:sp>
        <p:nvSpPr>
          <p:cNvPr id="18" name="TextBox 17"/>
          <p:cNvSpPr txBox="1"/>
          <p:nvPr/>
        </p:nvSpPr>
        <p:spPr>
          <a:xfrm>
            <a:off x="4546600" y="2413000"/>
            <a:ext cx="3175000" cy="711200"/>
          </a:xfrm>
          <a:prstGeom prst="rect">
            <a:avLst/>
          </a:prstGeom>
          <a:noFill/>
        </p:spPr>
        <p:txBody>
          <a:bodyPr wrap="square" lIns="0" rIns="0" tIns="0" bIns="0" anchor="ctr">
            <a:spAutoFit/>
          </a:bodyPr>
          <a:lstStyle/>
          <a:p>
            <a:pPr algn="l"/>
            <a:r>
              <a:rPr sz="1700" b="0" i="0">
                <a:solidFill>
                  <a:srgbClr val="11181C"/>
                </a:solidFill>
                <a:latin typeface="Georgia"/>
              </a:rPr>
              <a:t>Professional funds managed by experts</a:t>
            </a:r>
          </a:p>
        </p:txBody>
      </p:sp>
      <p:cxnSp>
        <p:nvCxnSpPr>
          <p:cNvPr id="19" name="Connector 18"/>
          <p:cNvCxnSpPr/>
          <p:nvPr/>
        </p:nvCxnSpPr>
        <p:spPr>
          <a:xfrm>
            <a:off x="4546600" y="3200400"/>
            <a:ext cx="3098800" cy="0"/>
          </a:xfrm>
          <a:prstGeom prst="line">
            <a:avLst/>
          </a:prstGeom>
          <a:ln w="9525">
            <a:solidFill>
              <a:srgbClr val="E0E3E6"/>
            </a:solidFill>
          </a:ln>
        </p:spPr>
      </p:cxnSp>
      <p:sp>
        <p:nvSpPr>
          <p:cNvPr id="20" name="TextBox 19"/>
          <p:cNvSpPr txBox="1"/>
          <p:nvPr/>
        </p:nvSpPr>
        <p:spPr>
          <a:xfrm>
            <a:off x="4546600" y="3302000"/>
            <a:ext cx="3149600" cy="635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Capitalise only the first word and names. CAPS are only for kickers, labels and buttons.</a:t>
            </a:r>
          </a:p>
        </p:txBody>
      </p:sp>
      <p:sp>
        <p:nvSpPr>
          <p:cNvPr id="21" name="Rounded Rectangle 20"/>
          <p:cNvSpPr/>
          <p:nvPr/>
        </p:nvSpPr>
        <p:spPr>
          <a:xfrm>
            <a:off x="8026400" y="1905000"/>
            <a:ext cx="3556000" cy="2082800"/>
          </a:xfrm>
          <a:prstGeom prst="roundRect">
            <a:avLst>
              <a:gd name="adj" fmla="val 6097"/>
            </a:avLst>
          </a:prstGeom>
          <a:solidFill>
            <a:srgbClr val="F9FAFB"/>
          </a:solidFill>
          <a:ln>
            <a:noFill/>
          </a:ln>
          <a:effectLst/>
        </p:spPr>
        <p:txBody>
          <a:bodyPr rtlCol="0" anchor="ctr"/>
          <a:lstStyle/>
          <a:p>
            <a:pPr algn="ctr"/>
          </a:p>
        </p:txBody>
      </p:sp>
      <p:sp>
        <p:nvSpPr>
          <p:cNvPr id="22" name="TextBox 21"/>
          <p:cNvSpPr txBox="1"/>
          <p:nvPr/>
        </p:nvSpPr>
        <p:spPr>
          <a:xfrm>
            <a:off x="8255000" y="2108200"/>
            <a:ext cx="3175000" cy="152400"/>
          </a:xfrm>
          <a:prstGeom prst="rect">
            <a:avLst/>
          </a:prstGeom>
          <a:noFill/>
        </p:spPr>
        <p:txBody>
          <a:bodyPr wrap="square" lIns="0" rIns="0" tIns="0" bIns="0" anchor="t">
            <a:spAutoFit/>
          </a:bodyPr>
          <a:lstStyle/>
          <a:p>
            <a:pPr algn="l"/>
            <a:r>
              <a:rPr sz="850" b="1" i="0" spc="150">
                <a:solidFill>
                  <a:srgbClr val="11181C"/>
                </a:solidFill>
                <a:latin typeface="Arial"/>
              </a:rPr>
              <a:t>TRACKED CAPS FOR KICKERS</a:t>
            </a:r>
          </a:p>
        </p:txBody>
      </p:sp>
      <p:sp>
        <p:nvSpPr>
          <p:cNvPr id="23" name="TextBox 22"/>
          <p:cNvSpPr txBox="1"/>
          <p:nvPr/>
        </p:nvSpPr>
        <p:spPr>
          <a:xfrm>
            <a:off x="8255000" y="2413000"/>
            <a:ext cx="3175000" cy="711200"/>
          </a:xfrm>
          <a:prstGeom prst="rect">
            <a:avLst/>
          </a:prstGeom>
          <a:noFill/>
        </p:spPr>
        <p:txBody>
          <a:bodyPr wrap="square" lIns="0" rIns="0" tIns="0" bIns="0" anchor="ctr">
            <a:spAutoFit/>
          </a:bodyPr>
          <a:lstStyle/>
          <a:p>
            <a:pPr algn="l"/>
            <a:r>
              <a:rPr sz="1000" b="1" i="0" spc="150">
                <a:solidFill>
                  <a:srgbClr val="697177"/>
                </a:solidFill>
                <a:latin typeface="Arial"/>
              </a:rPr>
              <a:t>INVESTMENTS</a:t>
            </a:r>
          </a:p>
        </p:txBody>
      </p:sp>
      <p:cxnSp>
        <p:nvCxnSpPr>
          <p:cNvPr id="24" name="Connector 23"/>
          <p:cNvCxnSpPr/>
          <p:nvPr/>
        </p:nvCxnSpPr>
        <p:spPr>
          <a:xfrm>
            <a:off x="8255000" y="3200400"/>
            <a:ext cx="3098800" cy="0"/>
          </a:xfrm>
          <a:prstGeom prst="line">
            <a:avLst/>
          </a:prstGeom>
          <a:ln w="9525">
            <a:solidFill>
              <a:srgbClr val="E0E3E6"/>
            </a:solidFill>
          </a:ln>
        </p:spPr>
      </p:cxnSp>
      <p:sp>
        <p:nvSpPr>
          <p:cNvPr id="25" name="TextBox 24"/>
          <p:cNvSpPr txBox="1"/>
          <p:nvPr/>
        </p:nvSpPr>
        <p:spPr>
          <a:xfrm>
            <a:off x="8255000" y="3302000"/>
            <a:ext cx="3149600" cy="635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Kickers sit 12–16 pt above the headline, slate 11, tracking +1.5 pt.</a:t>
            </a:r>
          </a:p>
        </p:txBody>
      </p:sp>
      <p:sp>
        <p:nvSpPr>
          <p:cNvPr id="26" name="Rounded Rectangle 25"/>
          <p:cNvSpPr/>
          <p:nvPr/>
        </p:nvSpPr>
        <p:spPr>
          <a:xfrm>
            <a:off x="609600" y="4140200"/>
            <a:ext cx="3556000" cy="2082800"/>
          </a:xfrm>
          <a:prstGeom prst="roundRect">
            <a:avLst>
              <a:gd name="adj" fmla="val 6097"/>
            </a:avLst>
          </a:prstGeom>
          <a:solidFill>
            <a:srgbClr val="F9FAFB"/>
          </a:solidFill>
          <a:ln>
            <a:noFill/>
          </a:ln>
          <a:effectLst/>
        </p:spPr>
        <p:txBody>
          <a:bodyPr rtlCol="0" anchor="ctr"/>
          <a:lstStyle/>
          <a:p>
            <a:pPr algn="ctr"/>
          </a:p>
        </p:txBody>
      </p:sp>
      <p:sp>
        <p:nvSpPr>
          <p:cNvPr id="27" name="TextBox 26"/>
          <p:cNvSpPr txBox="1"/>
          <p:nvPr/>
        </p:nvSpPr>
        <p:spPr>
          <a:xfrm>
            <a:off x="838200" y="4343400"/>
            <a:ext cx="3175000" cy="152400"/>
          </a:xfrm>
          <a:prstGeom prst="rect">
            <a:avLst/>
          </a:prstGeom>
          <a:noFill/>
        </p:spPr>
        <p:txBody>
          <a:bodyPr wrap="square" lIns="0" rIns="0" tIns="0" bIns="0" anchor="t">
            <a:spAutoFit/>
          </a:bodyPr>
          <a:lstStyle/>
          <a:p>
            <a:pPr algn="l"/>
            <a:r>
              <a:rPr sz="850" b="1" i="0" spc="150">
                <a:solidFill>
                  <a:srgbClr val="11181C"/>
                </a:solidFill>
                <a:latin typeface="Arial"/>
              </a:rPr>
              <a:t>SHORT LINES</a:t>
            </a:r>
          </a:p>
        </p:txBody>
      </p:sp>
      <p:sp>
        <p:nvSpPr>
          <p:cNvPr id="28" name="TextBox 27"/>
          <p:cNvSpPr txBox="1"/>
          <p:nvPr/>
        </p:nvSpPr>
        <p:spPr>
          <a:xfrm>
            <a:off x="838200" y="4648200"/>
            <a:ext cx="3175000" cy="711200"/>
          </a:xfrm>
          <a:prstGeom prst="rect">
            <a:avLst/>
          </a:prstGeom>
          <a:noFill/>
        </p:spPr>
        <p:txBody>
          <a:bodyPr wrap="square" lIns="0" rIns="0" tIns="0" bIns="0" anchor="ctr">
            <a:spAutoFit/>
          </a:bodyPr>
          <a:lstStyle/>
          <a:p>
            <a:pPr algn="l"/>
            <a:r>
              <a:rPr sz="1700" b="0" i="0">
                <a:solidFill>
                  <a:srgbClr val="11181C"/>
                </a:solidFill>
                <a:latin typeface="Georgia"/>
              </a:rPr>
              <a:t>Max ~70 characters per line</a:t>
            </a:r>
          </a:p>
        </p:txBody>
      </p:sp>
      <p:cxnSp>
        <p:nvCxnSpPr>
          <p:cNvPr id="29" name="Connector 28"/>
          <p:cNvCxnSpPr/>
          <p:nvPr/>
        </p:nvCxnSpPr>
        <p:spPr>
          <a:xfrm>
            <a:off x="838200" y="5435600"/>
            <a:ext cx="3098800" cy="0"/>
          </a:xfrm>
          <a:prstGeom prst="line">
            <a:avLst/>
          </a:prstGeom>
          <a:ln w="9525">
            <a:solidFill>
              <a:srgbClr val="E0E3E6"/>
            </a:solidFill>
          </a:ln>
        </p:spPr>
      </p:cxnSp>
      <p:sp>
        <p:nvSpPr>
          <p:cNvPr id="30" name="TextBox 29"/>
          <p:cNvSpPr txBox="1"/>
          <p:nvPr/>
        </p:nvSpPr>
        <p:spPr>
          <a:xfrm>
            <a:off x="838200" y="5537200"/>
            <a:ext cx="3149600" cy="635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Body text never spans the full slide. Cap paragraphs at 2/3 of the width.</a:t>
            </a:r>
          </a:p>
        </p:txBody>
      </p:sp>
      <p:sp>
        <p:nvSpPr>
          <p:cNvPr id="31" name="Rounded Rectangle 30"/>
          <p:cNvSpPr/>
          <p:nvPr/>
        </p:nvSpPr>
        <p:spPr>
          <a:xfrm>
            <a:off x="4318000" y="4140200"/>
            <a:ext cx="3556000" cy="2082800"/>
          </a:xfrm>
          <a:prstGeom prst="roundRect">
            <a:avLst>
              <a:gd name="adj" fmla="val 6097"/>
            </a:avLst>
          </a:prstGeom>
          <a:solidFill>
            <a:srgbClr val="F9FAFB"/>
          </a:solidFill>
          <a:ln>
            <a:noFill/>
          </a:ln>
          <a:effectLst/>
        </p:spPr>
        <p:txBody>
          <a:bodyPr rtlCol="0" anchor="ctr"/>
          <a:lstStyle/>
          <a:p>
            <a:pPr algn="ctr"/>
          </a:p>
        </p:txBody>
      </p:sp>
      <p:sp>
        <p:nvSpPr>
          <p:cNvPr id="32" name="TextBox 31"/>
          <p:cNvSpPr txBox="1"/>
          <p:nvPr/>
        </p:nvSpPr>
        <p:spPr>
          <a:xfrm>
            <a:off x="4546600" y="4343400"/>
            <a:ext cx="3175000" cy="152400"/>
          </a:xfrm>
          <a:prstGeom prst="rect">
            <a:avLst/>
          </a:prstGeom>
          <a:noFill/>
        </p:spPr>
        <p:txBody>
          <a:bodyPr wrap="square" lIns="0" rIns="0" tIns="0" bIns="0" anchor="t">
            <a:spAutoFit/>
          </a:bodyPr>
          <a:lstStyle/>
          <a:p>
            <a:pPr algn="l"/>
            <a:r>
              <a:rPr sz="850" b="1" i="0" spc="150">
                <a:solidFill>
                  <a:srgbClr val="11181C"/>
                </a:solidFill>
                <a:latin typeface="Arial"/>
              </a:rPr>
              <a:t>LEADING</a:t>
            </a:r>
          </a:p>
        </p:txBody>
      </p:sp>
      <p:sp>
        <p:nvSpPr>
          <p:cNvPr id="33" name="TextBox 32"/>
          <p:cNvSpPr txBox="1"/>
          <p:nvPr/>
        </p:nvSpPr>
        <p:spPr>
          <a:xfrm>
            <a:off x="4546600" y="4648200"/>
            <a:ext cx="3175000" cy="711200"/>
          </a:xfrm>
          <a:prstGeom prst="rect">
            <a:avLst/>
          </a:prstGeom>
          <a:noFill/>
        </p:spPr>
        <p:txBody>
          <a:bodyPr wrap="square" lIns="0" rIns="0" tIns="0" bIns="0" anchor="ctr">
            <a:spAutoFit/>
          </a:bodyPr>
          <a:lstStyle/>
          <a:p>
            <a:pPr algn="l"/>
            <a:r>
              <a:rPr sz="1700" b="0" i="0">
                <a:solidFill>
                  <a:srgbClr val="11181C"/>
                </a:solidFill>
                <a:latin typeface="Georgia"/>
              </a:rPr>
              <a:t>1.0 · 1.25 · 1.45</a:t>
            </a:r>
          </a:p>
        </p:txBody>
      </p:sp>
      <p:cxnSp>
        <p:nvCxnSpPr>
          <p:cNvPr id="34" name="Connector 33"/>
          <p:cNvCxnSpPr/>
          <p:nvPr/>
        </p:nvCxnSpPr>
        <p:spPr>
          <a:xfrm>
            <a:off x="4546600" y="5435600"/>
            <a:ext cx="3098800" cy="0"/>
          </a:xfrm>
          <a:prstGeom prst="line">
            <a:avLst/>
          </a:prstGeom>
          <a:ln w="9525">
            <a:solidFill>
              <a:srgbClr val="E0E3E6"/>
            </a:solidFill>
          </a:ln>
        </p:spPr>
      </p:cxnSp>
      <p:sp>
        <p:nvSpPr>
          <p:cNvPr id="35" name="TextBox 34"/>
          <p:cNvSpPr txBox="1"/>
          <p:nvPr/>
        </p:nvSpPr>
        <p:spPr>
          <a:xfrm>
            <a:off x="4546600" y="5537200"/>
            <a:ext cx="3149600" cy="635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Headlines 1.0–1.1, card titles 1.25, body 1.45 (Bitwise: 1, 1.25, 1.5).</a:t>
            </a:r>
          </a:p>
        </p:txBody>
      </p:sp>
      <p:sp>
        <p:nvSpPr>
          <p:cNvPr id="36" name="Rounded Rectangle 35"/>
          <p:cNvSpPr/>
          <p:nvPr/>
        </p:nvSpPr>
        <p:spPr>
          <a:xfrm>
            <a:off x="8026400" y="4140200"/>
            <a:ext cx="3556000" cy="2082800"/>
          </a:xfrm>
          <a:prstGeom prst="roundRect">
            <a:avLst>
              <a:gd name="adj" fmla="val 6097"/>
            </a:avLst>
          </a:prstGeom>
          <a:solidFill>
            <a:srgbClr val="F9FAFB"/>
          </a:solidFill>
          <a:ln>
            <a:noFill/>
          </a:ln>
          <a:effectLst/>
        </p:spPr>
        <p:txBody>
          <a:bodyPr rtlCol="0" anchor="ctr"/>
          <a:lstStyle/>
          <a:p>
            <a:pPr algn="ctr"/>
          </a:p>
        </p:txBody>
      </p:sp>
      <p:sp>
        <p:nvSpPr>
          <p:cNvPr id="37" name="TextBox 36"/>
          <p:cNvSpPr txBox="1"/>
          <p:nvPr/>
        </p:nvSpPr>
        <p:spPr>
          <a:xfrm>
            <a:off x="8255000" y="4343400"/>
            <a:ext cx="3175000" cy="152400"/>
          </a:xfrm>
          <a:prstGeom prst="rect">
            <a:avLst/>
          </a:prstGeom>
          <a:noFill/>
        </p:spPr>
        <p:txBody>
          <a:bodyPr wrap="square" lIns="0" rIns="0" tIns="0" bIns="0" anchor="t">
            <a:spAutoFit/>
          </a:bodyPr>
          <a:lstStyle/>
          <a:p>
            <a:pPr algn="l"/>
            <a:r>
              <a:rPr sz="850" b="1" i="0" spc="150">
                <a:solidFill>
                  <a:srgbClr val="11181C"/>
                </a:solidFill>
                <a:latin typeface="Arial"/>
              </a:rPr>
              <a:t>NUMBERS IN SERIF</a:t>
            </a:r>
          </a:p>
        </p:txBody>
      </p:sp>
      <p:sp>
        <p:nvSpPr>
          <p:cNvPr id="38" name="TextBox 37"/>
          <p:cNvSpPr txBox="1"/>
          <p:nvPr/>
        </p:nvSpPr>
        <p:spPr>
          <a:xfrm>
            <a:off x="8255000" y="4648200"/>
            <a:ext cx="3175000" cy="711200"/>
          </a:xfrm>
          <a:prstGeom prst="rect">
            <a:avLst/>
          </a:prstGeom>
          <a:noFill/>
        </p:spPr>
        <p:txBody>
          <a:bodyPr wrap="square" lIns="0" rIns="0" tIns="0" bIns="0" anchor="ctr">
            <a:spAutoFit/>
          </a:bodyPr>
          <a:lstStyle/>
          <a:p>
            <a:pPr algn="l"/>
            <a:r>
              <a:rPr sz="2600" b="0" i="0">
                <a:solidFill>
                  <a:srgbClr val="11181C"/>
                </a:solidFill>
                <a:latin typeface="Georgia"/>
              </a:rPr>
              <a:t>67</a:t>
            </a:r>
            <a:r>
              <a:rPr sz="900" b="0" i="0">
                <a:solidFill>
                  <a:srgbClr val="4D555C"/>
                </a:solidFill>
                <a:latin typeface="Arial"/>
              </a:rPr>
              <a:t>  units / year</a:t>
            </a:r>
          </a:p>
        </p:txBody>
      </p:sp>
      <p:cxnSp>
        <p:nvCxnSpPr>
          <p:cNvPr id="39" name="Connector 38"/>
          <p:cNvCxnSpPr/>
          <p:nvPr/>
        </p:nvCxnSpPr>
        <p:spPr>
          <a:xfrm>
            <a:off x="8255000" y="5435600"/>
            <a:ext cx="3098800" cy="0"/>
          </a:xfrm>
          <a:prstGeom prst="line">
            <a:avLst/>
          </a:prstGeom>
          <a:ln w="9525">
            <a:solidFill>
              <a:srgbClr val="E0E3E6"/>
            </a:solidFill>
          </a:ln>
        </p:spPr>
      </p:cxnSp>
      <p:sp>
        <p:nvSpPr>
          <p:cNvPr id="40" name="TextBox 39"/>
          <p:cNvSpPr txBox="1"/>
          <p:nvPr/>
        </p:nvSpPr>
        <p:spPr>
          <a:xfrm>
            <a:off x="8255000" y="5537200"/>
            <a:ext cx="3149600" cy="635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Key figures use Georgia, ink colour; the unit follows in small sans.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FOUNDATIONS · NEUTRAL COLOURS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Sixteen greys carry </a:t>
            </a:r>
            <a:r>
              <a:rPr sz="2400" b="0" i="1">
                <a:solidFill>
                  <a:srgbClr val="11181C"/>
                </a:solidFill>
                <a:latin typeface="Georgia"/>
              </a:rPr>
              <a:t>almost everything</a:t>
            </a:r>
            <a:r>
              <a:rPr sz="2400" b="0" i="0">
                <a:solidFill>
                  <a:srgbClr val="11181C"/>
                </a:solidFill>
                <a:latin typeface="Georgia"/>
              </a:rPr>
              <a:t>.</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The Bitwise 'slate' scale: a cool, slightly blue grey. Light steps for surfaces and lines, dark steps for text and dark sections.</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07</a:t>
            </a:r>
          </a:p>
        </p:txBody>
      </p:sp>
      <p:sp>
        <p:nvSpPr>
          <p:cNvPr id="12" name="Rounded Rectangle 11"/>
          <p:cNvSpPr/>
          <p:nvPr/>
        </p:nvSpPr>
        <p:spPr>
          <a:xfrm>
            <a:off x="609600" y="2184400"/>
            <a:ext cx="1282700" cy="889000"/>
          </a:xfrm>
          <a:prstGeom prst="roundRect">
            <a:avLst>
              <a:gd name="adj" fmla="val 8571"/>
            </a:avLst>
          </a:prstGeom>
          <a:solidFill>
            <a:srgbClr val="FCFCFD"/>
          </a:solidFill>
          <a:ln w="6350">
            <a:solidFill>
              <a:srgbClr val="E0E3E6"/>
            </a:solidFill>
          </a:ln>
          <a:effectLst/>
        </p:spPr>
        <p:txBody>
          <a:bodyPr rtlCol="0" anchor="ctr"/>
          <a:lstStyle/>
          <a:p>
            <a:pPr algn="ctr"/>
          </a:p>
        </p:txBody>
      </p:sp>
      <p:sp>
        <p:nvSpPr>
          <p:cNvPr id="13" name="TextBox 12"/>
          <p:cNvSpPr txBox="1"/>
          <p:nvPr/>
        </p:nvSpPr>
        <p:spPr>
          <a:xfrm>
            <a:off x="609600" y="3175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1</a:t>
            </a:r>
          </a:p>
        </p:txBody>
      </p:sp>
      <p:sp>
        <p:nvSpPr>
          <p:cNvPr id="14" name="TextBox 13"/>
          <p:cNvSpPr txBox="1"/>
          <p:nvPr/>
        </p:nvSpPr>
        <p:spPr>
          <a:xfrm>
            <a:off x="609600" y="3352800"/>
            <a:ext cx="1282700" cy="152400"/>
          </a:xfrm>
          <a:prstGeom prst="rect">
            <a:avLst/>
          </a:prstGeom>
          <a:noFill/>
        </p:spPr>
        <p:txBody>
          <a:bodyPr wrap="square" lIns="0" rIns="0" tIns="0" bIns="0" anchor="t">
            <a:spAutoFit/>
          </a:bodyPr>
          <a:lstStyle/>
          <a:p>
            <a:pPr algn="l"/>
            <a:r>
              <a:rPr sz="850" b="0" i="0">
                <a:solidFill>
                  <a:srgbClr val="4D555C"/>
                </a:solidFill>
                <a:latin typeface="Arial"/>
              </a:rPr>
              <a:t>#FCFCFD</a:t>
            </a:r>
          </a:p>
        </p:txBody>
      </p:sp>
      <p:sp>
        <p:nvSpPr>
          <p:cNvPr id="15" name="TextBox 14"/>
          <p:cNvSpPr txBox="1"/>
          <p:nvPr/>
        </p:nvSpPr>
        <p:spPr>
          <a:xfrm>
            <a:off x="609600" y="3530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Page alt</a:t>
            </a:r>
          </a:p>
        </p:txBody>
      </p:sp>
      <p:sp>
        <p:nvSpPr>
          <p:cNvPr id="16" name="Rounded Rectangle 15"/>
          <p:cNvSpPr/>
          <p:nvPr/>
        </p:nvSpPr>
        <p:spPr>
          <a:xfrm>
            <a:off x="1993900" y="2184400"/>
            <a:ext cx="1282700" cy="889000"/>
          </a:xfrm>
          <a:prstGeom prst="roundRect">
            <a:avLst>
              <a:gd name="adj" fmla="val 8571"/>
            </a:avLst>
          </a:prstGeom>
          <a:solidFill>
            <a:srgbClr val="F9FAFB"/>
          </a:solidFill>
          <a:ln w="6350">
            <a:solidFill>
              <a:srgbClr val="E0E3E6"/>
            </a:solidFill>
          </a:ln>
          <a:effectLst/>
        </p:spPr>
        <p:txBody>
          <a:bodyPr rtlCol="0" anchor="ctr"/>
          <a:lstStyle/>
          <a:p>
            <a:pPr algn="ctr"/>
          </a:p>
        </p:txBody>
      </p:sp>
      <p:sp>
        <p:nvSpPr>
          <p:cNvPr id="17" name="TextBox 16"/>
          <p:cNvSpPr txBox="1"/>
          <p:nvPr/>
        </p:nvSpPr>
        <p:spPr>
          <a:xfrm>
            <a:off x="1993900" y="3175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2</a:t>
            </a:r>
          </a:p>
        </p:txBody>
      </p:sp>
      <p:sp>
        <p:nvSpPr>
          <p:cNvPr id="18" name="TextBox 17"/>
          <p:cNvSpPr txBox="1"/>
          <p:nvPr/>
        </p:nvSpPr>
        <p:spPr>
          <a:xfrm>
            <a:off x="1993900" y="3352800"/>
            <a:ext cx="1282700" cy="152400"/>
          </a:xfrm>
          <a:prstGeom prst="rect">
            <a:avLst/>
          </a:prstGeom>
          <a:noFill/>
        </p:spPr>
        <p:txBody>
          <a:bodyPr wrap="square" lIns="0" rIns="0" tIns="0" bIns="0" anchor="t">
            <a:spAutoFit/>
          </a:bodyPr>
          <a:lstStyle/>
          <a:p>
            <a:pPr algn="l"/>
            <a:r>
              <a:rPr sz="850" b="0" i="0">
                <a:solidFill>
                  <a:srgbClr val="4D555C"/>
                </a:solidFill>
                <a:latin typeface="Arial"/>
              </a:rPr>
              <a:t>#F9FAFB</a:t>
            </a:r>
          </a:p>
        </p:txBody>
      </p:sp>
      <p:sp>
        <p:nvSpPr>
          <p:cNvPr id="19" name="TextBox 18"/>
          <p:cNvSpPr txBox="1"/>
          <p:nvPr/>
        </p:nvSpPr>
        <p:spPr>
          <a:xfrm>
            <a:off x="1993900" y="3530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Wash / section</a:t>
            </a:r>
          </a:p>
        </p:txBody>
      </p:sp>
      <p:sp>
        <p:nvSpPr>
          <p:cNvPr id="20" name="Rounded Rectangle 19"/>
          <p:cNvSpPr/>
          <p:nvPr/>
        </p:nvSpPr>
        <p:spPr>
          <a:xfrm>
            <a:off x="3378200" y="2184400"/>
            <a:ext cx="1282700" cy="889000"/>
          </a:xfrm>
          <a:prstGeom prst="roundRect">
            <a:avLst>
              <a:gd name="adj" fmla="val 8571"/>
            </a:avLst>
          </a:prstGeom>
          <a:solidFill>
            <a:srgbClr val="F0F2F4"/>
          </a:solidFill>
          <a:ln w="6350">
            <a:solidFill>
              <a:srgbClr val="E0E3E6"/>
            </a:solidFill>
          </a:ln>
          <a:effectLst/>
        </p:spPr>
        <p:txBody>
          <a:bodyPr rtlCol="0" anchor="ctr"/>
          <a:lstStyle/>
          <a:p>
            <a:pPr algn="ctr"/>
          </a:p>
        </p:txBody>
      </p:sp>
      <p:sp>
        <p:nvSpPr>
          <p:cNvPr id="21" name="TextBox 20"/>
          <p:cNvSpPr txBox="1"/>
          <p:nvPr/>
        </p:nvSpPr>
        <p:spPr>
          <a:xfrm>
            <a:off x="3378200" y="3175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3</a:t>
            </a:r>
          </a:p>
        </p:txBody>
      </p:sp>
      <p:sp>
        <p:nvSpPr>
          <p:cNvPr id="22" name="TextBox 21"/>
          <p:cNvSpPr txBox="1"/>
          <p:nvPr/>
        </p:nvSpPr>
        <p:spPr>
          <a:xfrm>
            <a:off x="3378200" y="3352800"/>
            <a:ext cx="1282700" cy="152400"/>
          </a:xfrm>
          <a:prstGeom prst="rect">
            <a:avLst/>
          </a:prstGeom>
          <a:noFill/>
        </p:spPr>
        <p:txBody>
          <a:bodyPr wrap="square" lIns="0" rIns="0" tIns="0" bIns="0" anchor="t">
            <a:spAutoFit/>
          </a:bodyPr>
          <a:lstStyle/>
          <a:p>
            <a:pPr algn="l"/>
            <a:r>
              <a:rPr sz="850" b="0" i="0">
                <a:solidFill>
                  <a:srgbClr val="4D555C"/>
                </a:solidFill>
                <a:latin typeface="Arial"/>
              </a:rPr>
              <a:t>#F0F2F4</a:t>
            </a:r>
          </a:p>
        </p:txBody>
      </p:sp>
      <p:sp>
        <p:nvSpPr>
          <p:cNvPr id="23" name="TextBox 22"/>
          <p:cNvSpPr txBox="1"/>
          <p:nvPr/>
        </p:nvSpPr>
        <p:spPr>
          <a:xfrm>
            <a:off x="3378200" y="3530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Card hover</a:t>
            </a:r>
          </a:p>
        </p:txBody>
      </p:sp>
      <p:sp>
        <p:nvSpPr>
          <p:cNvPr id="24" name="Rounded Rectangle 23"/>
          <p:cNvSpPr/>
          <p:nvPr/>
        </p:nvSpPr>
        <p:spPr>
          <a:xfrm>
            <a:off x="4762500" y="2184400"/>
            <a:ext cx="1282700" cy="889000"/>
          </a:xfrm>
          <a:prstGeom prst="roundRect">
            <a:avLst>
              <a:gd name="adj" fmla="val 8571"/>
            </a:avLst>
          </a:prstGeom>
          <a:solidFill>
            <a:srgbClr val="EBEDEF"/>
          </a:solidFill>
          <a:ln w="6350">
            <a:solidFill>
              <a:srgbClr val="E0E3E6"/>
            </a:solidFill>
          </a:ln>
          <a:effectLst/>
        </p:spPr>
        <p:txBody>
          <a:bodyPr rtlCol="0" anchor="ctr"/>
          <a:lstStyle/>
          <a:p>
            <a:pPr algn="ctr"/>
          </a:p>
        </p:txBody>
      </p:sp>
      <p:sp>
        <p:nvSpPr>
          <p:cNvPr id="25" name="TextBox 24"/>
          <p:cNvSpPr txBox="1"/>
          <p:nvPr/>
        </p:nvSpPr>
        <p:spPr>
          <a:xfrm>
            <a:off x="4762500" y="3175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4</a:t>
            </a:r>
          </a:p>
        </p:txBody>
      </p:sp>
      <p:sp>
        <p:nvSpPr>
          <p:cNvPr id="26" name="TextBox 25"/>
          <p:cNvSpPr txBox="1"/>
          <p:nvPr/>
        </p:nvSpPr>
        <p:spPr>
          <a:xfrm>
            <a:off x="4762500" y="3352800"/>
            <a:ext cx="1282700" cy="152400"/>
          </a:xfrm>
          <a:prstGeom prst="rect">
            <a:avLst/>
          </a:prstGeom>
          <a:noFill/>
        </p:spPr>
        <p:txBody>
          <a:bodyPr wrap="square" lIns="0" rIns="0" tIns="0" bIns="0" anchor="t">
            <a:spAutoFit/>
          </a:bodyPr>
          <a:lstStyle/>
          <a:p>
            <a:pPr algn="l"/>
            <a:r>
              <a:rPr sz="850" b="0" i="0">
                <a:solidFill>
                  <a:srgbClr val="4D555C"/>
                </a:solidFill>
                <a:latin typeface="Arial"/>
              </a:rPr>
              <a:t>#EBEDEF</a:t>
            </a:r>
          </a:p>
        </p:txBody>
      </p:sp>
      <p:sp>
        <p:nvSpPr>
          <p:cNvPr id="27" name="TextBox 26"/>
          <p:cNvSpPr txBox="1"/>
          <p:nvPr/>
        </p:nvSpPr>
        <p:spPr>
          <a:xfrm>
            <a:off x="4762500" y="3530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Hairline</a:t>
            </a:r>
          </a:p>
        </p:txBody>
      </p:sp>
      <p:sp>
        <p:nvSpPr>
          <p:cNvPr id="28" name="Rounded Rectangle 27"/>
          <p:cNvSpPr/>
          <p:nvPr/>
        </p:nvSpPr>
        <p:spPr>
          <a:xfrm>
            <a:off x="6146800" y="2184400"/>
            <a:ext cx="1282700" cy="889000"/>
          </a:xfrm>
          <a:prstGeom prst="roundRect">
            <a:avLst>
              <a:gd name="adj" fmla="val 8571"/>
            </a:avLst>
          </a:prstGeom>
          <a:solidFill>
            <a:srgbClr val="E6E8EB"/>
          </a:solidFill>
          <a:ln>
            <a:noFill/>
          </a:ln>
          <a:effectLst/>
        </p:spPr>
        <p:txBody>
          <a:bodyPr rtlCol="0" anchor="ctr"/>
          <a:lstStyle/>
          <a:p>
            <a:pPr algn="ctr"/>
          </a:p>
        </p:txBody>
      </p:sp>
      <p:sp>
        <p:nvSpPr>
          <p:cNvPr id="29" name="TextBox 28"/>
          <p:cNvSpPr txBox="1"/>
          <p:nvPr/>
        </p:nvSpPr>
        <p:spPr>
          <a:xfrm>
            <a:off x="6146800" y="3175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5</a:t>
            </a:r>
          </a:p>
        </p:txBody>
      </p:sp>
      <p:sp>
        <p:nvSpPr>
          <p:cNvPr id="30" name="TextBox 29"/>
          <p:cNvSpPr txBox="1"/>
          <p:nvPr/>
        </p:nvSpPr>
        <p:spPr>
          <a:xfrm>
            <a:off x="6146800" y="3352800"/>
            <a:ext cx="1282700" cy="152400"/>
          </a:xfrm>
          <a:prstGeom prst="rect">
            <a:avLst/>
          </a:prstGeom>
          <a:noFill/>
        </p:spPr>
        <p:txBody>
          <a:bodyPr wrap="square" lIns="0" rIns="0" tIns="0" bIns="0" anchor="t">
            <a:spAutoFit/>
          </a:bodyPr>
          <a:lstStyle/>
          <a:p>
            <a:pPr algn="l"/>
            <a:r>
              <a:rPr sz="850" b="0" i="0">
                <a:solidFill>
                  <a:srgbClr val="4D555C"/>
                </a:solidFill>
                <a:latin typeface="Arial"/>
              </a:rPr>
              <a:t>#E6E8EB</a:t>
            </a:r>
          </a:p>
        </p:txBody>
      </p:sp>
      <p:sp>
        <p:nvSpPr>
          <p:cNvPr id="31" name="TextBox 30"/>
          <p:cNvSpPr txBox="1"/>
          <p:nvPr/>
        </p:nvSpPr>
        <p:spPr>
          <a:xfrm>
            <a:off x="6146800" y="3530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Divider</a:t>
            </a:r>
          </a:p>
        </p:txBody>
      </p:sp>
      <p:sp>
        <p:nvSpPr>
          <p:cNvPr id="32" name="Rounded Rectangle 31"/>
          <p:cNvSpPr/>
          <p:nvPr/>
        </p:nvSpPr>
        <p:spPr>
          <a:xfrm>
            <a:off x="7531100" y="2184400"/>
            <a:ext cx="1282700" cy="889000"/>
          </a:xfrm>
          <a:prstGeom prst="roundRect">
            <a:avLst>
              <a:gd name="adj" fmla="val 8571"/>
            </a:avLst>
          </a:prstGeom>
          <a:solidFill>
            <a:srgbClr val="E0E3E6"/>
          </a:solidFill>
          <a:ln>
            <a:noFill/>
          </a:ln>
          <a:effectLst/>
        </p:spPr>
        <p:txBody>
          <a:bodyPr rtlCol="0" anchor="ctr"/>
          <a:lstStyle/>
          <a:p>
            <a:pPr algn="ctr"/>
          </a:p>
        </p:txBody>
      </p:sp>
      <p:sp>
        <p:nvSpPr>
          <p:cNvPr id="33" name="TextBox 32"/>
          <p:cNvSpPr txBox="1"/>
          <p:nvPr/>
        </p:nvSpPr>
        <p:spPr>
          <a:xfrm>
            <a:off x="7531100" y="3175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6</a:t>
            </a:r>
          </a:p>
        </p:txBody>
      </p:sp>
      <p:sp>
        <p:nvSpPr>
          <p:cNvPr id="34" name="TextBox 33"/>
          <p:cNvSpPr txBox="1"/>
          <p:nvPr/>
        </p:nvSpPr>
        <p:spPr>
          <a:xfrm>
            <a:off x="7531100" y="3352800"/>
            <a:ext cx="1282700" cy="152400"/>
          </a:xfrm>
          <a:prstGeom prst="rect">
            <a:avLst/>
          </a:prstGeom>
          <a:noFill/>
        </p:spPr>
        <p:txBody>
          <a:bodyPr wrap="square" lIns="0" rIns="0" tIns="0" bIns="0" anchor="t">
            <a:spAutoFit/>
          </a:bodyPr>
          <a:lstStyle/>
          <a:p>
            <a:pPr algn="l"/>
            <a:r>
              <a:rPr sz="850" b="0" i="0">
                <a:solidFill>
                  <a:srgbClr val="4D555C"/>
                </a:solidFill>
                <a:latin typeface="Arial"/>
              </a:rPr>
              <a:t>#E0E3E6</a:t>
            </a:r>
          </a:p>
        </p:txBody>
      </p:sp>
      <p:sp>
        <p:nvSpPr>
          <p:cNvPr id="35" name="TextBox 34"/>
          <p:cNvSpPr txBox="1"/>
          <p:nvPr/>
        </p:nvSpPr>
        <p:spPr>
          <a:xfrm>
            <a:off x="7531100" y="3530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Border</a:t>
            </a:r>
          </a:p>
        </p:txBody>
      </p:sp>
      <p:sp>
        <p:nvSpPr>
          <p:cNvPr id="36" name="Rounded Rectangle 35"/>
          <p:cNvSpPr/>
          <p:nvPr/>
        </p:nvSpPr>
        <p:spPr>
          <a:xfrm>
            <a:off x="8915400" y="2184400"/>
            <a:ext cx="1282700" cy="889000"/>
          </a:xfrm>
          <a:prstGeom prst="roundRect">
            <a:avLst>
              <a:gd name="adj" fmla="val 8571"/>
            </a:avLst>
          </a:prstGeom>
          <a:solidFill>
            <a:srgbClr val="D7DBDF"/>
          </a:solidFill>
          <a:ln>
            <a:noFill/>
          </a:ln>
          <a:effectLst/>
        </p:spPr>
        <p:txBody>
          <a:bodyPr rtlCol="0" anchor="ctr"/>
          <a:lstStyle/>
          <a:p>
            <a:pPr algn="ctr"/>
          </a:p>
        </p:txBody>
      </p:sp>
      <p:sp>
        <p:nvSpPr>
          <p:cNvPr id="37" name="TextBox 36"/>
          <p:cNvSpPr txBox="1"/>
          <p:nvPr/>
        </p:nvSpPr>
        <p:spPr>
          <a:xfrm>
            <a:off x="8915400" y="3175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7</a:t>
            </a:r>
          </a:p>
        </p:txBody>
      </p:sp>
      <p:sp>
        <p:nvSpPr>
          <p:cNvPr id="38" name="TextBox 37"/>
          <p:cNvSpPr txBox="1"/>
          <p:nvPr/>
        </p:nvSpPr>
        <p:spPr>
          <a:xfrm>
            <a:off x="8915400" y="3352800"/>
            <a:ext cx="1282700" cy="152400"/>
          </a:xfrm>
          <a:prstGeom prst="rect">
            <a:avLst/>
          </a:prstGeom>
          <a:noFill/>
        </p:spPr>
        <p:txBody>
          <a:bodyPr wrap="square" lIns="0" rIns="0" tIns="0" bIns="0" anchor="t">
            <a:spAutoFit/>
          </a:bodyPr>
          <a:lstStyle/>
          <a:p>
            <a:pPr algn="l"/>
            <a:r>
              <a:rPr sz="850" b="0" i="0">
                <a:solidFill>
                  <a:srgbClr val="4D555C"/>
                </a:solidFill>
                <a:latin typeface="Arial"/>
              </a:rPr>
              <a:t>#D7DBDF</a:t>
            </a:r>
          </a:p>
        </p:txBody>
      </p:sp>
      <p:sp>
        <p:nvSpPr>
          <p:cNvPr id="39" name="TextBox 38"/>
          <p:cNvSpPr txBox="1"/>
          <p:nvPr/>
        </p:nvSpPr>
        <p:spPr>
          <a:xfrm>
            <a:off x="8915400" y="3530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Border strong</a:t>
            </a:r>
          </a:p>
        </p:txBody>
      </p:sp>
      <p:sp>
        <p:nvSpPr>
          <p:cNvPr id="40" name="Rounded Rectangle 39"/>
          <p:cNvSpPr/>
          <p:nvPr/>
        </p:nvSpPr>
        <p:spPr>
          <a:xfrm>
            <a:off x="10299700" y="2184400"/>
            <a:ext cx="1282700" cy="889000"/>
          </a:xfrm>
          <a:prstGeom prst="roundRect">
            <a:avLst>
              <a:gd name="adj" fmla="val 8571"/>
            </a:avLst>
          </a:prstGeom>
          <a:solidFill>
            <a:srgbClr val="C1C8CD"/>
          </a:solidFill>
          <a:ln>
            <a:noFill/>
          </a:ln>
          <a:effectLst/>
        </p:spPr>
        <p:txBody>
          <a:bodyPr rtlCol="0" anchor="ctr"/>
          <a:lstStyle/>
          <a:p>
            <a:pPr algn="ctr"/>
          </a:p>
        </p:txBody>
      </p:sp>
      <p:sp>
        <p:nvSpPr>
          <p:cNvPr id="41" name="TextBox 40"/>
          <p:cNvSpPr txBox="1"/>
          <p:nvPr/>
        </p:nvSpPr>
        <p:spPr>
          <a:xfrm>
            <a:off x="10299700" y="3175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8</a:t>
            </a:r>
          </a:p>
        </p:txBody>
      </p:sp>
      <p:sp>
        <p:nvSpPr>
          <p:cNvPr id="42" name="TextBox 41"/>
          <p:cNvSpPr txBox="1"/>
          <p:nvPr/>
        </p:nvSpPr>
        <p:spPr>
          <a:xfrm>
            <a:off x="10299700" y="3352800"/>
            <a:ext cx="1282700" cy="152400"/>
          </a:xfrm>
          <a:prstGeom prst="rect">
            <a:avLst/>
          </a:prstGeom>
          <a:noFill/>
        </p:spPr>
        <p:txBody>
          <a:bodyPr wrap="square" lIns="0" rIns="0" tIns="0" bIns="0" anchor="t">
            <a:spAutoFit/>
          </a:bodyPr>
          <a:lstStyle/>
          <a:p>
            <a:pPr algn="l"/>
            <a:r>
              <a:rPr sz="850" b="0" i="0">
                <a:solidFill>
                  <a:srgbClr val="4D555C"/>
                </a:solidFill>
                <a:latin typeface="Arial"/>
              </a:rPr>
              <a:t>#C1C8CD</a:t>
            </a:r>
          </a:p>
        </p:txBody>
      </p:sp>
      <p:sp>
        <p:nvSpPr>
          <p:cNvPr id="43" name="TextBox 42"/>
          <p:cNvSpPr txBox="1"/>
          <p:nvPr/>
        </p:nvSpPr>
        <p:spPr>
          <a:xfrm>
            <a:off x="10299700" y="3530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Disabled</a:t>
            </a:r>
          </a:p>
        </p:txBody>
      </p:sp>
      <p:sp>
        <p:nvSpPr>
          <p:cNvPr id="44" name="Rounded Rectangle 43"/>
          <p:cNvSpPr/>
          <p:nvPr/>
        </p:nvSpPr>
        <p:spPr>
          <a:xfrm>
            <a:off x="609600" y="4089400"/>
            <a:ext cx="1282700" cy="889000"/>
          </a:xfrm>
          <a:prstGeom prst="roundRect">
            <a:avLst>
              <a:gd name="adj" fmla="val 8571"/>
            </a:avLst>
          </a:prstGeom>
          <a:solidFill>
            <a:srgbClr val="889096"/>
          </a:solidFill>
          <a:ln>
            <a:noFill/>
          </a:ln>
          <a:effectLst/>
        </p:spPr>
        <p:txBody>
          <a:bodyPr rtlCol="0" anchor="ctr"/>
          <a:lstStyle/>
          <a:p>
            <a:pPr algn="ctr"/>
          </a:p>
        </p:txBody>
      </p:sp>
      <p:sp>
        <p:nvSpPr>
          <p:cNvPr id="45" name="TextBox 44"/>
          <p:cNvSpPr txBox="1"/>
          <p:nvPr/>
        </p:nvSpPr>
        <p:spPr>
          <a:xfrm>
            <a:off x="609600" y="5080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9</a:t>
            </a:r>
          </a:p>
        </p:txBody>
      </p:sp>
      <p:sp>
        <p:nvSpPr>
          <p:cNvPr id="46" name="TextBox 45"/>
          <p:cNvSpPr txBox="1"/>
          <p:nvPr/>
        </p:nvSpPr>
        <p:spPr>
          <a:xfrm>
            <a:off x="609600" y="5257800"/>
            <a:ext cx="1282700" cy="152400"/>
          </a:xfrm>
          <a:prstGeom prst="rect">
            <a:avLst/>
          </a:prstGeom>
          <a:noFill/>
        </p:spPr>
        <p:txBody>
          <a:bodyPr wrap="square" lIns="0" rIns="0" tIns="0" bIns="0" anchor="t">
            <a:spAutoFit/>
          </a:bodyPr>
          <a:lstStyle/>
          <a:p>
            <a:pPr algn="l"/>
            <a:r>
              <a:rPr sz="850" b="0" i="0">
                <a:solidFill>
                  <a:srgbClr val="4D555C"/>
                </a:solidFill>
                <a:latin typeface="Arial"/>
              </a:rPr>
              <a:t>#889096</a:t>
            </a:r>
          </a:p>
        </p:txBody>
      </p:sp>
      <p:sp>
        <p:nvSpPr>
          <p:cNvPr id="47" name="TextBox 46"/>
          <p:cNvSpPr txBox="1"/>
          <p:nvPr/>
        </p:nvSpPr>
        <p:spPr>
          <a:xfrm>
            <a:off x="609600" y="5435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Placeholder</a:t>
            </a:r>
          </a:p>
        </p:txBody>
      </p:sp>
      <p:sp>
        <p:nvSpPr>
          <p:cNvPr id="48" name="Rounded Rectangle 47"/>
          <p:cNvSpPr/>
          <p:nvPr/>
        </p:nvSpPr>
        <p:spPr>
          <a:xfrm>
            <a:off x="1993900" y="4089400"/>
            <a:ext cx="1282700" cy="889000"/>
          </a:xfrm>
          <a:prstGeom prst="roundRect">
            <a:avLst>
              <a:gd name="adj" fmla="val 8571"/>
            </a:avLst>
          </a:prstGeom>
          <a:solidFill>
            <a:srgbClr val="7D868C"/>
          </a:solidFill>
          <a:ln>
            <a:noFill/>
          </a:ln>
          <a:effectLst/>
        </p:spPr>
        <p:txBody>
          <a:bodyPr rtlCol="0" anchor="ctr"/>
          <a:lstStyle/>
          <a:p>
            <a:pPr algn="ctr"/>
          </a:p>
        </p:txBody>
      </p:sp>
      <p:sp>
        <p:nvSpPr>
          <p:cNvPr id="49" name="TextBox 48"/>
          <p:cNvSpPr txBox="1"/>
          <p:nvPr/>
        </p:nvSpPr>
        <p:spPr>
          <a:xfrm>
            <a:off x="1993900" y="5080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10</a:t>
            </a:r>
          </a:p>
        </p:txBody>
      </p:sp>
      <p:sp>
        <p:nvSpPr>
          <p:cNvPr id="50" name="TextBox 49"/>
          <p:cNvSpPr txBox="1"/>
          <p:nvPr/>
        </p:nvSpPr>
        <p:spPr>
          <a:xfrm>
            <a:off x="1993900" y="5257800"/>
            <a:ext cx="1282700" cy="152400"/>
          </a:xfrm>
          <a:prstGeom prst="rect">
            <a:avLst/>
          </a:prstGeom>
          <a:noFill/>
        </p:spPr>
        <p:txBody>
          <a:bodyPr wrap="square" lIns="0" rIns="0" tIns="0" bIns="0" anchor="t">
            <a:spAutoFit/>
          </a:bodyPr>
          <a:lstStyle/>
          <a:p>
            <a:pPr algn="l"/>
            <a:r>
              <a:rPr sz="850" b="0" i="0">
                <a:solidFill>
                  <a:srgbClr val="4D555C"/>
                </a:solidFill>
                <a:latin typeface="Arial"/>
              </a:rPr>
              <a:t>#7D868C</a:t>
            </a:r>
          </a:p>
        </p:txBody>
      </p:sp>
      <p:sp>
        <p:nvSpPr>
          <p:cNvPr id="51" name="TextBox 50"/>
          <p:cNvSpPr txBox="1"/>
          <p:nvPr/>
        </p:nvSpPr>
        <p:spPr>
          <a:xfrm>
            <a:off x="1993900" y="5435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Icon</a:t>
            </a:r>
          </a:p>
        </p:txBody>
      </p:sp>
      <p:sp>
        <p:nvSpPr>
          <p:cNvPr id="52" name="Rounded Rectangle 51"/>
          <p:cNvSpPr/>
          <p:nvPr/>
        </p:nvSpPr>
        <p:spPr>
          <a:xfrm>
            <a:off x="3378200" y="4089400"/>
            <a:ext cx="1282700" cy="889000"/>
          </a:xfrm>
          <a:prstGeom prst="roundRect">
            <a:avLst>
              <a:gd name="adj" fmla="val 8571"/>
            </a:avLst>
          </a:prstGeom>
          <a:solidFill>
            <a:srgbClr val="697177"/>
          </a:solidFill>
          <a:ln>
            <a:noFill/>
          </a:ln>
          <a:effectLst/>
        </p:spPr>
        <p:txBody>
          <a:bodyPr rtlCol="0" anchor="ctr"/>
          <a:lstStyle/>
          <a:p>
            <a:pPr algn="ctr"/>
          </a:p>
        </p:txBody>
      </p:sp>
      <p:sp>
        <p:nvSpPr>
          <p:cNvPr id="53" name="TextBox 52"/>
          <p:cNvSpPr txBox="1"/>
          <p:nvPr/>
        </p:nvSpPr>
        <p:spPr>
          <a:xfrm>
            <a:off x="3378200" y="5080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11</a:t>
            </a:r>
          </a:p>
        </p:txBody>
      </p:sp>
      <p:sp>
        <p:nvSpPr>
          <p:cNvPr id="54" name="TextBox 53"/>
          <p:cNvSpPr txBox="1"/>
          <p:nvPr/>
        </p:nvSpPr>
        <p:spPr>
          <a:xfrm>
            <a:off x="3378200" y="5257800"/>
            <a:ext cx="1282700" cy="152400"/>
          </a:xfrm>
          <a:prstGeom prst="rect">
            <a:avLst/>
          </a:prstGeom>
          <a:noFill/>
        </p:spPr>
        <p:txBody>
          <a:bodyPr wrap="square" lIns="0" rIns="0" tIns="0" bIns="0" anchor="t">
            <a:spAutoFit/>
          </a:bodyPr>
          <a:lstStyle/>
          <a:p>
            <a:pPr algn="l"/>
            <a:r>
              <a:rPr sz="850" b="0" i="0">
                <a:solidFill>
                  <a:srgbClr val="4D555C"/>
                </a:solidFill>
                <a:latin typeface="Arial"/>
              </a:rPr>
              <a:t>#697177</a:t>
            </a:r>
          </a:p>
        </p:txBody>
      </p:sp>
      <p:sp>
        <p:nvSpPr>
          <p:cNvPr id="55" name="TextBox 54"/>
          <p:cNvSpPr txBox="1"/>
          <p:nvPr/>
        </p:nvSpPr>
        <p:spPr>
          <a:xfrm>
            <a:off x="3378200" y="5435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Kicker · muted</a:t>
            </a:r>
          </a:p>
        </p:txBody>
      </p:sp>
      <p:sp>
        <p:nvSpPr>
          <p:cNvPr id="56" name="Rounded Rectangle 55"/>
          <p:cNvSpPr/>
          <p:nvPr/>
        </p:nvSpPr>
        <p:spPr>
          <a:xfrm>
            <a:off x="4762500" y="4089400"/>
            <a:ext cx="1282700" cy="889000"/>
          </a:xfrm>
          <a:prstGeom prst="roundRect">
            <a:avLst>
              <a:gd name="adj" fmla="val 8571"/>
            </a:avLst>
          </a:prstGeom>
          <a:solidFill>
            <a:srgbClr val="4D555C"/>
          </a:solidFill>
          <a:ln>
            <a:noFill/>
          </a:ln>
          <a:effectLst/>
        </p:spPr>
        <p:txBody>
          <a:bodyPr rtlCol="0" anchor="ctr"/>
          <a:lstStyle/>
          <a:p>
            <a:pPr algn="ctr"/>
          </a:p>
        </p:txBody>
      </p:sp>
      <p:sp>
        <p:nvSpPr>
          <p:cNvPr id="57" name="TextBox 56"/>
          <p:cNvSpPr txBox="1"/>
          <p:nvPr/>
        </p:nvSpPr>
        <p:spPr>
          <a:xfrm>
            <a:off x="4762500" y="5080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12</a:t>
            </a:r>
          </a:p>
        </p:txBody>
      </p:sp>
      <p:sp>
        <p:nvSpPr>
          <p:cNvPr id="58" name="TextBox 57"/>
          <p:cNvSpPr txBox="1"/>
          <p:nvPr/>
        </p:nvSpPr>
        <p:spPr>
          <a:xfrm>
            <a:off x="4762500" y="5257800"/>
            <a:ext cx="1282700" cy="152400"/>
          </a:xfrm>
          <a:prstGeom prst="rect">
            <a:avLst/>
          </a:prstGeom>
          <a:noFill/>
        </p:spPr>
        <p:txBody>
          <a:bodyPr wrap="square" lIns="0" rIns="0" tIns="0" bIns="0" anchor="t">
            <a:spAutoFit/>
          </a:bodyPr>
          <a:lstStyle/>
          <a:p>
            <a:pPr algn="l"/>
            <a:r>
              <a:rPr sz="850" b="0" i="0">
                <a:solidFill>
                  <a:srgbClr val="4D555C"/>
                </a:solidFill>
                <a:latin typeface="Arial"/>
              </a:rPr>
              <a:t>#4D555C</a:t>
            </a:r>
          </a:p>
        </p:txBody>
      </p:sp>
      <p:sp>
        <p:nvSpPr>
          <p:cNvPr id="59" name="TextBox 58"/>
          <p:cNvSpPr txBox="1"/>
          <p:nvPr/>
        </p:nvSpPr>
        <p:spPr>
          <a:xfrm>
            <a:off x="4762500" y="5435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Body text</a:t>
            </a:r>
          </a:p>
        </p:txBody>
      </p:sp>
      <p:sp>
        <p:nvSpPr>
          <p:cNvPr id="60" name="Rounded Rectangle 59"/>
          <p:cNvSpPr/>
          <p:nvPr/>
        </p:nvSpPr>
        <p:spPr>
          <a:xfrm>
            <a:off x="6146800" y="4089400"/>
            <a:ext cx="1282700" cy="889000"/>
          </a:xfrm>
          <a:prstGeom prst="roundRect">
            <a:avLst>
              <a:gd name="adj" fmla="val 8571"/>
            </a:avLst>
          </a:prstGeom>
          <a:solidFill>
            <a:srgbClr val="252D31"/>
          </a:solidFill>
          <a:ln>
            <a:noFill/>
          </a:ln>
          <a:effectLst/>
        </p:spPr>
        <p:txBody>
          <a:bodyPr rtlCol="0" anchor="ctr"/>
          <a:lstStyle/>
          <a:p>
            <a:pPr algn="ctr"/>
          </a:p>
        </p:txBody>
      </p:sp>
      <p:sp>
        <p:nvSpPr>
          <p:cNvPr id="61" name="TextBox 60"/>
          <p:cNvSpPr txBox="1"/>
          <p:nvPr/>
        </p:nvSpPr>
        <p:spPr>
          <a:xfrm>
            <a:off x="6146800" y="5080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13</a:t>
            </a:r>
          </a:p>
        </p:txBody>
      </p:sp>
      <p:sp>
        <p:nvSpPr>
          <p:cNvPr id="62" name="TextBox 61"/>
          <p:cNvSpPr txBox="1"/>
          <p:nvPr/>
        </p:nvSpPr>
        <p:spPr>
          <a:xfrm>
            <a:off x="6146800" y="5257800"/>
            <a:ext cx="1282700" cy="152400"/>
          </a:xfrm>
          <a:prstGeom prst="rect">
            <a:avLst/>
          </a:prstGeom>
          <a:noFill/>
        </p:spPr>
        <p:txBody>
          <a:bodyPr wrap="square" lIns="0" rIns="0" tIns="0" bIns="0" anchor="t">
            <a:spAutoFit/>
          </a:bodyPr>
          <a:lstStyle/>
          <a:p>
            <a:pPr algn="l"/>
            <a:r>
              <a:rPr sz="850" b="0" i="0">
                <a:solidFill>
                  <a:srgbClr val="4D555C"/>
                </a:solidFill>
                <a:latin typeface="Arial"/>
              </a:rPr>
              <a:t>#252D31</a:t>
            </a:r>
          </a:p>
        </p:txBody>
      </p:sp>
      <p:sp>
        <p:nvSpPr>
          <p:cNvPr id="63" name="TextBox 62"/>
          <p:cNvSpPr txBox="1"/>
          <p:nvPr/>
        </p:nvSpPr>
        <p:spPr>
          <a:xfrm>
            <a:off x="6146800" y="5435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Ink soft</a:t>
            </a:r>
          </a:p>
        </p:txBody>
      </p:sp>
      <p:sp>
        <p:nvSpPr>
          <p:cNvPr id="64" name="Rounded Rectangle 63"/>
          <p:cNvSpPr/>
          <p:nvPr/>
        </p:nvSpPr>
        <p:spPr>
          <a:xfrm>
            <a:off x="7531100" y="4089400"/>
            <a:ext cx="1282700" cy="889000"/>
          </a:xfrm>
          <a:prstGeom prst="roundRect">
            <a:avLst>
              <a:gd name="adj" fmla="val 8571"/>
            </a:avLst>
          </a:prstGeom>
          <a:solidFill>
            <a:srgbClr val="1C262C"/>
          </a:solidFill>
          <a:ln>
            <a:noFill/>
          </a:ln>
          <a:effectLst/>
        </p:spPr>
        <p:txBody>
          <a:bodyPr rtlCol="0" anchor="ctr"/>
          <a:lstStyle/>
          <a:p>
            <a:pPr algn="ctr"/>
          </a:p>
        </p:txBody>
      </p:sp>
      <p:sp>
        <p:nvSpPr>
          <p:cNvPr id="65" name="TextBox 64"/>
          <p:cNvSpPr txBox="1"/>
          <p:nvPr/>
        </p:nvSpPr>
        <p:spPr>
          <a:xfrm>
            <a:off x="7531100" y="5080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14</a:t>
            </a:r>
          </a:p>
        </p:txBody>
      </p:sp>
      <p:sp>
        <p:nvSpPr>
          <p:cNvPr id="66" name="TextBox 65"/>
          <p:cNvSpPr txBox="1"/>
          <p:nvPr/>
        </p:nvSpPr>
        <p:spPr>
          <a:xfrm>
            <a:off x="7531100" y="5257800"/>
            <a:ext cx="1282700" cy="152400"/>
          </a:xfrm>
          <a:prstGeom prst="rect">
            <a:avLst/>
          </a:prstGeom>
          <a:noFill/>
        </p:spPr>
        <p:txBody>
          <a:bodyPr wrap="square" lIns="0" rIns="0" tIns="0" bIns="0" anchor="t">
            <a:spAutoFit/>
          </a:bodyPr>
          <a:lstStyle/>
          <a:p>
            <a:pPr algn="l"/>
            <a:r>
              <a:rPr sz="850" b="0" i="0">
                <a:solidFill>
                  <a:srgbClr val="4D555C"/>
                </a:solidFill>
                <a:latin typeface="Arial"/>
              </a:rPr>
              <a:t>#1C262C</a:t>
            </a:r>
          </a:p>
        </p:txBody>
      </p:sp>
      <p:sp>
        <p:nvSpPr>
          <p:cNvPr id="67" name="TextBox 66"/>
          <p:cNvSpPr txBox="1"/>
          <p:nvPr/>
        </p:nvSpPr>
        <p:spPr>
          <a:xfrm>
            <a:off x="7531100" y="5435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Dark button</a:t>
            </a:r>
          </a:p>
        </p:txBody>
      </p:sp>
      <p:sp>
        <p:nvSpPr>
          <p:cNvPr id="68" name="Rounded Rectangle 67"/>
          <p:cNvSpPr/>
          <p:nvPr/>
        </p:nvSpPr>
        <p:spPr>
          <a:xfrm>
            <a:off x="8915400" y="4089400"/>
            <a:ext cx="1282700" cy="889000"/>
          </a:xfrm>
          <a:prstGeom prst="roundRect">
            <a:avLst>
              <a:gd name="adj" fmla="val 8571"/>
            </a:avLst>
          </a:prstGeom>
          <a:solidFill>
            <a:srgbClr val="11181C"/>
          </a:solidFill>
          <a:ln>
            <a:noFill/>
          </a:ln>
          <a:effectLst/>
        </p:spPr>
        <p:txBody>
          <a:bodyPr rtlCol="0" anchor="ctr"/>
          <a:lstStyle/>
          <a:p>
            <a:pPr algn="ctr"/>
          </a:p>
        </p:txBody>
      </p:sp>
      <p:sp>
        <p:nvSpPr>
          <p:cNvPr id="69" name="TextBox 68"/>
          <p:cNvSpPr txBox="1"/>
          <p:nvPr/>
        </p:nvSpPr>
        <p:spPr>
          <a:xfrm>
            <a:off x="8915400" y="5080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15</a:t>
            </a:r>
          </a:p>
        </p:txBody>
      </p:sp>
      <p:sp>
        <p:nvSpPr>
          <p:cNvPr id="70" name="TextBox 69"/>
          <p:cNvSpPr txBox="1"/>
          <p:nvPr/>
        </p:nvSpPr>
        <p:spPr>
          <a:xfrm>
            <a:off x="8915400" y="5257800"/>
            <a:ext cx="1282700" cy="152400"/>
          </a:xfrm>
          <a:prstGeom prst="rect">
            <a:avLst/>
          </a:prstGeom>
          <a:noFill/>
        </p:spPr>
        <p:txBody>
          <a:bodyPr wrap="square" lIns="0" rIns="0" tIns="0" bIns="0" anchor="t">
            <a:spAutoFit/>
          </a:bodyPr>
          <a:lstStyle/>
          <a:p>
            <a:pPr algn="l"/>
            <a:r>
              <a:rPr sz="850" b="0" i="0">
                <a:solidFill>
                  <a:srgbClr val="4D555C"/>
                </a:solidFill>
                <a:latin typeface="Arial"/>
              </a:rPr>
              <a:t>#11181C</a:t>
            </a:r>
          </a:p>
        </p:txBody>
      </p:sp>
      <p:sp>
        <p:nvSpPr>
          <p:cNvPr id="71" name="TextBox 70"/>
          <p:cNvSpPr txBox="1"/>
          <p:nvPr/>
        </p:nvSpPr>
        <p:spPr>
          <a:xfrm>
            <a:off x="8915400" y="5435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Ink · dark section</a:t>
            </a:r>
          </a:p>
        </p:txBody>
      </p:sp>
      <p:sp>
        <p:nvSpPr>
          <p:cNvPr id="72" name="Rounded Rectangle 71"/>
          <p:cNvSpPr/>
          <p:nvPr/>
        </p:nvSpPr>
        <p:spPr>
          <a:xfrm>
            <a:off x="10299700" y="4089400"/>
            <a:ext cx="1282700" cy="889000"/>
          </a:xfrm>
          <a:prstGeom prst="roundRect">
            <a:avLst>
              <a:gd name="adj" fmla="val 8571"/>
            </a:avLst>
          </a:prstGeom>
          <a:solidFill>
            <a:srgbClr val="020304"/>
          </a:solidFill>
          <a:ln>
            <a:noFill/>
          </a:ln>
          <a:effectLst/>
        </p:spPr>
        <p:txBody>
          <a:bodyPr rtlCol="0" anchor="ctr"/>
          <a:lstStyle/>
          <a:p>
            <a:pPr algn="ctr"/>
          </a:p>
        </p:txBody>
      </p:sp>
      <p:sp>
        <p:nvSpPr>
          <p:cNvPr id="73" name="TextBox 72"/>
          <p:cNvSpPr txBox="1"/>
          <p:nvPr/>
        </p:nvSpPr>
        <p:spPr>
          <a:xfrm>
            <a:off x="10299700" y="5080000"/>
            <a:ext cx="1282700" cy="152400"/>
          </a:xfrm>
          <a:prstGeom prst="rect">
            <a:avLst/>
          </a:prstGeom>
          <a:noFill/>
        </p:spPr>
        <p:txBody>
          <a:bodyPr wrap="square" lIns="0" rIns="0" tIns="0" bIns="0" anchor="t">
            <a:spAutoFit/>
          </a:bodyPr>
          <a:lstStyle/>
          <a:p>
            <a:pPr algn="l"/>
            <a:r>
              <a:rPr sz="900" b="1" i="0">
                <a:solidFill>
                  <a:srgbClr val="11181C"/>
                </a:solidFill>
                <a:latin typeface="Arial"/>
              </a:rPr>
              <a:t>Slate 16</a:t>
            </a:r>
          </a:p>
        </p:txBody>
      </p:sp>
      <p:sp>
        <p:nvSpPr>
          <p:cNvPr id="74" name="TextBox 73"/>
          <p:cNvSpPr txBox="1"/>
          <p:nvPr/>
        </p:nvSpPr>
        <p:spPr>
          <a:xfrm>
            <a:off x="10299700" y="5257800"/>
            <a:ext cx="1282700" cy="152400"/>
          </a:xfrm>
          <a:prstGeom prst="rect">
            <a:avLst/>
          </a:prstGeom>
          <a:noFill/>
        </p:spPr>
        <p:txBody>
          <a:bodyPr wrap="square" lIns="0" rIns="0" tIns="0" bIns="0" anchor="t">
            <a:spAutoFit/>
          </a:bodyPr>
          <a:lstStyle/>
          <a:p>
            <a:pPr algn="l"/>
            <a:r>
              <a:rPr sz="850" b="0" i="0">
                <a:solidFill>
                  <a:srgbClr val="4D555C"/>
                </a:solidFill>
                <a:latin typeface="Arial"/>
              </a:rPr>
              <a:t>#020304</a:t>
            </a:r>
          </a:p>
        </p:txBody>
      </p:sp>
      <p:sp>
        <p:nvSpPr>
          <p:cNvPr id="75" name="TextBox 74"/>
          <p:cNvSpPr txBox="1"/>
          <p:nvPr/>
        </p:nvSpPr>
        <p:spPr>
          <a:xfrm>
            <a:off x="10299700" y="5435600"/>
            <a:ext cx="1282700" cy="304800"/>
          </a:xfrm>
          <a:prstGeom prst="rect">
            <a:avLst/>
          </a:prstGeom>
          <a:noFill/>
        </p:spPr>
        <p:txBody>
          <a:bodyPr wrap="square" lIns="0" rIns="0" tIns="0" bIns="0" anchor="t">
            <a:spAutoFit/>
          </a:bodyPr>
          <a:lstStyle/>
          <a:p>
            <a:pPr algn="l">
              <a:lnSpc>
                <a:spcPct val="110000"/>
              </a:lnSpc>
            </a:pPr>
            <a:r>
              <a:rPr sz="850" b="0" i="0">
                <a:solidFill>
                  <a:srgbClr val="697177"/>
                </a:solidFill>
                <a:latin typeface="Arial"/>
              </a:rPr>
              <a:t>Black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FOUNDATIONS · BRAND &amp; ACCENT COLOURS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One </a:t>
            </a:r>
            <a:r>
              <a:rPr sz="2400" b="0" i="1">
                <a:solidFill>
                  <a:srgbClr val="11181C"/>
                </a:solidFill>
                <a:latin typeface="Georgia"/>
              </a:rPr>
              <a:t>confident</a:t>
            </a:r>
            <a:r>
              <a:rPr sz="2400" b="0" i="0">
                <a:solidFill>
                  <a:srgbClr val="11181C"/>
                </a:solidFill>
                <a:latin typeface="Georgia"/>
              </a:rPr>
              <a:t> green, used sparingly.</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Bitwise green (hue 146°) marks actions and the focus of a chart. Accents come from the same Radix-style scales and are reserved for status and extra chart series.</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08</a:t>
            </a:r>
          </a:p>
        </p:txBody>
      </p:sp>
      <p:sp>
        <p:nvSpPr>
          <p:cNvPr id="12" name="TextBox 11"/>
          <p:cNvSpPr txBox="1"/>
          <p:nvPr/>
        </p:nvSpPr>
        <p:spPr>
          <a:xfrm>
            <a:off x="609600" y="2108200"/>
            <a:ext cx="5080000" cy="152400"/>
          </a:xfrm>
          <a:prstGeom prst="rect">
            <a:avLst/>
          </a:prstGeom>
          <a:noFill/>
        </p:spPr>
        <p:txBody>
          <a:bodyPr wrap="square" lIns="0" rIns="0" tIns="0" bIns="0" anchor="t">
            <a:spAutoFit/>
          </a:bodyPr>
          <a:lstStyle/>
          <a:p>
            <a:pPr algn="l"/>
            <a:r>
              <a:rPr sz="850" b="1" i="0" spc="150">
                <a:solidFill>
                  <a:srgbClr val="697177"/>
                </a:solidFill>
                <a:latin typeface="Arial"/>
              </a:rPr>
              <a:t>BRAND GREEN SCALE</a:t>
            </a:r>
          </a:p>
        </p:txBody>
      </p:sp>
      <p:sp>
        <p:nvSpPr>
          <p:cNvPr id="13" name="Rounded Rectangle 12"/>
          <p:cNvSpPr/>
          <p:nvPr/>
        </p:nvSpPr>
        <p:spPr>
          <a:xfrm>
            <a:off x="609600" y="2336800"/>
            <a:ext cx="1480457" cy="736600"/>
          </a:xfrm>
          <a:prstGeom prst="roundRect">
            <a:avLst>
              <a:gd name="adj" fmla="val 10344"/>
            </a:avLst>
          </a:prstGeom>
          <a:solidFill>
            <a:srgbClr val="E5FFF1"/>
          </a:solidFill>
          <a:ln>
            <a:noFill/>
          </a:ln>
          <a:effectLst/>
        </p:spPr>
        <p:txBody>
          <a:bodyPr rtlCol="0" anchor="ctr"/>
          <a:lstStyle/>
          <a:p>
            <a:pPr algn="ctr"/>
          </a:p>
        </p:txBody>
      </p:sp>
      <p:sp>
        <p:nvSpPr>
          <p:cNvPr id="14" name="TextBox 13"/>
          <p:cNvSpPr txBox="1"/>
          <p:nvPr/>
        </p:nvSpPr>
        <p:spPr>
          <a:xfrm>
            <a:off x="609600" y="3149600"/>
            <a:ext cx="1480457" cy="152400"/>
          </a:xfrm>
          <a:prstGeom prst="rect">
            <a:avLst/>
          </a:prstGeom>
          <a:noFill/>
        </p:spPr>
        <p:txBody>
          <a:bodyPr wrap="square" lIns="0" rIns="0" tIns="0" bIns="0" anchor="t">
            <a:spAutoFit/>
          </a:bodyPr>
          <a:lstStyle/>
          <a:p>
            <a:pPr algn="l"/>
            <a:r>
              <a:rPr sz="900" b="1" i="0">
                <a:solidFill>
                  <a:srgbClr val="11181C"/>
                </a:solidFill>
                <a:latin typeface="Arial"/>
              </a:rPr>
              <a:t>Green 100</a:t>
            </a:r>
          </a:p>
        </p:txBody>
      </p:sp>
      <p:sp>
        <p:nvSpPr>
          <p:cNvPr id="15" name="TextBox 14"/>
          <p:cNvSpPr txBox="1"/>
          <p:nvPr/>
        </p:nvSpPr>
        <p:spPr>
          <a:xfrm>
            <a:off x="609600" y="3314700"/>
            <a:ext cx="1480457" cy="152400"/>
          </a:xfrm>
          <a:prstGeom prst="rect">
            <a:avLst/>
          </a:prstGeom>
          <a:noFill/>
        </p:spPr>
        <p:txBody>
          <a:bodyPr wrap="square" lIns="0" rIns="0" tIns="0" bIns="0" anchor="t">
            <a:spAutoFit/>
          </a:bodyPr>
          <a:lstStyle/>
          <a:p>
            <a:pPr algn="l"/>
            <a:r>
              <a:rPr sz="850" b="0" i="0">
                <a:solidFill>
                  <a:srgbClr val="4D555C"/>
                </a:solidFill>
                <a:latin typeface="Arial"/>
              </a:rPr>
              <a:t>#E5FFF1</a:t>
            </a:r>
          </a:p>
        </p:txBody>
      </p:sp>
      <p:sp>
        <p:nvSpPr>
          <p:cNvPr id="16" name="Rounded Rectangle 15"/>
          <p:cNvSpPr/>
          <p:nvPr/>
        </p:nvSpPr>
        <p:spPr>
          <a:xfrm>
            <a:off x="2191657" y="2336800"/>
            <a:ext cx="1480457" cy="736600"/>
          </a:xfrm>
          <a:prstGeom prst="roundRect">
            <a:avLst>
              <a:gd name="adj" fmla="val 10344"/>
            </a:avLst>
          </a:prstGeom>
          <a:solidFill>
            <a:srgbClr val="E1F9EC"/>
          </a:solidFill>
          <a:ln>
            <a:noFill/>
          </a:ln>
          <a:effectLst/>
        </p:spPr>
        <p:txBody>
          <a:bodyPr rtlCol="0" anchor="ctr"/>
          <a:lstStyle/>
          <a:p>
            <a:pPr algn="ctr"/>
          </a:p>
        </p:txBody>
      </p:sp>
      <p:sp>
        <p:nvSpPr>
          <p:cNvPr id="17" name="TextBox 16"/>
          <p:cNvSpPr txBox="1"/>
          <p:nvPr/>
        </p:nvSpPr>
        <p:spPr>
          <a:xfrm>
            <a:off x="2191657" y="3149600"/>
            <a:ext cx="1480457" cy="152400"/>
          </a:xfrm>
          <a:prstGeom prst="rect">
            <a:avLst/>
          </a:prstGeom>
          <a:noFill/>
        </p:spPr>
        <p:txBody>
          <a:bodyPr wrap="square" lIns="0" rIns="0" tIns="0" bIns="0" anchor="t">
            <a:spAutoFit/>
          </a:bodyPr>
          <a:lstStyle/>
          <a:p>
            <a:pPr algn="l"/>
            <a:r>
              <a:rPr sz="900" b="1" i="0">
                <a:solidFill>
                  <a:srgbClr val="11181C"/>
                </a:solidFill>
                <a:latin typeface="Arial"/>
              </a:rPr>
              <a:t>Green 200</a:t>
            </a:r>
          </a:p>
        </p:txBody>
      </p:sp>
      <p:sp>
        <p:nvSpPr>
          <p:cNvPr id="18" name="TextBox 17"/>
          <p:cNvSpPr txBox="1"/>
          <p:nvPr/>
        </p:nvSpPr>
        <p:spPr>
          <a:xfrm>
            <a:off x="2191657" y="3314700"/>
            <a:ext cx="1480457" cy="152400"/>
          </a:xfrm>
          <a:prstGeom prst="rect">
            <a:avLst/>
          </a:prstGeom>
          <a:noFill/>
        </p:spPr>
        <p:txBody>
          <a:bodyPr wrap="square" lIns="0" rIns="0" tIns="0" bIns="0" anchor="t">
            <a:spAutoFit/>
          </a:bodyPr>
          <a:lstStyle/>
          <a:p>
            <a:pPr algn="l"/>
            <a:r>
              <a:rPr sz="850" b="0" i="0">
                <a:solidFill>
                  <a:srgbClr val="4D555C"/>
                </a:solidFill>
                <a:latin typeface="Arial"/>
              </a:rPr>
              <a:t>#E1F9EC</a:t>
            </a:r>
          </a:p>
        </p:txBody>
      </p:sp>
      <p:sp>
        <p:nvSpPr>
          <p:cNvPr id="19" name="Rounded Rectangle 18"/>
          <p:cNvSpPr/>
          <p:nvPr/>
        </p:nvSpPr>
        <p:spPr>
          <a:xfrm>
            <a:off x="3773714" y="2336800"/>
            <a:ext cx="1480457" cy="736600"/>
          </a:xfrm>
          <a:prstGeom prst="roundRect">
            <a:avLst>
              <a:gd name="adj" fmla="val 10344"/>
            </a:avLst>
          </a:prstGeom>
          <a:solidFill>
            <a:srgbClr val="83E7AE"/>
          </a:solidFill>
          <a:ln>
            <a:noFill/>
          </a:ln>
          <a:effectLst/>
        </p:spPr>
        <p:txBody>
          <a:bodyPr rtlCol="0" anchor="ctr"/>
          <a:lstStyle/>
          <a:p>
            <a:pPr algn="ctr"/>
          </a:p>
        </p:txBody>
      </p:sp>
      <p:sp>
        <p:nvSpPr>
          <p:cNvPr id="20" name="TextBox 19"/>
          <p:cNvSpPr txBox="1"/>
          <p:nvPr/>
        </p:nvSpPr>
        <p:spPr>
          <a:xfrm>
            <a:off x="3773714" y="3149600"/>
            <a:ext cx="1480457" cy="152400"/>
          </a:xfrm>
          <a:prstGeom prst="rect">
            <a:avLst/>
          </a:prstGeom>
          <a:noFill/>
        </p:spPr>
        <p:txBody>
          <a:bodyPr wrap="square" lIns="0" rIns="0" tIns="0" bIns="0" anchor="t">
            <a:spAutoFit/>
          </a:bodyPr>
          <a:lstStyle/>
          <a:p>
            <a:pPr algn="l"/>
            <a:r>
              <a:rPr sz="900" b="1" i="0">
                <a:solidFill>
                  <a:srgbClr val="11181C"/>
                </a:solidFill>
                <a:latin typeface="Arial"/>
              </a:rPr>
              <a:t>Green 300</a:t>
            </a:r>
          </a:p>
        </p:txBody>
      </p:sp>
      <p:sp>
        <p:nvSpPr>
          <p:cNvPr id="21" name="TextBox 20"/>
          <p:cNvSpPr txBox="1"/>
          <p:nvPr/>
        </p:nvSpPr>
        <p:spPr>
          <a:xfrm>
            <a:off x="3773714" y="3314700"/>
            <a:ext cx="1480457" cy="152400"/>
          </a:xfrm>
          <a:prstGeom prst="rect">
            <a:avLst/>
          </a:prstGeom>
          <a:noFill/>
        </p:spPr>
        <p:txBody>
          <a:bodyPr wrap="square" lIns="0" rIns="0" tIns="0" bIns="0" anchor="t">
            <a:spAutoFit/>
          </a:bodyPr>
          <a:lstStyle/>
          <a:p>
            <a:pPr algn="l"/>
            <a:r>
              <a:rPr sz="850" b="0" i="0">
                <a:solidFill>
                  <a:srgbClr val="4D555C"/>
                </a:solidFill>
                <a:latin typeface="Arial"/>
              </a:rPr>
              <a:t>#83E7AE</a:t>
            </a:r>
          </a:p>
        </p:txBody>
      </p:sp>
      <p:sp>
        <p:nvSpPr>
          <p:cNvPr id="22" name="Rounded Rectangle 21"/>
          <p:cNvSpPr/>
          <p:nvPr/>
        </p:nvSpPr>
        <p:spPr>
          <a:xfrm>
            <a:off x="5355771" y="2336800"/>
            <a:ext cx="1480457" cy="736600"/>
          </a:xfrm>
          <a:prstGeom prst="roundRect">
            <a:avLst>
              <a:gd name="adj" fmla="val 10344"/>
            </a:avLst>
          </a:prstGeom>
          <a:solidFill>
            <a:srgbClr val="39DB7F"/>
          </a:solidFill>
          <a:ln>
            <a:noFill/>
          </a:ln>
          <a:effectLst/>
        </p:spPr>
        <p:txBody>
          <a:bodyPr rtlCol="0" anchor="ctr"/>
          <a:lstStyle/>
          <a:p>
            <a:pPr algn="ctr"/>
          </a:p>
        </p:txBody>
      </p:sp>
      <p:sp>
        <p:nvSpPr>
          <p:cNvPr id="23" name="TextBox 22"/>
          <p:cNvSpPr txBox="1"/>
          <p:nvPr/>
        </p:nvSpPr>
        <p:spPr>
          <a:xfrm>
            <a:off x="5355771" y="3149600"/>
            <a:ext cx="1480457" cy="152400"/>
          </a:xfrm>
          <a:prstGeom prst="rect">
            <a:avLst/>
          </a:prstGeom>
          <a:noFill/>
        </p:spPr>
        <p:txBody>
          <a:bodyPr wrap="square" lIns="0" rIns="0" tIns="0" bIns="0" anchor="t">
            <a:spAutoFit/>
          </a:bodyPr>
          <a:lstStyle/>
          <a:p>
            <a:pPr algn="l"/>
            <a:r>
              <a:rPr sz="900" b="1" i="0">
                <a:solidFill>
                  <a:srgbClr val="11181C"/>
                </a:solidFill>
                <a:latin typeface="Arial"/>
              </a:rPr>
              <a:t>Green 400</a:t>
            </a:r>
          </a:p>
        </p:txBody>
      </p:sp>
      <p:sp>
        <p:nvSpPr>
          <p:cNvPr id="24" name="TextBox 23"/>
          <p:cNvSpPr txBox="1"/>
          <p:nvPr/>
        </p:nvSpPr>
        <p:spPr>
          <a:xfrm>
            <a:off x="5355771" y="3314700"/>
            <a:ext cx="1480457" cy="152400"/>
          </a:xfrm>
          <a:prstGeom prst="rect">
            <a:avLst/>
          </a:prstGeom>
          <a:noFill/>
        </p:spPr>
        <p:txBody>
          <a:bodyPr wrap="square" lIns="0" rIns="0" tIns="0" bIns="0" anchor="t">
            <a:spAutoFit/>
          </a:bodyPr>
          <a:lstStyle/>
          <a:p>
            <a:pPr algn="l"/>
            <a:r>
              <a:rPr sz="850" b="0" i="0">
                <a:solidFill>
                  <a:srgbClr val="4D555C"/>
                </a:solidFill>
                <a:latin typeface="Arial"/>
              </a:rPr>
              <a:t>#39DB7F</a:t>
            </a:r>
          </a:p>
        </p:txBody>
      </p:sp>
      <p:sp>
        <p:nvSpPr>
          <p:cNvPr id="25" name="Rounded Rectangle 24"/>
          <p:cNvSpPr/>
          <p:nvPr/>
        </p:nvSpPr>
        <p:spPr>
          <a:xfrm>
            <a:off x="6937828" y="2336800"/>
            <a:ext cx="1480457" cy="736600"/>
          </a:xfrm>
          <a:prstGeom prst="roundRect">
            <a:avLst>
              <a:gd name="adj" fmla="val 10344"/>
            </a:avLst>
          </a:prstGeom>
          <a:solidFill>
            <a:srgbClr val="22C96A"/>
          </a:solidFill>
          <a:ln>
            <a:noFill/>
          </a:ln>
          <a:effectLst/>
        </p:spPr>
        <p:txBody>
          <a:bodyPr rtlCol="0" anchor="ctr"/>
          <a:lstStyle/>
          <a:p>
            <a:pPr algn="ctr"/>
          </a:p>
        </p:txBody>
      </p:sp>
      <p:sp>
        <p:nvSpPr>
          <p:cNvPr id="26" name="TextBox 25"/>
          <p:cNvSpPr txBox="1"/>
          <p:nvPr/>
        </p:nvSpPr>
        <p:spPr>
          <a:xfrm>
            <a:off x="6937828" y="3149600"/>
            <a:ext cx="1480457" cy="152400"/>
          </a:xfrm>
          <a:prstGeom prst="rect">
            <a:avLst/>
          </a:prstGeom>
          <a:noFill/>
        </p:spPr>
        <p:txBody>
          <a:bodyPr wrap="square" lIns="0" rIns="0" tIns="0" bIns="0" anchor="t">
            <a:spAutoFit/>
          </a:bodyPr>
          <a:lstStyle/>
          <a:p>
            <a:pPr algn="l"/>
            <a:r>
              <a:rPr sz="900" b="1" i="0">
                <a:solidFill>
                  <a:srgbClr val="11181C"/>
                </a:solidFill>
                <a:latin typeface="Arial"/>
              </a:rPr>
              <a:t>Green 500</a:t>
            </a:r>
          </a:p>
        </p:txBody>
      </p:sp>
      <p:sp>
        <p:nvSpPr>
          <p:cNvPr id="27" name="TextBox 26"/>
          <p:cNvSpPr txBox="1"/>
          <p:nvPr/>
        </p:nvSpPr>
        <p:spPr>
          <a:xfrm>
            <a:off x="6937828" y="3314700"/>
            <a:ext cx="1480457" cy="152400"/>
          </a:xfrm>
          <a:prstGeom prst="rect">
            <a:avLst/>
          </a:prstGeom>
          <a:noFill/>
        </p:spPr>
        <p:txBody>
          <a:bodyPr wrap="square" lIns="0" rIns="0" tIns="0" bIns="0" anchor="t">
            <a:spAutoFit/>
          </a:bodyPr>
          <a:lstStyle/>
          <a:p>
            <a:pPr algn="l"/>
            <a:r>
              <a:rPr sz="850" b="0" i="0">
                <a:solidFill>
                  <a:srgbClr val="4D555C"/>
                </a:solidFill>
                <a:latin typeface="Arial"/>
              </a:rPr>
              <a:t>#22C96A</a:t>
            </a:r>
          </a:p>
        </p:txBody>
      </p:sp>
      <p:sp>
        <p:nvSpPr>
          <p:cNvPr id="28" name="Rounded Rectangle 27"/>
          <p:cNvSpPr/>
          <p:nvPr/>
        </p:nvSpPr>
        <p:spPr>
          <a:xfrm>
            <a:off x="8519885" y="2336800"/>
            <a:ext cx="1480457" cy="736600"/>
          </a:xfrm>
          <a:prstGeom prst="roundRect">
            <a:avLst>
              <a:gd name="adj" fmla="val 10344"/>
            </a:avLst>
          </a:prstGeom>
          <a:solidFill>
            <a:srgbClr val="0DA54F"/>
          </a:solidFill>
          <a:ln>
            <a:noFill/>
          </a:ln>
          <a:effectLst/>
        </p:spPr>
        <p:txBody>
          <a:bodyPr rtlCol="0" anchor="ctr"/>
          <a:lstStyle/>
          <a:p>
            <a:pPr algn="ctr"/>
          </a:p>
        </p:txBody>
      </p:sp>
      <p:sp>
        <p:nvSpPr>
          <p:cNvPr id="29" name="TextBox 28"/>
          <p:cNvSpPr txBox="1"/>
          <p:nvPr/>
        </p:nvSpPr>
        <p:spPr>
          <a:xfrm>
            <a:off x="8519885" y="3149600"/>
            <a:ext cx="1480457" cy="152400"/>
          </a:xfrm>
          <a:prstGeom prst="rect">
            <a:avLst/>
          </a:prstGeom>
          <a:noFill/>
        </p:spPr>
        <p:txBody>
          <a:bodyPr wrap="square" lIns="0" rIns="0" tIns="0" bIns="0" anchor="t">
            <a:spAutoFit/>
          </a:bodyPr>
          <a:lstStyle/>
          <a:p>
            <a:pPr algn="l"/>
            <a:r>
              <a:rPr sz="900" b="1" i="0">
                <a:solidFill>
                  <a:srgbClr val="11181C"/>
                </a:solidFill>
                <a:latin typeface="Arial"/>
              </a:rPr>
              <a:t>Green 600</a:t>
            </a:r>
          </a:p>
        </p:txBody>
      </p:sp>
      <p:sp>
        <p:nvSpPr>
          <p:cNvPr id="30" name="TextBox 29"/>
          <p:cNvSpPr txBox="1"/>
          <p:nvPr/>
        </p:nvSpPr>
        <p:spPr>
          <a:xfrm>
            <a:off x="8519885" y="3314700"/>
            <a:ext cx="1480457" cy="152400"/>
          </a:xfrm>
          <a:prstGeom prst="rect">
            <a:avLst/>
          </a:prstGeom>
          <a:noFill/>
        </p:spPr>
        <p:txBody>
          <a:bodyPr wrap="square" lIns="0" rIns="0" tIns="0" bIns="0" anchor="t">
            <a:spAutoFit/>
          </a:bodyPr>
          <a:lstStyle/>
          <a:p>
            <a:pPr algn="l"/>
            <a:r>
              <a:rPr sz="850" b="0" i="0">
                <a:solidFill>
                  <a:srgbClr val="4D555C"/>
                </a:solidFill>
                <a:latin typeface="Arial"/>
              </a:rPr>
              <a:t>#0DA54F</a:t>
            </a:r>
          </a:p>
        </p:txBody>
      </p:sp>
      <p:sp>
        <p:nvSpPr>
          <p:cNvPr id="31" name="Rounded Rectangle 30"/>
          <p:cNvSpPr/>
          <p:nvPr/>
        </p:nvSpPr>
        <p:spPr>
          <a:xfrm>
            <a:off x="10101942" y="2336800"/>
            <a:ext cx="1480457" cy="736600"/>
          </a:xfrm>
          <a:prstGeom prst="roundRect">
            <a:avLst>
              <a:gd name="adj" fmla="val 10344"/>
            </a:avLst>
          </a:prstGeom>
          <a:solidFill>
            <a:srgbClr val="076932"/>
          </a:solidFill>
          <a:ln>
            <a:noFill/>
          </a:ln>
          <a:effectLst/>
        </p:spPr>
        <p:txBody>
          <a:bodyPr rtlCol="0" anchor="ctr"/>
          <a:lstStyle/>
          <a:p>
            <a:pPr algn="ctr"/>
          </a:p>
        </p:txBody>
      </p:sp>
      <p:sp>
        <p:nvSpPr>
          <p:cNvPr id="32" name="TextBox 31"/>
          <p:cNvSpPr txBox="1"/>
          <p:nvPr/>
        </p:nvSpPr>
        <p:spPr>
          <a:xfrm>
            <a:off x="10101942" y="3149600"/>
            <a:ext cx="1480457" cy="152400"/>
          </a:xfrm>
          <a:prstGeom prst="rect">
            <a:avLst/>
          </a:prstGeom>
          <a:noFill/>
        </p:spPr>
        <p:txBody>
          <a:bodyPr wrap="square" lIns="0" rIns="0" tIns="0" bIns="0" anchor="t">
            <a:spAutoFit/>
          </a:bodyPr>
          <a:lstStyle/>
          <a:p>
            <a:pPr algn="l"/>
            <a:r>
              <a:rPr sz="900" b="1" i="0">
                <a:solidFill>
                  <a:srgbClr val="11181C"/>
                </a:solidFill>
                <a:latin typeface="Arial"/>
              </a:rPr>
              <a:t>Green 800</a:t>
            </a:r>
          </a:p>
        </p:txBody>
      </p:sp>
      <p:sp>
        <p:nvSpPr>
          <p:cNvPr id="33" name="TextBox 32"/>
          <p:cNvSpPr txBox="1"/>
          <p:nvPr/>
        </p:nvSpPr>
        <p:spPr>
          <a:xfrm>
            <a:off x="10101942" y="3314700"/>
            <a:ext cx="1480457" cy="152400"/>
          </a:xfrm>
          <a:prstGeom prst="rect">
            <a:avLst/>
          </a:prstGeom>
          <a:noFill/>
        </p:spPr>
        <p:txBody>
          <a:bodyPr wrap="square" lIns="0" rIns="0" tIns="0" bIns="0" anchor="t">
            <a:spAutoFit/>
          </a:bodyPr>
          <a:lstStyle/>
          <a:p>
            <a:pPr algn="l"/>
            <a:r>
              <a:rPr sz="850" b="0" i="0">
                <a:solidFill>
                  <a:srgbClr val="4D555C"/>
                </a:solidFill>
                <a:latin typeface="Arial"/>
              </a:rPr>
              <a:t>#076932</a:t>
            </a:r>
          </a:p>
        </p:txBody>
      </p:sp>
      <p:sp>
        <p:nvSpPr>
          <p:cNvPr id="34" name="TextBox 33"/>
          <p:cNvSpPr txBox="1"/>
          <p:nvPr/>
        </p:nvSpPr>
        <p:spPr>
          <a:xfrm>
            <a:off x="609600" y="3556000"/>
            <a:ext cx="10972800" cy="177800"/>
          </a:xfrm>
          <a:prstGeom prst="rect">
            <a:avLst/>
          </a:prstGeom>
          <a:noFill/>
        </p:spPr>
        <p:txBody>
          <a:bodyPr wrap="square" lIns="0" rIns="0" tIns="0" bIns="0" anchor="t">
            <a:spAutoFit/>
          </a:bodyPr>
          <a:lstStyle/>
          <a:p>
            <a:pPr algn="l"/>
            <a:r>
              <a:rPr sz="850" b="1" i="0">
                <a:solidFill>
                  <a:srgbClr val="11181C"/>
                </a:solidFill>
                <a:latin typeface="Arial"/>
              </a:rPr>
              <a:t>Green 500 </a:t>
            </a:r>
            <a:r>
              <a:rPr sz="850" b="0" i="0">
                <a:solidFill>
                  <a:srgbClr val="4D555C"/>
                </a:solidFill>
                <a:latin typeface="Arial"/>
              </a:rPr>
              <a:t>primary button, highlight, focus series   ·   </a:t>
            </a:r>
            <a:r>
              <a:rPr sz="850" b="1" i="0">
                <a:solidFill>
                  <a:srgbClr val="11181C"/>
                </a:solidFill>
                <a:latin typeface="Arial"/>
              </a:rPr>
              <a:t>Green 800 </a:t>
            </a:r>
            <a:r>
              <a:rPr sz="850" b="0" i="0">
                <a:solidFill>
                  <a:srgbClr val="4D555C"/>
                </a:solidFill>
                <a:latin typeface="Arial"/>
              </a:rPr>
              <a:t>hover, green text on white   ·   </a:t>
            </a:r>
            <a:r>
              <a:rPr sz="850" b="1" i="0">
                <a:solidFill>
                  <a:srgbClr val="11181C"/>
                </a:solidFill>
                <a:latin typeface="Arial"/>
              </a:rPr>
              <a:t>Green 100–200 </a:t>
            </a:r>
            <a:r>
              <a:rPr sz="850" b="0" i="0">
                <a:solidFill>
                  <a:srgbClr val="4D555C"/>
                </a:solidFill>
                <a:latin typeface="Arial"/>
              </a:rPr>
              <a:t>tinted note background</a:t>
            </a:r>
          </a:p>
        </p:txBody>
      </p:sp>
      <p:sp>
        <p:nvSpPr>
          <p:cNvPr id="35" name="TextBox 34"/>
          <p:cNvSpPr txBox="1"/>
          <p:nvPr/>
        </p:nvSpPr>
        <p:spPr>
          <a:xfrm>
            <a:off x="609600" y="4013200"/>
            <a:ext cx="5080000" cy="152400"/>
          </a:xfrm>
          <a:prstGeom prst="rect">
            <a:avLst/>
          </a:prstGeom>
          <a:noFill/>
        </p:spPr>
        <p:txBody>
          <a:bodyPr wrap="square" lIns="0" rIns="0" tIns="0" bIns="0" anchor="t">
            <a:spAutoFit/>
          </a:bodyPr>
          <a:lstStyle/>
          <a:p>
            <a:pPr algn="l"/>
            <a:r>
              <a:rPr sz="850" b="1" i="0" spc="150">
                <a:solidFill>
                  <a:srgbClr val="697177"/>
                </a:solidFill>
                <a:latin typeface="Arial"/>
              </a:rPr>
              <a:t>ACCENTS · STATUS &amp; CHART SERIES</a:t>
            </a:r>
          </a:p>
        </p:txBody>
      </p:sp>
      <p:sp>
        <p:nvSpPr>
          <p:cNvPr id="36" name="Oval 35"/>
          <p:cNvSpPr/>
          <p:nvPr/>
        </p:nvSpPr>
        <p:spPr>
          <a:xfrm>
            <a:off x="609600" y="4241800"/>
            <a:ext cx="381000" cy="381000"/>
          </a:xfrm>
          <a:prstGeom prst="ellipse">
            <a:avLst/>
          </a:prstGeom>
          <a:solidFill>
            <a:srgbClr val="FFC53D"/>
          </a:solidFill>
          <a:ln>
            <a:noFill/>
          </a:ln>
          <a:effectLst/>
        </p:spPr>
        <p:txBody>
          <a:bodyPr rtlCol="0" anchor="ctr"/>
          <a:lstStyle/>
          <a:p>
            <a:pPr algn="ctr"/>
          </a:p>
        </p:txBody>
      </p:sp>
      <p:sp>
        <p:nvSpPr>
          <p:cNvPr id="37" name="TextBox 36"/>
          <p:cNvSpPr txBox="1"/>
          <p:nvPr/>
        </p:nvSpPr>
        <p:spPr>
          <a:xfrm>
            <a:off x="1117600" y="4267200"/>
            <a:ext cx="1651000" cy="152400"/>
          </a:xfrm>
          <a:prstGeom prst="rect">
            <a:avLst/>
          </a:prstGeom>
          <a:noFill/>
        </p:spPr>
        <p:txBody>
          <a:bodyPr wrap="square" lIns="0" rIns="0" tIns="0" bIns="0" anchor="t">
            <a:spAutoFit/>
          </a:bodyPr>
          <a:lstStyle/>
          <a:p>
            <a:pPr algn="l"/>
            <a:r>
              <a:rPr sz="900" b="1" i="0">
                <a:solidFill>
                  <a:srgbClr val="11181C"/>
                </a:solidFill>
                <a:latin typeface="Arial"/>
              </a:rPr>
              <a:t>Amber  #FFC53D</a:t>
            </a:r>
          </a:p>
        </p:txBody>
      </p:sp>
      <p:sp>
        <p:nvSpPr>
          <p:cNvPr id="38" name="TextBox 37"/>
          <p:cNvSpPr txBox="1"/>
          <p:nvPr/>
        </p:nvSpPr>
        <p:spPr>
          <a:xfrm>
            <a:off x="1117600" y="4445000"/>
            <a:ext cx="1651000" cy="152400"/>
          </a:xfrm>
          <a:prstGeom prst="rect">
            <a:avLst/>
          </a:prstGeom>
          <a:noFill/>
        </p:spPr>
        <p:txBody>
          <a:bodyPr wrap="square" lIns="0" rIns="0" tIns="0" bIns="0" anchor="t">
            <a:spAutoFit/>
          </a:bodyPr>
          <a:lstStyle/>
          <a:p>
            <a:pPr algn="l"/>
            <a:r>
              <a:rPr sz="850" b="0" i="0">
                <a:solidFill>
                  <a:srgbClr val="4D555C"/>
                </a:solidFill>
                <a:latin typeface="Arial"/>
              </a:rPr>
              <a:t>Warning · on going</a:t>
            </a:r>
          </a:p>
        </p:txBody>
      </p:sp>
      <p:sp>
        <p:nvSpPr>
          <p:cNvPr id="39" name="Oval 38"/>
          <p:cNvSpPr/>
          <p:nvPr/>
        </p:nvSpPr>
        <p:spPr>
          <a:xfrm>
            <a:off x="2844800" y="4241800"/>
            <a:ext cx="381000" cy="381000"/>
          </a:xfrm>
          <a:prstGeom prst="ellipse">
            <a:avLst/>
          </a:prstGeom>
          <a:solidFill>
            <a:srgbClr val="E5484D"/>
          </a:solidFill>
          <a:ln>
            <a:noFill/>
          </a:ln>
          <a:effectLst/>
        </p:spPr>
        <p:txBody>
          <a:bodyPr rtlCol="0" anchor="ctr"/>
          <a:lstStyle/>
          <a:p>
            <a:pPr algn="ctr"/>
          </a:p>
        </p:txBody>
      </p:sp>
      <p:sp>
        <p:nvSpPr>
          <p:cNvPr id="40" name="TextBox 39"/>
          <p:cNvSpPr txBox="1"/>
          <p:nvPr/>
        </p:nvSpPr>
        <p:spPr>
          <a:xfrm>
            <a:off x="3352800" y="4267200"/>
            <a:ext cx="1651000" cy="152400"/>
          </a:xfrm>
          <a:prstGeom prst="rect">
            <a:avLst/>
          </a:prstGeom>
          <a:noFill/>
        </p:spPr>
        <p:txBody>
          <a:bodyPr wrap="square" lIns="0" rIns="0" tIns="0" bIns="0" anchor="t">
            <a:spAutoFit/>
          </a:bodyPr>
          <a:lstStyle/>
          <a:p>
            <a:pPr algn="l"/>
            <a:r>
              <a:rPr sz="900" b="1" i="0">
                <a:solidFill>
                  <a:srgbClr val="11181C"/>
                </a:solidFill>
                <a:latin typeface="Arial"/>
              </a:rPr>
              <a:t>Red  #E5484D</a:t>
            </a:r>
          </a:p>
        </p:txBody>
      </p:sp>
      <p:sp>
        <p:nvSpPr>
          <p:cNvPr id="41" name="TextBox 40"/>
          <p:cNvSpPr txBox="1"/>
          <p:nvPr/>
        </p:nvSpPr>
        <p:spPr>
          <a:xfrm>
            <a:off x="3352800" y="4445000"/>
            <a:ext cx="1651000" cy="152400"/>
          </a:xfrm>
          <a:prstGeom prst="rect">
            <a:avLst/>
          </a:prstGeom>
          <a:noFill/>
        </p:spPr>
        <p:txBody>
          <a:bodyPr wrap="square" lIns="0" rIns="0" tIns="0" bIns="0" anchor="t">
            <a:spAutoFit/>
          </a:bodyPr>
          <a:lstStyle/>
          <a:p>
            <a:pPr algn="l"/>
            <a:r>
              <a:rPr sz="850" b="0" i="0">
                <a:solidFill>
                  <a:srgbClr val="4D555C"/>
                </a:solidFill>
                <a:latin typeface="Arial"/>
              </a:rPr>
              <a:t>Risk · price higher</a:t>
            </a:r>
          </a:p>
        </p:txBody>
      </p:sp>
      <p:sp>
        <p:nvSpPr>
          <p:cNvPr id="42" name="Oval 41"/>
          <p:cNvSpPr/>
          <p:nvPr/>
        </p:nvSpPr>
        <p:spPr>
          <a:xfrm>
            <a:off x="5080000" y="4241800"/>
            <a:ext cx="381000" cy="381000"/>
          </a:xfrm>
          <a:prstGeom prst="ellipse">
            <a:avLst/>
          </a:prstGeom>
          <a:solidFill>
            <a:srgbClr val="0090FF"/>
          </a:solidFill>
          <a:ln>
            <a:noFill/>
          </a:ln>
          <a:effectLst/>
        </p:spPr>
        <p:txBody>
          <a:bodyPr rtlCol="0" anchor="ctr"/>
          <a:lstStyle/>
          <a:p>
            <a:pPr algn="ctr"/>
          </a:p>
        </p:txBody>
      </p:sp>
      <p:sp>
        <p:nvSpPr>
          <p:cNvPr id="43" name="TextBox 42"/>
          <p:cNvSpPr txBox="1"/>
          <p:nvPr/>
        </p:nvSpPr>
        <p:spPr>
          <a:xfrm>
            <a:off x="5588000" y="4267200"/>
            <a:ext cx="1651000" cy="152400"/>
          </a:xfrm>
          <a:prstGeom prst="rect">
            <a:avLst/>
          </a:prstGeom>
          <a:noFill/>
        </p:spPr>
        <p:txBody>
          <a:bodyPr wrap="square" lIns="0" rIns="0" tIns="0" bIns="0" anchor="t">
            <a:spAutoFit/>
          </a:bodyPr>
          <a:lstStyle/>
          <a:p>
            <a:pPr algn="l"/>
            <a:r>
              <a:rPr sz="900" b="1" i="0">
                <a:solidFill>
                  <a:srgbClr val="11181C"/>
                </a:solidFill>
                <a:latin typeface="Arial"/>
              </a:rPr>
              <a:t>Blue  #0090FF</a:t>
            </a:r>
          </a:p>
        </p:txBody>
      </p:sp>
      <p:sp>
        <p:nvSpPr>
          <p:cNvPr id="44" name="TextBox 43"/>
          <p:cNvSpPr txBox="1"/>
          <p:nvPr/>
        </p:nvSpPr>
        <p:spPr>
          <a:xfrm>
            <a:off x="5588000" y="4445000"/>
            <a:ext cx="1651000" cy="152400"/>
          </a:xfrm>
          <a:prstGeom prst="rect">
            <a:avLst/>
          </a:prstGeom>
          <a:noFill/>
        </p:spPr>
        <p:txBody>
          <a:bodyPr wrap="square" lIns="0" rIns="0" tIns="0" bIns="0" anchor="t">
            <a:spAutoFit/>
          </a:bodyPr>
          <a:lstStyle/>
          <a:p>
            <a:pPr algn="l"/>
            <a:r>
              <a:rPr sz="850" b="0" i="0">
                <a:solidFill>
                  <a:srgbClr val="4D555C"/>
                </a:solidFill>
                <a:latin typeface="Arial"/>
              </a:rPr>
              <a:t>Second series · info</a:t>
            </a:r>
          </a:p>
        </p:txBody>
      </p:sp>
      <p:sp>
        <p:nvSpPr>
          <p:cNvPr id="45" name="Oval 44"/>
          <p:cNvSpPr/>
          <p:nvPr/>
        </p:nvSpPr>
        <p:spPr>
          <a:xfrm>
            <a:off x="7315200" y="4241800"/>
            <a:ext cx="381000" cy="381000"/>
          </a:xfrm>
          <a:prstGeom prst="ellipse">
            <a:avLst/>
          </a:prstGeom>
          <a:solidFill>
            <a:srgbClr val="8E4EC6"/>
          </a:solidFill>
          <a:ln>
            <a:noFill/>
          </a:ln>
          <a:effectLst/>
        </p:spPr>
        <p:txBody>
          <a:bodyPr rtlCol="0" anchor="ctr"/>
          <a:lstStyle/>
          <a:p>
            <a:pPr algn="ctr"/>
          </a:p>
        </p:txBody>
      </p:sp>
      <p:sp>
        <p:nvSpPr>
          <p:cNvPr id="46" name="TextBox 45"/>
          <p:cNvSpPr txBox="1"/>
          <p:nvPr/>
        </p:nvSpPr>
        <p:spPr>
          <a:xfrm>
            <a:off x="7823200" y="4267200"/>
            <a:ext cx="1651000" cy="152400"/>
          </a:xfrm>
          <a:prstGeom prst="rect">
            <a:avLst/>
          </a:prstGeom>
          <a:noFill/>
        </p:spPr>
        <p:txBody>
          <a:bodyPr wrap="square" lIns="0" rIns="0" tIns="0" bIns="0" anchor="t">
            <a:spAutoFit/>
          </a:bodyPr>
          <a:lstStyle/>
          <a:p>
            <a:pPr algn="l"/>
            <a:r>
              <a:rPr sz="900" b="1" i="0">
                <a:solidFill>
                  <a:srgbClr val="11181C"/>
                </a:solidFill>
                <a:latin typeface="Arial"/>
              </a:rPr>
              <a:t>Purple  #8E4EC6</a:t>
            </a:r>
          </a:p>
        </p:txBody>
      </p:sp>
      <p:sp>
        <p:nvSpPr>
          <p:cNvPr id="47" name="TextBox 46"/>
          <p:cNvSpPr txBox="1"/>
          <p:nvPr/>
        </p:nvSpPr>
        <p:spPr>
          <a:xfrm>
            <a:off x="7823200" y="4445000"/>
            <a:ext cx="1651000" cy="152400"/>
          </a:xfrm>
          <a:prstGeom prst="rect">
            <a:avLst/>
          </a:prstGeom>
          <a:noFill/>
        </p:spPr>
        <p:txBody>
          <a:bodyPr wrap="square" lIns="0" rIns="0" tIns="0" bIns="0" anchor="t">
            <a:spAutoFit/>
          </a:bodyPr>
          <a:lstStyle/>
          <a:p>
            <a:pPr algn="l"/>
            <a:r>
              <a:rPr sz="850" b="0" i="0">
                <a:solidFill>
                  <a:srgbClr val="4D555C"/>
                </a:solidFill>
                <a:latin typeface="Arial"/>
              </a:rPr>
              <a:t>Third series</a:t>
            </a:r>
          </a:p>
        </p:txBody>
      </p:sp>
      <p:sp>
        <p:nvSpPr>
          <p:cNvPr id="48" name="Oval 47"/>
          <p:cNvSpPr/>
          <p:nvPr/>
        </p:nvSpPr>
        <p:spPr>
          <a:xfrm>
            <a:off x="9550400" y="4241800"/>
            <a:ext cx="381000" cy="381000"/>
          </a:xfrm>
          <a:prstGeom prst="ellipse">
            <a:avLst/>
          </a:prstGeom>
          <a:solidFill>
            <a:srgbClr val="E55200"/>
          </a:solidFill>
          <a:ln>
            <a:noFill/>
          </a:ln>
          <a:effectLst/>
        </p:spPr>
        <p:txBody>
          <a:bodyPr rtlCol="0" anchor="ctr"/>
          <a:lstStyle/>
          <a:p>
            <a:pPr algn="ctr"/>
          </a:p>
        </p:txBody>
      </p:sp>
      <p:sp>
        <p:nvSpPr>
          <p:cNvPr id="49" name="TextBox 48"/>
          <p:cNvSpPr txBox="1"/>
          <p:nvPr/>
        </p:nvSpPr>
        <p:spPr>
          <a:xfrm>
            <a:off x="10058400" y="4267200"/>
            <a:ext cx="1651000" cy="152400"/>
          </a:xfrm>
          <a:prstGeom prst="rect">
            <a:avLst/>
          </a:prstGeom>
          <a:noFill/>
        </p:spPr>
        <p:txBody>
          <a:bodyPr wrap="square" lIns="0" rIns="0" tIns="0" bIns="0" anchor="t">
            <a:spAutoFit/>
          </a:bodyPr>
          <a:lstStyle/>
          <a:p>
            <a:pPr algn="l"/>
            <a:r>
              <a:rPr sz="900" b="1" i="0">
                <a:solidFill>
                  <a:srgbClr val="11181C"/>
                </a:solidFill>
                <a:latin typeface="Arial"/>
              </a:rPr>
              <a:t>Orange  #E55200</a:t>
            </a:r>
          </a:p>
        </p:txBody>
      </p:sp>
      <p:sp>
        <p:nvSpPr>
          <p:cNvPr id="50" name="TextBox 49"/>
          <p:cNvSpPr txBox="1"/>
          <p:nvPr/>
        </p:nvSpPr>
        <p:spPr>
          <a:xfrm>
            <a:off x="10058400" y="4445000"/>
            <a:ext cx="1651000" cy="152400"/>
          </a:xfrm>
          <a:prstGeom prst="rect">
            <a:avLst/>
          </a:prstGeom>
          <a:noFill/>
        </p:spPr>
        <p:txBody>
          <a:bodyPr wrap="square" lIns="0" rIns="0" tIns="0" bIns="0" anchor="t">
            <a:spAutoFit/>
          </a:bodyPr>
          <a:lstStyle/>
          <a:p>
            <a:pPr algn="l"/>
            <a:r>
              <a:rPr sz="850" b="0" i="0">
                <a:solidFill>
                  <a:srgbClr val="4D555C"/>
                </a:solidFill>
                <a:latin typeface="Arial"/>
              </a:rPr>
              <a:t>Triatra logo only</a:t>
            </a:r>
          </a:p>
        </p:txBody>
      </p:sp>
      <p:sp>
        <p:nvSpPr>
          <p:cNvPr id="51" name="Rounded Rectangle 50"/>
          <p:cNvSpPr/>
          <p:nvPr/>
        </p:nvSpPr>
        <p:spPr>
          <a:xfrm>
            <a:off x="609600" y="4978400"/>
            <a:ext cx="10972800" cy="1270000"/>
          </a:xfrm>
          <a:prstGeom prst="roundRect">
            <a:avLst>
              <a:gd name="adj" fmla="val 10000"/>
            </a:avLst>
          </a:prstGeom>
          <a:solidFill>
            <a:srgbClr val="E5FFF1"/>
          </a:solidFill>
          <a:ln>
            <a:noFill/>
          </a:ln>
          <a:effectLst/>
        </p:spPr>
        <p:txBody>
          <a:bodyPr rtlCol="0" anchor="ctr"/>
          <a:lstStyle/>
          <a:p>
            <a:pPr algn="ctr"/>
          </a:p>
        </p:txBody>
      </p:sp>
      <p:sp>
        <p:nvSpPr>
          <p:cNvPr id="52" name="TextBox 51"/>
          <p:cNvSpPr txBox="1"/>
          <p:nvPr/>
        </p:nvSpPr>
        <p:spPr>
          <a:xfrm>
            <a:off x="863600" y="5181600"/>
            <a:ext cx="5080000" cy="152400"/>
          </a:xfrm>
          <a:prstGeom prst="rect">
            <a:avLst/>
          </a:prstGeom>
          <a:noFill/>
        </p:spPr>
        <p:txBody>
          <a:bodyPr wrap="square" lIns="0" rIns="0" tIns="0" bIns="0" anchor="t">
            <a:spAutoFit/>
          </a:bodyPr>
          <a:lstStyle/>
          <a:p>
            <a:pPr algn="l"/>
            <a:r>
              <a:rPr sz="850" b="1" i="0" spc="150">
                <a:solidFill>
                  <a:srgbClr val="076932"/>
                </a:solidFill>
                <a:latin typeface="Arial"/>
              </a:rPr>
              <a:t>BRAND BRIDGE · TRIATRA</a:t>
            </a:r>
          </a:p>
        </p:txBody>
      </p:sp>
      <p:sp>
        <p:nvSpPr>
          <p:cNvPr id="53" name="TextBox 52"/>
          <p:cNvSpPr txBox="1"/>
          <p:nvPr/>
        </p:nvSpPr>
        <p:spPr>
          <a:xfrm>
            <a:off x="863600" y="5410200"/>
            <a:ext cx="10414000" cy="762000"/>
          </a:xfrm>
          <a:prstGeom prst="rect">
            <a:avLst/>
          </a:prstGeom>
          <a:noFill/>
        </p:spPr>
        <p:txBody>
          <a:bodyPr wrap="square" lIns="0" rIns="0" tIns="0" bIns="0" anchor="t">
            <a:spAutoFit/>
          </a:bodyPr>
          <a:lstStyle/>
          <a:p>
            <a:pPr algn="l">
              <a:lnSpc>
                <a:spcPct val="140000"/>
              </a:lnSpc>
            </a:pPr>
            <a:r>
              <a:rPr sz="950" b="0" i="0">
                <a:solidFill>
                  <a:srgbClr val="252D31"/>
                </a:solidFill>
                <a:latin typeface="Arial"/>
              </a:rPr>
              <a:t>The Triatra logo stays in its own orange and is never recoloured. Orange is not used anywhere else in the deck, so the logo and the green never compete. If the reviewers require Triatra orange as the accent, swap Green 500 → #E55200 and Green 800 → #80350E everywhere; every other rule stays the same.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FOUNDATIONS · COLOUR IN USE</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Mostly white, slate text, </a:t>
            </a:r>
            <a:r>
              <a:rPr sz="2400" b="0" i="1">
                <a:solidFill>
                  <a:srgbClr val="11181C"/>
                </a:solidFill>
                <a:latin typeface="Georgia"/>
              </a:rPr>
              <a:t>a touch</a:t>
            </a:r>
            <a:r>
              <a:rPr sz="2400" b="0" i="0">
                <a:solidFill>
                  <a:srgbClr val="11181C"/>
                </a:solidFill>
                <a:latin typeface="Georgia"/>
              </a:rPr>
              <a:t> of green.</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09</a:t>
            </a:r>
          </a:p>
        </p:txBody>
      </p:sp>
      <p:sp>
        <p:nvSpPr>
          <p:cNvPr id="11" name="TextBox 10"/>
          <p:cNvSpPr txBox="1"/>
          <p:nvPr/>
        </p:nvSpPr>
        <p:spPr>
          <a:xfrm>
            <a:off x="609600" y="1905000"/>
            <a:ext cx="5080000" cy="152400"/>
          </a:xfrm>
          <a:prstGeom prst="rect">
            <a:avLst/>
          </a:prstGeom>
          <a:noFill/>
        </p:spPr>
        <p:txBody>
          <a:bodyPr wrap="square" lIns="0" rIns="0" tIns="0" bIns="0" anchor="t">
            <a:spAutoFit/>
          </a:bodyPr>
          <a:lstStyle/>
          <a:p>
            <a:pPr algn="l"/>
            <a:r>
              <a:rPr sz="850" b="1" i="0" spc="150">
                <a:solidFill>
                  <a:srgbClr val="697177"/>
                </a:solidFill>
                <a:latin typeface="Arial"/>
              </a:rPr>
              <a:t>PROPORTION ON A LIGHT SLIDE</a:t>
            </a:r>
          </a:p>
        </p:txBody>
      </p:sp>
      <p:sp>
        <p:nvSpPr>
          <p:cNvPr id="12" name="Rectangle 11"/>
          <p:cNvSpPr/>
          <p:nvPr/>
        </p:nvSpPr>
        <p:spPr>
          <a:xfrm>
            <a:off x="609600" y="2133600"/>
            <a:ext cx="7680959" cy="381000"/>
          </a:xfrm>
          <a:prstGeom prst="rect">
            <a:avLst/>
          </a:prstGeom>
          <a:solidFill>
            <a:srgbClr val="FFFFFF"/>
          </a:solidFill>
          <a:ln w="9525">
            <a:solidFill>
              <a:srgbClr val="E0E3E6"/>
            </a:solidFill>
          </a:ln>
          <a:effectLst/>
        </p:spPr>
        <p:txBody>
          <a:bodyPr rtlCol="0" anchor="ctr"/>
          <a:lstStyle/>
          <a:p>
            <a:pPr algn="ctr"/>
          </a:p>
        </p:txBody>
      </p:sp>
      <p:sp>
        <p:nvSpPr>
          <p:cNvPr id="13" name="TextBox 12"/>
          <p:cNvSpPr txBox="1"/>
          <p:nvPr/>
        </p:nvSpPr>
        <p:spPr>
          <a:xfrm>
            <a:off x="711200" y="2133600"/>
            <a:ext cx="7579359" cy="381000"/>
          </a:xfrm>
          <a:prstGeom prst="rect">
            <a:avLst/>
          </a:prstGeom>
          <a:noFill/>
        </p:spPr>
        <p:txBody>
          <a:bodyPr wrap="square" lIns="0" rIns="0" tIns="0" bIns="0" anchor="ctr">
            <a:spAutoFit/>
          </a:bodyPr>
          <a:lstStyle/>
          <a:p>
            <a:pPr algn="l"/>
            <a:r>
              <a:rPr sz="850" b="1" i="0">
                <a:solidFill>
                  <a:srgbClr val="4D555C"/>
                </a:solidFill>
                <a:latin typeface="Arial"/>
              </a:rPr>
              <a:t>70%  White / Slate 1–2</a:t>
            </a:r>
          </a:p>
        </p:txBody>
      </p:sp>
      <p:sp>
        <p:nvSpPr>
          <p:cNvPr id="14" name="Rectangle 13"/>
          <p:cNvSpPr/>
          <p:nvPr/>
        </p:nvSpPr>
        <p:spPr>
          <a:xfrm>
            <a:off x="8290559" y="2133600"/>
            <a:ext cx="2414016" cy="381000"/>
          </a:xfrm>
          <a:prstGeom prst="rect">
            <a:avLst/>
          </a:prstGeom>
          <a:solidFill>
            <a:srgbClr val="4D555C"/>
          </a:solidFill>
          <a:ln>
            <a:noFill/>
          </a:ln>
          <a:effectLst/>
        </p:spPr>
        <p:txBody>
          <a:bodyPr rtlCol="0" anchor="ctr"/>
          <a:lstStyle/>
          <a:p>
            <a:pPr algn="ctr"/>
          </a:p>
        </p:txBody>
      </p:sp>
      <p:sp>
        <p:nvSpPr>
          <p:cNvPr id="15" name="TextBox 14"/>
          <p:cNvSpPr txBox="1"/>
          <p:nvPr/>
        </p:nvSpPr>
        <p:spPr>
          <a:xfrm>
            <a:off x="8392160" y="2133600"/>
            <a:ext cx="2312416" cy="381000"/>
          </a:xfrm>
          <a:prstGeom prst="rect">
            <a:avLst/>
          </a:prstGeom>
          <a:noFill/>
        </p:spPr>
        <p:txBody>
          <a:bodyPr wrap="square" lIns="0" rIns="0" tIns="0" bIns="0" anchor="ctr">
            <a:spAutoFit/>
          </a:bodyPr>
          <a:lstStyle/>
          <a:p>
            <a:pPr algn="l"/>
            <a:r>
              <a:rPr sz="850" b="1" i="0">
                <a:solidFill>
                  <a:srgbClr val="FFFFFF"/>
                </a:solidFill>
                <a:latin typeface="Arial"/>
              </a:rPr>
              <a:t>22%  Slate 11–15 text</a:t>
            </a:r>
          </a:p>
        </p:txBody>
      </p:sp>
      <p:sp>
        <p:nvSpPr>
          <p:cNvPr id="16" name="Rectangle 15"/>
          <p:cNvSpPr/>
          <p:nvPr/>
        </p:nvSpPr>
        <p:spPr>
          <a:xfrm>
            <a:off x="10704576" y="2133600"/>
            <a:ext cx="658368" cy="381000"/>
          </a:xfrm>
          <a:prstGeom prst="rect">
            <a:avLst/>
          </a:prstGeom>
          <a:solidFill>
            <a:srgbClr val="E0E3E6"/>
          </a:solidFill>
          <a:ln>
            <a:noFill/>
          </a:ln>
          <a:effectLst/>
        </p:spPr>
        <p:txBody>
          <a:bodyPr rtlCol="0" anchor="ctr"/>
          <a:lstStyle/>
          <a:p>
            <a:pPr algn="ctr"/>
          </a:p>
        </p:txBody>
      </p:sp>
      <p:sp>
        <p:nvSpPr>
          <p:cNvPr id="17" name="TextBox 16"/>
          <p:cNvSpPr txBox="1"/>
          <p:nvPr/>
        </p:nvSpPr>
        <p:spPr>
          <a:xfrm>
            <a:off x="10806176" y="2133600"/>
            <a:ext cx="556768" cy="381000"/>
          </a:xfrm>
          <a:prstGeom prst="rect">
            <a:avLst/>
          </a:prstGeom>
          <a:noFill/>
        </p:spPr>
        <p:txBody>
          <a:bodyPr wrap="square" lIns="0" rIns="0" tIns="0" bIns="0" anchor="ctr">
            <a:spAutoFit/>
          </a:bodyPr>
          <a:lstStyle/>
          <a:p>
            <a:pPr algn="l"/>
            <a:r>
              <a:rPr sz="850" b="1" i="0">
                <a:solidFill>
                  <a:srgbClr val="4D555C"/>
                </a:solidFill>
                <a:latin typeface="Arial"/>
              </a:rPr>
              <a:t>6%</a:t>
            </a:r>
          </a:p>
        </p:txBody>
      </p:sp>
      <p:sp>
        <p:nvSpPr>
          <p:cNvPr id="18" name="Rectangle 17"/>
          <p:cNvSpPr/>
          <p:nvPr/>
        </p:nvSpPr>
        <p:spPr>
          <a:xfrm>
            <a:off x="11362944" y="2133600"/>
            <a:ext cx="219456" cy="381000"/>
          </a:xfrm>
          <a:prstGeom prst="rect">
            <a:avLst/>
          </a:prstGeom>
          <a:solidFill>
            <a:srgbClr val="22C96A"/>
          </a:solidFill>
          <a:ln>
            <a:noFill/>
          </a:ln>
          <a:effectLst/>
        </p:spPr>
        <p:txBody>
          <a:bodyPr rtlCol="0" anchor="ctr"/>
          <a:lstStyle/>
          <a:p>
            <a:pPr algn="ctr"/>
          </a:p>
        </p:txBody>
      </p:sp>
      <p:sp>
        <p:nvSpPr>
          <p:cNvPr id="19" name="TextBox 18"/>
          <p:cNvSpPr txBox="1"/>
          <p:nvPr/>
        </p:nvSpPr>
        <p:spPr>
          <a:xfrm>
            <a:off x="11464544" y="2133600"/>
            <a:ext cx="117856" cy="381000"/>
          </a:xfrm>
          <a:prstGeom prst="rect">
            <a:avLst/>
          </a:prstGeom>
          <a:noFill/>
        </p:spPr>
        <p:txBody>
          <a:bodyPr wrap="square" lIns="0" rIns="0" tIns="0" bIns="0" anchor="ctr">
            <a:spAutoFit/>
          </a:bodyPr>
          <a:lstStyle/>
          <a:p>
            <a:pPr algn="l"/>
            <a:r>
              <a:rPr sz="850" b="1" i="0">
                <a:solidFill>
                  <a:srgbClr val="FFFFFF"/>
                </a:solidFill>
                <a:latin typeface="Arial"/>
              </a:rPr>
              <a:t/>
            </a:r>
          </a:p>
        </p:txBody>
      </p:sp>
      <p:sp>
        <p:nvSpPr>
          <p:cNvPr id="20" name="TextBox 19"/>
          <p:cNvSpPr txBox="1"/>
          <p:nvPr/>
        </p:nvSpPr>
        <p:spPr>
          <a:xfrm>
            <a:off x="609600" y="2590800"/>
            <a:ext cx="10972800" cy="152400"/>
          </a:xfrm>
          <a:prstGeom prst="rect">
            <a:avLst/>
          </a:prstGeom>
          <a:noFill/>
        </p:spPr>
        <p:txBody>
          <a:bodyPr wrap="square" lIns="0" rIns="0" tIns="0" bIns="0" anchor="t">
            <a:spAutoFit/>
          </a:bodyPr>
          <a:lstStyle/>
          <a:p>
            <a:pPr algn="l"/>
            <a:r>
              <a:rPr sz="850" b="0" i="0">
                <a:solidFill>
                  <a:srgbClr val="697177"/>
                </a:solidFill>
                <a:latin typeface="Arial"/>
              </a:rPr>
              <a:t>Lines and borders 6%  ·  green 2%: one button, one highlight or one focus series per slide.</a:t>
            </a:r>
          </a:p>
        </p:txBody>
      </p:sp>
      <p:sp>
        <p:nvSpPr>
          <p:cNvPr id="21" name="TextBox 20"/>
          <p:cNvSpPr txBox="1"/>
          <p:nvPr/>
        </p:nvSpPr>
        <p:spPr>
          <a:xfrm>
            <a:off x="609600" y="2997200"/>
            <a:ext cx="5080000" cy="152400"/>
          </a:xfrm>
          <a:prstGeom prst="rect">
            <a:avLst/>
          </a:prstGeom>
          <a:noFill/>
        </p:spPr>
        <p:txBody>
          <a:bodyPr wrap="square" lIns="0" rIns="0" tIns="0" bIns="0" anchor="t">
            <a:spAutoFit/>
          </a:bodyPr>
          <a:lstStyle/>
          <a:p>
            <a:pPr algn="l"/>
            <a:r>
              <a:rPr sz="850" b="1" i="0" spc="150">
                <a:solidFill>
                  <a:srgbClr val="697177"/>
                </a:solidFill>
                <a:latin typeface="Arial"/>
              </a:rPr>
              <a:t>LIGHT AND DARK SECTIONS</a:t>
            </a:r>
          </a:p>
        </p:txBody>
      </p:sp>
      <p:sp>
        <p:nvSpPr>
          <p:cNvPr id="22" name="Rounded Rectangle 21"/>
          <p:cNvSpPr/>
          <p:nvPr/>
        </p:nvSpPr>
        <p:spPr>
          <a:xfrm>
            <a:off x="609600" y="3225800"/>
            <a:ext cx="5334000" cy="1397000"/>
          </a:xfrm>
          <a:prstGeom prst="roundRect">
            <a:avLst>
              <a:gd name="adj" fmla="val 9090"/>
            </a:avLst>
          </a:prstGeom>
          <a:solidFill>
            <a:srgbClr val="FFFFFF"/>
          </a:solidFill>
          <a:ln w="9525">
            <a:solidFill>
              <a:srgbClr val="E0E3E6"/>
            </a:solidFill>
          </a:ln>
          <a:effectLst/>
        </p:spPr>
        <p:txBody>
          <a:bodyPr rtlCol="0" anchor="ctr"/>
          <a:lstStyle/>
          <a:p>
            <a:pPr algn="ctr"/>
          </a:p>
        </p:txBody>
      </p:sp>
      <p:sp>
        <p:nvSpPr>
          <p:cNvPr id="23" name="TextBox 22"/>
          <p:cNvSpPr txBox="1"/>
          <p:nvPr/>
        </p:nvSpPr>
        <p:spPr>
          <a:xfrm>
            <a:off x="863600" y="3429000"/>
            <a:ext cx="3810000" cy="152400"/>
          </a:xfrm>
          <a:prstGeom prst="rect">
            <a:avLst/>
          </a:prstGeom>
          <a:noFill/>
        </p:spPr>
        <p:txBody>
          <a:bodyPr wrap="square" lIns="0" rIns="0" tIns="0" bIns="0" anchor="t">
            <a:spAutoFit/>
          </a:bodyPr>
          <a:lstStyle/>
          <a:p>
            <a:pPr algn="l"/>
            <a:r>
              <a:rPr sz="850" b="1" i="0" spc="150">
                <a:solidFill>
                  <a:srgbClr val="697177"/>
                </a:solidFill>
                <a:latin typeface="Arial"/>
              </a:rPr>
              <a:t>LIGHT · DEFAULT</a:t>
            </a:r>
          </a:p>
        </p:txBody>
      </p:sp>
      <p:sp>
        <p:nvSpPr>
          <p:cNvPr id="24" name="TextBox 23"/>
          <p:cNvSpPr txBox="1"/>
          <p:nvPr/>
        </p:nvSpPr>
        <p:spPr>
          <a:xfrm>
            <a:off x="863600" y="3632200"/>
            <a:ext cx="4826000" cy="330200"/>
          </a:xfrm>
          <a:prstGeom prst="rect">
            <a:avLst/>
          </a:prstGeom>
          <a:noFill/>
        </p:spPr>
        <p:txBody>
          <a:bodyPr wrap="square" lIns="0" rIns="0" tIns="0" bIns="0" anchor="t">
            <a:spAutoFit/>
          </a:bodyPr>
          <a:lstStyle/>
          <a:p>
            <a:pPr algn="l"/>
            <a:r>
              <a:rPr sz="1700" b="0" i="0">
                <a:solidFill>
                  <a:srgbClr val="11181C"/>
                </a:solidFill>
                <a:latin typeface="Georgia"/>
              </a:rPr>
              <a:t>Most slides are </a:t>
            </a:r>
            <a:r>
              <a:rPr sz="1700" b="0" i="1">
                <a:solidFill>
                  <a:srgbClr val="11181C"/>
                </a:solidFill>
                <a:latin typeface="Georgia"/>
              </a:rPr>
              <a:t>light</a:t>
            </a:r>
            <a:r>
              <a:rPr sz="1700" b="0" i="0">
                <a:solidFill>
                  <a:srgbClr val="11181C"/>
                </a:solidFill>
                <a:latin typeface="Georgia"/>
              </a:rPr>
              <a:t>.</a:t>
            </a:r>
          </a:p>
        </p:txBody>
      </p:sp>
      <p:sp>
        <p:nvSpPr>
          <p:cNvPr id="25" name="TextBox 24"/>
          <p:cNvSpPr txBox="1"/>
          <p:nvPr/>
        </p:nvSpPr>
        <p:spPr>
          <a:xfrm>
            <a:off x="863600" y="3987800"/>
            <a:ext cx="4826000" cy="254000"/>
          </a:xfrm>
          <a:prstGeom prst="rect">
            <a:avLst/>
          </a:prstGeom>
          <a:noFill/>
        </p:spPr>
        <p:txBody>
          <a:bodyPr wrap="square" lIns="0" rIns="0" tIns="0" bIns="0" anchor="t">
            <a:spAutoFit/>
          </a:bodyPr>
          <a:lstStyle/>
          <a:p>
            <a:pPr algn="l"/>
            <a:r>
              <a:rPr sz="900" b="0" i="0">
                <a:solidFill>
                  <a:srgbClr val="4D555C"/>
                </a:solidFill>
                <a:latin typeface="Arial"/>
              </a:rPr>
              <a:t>White background, Slate 15 headline, Slate 12 body.</a:t>
            </a:r>
          </a:p>
        </p:txBody>
      </p:sp>
      <p:sp>
        <p:nvSpPr>
          <p:cNvPr id="26" name="Rounded Rectangle 25"/>
          <p:cNvSpPr/>
          <p:nvPr/>
        </p:nvSpPr>
        <p:spPr>
          <a:xfrm>
            <a:off x="863600" y="4241800"/>
            <a:ext cx="889000" cy="304800"/>
          </a:xfrm>
          <a:prstGeom prst="roundRect">
            <a:avLst>
              <a:gd name="adj" fmla="val 12500"/>
            </a:avLst>
          </a:prstGeom>
          <a:solidFill>
            <a:srgbClr val="22C96A"/>
          </a:solidFill>
          <a:ln>
            <a:noFill/>
          </a:ln>
          <a:effectLst/>
        </p:spPr>
        <p:txBody>
          <a:bodyPr rtlCol="0" anchor="ctr"/>
          <a:lstStyle/>
          <a:p>
            <a:pPr algn="ctr"/>
          </a:p>
        </p:txBody>
      </p:sp>
      <p:sp>
        <p:nvSpPr>
          <p:cNvPr id="27" name="TextBox 26"/>
          <p:cNvSpPr txBox="1"/>
          <p:nvPr/>
        </p:nvSpPr>
        <p:spPr>
          <a:xfrm>
            <a:off x="863600" y="4241800"/>
            <a:ext cx="889000" cy="304800"/>
          </a:xfrm>
          <a:prstGeom prst="rect">
            <a:avLst/>
          </a:prstGeom>
          <a:noFill/>
        </p:spPr>
        <p:txBody>
          <a:bodyPr wrap="square" lIns="0" rIns="0" tIns="0" bIns="0" anchor="ctr">
            <a:spAutoFit/>
          </a:bodyPr>
          <a:lstStyle/>
          <a:p>
            <a:pPr algn="ctr"/>
            <a:r>
              <a:rPr sz="750" b="1" i="0" spc="60">
                <a:solidFill>
                  <a:srgbClr val="FFFFFF"/>
                </a:solidFill>
                <a:latin typeface="Arial"/>
              </a:rPr>
              <a:t>PRIMARY</a:t>
            </a:r>
          </a:p>
        </p:txBody>
      </p:sp>
      <p:sp>
        <p:nvSpPr>
          <p:cNvPr id="28" name="Rounded Rectangle 27"/>
          <p:cNvSpPr/>
          <p:nvPr/>
        </p:nvSpPr>
        <p:spPr>
          <a:xfrm>
            <a:off x="6248400" y="3225800"/>
            <a:ext cx="5334000" cy="1397000"/>
          </a:xfrm>
          <a:prstGeom prst="roundRect">
            <a:avLst>
              <a:gd name="adj" fmla="val 9090"/>
            </a:avLst>
          </a:prstGeom>
          <a:gradFill rotWithShape="1">
            <a:gsLst>
              <a:gs pos="0">
                <a:srgbClr val="11181C"/>
              </a:gs>
              <a:gs pos="100000">
                <a:srgbClr val="23343C"/>
              </a:gs>
            </a:gsLst>
            <a:lin scaled="0" ang="18900000"/>
          </a:gradFill>
          <a:ln>
            <a:noFill/>
          </a:ln>
          <a:effectLst/>
        </p:spPr>
        <p:txBody>
          <a:bodyPr rtlCol="0" anchor="ctr"/>
          <a:lstStyle/>
          <a:p>
            <a:pPr algn="ctr"/>
          </a:p>
        </p:txBody>
      </p:sp>
      <p:sp>
        <p:nvSpPr>
          <p:cNvPr id="29" name="TextBox 28"/>
          <p:cNvSpPr txBox="1"/>
          <p:nvPr/>
        </p:nvSpPr>
        <p:spPr>
          <a:xfrm>
            <a:off x="6502400" y="3429000"/>
            <a:ext cx="3810000" cy="152400"/>
          </a:xfrm>
          <a:prstGeom prst="rect">
            <a:avLst/>
          </a:prstGeom>
          <a:noFill/>
        </p:spPr>
        <p:txBody>
          <a:bodyPr wrap="square" lIns="0" rIns="0" tIns="0" bIns="0" anchor="t">
            <a:spAutoFit/>
          </a:bodyPr>
          <a:lstStyle/>
          <a:p>
            <a:pPr algn="l"/>
            <a:r>
              <a:rPr sz="850" b="1" i="0" spc="150">
                <a:solidFill>
                  <a:srgbClr val="889096"/>
                </a:solidFill>
                <a:latin typeface="Arial"/>
              </a:rPr>
              <a:t>DARK · COVER, DIVIDERS, CLOSING</a:t>
            </a:r>
          </a:p>
        </p:txBody>
      </p:sp>
      <p:sp>
        <p:nvSpPr>
          <p:cNvPr id="30" name="TextBox 29"/>
          <p:cNvSpPr txBox="1"/>
          <p:nvPr/>
        </p:nvSpPr>
        <p:spPr>
          <a:xfrm>
            <a:off x="6502400" y="3632200"/>
            <a:ext cx="4826000" cy="330200"/>
          </a:xfrm>
          <a:prstGeom prst="rect">
            <a:avLst/>
          </a:prstGeom>
          <a:noFill/>
        </p:spPr>
        <p:txBody>
          <a:bodyPr wrap="square" lIns="0" rIns="0" tIns="0" bIns="0" anchor="t">
            <a:spAutoFit/>
          </a:bodyPr>
          <a:lstStyle/>
          <a:p>
            <a:pPr algn="l"/>
            <a:r>
              <a:rPr sz="1700" b="0" i="0">
                <a:solidFill>
                  <a:srgbClr val="FFFFFF"/>
                </a:solidFill>
                <a:latin typeface="Georgia"/>
              </a:rPr>
              <a:t>Use dark </a:t>
            </a:r>
            <a:r>
              <a:rPr sz="1700" b="0" i="1">
                <a:solidFill>
                  <a:srgbClr val="FFFFFF"/>
                </a:solidFill>
                <a:latin typeface="Georgia"/>
              </a:rPr>
              <a:t>rarely</a:t>
            </a:r>
            <a:r>
              <a:rPr sz="1700" b="0" i="0">
                <a:solidFill>
                  <a:srgbClr val="FFFFFF"/>
                </a:solidFill>
                <a:latin typeface="Georgia"/>
              </a:rPr>
              <a:t>.</a:t>
            </a:r>
          </a:p>
        </p:txBody>
      </p:sp>
      <p:sp>
        <p:nvSpPr>
          <p:cNvPr id="31" name="TextBox 30"/>
          <p:cNvSpPr txBox="1"/>
          <p:nvPr/>
        </p:nvSpPr>
        <p:spPr>
          <a:xfrm>
            <a:off x="6502400" y="3987800"/>
            <a:ext cx="4826000" cy="254000"/>
          </a:xfrm>
          <a:prstGeom prst="rect">
            <a:avLst/>
          </a:prstGeom>
          <a:noFill/>
        </p:spPr>
        <p:txBody>
          <a:bodyPr wrap="square" lIns="0" rIns="0" tIns="0" bIns="0" anchor="t">
            <a:spAutoFit/>
          </a:bodyPr>
          <a:lstStyle/>
          <a:p>
            <a:pPr algn="l"/>
            <a:r>
              <a:rPr sz="900" b="0" i="0">
                <a:solidFill>
                  <a:srgbClr val="C1C8CD"/>
                </a:solidFill>
                <a:latin typeface="Arial"/>
              </a:rPr>
              <a:t>Slate 15 → #23343C gradient, white headline, Slate 8 body.</a:t>
            </a:r>
          </a:p>
        </p:txBody>
      </p:sp>
      <p:sp>
        <p:nvSpPr>
          <p:cNvPr id="32" name="Rounded Rectangle 31"/>
          <p:cNvSpPr/>
          <p:nvPr/>
        </p:nvSpPr>
        <p:spPr>
          <a:xfrm>
            <a:off x="6502400" y="4241800"/>
            <a:ext cx="889000" cy="304800"/>
          </a:xfrm>
          <a:prstGeom prst="roundRect">
            <a:avLst>
              <a:gd name="adj" fmla="val 12500"/>
            </a:avLst>
          </a:prstGeom>
          <a:noFill/>
          <a:ln w="12700">
            <a:solidFill>
              <a:srgbClr val="22C96A"/>
            </a:solidFill>
          </a:ln>
          <a:effectLst/>
        </p:spPr>
        <p:txBody>
          <a:bodyPr rtlCol="0" anchor="ctr"/>
          <a:lstStyle/>
          <a:p>
            <a:pPr algn="ctr"/>
          </a:p>
        </p:txBody>
      </p:sp>
      <p:sp>
        <p:nvSpPr>
          <p:cNvPr id="33" name="TextBox 32"/>
          <p:cNvSpPr txBox="1"/>
          <p:nvPr/>
        </p:nvSpPr>
        <p:spPr>
          <a:xfrm>
            <a:off x="6502400" y="4241800"/>
            <a:ext cx="889000" cy="304800"/>
          </a:xfrm>
          <a:prstGeom prst="rect">
            <a:avLst/>
          </a:prstGeom>
          <a:noFill/>
        </p:spPr>
        <p:txBody>
          <a:bodyPr wrap="square" lIns="0" rIns="0" tIns="0" bIns="0" anchor="ctr">
            <a:spAutoFit/>
          </a:bodyPr>
          <a:lstStyle/>
          <a:p>
            <a:pPr algn="ctr"/>
            <a:r>
              <a:rPr sz="750" b="1" i="0" spc="60">
                <a:solidFill>
                  <a:srgbClr val="22C96A"/>
                </a:solidFill>
                <a:latin typeface="Arial"/>
              </a:rPr>
              <a:t>OUTLINE</a:t>
            </a:r>
          </a:p>
        </p:txBody>
      </p:sp>
      <p:sp>
        <p:nvSpPr>
          <p:cNvPr id="34" name="TextBox 33"/>
          <p:cNvSpPr txBox="1"/>
          <p:nvPr/>
        </p:nvSpPr>
        <p:spPr>
          <a:xfrm>
            <a:off x="609600" y="4876800"/>
            <a:ext cx="5080000" cy="152400"/>
          </a:xfrm>
          <a:prstGeom prst="rect">
            <a:avLst/>
          </a:prstGeom>
          <a:noFill/>
        </p:spPr>
        <p:txBody>
          <a:bodyPr wrap="square" lIns="0" rIns="0" tIns="0" bIns="0" anchor="t">
            <a:spAutoFit/>
          </a:bodyPr>
          <a:lstStyle/>
          <a:p>
            <a:pPr algn="l"/>
            <a:r>
              <a:rPr sz="850" b="1" i="0" spc="150">
                <a:solidFill>
                  <a:srgbClr val="697177"/>
                </a:solidFill>
                <a:latin typeface="Arial"/>
              </a:rPr>
              <a:t>DO AND DON'T</a:t>
            </a:r>
          </a:p>
        </p:txBody>
      </p:sp>
      <p:sp>
        <p:nvSpPr>
          <p:cNvPr id="35" name="Rounded Rectangle 34"/>
          <p:cNvSpPr/>
          <p:nvPr/>
        </p:nvSpPr>
        <p:spPr>
          <a:xfrm>
            <a:off x="609600" y="5105400"/>
            <a:ext cx="2590800" cy="1143000"/>
          </a:xfrm>
          <a:prstGeom prst="roundRect">
            <a:avLst>
              <a:gd name="adj" fmla="val 8888"/>
            </a:avLst>
          </a:prstGeom>
          <a:solidFill>
            <a:srgbClr val="E5FFF1"/>
          </a:solidFill>
          <a:ln>
            <a:noFill/>
          </a:ln>
          <a:effectLst/>
        </p:spPr>
        <p:txBody>
          <a:bodyPr rtlCol="0" anchor="ctr"/>
          <a:lstStyle/>
          <a:p>
            <a:pPr algn="ctr"/>
          </a:p>
        </p:txBody>
      </p:sp>
      <p:sp>
        <p:nvSpPr>
          <p:cNvPr id="36" name="TextBox 35"/>
          <p:cNvSpPr txBox="1"/>
          <p:nvPr/>
        </p:nvSpPr>
        <p:spPr>
          <a:xfrm>
            <a:off x="787400" y="5257800"/>
            <a:ext cx="2286000" cy="152400"/>
          </a:xfrm>
          <a:prstGeom prst="rect">
            <a:avLst/>
          </a:prstGeom>
          <a:noFill/>
        </p:spPr>
        <p:txBody>
          <a:bodyPr wrap="square" lIns="0" rIns="0" tIns="0" bIns="0" anchor="t">
            <a:spAutoFit/>
          </a:bodyPr>
          <a:lstStyle/>
          <a:p>
            <a:pPr algn="l"/>
            <a:r>
              <a:rPr sz="800" b="1" i="0" spc="100">
                <a:solidFill>
                  <a:srgbClr val="076932"/>
                </a:solidFill>
                <a:latin typeface="Arial"/>
              </a:rPr>
              <a:t>DO</a:t>
            </a:r>
          </a:p>
        </p:txBody>
      </p:sp>
      <p:sp>
        <p:nvSpPr>
          <p:cNvPr id="37" name="TextBox 36"/>
          <p:cNvSpPr txBox="1"/>
          <p:nvPr/>
        </p:nvSpPr>
        <p:spPr>
          <a:xfrm>
            <a:off x="787400" y="5486400"/>
            <a:ext cx="2235200" cy="685800"/>
          </a:xfrm>
          <a:prstGeom prst="rect">
            <a:avLst/>
          </a:prstGeom>
          <a:noFill/>
        </p:spPr>
        <p:txBody>
          <a:bodyPr wrap="square" lIns="0" rIns="0" tIns="0" bIns="0" anchor="t">
            <a:spAutoFit/>
          </a:bodyPr>
          <a:lstStyle/>
          <a:p>
            <a:pPr algn="l">
              <a:lnSpc>
                <a:spcPct val="120000"/>
              </a:lnSpc>
            </a:pPr>
            <a:r>
              <a:rPr sz="1050" b="0" i="0">
                <a:solidFill>
                  <a:srgbClr val="11181C"/>
                </a:solidFill>
                <a:latin typeface="Georgia"/>
              </a:rPr>
              <a:t>Green only on the action or the focus</a:t>
            </a:r>
          </a:p>
        </p:txBody>
      </p:sp>
      <p:sp>
        <p:nvSpPr>
          <p:cNvPr id="38" name="Rounded Rectangle 37"/>
          <p:cNvSpPr/>
          <p:nvPr/>
        </p:nvSpPr>
        <p:spPr>
          <a:xfrm>
            <a:off x="3352800" y="5105400"/>
            <a:ext cx="2590800" cy="1143000"/>
          </a:xfrm>
          <a:prstGeom prst="roundRect">
            <a:avLst>
              <a:gd name="adj" fmla="val 8888"/>
            </a:avLst>
          </a:prstGeom>
          <a:solidFill>
            <a:srgbClr val="FFF7F7"/>
          </a:solidFill>
          <a:ln>
            <a:noFill/>
          </a:ln>
          <a:effectLst/>
        </p:spPr>
        <p:txBody>
          <a:bodyPr rtlCol="0" anchor="ctr"/>
          <a:lstStyle/>
          <a:p>
            <a:pPr algn="ctr"/>
          </a:p>
        </p:txBody>
      </p:sp>
      <p:sp>
        <p:nvSpPr>
          <p:cNvPr id="39" name="TextBox 38"/>
          <p:cNvSpPr txBox="1"/>
          <p:nvPr/>
        </p:nvSpPr>
        <p:spPr>
          <a:xfrm>
            <a:off x="3530600" y="5257800"/>
            <a:ext cx="2286000" cy="152400"/>
          </a:xfrm>
          <a:prstGeom prst="rect">
            <a:avLst/>
          </a:prstGeom>
          <a:noFill/>
        </p:spPr>
        <p:txBody>
          <a:bodyPr wrap="square" lIns="0" rIns="0" tIns="0" bIns="0" anchor="t">
            <a:spAutoFit/>
          </a:bodyPr>
          <a:lstStyle/>
          <a:p>
            <a:pPr algn="l"/>
            <a:r>
              <a:rPr sz="800" b="1" i="0" spc="100">
                <a:solidFill>
                  <a:srgbClr val="E5484D"/>
                </a:solidFill>
                <a:latin typeface="Arial"/>
              </a:rPr>
              <a:t>DON'T</a:t>
            </a:r>
          </a:p>
        </p:txBody>
      </p:sp>
      <p:sp>
        <p:nvSpPr>
          <p:cNvPr id="40" name="TextBox 39"/>
          <p:cNvSpPr txBox="1"/>
          <p:nvPr/>
        </p:nvSpPr>
        <p:spPr>
          <a:xfrm>
            <a:off x="3530600" y="5486400"/>
            <a:ext cx="2235200" cy="685800"/>
          </a:xfrm>
          <a:prstGeom prst="rect">
            <a:avLst/>
          </a:prstGeom>
          <a:noFill/>
        </p:spPr>
        <p:txBody>
          <a:bodyPr wrap="square" lIns="0" rIns="0" tIns="0" bIns="0" anchor="t">
            <a:spAutoFit/>
          </a:bodyPr>
          <a:lstStyle/>
          <a:p>
            <a:pPr algn="l">
              <a:lnSpc>
                <a:spcPct val="120000"/>
              </a:lnSpc>
            </a:pPr>
            <a:r>
              <a:rPr sz="1050" b="0" i="0">
                <a:solidFill>
                  <a:srgbClr val="11181C"/>
                </a:solidFill>
                <a:latin typeface="Georgia"/>
              </a:rPr>
              <a:t>Green headlines, green boxes, green everything</a:t>
            </a:r>
          </a:p>
        </p:txBody>
      </p:sp>
      <p:sp>
        <p:nvSpPr>
          <p:cNvPr id="41" name="Rounded Rectangle 40"/>
          <p:cNvSpPr/>
          <p:nvPr/>
        </p:nvSpPr>
        <p:spPr>
          <a:xfrm>
            <a:off x="6096000" y="5105400"/>
            <a:ext cx="2590800" cy="1143000"/>
          </a:xfrm>
          <a:prstGeom prst="roundRect">
            <a:avLst>
              <a:gd name="adj" fmla="val 8888"/>
            </a:avLst>
          </a:prstGeom>
          <a:solidFill>
            <a:srgbClr val="E5FFF1"/>
          </a:solidFill>
          <a:ln>
            <a:noFill/>
          </a:ln>
          <a:effectLst/>
        </p:spPr>
        <p:txBody>
          <a:bodyPr rtlCol="0" anchor="ctr"/>
          <a:lstStyle/>
          <a:p>
            <a:pPr algn="ctr"/>
          </a:p>
        </p:txBody>
      </p:sp>
      <p:sp>
        <p:nvSpPr>
          <p:cNvPr id="42" name="TextBox 41"/>
          <p:cNvSpPr txBox="1"/>
          <p:nvPr/>
        </p:nvSpPr>
        <p:spPr>
          <a:xfrm>
            <a:off x="6273800" y="5257800"/>
            <a:ext cx="2286000" cy="152400"/>
          </a:xfrm>
          <a:prstGeom prst="rect">
            <a:avLst/>
          </a:prstGeom>
          <a:noFill/>
        </p:spPr>
        <p:txBody>
          <a:bodyPr wrap="square" lIns="0" rIns="0" tIns="0" bIns="0" anchor="t">
            <a:spAutoFit/>
          </a:bodyPr>
          <a:lstStyle/>
          <a:p>
            <a:pPr algn="l"/>
            <a:r>
              <a:rPr sz="800" b="1" i="0" spc="100">
                <a:solidFill>
                  <a:srgbClr val="076932"/>
                </a:solidFill>
                <a:latin typeface="Arial"/>
              </a:rPr>
              <a:t>DO</a:t>
            </a:r>
          </a:p>
        </p:txBody>
      </p:sp>
      <p:sp>
        <p:nvSpPr>
          <p:cNvPr id="43" name="TextBox 42"/>
          <p:cNvSpPr txBox="1"/>
          <p:nvPr/>
        </p:nvSpPr>
        <p:spPr>
          <a:xfrm>
            <a:off x="6273800" y="5486400"/>
            <a:ext cx="2235200" cy="685800"/>
          </a:xfrm>
          <a:prstGeom prst="rect">
            <a:avLst/>
          </a:prstGeom>
          <a:noFill/>
        </p:spPr>
        <p:txBody>
          <a:bodyPr wrap="square" lIns="0" rIns="0" tIns="0" bIns="0" anchor="t">
            <a:spAutoFit/>
          </a:bodyPr>
          <a:lstStyle/>
          <a:p>
            <a:pPr algn="l">
              <a:lnSpc>
                <a:spcPct val="120000"/>
              </a:lnSpc>
            </a:pPr>
            <a:r>
              <a:rPr sz="1050" b="0" i="0">
                <a:solidFill>
                  <a:srgbClr val="11181C"/>
                </a:solidFill>
                <a:latin typeface="Georgia"/>
              </a:rPr>
              <a:t>Accents only to mean something (risk, warning)</a:t>
            </a:r>
          </a:p>
        </p:txBody>
      </p:sp>
      <p:sp>
        <p:nvSpPr>
          <p:cNvPr id="44" name="Rounded Rectangle 43"/>
          <p:cNvSpPr/>
          <p:nvPr/>
        </p:nvSpPr>
        <p:spPr>
          <a:xfrm>
            <a:off x="8839200" y="5105400"/>
            <a:ext cx="2590800" cy="1143000"/>
          </a:xfrm>
          <a:prstGeom prst="roundRect">
            <a:avLst>
              <a:gd name="adj" fmla="val 8888"/>
            </a:avLst>
          </a:prstGeom>
          <a:solidFill>
            <a:srgbClr val="FFF7F7"/>
          </a:solidFill>
          <a:ln>
            <a:noFill/>
          </a:ln>
          <a:effectLst/>
        </p:spPr>
        <p:txBody>
          <a:bodyPr rtlCol="0" anchor="ctr"/>
          <a:lstStyle/>
          <a:p>
            <a:pPr algn="ctr"/>
          </a:p>
        </p:txBody>
      </p:sp>
      <p:sp>
        <p:nvSpPr>
          <p:cNvPr id="45" name="TextBox 44"/>
          <p:cNvSpPr txBox="1"/>
          <p:nvPr/>
        </p:nvSpPr>
        <p:spPr>
          <a:xfrm>
            <a:off x="9017000" y="5257800"/>
            <a:ext cx="2286000" cy="152400"/>
          </a:xfrm>
          <a:prstGeom prst="rect">
            <a:avLst/>
          </a:prstGeom>
          <a:noFill/>
        </p:spPr>
        <p:txBody>
          <a:bodyPr wrap="square" lIns="0" rIns="0" tIns="0" bIns="0" anchor="t">
            <a:spAutoFit/>
          </a:bodyPr>
          <a:lstStyle/>
          <a:p>
            <a:pPr algn="l"/>
            <a:r>
              <a:rPr sz="800" b="1" i="0" spc="100">
                <a:solidFill>
                  <a:srgbClr val="E5484D"/>
                </a:solidFill>
                <a:latin typeface="Arial"/>
              </a:rPr>
              <a:t>DON'T</a:t>
            </a:r>
          </a:p>
        </p:txBody>
      </p:sp>
      <p:sp>
        <p:nvSpPr>
          <p:cNvPr id="46" name="TextBox 45"/>
          <p:cNvSpPr txBox="1"/>
          <p:nvPr/>
        </p:nvSpPr>
        <p:spPr>
          <a:xfrm>
            <a:off x="9017000" y="5486400"/>
            <a:ext cx="2235200" cy="685800"/>
          </a:xfrm>
          <a:prstGeom prst="rect">
            <a:avLst/>
          </a:prstGeom>
          <a:noFill/>
        </p:spPr>
        <p:txBody>
          <a:bodyPr wrap="square" lIns="0" rIns="0" tIns="0" bIns="0" anchor="t">
            <a:spAutoFit/>
          </a:bodyPr>
          <a:lstStyle/>
          <a:p>
            <a:pPr algn="l">
              <a:lnSpc>
                <a:spcPct val="120000"/>
              </a:lnSpc>
            </a:pPr>
            <a:r>
              <a:rPr sz="1050" b="0" i="0">
                <a:solidFill>
                  <a:srgbClr val="11181C"/>
                </a:solidFill>
                <a:latin typeface="Georgia"/>
              </a:rPr>
              <a:t>Rainbow categories in one chart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FOUNDATIONS · SPACE, RADIUS, ELEVATION</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A </a:t>
            </a:r>
            <a:r>
              <a:rPr sz="2400" b="0" i="1">
                <a:solidFill>
                  <a:srgbClr val="11181C"/>
                </a:solidFill>
                <a:latin typeface="Georgia"/>
              </a:rPr>
              <a:t>4-point</a:t>
            </a:r>
            <a:r>
              <a:rPr sz="2400" b="0" i="0">
                <a:solidFill>
                  <a:srgbClr val="11181C"/>
                </a:solidFill>
                <a:latin typeface="Georgia"/>
              </a:rPr>
              <a:t> system, soft corners, barely-there shadows.</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10</a:t>
            </a:r>
          </a:p>
        </p:txBody>
      </p:sp>
      <p:sp>
        <p:nvSpPr>
          <p:cNvPr id="11" name="TextBox 10"/>
          <p:cNvSpPr txBox="1"/>
          <p:nvPr/>
        </p:nvSpPr>
        <p:spPr>
          <a:xfrm>
            <a:off x="609600" y="1905000"/>
            <a:ext cx="5080000" cy="152400"/>
          </a:xfrm>
          <a:prstGeom prst="rect">
            <a:avLst/>
          </a:prstGeom>
          <a:noFill/>
        </p:spPr>
        <p:txBody>
          <a:bodyPr wrap="square" lIns="0" rIns="0" tIns="0" bIns="0" anchor="t">
            <a:spAutoFit/>
          </a:bodyPr>
          <a:lstStyle/>
          <a:p>
            <a:pPr algn="l"/>
            <a:r>
              <a:rPr sz="850" b="1" i="0" spc="150">
                <a:solidFill>
                  <a:srgbClr val="697177"/>
                </a:solidFill>
                <a:latin typeface="Arial"/>
              </a:rPr>
              <a:t>SPACING SCALE (BITWISE SPACE-1 … SPACE-15, IN PT)</a:t>
            </a:r>
          </a:p>
        </p:txBody>
      </p:sp>
      <p:sp>
        <p:nvSpPr>
          <p:cNvPr id="12" name="Rectangle 11"/>
          <p:cNvSpPr/>
          <p:nvPr/>
        </p:nvSpPr>
        <p:spPr>
          <a:xfrm>
            <a:off x="609600" y="2712720"/>
            <a:ext cx="55880" cy="55880"/>
          </a:xfrm>
          <a:prstGeom prst="rect">
            <a:avLst/>
          </a:prstGeom>
          <a:solidFill>
            <a:srgbClr val="C1C8CD"/>
          </a:solidFill>
          <a:ln>
            <a:noFill/>
          </a:ln>
          <a:effectLst/>
        </p:spPr>
        <p:txBody>
          <a:bodyPr rtlCol="0" anchor="ctr"/>
          <a:lstStyle/>
          <a:p>
            <a:pPr algn="ctr"/>
          </a:p>
        </p:txBody>
      </p:sp>
      <p:sp>
        <p:nvSpPr>
          <p:cNvPr id="13" name="TextBox 12"/>
          <p:cNvSpPr txBox="1"/>
          <p:nvPr/>
        </p:nvSpPr>
        <p:spPr>
          <a:xfrm>
            <a:off x="609600" y="2819400"/>
            <a:ext cx="1143000" cy="152400"/>
          </a:xfrm>
          <a:prstGeom prst="rect">
            <a:avLst/>
          </a:prstGeom>
          <a:noFill/>
        </p:spPr>
        <p:txBody>
          <a:bodyPr wrap="square" lIns="0" rIns="0" tIns="0" bIns="0" anchor="t">
            <a:spAutoFit/>
          </a:bodyPr>
          <a:lstStyle/>
          <a:p>
            <a:pPr algn="l"/>
            <a:r>
              <a:rPr sz="1000" b="0" i="0">
                <a:solidFill>
                  <a:srgbClr val="11181C"/>
                </a:solidFill>
                <a:latin typeface="Georgia"/>
              </a:rPr>
              <a:t>4 pt</a:t>
            </a:r>
          </a:p>
        </p:txBody>
      </p:sp>
      <p:sp>
        <p:nvSpPr>
          <p:cNvPr id="14" name="TextBox 13"/>
          <p:cNvSpPr txBox="1"/>
          <p:nvPr/>
        </p:nvSpPr>
        <p:spPr>
          <a:xfrm>
            <a:off x="609600" y="2997200"/>
            <a:ext cx="1143000" cy="304800"/>
          </a:xfrm>
          <a:prstGeom prst="rect">
            <a:avLst/>
          </a:prstGeom>
          <a:noFill/>
        </p:spPr>
        <p:txBody>
          <a:bodyPr wrap="square" lIns="0" rIns="0" tIns="0" bIns="0" anchor="t">
            <a:spAutoFit/>
          </a:bodyPr>
          <a:lstStyle/>
          <a:p>
            <a:pPr algn="l">
              <a:lnSpc>
                <a:spcPct val="110000"/>
              </a:lnSpc>
            </a:pPr>
            <a:r>
              <a:rPr sz="800" b="0" i="0">
                <a:solidFill>
                  <a:srgbClr val="697177"/>
                </a:solidFill>
                <a:latin typeface="Arial"/>
              </a:rPr>
              <a:t>inside chip</a:t>
            </a:r>
          </a:p>
        </p:txBody>
      </p:sp>
      <p:sp>
        <p:nvSpPr>
          <p:cNvPr id="15" name="Rectangle 14"/>
          <p:cNvSpPr/>
          <p:nvPr/>
        </p:nvSpPr>
        <p:spPr>
          <a:xfrm>
            <a:off x="1828800" y="2682240"/>
            <a:ext cx="86360" cy="86360"/>
          </a:xfrm>
          <a:prstGeom prst="rect">
            <a:avLst/>
          </a:prstGeom>
          <a:solidFill>
            <a:srgbClr val="C1C8CD"/>
          </a:solidFill>
          <a:ln>
            <a:noFill/>
          </a:ln>
          <a:effectLst/>
        </p:spPr>
        <p:txBody>
          <a:bodyPr rtlCol="0" anchor="ctr"/>
          <a:lstStyle/>
          <a:p>
            <a:pPr algn="ctr"/>
          </a:p>
        </p:txBody>
      </p:sp>
      <p:sp>
        <p:nvSpPr>
          <p:cNvPr id="16" name="TextBox 15"/>
          <p:cNvSpPr txBox="1"/>
          <p:nvPr/>
        </p:nvSpPr>
        <p:spPr>
          <a:xfrm>
            <a:off x="1828800" y="2819400"/>
            <a:ext cx="1143000" cy="152400"/>
          </a:xfrm>
          <a:prstGeom prst="rect">
            <a:avLst/>
          </a:prstGeom>
          <a:noFill/>
        </p:spPr>
        <p:txBody>
          <a:bodyPr wrap="square" lIns="0" rIns="0" tIns="0" bIns="0" anchor="t">
            <a:spAutoFit/>
          </a:bodyPr>
          <a:lstStyle/>
          <a:p>
            <a:pPr algn="l"/>
            <a:r>
              <a:rPr sz="1000" b="0" i="0">
                <a:solidFill>
                  <a:srgbClr val="11181C"/>
                </a:solidFill>
                <a:latin typeface="Georgia"/>
              </a:rPr>
              <a:t>8 pt</a:t>
            </a:r>
          </a:p>
        </p:txBody>
      </p:sp>
      <p:sp>
        <p:nvSpPr>
          <p:cNvPr id="17" name="TextBox 16"/>
          <p:cNvSpPr txBox="1"/>
          <p:nvPr/>
        </p:nvSpPr>
        <p:spPr>
          <a:xfrm>
            <a:off x="1828800" y="2997200"/>
            <a:ext cx="1143000" cy="304800"/>
          </a:xfrm>
          <a:prstGeom prst="rect">
            <a:avLst/>
          </a:prstGeom>
          <a:noFill/>
        </p:spPr>
        <p:txBody>
          <a:bodyPr wrap="square" lIns="0" rIns="0" tIns="0" bIns="0" anchor="t">
            <a:spAutoFit/>
          </a:bodyPr>
          <a:lstStyle/>
          <a:p>
            <a:pPr algn="l">
              <a:lnSpc>
                <a:spcPct val="110000"/>
              </a:lnSpc>
            </a:pPr>
            <a:r>
              <a:rPr sz="800" b="0" i="0">
                <a:solidFill>
                  <a:srgbClr val="697177"/>
                </a:solidFill>
                <a:latin typeface="Arial"/>
              </a:rPr>
              <a:t>icon ↔ text</a:t>
            </a:r>
          </a:p>
        </p:txBody>
      </p:sp>
      <p:sp>
        <p:nvSpPr>
          <p:cNvPr id="18" name="Rectangle 17"/>
          <p:cNvSpPr/>
          <p:nvPr/>
        </p:nvSpPr>
        <p:spPr>
          <a:xfrm>
            <a:off x="3048000" y="2651760"/>
            <a:ext cx="116839" cy="116839"/>
          </a:xfrm>
          <a:prstGeom prst="rect">
            <a:avLst/>
          </a:prstGeom>
          <a:solidFill>
            <a:srgbClr val="C1C8CD"/>
          </a:solidFill>
          <a:ln>
            <a:noFill/>
          </a:ln>
          <a:effectLst/>
        </p:spPr>
        <p:txBody>
          <a:bodyPr rtlCol="0" anchor="ctr"/>
          <a:lstStyle/>
          <a:p>
            <a:pPr algn="ctr"/>
          </a:p>
        </p:txBody>
      </p:sp>
      <p:sp>
        <p:nvSpPr>
          <p:cNvPr id="19" name="TextBox 18"/>
          <p:cNvSpPr txBox="1"/>
          <p:nvPr/>
        </p:nvSpPr>
        <p:spPr>
          <a:xfrm>
            <a:off x="3048000" y="2819400"/>
            <a:ext cx="1143000" cy="152400"/>
          </a:xfrm>
          <a:prstGeom prst="rect">
            <a:avLst/>
          </a:prstGeom>
          <a:noFill/>
        </p:spPr>
        <p:txBody>
          <a:bodyPr wrap="square" lIns="0" rIns="0" tIns="0" bIns="0" anchor="t">
            <a:spAutoFit/>
          </a:bodyPr>
          <a:lstStyle/>
          <a:p>
            <a:pPr algn="l"/>
            <a:r>
              <a:rPr sz="1000" b="0" i="0">
                <a:solidFill>
                  <a:srgbClr val="11181C"/>
                </a:solidFill>
                <a:latin typeface="Georgia"/>
              </a:rPr>
              <a:t>12 pt</a:t>
            </a:r>
          </a:p>
        </p:txBody>
      </p:sp>
      <p:sp>
        <p:nvSpPr>
          <p:cNvPr id="20" name="TextBox 19"/>
          <p:cNvSpPr txBox="1"/>
          <p:nvPr/>
        </p:nvSpPr>
        <p:spPr>
          <a:xfrm>
            <a:off x="3048000" y="2997200"/>
            <a:ext cx="1143000" cy="304800"/>
          </a:xfrm>
          <a:prstGeom prst="rect">
            <a:avLst/>
          </a:prstGeom>
          <a:noFill/>
        </p:spPr>
        <p:txBody>
          <a:bodyPr wrap="square" lIns="0" rIns="0" tIns="0" bIns="0" anchor="t">
            <a:spAutoFit/>
          </a:bodyPr>
          <a:lstStyle/>
          <a:p>
            <a:pPr algn="l">
              <a:lnSpc>
                <a:spcPct val="110000"/>
              </a:lnSpc>
            </a:pPr>
            <a:r>
              <a:rPr sz="800" b="0" i="0">
                <a:solidFill>
                  <a:srgbClr val="697177"/>
                </a:solidFill>
                <a:latin typeface="Arial"/>
              </a:rPr>
              <a:t>gutter</a:t>
            </a:r>
          </a:p>
        </p:txBody>
      </p:sp>
      <p:sp>
        <p:nvSpPr>
          <p:cNvPr id="21" name="Rectangle 20"/>
          <p:cNvSpPr/>
          <p:nvPr/>
        </p:nvSpPr>
        <p:spPr>
          <a:xfrm>
            <a:off x="4267200" y="2621280"/>
            <a:ext cx="147320" cy="147320"/>
          </a:xfrm>
          <a:prstGeom prst="rect">
            <a:avLst/>
          </a:prstGeom>
          <a:solidFill>
            <a:srgbClr val="22C96A"/>
          </a:solidFill>
          <a:ln>
            <a:noFill/>
          </a:ln>
          <a:effectLst/>
        </p:spPr>
        <p:txBody>
          <a:bodyPr rtlCol="0" anchor="ctr"/>
          <a:lstStyle/>
          <a:p>
            <a:pPr algn="ctr"/>
          </a:p>
        </p:txBody>
      </p:sp>
      <p:sp>
        <p:nvSpPr>
          <p:cNvPr id="22" name="TextBox 21"/>
          <p:cNvSpPr txBox="1"/>
          <p:nvPr/>
        </p:nvSpPr>
        <p:spPr>
          <a:xfrm>
            <a:off x="4267200" y="2819400"/>
            <a:ext cx="1143000" cy="152400"/>
          </a:xfrm>
          <a:prstGeom prst="rect">
            <a:avLst/>
          </a:prstGeom>
          <a:noFill/>
        </p:spPr>
        <p:txBody>
          <a:bodyPr wrap="square" lIns="0" rIns="0" tIns="0" bIns="0" anchor="t">
            <a:spAutoFit/>
          </a:bodyPr>
          <a:lstStyle/>
          <a:p>
            <a:pPr algn="l"/>
            <a:r>
              <a:rPr sz="1000" b="0" i="0">
                <a:solidFill>
                  <a:srgbClr val="11181C"/>
                </a:solidFill>
                <a:latin typeface="Georgia"/>
              </a:rPr>
              <a:t>16 pt</a:t>
            </a:r>
          </a:p>
        </p:txBody>
      </p:sp>
      <p:sp>
        <p:nvSpPr>
          <p:cNvPr id="23" name="TextBox 22"/>
          <p:cNvSpPr txBox="1"/>
          <p:nvPr/>
        </p:nvSpPr>
        <p:spPr>
          <a:xfrm>
            <a:off x="4267200" y="2997200"/>
            <a:ext cx="1143000" cy="304800"/>
          </a:xfrm>
          <a:prstGeom prst="rect">
            <a:avLst/>
          </a:prstGeom>
          <a:noFill/>
        </p:spPr>
        <p:txBody>
          <a:bodyPr wrap="square" lIns="0" rIns="0" tIns="0" bIns="0" anchor="t">
            <a:spAutoFit/>
          </a:bodyPr>
          <a:lstStyle/>
          <a:p>
            <a:pPr algn="l">
              <a:lnSpc>
                <a:spcPct val="110000"/>
              </a:lnSpc>
            </a:pPr>
            <a:r>
              <a:rPr sz="800" b="0" i="0">
                <a:solidFill>
                  <a:srgbClr val="697177"/>
                </a:solidFill>
                <a:latin typeface="Arial"/>
              </a:rPr>
              <a:t>card padding</a:t>
            </a:r>
          </a:p>
        </p:txBody>
      </p:sp>
      <p:sp>
        <p:nvSpPr>
          <p:cNvPr id="24" name="Rectangle 23"/>
          <p:cNvSpPr/>
          <p:nvPr/>
        </p:nvSpPr>
        <p:spPr>
          <a:xfrm>
            <a:off x="5486400" y="2560320"/>
            <a:ext cx="208279" cy="208279"/>
          </a:xfrm>
          <a:prstGeom prst="rect">
            <a:avLst/>
          </a:prstGeom>
          <a:solidFill>
            <a:srgbClr val="C1C8CD"/>
          </a:solidFill>
          <a:ln>
            <a:noFill/>
          </a:ln>
          <a:effectLst/>
        </p:spPr>
        <p:txBody>
          <a:bodyPr rtlCol="0" anchor="ctr"/>
          <a:lstStyle/>
          <a:p>
            <a:pPr algn="ctr"/>
          </a:p>
        </p:txBody>
      </p:sp>
      <p:sp>
        <p:nvSpPr>
          <p:cNvPr id="25" name="TextBox 24"/>
          <p:cNvSpPr txBox="1"/>
          <p:nvPr/>
        </p:nvSpPr>
        <p:spPr>
          <a:xfrm>
            <a:off x="5486400" y="2819400"/>
            <a:ext cx="1143000" cy="152400"/>
          </a:xfrm>
          <a:prstGeom prst="rect">
            <a:avLst/>
          </a:prstGeom>
          <a:noFill/>
        </p:spPr>
        <p:txBody>
          <a:bodyPr wrap="square" lIns="0" rIns="0" tIns="0" bIns="0" anchor="t">
            <a:spAutoFit/>
          </a:bodyPr>
          <a:lstStyle/>
          <a:p>
            <a:pPr algn="l"/>
            <a:r>
              <a:rPr sz="1000" b="0" i="0">
                <a:solidFill>
                  <a:srgbClr val="11181C"/>
                </a:solidFill>
                <a:latin typeface="Georgia"/>
              </a:rPr>
              <a:t>24 pt</a:t>
            </a:r>
          </a:p>
        </p:txBody>
      </p:sp>
      <p:sp>
        <p:nvSpPr>
          <p:cNvPr id="26" name="TextBox 25"/>
          <p:cNvSpPr txBox="1"/>
          <p:nvPr/>
        </p:nvSpPr>
        <p:spPr>
          <a:xfrm>
            <a:off x="5486400" y="2997200"/>
            <a:ext cx="1143000" cy="304800"/>
          </a:xfrm>
          <a:prstGeom prst="rect">
            <a:avLst/>
          </a:prstGeom>
          <a:noFill/>
        </p:spPr>
        <p:txBody>
          <a:bodyPr wrap="square" lIns="0" rIns="0" tIns="0" bIns="0" anchor="t">
            <a:spAutoFit/>
          </a:bodyPr>
          <a:lstStyle/>
          <a:p>
            <a:pPr algn="l">
              <a:lnSpc>
                <a:spcPct val="110000"/>
              </a:lnSpc>
            </a:pPr>
            <a:r>
              <a:rPr sz="800" b="0" i="0">
                <a:solidFill>
                  <a:srgbClr val="697177"/>
                </a:solidFill>
                <a:latin typeface="Arial"/>
              </a:rPr>
              <a:t>block gap</a:t>
            </a:r>
          </a:p>
        </p:txBody>
      </p:sp>
      <p:sp>
        <p:nvSpPr>
          <p:cNvPr id="27" name="Rectangle 26"/>
          <p:cNvSpPr/>
          <p:nvPr/>
        </p:nvSpPr>
        <p:spPr>
          <a:xfrm>
            <a:off x="6705600" y="2499360"/>
            <a:ext cx="269240" cy="269240"/>
          </a:xfrm>
          <a:prstGeom prst="rect">
            <a:avLst/>
          </a:prstGeom>
          <a:solidFill>
            <a:srgbClr val="C1C8CD"/>
          </a:solidFill>
          <a:ln>
            <a:noFill/>
          </a:ln>
          <a:effectLst/>
        </p:spPr>
        <p:txBody>
          <a:bodyPr rtlCol="0" anchor="ctr"/>
          <a:lstStyle/>
          <a:p>
            <a:pPr algn="ctr"/>
          </a:p>
        </p:txBody>
      </p:sp>
      <p:sp>
        <p:nvSpPr>
          <p:cNvPr id="28" name="TextBox 27"/>
          <p:cNvSpPr txBox="1"/>
          <p:nvPr/>
        </p:nvSpPr>
        <p:spPr>
          <a:xfrm>
            <a:off x="6705600" y="2819400"/>
            <a:ext cx="1143000" cy="152400"/>
          </a:xfrm>
          <a:prstGeom prst="rect">
            <a:avLst/>
          </a:prstGeom>
          <a:noFill/>
        </p:spPr>
        <p:txBody>
          <a:bodyPr wrap="square" lIns="0" rIns="0" tIns="0" bIns="0" anchor="t">
            <a:spAutoFit/>
          </a:bodyPr>
          <a:lstStyle/>
          <a:p>
            <a:pPr algn="l"/>
            <a:r>
              <a:rPr sz="1000" b="0" i="0">
                <a:solidFill>
                  <a:srgbClr val="11181C"/>
                </a:solidFill>
                <a:latin typeface="Georgia"/>
              </a:rPr>
              <a:t>32 pt</a:t>
            </a:r>
          </a:p>
        </p:txBody>
      </p:sp>
      <p:sp>
        <p:nvSpPr>
          <p:cNvPr id="29" name="TextBox 28"/>
          <p:cNvSpPr txBox="1"/>
          <p:nvPr/>
        </p:nvSpPr>
        <p:spPr>
          <a:xfrm>
            <a:off x="6705600" y="2997200"/>
            <a:ext cx="1143000" cy="304800"/>
          </a:xfrm>
          <a:prstGeom prst="rect">
            <a:avLst/>
          </a:prstGeom>
          <a:noFill/>
        </p:spPr>
        <p:txBody>
          <a:bodyPr wrap="square" lIns="0" rIns="0" tIns="0" bIns="0" anchor="t">
            <a:spAutoFit/>
          </a:bodyPr>
          <a:lstStyle/>
          <a:p>
            <a:pPr algn="l">
              <a:lnSpc>
                <a:spcPct val="110000"/>
              </a:lnSpc>
            </a:pPr>
            <a:r>
              <a:rPr sz="800" b="0" i="0">
                <a:solidFill>
                  <a:srgbClr val="697177"/>
                </a:solidFill>
                <a:latin typeface="Arial"/>
              </a:rPr>
              <a:t>title ↔ body</a:t>
            </a:r>
          </a:p>
        </p:txBody>
      </p:sp>
      <p:sp>
        <p:nvSpPr>
          <p:cNvPr id="30" name="Rectangle 29"/>
          <p:cNvSpPr/>
          <p:nvPr/>
        </p:nvSpPr>
        <p:spPr>
          <a:xfrm>
            <a:off x="7924800" y="2377440"/>
            <a:ext cx="391159" cy="391159"/>
          </a:xfrm>
          <a:prstGeom prst="rect">
            <a:avLst/>
          </a:prstGeom>
          <a:solidFill>
            <a:srgbClr val="22C96A"/>
          </a:solidFill>
          <a:ln>
            <a:noFill/>
          </a:ln>
          <a:effectLst/>
        </p:spPr>
        <p:txBody>
          <a:bodyPr rtlCol="0" anchor="ctr"/>
          <a:lstStyle/>
          <a:p>
            <a:pPr algn="ctr"/>
          </a:p>
        </p:txBody>
      </p:sp>
      <p:sp>
        <p:nvSpPr>
          <p:cNvPr id="31" name="TextBox 30"/>
          <p:cNvSpPr txBox="1"/>
          <p:nvPr/>
        </p:nvSpPr>
        <p:spPr>
          <a:xfrm>
            <a:off x="7924800" y="2819400"/>
            <a:ext cx="1143000" cy="152400"/>
          </a:xfrm>
          <a:prstGeom prst="rect">
            <a:avLst/>
          </a:prstGeom>
          <a:noFill/>
        </p:spPr>
        <p:txBody>
          <a:bodyPr wrap="square" lIns="0" rIns="0" tIns="0" bIns="0" anchor="t">
            <a:spAutoFit/>
          </a:bodyPr>
          <a:lstStyle/>
          <a:p>
            <a:pPr algn="l"/>
            <a:r>
              <a:rPr sz="1000" b="0" i="0">
                <a:solidFill>
                  <a:srgbClr val="11181C"/>
                </a:solidFill>
                <a:latin typeface="Georgia"/>
              </a:rPr>
              <a:t>48 pt</a:t>
            </a:r>
          </a:p>
        </p:txBody>
      </p:sp>
      <p:sp>
        <p:nvSpPr>
          <p:cNvPr id="32" name="TextBox 31"/>
          <p:cNvSpPr txBox="1"/>
          <p:nvPr/>
        </p:nvSpPr>
        <p:spPr>
          <a:xfrm>
            <a:off x="7924800" y="2997200"/>
            <a:ext cx="1143000" cy="304800"/>
          </a:xfrm>
          <a:prstGeom prst="rect">
            <a:avLst/>
          </a:prstGeom>
          <a:noFill/>
        </p:spPr>
        <p:txBody>
          <a:bodyPr wrap="square" lIns="0" rIns="0" tIns="0" bIns="0" anchor="t">
            <a:spAutoFit/>
          </a:bodyPr>
          <a:lstStyle/>
          <a:p>
            <a:pPr algn="l">
              <a:lnSpc>
                <a:spcPct val="110000"/>
              </a:lnSpc>
            </a:pPr>
            <a:r>
              <a:rPr sz="800" b="0" i="0">
                <a:solidFill>
                  <a:srgbClr val="697177"/>
                </a:solidFill>
                <a:latin typeface="Arial"/>
              </a:rPr>
              <a:t>section gap</a:t>
            </a:r>
          </a:p>
        </p:txBody>
      </p:sp>
      <p:sp>
        <p:nvSpPr>
          <p:cNvPr id="33" name="Rectangle 32"/>
          <p:cNvSpPr/>
          <p:nvPr/>
        </p:nvSpPr>
        <p:spPr>
          <a:xfrm>
            <a:off x="9144000" y="2255520"/>
            <a:ext cx="513080" cy="513080"/>
          </a:xfrm>
          <a:prstGeom prst="rect">
            <a:avLst/>
          </a:prstGeom>
          <a:solidFill>
            <a:srgbClr val="C1C8CD"/>
          </a:solidFill>
          <a:ln>
            <a:noFill/>
          </a:ln>
          <a:effectLst/>
        </p:spPr>
        <p:txBody>
          <a:bodyPr rtlCol="0" anchor="ctr"/>
          <a:lstStyle/>
          <a:p>
            <a:pPr algn="ctr"/>
          </a:p>
        </p:txBody>
      </p:sp>
      <p:sp>
        <p:nvSpPr>
          <p:cNvPr id="34" name="TextBox 33"/>
          <p:cNvSpPr txBox="1"/>
          <p:nvPr/>
        </p:nvSpPr>
        <p:spPr>
          <a:xfrm>
            <a:off x="9144000" y="2819400"/>
            <a:ext cx="1143000" cy="152400"/>
          </a:xfrm>
          <a:prstGeom prst="rect">
            <a:avLst/>
          </a:prstGeom>
          <a:noFill/>
        </p:spPr>
        <p:txBody>
          <a:bodyPr wrap="square" lIns="0" rIns="0" tIns="0" bIns="0" anchor="t">
            <a:spAutoFit/>
          </a:bodyPr>
          <a:lstStyle/>
          <a:p>
            <a:pPr algn="l"/>
            <a:r>
              <a:rPr sz="1000" b="0" i="0">
                <a:solidFill>
                  <a:srgbClr val="11181C"/>
                </a:solidFill>
                <a:latin typeface="Georgia"/>
              </a:rPr>
              <a:t>64 pt</a:t>
            </a:r>
          </a:p>
        </p:txBody>
      </p:sp>
      <p:sp>
        <p:nvSpPr>
          <p:cNvPr id="35" name="TextBox 34"/>
          <p:cNvSpPr txBox="1"/>
          <p:nvPr/>
        </p:nvSpPr>
        <p:spPr>
          <a:xfrm>
            <a:off x="9144000" y="2997200"/>
            <a:ext cx="1143000" cy="304800"/>
          </a:xfrm>
          <a:prstGeom prst="rect">
            <a:avLst/>
          </a:prstGeom>
          <a:noFill/>
        </p:spPr>
        <p:txBody>
          <a:bodyPr wrap="square" lIns="0" rIns="0" tIns="0" bIns="0" anchor="t">
            <a:spAutoFit/>
          </a:bodyPr>
          <a:lstStyle/>
          <a:p>
            <a:pPr algn="l">
              <a:lnSpc>
                <a:spcPct val="110000"/>
              </a:lnSpc>
            </a:pPr>
            <a:r>
              <a:rPr sz="800" b="0" i="0">
                <a:solidFill>
                  <a:srgbClr val="697177"/>
                </a:solidFill>
                <a:latin typeface="Arial"/>
              </a:rPr>
              <a:t>slide margin top</a:t>
            </a:r>
          </a:p>
        </p:txBody>
      </p:sp>
      <p:sp>
        <p:nvSpPr>
          <p:cNvPr id="36" name="Rectangle 35"/>
          <p:cNvSpPr/>
          <p:nvPr/>
        </p:nvSpPr>
        <p:spPr>
          <a:xfrm>
            <a:off x="10363200" y="2133600"/>
            <a:ext cx="635000" cy="635000"/>
          </a:xfrm>
          <a:prstGeom prst="rect">
            <a:avLst/>
          </a:prstGeom>
          <a:solidFill>
            <a:srgbClr val="C1C8CD"/>
          </a:solidFill>
          <a:ln>
            <a:noFill/>
          </a:ln>
          <a:effectLst/>
        </p:spPr>
        <p:txBody>
          <a:bodyPr rtlCol="0" anchor="ctr"/>
          <a:lstStyle/>
          <a:p>
            <a:pPr algn="ctr"/>
          </a:p>
        </p:txBody>
      </p:sp>
      <p:sp>
        <p:nvSpPr>
          <p:cNvPr id="37" name="TextBox 36"/>
          <p:cNvSpPr txBox="1"/>
          <p:nvPr/>
        </p:nvSpPr>
        <p:spPr>
          <a:xfrm>
            <a:off x="10363200" y="2819400"/>
            <a:ext cx="1143000" cy="152400"/>
          </a:xfrm>
          <a:prstGeom prst="rect">
            <a:avLst/>
          </a:prstGeom>
          <a:noFill/>
        </p:spPr>
        <p:txBody>
          <a:bodyPr wrap="square" lIns="0" rIns="0" tIns="0" bIns="0" anchor="t">
            <a:spAutoFit/>
          </a:bodyPr>
          <a:lstStyle/>
          <a:p>
            <a:pPr algn="l"/>
            <a:r>
              <a:rPr sz="1000" b="0" i="0">
                <a:solidFill>
                  <a:srgbClr val="11181C"/>
                </a:solidFill>
                <a:latin typeface="Georgia"/>
              </a:rPr>
              <a:t>80 pt</a:t>
            </a:r>
          </a:p>
        </p:txBody>
      </p:sp>
      <p:sp>
        <p:nvSpPr>
          <p:cNvPr id="38" name="TextBox 37"/>
          <p:cNvSpPr txBox="1"/>
          <p:nvPr/>
        </p:nvSpPr>
        <p:spPr>
          <a:xfrm>
            <a:off x="10363200" y="2997200"/>
            <a:ext cx="1143000" cy="304800"/>
          </a:xfrm>
          <a:prstGeom prst="rect">
            <a:avLst/>
          </a:prstGeom>
          <a:noFill/>
        </p:spPr>
        <p:txBody>
          <a:bodyPr wrap="square" lIns="0" rIns="0" tIns="0" bIns="0" anchor="t">
            <a:spAutoFit/>
          </a:bodyPr>
          <a:lstStyle/>
          <a:p>
            <a:pPr algn="l">
              <a:lnSpc>
                <a:spcPct val="110000"/>
              </a:lnSpc>
            </a:pPr>
            <a:r>
              <a:rPr sz="800" b="0" i="0">
                <a:solidFill>
                  <a:srgbClr val="697177"/>
                </a:solidFill>
                <a:latin typeface="Arial"/>
              </a:rPr>
              <a:t>hero padding</a:t>
            </a:r>
          </a:p>
        </p:txBody>
      </p:sp>
      <p:sp>
        <p:nvSpPr>
          <p:cNvPr id="39" name="TextBox 38"/>
          <p:cNvSpPr txBox="1"/>
          <p:nvPr/>
        </p:nvSpPr>
        <p:spPr>
          <a:xfrm>
            <a:off x="609600" y="3556000"/>
            <a:ext cx="5080000" cy="152400"/>
          </a:xfrm>
          <a:prstGeom prst="rect">
            <a:avLst/>
          </a:prstGeom>
          <a:noFill/>
        </p:spPr>
        <p:txBody>
          <a:bodyPr wrap="square" lIns="0" rIns="0" tIns="0" bIns="0" anchor="t">
            <a:spAutoFit/>
          </a:bodyPr>
          <a:lstStyle/>
          <a:p>
            <a:pPr algn="l"/>
            <a:r>
              <a:rPr sz="850" b="1" i="0" spc="150">
                <a:solidFill>
                  <a:srgbClr val="697177"/>
                </a:solidFill>
                <a:latin typeface="Arial"/>
              </a:rPr>
              <a:t>CORNER RADIUS</a:t>
            </a:r>
          </a:p>
        </p:txBody>
      </p:sp>
      <p:sp>
        <p:nvSpPr>
          <p:cNvPr id="40" name="Rectangle 39"/>
          <p:cNvSpPr/>
          <p:nvPr/>
        </p:nvSpPr>
        <p:spPr>
          <a:xfrm>
            <a:off x="609600" y="3784600"/>
            <a:ext cx="1524000" cy="812800"/>
          </a:xfrm>
          <a:prstGeom prst="rect">
            <a:avLst/>
          </a:prstGeom>
          <a:solidFill>
            <a:srgbClr val="F9FAFB"/>
          </a:solidFill>
          <a:ln w="9525">
            <a:solidFill>
              <a:srgbClr val="E0E3E6"/>
            </a:solidFill>
          </a:ln>
          <a:effectLst/>
        </p:spPr>
        <p:txBody>
          <a:bodyPr rtlCol="0" anchor="ctr"/>
          <a:lstStyle/>
          <a:p>
            <a:pPr algn="ctr"/>
          </a:p>
        </p:txBody>
      </p:sp>
      <p:sp>
        <p:nvSpPr>
          <p:cNvPr id="41" name="TextBox 40"/>
          <p:cNvSpPr txBox="1"/>
          <p:nvPr/>
        </p:nvSpPr>
        <p:spPr>
          <a:xfrm>
            <a:off x="609600" y="4673600"/>
            <a:ext cx="2032000" cy="304800"/>
          </a:xfrm>
          <a:prstGeom prst="rect">
            <a:avLst/>
          </a:prstGeom>
          <a:noFill/>
        </p:spPr>
        <p:txBody>
          <a:bodyPr wrap="square" lIns="0" rIns="0" tIns="0" bIns="0" anchor="t">
            <a:spAutoFit/>
          </a:bodyPr>
          <a:lstStyle/>
          <a:p>
            <a:pPr algn="l"/>
            <a:r>
              <a:rPr sz="850" b="0" i="0">
                <a:solidFill>
                  <a:srgbClr val="4D555C"/>
                </a:solidFill>
                <a:latin typeface="Arial"/>
              </a:rPr>
              <a:t>0 · tables, photos in grids</a:t>
            </a:r>
          </a:p>
        </p:txBody>
      </p:sp>
      <p:sp>
        <p:nvSpPr>
          <p:cNvPr id="42" name="Rounded Rectangle 41"/>
          <p:cNvSpPr/>
          <p:nvPr/>
        </p:nvSpPr>
        <p:spPr>
          <a:xfrm>
            <a:off x="2819400" y="3784600"/>
            <a:ext cx="1524000" cy="812800"/>
          </a:xfrm>
          <a:prstGeom prst="roundRect">
            <a:avLst>
              <a:gd name="adj" fmla="val 4687"/>
            </a:avLst>
          </a:prstGeom>
          <a:solidFill>
            <a:srgbClr val="F9FAFB"/>
          </a:solidFill>
          <a:ln w="9525">
            <a:solidFill>
              <a:srgbClr val="E0E3E6"/>
            </a:solidFill>
          </a:ln>
          <a:effectLst/>
        </p:spPr>
        <p:txBody>
          <a:bodyPr rtlCol="0" anchor="ctr"/>
          <a:lstStyle/>
          <a:p>
            <a:pPr algn="ctr"/>
          </a:p>
        </p:txBody>
      </p:sp>
      <p:sp>
        <p:nvSpPr>
          <p:cNvPr id="43" name="TextBox 42"/>
          <p:cNvSpPr txBox="1"/>
          <p:nvPr/>
        </p:nvSpPr>
        <p:spPr>
          <a:xfrm>
            <a:off x="2819400" y="4673600"/>
            <a:ext cx="2032000" cy="304800"/>
          </a:xfrm>
          <a:prstGeom prst="rect">
            <a:avLst/>
          </a:prstGeom>
          <a:noFill/>
        </p:spPr>
        <p:txBody>
          <a:bodyPr wrap="square" lIns="0" rIns="0" tIns="0" bIns="0" anchor="t">
            <a:spAutoFit/>
          </a:bodyPr>
          <a:lstStyle/>
          <a:p>
            <a:pPr algn="l"/>
            <a:r>
              <a:rPr sz="850" b="0" i="0">
                <a:solidFill>
                  <a:srgbClr val="4D555C"/>
                </a:solidFill>
                <a:latin typeface="Arial"/>
              </a:rPr>
              <a:t>3 pt · buttons, chips</a:t>
            </a:r>
          </a:p>
        </p:txBody>
      </p:sp>
      <p:sp>
        <p:nvSpPr>
          <p:cNvPr id="44" name="Rounded Rectangle 43"/>
          <p:cNvSpPr/>
          <p:nvPr/>
        </p:nvSpPr>
        <p:spPr>
          <a:xfrm>
            <a:off x="5029200" y="3784600"/>
            <a:ext cx="1524000" cy="812800"/>
          </a:xfrm>
          <a:prstGeom prst="roundRect">
            <a:avLst>
              <a:gd name="adj" fmla="val 9375"/>
            </a:avLst>
          </a:prstGeom>
          <a:solidFill>
            <a:srgbClr val="F9FAFB"/>
          </a:solidFill>
          <a:ln w="9525">
            <a:solidFill>
              <a:srgbClr val="E0E3E6"/>
            </a:solidFill>
          </a:ln>
          <a:effectLst/>
        </p:spPr>
        <p:txBody>
          <a:bodyPr rtlCol="0" anchor="ctr"/>
          <a:lstStyle/>
          <a:p>
            <a:pPr algn="ctr"/>
          </a:p>
        </p:txBody>
      </p:sp>
      <p:sp>
        <p:nvSpPr>
          <p:cNvPr id="45" name="TextBox 44"/>
          <p:cNvSpPr txBox="1"/>
          <p:nvPr/>
        </p:nvSpPr>
        <p:spPr>
          <a:xfrm>
            <a:off x="5029200" y="4673600"/>
            <a:ext cx="2032000" cy="304800"/>
          </a:xfrm>
          <a:prstGeom prst="rect">
            <a:avLst/>
          </a:prstGeom>
          <a:noFill/>
        </p:spPr>
        <p:txBody>
          <a:bodyPr wrap="square" lIns="0" rIns="0" tIns="0" bIns="0" anchor="t">
            <a:spAutoFit/>
          </a:bodyPr>
          <a:lstStyle/>
          <a:p>
            <a:pPr algn="l"/>
            <a:r>
              <a:rPr sz="850" b="0" i="0">
                <a:solidFill>
                  <a:srgbClr val="4D555C"/>
                </a:solidFill>
                <a:latin typeface="Arial"/>
              </a:rPr>
              <a:t>6 pt · inputs, small cards</a:t>
            </a:r>
          </a:p>
        </p:txBody>
      </p:sp>
      <p:sp>
        <p:nvSpPr>
          <p:cNvPr id="46" name="Rounded Rectangle 45"/>
          <p:cNvSpPr/>
          <p:nvPr/>
        </p:nvSpPr>
        <p:spPr>
          <a:xfrm>
            <a:off x="7239000" y="3784600"/>
            <a:ext cx="1524000" cy="812800"/>
          </a:xfrm>
          <a:prstGeom prst="roundRect">
            <a:avLst>
              <a:gd name="adj" fmla="val 15625"/>
            </a:avLst>
          </a:prstGeom>
          <a:solidFill>
            <a:srgbClr val="F9FAFB"/>
          </a:solidFill>
          <a:ln w="9525">
            <a:solidFill>
              <a:srgbClr val="E0E3E6"/>
            </a:solidFill>
          </a:ln>
          <a:effectLst/>
        </p:spPr>
        <p:txBody>
          <a:bodyPr rtlCol="0" anchor="ctr"/>
          <a:lstStyle/>
          <a:p>
            <a:pPr algn="ctr"/>
          </a:p>
        </p:txBody>
      </p:sp>
      <p:sp>
        <p:nvSpPr>
          <p:cNvPr id="47" name="TextBox 46"/>
          <p:cNvSpPr txBox="1"/>
          <p:nvPr/>
        </p:nvSpPr>
        <p:spPr>
          <a:xfrm>
            <a:off x="7239000" y="4673600"/>
            <a:ext cx="2032000" cy="304800"/>
          </a:xfrm>
          <a:prstGeom prst="rect">
            <a:avLst/>
          </a:prstGeom>
          <a:noFill/>
        </p:spPr>
        <p:txBody>
          <a:bodyPr wrap="square" lIns="0" rIns="0" tIns="0" bIns="0" anchor="t">
            <a:spAutoFit/>
          </a:bodyPr>
          <a:lstStyle/>
          <a:p>
            <a:pPr algn="l"/>
            <a:r>
              <a:rPr sz="850" b="0" i="0">
                <a:solidFill>
                  <a:srgbClr val="4D555C"/>
                </a:solidFill>
                <a:latin typeface="Arial"/>
              </a:rPr>
              <a:t>10 pt · cards, panels</a:t>
            </a:r>
          </a:p>
        </p:txBody>
      </p:sp>
      <p:sp>
        <p:nvSpPr>
          <p:cNvPr id="48" name="Rounded Rectangle 47"/>
          <p:cNvSpPr/>
          <p:nvPr/>
        </p:nvSpPr>
        <p:spPr>
          <a:xfrm>
            <a:off x="9448800" y="3784600"/>
            <a:ext cx="1524000" cy="812800"/>
          </a:xfrm>
          <a:prstGeom prst="roundRect">
            <a:avLst>
              <a:gd name="adj" fmla="val 31250"/>
            </a:avLst>
          </a:prstGeom>
          <a:solidFill>
            <a:srgbClr val="F9FAFB"/>
          </a:solidFill>
          <a:ln w="9525">
            <a:solidFill>
              <a:srgbClr val="E0E3E6"/>
            </a:solidFill>
          </a:ln>
          <a:effectLst/>
        </p:spPr>
        <p:txBody>
          <a:bodyPr rtlCol="0" anchor="ctr"/>
          <a:lstStyle/>
          <a:p>
            <a:pPr algn="ctr"/>
          </a:p>
        </p:txBody>
      </p:sp>
      <p:sp>
        <p:nvSpPr>
          <p:cNvPr id="49" name="TextBox 48"/>
          <p:cNvSpPr txBox="1"/>
          <p:nvPr/>
        </p:nvSpPr>
        <p:spPr>
          <a:xfrm>
            <a:off x="9448800" y="4673600"/>
            <a:ext cx="2032000" cy="304800"/>
          </a:xfrm>
          <a:prstGeom prst="rect">
            <a:avLst/>
          </a:prstGeom>
          <a:noFill/>
        </p:spPr>
        <p:txBody>
          <a:bodyPr wrap="square" lIns="0" rIns="0" tIns="0" bIns="0" anchor="t">
            <a:spAutoFit/>
          </a:bodyPr>
          <a:lstStyle/>
          <a:p>
            <a:pPr algn="l"/>
            <a:r>
              <a:rPr sz="850" b="0" i="0">
                <a:solidFill>
                  <a:srgbClr val="4D555C"/>
                </a:solidFill>
                <a:latin typeface="Arial"/>
              </a:rPr>
              <a:t>20 pt · large hero panels</a:t>
            </a:r>
          </a:p>
        </p:txBody>
      </p:sp>
      <p:sp>
        <p:nvSpPr>
          <p:cNvPr id="50" name="TextBox 49"/>
          <p:cNvSpPr txBox="1"/>
          <p:nvPr/>
        </p:nvSpPr>
        <p:spPr>
          <a:xfrm>
            <a:off x="609600" y="5130800"/>
            <a:ext cx="5080000" cy="152400"/>
          </a:xfrm>
          <a:prstGeom prst="rect">
            <a:avLst/>
          </a:prstGeom>
          <a:noFill/>
        </p:spPr>
        <p:txBody>
          <a:bodyPr wrap="square" lIns="0" rIns="0" tIns="0" bIns="0" anchor="t">
            <a:spAutoFit/>
          </a:bodyPr>
          <a:lstStyle/>
          <a:p>
            <a:pPr algn="l"/>
            <a:r>
              <a:rPr sz="850" b="1" i="0" spc="150">
                <a:solidFill>
                  <a:srgbClr val="697177"/>
                </a:solidFill>
                <a:latin typeface="Arial"/>
              </a:rPr>
              <a:t>ELEVATION</a:t>
            </a:r>
          </a:p>
        </p:txBody>
      </p:sp>
      <p:sp>
        <p:nvSpPr>
          <p:cNvPr id="51" name="Rounded Rectangle 50"/>
          <p:cNvSpPr/>
          <p:nvPr/>
        </p:nvSpPr>
        <p:spPr>
          <a:xfrm>
            <a:off x="609600" y="5359400"/>
            <a:ext cx="3429000" cy="838200"/>
          </a:xfrm>
          <a:prstGeom prst="roundRect">
            <a:avLst>
              <a:gd name="adj" fmla="val 15151"/>
            </a:avLst>
          </a:prstGeom>
          <a:solidFill>
            <a:srgbClr val="FFFFFF"/>
          </a:solidFill>
          <a:ln w="9525">
            <a:solidFill>
              <a:srgbClr val="E0E3E6"/>
            </a:solidFill>
          </a:ln>
          <a:effectLst/>
        </p:spPr>
        <p:txBody>
          <a:bodyPr rtlCol="0" anchor="ctr"/>
          <a:lstStyle/>
          <a:p>
            <a:pPr algn="ctr"/>
          </a:p>
        </p:txBody>
      </p:sp>
      <p:sp>
        <p:nvSpPr>
          <p:cNvPr id="52" name="TextBox 51"/>
          <p:cNvSpPr txBox="1"/>
          <p:nvPr/>
        </p:nvSpPr>
        <p:spPr>
          <a:xfrm>
            <a:off x="812800" y="5511800"/>
            <a:ext cx="3048000" cy="177800"/>
          </a:xfrm>
          <a:prstGeom prst="rect">
            <a:avLst/>
          </a:prstGeom>
          <a:noFill/>
        </p:spPr>
        <p:txBody>
          <a:bodyPr wrap="square" lIns="0" rIns="0" tIns="0" bIns="0" anchor="t">
            <a:spAutoFit/>
          </a:bodyPr>
          <a:lstStyle/>
          <a:p>
            <a:pPr algn="l"/>
            <a:r>
              <a:rPr sz="1200" b="0" i="0">
                <a:solidFill>
                  <a:srgbClr val="11181C"/>
                </a:solidFill>
                <a:latin typeface="Georgia"/>
              </a:rPr>
              <a:t>Flat + hairline</a:t>
            </a:r>
          </a:p>
        </p:txBody>
      </p:sp>
      <p:sp>
        <p:nvSpPr>
          <p:cNvPr id="53" name="TextBox 52"/>
          <p:cNvSpPr txBox="1"/>
          <p:nvPr/>
        </p:nvSpPr>
        <p:spPr>
          <a:xfrm>
            <a:off x="812800" y="5765800"/>
            <a:ext cx="3048000" cy="304800"/>
          </a:xfrm>
          <a:prstGeom prst="rect">
            <a:avLst/>
          </a:prstGeom>
          <a:noFill/>
        </p:spPr>
        <p:txBody>
          <a:bodyPr wrap="square" lIns="0" rIns="0" tIns="0" bIns="0" anchor="t">
            <a:spAutoFit/>
          </a:bodyPr>
          <a:lstStyle/>
          <a:p>
            <a:pPr algn="l"/>
            <a:r>
              <a:rPr sz="850" b="0" i="0">
                <a:solidFill>
                  <a:srgbClr val="4D555C"/>
                </a:solidFill>
                <a:latin typeface="Arial"/>
              </a:rPr>
              <a:t>Default card: white, Slate 6 border 0.75 pt</a:t>
            </a:r>
          </a:p>
        </p:txBody>
      </p:sp>
      <p:sp>
        <p:nvSpPr>
          <p:cNvPr id="54" name="Rounded Rectangle 53"/>
          <p:cNvSpPr/>
          <p:nvPr/>
        </p:nvSpPr>
        <p:spPr>
          <a:xfrm>
            <a:off x="4292600" y="5359400"/>
            <a:ext cx="3429000" cy="838200"/>
          </a:xfrm>
          <a:prstGeom prst="roundRect">
            <a:avLst>
              <a:gd name="adj" fmla="val 15151"/>
            </a:avLst>
          </a:prstGeom>
          <a:solidFill>
            <a:srgbClr val="FFFFFF"/>
          </a:solidFill>
          <a:ln>
            <a:noFill/>
          </a:ln>
          <a:effectLst>
            <a:outerShdw blurRad="203200" dist="76200" dir="5400000" algn="t" rotWithShape="0">
              <a:srgbClr val="11181C">
                <a:alpha val="7000"/>
              </a:srgbClr>
            </a:outerShdw>
          </a:effectLst>
        </p:spPr>
        <p:txBody>
          <a:bodyPr rtlCol="0" anchor="ctr"/>
          <a:lstStyle/>
          <a:p>
            <a:pPr algn="ctr"/>
          </a:p>
        </p:txBody>
      </p:sp>
      <p:sp>
        <p:nvSpPr>
          <p:cNvPr id="55" name="TextBox 54"/>
          <p:cNvSpPr txBox="1"/>
          <p:nvPr/>
        </p:nvSpPr>
        <p:spPr>
          <a:xfrm>
            <a:off x="4495800" y="5511800"/>
            <a:ext cx="3048000" cy="177800"/>
          </a:xfrm>
          <a:prstGeom prst="rect">
            <a:avLst/>
          </a:prstGeom>
          <a:noFill/>
        </p:spPr>
        <p:txBody>
          <a:bodyPr wrap="square" lIns="0" rIns="0" tIns="0" bIns="0" anchor="t">
            <a:spAutoFit/>
          </a:bodyPr>
          <a:lstStyle/>
          <a:p>
            <a:pPr algn="l"/>
            <a:r>
              <a:rPr sz="1200" b="0" i="0">
                <a:solidFill>
                  <a:srgbClr val="11181C"/>
                </a:solidFill>
                <a:latin typeface="Georgia"/>
              </a:rPr>
              <a:t>Card shadow</a:t>
            </a:r>
          </a:p>
        </p:txBody>
      </p:sp>
      <p:sp>
        <p:nvSpPr>
          <p:cNvPr id="56" name="TextBox 55"/>
          <p:cNvSpPr txBox="1"/>
          <p:nvPr/>
        </p:nvSpPr>
        <p:spPr>
          <a:xfrm>
            <a:off x="4495800" y="5765800"/>
            <a:ext cx="3048000" cy="304800"/>
          </a:xfrm>
          <a:prstGeom prst="rect">
            <a:avLst/>
          </a:prstGeom>
          <a:noFill/>
        </p:spPr>
        <p:txBody>
          <a:bodyPr wrap="square" lIns="0" rIns="0" tIns="0" bIns="0" anchor="t">
            <a:spAutoFit/>
          </a:bodyPr>
          <a:lstStyle/>
          <a:p>
            <a:pPr algn="l"/>
            <a:r>
              <a:rPr sz="850" b="0" i="0">
                <a:solidFill>
                  <a:srgbClr val="4D555C"/>
                </a:solidFill>
                <a:latin typeface="Arial"/>
              </a:rPr>
              <a:t>Floating callout on photos or dark hero</a:t>
            </a:r>
          </a:p>
        </p:txBody>
      </p:sp>
      <p:sp>
        <p:nvSpPr>
          <p:cNvPr id="57" name="Rounded Rectangle 56"/>
          <p:cNvSpPr/>
          <p:nvPr/>
        </p:nvSpPr>
        <p:spPr>
          <a:xfrm>
            <a:off x="7975600" y="5359400"/>
            <a:ext cx="3429000" cy="838200"/>
          </a:xfrm>
          <a:prstGeom prst="roundRect">
            <a:avLst>
              <a:gd name="adj" fmla="val 15151"/>
            </a:avLst>
          </a:prstGeom>
          <a:solidFill>
            <a:srgbClr val="F9FAFB"/>
          </a:solidFill>
          <a:ln>
            <a:noFill/>
          </a:ln>
          <a:effectLst/>
        </p:spPr>
        <p:txBody>
          <a:bodyPr rtlCol="0" anchor="ctr"/>
          <a:lstStyle/>
          <a:p>
            <a:pPr algn="ctr"/>
          </a:p>
        </p:txBody>
      </p:sp>
      <p:sp>
        <p:nvSpPr>
          <p:cNvPr id="58" name="TextBox 57"/>
          <p:cNvSpPr txBox="1"/>
          <p:nvPr/>
        </p:nvSpPr>
        <p:spPr>
          <a:xfrm>
            <a:off x="8178800" y="5511800"/>
            <a:ext cx="3048000" cy="177800"/>
          </a:xfrm>
          <a:prstGeom prst="rect">
            <a:avLst/>
          </a:prstGeom>
          <a:noFill/>
        </p:spPr>
        <p:txBody>
          <a:bodyPr wrap="square" lIns="0" rIns="0" tIns="0" bIns="0" anchor="t">
            <a:spAutoFit/>
          </a:bodyPr>
          <a:lstStyle/>
          <a:p>
            <a:pPr algn="l"/>
            <a:r>
              <a:rPr sz="1200" b="0" i="0">
                <a:solidFill>
                  <a:srgbClr val="11181C"/>
                </a:solidFill>
                <a:latin typeface="Georgia"/>
              </a:rPr>
              <a:t>Wash panel</a:t>
            </a:r>
          </a:p>
        </p:txBody>
      </p:sp>
      <p:sp>
        <p:nvSpPr>
          <p:cNvPr id="59" name="TextBox 58"/>
          <p:cNvSpPr txBox="1"/>
          <p:nvPr/>
        </p:nvSpPr>
        <p:spPr>
          <a:xfrm>
            <a:off x="8178800" y="5765800"/>
            <a:ext cx="3048000" cy="304800"/>
          </a:xfrm>
          <a:prstGeom prst="rect">
            <a:avLst/>
          </a:prstGeom>
          <a:noFill/>
        </p:spPr>
        <p:txBody>
          <a:bodyPr wrap="square" lIns="0" rIns="0" tIns="0" bIns="0" anchor="t">
            <a:spAutoFit/>
          </a:bodyPr>
          <a:lstStyle/>
          <a:p>
            <a:pPr algn="l"/>
            <a:r>
              <a:rPr sz="850" b="0" i="0">
                <a:solidFill>
                  <a:srgbClr val="4D555C"/>
                </a:solidFill>
                <a:latin typeface="Arial"/>
              </a:rPr>
              <a:t>Slate 2 fill, no border, groups a section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FOUNDATIONS · GRID</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Twelve columns, </a:t>
            </a:r>
            <a:r>
              <a:rPr sz="2400" b="0" i="1">
                <a:solidFill>
                  <a:srgbClr val="11181C"/>
                </a:solidFill>
                <a:latin typeface="Georgia"/>
              </a:rPr>
              <a:t>wide</a:t>
            </a:r>
            <a:r>
              <a:rPr sz="2400" b="0" i="0">
                <a:solidFill>
                  <a:srgbClr val="11181C"/>
                </a:solidFill>
                <a:latin typeface="Georgia"/>
              </a:rPr>
              <a:t> margins.</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Margins 48 pt left and right, 16 pt gutters. Section intros are centred; content is left-aligned on the grid.</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11</a:t>
            </a:r>
          </a:p>
        </p:txBody>
      </p:sp>
      <p:sp>
        <p:nvSpPr>
          <p:cNvPr id="12" name="Rectangle 11"/>
          <p:cNvSpPr/>
          <p:nvPr/>
        </p:nvSpPr>
        <p:spPr>
          <a:xfrm>
            <a:off x="609600" y="2108200"/>
            <a:ext cx="728133" cy="1143000"/>
          </a:xfrm>
          <a:prstGeom prst="rect">
            <a:avLst/>
          </a:prstGeom>
          <a:solidFill>
            <a:srgbClr val="E5FFF1"/>
          </a:solidFill>
          <a:ln>
            <a:noFill/>
          </a:ln>
          <a:effectLst/>
        </p:spPr>
        <p:txBody>
          <a:bodyPr rtlCol="0" anchor="ctr"/>
          <a:lstStyle/>
          <a:p>
            <a:pPr algn="ctr"/>
          </a:p>
        </p:txBody>
      </p:sp>
      <p:sp>
        <p:nvSpPr>
          <p:cNvPr id="13" name="TextBox 12"/>
          <p:cNvSpPr txBox="1"/>
          <p:nvPr/>
        </p:nvSpPr>
        <p:spPr>
          <a:xfrm>
            <a:off x="609600"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1</a:t>
            </a:r>
          </a:p>
        </p:txBody>
      </p:sp>
      <p:sp>
        <p:nvSpPr>
          <p:cNvPr id="14" name="Rectangle 13"/>
          <p:cNvSpPr/>
          <p:nvPr/>
        </p:nvSpPr>
        <p:spPr>
          <a:xfrm>
            <a:off x="1540933" y="2108200"/>
            <a:ext cx="728133" cy="1143000"/>
          </a:xfrm>
          <a:prstGeom prst="rect">
            <a:avLst/>
          </a:prstGeom>
          <a:solidFill>
            <a:srgbClr val="E5FFF1"/>
          </a:solidFill>
          <a:ln>
            <a:noFill/>
          </a:ln>
          <a:effectLst/>
        </p:spPr>
        <p:txBody>
          <a:bodyPr rtlCol="0" anchor="ctr"/>
          <a:lstStyle/>
          <a:p>
            <a:pPr algn="ctr"/>
          </a:p>
        </p:txBody>
      </p:sp>
      <p:sp>
        <p:nvSpPr>
          <p:cNvPr id="15" name="TextBox 14"/>
          <p:cNvSpPr txBox="1"/>
          <p:nvPr/>
        </p:nvSpPr>
        <p:spPr>
          <a:xfrm>
            <a:off x="1540933"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2</a:t>
            </a:r>
          </a:p>
        </p:txBody>
      </p:sp>
      <p:sp>
        <p:nvSpPr>
          <p:cNvPr id="16" name="Rectangle 15"/>
          <p:cNvSpPr/>
          <p:nvPr/>
        </p:nvSpPr>
        <p:spPr>
          <a:xfrm>
            <a:off x="2472266" y="2108200"/>
            <a:ext cx="728133" cy="1143000"/>
          </a:xfrm>
          <a:prstGeom prst="rect">
            <a:avLst/>
          </a:prstGeom>
          <a:solidFill>
            <a:srgbClr val="E5FFF1"/>
          </a:solidFill>
          <a:ln>
            <a:noFill/>
          </a:ln>
          <a:effectLst/>
        </p:spPr>
        <p:txBody>
          <a:bodyPr rtlCol="0" anchor="ctr"/>
          <a:lstStyle/>
          <a:p>
            <a:pPr algn="ctr"/>
          </a:p>
        </p:txBody>
      </p:sp>
      <p:sp>
        <p:nvSpPr>
          <p:cNvPr id="17" name="TextBox 16"/>
          <p:cNvSpPr txBox="1"/>
          <p:nvPr/>
        </p:nvSpPr>
        <p:spPr>
          <a:xfrm>
            <a:off x="2472266"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3</a:t>
            </a:r>
          </a:p>
        </p:txBody>
      </p:sp>
      <p:sp>
        <p:nvSpPr>
          <p:cNvPr id="18" name="Rectangle 17"/>
          <p:cNvSpPr/>
          <p:nvPr/>
        </p:nvSpPr>
        <p:spPr>
          <a:xfrm>
            <a:off x="3403600" y="2108200"/>
            <a:ext cx="728133" cy="1143000"/>
          </a:xfrm>
          <a:prstGeom prst="rect">
            <a:avLst/>
          </a:prstGeom>
          <a:solidFill>
            <a:srgbClr val="E5FFF1"/>
          </a:solidFill>
          <a:ln>
            <a:noFill/>
          </a:ln>
          <a:effectLst/>
        </p:spPr>
        <p:txBody>
          <a:bodyPr rtlCol="0" anchor="ctr"/>
          <a:lstStyle/>
          <a:p>
            <a:pPr algn="ctr"/>
          </a:p>
        </p:txBody>
      </p:sp>
      <p:sp>
        <p:nvSpPr>
          <p:cNvPr id="19" name="TextBox 18"/>
          <p:cNvSpPr txBox="1"/>
          <p:nvPr/>
        </p:nvSpPr>
        <p:spPr>
          <a:xfrm>
            <a:off x="3403600"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4</a:t>
            </a:r>
          </a:p>
        </p:txBody>
      </p:sp>
      <p:sp>
        <p:nvSpPr>
          <p:cNvPr id="20" name="Rectangle 19"/>
          <p:cNvSpPr/>
          <p:nvPr/>
        </p:nvSpPr>
        <p:spPr>
          <a:xfrm>
            <a:off x="4334933" y="2108200"/>
            <a:ext cx="728133" cy="1143000"/>
          </a:xfrm>
          <a:prstGeom prst="rect">
            <a:avLst/>
          </a:prstGeom>
          <a:solidFill>
            <a:srgbClr val="E5FFF1"/>
          </a:solidFill>
          <a:ln>
            <a:noFill/>
          </a:ln>
          <a:effectLst/>
        </p:spPr>
        <p:txBody>
          <a:bodyPr rtlCol="0" anchor="ctr"/>
          <a:lstStyle/>
          <a:p>
            <a:pPr algn="ctr"/>
          </a:p>
        </p:txBody>
      </p:sp>
      <p:sp>
        <p:nvSpPr>
          <p:cNvPr id="21" name="TextBox 20"/>
          <p:cNvSpPr txBox="1"/>
          <p:nvPr/>
        </p:nvSpPr>
        <p:spPr>
          <a:xfrm>
            <a:off x="4334933"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5</a:t>
            </a:r>
          </a:p>
        </p:txBody>
      </p:sp>
      <p:sp>
        <p:nvSpPr>
          <p:cNvPr id="22" name="Rectangle 21"/>
          <p:cNvSpPr/>
          <p:nvPr/>
        </p:nvSpPr>
        <p:spPr>
          <a:xfrm>
            <a:off x="5266266" y="2108200"/>
            <a:ext cx="728133" cy="1143000"/>
          </a:xfrm>
          <a:prstGeom prst="rect">
            <a:avLst/>
          </a:prstGeom>
          <a:solidFill>
            <a:srgbClr val="E5FFF1"/>
          </a:solidFill>
          <a:ln>
            <a:noFill/>
          </a:ln>
          <a:effectLst/>
        </p:spPr>
        <p:txBody>
          <a:bodyPr rtlCol="0" anchor="ctr"/>
          <a:lstStyle/>
          <a:p>
            <a:pPr algn="ctr"/>
          </a:p>
        </p:txBody>
      </p:sp>
      <p:sp>
        <p:nvSpPr>
          <p:cNvPr id="23" name="TextBox 22"/>
          <p:cNvSpPr txBox="1"/>
          <p:nvPr/>
        </p:nvSpPr>
        <p:spPr>
          <a:xfrm>
            <a:off x="5266266"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6</a:t>
            </a:r>
          </a:p>
        </p:txBody>
      </p:sp>
      <p:sp>
        <p:nvSpPr>
          <p:cNvPr id="24" name="Rectangle 23"/>
          <p:cNvSpPr/>
          <p:nvPr/>
        </p:nvSpPr>
        <p:spPr>
          <a:xfrm>
            <a:off x="6197600" y="2108200"/>
            <a:ext cx="728133" cy="1143000"/>
          </a:xfrm>
          <a:prstGeom prst="rect">
            <a:avLst/>
          </a:prstGeom>
          <a:solidFill>
            <a:srgbClr val="E5FFF1"/>
          </a:solidFill>
          <a:ln>
            <a:noFill/>
          </a:ln>
          <a:effectLst/>
        </p:spPr>
        <p:txBody>
          <a:bodyPr rtlCol="0" anchor="ctr"/>
          <a:lstStyle/>
          <a:p>
            <a:pPr algn="ctr"/>
          </a:p>
        </p:txBody>
      </p:sp>
      <p:sp>
        <p:nvSpPr>
          <p:cNvPr id="25" name="TextBox 24"/>
          <p:cNvSpPr txBox="1"/>
          <p:nvPr/>
        </p:nvSpPr>
        <p:spPr>
          <a:xfrm>
            <a:off x="6197600"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7</a:t>
            </a:r>
          </a:p>
        </p:txBody>
      </p:sp>
      <p:sp>
        <p:nvSpPr>
          <p:cNvPr id="26" name="Rectangle 25"/>
          <p:cNvSpPr/>
          <p:nvPr/>
        </p:nvSpPr>
        <p:spPr>
          <a:xfrm>
            <a:off x="7128933" y="2108200"/>
            <a:ext cx="728133" cy="1143000"/>
          </a:xfrm>
          <a:prstGeom prst="rect">
            <a:avLst/>
          </a:prstGeom>
          <a:solidFill>
            <a:srgbClr val="E5FFF1"/>
          </a:solidFill>
          <a:ln>
            <a:noFill/>
          </a:ln>
          <a:effectLst/>
        </p:spPr>
        <p:txBody>
          <a:bodyPr rtlCol="0" anchor="ctr"/>
          <a:lstStyle/>
          <a:p>
            <a:pPr algn="ctr"/>
          </a:p>
        </p:txBody>
      </p:sp>
      <p:sp>
        <p:nvSpPr>
          <p:cNvPr id="27" name="TextBox 26"/>
          <p:cNvSpPr txBox="1"/>
          <p:nvPr/>
        </p:nvSpPr>
        <p:spPr>
          <a:xfrm>
            <a:off x="7128933"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8</a:t>
            </a:r>
          </a:p>
        </p:txBody>
      </p:sp>
      <p:sp>
        <p:nvSpPr>
          <p:cNvPr id="28" name="Rectangle 27"/>
          <p:cNvSpPr/>
          <p:nvPr/>
        </p:nvSpPr>
        <p:spPr>
          <a:xfrm>
            <a:off x="8060266" y="2108200"/>
            <a:ext cx="728133" cy="1143000"/>
          </a:xfrm>
          <a:prstGeom prst="rect">
            <a:avLst/>
          </a:prstGeom>
          <a:solidFill>
            <a:srgbClr val="E5FFF1"/>
          </a:solidFill>
          <a:ln>
            <a:noFill/>
          </a:ln>
          <a:effectLst/>
        </p:spPr>
        <p:txBody>
          <a:bodyPr rtlCol="0" anchor="ctr"/>
          <a:lstStyle/>
          <a:p>
            <a:pPr algn="ctr"/>
          </a:p>
        </p:txBody>
      </p:sp>
      <p:sp>
        <p:nvSpPr>
          <p:cNvPr id="29" name="TextBox 28"/>
          <p:cNvSpPr txBox="1"/>
          <p:nvPr/>
        </p:nvSpPr>
        <p:spPr>
          <a:xfrm>
            <a:off x="8060266"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9</a:t>
            </a:r>
          </a:p>
        </p:txBody>
      </p:sp>
      <p:sp>
        <p:nvSpPr>
          <p:cNvPr id="30" name="Rectangle 29"/>
          <p:cNvSpPr/>
          <p:nvPr/>
        </p:nvSpPr>
        <p:spPr>
          <a:xfrm>
            <a:off x="8991600" y="2108200"/>
            <a:ext cx="728133" cy="1143000"/>
          </a:xfrm>
          <a:prstGeom prst="rect">
            <a:avLst/>
          </a:prstGeom>
          <a:solidFill>
            <a:srgbClr val="E5FFF1"/>
          </a:solidFill>
          <a:ln>
            <a:noFill/>
          </a:ln>
          <a:effectLst/>
        </p:spPr>
        <p:txBody>
          <a:bodyPr rtlCol="0" anchor="ctr"/>
          <a:lstStyle/>
          <a:p>
            <a:pPr algn="ctr"/>
          </a:p>
        </p:txBody>
      </p:sp>
      <p:sp>
        <p:nvSpPr>
          <p:cNvPr id="31" name="TextBox 30"/>
          <p:cNvSpPr txBox="1"/>
          <p:nvPr/>
        </p:nvSpPr>
        <p:spPr>
          <a:xfrm>
            <a:off x="8991600"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10</a:t>
            </a:r>
          </a:p>
        </p:txBody>
      </p:sp>
      <p:sp>
        <p:nvSpPr>
          <p:cNvPr id="32" name="Rectangle 31"/>
          <p:cNvSpPr/>
          <p:nvPr/>
        </p:nvSpPr>
        <p:spPr>
          <a:xfrm>
            <a:off x="9922933" y="2108200"/>
            <a:ext cx="728133" cy="1143000"/>
          </a:xfrm>
          <a:prstGeom prst="rect">
            <a:avLst/>
          </a:prstGeom>
          <a:solidFill>
            <a:srgbClr val="E5FFF1"/>
          </a:solidFill>
          <a:ln>
            <a:noFill/>
          </a:ln>
          <a:effectLst/>
        </p:spPr>
        <p:txBody>
          <a:bodyPr rtlCol="0" anchor="ctr"/>
          <a:lstStyle/>
          <a:p>
            <a:pPr algn="ctr"/>
          </a:p>
        </p:txBody>
      </p:sp>
      <p:sp>
        <p:nvSpPr>
          <p:cNvPr id="33" name="TextBox 32"/>
          <p:cNvSpPr txBox="1"/>
          <p:nvPr/>
        </p:nvSpPr>
        <p:spPr>
          <a:xfrm>
            <a:off x="9922933"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11</a:t>
            </a:r>
          </a:p>
        </p:txBody>
      </p:sp>
      <p:sp>
        <p:nvSpPr>
          <p:cNvPr id="34" name="Rectangle 33"/>
          <p:cNvSpPr/>
          <p:nvPr/>
        </p:nvSpPr>
        <p:spPr>
          <a:xfrm>
            <a:off x="10854266" y="2108200"/>
            <a:ext cx="728133" cy="1143000"/>
          </a:xfrm>
          <a:prstGeom prst="rect">
            <a:avLst/>
          </a:prstGeom>
          <a:solidFill>
            <a:srgbClr val="E5FFF1"/>
          </a:solidFill>
          <a:ln>
            <a:noFill/>
          </a:ln>
          <a:effectLst/>
        </p:spPr>
        <p:txBody>
          <a:bodyPr rtlCol="0" anchor="ctr"/>
          <a:lstStyle/>
          <a:p>
            <a:pPr algn="ctr"/>
          </a:p>
        </p:txBody>
      </p:sp>
      <p:sp>
        <p:nvSpPr>
          <p:cNvPr id="35" name="TextBox 34"/>
          <p:cNvSpPr txBox="1"/>
          <p:nvPr/>
        </p:nvSpPr>
        <p:spPr>
          <a:xfrm>
            <a:off x="10854266" y="2108200"/>
            <a:ext cx="728133" cy="1143000"/>
          </a:xfrm>
          <a:prstGeom prst="rect">
            <a:avLst/>
          </a:prstGeom>
          <a:noFill/>
        </p:spPr>
        <p:txBody>
          <a:bodyPr wrap="square" lIns="0" rIns="0" tIns="0" bIns="0" anchor="ctr">
            <a:spAutoFit/>
          </a:bodyPr>
          <a:lstStyle/>
          <a:p>
            <a:pPr algn="ctr"/>
            <a:r>
              <a:rPr sz="1200" b="0" i="0">
                <a:solidFill>
                  <a:srgbClr val="076932"/>
                </a:solidFill>
                <a:latin typeface="Georgia"/>
              </a:rPr>
              <a:t>12</a:t>
            </a:r>
          </a:p>
        </p:txBody>
      </p:sp>
      <p:sp>
        <p:nvSpPr>
          <p:cNvPr id="36" name="Rounded Rectangle 35"/>
          <p:cNvSpPr/>
          <p:nvPr/>
        </p:nvSpPr>
        <p:spPr>
          <a:xfrm>
            <a:off x="609600" y="3454400"/>
            <a:ext cx="8119872"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37" name="TextBox 36"/>
          <p:cNvSpPr txBox="1"/>
          <p:nvPr/>
        </p:nvSpPr>
        <p:spPr>
          <a:xfrm>
            <a:off x="609600" y="3454400"/>
            <a:ext cx="8119872" cy="330200"/>
          </a:xfrm>
          <a:prstGeom prst="rect">
            <a:avLst/>
          </a:prstGeom>
          <a:noFill/>
        </p:spPr>
        <p:txBody>
          <a:bodyPr wrap="square" lIns="0" rIns="0" tIns="0" bIns="0" anchor="ctr">
            <a:spAutoFit/>
          </a:bodyPr>
          <a:lstStyle/>
          <a:p>
            <a:pPr algn="ctr"/>
            <a:r>
              <a:rPr sz="900" b="1" i="0">
                <a:solidFill>
                  <a:srgbClr val="697177"/>
                </a:solidFill>
                <a:latin typeface="Arial"/>
              </a:rPr>
              <a:t>12</a:t>
            </a:r>
          </a:p>
        </p:txBody>
      </p:sp>
      <p:sp>
        <p:nvSpPr>
          <p:cNvPr id="38" name="TextBox 37"/>
          <p:cNvSpPr txBox="1"/>
          <p:nvPr/>
        </p:nvSpPr>
        <p:spPr>
          <a:xfrm>
            <a:off x="9034272" y="3543300"/>
            <a:ext cx="2540000" cy="177800"/>
          </a:xfrm>
          <a:prstGeom prst="rect">
            <a:avLst/>
          </a:prstGeom>
          <a:noFill/>
        </p:spPr>
        <p:txBody>
          <a:bodyPr wrap="square" lIns="0" rIns="0" tIns="0" bIns="0" anchor="t">
            <a:spAutoFit/>
          </a:bodyPr>
          <a:lstStyle/>
          <a:p>
            <a:pPr algn="l"/>
            <a:r>
              <a:rPr sz="950" b="0" i="0">
                <a:solidFill>
                  <a:srgbClr val="11181C"/>
                </a:solidFill>
                <a:latin typeface="Arial"/>
              </a:rPr>
              <a:t>Hero, full chart, table</a:t>
            </a:r>
          </a:p>
        </p:txBody>
      </p:sp>
      <p:sp>
        <p:nvSpPr>
          <p:cNvPr id="39" name="Rounded Rectangle 38"/>
          <p:cNvSpPr/>
          <p:nvPr/>
        </p:nvSpPr>
        <p:spPr>
          <a:xfrm>
            <a:off x="609600" y="3911600"/>
            <a:ext cx="3984752"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40" name="TextBox 39"/>
          <p:cNvSpPr txBox="1"/>
          <p:nvPr/>
        </p:nvSpPr>
        <p:spPr>
          <a:xfrm>
            <a:off x="609600" y="3911600"/>
            <a:ext cx="3984752" cy="330200"/>
          </a:xfrm>
          <a:prstGeom prst="rect">
            <a:avLst/>
          </a:prstGeom>
          <a:noFill/>
        </p:spPr>
        <p:txBody>
          <a:bodyPr wrap="square" lIns="0" rIns="0" tIns="0" bIns="0" anchor="ctr">
            <a:spAutoFit/>
          </a:bodyPr>
          <a:lstStyle/>
          <a:p>
            <a:pPr algn="ctr"/>
            <a:r>
              <a:rPr sz="900" b="1" i="0">
                <a:solidFill>
                  <a:srgbClr val="697177"/>
                </a:solidFill>
                <a:latin typeface="Arial"/>
              </a:rPr>
              <a:t>6</a:t>
            </a:r>
          </a:p>
        </p:txBody>
      </p:sp>
      <p:sp>
        <p:nvSpPr>
          <p:cNvPr id="41" name="Rounded Rectangle 40"/>
          <p:cNvSpPr/>
          <p:nvPr/>
        </p:nvSpPr>
        <p:spPr>
          <a:xfrm>
            <a:off x="4744720" y="3911600"/>
            <a:ext cx="3984752"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42" name="TextBox 41"/>
          <p:cNvSpPr txBox="1"/>
          <p:nvPr/>
        </p:nvSpPr>
        <p:spPr>
          <a:xfrm>
            <a:off x="4744720" y="3911600"/>
            <a:ext cx="3984752" cy="330200"/>
          </a:xfrm>
          <a:prstGeom prst="rect">
            <a:avLst/>
          </a:prstGeom>
          <a:noFill/>
        </p:spPr>
        <p:txBody>
          <a:bodyPr wrap="square" lIns="0" rIns="0" tIns="0" bIns="0" anchor="ctr">
            <a:spAutoFit/>
          </a:bodyPr>
          <a:lstStyle/>
          <a:p>
            <a:pPr algn="ctr"/>
            <a:r>
              <a:rPr sz="900" b="1" i="0">
                <a:solidFill>
                  <a:srgbClr val="697177"/>
                </a:solidFill>
                <a:latin typeface="Arial"/>
              </a:rPr>
              <a:t>6</a:t>
            </a:r>
          </a:p>
        </p:txBody>
      </p:sp>
      <p:sp>
        <p:nvSpPr>
          <p:cNvPr id="43" name="TextBox 42"/>
          <p:cNvSpPr txBox="1"/>
          <p:nvPr/>
        </p:nvSpPr>
        <p:spPr>
          <a:xfrm>
            <a:off x="9034272" y="4000500"/>
            <a:ext cx="2540000" cy="177800"/>
          </a:xfrm>
          <a:prstGeom prst="rect">
            <a:avLst/>
          </a:prstGeom>
          <a:noFill/>
        </p:spPr>
        <p:txBody>
          <a:bodyPr wrap="square" lIns="0" rIns="0" tIns="0" bIns="0" anchor="t">
            <a:spAutoFit/>
          </a:bodyPr>
          <a:lstStyle/>
          <a:p>
            <a:pPr algn="l"/>
            <a:r>
              <a:rPr sz="950" b="0" i="0">
                <a:solidFill>
                  <a:srgbClr val="11181C"/>
                </a:solidFill>
                <a:latin typeface="Arial"/>
              </a:rPr>
              <a:t>Text + image</a:t>
            </a:r>
          </a:p>
        </p:txBody>
      </p:sp>
      <p:sp>
        <p:nvSpPr>
          <p:cNvPr id="44" name="Rounded Rectangle 43"/>
          <p:cNvSpPr/>
          <p:nvPr/>
        </p:nvSpPr>
        <p:spPr>
          <a:xfrm>
            <a:off x="609600" y="4368800"/>
            <a:ext cx="2606378"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45" name="TextBox 44"/>
          <p:cNvSpPr txBox="1"/>
          <p:nvPr/>
        </p:nvSpPr>
        <p:spPr>
          <a:xfrm>
            <a:off x="609600" y="4368800"/>
            <a:ext cx="2606378" cy="330200"/>
          </a:xfrm>
          <a:prstGeom prst="rect">
            <a:avLst/>
          </a:prstGeom>
          <a:noFill/>
        </p:spPr>
        <p:txBody>
          <a:bodyPr wrap="square" lIns="0" rIns="0" tIns="0" bIns="0" anchor="ctr">
            <a:spAutoFit/>
          </a:bodyPr>
          <a:lstStyle/>
          <a:p>
            <a:pPr algn="ctr"/>
            <a:r>
              <a:rPr sz="900" b="1" i="0">
                <a:solidFill>
                  <a:srgbClr val="697177"/>
                </a:solidFill>
                <a:latin typeface="Arial"/>
              </a:rPr>
              <a:t>4</a:t>
            </a:r>
          </a:p>
        </p:txBody>
      </p:sp>
      <p:sp>
        <p:nvSpPr>
          <p:cNvPr id="46" name="Rounded Rectangle 45"/>
          <p:cNvSpPr/>
          <p:nvPr/>
        </p:nvSpPr>
        <p:spPr>
          <a:xfrm>
            <a:off x="3366346" y="4368800"/>
            <a:ext cx="2606378"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47" name="TextBox 46"/>
          <p:cNvSpPr txBox="1"/>
          <p:nvPr/>
        </p:nvSpPr>
        <p:spPr>
          <a:xfrm>
            <a:off x="3366346" y="4368800"/>
            <a:ext cx="2606378" cy="330200"/>
          </a:xfrm>
          <a:prstGeom prst="rect">
            <a:avLst/>
          </a:prstGeom>
          <a:noFill/>
        </p:spPr>
        <p:txBody>
          <a:bodyPr wrap="square" lIns="0" rIns="0" tIns="0" bIns="0" anchor="ctr">
            <a:spAutoFit/>
          </a:bodyPr>
          <a:lstStyle/>
          <a:p>
            <a:pPr algn="ctr"/>
            <a:r>
              <a:rPr sz="900" b="1" i="0">
                <a:solidFill>
                  <a:srgbClr val="697177"/>
                </a:solidFill>
                <a:latin typeface="Arial"/>
              </a:rPr>
              <a:t>4</a:t>
            </a:r>
          </a:p>
        </p:txBody>
      </p:sp>
      <p:sp>
        <p:nvSpPr>
          <p:cNvPr id="48" name="Rounded Rectangle 47"/>
          <p:cNvSpPr/>
          <p:nvPr/>
        </p:nvSpPr>
        <p:spPr>
          <a:xfrm>
            <a:off x="6123093" y="4368800"/>
            <a:ext cx="2606378"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49" name="TextBox 48"/>
          <p:cNvSpPr txBox="1"/>
          <p:nvPr/>
        </p:nvSpPr>
        <p:spPr>
          <a:xfrm>
            <a:off x="6123093" y="4368800"/>
            <a:ext cx="2606378" cy="330200"/>
          </a:xfrm>
          <a:prstGeom prst="rect">
            <a:avLst/>
          </a:prstGeom>
          <a:noFill/>
        </p:spPr>
        <p:txBody>
          <a:bodyPr wrap="square" lIns="0" rIns="0" tIns="0" bIns="0" anchor="ctr">
            <a:spAutoFit/>
          </a:bodyPr>
          <a:lstStyle/>
          <a:p>
            <a:pPr algn="ctr"/>
            <a:r>
              <a:rPr sz="900" b="1" i="0">
                <a:solidFill>
                  <a:srgbClr val="697177"/>
                </a:solidFill>
                <a:latin typeface="Arial"/>
              </a:rPr>
              <a:t>4</a:t>
            </a:r>
          </a:p>
        </p:txBody>
      </p:sp>
      <p:sp>
        <p:nvSpPr>
          <p:cNvPr id="50" name="TextBox 49"/>
          <p:cNvSpPr txBox="1"/>
          <p:nvPr/>
        </p:nvSpPr>
        <p:spPr>
          <a:xfrm>
            <a:off x="9034272" y="4457700"/>
            <a:ext cx="2540000" cy="177800"/>
          </a:xfrm>
          <a:prstGeom prst="rect">
            <a:avLst/>
          </a:prstGeom>
          <a:noFill/>
        </p:spPr>
        <p:txBody>
          <a:bodyPr wrap="square" lIns="0" rIns="0" tIns="0" bIns="0" anchor="t">
            <a:spAutoFit/>
          </a:bodyPr>
          <a:lstStyle/>
          <a:p>
            <a:pPr algn="l"/>
            <a:r>
              <a:rPr sz="950" b="0" i="0">
                <a:solidFill>
                  <a:srgbClr val="11181C"/>
                </a:solidFill>
                <a:latin typeface="Arial"/>
              </a:rPr>
              <a:t>Why columns, three cards</a:t>
            </a:r>
          </a:p>
        </p:txBody>
      </p:sp>
      <p:sp>
        <p:nvSpPr>
          <p:cNvPr id="51" name="Rounded Rectangle 50"/>
          <p:cNvSpPr/>
          <p:nvPr/>
        </p:nvSpPr>
        <p:spPr>
          <a:xfrm>
            <a:off x="609600" y="4826000"/>
            <a:ext cx="1917192"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52" name="TextBox 51"/>
          <p:cNvSpPr txBox="1"/>
          <p:nvPr/>
        </p:nvSpPr>
        <p:spPr>
          <a:xfrm>
            <a:off x="609600" y="4826000"/>
            <a:ext cx="1917192" cy="330200"/>
          </a:xfrm>
          <a:prstGeom prst="rect">
            <a:avLst/>
          </a:prstGeom>
          <a:noFill/>
        </p:spPr>
        <p:txBody>
          <a:bodyPr wrap="square" lIns="0" rIns="0" tIns="0" bIns="0" anchor="ctr">
            <a:spAutoFit/>
          </a:bodyPr>
          <a:lstStyle/>
          <a:p>
            <a:pPr algn="ctr"/>
            <a:r>
              <a:rPr sz="900" b="1" i="0">
                <a:solidFill>
                  <a:srgbClr val="697177"/>
                </a:solidFill>
                <a:latin typeface="Arial"/>
              </a:rPr>
              <a:t>3</a:t>
            </a:r>
          </a:p>
        </p:txBody>
      </p:sp>
      <p:sp>
        <p:nvSpPr>
          <p:cNvPr id="53" name="Rounded Rectangle 52"/>
          <p:cNvSpPr/>
          <p:nvPr/>
        </p:nvSpPr>
        <p:spPr>
          <a:xfrm>
            <a:off x="2677160" y="4826000"/>
            <a:ext cx="1917192"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54" name="TextBox 53"/>
          <p:cNvSpPr txBox="1"/>
          <p:nvPr/>
        </p:nvSpPr>
        <p:spPr>
          <a:xfrm>
            <a:off x="2677160" y="4826000"/>
            <a:ext cx="1917192" cy="330200"/>
          </a:xfrm>
          <a:prstGeom prst="rect">
            <a:avLst/>
          </a:prstGeom>
          <a:noFill/>
        </p:spPr>
        <p:txBody>
          <a:bodyPr wrap="square" lIns="0" rIns="0" tIns="0" bIns="0" anchor="ctr">
            <a:spAutoFit/>
          </a:bodyPr>
          <a:lstStyle/>
          <a:p>
            <a:pPr algn="ctr"/>
            <a:r>
              <a:rPr sz="900" b="1" i="0">
                <a:solidFill>
                  <a:srgbClr val="697177"/>
                </a:solidFill>
                <a:latin typeface="Arial"/>
              </a:rPr>
              <a:t>3</a:t>
            </a:r>
          </a:p>
        </p:txBody>
      </p:sp>
      <p:sp>
        <p:nvSpPr>
          <p:cNvPr id="55" name="Rounded Rectangle 54"/>
          <p:cNvSpPr/>
          <p:nvPr/>
        </p:nvSpPr>
        <p:spPr>
          <a:xfrm>
            <a:off x="4744720" y="4826000"/>
            <a:ext cx="1917192"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56" name="TextBox 55"/>
          <p:cNvSpPr txBox="1"/>
          <p:nvPr/>
        </p:nvSpPr>
        <p:spPr>
          <a:xfrm>
            <a:off x="4744720" y="4826000"/>
            <a:ext cx="1917192" cy="330200"/>
          </a:xfrm>
          <a:prstGeom prst="rect">
            <a:avLst/>
          </a:prstGeom>
          <a:noFill/>
        </p:spPr>
        <p:txBody>
          <a:bodyPr wrap="square" lIns="0" rIns="0" tIns="0" bIns="0" anchor="ctr">
            <a:spAutoFit/>
          </a:bodyPr>
          <a:lstStyle/>
          <a:p>
            <a:pPr algn="ctr"/>
            <a:r>
              <a:rPr sz="900" b="1" i="0">
                <a:solidFill>
                  <a:srgbClr val="697177"/>
                </a:solidFill>
                <a:latin typeface="Arial"/>
              </a:rPr>
              <a:t>3</a:t>
            </a:r>
          </a:p>
        </p:txBody>
      </p:sp>
      <p:sp>
        <p:nvSpPr>
          <p:cNvPr id="57" name="Rounded Rectangle 56"/>
          <p:cNvSpPr/>
          <p:nvPr/>
        </p:nvSpPr>
        <p:spPr>
          <a:xfrm>
            <a:off x="6812280" y="4826000"/>
            <a:ext cx="1917192"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58" name="TextBox 57"/>
          <p:cNvSpPr txBox="1"/>
          <p:nvPr/>
        </p:nvSpPr>
        <p:spPr>
          <a:xfrm>
            <a:off x="6812280" y="4826000"/>
            <a:ext cx="1917192" cy="330200"/>
          </a:xfrm>
          <a:prstGeom prst="rect">
            <a:avLst/>
          </a:prstGeom>
          <a:noFill/>
        </p:spPr>
        <p:txBody>
          <a:bodyPr wrap="square" lIns="0" rIns="0" tIns="0" bIns="0" anchor="ctr">
            <a:spAutoFit/>
          </a:bodyPr>
          <a:lstStyle/>
          <a:p>
            <a:pPr algn="ctr"/>
            <a:r>
              <a:rPr sz="900" b="1" i="0">
                <a:solidFill>
                  <a:srgbClr val="697177"/>
                </a:solidFill>
                <a:latin typeface="Arial"/>
              </a:rPr>
              <a:t>3</a:t>
            </a:r>
          </a:p>
        </p:txBody>
      </p:sp>
      <p:sp>
        <p:nvSpPr>
          <p:cNvPr id="59" name="TextBox 58"/>
          <p:cNvSpPr txBox="1"/>
          <p:nvPr/>
        </p:nvSpPr>
        <p:spPr>
          <a:xfrm>
            <a:off x="9034272" y="4914900"/>
            <a:ext cx="2540000" cy="177800"/>
          </a:xfrm>
          <a:prstGeom prst="rect">
            <a:avLst/>
          </a:prstGeom>
          <a:noFill/>
        </p:spPr>
        <p:txBody>
          <a:bodyPr wrap="square" lIns="0" rIns="0" tIns="0" bIns="0" anchor="t">
            <a:spAutoFit/>
          </a:bodyPr>
          <a:lstStyle/>
          <a:p>
            <a:pPr algn="l"/>
            <a:r>
              <a:rPr sz="950" b="0" i="0">
                <a:solidFill>
                  <a:srgbClr val="11181C"/>
                </a:solidFill>
                <a:latin typeface="Arial"/>
              </a:rPr>
              <a:t>Stat row, four cards</a:t>
            </a:r>
          </a:p>
        </p:txBody>
      </p:sp>
      <p:sp>
        <p:nvSpPr>
          <p:cNvPr id="60" name="Rounded Rectangle 59"/>
          <p:cNvSpPr/>
          <p:nvPr/>
        </p:nvSpPr>
        <p:spPr>
          <a:xfrm>
            <a:off x="609600" y="5283200"/>
            <a:ext cx="3295565"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61" name="TextBox 60"/>
          <p:cNvSpPr txBox="1"/>
          <p:nvPr/>
        </p:nvSpPr>
        <p:spPr>
          <a:xfrm>
            <a:off x="609600" y="5283200"/>
            <a:ext cx="3295565" cy="330200"/>
          </a:xfrm>
          <a:prstGeom prst="rect">
            <a:avLst/>
          </a:prstGeom>
          <a:noFill/>
        </p:spPr>
        <p:txBody>
          <a:bodyPr wrap="square" lIns="0" rIns="0" tIns="0" bIns="0" anchor="ctr">
            <a:spAutoFit/>
          </a:bodyPr>
          <a:lstStyle/>
          <a:p>
            <a:pPr algn="ctr"/>
            <a:r>
              <a:rPr sz="900" b="1" i="0">
                <a:solidFill>
                  <a:srgbClr val="697177"/>
                </a:solidFill>
                <a:latin typeface="Arial"/>
              </a:rPr>
              <a:t>5</a:t>
            </a:r>
          </a:p>
        </p:txBody>
      </p:sp>
      <p:sp>
        <p:nvSpPr>
          <p:cNvPr id="62" name="Rounded Rectangle 61"/>
          <p:cNvSpPr/>
          <p:nvPr/>
        </p:nvSpPr>
        <p:spPr>
          <a:xfrm>
            <a:off x="4055533" y="5283200"/>
            <a:ext cx="4673938"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63" name="TextBox 62"/>
          <p:cNvSpPr txBox="1"/>
          <p:nvPr/>
        </p:nvSpPr>
        <p:spPr>
          <a:xfrm>
            <a:off x="4055533" y="5283200"/>
            <a:ext cx="4673938" cy="330200"/>
          </a:xfrm>
          <a:prstGeom prst="rect">
            <a:avLst/>
          </a:prstGeom>
          <a:noFill/>
        </p:spPr>
        <p:txBody>
          <a:bodyPr wrap="square" lIns="0" rIns="0" tIns="0" bIns="0" anchor="ctr">
            <a:spAutoFit/>
          </a:bodyPr>
          <a:lstStyle/>
          <a:p>
            <a:pPr algn="ctr"/>
            <a:r>
              <a:rPr sz="900" b="1" i="0">
                <a:solidFill>
                  <a:srgbClr val="697177"/>
                </a:solidFill>
                <a:latin typeface="Arial"/>
              </a:rPr>
              <a:t>7</a:t>
            </a:r>
          </a:p>
        </p:txBody>
      </p:sp>
      <p:sp>
        <p:nvSpPr>
          <p:cNvPr id="64" name="TextBox 63"/>
          <p:cNvSpPr txBox="1"/>
          <p:nvPr/>
        </p:nvSpPr>
        <p:spPr>
          <a:xfrm>
            <a:off x="9034272" y="5372100"/>
            <a:ext cx="2540000" cy="177800"/>
          </a:xfrm>
          <a:prstGeom prst="rect">
            <a:avLst/>
          </a:prstGeom>
          <a:noFill/>
        </p:spPr>
        <p:txBody>
          <a:bodyPr wrap="square" lIns="0" rIns="0" tIns="0" bIns="0" anchor="t">
            <a:spAutoFit/>
          </a:bodyPr>
          <a:lstStyle/>
          <a:p>
            <a:pPr algn="l"/>
            <a:r>
              <a:rPr sz="950" b="0" i="0">
                <a:solidFill>
                  <a:srgbClr val="11181C"/>
                </a:solidFill>
                <a:latin typeface="Arial"/>
              </a:rPr>
              <a:t>Lede + evidence</a:t>
            </a:r>
          </a:p>
        </p:txBody>
      </p:sp>
      <p:sp>
        <p:nvSpPr>
          <p:cNvPr id="65" name="Rounded Rectangle 64"/>
          <p:cNvSpPr/>
          <p:nvPr/>
        </p:nvSpPr>
        <p:spPr>
          <a:xfrm>
            <a:off x="609600" y="5740400"/>
            <a:ext cx="5363125"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66" name="TextBox 65"/>
          <p:cNvSpPr txBox="1"/>
          <p:nvPr/>
        </p:nvSpPr>
        <p:spPr>
          <a:xfrm>
            <a:off x="609600" y="5740400"/>
            <a:ext cx="5363125" cy="330200"/>
          </a:xfrm>
          <a:prstGeom prst="rect">
            <a:avLst/>
          </a:prstGeom>
          <a:noFill/>
        </p:spPr>
        <p:txBody>
          <a:bodyPr wrap="square" lIns="0" rIns="0" tIns="0" bIns="0" anchor="ctr">
            <a:spAutoFit/>
          </a:bodyPr>
          <a:lstStyle/>
          <a:p>
            <a:pPr algn="ctr"/>
            <a:r>
              <a:rPr sz="900" b="1" i="0">
                <a:solidFill>
                  <a:srgbClr val="697177"/>
                </a:solidFill>
                <a:latin typeface="Arial"/>
              </a:rPr>
              <a:t>8</a:t>
            </a:r>
          </a:p>
        </p:txBody>
      </p:sp>
      <p:sp>
        <p:nvSpPr>
          <p:cNvPr id="67" name="Rounded Rectangle 66"/>
          <p:cNvSpPr/>
          <p:nvPr/>
        </p:nvSpPr>
        <p:spPr>
          <a:xfrm>
            <a:off x="6123093" y="5740400"/>
            <a:ext cx="2606378" cy="330200"/>
          </a:xfrm>
          <a:prstGeom prst="roundRect">
            <a:avLst>
              <a:gd name="adj" fmla="val 15384"/>
            </a:avLst>
          </a:prstGeom>
          <a:solidFill>
            <a:srgbClr val="F9FAFB"/>
          </a:solidFill>
          <a:ln w="6350">
            <a:solidFill>
              <a:srgbClr val="E0E3E6"/>
            </a:solidFill>
          </a:ln>
          <a:effectLst/>
        </p:spPr>
        <p:txBody>
          <a:bodyPr rtlCol="0" anchor="ctr"/>
          <a:lstStyle/>
          <a:p>
            <a:pPr algn="ctr"/>
          </a:p>
        </p:txBody>
      </p:sp>
      <p:sp>
        <p:nvSpPr>
          <p:cNvPr id="68" name="TextBox 67"/>
          <p:cNvSpPr txBox="1"/>
          <p:nvPr/>
        </p:nvSpPr>
        <p:spPr>
          <a:xfrm>
            <a:off x="6123093" y="5740400"/>
            <a:ext cx="2606378" cy="330200"/>
          </a:xfrm>
          <a:prstGeom prst="rect">
            <a:avLst/>
          </a:prstGeom>
          <a:noFill/>
        </p:spPr>
        <p:txBody>
          <a:bodyPr wrap="square" lIns="0" rIns="0" tIns="0" bIns="0" anchor="ctr">
            <a:spAutoFit/>
          </a:bodyPr>
          <a:lstStyle/>
          <a:p>
            <a:pPr algn="ctr"/>
            <a:r>
              <a:rPr sz="900" b="1" i="0">
                <a:solidFill>
                  <a:srgbClr val="697177"/>
                </a:solidFill>
                <a:latin typeface="Arial"/>
              </a:rPr>
              <a:t>4</a:t>
            </a:r>
          </a:p>
        </p:txBody>
      </p:sp>
      <p:sp>
        <p:nvSpPr>
          <p:cNvPr id="69" name="TextBox 68"/>
          <p:cNvSpPr txBox="1"/>
          <p:nvPr/>
        </p:nvSpPr>
        <p:spPr>
          <a:xfrm>
            <a:off x="9034272" y="5829300"/>
            <a:ext cx="2540000" cy="177800"/>
          </a:xfrm>
          <a:prstGeom prst="rect">
            <a:avLst/>
          </a:prstGeom>
          <a:noFill/>
        </p:spPr>
        <p:txBody>
          <a:bodyPr wrap="square" lIns="0" rIns="0" tIns="0" bIns="0" anchor="t">
            <a:spAutoFit/>
          </a:bodyPr>
          <a:lstStyle/>
          <a:p>
            <a:pPr algn="l"/>
            <a:r>
              <a:rPr sz="950" b="0" i="0">
                <a:solidFill>
                  <a:srgbClr val="11181C"/>
                </a:solidFill>
                <a:latin typeface="Arial"/>
              </a:rPr>
              <a:t>Chart + takeaway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COMPONENTS · SLIDE ANATOMY</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Every content slide, </a:t>
            </a:r>
            <a:r>
              <a:rPr sz="2400" b="0" i="1">
                <a:solidFill>
                  <a:srgbClr val="11181C"/>
                </a:solidFill>
                <a:latin typeface="Georgia"/>
              </a:rPr>
              <a:t>same frame</a:t>
            </a:r>
            <a:r>
              <a:rPr sz="2400" b="0" i="0">
                <a:solidFill>
                  <a:srgbClr val="11181C"/>
                </a:solidFill>
                <a:latin typeface="Georgia"/>
              </a:rPr>
              <a:t>.</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12</a:t>
            </a:r>
          </a:p>
        </p:txBody>
      </p:sp>
      <p:sp>
        <p:nvSpPr>
          <p:cNvPr id="11" name="Rectangle 10"/>
          <p:cNvSpPr/>
          <p:nvPr/>
        </p:nvSpPr>
        <p:spPr>
          <a:xfrm>
            <a:off x="609600" y="1879600"/>
            <a:ext cx="6096000" cy="3429000"/>
          </a:xfrm>
          <a:prstGeom prst="rect">
            <a:avLst/>
          </a:prstGeom>
          <a:solidFill>
            <a:srgbClr val="FFFFFF"/>
          </a:solidFill>
          <a:ln w="12700">
            <a:solidFill>
              <a:srgbClr val="D7DBDF"/>
            </a:solidFill>
          </a:ln>
          <a:effectLst/>
        </p:spPr>
        <p:txBody>
          <a:bodyPr rtlCol="0" anchor="ctr"/>
          <a:lstStyle/>
          <a:p>
            <a:pPr algn="ctr"/>
          </a:p>
        </p:txBody>
      </p:sp>
      <p:sp>
        <p:nvSpPr>
          <p:cNvPr id="12" name="Rectangle 11"/>
          <p:cNvSpPr/>
          <p:nvPr/>
        </p:nvSpPr>
        <p:spPr>
          <a:xfrm>
            <a:off x="914400" y="2019300"/>
            <a:ext cx="317500" cy="114300"/>
          </a:xfrm>
          <a:prstGeom prst="rect">
            <a:avLst/>
          </a:prstGeom>
          <a:solidFill>
            <a:srgbClr val="E55200"/>
          </a:solidFill>
          <a:ln>
            <a:noFill/>
          </a:ln>
          <a:effectLst/>
        </p:spPr>
        <p:txBody>
          <a:bodyPr rtlCol="0" anchor="ctr"/>
          <a:lstStyle/>
          <a:p>
            <a:pPr algn="ctr"/>
          </a:p>
        </p:txBody>
      </p:sp>
      <p:sp>
        <p:nvSpPr>
          <p:cNvPr id="13" name="TextBox 12"/>
          <p:cNvSpPr txBox="1"/>
          <p:nvPr/>
        </p:nvSpPr>
        <p:spPr>
          <a:xfrm>
            <a:off x="4165600" y="2044700"/>
            <a:ext cx="2235200" cy="101600"/>
          </a:xfrm>
          <a:prstGeom prst="rect">
            <a:avLst/>
          </a:prstGeom>
          <a:noFill/>
        </p:spPr>
        <p:txBody>
          <a:bodyPr wrap="square" lIns="0" rIns="0" tIns="0" bIns="0" anchor="t">
            <a:spAutoFit/>
          </a:bodyPr>
          <a:lstStyle/>
          <a:p>
            <a:pPr algn="r"/>
            <a:r>
              <a:rPr sz="400" b="1" i="0">
                <a:solidFill>
                  <a:srgbClr val="11181C"/>
                </a:solidFill>
                <a:latin typeface="Arial"/>
              </a:rPr>
              <a:t>NEDP 6-MONTH REVIEW · SECTION</a:t>
            </a:r>
          </a:p>
        </p:txBody>
      </p:sp>
      <p:cxnSp>
        <p:nvCxnSpPr>
          <p:cNvPr id="14" name="Connector 13"/>
          <p:cNvCxnSpPr/>
          <p:nvPr/>
        </p:nvCxnSpPr>
        <p:spPr>
          <a:xfrm>
            <a:off x="914400" y="2197100"/>
            <a:ext cx="5486400" cy="0"/>
          </a:xfrm>
          <a:prstGeom prst="line">
            <a:avLst/>
          </a:prstGeom>
          <a:ln w="6350">
            <a:solidFill>
              <a:srgbClr val="E6E8EB"/>
            </a:solidFill>
          </a:ln>
        </p:spPr>
      </p:cxnSp>
      <p:sp>
        <p:nvSpPr>
          <p:cNvPr id="15" name="TextBox 14"/>
          <p:cNvSpPr txBox="1"/>
          <p:nvPr/>
        </p:nvSpPr>
        <p:spPr>
          <a:xfrm>
            <a:off x="914400" y="2298700"/>
            <a:ext cx="3810000" cy="101600"/>
          </a:xfrm>
          <a:prstGeom prst="rect">
            <a:avLst/>
          </a:prstGeom>
          <a:noFill/>
        </p:spPr>
        <p:txBody>
          <a:bodyPr wrap="square" lIns="0" rIns="0" tIns="0" bIns="0" anchor="t">
            <a:spAutoFit/>
          </a:bodyPr>
          <a:lstStyle/>
          <a:p>
            <a:pPr algn="l"/>
            <a:r>
              <a:rPr sz="450" b="1" i="0" spc="60">
                <a:solidFill>
                  <a:srgbClr val="697177"/>
                </a:solidFill>
                <a:latin typeface="Arial"/>
              </a:rPr>
              <a:t>KICKER</a:t>
            </a:r>
          </a:p>
        </p:txBody>
      </p:sp>
      <p:sp>
        <p:nvSpPr>
          <p:cNvPr id="16" name="TextBox 15"/>
          <p:cNvSpPr txBox="1"/>
          <p:nvPr/>
        </p:nvSpPr>
        <p:spPr>
          <a:xfrm>
            <a:off x="914400" y="2387600"/>
            <a:ext cx="5080000" cy="203200"/>
          </a:xfrm>
          <a:prstGeom prst="rect">
            <a:avLst/>
          </a:prstGeom>
          <a:noFill/>
        </p:spPr>
        <p:txBody>
          <a:bodyPr wrap="square" lIns="0" rIns="0" tIns="0" bIns="0" anchor="t">
            <a:spAutoFit/>
          </a:bodyPr>
          <a:lstStyle/>
          <a:p>
            <a:pPr algn="l"/>
            <a:r>
              <a:rPr sz="1100" b="0" i="0">
                <a:solidFill>
                  <a:srgbClr val="11181C"/>
                </a:solidFill>
                <a:latin typeface="Georgia"/>
              </a:rPr>
              <a:t>Headline with one </a:t>
            </a:r>
            <a:r>
              <a:rPr sz="1100" b="0" i="1">
                <a:solidFill>
                  <a:srgbClr val="11181C"/>
                </a:solidFill>
                <a:latin typeface="Georgia"/>
              </a:rPr>
              <a:t>italic</a:t>
            </a:r>
            <a:r>
              <a:rPr sz="1100" b="0" i="0">
                <a:solidFill>
                  <a:srgbClr val="11181C"/>
                </a:solidFill>
                <a:latin typeface="Georgia"/>
              </a:rPr>
              <a:t> idea</a:t>
            </a:r>
          </a:p>
        </p:txBody>
      </p:sp>
      <p:sp>
        <p:nvSpPr>
          <p:cNvPr id="17" name="TextBox 16"/>
          <p:cNvSpPr txBox="1"/>
          <p:nvPr/>
        </p:nvSpPr>
        <p:spPr>
          <a:xfrm>
            <a:off x="914400" y="2641600"/>
            <a:ext cx="3810000" cy="101600"/>
          </a:xfrm>
          <a:prstGeom prst="rect">
            <a:avLst/>
          </a:prstGeom>
          <a:noFill/>
        </p:spPr>
        <p:txBody>
          <a:bodyPr wrap="square" lIns="0" rIns="0" tIns="0" bIns="0" anchor="t">
            <a:spAutoFit/>
          </a:bodyPr>
          <a:lstStyle/>
          <a:p>
            <a:pPr algn="l"/>
            <a:r>
              <a:rPr sz="500" b="0" i="0">
                <a:solidFill>
                  <a:srgbClr val="4D555C"/>
                </a:solidFill>
                <a:latin typeface="Arial"/>
              </a:rPr>
              <a:t>Lede sentence in slate 12, max two lines.</a:t>
            </a:r>
          </a:p>
        </p:txBody>
      </p:sp>
      <p:sp>
        <p:nvSpPr>
          <p:cNvPr id="18" name="Rectangle 17"/>
          <p:cNvSpPr/>
          <p:nvPr/>
        </p:nvSpPr>
        <p:spPr>
          <a:xfrm>
            <a:off x="914400" y="2832100"/>
            <a:ext cx="5486400" cy="2222500"/>
          </a:xfrm>
          <a:prstGeom prst="rect">
            <a:avLst/>
          </a:prstGeom>
          <a:solidFill>
            <a:srgbClr val="E5FFF1"/>
          </a:solidFill>
          <a:ln w="9525">
            <a:solidFill>
              <a:srgbClr val="83E7AE"/>
            </a:solidFill>
            <a:prstDash val="dash"/>
          </a:ln>
          <a:effectLst/>
        </p:spPr>
        <p:txBody>
          <a:bodyPr rtlCol="0" anchor="ctr"/>
          <a:lstStyle/>
          <a:p>
            <a:pPr algn="ctr"/>
          </a:p>
        </p:txBody>
      </p:sp>
      <p:sp>
        <p:nvSpPr>
          <p:cNvPr id="19" name="TextBox 18"/>
          <p:cNvSpPr txBox="1"/>
          <p:nvPr/>
        </p:nvSpPr>
        <p:spPr>
          <a:xfrm>
            <a:off x="914400" y="2832100"/>
            <a:ext cx="5486400" cy="2222500"/>
          </a:xfrm>
          <a:prstGeom prst="rect">
            <a:avLst/>
          </a:prstGeom>
          <a:noFill/>
        </p:spPr>
        <p:txBody>
          <a:bodyPr wrap="square" lIns="0" rIns="0" tIns="0" bIns="0" anchor="ctr">
            <a:spAutoFit/>
          </a:bodyPr>
          <a:lstStyle/>
          <a:p>
            <a:pPr algn="ctr"/>
            <a:r>
              <a:rPr sz="800" b="1" i="0">
                <a:solidFill>
                  <a:srgbClr val="076932"/>
                </a:solidFill>
                <a:latin typeface="Arial"/>
              </a:rPr>
              <a:t>BODY</a:t>
            </a:r>
          </a:p>
          <a:p>
            <a:pPr algn="ctr"/>
            <a:r>
              <a:rPr sz="800" b="1" i="0">
                <a:solidFill>
                  <a:srgbClr val="076932"/>
                </a:solidFill>
                <a:latin typeface="Arial"/>
              </a:rPr>
              <a:t>864 × 350 pt</a:t>
            </a:r>
          </a:p>
        </p:txBody>
      </p:sp>
      <p:cxnSp>
        <p:nvCxnSpPr>
          <p:cNvPr id="20" name="Connector 19"/>
          <p:cNvCxnSpPr/>
          <p:nvPr/>
        </p:nvCxnSpPr>
        <p:spPr>
          <a:xfrm>
            <a:off x="914400" y="5130800"/>
            <a:ext cx="5486400" cy="0"/>
          </a:xfrm>
          <a:prstGeom prst="line">
            <a:avLst/>
          </a:prstGeom>
          <a:ln w="6350">
            <a:solidFill>
              <a:srgbClr val="E6E8EB"/>
            </a:solidFill>
          </a:ln>
        </p:spPr>
      </p:cxnSp>
      <p:sp>
        <p:nvSpPr>
          <p:cNvPr id="21" name="TextBox 20"/>
          <p:cNvSpPr txBox="1"/>
          <p:nvPr/>
        </p:nvSpPr>
        <p:spPr>
          <a:xfrm>
            <a:off x="914400" y="5156200"/>
            <a:ext cx="2540000" cy="76200"/>
          </a:xfrm>
          <a:prstGeom prst="rect">
            <a:avLst/>
          </a:prstGeom>
          <a:noFill/>
        </p:spPr>
        <p:txBody>
          <a:bodyPr wrap="square" lIns="0" rIns="0" tIns="0" bIns="0" anchor="t">
            <a:spAutoFit/>
          </a:bodyPr>
          <a:lstStyle/>
          <a:p>
            <a:pPr algn="l"/>
            <a:r>
              <a:rPr sz="350" b="1" i="0">
                <a:solidFill>
                  <a:srgbClr val="697177"/>
                </a:solidFill>
                <a:latin typeface="Arial"/>
              </a:rPr>
              <a:t>FOOTER · DECK NAME</a:t>
            </a:r>
          </a:p>
        </p:txBody>
      </p:sp>
      <p:sp>
        <p:nvSpPr>
          <p:cNvPr id="22" name="Oval 21"/>
          <p:cNvSpPr/>
          <p:nvPr/>
        </p:nvSpPr>
        <p:spPr>
          <a:xfrm>
            <a:off x="1301750" y="1987550"/>
            <a:ext cx="177800" cy="177800"/>
          </a:xfrm>
          <a:prstGeom prst="ellipse">
            <a:avLst/>
          </a:prstGeom>
          <a:solidFill>
            <a:srgbClr val="11181C"/>
          </a:solidFill>
          <a:ln>
            <a:noFill/>
          </a:ln>
          <a:effectLst/>
        </p:spPr>
        <p:txBody>
          <a:bodyPr rtlCol="0" anchor="ctr"/>
          <a:lstStyle/>
          <a:p>
            <a:pPr algn="ctr"/>
          </a:p>
        </p:txBody>
      </p:sp>
      <p:sp>
        <p:nvSpPr>
          <p:cNvPr id="23" name="TextBox 22"/>
          <p:cNvSpPr txBox="1"/>
          <p:nvPr/>
        </p:nvSpPr>
        <p:spPr>
          <a:xfrm>
            <a:off x="1301750" y="1987550"/>
            <a:ext cx="177800" cy="177800"/>
          </a:xfrm>
          <a:prstGeom prst="rect">
            <a:avLst/>
          </a:prstGeom>
          <a:noFill/>
        </p:spPr>
        <p:txBody>
          <a:bodyPr wrap="square" lIns="0" rIns="0" tIns="0" bIns="0" anchor="ctr">
            <a:spAutoFit/>
          </a:bodyPr>
          <a:lstStyle/>
          <a:p>
            <a:pPr algn="ctr"/>
            <a:r>
              <a:rPr sz="700" b="1" i="0">
                <a:solidFill>
                  <a:srgbClr val="FFFFFF"/>
                </a:solidFill>
                <a:latin typeface="Arial"/>
              </a:rPr>
              <a:t>1</a:t>
            </a:r>
          </a:p>
        </p:txBody>
      </p:sp>
      <p:sp>
        <p:nvSpPr>
          <p:cNvPr id="24" name="Oval 23"/>
          <p:cNvSpPr/>
          <p:nvPr/>
        </p:nvSpPr>
        <p:spPr>
          <a:xfrm>
            <a:off x="3898900" y="1981200"/>
            <a:ext cx="177800" cy="177800"/>
          </a:xfrm>
          <a:prstGeom prst="ellipse">
            <a:avLst/>
          </a:prstGeom>
          <a:solidFill>
            <a:srgbClr val="11181C"/>
          </a:solidFill>
          <a:ln>
            <a:noFill/>
          </a:ln>
          <a:effectLst/>
        </p:spPr>
        <p:txBody>
          <a:bodyPr rtlCol="0" anchor="ctr"/>
          <a:lstStyle/>
          <a:p>
            <a:pPr algn="ctr"/>
          </a:p>
        </p:txBody>
      </p:sp>
      <p:sp>
        <p:nvSpPr>
          <p:cNvPr id="25" name="TextBox 24"/>
          <p:cNvSpPr txBox="1"/>
          <p:nvPr/>
        </p:nvSpPr>
        <p:spPr>
          <a:xfrm>
            <a:off x="3898900" y="1981200"/>
            <a:ext cx="177800" cy="177800"/>
          </a:xfrm>
          <a:prstGeom prst="rect">
            <a:avLst/>
          </a:prstGeom>
          <a:noFill/>
        </p:spPr>
        <p:txBody>
          <a:bodyPr wrap="square" lIns="0" rIns="0" tIns="0" bIns="0" anchor="ctr">
            <a:spAutoFit/>
          </a:bodyPr>
          <a:lstStyle/>
          <a:p>
            <a:pPr algn="ctr"/>
            <a:r>
              <a:rPr sz="700" b="1" i="0">
                <a:solidFill>
                  <a:srgbClr val="FFFFFF"/>
                </a:solidFill>
                <a:latin typeface="Arial"/>
              </a:rPr>
              <a:t>2</a:t>
            </a:r>
          </a:p>
        </p:txBody>
      </p:sp>
      <p:sp>
        <p:nvSpPr>
          <p:cNvPr id="26" name="Oval 25"/>
          <p:cNvSpPr/>
          <p:nvPr/>
        </p:nvSpPr>
        <p:spPr>
          <a:xfrm>
            <a:off x="609600" y="2235200"/>
            <a:ext cx="177800" cy="177800"/>
          </a:xfrm>
          <a:prstGeom prst="ellipse">
            <a:avLst/>
          </a:prstGeom>
          <a:solidFill>
            <a:srgbClr val="11181C"/>
          </a:solidFill>
          <a:ln>
            <a:noFill/>
          </a:ln>
          <a:effectLst/>
        </p:spPr>
        <p:txBody>
          <a:bodyPr rtlCol="0" anchor="ctr"/>
          <a:lstStyle/>
          <a:p>
            <a:pPr algn="ctr"/>
          </a:p>
        </p:txBody>
      </p:sp>
      <p:sp>
        <p:nvSpPr>
          <p:cNvPr id="27" name="TextBox 26"/>
          <p:cNvSpPr txBox="1"/>
          <p:nvPr/>
        </p:nvSpPr>
        <p:spPr>
          <a:xfrm>
            <a:off x="609600" y="2235200"/>
            <a:ext cx="177800" cy="177800"/>
          </a:xfrm>
          <a:prstGeom prst="rect">
            <a:avLst/>
          </a:prstGeom>
          <a:noFill/>
        </p:spPr>
        <p:txBody>
          <a:bodyPr wrap="square" lIns="0" rIns="0" tIns="0" bIns="0" anchor="ctr">
            <a:spAutoFit/>
          </a:bodyPr>
          <a:lstStyle/>
          <a:p>
            <a:pPr algn="ctr"/>
            <a:r>
              <a:rPr sz="700" b="1" i="0">
                <a:solidFill>
                  <a:srgbClr val="FFFFFF"/>
                </a:solidFill>
                <a:latin typeface="Arial"/>
              </a:rPr>
              <a:t>3</a:t>
            </a:r>
          </a:p>
        </p:txBody>
      </p:sp>
      <p:sp>
        <p:nvSpPr>
          <p:cNvPr id="28" name="Oval 27"/>
          <p:cNvSpPr/>
          <p:nvPr/>
        </p:nvSpPr>
        <p:spPr>
          <a:xfrm>
            <a:off x="609600" y="2387600"/>
            <a:ext cx="177800" cy="177800"/>
          </a:xfrm>
          <a:prstGeom prst="ellipse">
            <a:avLst/>
          </a:prstGeom>
          <a:solidFill>
            <a:srgbClr val="11181C"/>
          </a:solidFill>
          <a:ln>
            <a:noFill/>
          </a:ln>
          <a:effectLst/>
        </p:spPr>
        <p:txBody>
          <a:bodyPr rtlCol="0" anchor="ctr"/>
          <a:lstStyle/>
          <a:p>
            <a:pPr algn="ctr"/>
          </a:p>
        </p:txBody>
      </p:sp>
      <p:sp>
        <p:nvSpPr>
          <p:cNvPr id="29" name="TextBox 28"/>
          <p:cNvSpPr txBox="1"/>
          <p:nvPr/>
        </p:nvSpPr>
        <p:spPr>
          <a:xfrm>
            <a:off x="609600" y="2387600"/>
            <a:ext cx="177800" cy="177800"/>
          </a:xfrm>
          <a:prstGeom prst="rect">
            <a:avLst/>
          </a:prstGeom>
          <a:noFill/>
        </p:spPr>
        <p:txBody>
          <a:bodyPr wrap="square" lIns="0" rIns="0" tIns="0" bIns="0" anchor="ctr">
            <a:spAutoFit/>
          </a:bodyPr>
          <a:lstStyle/>
          <a:p>
            <a:pPr algn="ctr"/>
            <a:r>
              <a:rPr sz="700" b="1" i="0">
                <a:solidFill>
                  <a:srgbClr val="FFFFFF"/>
                </a:solidFill>
                <a:latin typeface="Arial"/>
              </a:rPr>
              <a:t>4</a:t>
            </a:r>
          </a:p>
        </p:txBody>
      </p:sp>
      <p:sp>
        <p:nvSpPr>
          <p:cNvPr id="30" name="Oval 29"/>
          <p:cNvSpPr/>
          <p:nvPr/>
        </p:nvSpPr>
        <p:spPr>
          <a:xfrm>
            <a:off x="609600" y="2565400"/>
            <a:ext cx="177800" cy="177800"/>
          </a:xfrm>
          <a:prstGeom prst="ellipse">
            <a:avLst/>
          </a:prstGeom>
          <a:solidFill>
            <a:srgbClr val="11181C"/>
          </a:solidFill>
          <a:ln>
            <a:noFill/>
          </a:ln>
          <a:effectLst/>
        </p:spPr>
        <p:txBody>
          <a:bodyPr rtlCol="0" anchor="ctr"/>
          <a:lstStyle/>
          <a:p>
            <a:pPr algn="ctr"/>
          </a:p>
        </p:txBody>
      </p:sp>
      <p:sp>
        <p:nvSpPr>
          <p:cNvPr id="31" name="TextBox 30"/>
          <p:cNvSpPr txBox="1"/>
          <p:nvPr/>
        </p:nvSpPr>
        <p:spPr>
          <a:xfrm>
            <a:off x="609600" y="2565400"/>
            <a:ext cx="177800" cy="177800"/>
          </a:xfrm>
          <a:prstGeom prst="rect">
            <a:avLst/>
          </a:prstGeom>
          <a:noFill/>
        </p:spPr>
        <p:txBody>
          <a:bodyPr wrap="square" lIns="0" rIns="0" tIns="0" bIns="0" anchor="ctr">
            <a:spAutoFit/>
          </a:bodyPr>
          <a:lstStyle/>
          <a:p>
            <a:pPr algn="ctr"/>
            <a:r>
              <a:rPr sz="700" b="1" i="0">
                <a:solidFill>
                  <a:srgbClr val="FFFFFF"/>
                </a:solidFill>
                <a:latin typeface="Arial"/>
              </a:rPr>
              <a:t>5</a:t>
            </a:r>
          </a:p>
        </p:txBody>
      </p:sp>
      <p:sp>
        <p:nvSpPr>
          <p:cNvPr id="32" name="Oval 31"/>
          <p:cNvSpPr/>
          <p:nvPr/>
        </p:nvSpPr>
        <p:spPr>
          <a:xfrm>
            <a:off x="3568700" y="2997200"/>
            <a:ext cx="177800" cy="177800"/>
          </a:xfrm>
          <a:prstGeom prst="ellipse">
            <a:avLst/>
          </a:prstGeom>
          <a:solidFill>
            <a:srgbClr val="11181C"/>
          </a:solidFill>
          <a:ln>
            <a:noFill/>
          </a:ln>
          <a:effectLst/>
        </p:spPr>
        <p:txBody>
          <a:bodyPr rtlCol="0" anchor="ctr"/>
          <a:lstStyle/>
          <a:p>
            <a:pPr algn="ctr"/>
          </a:p>
        </p:txBody>
      </p:sp>
      <p:sp>
        <p:nvSpPr>
          <p:cNvPr id="33" name="TextBox 32"/>
          <p:cNvSpPr txBox="1"/>
          <p:nvPr/>
        </p:nvSpPr>
        <p:spPr>
          <a:xfrm>
            <a:off x="3568700" y="2997200"/>
            <a:ext cx="177800" cy="177800"/>
          </a:xfrm>
          <a:prstGeom prst="rect">
            <a:avLst/>
          </a:prstGeom>
          <a:noFill/>
        </p:spPr>
        <p:txBody>
          <a:bodyPr wrap="square" lIns="0" rIns="0" tIns="0" bIns="0" anchor="ctr">
            <a:spAutoFit/>
          </a:bodyPr>
          <a:lstStyle/>
          <a:p>
            <a:pPr algn="ctr"/>
            <a:r>
              <a:rPr sz="700" b="1" i="0">
                <a:solidFill>
                  <a:srgbClr val="FFFFFF"/>
                </a:solidFill>
                <a:latin typeface="Arial"/>
              </a:rPr>
              <a:t>6</a:t>
            </a:r>
          </a:p>
        </p:txBody>
      </p:sp>
      <p:sp>
        <p:nvSpPr>
          <p:cNvPr id="34" name="Oval 33"/>
          <p:cNvSpPr/>
          <p:nvPr/>
        </p:nvSpPr>
        <p:spPr>
          <a:xfrm>
            <a:off x="1841500" y="5067300"/>
            <a:ext cx="177800" cy="177800"/>
          </a:xfrm>
          <a:prstGeom prst="ellipse">
            <a:avLst/>
          </a:prstGeom>
          <a:solidFill>
            <a:srgbClr val="11181C"/>
          </a:solidFill>
          <a:ln>
            <a:noFill/>
          </a:ln>
          <a:effectLst/>
        </p:spPr>
        <p:txBody>
          <a:bodyPr rtlCol="0" anchor="ctr"/>
          <a:lstStyle/>
          <a:p>
            <a:pPr algn="ctr"/>
          </a:p>
        </p:txBody>
      </p:sp>
      <p:sp>
        <p:nvSpPr>
          <p:cNvPr id="35" name="TextBox 34"/>
          <p:cNvSpPr txBox="1"/>
          <p:nvPr/>
        </p:nvSpPr>
        <p:spPr>
          <a:xfrm>
            <a:off x="1841500" y="5067300"/>
            <a:ext cx="177800" cy="177800"/>
          </a:xfrm>
          <a:prstGeom prst="rect">
            <a:avLst/>
          </a:prstGeom>
          <a:noFill/>
        </p:spPr>
        <p:txBody>
          <a:bodyPr wrap="square" lIns="0" rIns="0" tIns="0" bIns="0" anchor="ctr">
            <a:spAutoFit/>
          </a:bodyPr>
          <a:lstStyle/>
          <a:p>
            <a:pPr algn="ctr"/>
            <a:r>
              <a:rPr sz="700" b="1" i="0">
                <a:solidFill>
                  <a:srgbClr val="FFFFFF"/>
                </a:solidFill>
                <a:latin typeface="Arial"/>
              </a:rPr>
              <a:t>7</a:t>
            </a:r>
          </a:p>
        </p:txBody>
      </p:sp>
      <p:sp>
        <p:nvSpPr>
          <p:cNvPr id="36" name="Oval 35"/>
          <p:cNvSpPr/>
          <p:nvPr/>
        </p:nvSpPr>
        <p:spPr>
          <a:xfrm>
            <a:off x="7010400" y="1905000"/>
            <a:ext cx="203200" cy="203200"/>
          </a:xfrm>
          <a:prstGeom prst="ellipse">
            <a:avLst/>
          </a:prstGeom>
          <a:solidFill>
            <a:srgbClr val="11181C"/>
          </a:solidFill>
          <a:ln>
            <a:noFill/>
          </a:ln>
          <a:effectLst/>
        </p:spPr>
        <p:txBody>
          <a:bodyPr rtlCol="0" anchor="ctr"/>
          <a:lstStyle/>
          <a:p>
            <a:pPr algn="ctr"/>
          </a:p>
        </p:txBody>
      </p:sp>
      <p:sp>
        <p:nvSpPr>
          <p:cNvPr id="37" name="TextBox 36"/>
          <p:cNvSpPr txBox="1"/>
          <p:nvPr/>
        </p:nvSpPr>
        <p:spPr>
          <a:xfrm>
            <a:off x="7010400" y="1905000"/>
            <a:ext cx="203200" cy="203200"/>
          </a:xfrm>
          <a:prstGeom prst="rect">
            <a:avLst/>
          </a:prstGeom>
          <a:noFill/>
        </p:spPr>
        <p:txBody>
          <a:bodyPr wrap="square" lIns="0" rIns="0" tIns="0" bIns="0" anchor="ctr">
            <a:spAutoFit/>
          </a:bodyPr>
          <a:lstStyle/>
          <a:p>
            <a:pPr algn="ctr"/>
            <a:r>
              <a:rPr sz="750" b="1" i="0">
                <a:solidFill>
                  <a:srgbClr val="FFFFFF"/>
                </a:solidFill>
                <a:latin typeface="Arial"/>
              </a:rPr>
              <a:t>1</a:t>
            </a:r>
          </a:p>
        </p:txBody>
      </p:sp>
      <p:sp>
        <p:nvSpPr>
          <p:cNvPr id="38" name="TextBox 37"/>
          <p:cNvSpPr txBox="1"/>
          <p:nvPr/>
        </p:nvSpPr>
        <p:spPr>
          <a:xfrm>
            <a:off x="7340600" y="1905000"/>
            <a:ext cx="4191000" cy="203200"/>
          </a:xfrm>
          <a:prstGeom prst="rect">
            <a:avLst/>
          </a:prstGeom>
          <a:noFill/>
        </p:spPr>
        <p:txBody>
          <a:bodyPr wrap="square" lIns="0" rIns="0" tIns="0" bIns="0" anchor="t">
            <a:spAutoFit/>
          </a:bodyPr>
          <a:lstStyle/>
          <a:p>
            <a:pPr algn="l"/>
            <a:r>
              <a:rPr sz="1200" b="0" i="0">
                <a:solidFill>
                  <a:srgbClr val="11181C"/>
                </a:solidFill>
                <a:latin typeface="Georgia"/>
              </a:rPr>
              <a:t>Logo</a:t>
            </a:r>
          </a:p>
        </p:txBody>
      </p:sp>
      <p:sp>
        <p:nvSpPr>
          <p:cNvPr id="39" name="TextBox 38"/>
          <p:cNvSpPr txBox="1"/>
          <p:nvPr/>
        </p:nvSpPr>
        <p:spPr>
          <a:xfrm>
            <a:off x="7340600" y="2133600"/>
            <a:ext cx="4191000" cy="3048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Triatra logo, 18 pt high, top-left at 48 / 22 pt.</a:t>
            </a:r>
          </a:p>
        </p:txBody>
      </p:sp>
      <p:cxnSp>
        <p:nvCxnSpPr>
          <p:cNvPr id="40" name="Connector 39"/>
          <p:cNvCxnSpPr/>
          <p:nvPr/>
        </p:nvCxnSpPr>
        <p:spPr>
          <a:xfrm>
            <a:off x="7010400" y="2438400"/>
            <a:ext cx="4572000" cy="0"/>
          </a:xfrm>
          <a:prstGeom prst="line">
            <a:avLst/>
          </a:prstGeom>
          <a:ln w="9525">
            <a:solidFill>
              <a:srgbClr val="EBEDEF"/>
            </a:solidFill>
          </a:ln>
        </p:spPr>
      </p:cxnSp>
      <p:sp>
        <p:nvSpPr>
          <p:cNvPr id="41" name="Oval 40"/>
          <p:cNvSpPr/>
          <p:nvPr/>
        </p:nvSpPr>
        <p:spPr>
          <a:xfrm>
            <a:off x="7010400" y="2527300"/>
            <a:ext cx="203200" cy="203200"/>
          </a:xfrm>
          <a:prstGeom prst="ellipse">
            <a:avLst/>
          </a:prstGeom>
          <a:solidFill>
            <a:srgbClr val="11181C"/>
          </a:solidFill>
          <a:ln>
            <a:noFill/>
          </a:ln>
          <a:effectLst/>
        </p:spPr>
        <p:txBody>
          <a:bodyPr rtlCol="0" anchor="ctr"/>
          <a:lstStyle/>
          <a:p>
            <a:pPr algn="ctr"/>
          </a:p>
        </p:txBody>
      </p:sp>
      <p:sp>
        <p:nvSpPr>
          <p:cNvPr id="42" name="TextBox 41"/>
          <p:cNvSpPr txBox="1"/>
          <p:nvPr/>
        </p:nvSpPr>
        <p:spPr>
          <a:xfrm>
            <a:off x="7010400" y="2527300"/>
            <a:ext cx="203200" cy="203200"/>
          </a:xfrm>
          <a:prstGeom prst="rect">
            <a:avLst/>
          </a:prstGeom>
          <a:noFill/>
        </p:spPr>
        <p:txBody>
          <a:bodyPr wrap="square" lIns="0" rIns="0" tIns="0" bIns="0" anchor="ctr">
            <a:spAutoFit/>
          </a:bodyPr>
          <a:lstStyle/>
          <a:p>
            <a:pPr algn="ctr"/>
            <a:r>
              <a:rPr sz="750" b="1" i="0">
                <a:solidFill>
                  <a:srgbClr val="FFFFFF"/>
                </a:solidFill>
                <a:latin typeface="Arial"/>
              </a:rPr>
              <a:t>2</a:t>
            </a:r>
          </a:p>
        </p:txBody>
      </p:sp>
      <p:sp>
        <p:nvSpPr>
          <p:cNvPr id="43" name="TextBox 42"/>
          <p:cNvSpPr txBox="1"/>
          <p:nvPr/>
        </p:nvSpPr>
        <p:spPr>
          <a:xfrm>
            <a:off x="7340600" y="2527300"/>
            <a:ext cx="4191000" cy="203200"/>
          </a:xfrm>
          <a:prstGeom prst="rect">
            <a:avLst/>
          </a:prstGeom>
          <a:noFill/>
        </p:spPr>
        <p:txBody>
          <a:bodyPr wrap="square" lIns="0" rIns="0" tIns="0" bIns="0" anchor="t">
            <a:spAutoFit/>
          </a:bodyPr>
          <a:lstStyle/>
          <a:p>
            <a:pPr algn="l"/>
            <a:r>
              <a:rPr sz="1200" b="0" i="0">
                <a:solidFill>
                  <a:srgbClr val="11181C"/>
                </a:solidFill>
                <a:latin typeface="Georgia"/>
              </a:rPr>
              <a:t>Utility bar</a:t>
            </a:r>
          </a:p>
        </p:txBody>
      </p:sp>
      <p:sp>
        <p:nvSpPr>
          <p:cNvPr id="44" name="TextBox 43"/>
          <p:cNvSpPr txBox="1"/>
          <p:nvPr/>
        </p:nvSpPr>
        <p:spPr>
          <a:xfrm>
            <a:off x="7340600" y="2755900"/>
            <a:ext cx="4191000" cy="3048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Deck · section in 7 pt bold caps, right-aligned; hairline at 50 pt.</a:t>
            </a:r>
          </a:p>
        </p:txBody>
      </p:sp>
      <p:cxnSp>
        <p:nvCxnSpPr>
          <p:cNvPr id="45" name="Connector 44"/>
          <p:cNvCxnSpPr/>
          <p:nvPr/>
        </p:nvCxnSpPr>
        <p:spPr>
          <a:xfrm>
            <a:off x="7010400" y="3060700"/>
            <a:ext cx="4572000" cy="0"/>
          </a:xfrm>
          <a:prstGeom prst="line">
            <a:avLst/>
          </a:prstGeom>
          <a:ln w="9525">
            <a:solidFill>
              <a:srgbClr val="EBEDEF"/>
            </a:solidFill>
          </a:ln>
        </p:spPr>
      </p:cxnSp>
      <p:sp>
        <p:nvSpPr>
          <p:cNvPr id="46" name="Oval 45"/>
          <p:cNvSpPr/>
          <p:nvPr/>
        </p:nvSpPr>
        <p:spPr>
          <a:xfrm>
            <a:off x="7010400" y="3149600"/>
            <a:ext cx="203200" cy="203200"/>
          </a:xfrm>
          <a:prstGeom prst="ellipse">
            <a:avLst/>
          </a:prstGeom>
          <a:solidFill>
            <a:srgbClr val="11181C"/>
          </a:solidFill>
          <a:ln>
            <a:noFill/>
          </a:ln>
          <a:effectLst/>
        </p:spPr>
        <p:txBody>
          <a:bodyPr rtlCol="0" anchor="ctr"/>
          <a:lstStyle/>
          <a:p>
            <a:pPr algn="ctr"/>
          </a:p>
        </p:txBody>
      </p:sp>
      <p:sp>
        <p:nvSpPr>
          <p:cNvPr id="47" name="TextBox 46"/>
          <p:cNvSpPr txBox="1"/>
          <p:nvPr/>
        </p:nvSpPr>
        <p:spPr>
          <a:xfrm>
            <a:off x="7010400" y="3149600"/>
            <a:ext cx="203200" cy="203200"/>
          </a:xfrm>
          <a:prstGeom prst="rect">
            <a:avLst/>
          </a:prstGeom>
          <a:noFill/>
        </p:spPr>
        <p:txBody>
          <a:bodyPr wrap="square" lIns="0" rIns="0" tIns="0" bIns="0" anchor="ctr">
            <a:spAutoFit/>
          </a:bodyPr>
          <a:lstStyle/>
          <a:p>
            <a:pPr algn="ctr"/>
            <a:r>
              <a:rPr sz="750" b="1" i="0">
                <a:solidFill>
                  <a:srgbClr val="FFFFFF"/>
                </a:solidFill>
                <a:latin typeface="Arial"/>
              </a:rPr>
              <a:t>3</a:t>
            </a:r>
          </a:p>
        </p:txBody>
      </p:sp>
      <p:sp>
        <p:nvSpPr>
          <p:cNvPr id="48" name="TextBox 47"/>
          <p:cNvSpPr txBox="1"/>
          <p:nvPr/>
        </p:nvSpPr>
        <p:spPr>
          <a:xfrm>
            <a:off x="7340600" y="3149600"/>
            <a:ext cx="4191000" cy="203200"/>
          </a:xfrm>
          <a:prstGeom prst="rect">
            <a:avLst/>
          </a:prstGeom>
          <a:noFill/>
        </p:spPr>
        <p:txBody>
          <a:bodyPr wrap="square" lIns="0" rIns="0" tIns="0" bIns="0" anchor="t">
            <a:spAutoFit/>
          </a:bodyPr>
          <a:lstStyle/>
          <a:p>
            <a:pPr algn="l"/>
            <a:r>
              <a:rPr sz="1200" b="0" i="0">
                <a:solidFill>
                  <a:srgbClr val="11181C"/>
                </a:solidFill>
                <a:latin typeface="Georgia"/>
              </a:rPr>
              <a:t>Kicker</a:t>
            </a:r>
          </a:p>
        </p:txBody>
      </p:sp>
      <p:sp>
        <p:nvSpPr>
          <p:cNvPr id="49" name="TextBox 48"/>
          <p:cNvSpPr txBox="1"/>
          <p:nvPr/>
        </p:nvSpPr>
        <p:spPr>
          <a:xfrm>
            <a:off x="7340600" y="3378200"/>
            <a:ext cx="4191000" cy="3048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Section name, 8.5 pt bold caps, Slate 11, at 68 pt.</a:t>
            </a:r>
          </a:p>
        </p:txBody>
      </p:sp>
      <p:cxnSp>
        <p:nvCxnSpPr>
          <p:cNvPr id="50" name="Connector 49"/>
          <p:cNvCxnSpPr/>
          <p:nvPr/>
        </p:nvCxnSpPr>
        <p:spPr>
          <a:xfrm>
            <a:off x="7010400" y="3683000"/>
            <a:ext cx="4572000" cy="0"/>
          </a:xfrm>
          <a:prstGeom prst="line">
            <a:avLst/>
          </a:prstGeom>
          <a:ln w="9525">
            <a:solidFill>
              <a:srgbClr val="EBEDEF"/>
            </a:solidFill>
          </a:ln>
        </p:spPr>
      </p:cxnSp>
      <p:sp>
        <p:nvSpPr>
          <p:cNvPr id="51" name="Oval 50"/>
          <p:cNvSpPr/>
          <p:nvPr/>
        </p:nvSpPr>
        <p:spPr>
          <a:xfrm>
            <a:off x="7010400" y="3771900"/>
            <a:ext cx="203200" cy="203200"/>
          </a:xfrm>
          <a:prstGeom prst="ellipse">
            <a:avLst/>
          </a:prstGeom>
          <a:solidFill>
            <a:srgbClr val="11181C"/>
          </a:solidFill>
          <a:ln>
            <a:noFill/>
          </a:ln>
          <a:effectLst/>
        </p:spPr>
        <p:txBody>
          <a:bodyPr rtlCol="0" anchor="ctr"/>
          <a:lstStyle/>
          <a:p>
            <a:pPr algn="ctr"/>
          </a:p>
        </p:txBody>
      </p:sp>
      <p:sp>
        <p:nvSpPr>
          <p:cNvPr id="52" name="TextBox 51"/>
          <p:cNvSpPr txBox="1"/>
          <p:nvPr/>
        </p:nvSpPr>
        <p:spPr>
          <a:xfrm>
            <a:off x="7010400" y="3771900"/>
            <a:ext cx="203200" cy="203200"/>
          </a:xfrm>
          <a:prstGeom prst="rect">
            <a:avLst/>
          </a:prstGeom>
          <a:noFill/>
        </p:spPr>
        <p:txBody>
          <a:bodyPr wrap="square" lIns="0" rIns="0" tIns="0" bIns="0" anchor="ctr">
            <a:spAutoFit/>
          </a:bodyPr>
          <a:lstStyle/>
          <a:p>
            <a:pPr algn="ctr"/>
            <a:r>
              <a:rPr sz="750" b="1" i="0">
                <a:solidFill>
                  <a:srgbClr val="FFFFFF"/>
                </a:solidFill>
                <a:latin typeface="Arial"/>
              </a:rPr>
              <a:t>4</a:t>
            </a:r>
          </a:p>
        </p:txBody>
      </p:sp>
      <p:sp>
        <p:nvSpPr>
          <p:cNvPr id="53" name="TextBox 52"/>
          <p:cNvSpPr txBox="1"/>
          <p:nvPr/>
        </p:nvSpPr>
        <p:spPr>
          <a:xfrm>
            <a:off x="7340600" y="3771900"/>
            <a:ext cx="4191000" cy="203200"/>
          </a:xfrm>
          <a:prstGeom prst="rect">
            <a:avLst/>
          </a:prstGeom>
          <a:noFill/>
        </p:spPr>
        <p:txBody>
          <a:bodyPr wrap="square" lIns="0" rIns="0" tIns="0" bIns="0" anchor="t">
            <a:spAutoFit/>
          </a:bodyPr>
          <a:lstStyle/>
          <a:p>
            <a:pPr algn="l"/>
            <a:r>
              <a:rPr sz="1200" b="0" i="0">
                <a:solidFill>
                  <a:srgbClr val="11181C"/>
                </a:solidFill>
                <a:latin typeface="Georgia"/>
              </a:rPr>
              <a:t>Headline</a:t>
            </a:r>
          </a:p>
        </p:txBody>
      </p:sp>
      <p:sp>
        <p:nvSpPr>
          <p:cNvPr id="54" name="TextBox 53"/>
          <p:cNvSpPr txBox="1"/>
          <p:nvPr/>
        </p:nvSpPr>
        <p:spPr>
          <a:xfrm>
            <a:off x="7340600" y="4000500"/>
            <a:ext cx="4191000" cy="3048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Georgia 24, one italic phrase, sentence case, at 84 pt.</a:t>
            </a:r>
          </a:p>
        </p:txBody>
      </p:sp>
      <p:cxnSp>
        <p:nvCxnSpPr>
          <p:cNvPr id="55" name="Connector 54"/>
          <p:cNvCxnSpPr/>
          <p:nvPr/>
        </p:nvCxnSpPr>
        <p:spPr>
          <a:xfrm>
            <a:off x="7010400" y="4305300"/>
            <a:ext cx="4572000" cy="0"/>
          </a:xfrm>
          <a:prstGeom prst="line">
            <a:avLst/>
          </a:prstGeom>
          <a:ln w="9525">
            <a:solidFill>
              <a:srgbClr val="EBEDEF"/>
            </a:solidFill>
          </a:ln>
        </p:spPr>
      </p:cxnSp>
      <p:sp>
        <p:nvSpPr>
          <p:cNvPr id="56" name="Oval 55"/>
          <p:cNvSpPr/>
          <p:nvPr/>
        </p:nvSpPr>
        <p:spPr>
          <a:xfrm>
            <a:off x="7010400" y="4394200"/>
            <a:ext cx="203200" cy="203200"/>
          </a:xfrm>
          <a:prstGeom prst="ellipse">
            <a:avLst/>
          </a:prstGeom>
          <a:solidFill>
            <a:srgbClr val="11181C"/>
          </a:solidFill>
          <a:ln>
            <a:noFill/>
          </a:ln>
          <a:effectLst/>
        </p:spPr>
        <p:txBody>
          <a:bodyPr rtlCol="0" anchor="ctr"/>
          <a:lstStyle/>
          <a:p>
            <a:pPr algn="ctr"/>
          </a:p>
        </p:txBody>
      </p:sp>
      <p:sp>
        <p:nvSpPr>
          <p:cNvPr id="57" name="TextBox 56"/>
          <p:cNvSpPr txBox="1"/>
          <p:nvPr/>
        </p:nvSpPr>
        <p:spPr>
          <a:xfrm>
            <a:off x="7010400" y="4394200"/>
            <a:ext cx="203200" cy="203200"/>
          </a:xfrm>
          <a:prstGeom prst="rect">
            <a:avLst/>
          </a:prstGeom>
          <a:noFill/>
        </p:spPr>
        <p:txBody>
          <a:bodyPr wrap="square" lIns="0" rIns="0" tIns="0" bIns="0" anchor="ctr">
            <a:spAutoFit/>
          </a:bodyPr>
          <a:lstStyle/>
          <a:p>
            <a:pPr algn="ctr"/>
            <a:r>
              <a:rPr sz="750" b="1" i="0">
                <a:solidFill>
                  <a:srgbClr val="FFFFFF"/>
                </a:solidFill>
                <a:latin typeface="Arial"/>
              </a:rPr>
              <a:t>5</a:t>
            </a:r>
          </a:p>
        </p:txBody>
      </p:sp>
      <p:sp>
        <p:nvSpPr>
          <p:cNvPr id="58" name="TextBox 57"/>
          <p:cNvSpPr txBox="1"/>
          <p:nvPr/>
        </p:nvSpPr>
        <p:spPr>
          <a:xfrm>
            <a:off x="7340600" y="4394200"/>
            <a:ext cx="4191000" cy="203200"/>
          </a:xfrm>
          <a:prstGeom prst="rect">
            <a:avLst/>
          </a:prstGeom>
          <a:noFill/>
        </p:spPr>
        <p:txBody>
          <a:bodyPr wrap="square" lIns="0" rIns="0" tIns="0" bIns="0" anchor="t">
            <a:spAutoFit/>
          </a:bodyPr>
          <a:lstStyle/>
          <a:p>
            <a:pPr algn="l"/>
            <a:r>
              <a:rPr sz="1200" b="0" i="0">
                <a:solidFill>
                  <a:srgbClr val="11181C"/>
                </a:solidFill>
                <a:latin typeface="Georgia"/>
              </a:rPr>
              <a:t>Lede</a:t>
            </a:r>
          </a:p>
        </p:txBody>
      </p:sp>
      <p:sp>
        <p:nvSpPr>
          <p:cNvPr id="59" name="TextBox 58"/>
          <p:cNvSpPr txBox="1"/>
          <p:nvPr/>
        </p:nvSpPr>
        <p:spPr>
          <a:xfrm>
            <a:off x="7340600" y="4622800"/>
            <a:ext cx="4191000" cy="3048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Optional. Arial 10.5, Slate 12, at 122 pt, ≤ 2 lines.</a:t>
            </a:r>
          </a:p>
        </p:txBody>
      </p:sp>
      <p:cxnSp>
        <p:nvCxnSpPr>
          <p:cNvPr id="60" name="Connector 59"/>
          <p:cNvCxnSpPr/>
          <p:nvPr/>
        </p:nvCxnSpPr>
        <p:spPr>
          <a:xfrm>
            <a:off x="7010400" y="4927600"/>
            <a:ext cx="4572000" cy="0"/>
          </a:xfrm>
          <a:prstGeom prst="line">
            <a:avLst/>
          </a:prstGeom>
          <a:ln w="9525">
            <a:solidFill>
              <a:srgbClr val="EBEDEF"/>
            </a:solidFill>
          </a:ln>
        </p:spPr>
      </p:cxnSp>
      <p:sp>
        <p:nvSpPr>
          <p:cNvPr id="61" name="Oval 60"/>
          <p:cNvSpPr/>
          <p:nvPr/>
        </p:nvSpPr>
        <p:spPr>
          <a:xfrm>
            <a:off x="7010400" y="5016500"/>
            <a:ext cx="203200" cy="203200"/>
          </a:xfrm>
          <a:prstGeom prst="ellipse">
            <a:avLst/>
          </a:prstGeom>
          <a:solidFill>
            <a:srgbClr val="11181C"/>
          </a:solidFill>
          <a:ln>
            <a:noFill/>
          </a:ln>
          <a:effectLst/>
        </p:spPr>
        <p:txBody>
          <a:bodyPr rtlCol="0" anchor="ctr"/>
          <a:lstStyle/>
          <a:p>
            <a:pPr algn="ctr"/>
          </a:p>
        </p:txBody>
      </p:sp>
      <p:sp>
        <p:nvSpPr>
          <p:cNvPr id="62" name="TextBox 61"/>
          <p:cNvSpPr txBox="1"/>
          <p:nvPr/>
        </p:nvSpPr>
        <p:spPr>
          <a:xfrm>
            <a:off x="7010400" y="5016500"/>
            <a:ext cx="203200" cy="203200"/>
          </a:xfrm>
          <a:prstGeom prst="rect">
            <a:avLst/>
          </a:prstGeom>
          <a:noFill/>
        </p:spPr>
        <p:txBody>
          <a:bodyPr wrap="square" lIns="0" rIns="0" tIns="0" bIns="0" anchor="ctr">
            <a:spAutoFit/>
          </a:bodyPr>
          <a:lstStyle/>
          <a:p>
            <a:pPr algn="ctr"/>
            <a:r>
              <a:rPr sz="750" b="1" i="0">
                <a:solidFill>
                  <a:srgbClr val="FFFFFF"/>
                </a:solidFill>
                <a:latin typeface="Arial"/>
              </a:rPr>
              <a:t>6</a:t>
            </a:r>
          </a:p>
        </p:txBody>
      </p:sp>
      <p:sp>
        <p:nvSpPr>
          <p:cNvPr id="63" name="TextBox 62"/>
          <p:cNvSpPr txBox="1"/>
          <p:nvPr/>
        </p:nvSpPr>
        <p:spPr>
          <a:xfrm>
            <a:off x="7340600" y="5016500"/>
            <a:ext cx="4191000" cy="203200"/>
          </a:xfrm>
          <a:prstGeom prst="rect">
            <a:avLst/>
          </a:prstGeom>
          <a:noFill/>
        </p:spPr>
        <p:txBody>
          <a:bodyPr wrap="square" lIns="0" rIns="0" tIns="0" bIns="0" anchor="t">
            <a:spAutoFit/>
          </a:bodyPr>
          <a:lstStyle/>
          <a:p>
            <a:pPr algn="l"/>
            <a:r>
              <a:rPr sz="1200" b="0" i="0">
                <a:solidFill>
                  <a:srgbClr val="11181C"/>
                </a:solidFill>
                <a:latin typeface="Georgia"/>
              </a:rPr>
              <a:t>Body</a:t>
            </a:r>
          </a:p>
        </p:txBody>
      </p:sp>
      <p:sp>
        <p:nvSpPr>
          <p:cNvPr id="64" name="TextBox 63"/>
          <p:cNvSpPr txBox="1"/>
          <p:nvPr/>
        </p:nvSpPr>
        <p:spPr>
          <a:xfrm>
            <a:off x="7340600" y="5245100"/>
            <a:ext cx="4191000" cy="3048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From 150 to 500 pt. Everything sits on the 12-column grid.</a:t>
            </a:r>
          </a:p>
        </p:txBody>
      </p:sp>
      <p:cxnSp>
        <p:nvCxnSpPr>
          <p:cNvPr id="65" name="Connector 64"/>
          <p:cNvCxnSpPr/>
          <p:nvPr/>
        </p:nvCxnSpPr>
        <p:spPr>
          <a:xfrm>
            <a:off x="7010400" y="5549900"/>
            <a:ext cx="4572000" cy="0"/>
          </a:xfrm>
          <a:prstGeom prst="line">
            <a:avLst/>
          </a:prstGeom>
          <a:ln w="9525">
            <a:solidFill>
              <a:srgbClr val="EBEDEF"/>
            </a:solidFill>
          </a:ln>
        </p:spPr>
      </p:cxnSp>
      <p:sp>
        <p:nvSpPr>
          <p:cNvPr id="66" name="Oval 65"/>
          <p:cNvSpPr/>
          <p:nvPr/>
        </p:nvSpPr>
        <p:spPr>
          <a:xfrm>
            <a:off x="7010400" y="5638800"/>
            <a:ext cx="203200" cy="203200"/>
          </a:xfrm>
          <a:prstGeom prst="ellipse">
            <a:avLst/>
          </a:prstGeom>
          <a:solidFill>
            <a:srgbClr val="11181C"/>
          </a:solidFill>
          <a:ln>
            <a:noFill/>
          </a:ln>
          <a:effectLst/>
        </p:spPr>
        <p:txBody>
          <a:bodyPr rtlCol="0" anchor="ctr"/>
          <a:lstStyle/>
          <a:p>
            <a:pPr algn="ctr"/>
          </a:p>
        </p:txBody>
      </p:sp>
      <p:sp>
        <p:nvSpPr>
          <p:cNvPr id="67" name="TextBox 66"/>
          <p:cNvSpPr txBox="1"/>
          <p:nvPr/>
        </p:nvSpPr>
        <p:spPr>
          <a:xfrm>
            <a:off x="7010400" y="5638800"/>
            <a:ext cx="203200" cy="203200"/>
          </a:xfrm>
          <a:prstGeom prst="rect">
            <a:avLst/>
          </a:prstGeom>
          <a:noFill/>
        </p:spPr>
        <p:txBody>
          <a:bodyPr wrap="square" lIns="0" rIns="0" tIns="0" bIns="0" anchor="ctr">
            <a:spAutoFit/>
          </a:bodyPr>
          <a:lstStyle/>
          <a:p>
            <a:pPr algn="ctr"/>
            <a:r>
              <a:rPr sz="750" b="1" i="0">
                <a:solidFill>
                  <a:srgbClr val="FFFFFF"/>
                </a:solidFill>
                <a:latin typeface="Arial"/>
              </a:rPr>
              <a:t>7</a:t>
            </a:r>
          </a:p>
        </p:txBody>
      </p:sp>
      <p:sp>
        <p:nvSpPr>
          <p:cNvPr id="68" name="TextBox 67"/>
          <p:cNvSpPr txBox="1"/>
          <p:nvPr/>
        </p:nvSpPr>
        <p:spPr>
          <a:xfrm>
            <a:off x="7340600" y="5638800"/>
            <a:ext cx="4191000" cy="203200"/>
          </a:xfrm>
          <a:prstGeom prst="rect">
            <a:avLst/>
          </a:prstGeom>
          <a:noFill/>
        </p:spPr>
        <p:txBody>
          <a:bodyPr wrap="square" lIns="0" rIns="0" tIns="0" bIns="0" anchor="t">
            <a:spAutoFit/>
          </a:bodyPr>
          <a:lstStyle/>
          <a:p>
            <a:pPr algn="l"/>
            <a:r>
              <a:rPr sz="1200" b="0" i="0">
                <a:solidFill>
                  <a:srgbClr val="11181C"/>
                </a:solidFill>
                <a:latin typeface="Georgia"/>
              </a:rPr>
              <a:t>Footer</a:t>
            </a:r>
          </a:p>
        </p:txBody>
      </p:sp>
      <p:sp>
        <p:nvSpPr>
          <p:cNvPr id="69" name="TextBox 68"/>
          <p:cNvSpPr txBox="1"/>
          <p:nvPr/>
        </p:nvSpPr>
        <p:spPr>
          <a:xfrm>
            <a:off x="7340600" y="5867400"/>
            <a:ext cx="4191000" cy="3048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Hairline at 512 pt, deck name left, page number right.</a:t>
            </a:r>
          </a:p>
        </p:txBody>
      </p:sp>
      <p:cxnSp>
        <p:nvCxnSpPr>
          <p:cNvPr id="70" name="Connector 69"/>
          <p:cNvCxnSpPr/>
          <p:nvPr/>
        </p:nvCxnSpPr>
        <p:spPr>
          <a:xfrm>
            <a:off x="7010400" y="6172200"/>
            <a:ext cx="4572000" cy="0"/>
          </a:xfrm>
          <a:prstGeom prst="line">
            <a:avLst/>
          </a:prstGeom>
          <a:ln w="9525">
            <a:solidFill>
              <a:srgbClr val="EBEDEF"/>
            </a:solidFill>
          </a:ln>
        </p:spPr>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COMPONENTS · BUTTONS, LINKS, TAGS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Small, </a:t>
            </a:r>
            <a:r>
              <a:rPr sz="2400" b="0" i="1">
                <a:solidFill>
                  <a:srgbClr val="11181C"/>
                </a:solidFill>
                <a:latin typeface="Georgia"/>
              </a:rPr>
              <a:t>tracked</a:t>
            </a:r>
            <a:r>
              <a:rPr sz="2400" b="0" i="0">
                <a:solidFill>
                  <a:srgbClr val="11181C"/>
                </a:solidFill>
                <a:latin typeface="Georgia"/>
              </a:rPr>
              <a:t>, and always meaningful.</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In a deck, buttons are labels for the next step or the decision you ask for. Keep the Bitwise shapes: 3 pt radius, 7.5 pt bold caps, +0.6 tracking.</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13</a:t>
            </a:r>
          </a:p>
        </p:txBody>
      </p:sp>
      <p:sp>
        <p:nvSpPr>
          <p:cNvPr id="12" name="TextBox 11"/>
          <p:cNvSpPr txBox="1"/>
          <p:nvPr/>
        </p:nvSpPr>
        <p:spPr>
          <a:xfrm>
            <a:off x="609600" y="2184400"/>
            <a:ext cx="3810000" cy="152400"/>
          </a:xfrm>
          <a:prstGeom prst="rect">
            <a:avLst/>
          </a:prstGeom>
          <a:noFill/>
        </p:spPr>
        <p:txBody>
          <a:bodyPr wrap="square" lIns="0" rIns="0" tIns="0" bIns="0" anchor="t">
            <a:spAutoFit/>
          </a:bodyPr>
          <a:lstStyle/>
          <a:p>
            <a:pPr algn="l"/>
            <a:r>
              <a:rPr sz="850" b="1" i="0" spc="150">
                <a:solidFill>
                  <a:srgbClr val="697177"/>
                </a:solidFill>
                <a:latin typeface="Arial"/>
              </a:rPr>
              <a:t>BUTTONS</a:t>
            </a:r>
          </a:p>
        </p:txBody>
      </p:sp>
      <p:sp>
        <p:nvSpPr>
          <p:cNvPr id="13" name="Rounded Rectangle 12"/>
          <p:cNvSpPr/>
          <p:nvPr/>
        </p:nvSpPr>
        <p:spPr>
          <a:xfrm>
            <a:off x="609600" y="2438400"/>
            <a:ext cx="1524000" cy="304800"/>
          </a:xfrm>
          <a:prstGeom prst="roundRect">
            <a:avLst>
              <a:gd name="adj" fmla="val 12500"/>
            </a:avLst>
          </a:prstGeom>
          <a:solidFill>
            <a:srgbClr val="22C96A"/>
          </a:solidFill>
          <a:ln>
            <a:noFill/>
          </a:ln>
          <a:effectLst/>
        </p:spPr>
        <p:txBody>
          <a:bodyPr rtlCol="0" anchor="ctr"/>
          <a:lstStyle/>
          <a:p>
            <a:pPr algn="ctr"/>
          </a:p>
        </p:txBody>
      </p:sp>
      <p:sp>
        <p:nvSpPr>
          <p:cNvPr id="14" name="TextBox 13"/>
          <p:cNvSpPr txBox="1"/>
          <p:nvPr/>
        </p:nvSpPr>
        <p:spPr>
          <a:xfrm>
            <a:off x="609600" y="2438400"/>
            <a:ext cx="1524000" cy="304800"/>
          </a:xfrm>
          <a:prstGeom prst="rect">
            <a:avLst/>
          </a:prstGeom>
          <a:noFill/>
        </p:spPr>
        <p:txBody>
          <a:bodyPr wrap="square" lIns="0" rIns="0" tIns="0" bIns="0" anchor="ctr">
            <a:spAutoFit/>
          </a:bodyPr>
          <a:lstStyle/>
          <a:p>
            <a:pPr algn="ctr"/>
            <a:r>
              <a:rPr sz="750" b="1" i="0" spc="60">
                <a:solidFill>
                  <a:srgbClr val="FFFFFF"/>
                </a:solidFill>
                <a:latin typeface="Arial"/>
              </a:rPr>
              <a:t>INVEST NOW</a:t>
            </a:r>
          </a:p>
        </p:txBody>
      </p:sp>
      <p:sp>
        <p:nvSpPr>
          <p:cNvPr id="15" name="TextBox 14"/>
          <p:cNvSpPr txBox="1"/>
          <p:nvPr/>
        </p:nvSpPr>
        <p:spPr>
          <a:xfrm>
            <a:off x="609600" y="2844800"/>
            <a:ext cx="1778000" cy="152400"/>
          </a:xfrm>
          <a:prstGeom prst="rect">
            <a:avLst/>
          </a:prstGeom>
          <a:noFill/>
        </p:spPr>
        <p:txBody>
          <a:bodyPr wrap="square" lIns="0" rIns="0" tIns="0" bIns="0" anchor="t">
            <a:spAutoFit/>
          </a:bodyPr>
          <a:lstStyle/>
          <a:p>
            <a:pPr algn="l"/>
            <a:r>
              <a:rPr sz="850" b="0" i="0">
                <a:solidFill>
                  <a:srgbClr val="697177"/>
                </a:solidFill>
                <a:latin typeface="Arial"/>
              </a:rPr>
              <a:t>Primary · the one action</a:t>
            </a:r>
          </a:p>
        </p:txBody>
      </p:sp>
      <p:sp>
        <p:nvSpPr>
          <p:cNvPr id="16" name="Rounded Rectangle 15"/>
          <p:cNvSpPr/>
          <p:nvPr/>
        </p:nvSpPr>
        <p:spPr>
          <a:xfrm>
            <a:off x="2641600" y="2438400"/>
            <a:ext cx="1524000" cy="304800"/>
          </a:xfrm>
          <a:prstGeom prst="roundRect">
            <a:avLst>
              <a:gd name="adj" fmla="val 12500"/>
            </a:avLst>
          </a:prstGeom>
          <a:solidFill>
            <a:srgbClr val="1C262C"/>
          </a:solidFill>
          <a:ln>
            <a:noFill/>
          </a:ln>
          <a:effectLst/>
        </p:spPr>
        <p:txBody>
          <a:bodyPr rtlCol="0" anchor="ctr"/>
          <a:lstStyle/>
          <a:p>
            <a:pPr algn="ctr"/>
          </a:p>
        </p:txBody>
      </p:sp>
      <p:sp>
        <p:nvSpPr>
          <p:cNvPr id="17" name="TextBox 16"/>
          <p:cNvSpPr txBox="1"/>
          <p:nvPr/>
        </p:nvSpPr>
        <p:spPr>
          <a:xfrm>
            <a:off x="2641600" y="2438400"/>
            <a:ext cx="1524000" cy="304800"/>
          </a:xfrm>
          <a:prstGeom prst="rect">
            <a:avLst/>
          </a:prstGeom>
          <a:noFill/>
        </p:spPr>
        <p:txBody>
          <a:bodyPr wrap="square" lIns="0" rIns="0" tIns="0" bIns="0" anchor="ctr">
            <a:spAutoFit/>
          </a:bodyPr>
          <a:lstStyle/>
          <a:p>
            <a:pPr algn="ctr"/>
            <a:r>
              <a:rPr sz="750" b="1" i="0" spc="60">
                <a:solidFill>
                  <a:srgbClr val="FCFCFD"/>
                </a:solidFill>
                <a:latin typeface="Arial"/>
              </a:rPr>
              <a:t>CREATE ACCOUNT</a:t>
            </a:r>
          </a:p>
        </p:txBody>
      </p:sp>
      <p:sp>
        <p:nvSpPr>
          <p:cNvPr id="18" name="TextBox 17"/>
          <p:cNvSpPr txBox="1"/>
          <p:nvPr/>
        </p:nvSpPr>
        <p:spPr>
          <a:xfrm>
            <a:off x="2641600" y="2844800"/>
            <a:ext cx="1778000" cy="152400"/>
          </a:xfrm>
          <a:prstGeom prst="rect">
            <a:avLst/>
          </a:prstGeom>
          <a:noFill/>
        </p:spPr>
        <p:txBody>
          <a:bodyPr wrap="square" lIns="0" rIns="0" tIns="0" bIns="0" anchor="t">
            <a:spAutoFit/>
          </a:bodyPr>
          <a:lstStyle/>
          <a:p>
            <a:pPr algn="l"/>
            <a:r>
              <a:rPr sz="850" b="0" i="0">
                <a:solidFill>
                  <a:srgbClr val="697177"/>
                </a:solidFill>
                <a:latin typeface="Arial"/>
              </a:rPr>
              <a:t>Dark · neutral action</a:t>
            </a:r>
          </a:p>
        </p:txBody>
      </p:sp>
      <p:sp>
        <p:nvSpPr>
          <p:cNvPr id="19" name="Rounded Rectangle 18"/>
          <p:cNvSpPr/>
          <p:nvPr/>
        </p:nvSpPr>
        <p:spPr>
          <a:xfrm>
            <a:off x="4673600" y="2438400"/>
            <a:ext cx="1524000" cy="304800"/>
          </a:xfrm>
          <a:prstGeom prst="roundRect">
            <a:avLst>
              <a:gd name="adj" fmla="val 12500"/>
            </a:avLst>
          </a:prstGeom>
          <a:noFill/>
          <a:ln w="12700">
            <a:solidFill>
              <a:srgbClr val="22C96A"/>
            </a:solidFill>
          </a:ln>
          <a:effectLst/>
        </p:spPr>
        <p:txBody>
          <a:bodyPr rtlCol="0" anchor="ctr"/>
          <a:lstStyle/>
          <a:p>
            <a:pPr algn="ctr"/>
          </a:p>
        </p:txBody>
      </p:sp>
      <p:sp>
        <p:nvSpPr>
          <p:cNvPr id="20" name="TextBox 19"/>
          <p:cNvSpPr txBox="1"/>
          <p:nvPr/>
        </p:nvSpPr>
        <p:spPr>
          <a:xfrm>
            <a:off x="4673600" y="2438400"/>
            <a:ext cx="1524000" cy="304800"/>
          </a:xfrm>
          <a:prstGeom prst="rect">
            <a:avLst/>
          </a:prstGeom>
          <a:noFill/>
        </p:spPr>
        <p:txBody>
          <a:bodyPr wrap="square" lIns="0" rIns="0" tIns="0" bIns="0" anchor="ctr">
            <a:spAutoFit/>
          </a:bodyPr>
          <a:lstStyle/>
          <a:p>
            <a:pPr algn="ctr"/>
            <a:r>
              <a:rPr sz="750" b="1" i="0" spc="60">
                <a:solidFill>
                  <a:srgbClr val="22C96A"/>
                </a:solidFill>
                <a:latin typeface="Arial"/>
              </a:rPr>
              <a:t>LEARN MORE</a:t>
            </a:r>
          </a:p>
        </p:txBody>
      </p:sp>
      <p:sp>
        <p:nvSpPr>
          <p:cNvPr id="21" name="TextBox 20"/>
          <p:cNvSpPr txBox="1"/>
          <p:nvPr/>
        </p:nvSpPr>
        <p:spPr>
          <a:xfrm>
            <a:off x="4673600" y="2844800"/>
            <a:ext cx="1778000" cy="152400"/>
          </a:xfrm>
          <a:prstGeom prst="rect">
            <a:avLst/>
          </a:prstGeom>
          <a:noFill/>
        </p:spPr>
        <p:txBody>
          <a:bodyPr wrap="square" lIns="0" rIns="0" tIns="0" bIns="0" anchor="t">
            <a:spAutoFit/>
          </a:bodyPr>
          <a:lstStyle/>
          <a:p>
            <a:pPr algn="l"/>
            <a:r>
              <a:rPr sz="850" b="0" i="0">
                <a:solidFill>
                  <a:srgbClr val="697177"/>
                </a:solidFill>
                <a:latin typeface="Arial"/>
              </a:rPr>
              <a:t>Outline · secondary</a:t>
            </a:r>
          </a:p>
        </p:txBody>
      </p:sp>
      <p:sp>
        <p:nvSpPr>
          <p:cNvPr id="22" name="Rounded Rectangle 21"/>
          <p:cNvSpPr/>
          <p:nvPr/>
        </p:nvSpPr>
        <p:spPr>
          <a:xfrm>
            <a:off x="6705600" y="2438400"/>
            <a:ext cx="1524000" cy="304800"/>
          </a:xfrm>
          <a:prstGeom prst="roundRect">
            <a:avLst>
              <a:gd name="adj" fmla="val 12500"/>
            </a:avLst>
          </a:prstGeom>
          <a:noFill/>
          <a:ln w="12700">
            <a:solidFill>
              <a:srgbClr val="D7DBDF"/>
            </a:solidFill>
          </a:ln>
          <a:effectLst/>
        </p:spPr>
        <p:txBody>
          <a:bodyPr rtlCol="0" anchor="ctr"/>
          <a:lstStyle/>
          <a:p>
            <a:pPr algn="ctr"/>
          </a:p>
        </p:txBody>
      </p:sp>
      <p:sp>
        <p:nvSpPr>
          <p:cNvPr id="23" name="TextBox 22"/>
          <p:cNvSpPr txBox="1"/>
          <p:nvPr/>
        </p:nvSpPr>
        <p:spPr>
          <a:xfrm>
            <a:off x="6705600" y="2438400"/>
            <a:ext cx="1524000" cy="304800"/>
          </a:xfrm>
          <a:prstGeom prst="rect">
            <a:avLst/>
          </a:prstGeom>
          <a:noFill/>
        </p:spPr>
        <p:txBody>
          <a:bodyPr wrap="square" lIns="0" rIns="0" tIns="0" bIns="0" anchor="ctr">
            <a:spAutoFit/>
          </a:bodyPr>
          <a:lstStyle/>
          <a:p>
            <a:pPr algn="ctr"/>
            <a:r>
              <a:rPr sz="750" b="1" i="0" spc="60">
                <a:solidFill>
                  <a:srgbClr val="11181C"/>
                </a:solidFill>
                <a:latin typeface="Arial"/>
              </a:rPr>
              <a:t>LOG IN</a:t>
            </a:r>
          </a:p>
        </p:txBody>
      </p:sp>
      <p:sp>
        <p:nvSpPr>
          <p:cNvPr id="24" name="TextBox 23"/>
          <p:cNvSpPr txBox="1"/>
          <p:nvPr/>
        </p:nvSpPr>
        <p:spPr>
          <a:xfrm>
            <a:off x="6705600" y="2844800"/>
            <a:ext cx="1778000" cy="152400"/>
          </a:xfrm>
          <a:prstGeom prst="rect">
            <a:avLst/>
          </a:prstGeom>
          <a:noFill/>
        </p:spPr>
        <p:txBody>
          <a:bodyPr wrap="square" lIns="0" rIns="0" tIns="0" bIns="0" anchor="t">
            <a:spAutoFit/>
          </a:bodyPr>
          <a:lstStyle/>
          <a:p>
            <a:pPr algn="l"/>
            <a:r>
              <a:rPr sz="850" b="0" i="0">
                <a:solidFill>
                  <a:srgbClr val="697177"/>
                </a:solidFill>
                <a:latin typeface="Arial"/>
              </a:rPr>
              <a:t>Ghost · tertiary</a:t>
            </a:r>
          </a:p>
        </p:txBody>
      </p:sp>
      <p:sp>
        <p:nvSpPr>
          <p:cNvPr id="25" name="Rounded Rectangle 24"/>
          <p:cNvSpPr/>
          <p:nvPr/>
        </p:nvSpPr>
        <p:spPr>
          <a:xfrm>
            <a:off x="8737600" y="2336800"/>
            <a:ext cx="2286000" cy="635000"/>
          </a:xfrm>
          <a:prstGeom prst="roundRect">
            <a:avLst>
              <a:gd name="adj" fmla="val 16000"/>
            </a:avLst>
          </a:prstGeom>
          <a:solidFill>
            <a:srgbClr val="11181C"/>
          </a:solidFill>
          <a:ln>
            <a:noFill/>
          </a:ln>
          <a:effectLst/>
        </p:spPr>
        <p:txBody>
          <a:bodyPr rtlCol="0" anchor="ctr"/>
          <a:lstStyle/>
          <a:p>
            <a:pPr algn="ctr"/>
          </a:p>
        </p:txBody>
      </p:sp>
      <p:sp>
        <p:nvSpPr>
          <p:cNvPr id="26" name="Rounded Rectangle 25"/>
          <p:cNvSpPr/>
          <p:nvPr/>
        </p:nvSpPr>
        <p:spPr>
          <a:xfrm>
            <a:off x="9118600" y="2501900"/>
            <a:ext cx="1524000" cy="304800"/>
          </a:xfrm>
          <a:prstGeom prst="roundRect">
            <a:avLst>
              <a:gd name="adj" fmla="val 12500"/>
            </a:avLst>
          </a:prstGeom>
          <a:solidFill>
            <a:srgbClr val="22C96A"/>
          </a:solidFill>
          <a:ln>
            <a:noFill/>
          </a:ln>
          <a:effectLst/>
        </p:spPr>
        <p:txBody>
          <a:bodyPr rtlCol="0" anchor="ctr"/>
          <a:lstStyle/>
          <a:p>
            <a:pPr algn="ctr"/>
          </a:p>
        </p:txBody>
      </p:sp>
      <p:sp>
        <p:nvSpPr>
          <p:cNvPr id="27" name="TextBox 26"/>
          <p:cNvSpPr txBox="1"/>
          <p:nvPr/>
        </p:nvSpPr>
        <p:spPr>
          <a:xfrm>
            <a:off x="9118600" y="2501900"/>
            <a:ext cx="1524000" cy="304800"/>
          </a:xfrm>
          <a:prstGeom prst="rect">
            <a:avLst/>
          </a:prstGeom>
          <a:noFill/>
        </p:spPr>
        <p:txBody>
          <a:bodyPr wrap="square" lIns="0" rIns="0" tIns="0" bIns="0" anchor="ctr">
            <a:spAutoFit/>
          </a:bodyPr>
          <a:lstStyle/>
          <a:p>
            <a:pPr algn="ctr"/>
            <a:r>
              <a:rPr sz="750" b="1" i="0" spc="60">
                <a:solidFill>
                  <a:srgbClr val="FFFFFF"/>
                </a:solidFill>
                <a:latin typeface="Arial"/>
              </a:rPr>
              <a:t>START INVESTING</a:t>
            </a:r>
          </a:p>
        </p:txBody>
      </p:sp>
      <p:sp>
        <p:nvSpPr>
          <p:cNvPr id="28" name="TextBox 27"/>
          <p:cNvSpPr txBox="1"/>
          <p:nvPr/>
        </p:nvSpPr>
        <p:spPr>
          <a:xfrm>
            <a:off x="8737600" y="3048000"/>
            <a:ext cx="2286000" cy="152400"/>
          </a:xfrm>
          <a:prstGeom prst="rect">
            <a:avLst/>
          </a:prstGeom>
          <a:noFill/>
        </p:spPr>
        <p:txBody>
          <a:bodyPr wrap="square" lIns="0" rIns="0" tIns="0" bIns="0" anchor="t">
            <a:spAutoFit/>
          </a:bodyPr>
          <a:lstStyle/>
          <a:p>
            <a:pPr algn="l"/>
            <a:r>
              <a:rPr sz="850" b="0" i="0">
                <a:solidFill>
                  <a:srgbClr val="697177"/>
                </a:solidFill>
                <a:latin typeface="Arial"/>
              </a:rPr>
              <a:t>On dark: primary or outline</a:t>
            </a:r>
          </a:p>
        </p:txBody>
      </p:sp>
      <p:sp>
        <p:nvSpPr>
          <p:cNvPr id="29" name="TextBox 28"/>
          <p:cNvSpPr txBox="1"/>
          <p:nvPr/>
        </p:nvSpPr>
        <p:spPr>
          <a:xfrm>
            <a:off x="609600" y="3454400"/>
            <a:ext cx="3810000" cy="152400"/>
          </a:xfrm>
          <a:prstGeom prst="rect">
            <a:avLst/>
          </a:prstGeom>
          <a:noFill/>
        </p:spPr>
        <p:txBody>
          <a:bodyPr wrap="square" lIns="0" rIns="0" tIns="0" bIns="0" anchor="t">
            <a:spAutoFit/>
          </a:bodyPr>
          <a:lstStyle/>
          <a:p>
            <a:pPr algn="l"/>
            <a:r>
              <a:rPr sz="850" b="1" i="0" spc="150">
                <a:solidFill>
                  <a:srgbClr val="697177"/>
                </a:solidFill>
                <a:latin typeface="Arial"/>
              </a:rPr>
              <a:t>LINKS</a:t>
            </a:r>
          </a:p>
        </p:txBody>
      </p:sp>
      <p:sp>
        <p:nvSpPr>
          <p:cNvPr id="30" name="TextBox 29"/>
          <p:cNvSpPr txBox="1"/>
          <p:nvPr/>
        </p:nvSpPr>
        <p:spPr>
          <a:xfrm>
            <a:off x="609600" y="3708400"/>
            <a:ext cx="2540000" cy="152400"/>
          </a:xfrm>
          <a:prstGeom prst="rect">
            <a:avLst/>
          </a:prstGeom>
          <a:noFill/>
        </p:spPr>
        <p:txBody>
          <a:bodyPr wrap="square" lIns="0" rIns="0" tIns="0" bIns="0" anchor="t">
            <a:spAutoFit/>
          </a:bodyPr>
          <a:lstStyle/>
          <a:p>
            <a:pPr algn="l"/>
            <a:r>
              <a:rPr sz="750" b="1" i="0" spc="60">
                <a:solidFill>
                  <a:srgbClr val="22C96A"/>
                </a:solidFill>
                <a:latin typeface="Arial"/>
              </a:rPr>
              <a:t>VIEW ALL  →</a:t>
            </a:r>
          </a:p>
        </p:txBody>
      </p:sp>
      <p:sp>
        <p:nvSpPr>
          <p:cNvPr id="31" name="TextBox 30"/>
          <p:cNvSpPr txBox="1"/>
          <p:nvPr/>
        </p:nvSpPr>
        <p:spPr>
          <a:xfrm>
            <a:off x="2387600" y="3708400"/>
            <a:ext cx="2540000" cy="152400"/>
          </a:xfrm>
          <a:prstGeom prst="rect">
            <a:avLst/>
          </a:prstGeom>
          <a:noFill/>
        </p:spPr>
        <p:txBody>
          <a:bodyPr wrap="square" lIns="0" rIns="0" tIns="0" bIns="0" anchor="t">
            <a:spAutoFit/>
          </a:bodyPr>
          <a:lstStyle/>
          <a:p>
            <a:pPr algn="l"/>
            <a:r>
              <a:rPr sz="750" b="1" i="0" spc="60">
                <a:solidFill>
                  <a:srgbClr val="11181C"/>
                </a:solidFill>
                <a:latin typeface="Arial"/>
              </a:rPr>
              <a:t>READ MORE  →</a:t>
            </a:r>
          </a:p>
        </p:txBody>
      </p:sp>
      <p:sp>
        <p:nvSpPr>
          <p:cNvPr id="32" name="TextBox 31"/>
          <p:cNvSpPr txBox="1"/>
          <p:nvPr/>
        </p:nvSpPr>
        <p:spPr>
          <a:xfrm>
            <a:off x="4165600" y="3683000"/>
            <a:ext cx="3810000" cy="177800"/>
          </a:xfrm>
          <a:prstGeom prst="rect">
            <a:avLst/>
          </a:prstGeom>
          <a:noFill/>
        </p:spPr>
        <p:txBody>
          <a:bodyPr wrap="square" lIns="0" rIns="0" tIns="0" bIns="0" anchor="t">
            <a:spAutoFit/>
          </a:bodyPr>
          <a:lstStyle/>
          <a:p>
            <a:pPr algn="l"/>
            <a:r>
              <a:rPr sz="950" b="0" i="0">
                <a:solidFill>
                  <a:srgbClr val="4D555C"/>
                </a:solidFill>
                <a:latin typeface="Arial"/>
              </a:rPr>
              <a:t>Inline link in a sentence uses </a:t>
            </a:r>
            <a:r>
              <a:rPr sz="950" b="1" i="0">
                <a:solidFill>
                  <a:srgbClr val="076932"/>
                </a:solidFill>
                <a:latin typeface="Arial"/>
              </a:rPr>
              <a:t>Green 800</a:t>
            </a:r>
            <a:r>
              <a:rPr sz="950" b="0" i="0">
                <a:solidFill>
                  <a:srgbClr val="4D555C"/>
                </a:solidFill>
                <a:latin typeface="Arial"/>
              </a:rPr>
              <a:t>.</a:t>
            </a:r>
          </a:p>
        </p:txBody>
      </p:sp>
      <p:sp>
        <p:nvSpPr>
          <p:cNvPr id="33" name="TextBox 32"/>
          <p:cNvSpPr txBox="1"/>
          <p:nvPr/>
        </p:nvSpPr>
        <p:spPr>
          <a:xfrm>
            <a:off x="609600" y="4140200"/>
            <a:ext cx="3810000" cy="152400"/>
          </a:xfrm>
          <a:prstGeom prst="rect">
            <a:avLst/>
          </a:prstGeom>
          <a:noFill/>
        </p:spPr>
        <p:txBody>
          <a:bodyPr wrap="square" lIns="0" rIns="0" tIns="0" bIns="0" anchor="t">
            <a:spAutoFit/>
          </a:bodyPr>
          <a:lstStyle/>
          <a:p>
            <a:pPr algn="l"/>
            <a:r>
              <a:rPr sz="850" b="1" i="0" spc="150">
                <a:solidFill>
                  <a:srgbClr val="697177"/>
                </a:solidFill>
                <a:latin typeface="Arial"/>
              </a:rPr>
              <a:t>META LINE</a:t>
            </a:r>
          </a:p>
        </p:txBody>
      </p:sp>
      <p:sp>
        <p:nvSpPr>
          <p:cNvPr id="34" name="TextBox 33"/>
          <p:cNvSpPr txBox="1"/>
          <p:nvPr/>
        </p:nvSpPr>
        <p:spPr>
          <a:xfrm>
            <a:off x="609600" y="4368800"/>
            <a:ext cx="5080000" cy="177800"/>
          </a:xfrm>
          <a:prstGeom prst="rect">
            <a:avLst/>
          </a:prstGeom>
          <a:noFill/>
        </p:spPr>
        <p:txBody>
          <a:bodyPr wrap="square" lIns="0" rIns="0" tIns="0" bIns="0" anchor="t">
            <a:spAutoFit/>
          </a:bodyPr>
          <a:lstStyle/>
          <a:p>
            <a:pPr algn="l"/>
            <a:r>
              <a:rPr sz="900" b="1" i="0">
                <a:solidFill>
                  <a:srgbClr val="4D555C"/>
                </a:solidFill>
                <a:latin typeface="Arial"/>
              </a:rPr>
              <a:t>Research</a:t>
            </a:r>
            <a:r>
              <a:rPr sz="900" b="0" i="0">
                <a:solidFill>
                  <a:srgbClr val="4D555C"/>
                </a:solidFill>
                <a:latin typeface="Arial"/>
              </a:rPr>
              <a:t>  •  Oct 8, 2026</a:t>
            </a:r>
          </a:p>
        </p:txBody>
      </p:sp>
      <p:sp>
        <p:nvSpPr>
          <p:cNvPr id="35" name="TextBox 34"/>
          <p:cNvSpPr txBox="1"/>
          <p:nvPr/>
        </p:nvSpPr>
        <p:spPr>
          <a:xfrm>
            <a:off x="3403600" y="4368800"/>
            <a:ext cx="5080000" cy="177800"/>
          </a:xfrm>
          <a:prstGeom prst="rect">
            <a:avLst/>
          </a:prstGeom>
          <a:noFill/>
        </p:spPr>
        <p:txBody>
          <a:bodyPr wrap="square" lIns="0" rIns="0" tIns="0" bIns="0" anchor="t">
            <a:spAutoFit/>
          </a:bodyPr>
          <a:lstStyle/>
          <a:p>
            <a:pPr algn="l"/>
            <a:r>
              <a:rPr sz="900" b="1" i="0">
                <a:solidFill>
                  <a:srgbClr val="4D555C"/>
                </a:solidFill>
                <a:latin typeface="Arial"/>
              </a:rPr>
              <a:t>Supply chain</a:t>
            </a:r>
            <a:r>
              <a:rPr sz="900" b="0" i="0">
                <a:solidFill>
                  <a:srgbClr val="4D555C"/>
                </a:solidFill>
                <a:latin typeface="Arial"/>
              </a:rPr>
              <a:t>  •  Step 4 of 5  •  Jun 2026</a:t>
            </a:r>
          </a:p>
        </p:txBody>
      </p:sp>
      <p:sp>
        <p:nvSpPr>
          <p:cNvPr id="36" name="TextBox 35"/>
          <p:cNvSpPr txBox="1"/>
          <p:nvPr/>
        </p:nvSpPr>
        <p:spPr>
          <a:xfrm>
            <a:off x="609600" y="4800600"/>
            <a:ext cx="3810000" cy="152400"/>
          </a:xfrm>
          <a:prstGeom prst="rect">
            <a:avLst/>
          </a:prstGeom>
          <a:noFill/>
        </p:spPr>
        <p:txBody>
          <a:bodyPr wrap="square" lIns="0" rIns="0" tIns="0" bIns="0" anchor="t">
            <a:spAutoFit/>
          </a:bodyPr>
          <a:lstStyle/>
          <a:p>
            <a:pPr algn="l"/>
            <a:r>
              <a:rPr sz="850" b="1" i="0" spc="150">
                <a:solidFill>
                  <a:srgbClr val="697177"/>
                </a:solidFill>
                <a:latin typeface="Arial"/>
              </a:rPr>
              <a:t>STATUS TAGS</a:t>
            </a:r>
          </a:p>
        </p:txBody>
      </p:sp>
      <p:sp>
        <p:nvSpPr>
          <p:cNvPr id="37" name="Rounded Rectangle 36"/>
          <p:cNvSpPr/>
          <p:nvPr/>
        </p:nvSpPr>
        <p:spPr>
          <a:xfrm>
            <a:off x="609600" y="5029200"/>
            <a:ext cx="1168400" cy="254000"/>
          </a:xfrm>
          <a:prstGeom prst="roundRect">
            <a:avLst>
              <a:gd name="adj" fmla="val 50000"/>
            </a:avLst>
          </a:prstGeom>
          <a:solidFill>
            <a:srgbClr val="E1F9EC"/>
          </a:solidFill>
          <a:ln>
            <a:noFill/>
          </a:ln>
          <a:effectLst/>
        </p:spPr>
        <p:txBody>
          <a:bodyPr rtlCol="0" anchor="ctr"/>
          <a:lstStyle/>
          <a:p>
            <a:pPr algn="ctr"/>
          </a:p>
        </p:txBody>
      </p:sp>
      <p:sp>
        <p:nvSpPr>
          <p:cNvPr id="38" name="TextBox 37"/>
          <p:cNvSpPr txBox="1"/>
          <p:nvPr/>
        </p:nvSpPr>
        <p:spPr>
          <a:xfrm>
            <a:off x="609600" y="5029200"/>
            <a:ext cx="1168400" cy="254000"/>
          </a:xfrm>
          <a:prstGeom prst="rect">
            <a:avLst/>
          </a:prstGeom>
          <a:noFill/>
        </p:spPr>
        <p:txBody>
          <a:bodyPr wrap="square" lIns="0" rIns="0" tIns="0" bIns="0" anchor="ctr">
            <a:spAutoFit/>
          </a:bodyPr>
          <a:lstStyle/>
          <a:p>
            <a:pPr algn="ctr"/>
            <a:r>
              <a:rPr sz="700" b="1" i="0" spc="60">
                <a:solidFill>
                  <a:srgbClr val="076932"/>
                </a:solidFill>
                <a:latin typeface="Arial"/>
              </a:rPr>
              <a:t>DONE</a:t>
            </a:r>
          </a:p>
        </p:txBody>
      </p:sp>
      <p:sp>
        <p:nvSpPr>
          <p:cNvPr id="39" name="Rounded Rectangle 38"/>
          <p:cNvSpPr/>
          <p:nvPr/>
        </p:nvSpPr>
        <p:spPr>
          <a:xfrm>
            <a:off x="1930400" y="5029200"/>
            <a:ext cx="1168400" cy="254000"/>
          </a:xfrm>
          <a:prstGeom prst="roundRect">
            <a:avLst>
              <a:gd name="adj" fmla="val 50000"/>
            </a:avLst>
          </a:prstGeom>
          <a:solidFill>
            <a:srgbClr val="FFF7C2"/>
          </a:solidFill>
          <a:ln>
            <a:noFill/>
          </a:ln>
          <a:effectLst/>
        </p:spPr>
        <p:txBody>
          <a:bodyPr rtlCol="0" anchor="ctr"/>
          <a:lstStyle/>
          <a:p>
            <a:pPr algn="ctr"/>
          </a:p>
        </p:txBody>
      </p:sp>
      <p:sp>
        <p:nvSpPr>
          <p:cNvPr id="40" name="TextBox 39"/>
          <p:cNvSpPr txBox="1"/>
          <p:nvPr/>
        </p:nvSpPr>
        <p:spPr>
          <a:xfrm>
            <a:off x="1930400" y="5029200"/>
            <a:ext cx="1168400" cy="254000"/>
          </a:xfrm>
          <a:prstGeom prst="rect">
            <a:avLst/>
          </a:prstGeom>
          <a:noFill/>
        </p:spPr>
        <p:txBody>
          <a:bodyPr wrap="square" lIns="0" rIns="0" tIns="0" bIns="0" anchor="ctr">
            <a:spAutoFit/>
          </a:bodyPr>
          <a:lstStyle/>
          <a:p>
            <a:pPr algn="ctr"/>
            <a:r>
              <a:rPr sz="700" b="1" i="0" spc="60">
                <a:solidFill>
                  <a:srgbClr val="AB6400"/>
                </a:solidFill>
                <a:latin typeface="Arial"/>
              </a:rPr>
              <a:t>ON GOING</a:t>
            </a:r>
          </a:p>
        </p:txBody>
      </p:sp>
      <p:sp>
        <p:nvSpPr>
          <p:cNvPr id="41" name="Rounded Rectangle 40"/>
          <p:cNvSpPr/>
          <p:nvPr/>
        </p:nvSpPr>
        <p:spPr>
          <a:xfrm>
            <a:off x="3251200" y="5029200"/>
            <a:ext cx="1168400" cy="254000"/>
          </a:xfrm>
          <a:prstGeom prst="roundRect">
            <a:avLst>
              <a:gd name="adj" fmla="val 50000"/>
            </a:avLst>
          </a:prstGeom>
          <a:solidFill>
            <a:srgbClr val="FEEBEC"/>
          </a:solidFill>
          <a:ln>
            <a:noFill/>
          </a:ln>
          <a:effectLst/>
        </p:spPr>
        <p:txBody>
          <a:bodyPr rtlCol="0" anchor="ctr"/>
          <a:lstStyle/>
          <a:p>
            <a:pPr algn="ctr"/>
          </a:p>
        </p:txBody>
      </p:sp>
      <p:sp>
        <p:nvSpPr>
          <p:cNvPr id="42" name="TextBox 41"/>
          <p:cNvSpPr txBox="1"/>
          <p:nvPr/>
        </p:nvSpPr>
        <p:spPr>
          <a:xfrm>
            <a:off x="3251200" y="5029200"/>
            <a:ext cx="1168400" cy="254000"/>
          </a:xfrm>
          <a:prstGeom prst="rect">
            <a:avLst/>
          </a:prstGeom>
          <a:noFill/>
        </p:spPr>
        <p:txBody>
          <a:bodyPr wrap="square" lIns="0" rIns="0" tIns="0" bIns="0" anchor="ctr">
            <a:spAutoFit/>
          </a:bodyPr>
          <a:lstStyle/>
          <a:p>
            <a:pPr algn="ctr"/>
            <a:r>
              <a:rPr sz="700" b="1" i="0" spc="60">
                <a:solidFill>
                  <a:srgbClr val="CE2C31"/>
                </a:solidFill>
                <a:latin typeface="Arial"/>
              </a:rPr>
              <a:t>AT RISK</a:t>
            </a:r>
          </a:p>
        </p:txBody>
      </p:sp>
      <p:sp>
        <p:nvSpPr>
          <p:cNvPr id="43" name="Rounded Rectangle 42"/>
          <p:cNvSpPr/>
          <p:nvPr/>
        </p:nvSpPr>
        <p:spPr>
          <a:xfrm>
            <a:off x="4572000" y="5029200"/>
            <a:ext cx="1168400" cy="254000"/>
          </a:xfrm>
          <a:prstGeom prst="roundRect">
            <a:avLst>
              <a:gd name="adj" fmla="val 50000"/>
            </a:avLst>
          </a:prstGeom>
          <a:solidFill>
            <a:srgbClr val="F0F2F4"/>
          </a:solidFill>
          <a:ln>
            <a:noFill/>
          </a:ln>
          <a:effectLst/>
        </p:spPr>
        <p:txBody>
          <a:bodyPr rtlCol="0" anchor="ctr"/>
          <a:lstStyle/>
          <a:p>
            <a:pPr algn="ctr"/>
          </a:p>
        </p:txBody>
      </p:sp>
      <p:sp>
        <p:nvSpPr>
          <p:cNvPr id="44" name="TextBox 43"/>
          <p:cNvSpPr txBox="1"/>
          <p:nvPr/>
        </p:nvSpPr>
        <p:spPr>
          <a:xfrm>
            <a:off x="4572000" y="5029200"/>
            <a:ext cx="1168400" cy="254000"/>
          </a:xfrm>
          <a:prstGeom prst="rect">
            <a:avLst/>
          </a:prstGeom>
          <a:noFill/>
        </p:spPr>
        <p:txBody>
          <a:bodyPr wrap="square" lIns="0" rIns="0" tIns="0" bIns="0" anchor="ctr">
            <a:spAutoFit/>
          </a:bodyPr>
          <a:lstStyle/>
          <a:p>
            <a:pPr algn="ctr"/>
            <a:r>
              <a:rPr sz="700" b="1" i="0" spc="60">
                <a:solidFill>
                  <a:srgbClr val="697177"/>
                </a:solidFill>
                <a:latin typeface="Arial"/>
              </a:rPr>
              <a:t>NOT STARTED</a:t>
            </a:r>
          </a:p>
        </p:txBody>
      </p:sp>
      <p:sp>
        <p:nvSpPr>
          <p:cNvPr id="45" name="Rounded Rectangle 44"/>
          <p:cNvSpPr/>
          <p:nvPr/>
        </p:nvSpPr>
        <p:spPr>
          <a:xfrm>
            <a:off x="5892800" y="5029200"/>
            <a:ext cx="1168400" cy="254000"/>
          </a:xfrm>
          <a:prstGeom prst="roundRect">
            <a:avLst>
              <a:gd name="adj" fmla="val 50000"/>
            </a:avLst>
          </a:prstGeom>
          <a:solidFill>
            <a:srgbClr val="11181C"/>
          </a:solidFill>
          <a:ln>
            <a:noFill/>
          </a:ln>
          <a:effectLst/>
        </p:spPr>
        <p:txBody>
          <a:bodyPr rtlCol="0" anchor="ctr"/>
          <a:lstStyle/>
          <a:p>
            <a:pPr algn="ctr"/>
          </a:p>
        </p:txBody>
      </p:sp>
      <p:sp>
        <p:nvSpPr>
          <p:cNvPr id="46" name="TextBox 45"/>
          <p:cNvSpPr txBox="1"/>
          <p:nvPr/>
        </p:nvSpPr>
        <p:spPr>
          <a:xfrm>
            <a:off x="5892800" y="5029200"/>
            <a:ext cx="1168400" cy="254000"/>
          </a:xfrm>
          <a:prstGeom prst="rect">
            <a:avLst/>
          </a:prstGeom>
          <a:noFill/>
        </p:spPr>
        <p:txBody>
          <a:bodyPr wrap="square" lIns="0" rIns="0" tIns="0" bIns="0" anchor="ctr">
            <a:spAutoFit/>
          </a:bodyPr>
          <a:lstStyle/>
          <a:p>
            <a:pPr algn="ctr"/>
            <a:r>
              <a:rPr sz="700" b="1" i="0" spc="60">
                <a:solidFill>
                  <a:srgbClr val="FFFFFF"/>
                </a:solidFill>
                <a:latin typeface="Arial"/>
              </a:rPr>
              <a:t>NEW</a:t>
            </a:r>
          </a:p>
        </p:txBody>
      </p:sp>
      <p:sp>
        <p:nvSpPr>
          <p:cNvPr id="47" name="Rounded Rectangle 46"/>
          <p:cNvSpPr/>
          <p:nvPr/>
        </p:nvSpPr>
        <p:spPr>
          <a:xfrm>
            <a:off x="609600" y="5537200"/>
            <a:ext cx="10972800" cy="711200"/>
          </a:xfrm>
          <a:prstGeom prst="roundRect">
            <a:avLst>
              <a:gd name="adj" fmla="val 17857"/>
            </a:avLst>
          </a:prstGeom>
          <a:solidFill>
            <a:srgbClr val="F9FAFB"/>
          </a:solidFill>
          <a:ln>
            <a:noFill/>
          </a:ln>
          <a:effectLst/>
        </p:spPr>
        <p:txBody>
          <a:bodyPr rtlCol="0" anchor="ctr"/>
          <a:lstStyle/>
          <a:p>
            <a:pPr algn="ctr"/>
          </a:p>
        </p:txBody>
      </p:sp>
      <p:sp>
        <p:nvSpPr>
          <p:cNvPr id="48" name="TextBox 47"/>
          <p:cNvSpPr txBox="1"/>
          <p:nvPr/>
        </p:nvSpPr>
        <p:spPr>
          <a:xfrm>
            <a:off x="863600" y="5537200"/>
            <a:ext cx="10414000" cy="711200"/>
          </a:xfrm>
          <a:prstGeom prst="rect">
            <a:avLst/>
          </a:prstGeom>
          <a:noFill/>
        </p:spPr>
        <p:txBody>
          <a:bodyPr wrap="square" lIns="0" rIns="0" tIns="0" bIns="0" anchor="ctr">
            <a:spAutoFit/>
          </a:bodyPr>
          <a:lstStyle/>
          <a:p>
            <a:pPr algn="l"/>
            <a:r>
              <a:rPr sz="1000" b="1" i="0">
                <a:solidFill>
                  <a:srgbClr val="11181C"/>
                </a:solidFill>
                <a:latin typeface="Arial"/>
              </a:rPr>
              <a:t>Rule  </a:t>
            </a:r>
            <a:r>
              <a:rPr sz="1000" b="0" i="0">
                <a:solidFill>
                  <a:srgbClr val="4D555C"/>
                </a:solidFill>
                <a:latin typeface="Arial"/>
              </a:rPr>
              <a:t>Max one primary (green) button per slide. Status tags always use the same four words and colours through the whole deck.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COMPONENTS · CARDS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Cards that read like </a:t>
            </a:r>
            <a:r>
              <a:rPr sz="2400" b="0" i="1">
                <a:solidFill>
                  <a:srgbClr val="11181C"/>
                </a:solidFill>
                <a:latin typeface="Georgia"/>
              </a:rPr>
              <a:t>research notes</a:t>
            </a:r>
            <a:r>
              <a:rPr sz="2400" b="0" i="0">
                <a:solidFill>
                  <a:srgbClr val="11181C"/>
                </a:solidFill>
                <a:latin typeface="Georgia"/>
              </a:rPr>
              <a:t>.</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14</a:t>
            </a:r>
          </a:p>
        </p:txBody>
      </p:sp>
      <p:pic>
        <p:nvPicPr>
          <p:cNvPr id="11" name="Picture 10" descr="image.jpg"/>
          <p:cNvPicPr>
            <a:picLocks noChangeAspect="1"/>
          </p:cNvPicPr>
          <p:nvPr/>
        </p:nvPicPr>
        <p:blipFill>
          <a:blip r:embed="rId3"/>
          <a:srcRect t="28610" b="28610"/>
          <a:stretch>
            <a:fillRect/>
          </a:stretch>
        </p:blipFill>
        <p:spPr>
          <a:xfrm>
            <a:off x="609600" y="1930400"/>
            <a:ext cx="2590800" cy="1473200"/>
          </a:xfrm>
          <a:prstGeom prst="roundRect">
            <a:avLst>
              <a:gd name="adj" fmla="val 6896"/>
            </a:avLst>
          </a:prstGeom>
        </p:spPr>
      </p:pic>
      <p:sp>
        <p:nvSpPr>
          <p:cNvPr id="12" name="TextBox 11"/>
          <p:cNvSpPr txBox="1"/>
          <p:nvPr/>
        </p:nvSpPr>
        <p:spPr>
          <a:xfrm>
            <a:off x="609600" y="3530600"/>
            <a:ext cx="2590800" cy="152400"/>
          </a:xfrm>
          <a:prstGeom prst="rect">
            <a:avLst/>
          </a:prstGeom>
          <a:noFill/>
        </p:spPr>
        <p:txBody>
          <a:bodyPr wrap="square" lIns="0" rIns="0" tIns="0" bIns="0" anchor="t">
            <a:spAutoFit/>
          </a:bodyPr>
          <a:lstStyle/>
          <a:p>
            <a:pPr algn="l"/>
            <a:r>
              <a:rPr sz="850" b="1" i="0">
                <a:solidFill>
                  <a:srgbClr val="4D555C"/>
                </a:solidFill>
                <a:latin typeface="Arial"/>
              </a:rPr>
              <a:t>Monitoring</a:t>
            </a:r>
            <a:r>
              <a:rPr sz="850" b="0" i="0">
                <a:solidFill>
                  <a:srgbClr val="4D555C"/>
                </a:solidFill>
                <a:latin typeface="Arial"/>
              </a:rPr>
              <a:t>  •  Jun 2026</a:t>
            </a:r>
          </a:p>
        </p:txBody>
      </p:sp>
      <p:sp>
        <p:nvSpPr>
          <p:cNvPr id="13" name="TextBox 12"/>
          <p:cNvSpPr txBox="1"/>
          <p:nvPr/>
        </p:nvSpPr>
        <p:spPr>
          <a:xfrm>
            <a:off x="609600" y="3733800"/>
            <a:ext cx="2590800" cy="431800"/>
          </a:xfrm>
          <a:prstGeom prst="rect">
            <a:avLst/>
          </a:prstGeom>
          <a:noFill/>
        </p:spPr>
        <p:txBody>
          <a:bodyPr wrap="square" lIns="0" rIns="0" tIns="0" bIns="0" anchor="t">
            <a:spAutoFit/>
          </a:bodyPr>
          <a:lstStyle/>
          <a:p>
            <a:pPr algn="l">
              <a:lnSpc>
                <a:spcPct val="115000"/>
              </a:lnSpc>
            </a:pPr>
            <a:r>
              <a:rPr sz="1300" b="0" i="0">
                <a:solidFill>
                  <a:srgbClr val="11181C"/>
                </a:solidFill>
                <a:latin typeface="Georgia"/>
              </a:rPr>
              <a:t>Plant visit keeps the RFD on track</a:t>
            </a:r>
          </a:p>
        </p:txBody>
      </p:sp>
      <p:sp>
        <p:nvSpPr>
          <p:cNvPr id="14" name="TextBox 13"/>
          <p:cNvSpPr txBox="1"/>
          <p:nvPr/>
        </p:nvSpPr>
        <p:spPr>
          <a:xfrm>
            <a:off x="609600" y="4191000"/>
            <a:ext cx="2590800" cy="4572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Weekly follow-up with UTE production and photo updates to sales.</a:t>
            </a:r>
          </a:p>
        </p:txBody>
      </p:sp>
      <p:sp>
        <p:nvSpPr>
          <p:cNvPr id="15" name="TextBox 14"/>
          <p:cNvSpPr txBox="1"/>
          <p:nvPr/>
        </p:nvSpPr>
        <p:spPr>
          <a:xfrm>
            <a:off x="609600" y="4724400"/>
            <a:ext cx="2540000" cy="152400"/>
          </a:xfrm>
          <a:prstGeom prst="rect">
            <a:avLst/>
          </a:prstGeom>
          <a:noFill/>
        </p:spPr>
        <p:txBody>
          <a:bodyPr wrap="square" lIns="0" rIns="0" tIns="0" bIns="0" anchor="t">
            <a:spAutoFit/>
          </a:bodyPr>
          <a:lstStyle/>
          <a:p>
            <a:pPr algn="l"/>
            <a:r>
              <a:rPr sz="750" b="1" i="0" spc="60">
                <a:solidFill>
                  <a:srgbClr val="11181C"/>
                </a:solidFill>
                <a:latin typeface="Arial"/>
              </a:rPr>
              <a:t>READ MORE  →</a:t>
            </a:r>
          </a:p>
        </p:txBody>
      </p:sp>
      <p:pic>
        <p:nvPicPr>
          <p:cNvPr id="16" name="Picture 15" descr="image.jpg"/>
          <p:cNvPicPr>
            <a:picLocks noChangeAspect="1"/>
          </p:cNvPicPr>
          <p:nvPr/>
        </p:nvPicPr>
        <p:blipFill>
          <a:blip r:embed="rId4"/>
          <a:srcRect t="20739" b="20739"/>
          <a:stretch>
            <a:fillRect/>
          </a:stretch>
        </p:blipFill>
        <p:spPr>
          <a:xfrm>
            <a:off x="3403600" y="1930400"/>
            <a:ext cx="2590800" cy="1473200"/>
          </a:xfrm>
          <a:prstGeom prst="roundRect">
            <a:avLst>
              <a:gd name="adj" fmla="val 6896"/>
            </a:avLst>
          </a:prstGeom>
        </p:spPr>
      </p:pic>
      <p:sp>
        <p:nvSpPr>
          <p:cNvPr id="17" name="TextBox 16"/>
          <p:cNvSpPr txBox="1"/>
          <p:nvPr/>
        </p:nvSpPr>
        <p:spPr>
          <a:xfrm>
            <a:off x="3403600" y="3530600"/>
            <a:ext cx="2590800" cy="152400"/>
          </a:xfrm>
          <a:prstGeom prst="rect">
            <a:avLst/>
          </a:prstGeom>
          <a:noFill/>
        </p:spPr>
        <p:txBody>
          <a:bodyPr wrap="square" lIns="0" rIns="0" tIns="0" bIns="0" anchor="t">
            <a:spAutoFit/>
          </a:bodyPr>
          <a:lstStyle/>
          <a:p>
            <a:pPr algn="l"/>
            <a:r>
              <a:rPr sz="850" b="1" i="0">
                <a:solidFill>
                  <a:srgbClr val="4D555C"/>
                </a:solidFill>
                <a:latin typeface="Arial"/>
              </a:rPr>
              <a:t>Project</a:t>
            </a:r>
            <a:r>
              <a:rPr sz="850" b="0" i="0">
                <a:solidFill>
                  <a:srgbClr val="4D555C"/>
                </a:solidFill>
                <a:latin typeface="Arial"/>
              </a:rPr>
              <a:t>  •  Aug 2026</a:t>
            </a:r>
          </a:p>
        </p:txBody>
      </p:sp>
      <p:sp>
        <p:nvSpPr>
          <p:cNvPr id="18" name="TextBox 17"/>
          <p:cNvSpPr txBox="1"/>
          <p:nvPr/>
        </p:nvSpPr>
        <p:spPr>
          <a:xfrm>
            <a:off x="3403600" y="3733800"/>
            <a:ext cx="2590800" cy="431800"/>
          </a:xfrm>
          <a:prstGeom prst="rect">
            <a:avLst/>
          </a:prstGeom>
          <a:noFill/>
        </p:spPr>
        <p:txBody>
          <a:bodyPr wrap="square" lIns="0" rIns="0" tIns="0" bIns="0" anchor="t">
            <a:spAutoFit/>
          </a:bodyPr>
          <a:lstStyle/>
          <a:p>
            <a:pPr algn="l">
              <a:lnSpc>
                <a:spcPct val="115000"/>
              </a:lnSpc>
            </a:pPr>
            <a:r>
              <a:rPr sz="1300" b="0" i="0">
                <a:solidFill>
                  <a:srgbClr val="11181C"/>
                </a:solidFill>
                <a:latin typeface="Georgia"/>
              </a:rPr>
              <a:t>F.lli Ferrari wins on price</a:t>
            </a:r>
          </a:p>
        </p:txBody>
      </p:sp>
      <p:sp>
        <p:nvSpPr>
          <p:cNvPr id="19" name="TextBox 18"/>
          <p:cNvSpPr txBox="1"/>
          <p:nvPr/>
        </p:nvSpPr>
        <p:spPr>
          <a:xfrm>
            <a:off x="3403600" y="4191000"/>
            <a:ext cx="2590800" cy="4572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Five cranes beat competitors head to head in their tm class.</a:t>
            </a:r>
          </a:p>
        </p:txBody>
      </p:sp>
      <p:sp>
        <p:nvSpPr>
          <p:cNvPr id="20" name="TextBox 19"/>
          <p:cNvSpPr txBox="1"/>
          <p:nvPr/>
        </p:nvSpPr>
        <p:spPr>
          <a:xfrm>
            <a:off x="3403600" y="4724400"/>
            <a:ext cx="2540000" cy="152400"/>
          </a:xfrm>
          <a:prstGeom prst="rect">
            <a:avLst/>
          </a:prstGeom>
          <a:noFill/>
        </p:spPr>
        <p:txBody>
          <a:bodyPr wrap="square" lIns="0" rIns="0" tIns="0" bIns="0" anchor="t">
            <a:spAutoFit/>
          </a:bodyPr>
          <a:lstStyle/>
          <a:p>
            <a:pPr algn="l"/>
            <a:r>
              <a:rPr sz="750" b="1" i="0" spc="60">
                <a:solidFill>
                  <a:srgbClr val="11181C"/>
                </a:solidFill>
                <a:latin typeface="Arial"/>
              </a:rPr>
              <a:t>READ MORE  →</a:t>
            </a:r>
          </a:p>
        </p:txBody>
      </p:sp>
      <p:pic>
        <p:nvPicPr>
          <p:cNvPr id="21" name="Picture 20" descr="image.jpg"/>
          <p:cNvPicPr>
            <a:picLocks noChangeAspect="1"/>
          </p:cNvPicPr>
          <p:nvPr/>
        </p:nvPicPr>
        <p:blipFill>
          <a:blip r:embed="rId5"/>
          <a:srcRect l="539" r="539"/>
          <a:stretch>
            <a:fillRect/>
          </a:stretch>
        </p:blipFill>
        <p:spPr>
          <a:xfrm>
            <a:off x="6197600" y="1930400"/>
            <a:ext cx="2590800" cy="1473200"/>
          </a:xfrm>
          <a:prstGeom prst="roundRect">
            <a:avLst>
              <a:gd name="adj" fmla="val 6896"/>
            </a:avLst>
          </a:prstGeom>
        </p:spPr>
      </p:pic>
      <p:sp>
        <p:nvSpPr>
          <p:cNvPr id="22" name="TextBox 21"/>
          <p:cNvSpPr txBox="1"/>
          <p:nvPr/>
        </p:nvSpPr>
        <p:spPr>
          <a:xfrm>
            <a:off x="6197600" y="3530600"/>
            <a:ext cx="2590800" cy="152400"/>
          </a:xfrm>
          <a:prstGeom prst="rect">
            <a:avLst/>
          </a:prstGeom>
          <a:noFill/>
        </p:spPr>
        <p:txBody>
          <a:bodyPr wrap="square" lIns="0" rIns="0" tIns="0" bIns="0" anchor="t">
            <a:spAutoFit/>
          </a:bodyPr>
          <a:lstStyle/>
          <a:p>
            <a:pPr algn="l"/>
            <a:r>
              <a:rPr sz="850" b="1" i="0">
                <a:solidFill>
                  <a:srgbClr val="4D555C"/>
                </a:solidFill>
                <a:latin typeface="Arial"/>
              </a:rPr>
              <a:t>Strategic</a:t>
            </a:r>
            <a:r>
              <a:rPr sz="850" b="0" i="0">
                <a:solidFill>
                  <a:srgbClr val="4D555C"/>
                </a:solidFill>
                <a:latin typeface="Arial"/>
              </a:rPr>
              <a:t>  •  May 2026</a:t>
            </a:r>
          </a:p>
        </p:txBody>
      </p:sp>
      <p:sp>
        <p:nvSpPr>
          <p:cNvPr id="23" name="TextBox 22"/>
          <p:cNvSpPr txBox="1"/>
          <p:nvPr/>
        </p:nvSpPr>
        <p:spPr>
          <a:xfrm>
            <a:off x="6197600" y="3733800"/>
            <a:ext cx="2590800" cy="431800"/>
          </a:xfrm>
          <a:prstGeom prst="rect">
            <a:avLst/>
          </a:prstGeom>
          <a:noFill/>
        </p:spPr>
        <p:txBody>
          <a:bodyPr wrap="square" lIns="0" rIns="0" tIns="0" bIns="0" anchor="t">
            <a:spAutoFit/>
          </a:bodyPr>
          <a:lstStyle/>
          <a:p>
            <a:pPr algn="l">
              <a:lnSpc>
                <a:spcPct val="115000"/>
              </a:lnSpc>
            </a:pPr>
            <a:r>
              <a:rPr sz="1300" b="0" i="0">
                <a:solidFill>
                  <a:srgbClr val="11181C"/>
                </a:solidFill>
                <a:latin typeface="Georgia"/>
              </a:rPr>
              <a:t>Pricing &amp; market analysis</a:t>
            </a:r>
          </a:p>
        </p:txBody>
      </p:sp>
      <p:sp>
        <p:nvSpPr>
          <p:cNvPr id="24" name="TextBox 23"/>
          <p:cNvSpPr txBox="1"/>
          <p:nvPr/>
        </p:nvSpPr>
        <p:spPr>
          <a:xfrm>
            <a:off x="6197600" y="4191000"/>
            <a:ext cx="2590800" cy="4572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Price simulation and competitor mapping for the sales team.</a:t>
            </a:r>
          </a:p>
        </p:txBody>
      </p:sp>
      <p:sp>
        <p:nvSpPr>
          <p:cNvPr id="25" name="TextBox 24"/>
          <p:cNvSpPr txBox="1"/>
          <p:nvPr/>
        </p:nvSpPr>
        <p:spPr>
          <a:xfrm>
            <a:off x="6197600" y="4724400"/>
            <a:ext cx="2540000" cy="152400"/>
          </a:xfrm>
          <a:prstGeom prst="rect">
            <a:avLst/>
          </a:prstGeom>
          <a:noFill/>
        </p:spPr>
        <p:txBody>
          <a:bodyPr wrap="square" lIns="0" rIns="0" tIns="0" bIns="0" anchor="t">
            <a:spAutoFit/>
          </a:bodyPr>
          <a:lstStyle/>
          <a:p>
            <a:pPr algn="l"/>
            <a:r>
              <a:rPr sz="750" b="1" i="0" spc="60">
                <a:solidFill>
                  <a:srgbClr val="11181C"/>
                </a:solidFill>
                <a:latin typeface="Arial"/>
              </a:rPr>
              <a:t>READ MORE  →</a:t>
            </a:r>
          </a:p>
        </p:txBody>
      </p:sp>
      <p:sp>
        <p:nvSpPr>
          <p:cNvPr id="26" name="TextBox 25"/>
          <p:cNvSpPr txBox="1"/>
          <p:nvPr/>
        </p:nvSpPr>
        <p:spPr>
          <a:xfrm>
            <a:off x="609600" y="5029200"/>
            <a:ext cx="8255000" cy="152400"/>
          </a:xfrm>
          <a:prstGeom prst="rect">
            <a:avLst/>
          </a:prstGeom>
          <a:noFill/>
        </p:spPr>
        <p:txBody>
          <a:bodyPr wrap="square" lIns="0" rIns="0" tIns="0" bIns="0" anchor="t">
            <a:spAutoFit/>
          </a:bodyPr>
          <a:lstStyle/>
          <a:p>
            <a:pPr algn="l"/>
            <a:r>
              <a:rPr sz="700" b="1" i="0" spc="60">
                <a:solidFill>
                  <a:srgbClr val="697177"/>
                </a:solidFill>
                <a:latin typeface="Arial"/>
              </a:rPr>
              <a:t>INSIGHT CARD  ·  image 8 pt radius  ·  meta  ·  serif title  ·  one-line description  ·  link</a:t>
            </a:r>
          </a:p>
        </p:txBody>
      </p:sp>
      <p:sp>
        <p:nvSpPr>
          <p:cNvPr id="27" name="Rounded Rectangle 26"/>
          <p:cNvSpPr/>
          <p:nvPr/>
        </p:nvSpPr>
        <p:spPr>
          <a:xfrm>
            <a:off x="9042400" y="1930400"/>
            <a:ext cx="2540000" cy="787400"/>
          </a:xfrm>
          <a:prstGeom prst="roundRect">
            <a:avLst>
              <a:gd name="adj" fmla="val 12903"/>
            </a:avLst>
          </a:prstGeom>
          <a:solidFill>
            <a:srgbClr val="FFFFFF"/>
          </a:solidFill>
          <a:ln w="9525">
            <a:solidFill>
              <a:srgbClr val="E6E8EB"/>
            </a:solidFill>
          </a:ln>
          <a:effectLst>
            <a:outerShdw blurRad="203200" dist="76200" dir="5400000" algn="t" rotWithShape="0">
              <a:srgbClr val="11181C">
                <a:alpha val="7000"/>
              </a:srgbClr>
            </a:outerShdw>
          </a:effectLst>
        </p:spPr>
        <p:txBody>
          <a:bodyPr rtlCol="0" anchor="ctr"/>
          <a:lstStyle/>
          <a:p>
            <a:pPr algn="ctr"/>
          </a:p>
        </p:txBody>
      </p:sp>
      <p:sp>
        <p:nvSpPr>
          <p:cNvPr id="28" name="TextBox 27"/>
          <p:cNvSpPr txBox="1"/>
          <p:nvPr/>
        </p:nvSpPr>
        <p:spPr>
          <a:xfrm>
            <a:off x="9220200" y="2057400"/>
            <a:ext cx="2159000" cy="127000"/>
          </a:xfrm>
          <a:prstGeom prst="rect">
            <a:avLst/>
          </a:prstGeom>
          <a:noFill/>
        </p:spPr>
        <p:txBody>
          <a:bodyPr wrap="square" lIns="0" rIns="0" tIns="0" bIns="0" anchor="t">
            <a:spAutoFit/>
          </a:bodyPr>
          <a:lstStyle/>
          <a:p>
            <a:pPr algn="l"/>
            <a:r>
              <a:rPr sz="800" b="0" i="0">
                <a:solidFill>
                  <a:srgbClr val="4D555C"/>
                </a:solidFill>
                <a:latin typeface="Arial"/>
              </a:rPr>
              <a:t>Recommended to stock</a:t>
            </a:r>
          </a:p>
        </p:txBody>
      </p:sp>
      <p:sp>
        <p:nvSpPr>
          <p:cNvPr id="29" name="TextBox 28"/>
          <p:cNvSpPr txBox="1"/>
          <p:nvPr/>
        </p:nvSpPr>
        <p:spPr>
          <a:xfrm>
            <a:off x="9220200" y="2260600"/>
            <a:ext cx="2159000" cy="228600"/>
          </a:xfrm>
          <a:prstGeom prst="rect">
            <a:avLst/>
          </a:prstGeom>
          <a:noFill/>
        </p:spPr>
        <p:txBody>
          <a:bodyPr wrap="square" lIns="0" rIns="0" tIns="0" bIns="0" anchor="t">
            <a:spAutoFit/>
          </a:bodyPr>
          <a:lstStyle/>
          <a:p>
            <a:pPr algn="l"/>
            <a:r>
              <a:rPr sz="900" b="1" i="0">
                <a:solidFill>
                  <a:srgbClr val="11181C"/>
                </a:solidFill>
                <a:latin typeface="Arial"/>
              </a:rPr>
              <a:t>7441C</a:t>
            </a:r>
            <a:r>
              <a:rPr sz="900" b="0" i="0">
                <a:solidFill>
                  <a:srgbClr val="11181C"/>
                </a:solidFill>
                <a:latin typeface="Arial"/>
              </a:rPr>
              <a:t>  F.lli Ferrari · 37.7 tm</a:t>
            </a:r>
          </a:p>
        </p:txBody>
      </p:sp>
      <p:sp>
        <p:nvSpPr>
          <p:cNvPr id="30" name="TextBox 29"/>
          <p:cNvSpPr txBox="1"/>
          <p:nvPr/>
        </p:nvSpPr>
        <p:spPr>
          <a:xfrm>
            <a:off x="11303000" y="2235200"/>
            <a:ext cx="177800" cy="228600"/>
          </a:xfrm>
          <a:prstGeom prst="rect">
            <a:avLst/>
          </a:prstGeom>
          <a:noFill/>
        </p:spPr>
        <p:txBody>
          <a:bodyPr wrap="square" lIns="0" rIns="0" tIns="0" bIns="0" anchor="t">
            <a:spAutoFit/>
          </a:bodyPr>
          <a:lstStyle/>
          <a:p>
            <a:pPr algn="l"/>
            <a:r>
              <a:rPr sz="1100" b="0" i="0">
                <a:solidFill>
                  <a:srgbClr val="11181C"/>
                </a:solidFill>
                <a:latin typeface="Arial"/>
              </a:rPr>
              <a:t>→</a:t>
            </a:r>
          </a:p>
        </p:txBody>
      </p:sp>
      <p:sp>
        <p:nvSpPr>
          <p:cNvPr id="31" name="TextBox 30"/>
          <p:cNvSpPr txBox="1"/>
          <p:nvPr/>
        </p:nvSpPr>
        <p:spPr>
          <a:xfrm>
            <a:off x="9042400" y="2794000"/>
            <a:ext cx="2540000" cy="152400"/>
          </a:xfrm>
          <a:prstGeom prst="rect">
            <a:avLst/>
          </a:prstGeom>
          <a:noFill/>
        </p:spPr>
        <p:txBody>
          <a:bodyPr wrap="square" lIns="0" rIns="0" tIns="0" bIns="0" anchor="t">
            <a:spAutoFit/>
          </a:bodyPr>
          <a:lstStyle/>
          <a:p>
            <a:pPr algn="l"/>
            <a:r>
              <a:rPr sz="700" b="1" i="0" spc="60">
                <a:solidFill>
                  <a:srgbClr val="697177"/>
                </a:solidFill>
                <a:latin typeface="Arial"/>
              </a:rPr>
              <a:t>CALLOUT CARD · floats on photos</a:t>
            </a:r>
          </a:p>
        </p:txBody>
      </p:sp>
      <p:sp>
        <p:nvSpPr>
          <p:cNvPr id="32" name="TextBox 31"/>
          <p:cNvSpPr txBox="1"/>
          <p:nvPr/>
        </p:nvSpPr>
        <p:spPr>
          <a:xfrm>
            <a:off x="9042400" y="3124200"/>
            <a:ext cx="889000" cy="177800"/>
          </a:xfrm>
          <a:prstGeom prst="rect">
            <a:avLst/>
          </a:prstGeom>
          <a:noFill/>
        </p:spPr>
        <p:txBody>
          <a:bodyPr wrap="square" lIns="0" rIns="0" tIns="0" bIns="0" anchor="t">
            <a:spAutoFit/>
          </a:bodyPr>
          <a:lstStyle/>
          <a:p>
            <a:pPr algn="l"/>
            <a:r>
              <a:rPr sz="1000" b="1" i="0">
                <a:solidFill>
                  <a:srgbClr val="11181C"/>
                </a:solidFill>
                <a:latin typeface="Arial"/>
              </a:rPr>
              <a:t>268 A4</a:t>
            </a:r>
          </a:p>
        </p:txBody>
      </p:sp>
      <p:sp>
        <p:nvSpPr>
          <p:cNvPr id="33" name="TextBox 32"/>
          <p:cNvSpPr txBox="1"/>
          <p:nvPr/>
        </p:nvSpPr>
        <p:spPr>
          <a:xfrm>
            <a:off x="9956800" y="3136900"/>
            <a:ext cx="1143000" cy="177800"/>
          </a:xfrm>
          <a:prstGeom prst="rect">
            <a:avLst/>
          </a:prstGeom>
          <a:noFill/>
        </p:spPr>
        <p:txBody>
          <a:bodyPr wrap="square" lIns="0" rIns="0" tIns="0" bIns="0" anchor="t">
            <a:spAutoFit/>
          </a:bodyPr>
          <a:lstStyle/>
          <a:p>
            <a:pPr algn="l"/>
            <a:r>
              <a:rPr sz="850" b="0" i="0">
                <a:solidFill>
                  <a:srgbClr val="4D555C"/>
                </a:solidFill>
                <a:latin typeface="Arial"/>
              </a:rPr>
              <a:t>25.4 tm · 31 units</a:t>
            </a:r>
          </a:p>
        </p:txBody>
      </p:sp>
      <p:sp>
        <p:nvSpPr>
          <p:cNvPr id="34" name="TextBox 33"/>
          <p:cNvSpPr txBox="1"/>
          <p:nvPr/>
        </p:nvSpPr>
        <p:spPr>
          <a:xfrm>
            <a:off x="11074400" y="3124200"/>
            <a:ext cx="508000" cy="177800"/>
          </a:xfrm>
          <a:prstGeom prst="rect">
            <a:avLst/>
          </a:prstGeom>
          <a:noFill/>
        </p:spPr>
        <p:txBody>
          <a:bodyPr wrap="square" lIns="0" rIns="0" tIns="0" bIns="0" anchor="t">
            <a:spAutoFit/>
          </a:bodyPr>
          <a:lstStyle/>
          <a:p>
            <a:pPr algn="r"/>
            <a:r>
              <a:rPr sz="1000" b="1" i="0">
                <a:solidFill>
                  <a:srgbClr val="076932"/>
                </a:solidFill>
                <a:latin typeface="Arial"/>
              </a:rPr>
              <a:t>−23%</a:t>
            </a:r>
          </a:p>
        </p:txBody>
      </p:sp>
      <p:cxnSp>
        <p:nvCxnSpPr>
          <p:cNvPr id="35" name="Connector 34"/>
          <p:cNvCxnSpPr/>
          <p:nvPr/>
        </p:nvCxnSpPr>
        <p:spPr>
          <a:xfrm>
            <a:off x="9042400" y="3429000"/>
            <a:ext cx="2540000" cy="0"/>
          </a:xfrm>
          <a:prstGeom prst="line">
            <a:avLst/>
          </a:prstGeom>
          <a:ln w="9525">
            <a:solidFill>
              <a:srgbClr val="E6E8EB"/>
            </a:solidFill>
          </a:ln>
        </p:spPr>
      </p:cxnSp>
      <p:sp>
        <p:nvSpPr>
          <p:cNvPr id="36" name="TextBox 35"/>
          <p:cNvSpPr txBox="1"/>
          <p:nvPr/>
        </p:nvSpPr>
        <p:spPr>
          <a:xfrm>
            <a:off x="9042400" y="3556000"/>
            <a:ext cx="889000" cy="177800"/>
          </a:xfrm>
          <a:prstGeom prst="rect">
            <a:avLst/>
          </a:prstGeom>
          <a:noFill/>
        </p:spPr>
        <p:txBody>
          <a:bodyPr wrap="square" lIns="0" rIns="0" tIns="0" bIns="0" anchor="t">
            <a:spAutoFit/>
          </a:bodyPr>
          <a:lstStyle/>
          <a:p>
            <a:pPr algn="l"/>
            <a:r>
              <a:rPr sz="1000" b="1" i="0">
                <a:solidFill>
                  <a:srgbClr val="11181C"/>
                </a:solidFill>
                <a:latin typeface="Arial"/>
              </a:rPr>
              <a:t>7441C</a:t>
            </a:r>
          </a:p>
        </p:txBody>
      </p:sp>
      <p:sp>
        <p:nvSpPr>
          <p:cNvPr id="37" name="TextBox 36"/>
          <p:cNvSpPr txBox="1"/>
          <p:nvPr/>
        </p:nvSpPr>
        <p:spPr>
          <a:xfrm>
            <a:off x="9956800" y="3568700"/>
            <a:ext cx="1143000" cy="177800"/>
          </a:xfrm>
          <a:prstGeom prst="rect">
            <a:avLst/>
          </a:prstGeom>
          <a:noFill/>
        </p:spPr>
        <p:txBody>
          <a:bodyPr wrap="square" lIns="0" rIns="0" tIns="0" bIns="0" anchor="t">
            <a:spAutoFit/>
          </a:bodyPr>
          <a:lstStyle/>
          <a:p>
            <a:pPr algn="l"/>
            <a:r>
              <a:rPr sz="850" b="0" i="0">
                <a:solidFill>
                  <a:srgbClr val="4D555C"/>
                </a:solidFill>
                <a:latin typeface="Arial"/>
              </a:rPr>
              <a:t>37.7 tm · 21 units</a:t>
            </a:r>
          </a:p>
        </p:txBody>
      </p:sp>
      <p:sp>
        <p:nvSpPr>
          <p:cNvPr id="38" name="TextBox 37"/>
          <p:cNvSpPr txBox="1"/>
          <p:nvPr/>
        </p:nvSpPr>
        <p:spPr>
          <a:xfrm>
            <a:off x="11074400" y="3556000"/>
            <a:ext cx="508000" cy="177800"/>
          </a:xfrm>
          <a:prstGeom prst="rect">
            <a:avLst/>
          </a:prstGeom>
          <a:noFill/>
        </p:spPr>
        <p:txBody>
          <a:bodyPr wrap="square" lIns="0" rIns="0" tIns="0" bIns="0" anchor="t">
            <a:spAutoFit/>
          </a:bodyPr>
          <a:lstStyle/>
          <a:p>
            <a:pPr algn="r"/>
            <a:r>
              <a:rPr sz="1000" b="1" i="0">
                <a:solidFill>
                  <a:srgbClr val="076932"/>
                </a:solidFill>
                <a:latin typeface="Arial"/>
              </a:rPr>
              <a:t>−14%</a:t>
            </a:r>
          </a:p>
        </p:txBody>
      </p:sp>
      <p:cxnSp>
        <p:nvCxnSpPr>
          <p:cNvPr id="39" name="Connector 38"/>
          <p:cNvCxnSpPr/>
          <p:nvPr/>
        </p:nvCxnSpPr>
        <p:spPr>
          <a:xfrm>
            <a:off x="9042400" y="3860800"/>
            <a:ext cx="2540000" cy="0"/>
          </a:xfrm>
          <a:prstGeom prst="line">
            <a:avLst/>
          </a:prstGeom>
          <a:ln w="9525">
            <a:solidFill>
              <a:srgbClr val="E6E8EB"/>
            </a:solidFill>
          </a:ln>
        </p:spPr>
      </p:cxnSp>
      <p:sp>
        <p:nvSpPr>
          <p:cNvPr id="40" name="TextBox 39"/>
          <p:cNvSpPr txBox="1"/>
          <p:nvPr/>
        </p:nvSpPr>
        <p:spPr>
          <a:xfrm>
            <a:off x="9042400" y="3987800"/>
            <a:ext cx="889000" cy="177800"/>
          </a:xfrm>
          <a:prstGeom prst="rect">
            <a:avLst/>
          </a:prstGeom>
          <a:noFill/>
        </p:spPr>
        <p:txBody>
          <a:bodyPr wrap="square" lIns="0" rIns="0" tIns="0" bIns="0" anchor="t">
            <a:spAutoFit/>
          </a:bodyPr>
          <a:lstStyle/>
          <a:p>
            <a:pPr algn="l"/>
            <a:r>
              <a:rPr sz="1000" b="1" i="0">
                <a:solidFill>
                  <a:srgbClr val="11181C"/>
                </a:solidFill>
                <a:latin typeface="Arial"/>
              </a:rPr>
              <a:t>FBR450R</a:t>
            </a:r>
          </a:p>
        </p:txBody>
      </p:sp>
      <p:sp>
        <p:nvSpPr>
          <p:cNvPr id="41" name="TextBox 40"/>
          <p:cNvSpPr txBox="1"/>
          <p:nvPr/>
        </p:nvSpPr>
        <p:spPr>
          <a:xfrm>
            <a:off x="9956800" y="4000500"/>
            <a:ext cx="1143000" cy="177800"/>
          </a:xfrm>
          <a:prstGeom prst="rect">
            <a:avLst/>
          </a:prstGeom>
          <a:noFill/>
        </p:spPr>
        <p:txBody>
          <a:bodyPr wrap="square" lIns="0" rIns="0" tIns="0" bIns="0" anchor="t">
            <a:spAutoFit/>
          </a:bodyPr>
          <a:lstStyle/>
          <a:p>
            <a:pPr algn="l"/>
            <a:r>
              <a:rPr sz="850" b="0" i="0">
                <a:solidFill>
                  <a:srgbClr val="4D555C"/>
                </a:solidFill>
                <a:latin typeface="Arial"/>
              </a:rPr>
              <a:t>45.5 tm · 13 units</a:t>
            </a:r>
          </a:p>
        </p:txBody>
      </p:sp>
      <p:sp>
        <p:nvSpPr>
          <p:cNvPr id="42" name="TextBox 41"/>
          <p:cNvSpPr txBox="1"/>
          <p:nvPr/>
        </p:nvSpPr>
        <p:spPr>
          <a:xfrm>
            <a:off x="11074400" y="3987800"/>
            <a:ext cx="508000" cy="177800"/>
          </a:xfrm>
          <a:prstGeom prst="rect">
            <a:avLst/>
          </a:prstGeom>
          <a:noFill/>
        </p:spPr>
        <p:txBody>
          <a:bodyPr wrap="square" lIns="0" rIns="0" tIns="0" bIns="0" anchor="t">
            <a:spAutoFit/>
          </a:bodyPr>
          <a:lstStyle/>
          <a:p>
            <a:pPr algn="r"/>
            <a:r>
              <a:rPr sz="1000" b="1" i="0">
                <a:solidFill>
                  <a:srgbClr val="076932"/>
                </a:solidFill>
                <a:latin typeface="Arial"/>
              </a:rPr>
              <a:t>−32%</a:t>
            </a:r>
          </a:p>
        </p:txBody>
      </p:sp>
      <p:cxnSp>
        <p:nvCxnSpPr>
          <p:cNvPr id="43" name="Connector 42"/>
          <p:cNvCxnSpPr/>
          <p:nvPr/>
        </p:nvCxnSpPr>
        <p:spPr>
          <a:xfrm>
            <a:off x="9042400" y="4292600"/>
            <a:ext cx="2540000" cy="0"/>
          </a:xfrm>
          <a:prstGeom prst="line">
            <a:avLst/>
          </a:prstGeom>
          <a:ln w="9525">
            <a:solidFill>
              <a:srgbClr val="E6E8EB"/>
            </a:solidFill>
          </a:ln>
        </p:spPr>
      </p:cxnSp>
      <p:sp>
        <p:nvSpPr>
          <p:cNvPr id="44" name="TextBox 43"/>
          <p:cNvSpPr txBox="1"/>
          <p:nvPr/>
        </p:nvSpPr>
        <p:spPr>
          <a:xfrm>
            <a:off x="9042400" y="4470400"/>
            <a:ext cx="2540000" cy="152400"/>
          </a:xfrm>
          <a:prstGeom prst="rect">
            <a:avLst/>
          </a:prstGeom>
          <a:noFill/>
        </p:spPr>
        <p:txBody>
          <a:bodyPr wrap="square" lIns="0" rIns="0" tIns="0" bIns="0" anchor="t">
            <a:spAutoFit/>
          </a:bodyPr>
          <a:lstStyle/>
          <a:p>
            <a:pPr algn="l"/>
            <a:r>
              <a:rPr sz="700" b="1" i="0" spc="60">
                <a:solidFill>
                  <a:srgbClr val="697177"/>
                </a:solidFill>
                <a:latin typeface="Arial"/>
              </a:rPr>
              <a:t>LIST ROW · ticker style</a:t>
            </a:r>
          </a:p>
        </p:txBody>
      </p:sp>
      <p:sp>
        <p:nvSpPr>
          <p:cNvPr id="45" name="Rounded Rectangle 44"/>
          <p:cNvSpPr/>
          <p:nvPr/>
        </p:nvSpPr>
        <p:spPr>
          <a:xfrm>
            <a:off x="609600" y="5334000"/>
            <a:ext cx="3530600" cy="914400"/>
          </a:xfrm>
          <a:prstGeom prst="roundRect">
            <a:avLst>
              <a:gd name="adj" fmla="val 13888"/>
            </a:avLst>
          </a:prstGeom>
          <a:solidFill>
            <a:srgbClr val="F9FAFB"/>
          </a:solidFill>
          <a:ln>
            <a:noFill/>
          </a:ln>
          <a:effectLst/>
        </p:spPr>
        <p:txBody>
          <a:bodyPr rtlCol="0" anchor="ctr"/>
          <a:lstStyle/>
          <a:p>
            <a:pPr algn="ctr"/>
          </a:p>
        </p:txBody>
      </p:sp>
      <p:sp>
        <p:nvSpPr>
          <p:cNvPr id="46" name="TextBox 45"/>
          <p:cNvSpPr txBox="1"/>
          <p:nvPr/>
        </p:nvSpPr>
        <p:spPr>
          <a:xfrm>
            <a:off x="838200" y="5461000"/>
            <a:ext cx="1143000" cy="508000"/>
          </a:xfrm>
          <a:prstGeom prst="rect">
            <a:avLst/>
          </a:prstGeom>
          <a:noFill/>
        </p:spPr>
        <p:txBody>
          <a:bodyPr wrap="square" lIns="0" rIns="0" tIns="0" bIns="0" anchor="t">
            <a:spAutoFit/>
          </a:bodyPr>
          <a:lstStyle/>
          <a:p>
            <a:pPr algn="l"/>
            <a:r>
              <a:rPr sz="2800" b="0" i="0">
                <a:solidFill>
                  <a:srgbClr val="11181C"/>
                </a:solidFill>
                <a:latin typeface="Georgia"/>
              </a:rPr>
              <a:t>67</a:t>
            </a:r>
          </a:p>
        </p:txBody>
      </p:sp>
      <p:sp>
        <p:nvSpPr>
          <p:cNvPr id="47" name="TextBox 46"/>
          <p:cNvSpPr txBox="1"/>
          <p:nvPr/>
        </p:nvSpPr>
        <p:spPr>
          <a:xfrm>
            <a:off x="2006600" y="5588000"/>
            <a:ext cx="2032000" cy="381000"/>
          </a:xfrm>
          <a:prstGeom prst="rect">
            <a:avLst/>
          </a:prstGeom>
          <a:noFill/>
        </p:spPr>
        <p:txBody>
          <a:bodyPr wrap="square" lIns="0" rIns="0" tIns="0" bIns="0" anchor="t">
            <a:spAutoFit/>
          </a:bodyPr>
          <a:lstStyle/>
          <a:p>
            <a:pPr algn="l">
              <a:lnSpc>
                <a:spcPct val="130000"/>
              </a:lnSpc>
            </a:pPr>
            <a:r>
              <a:rPr sz="950" b="0" i="0">
                <a:solidFill>
                  <a:srgbClr val="4D555C"/>
                </a:solidFill>
                <a:latin typeface="Arial"/>
              </a:rPr>
              <a:t>units / year, Medium + Heavy</a:t>
            </a:r>
          </a:p>
        </p:txBody>
      </p:sp>
      <p:sp>
        <p:nvSpPr>
          <p:cNvPr id="48" name="Rounded Rectangle 47"/>
          <p:cNvSpPr/>
          <p:nvPr/>
        </p:nvSpPr>
        <p:spPr>
          <a:xfrm>
            <a:off x="4292600" y="5334000"/>
            <a:ext cx="3530600" cy="914400"/>
          </a:xfrm>
          <a:prstGeom prst="roundRect">
            <a:avLst>
              <a:gd name="adj" fmla="val 13888"/>
            </a:avLst>
          </a:prstGeom>
          <a:solidFill>
            <a:srgbClr val="F9FAFB"/>
          </a:solidFill>
          <a:ln>
            <a:noFill/>
          </a:ln>
          <a:effectLst/>
        </p:spPr>
        <p:txBody>
          <a:bodyPr rtlCol="0" anchor="ctr"/>
          <a:lstStyle/>
          <a:p>
            <a:pPr algn="ctr"/>
          </a:p>
        </p:txBody>
      </p:sp>
      <p:sp>
        <p:nvSpPr>
          <p:cNvPr id="49" name="TextBox 48"/>
          <p:cNvSpPr txBox="1"/>
          <p:nvPr/>
        </p:nvSpPr>
        <p:spPr>
          <a:xfrm>
            <a:off x="4521200" y="5461000"/>
            <a:ext cx="1143000" cy="508000"/>
          </a:xfrm>
          <a:prstGeom prst="rect">
            <a:avLst/>
          </a:prstGeom>
          <a:noFill/>
        </p:spPr>
        <p:txBody>
          <a:bodyPr wrap="square" lIns="0" rIns="0" tIns="0" bIns="0" anchor="t">
            <a:spAutoFit/>
          </a:bodyPr>
          <a:lstStyle/>
          <a:p>
            <a:pPr algn="l"/>
            <a:r>
              <a:rPr sz="2800" b="0" i="0">
                <a:solidFill>
                  <a:srgbClr val="11181C"/>
                </a:solidFill>
                <a:latin typeface="Georgia"/>
              </a:rPr>
              <a:t>64%</a:t>
            </a:r>
          </a:p>
        </p:txBody>
      </p:sp>
      <p:sp>
        <p:nvSpPr>
          <p:cNvPr id="50" name="TextBox 49"/>
          <p:cNvSpPr txBox="1"/>
          <p:nvPr/>
        </p:nvSpPr>
        <p:spPr>
          <a:xfrm>
            <a:off x="5689600" y="5588000"/>
            <a:ext cx="2032000" cy="381000"/>
          </a:xfrm>
          <a:prstGeom prst="rect">
            <a:avLst/>
          </a:prstGeom>
          <a:noFill/>
        </p:spPr>
        <p:txBody>
          <a:bodyPr wrap="square" lIns="0" rIns="0" tIns="0" bIns="0" anchor="t">
            <a:spAutoFit/>
          </a:bodyPr>
          <a:lstStyle/>
          <a:p>
            <a:pPr algn="l">
              <a:lnSpc>
                <a:spcPct val="130000"/>
              </a:lnSpc>
            </a:pPr>
            <a:r>
              <a:rPr sz="950" b="0" i="0">
                <a:solidFill>
                  <a:srgbClr val="4D555C"/>
                </a:solidFill>
                <a:latin typeface="Arial"/>
              </a:rPr>
              <a:t>of import value</a:t>
            </a:r>
          </a:p>
        </p:txBody>
      </p:sp>
      <p:sp>
        <p:nvSpPr>
          <p:cNvPr id="51" name="Rounded Rectangle 50"/>
          <p:cNvSpPr/>
          <p:nvPr/>
        </p:nvSpPr>
        <p:spPr>
          <a:xfrm>
            <a:off x="7975600" y="5334000"/>
            <a:ext cx="3530600" cy="914400"/>
          </a:xfrm>
          <a:prstGeom prst="roundRect">
            <a:avLst>
              <a:gd name="adj" fmla="val 13888"/>
            </a:avLst>
          </a:prstGeom>
          <a:solidFill>
            <a:srgbClr val="F9FAFB"/>
          </a:solidFill>
          <a:ln>
            <a:noFill/>
          </a:ln>
          <a:effectLst/>
        </p:spPr>
        <p:txBody>
          <a:bodyPr rtlCol="0" anchor="ctr"/>
          <a:lstStyle/>
          <a:p>
            <a:pPr algn="ctr"/>
          </a:p>
        </p:txBody>
      </p:sp>
      <p:sp>
        <p:nvSpPr>
          <p:cNvPr id="52" name="TextBox 51"/>
          <p:cNvSpPr txBox="1"/>
          <p:nvPr/>
        </p:nvSpPr>
        <p:spPr>
          <a:xfrm>
            <a:off x="8204200" y="5461000"/>
            <a:ext cx="1143000" cy="508000"/>
          </a:xfrm>
          <a:prstGeom prst="rect">
            <a:avLst/>
          </a:prstGeom>
          <a:noFill/>
        </p:spPr>
        <p:txBody>
          <a:bodyPr wrap="square" lIns="0" rIns="0" tIns="0" bIns="0" anchor="t">
            <a:spAutoFit/>
          </a:bodyPr>
          <a:lstStyle/>
          <a:p>
            <a:pPr algn="l"/>
            <a:r>
              <a:rPr sz="2800" b="0" i="0">
                <a:solidFill>
                  <a:srgbClr val="11181C"/>
                </a:solidFill>
                <a:latin typeface="Georgia"/>
              </a:rPr>
              <a:t>5</a:t>
            </a:r>
          </a:p>
        </p:txBody>
      </p:sp>
      <p:sp>
        <p:nvSpPr>
          <p:cNvPr id="53" name="TextBox 52"/>
          <p:cNvSpPr txBox="1"/>
          <p:nvPr/>
        </p:nvSpPr>
        <p:spPr>
          <a:xfrm>
            <a:off x="9372600" y="5588000"/>
            <a:ext cx="2032000" cy="381000"/>
          </a:xfrm>
          <a:prstGeom prst="rect">
            <a:avLst/>
          </a:prstGeom>
          <a:noFill/>
        </p:spPr>
        <p:txBody>
          <a:bodyPr wrap="square" lIns="0" rIns="0" tIns="0" bIns="0" anchor="t">
            <a:spAutoFit/>
          </a:bodyPr>
          <a:lstStyle/>
          <a:p>
            <a:pPr algn="l">
              <a:lnSpc>
                <a:spcPct val="130000"/>
              </a:lnSpc>
            </a:pPr>
            <a:r>
              <a:rPr sz="950" b="0" i="0">
                <a:solidFill>
                  <a:srgbClr val="4D555C"/>
                </a:solidFill>
                <a:latin typeface="Arial"/>
              </a:rPr>
              <a:t>classes where F.lli Ferrari wins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COMPONENTS · SECTION PATTERNS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Four patterns lifted </a:t>
            </a:r>
            <a:r>
              <a:rPr sz="2400" b="0" i="1">
                <a:solidFill>
                  <a:srgbClr val="11181C"/>
                </a:solidFill>
                <a:latin typeface="Georgia"/>
              </a:rPr>
              <a:t>straight</a:t>
            </a:r>
            <a:r>
              <a:rPr sz="2400" b="0" i="0">
                <a:solidFill>
                  <a:srgbClr val="11181C"/>
                </a:solidFill>
                <a:latin typeface="Georgia"/>
              </a:rPr>
              <a:t> from Bitwise.</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15</a:t>
            </a:r>
          </a:p>
        </p:txBody>
      </p:sp>
      <p:sp>
        <p:nvSpPr>
          <p:cNvPr id="11" name="Rounded Rectangle 10"/>
          <p:cNvSpPr/>
          <p:nvPr/>
        </p:nvSpPr>
        <p:spPr>
          <a:xfrm>
            <a:off x="609600" y="1879600"/>
            <a:ext cx="5334000" cy="2108200"/>
          </a:xfrm>
          <a:prstGeom prst="roundRect">
            <a:avLst>
              <a:gd name="adj" fmla="val 6024"/>
            </a:avLst>
          </a:prstGeom>
          <a:solidFill>
            <a:srgbClr val="F9FAFB"/>
          </a:solidFill>
          <a:ln>
            <a:noFill/>
          </a:ln>
          <a:effectLst/>
        </p:spPr>
        <p:txBody>
          <a:bodyPr rtlCol="0" anchor="ctr"/>
          <a:lstStyle/>
          <a:p>
            <a:pPr algn="ctr"/>
          </a:p>
        </p:txBody>
      </p:sp>
      <p:sp>
        <p:nvSpPr>
          <p:cNvPr id="12" name="TextBox 11"/>
          <p:cNvSpPr txBox="1"/>
          <p:nvPr/>
        </p:nvSpPr>
        <p:spPr>
          <a:xfrm>
            <a:off x="609600" y="2108200"/>
            <a:ext cx="5334000" cy="152400"/>
          </a:xfrm>
          <a:prstGeom prst="rect">
            <a:avLst/>
          </a:prstGeom>
          <a:noFill/>
        </p:spPr>
        <p:txBody>
          <a:bodyPr wrap="square" lIns="0" rIns="0" tIns="0" bIns="0" anchor="t">
            <a:spAutoFit/>
          </a:bodyPr>
          <a:lstStyle/>
          <a:p>
            <a:pPr algn="ctr"/>
            <a:r>
              <a:rPr sz="850" b="1" i="0" spc="150">
                <a:solidFill>
                  <a:srgbClr val="697177"/>
                </a:solidFill>
                <a:latin typeface="Arial"/>
              </a:rPr>
              <a:t>INVESTMENTS</a:t>
            </a:r>
          </a:p>
        </p:txBody>
      </p:sp>
      <p:sp>
        <p:nvSpPr>
          <p:cNvPr id="13" name="TextBox 12"/>
          <p:cNvSpPr txBox="1"/>
          <p:nvPr/>
        </p:nvSpPr>
        <p:spPr>
          <a:xfrm>
            <a:off x="863600" y="2336800"/>
            <a:ext cx="4826000" cy="711200"/>
          </a:xfrm>
          <a:prstGeom prst="rect">
            <a:avLst/>
          </a:prstGeom>
          <a:noFill/>
        </p:spPr>
        <p:txBody>
          <a:bodyPr wrap="square" lIns="0" rIns="0" tIns="0" bIns="0" anchor="t">
            <a:spAutoFit/>
          </a:bodyPr>
          <a:lstStyle/>
          <a:p>
            <a:pPr algn="ctr">
              <a:lnSpc>
                <a:spcPct val="115000"/>
              </a:lnSpc>
            </a:pPr>
            <a:r>
              <a:rPr sz="1500" b="0" i="0">
                <a:solidFill>
                  <a:srgbClr val="11181C"/>
                </a:solidFill>
                <a:latin typeface="Georgia"/>
              </a:rPr>
              <a:t>Managed exposure to a growing world of </a:t>
            </a:r>
            <a:r>
              <a:rPr sz="1500" b="0" i="1">
                <a:solidFill>
                  <a:srgbClr val="11181C"/>
                </a:solidFill>
                <a:latin typeface="Georgia"/>
              </a:rPr>
              <a:t>crane opportunities</a:t>
            </a:r>
            <a:r>
              <a:rPr sz="1500" b="0" i="0">
                <a:solidFill>
                  <a:srgbClr val="11181C"/>
                </a:solidFill>
                <a:latin typeface="Georgia"/>
              </a:rPr>
              <a:t>.</a:t>
            </a:r>
          </a:p>
        </p:txBody>
      </p:sp>
      <p:sp>
        <p:nvSpPr>
          <p:cNvPr id="14" name="TextBox 13"/>
          <p:cNvSpPr txBox="1"/>
          <p:nvPr/>
        </p:nvSpPr>
        <p:spPr>
          <a:xfrm>
            <a:off x="1117600" y="3124200"/>
            <a:ext cx="4318000" cy="381000"/>
          </a:xfrm>
          <a:prstGeom prst="rect">
            <a:avLst/>
          </a:prstGeom>
          <a:noFill/>
        </p:spPr>
        <p:txBody>
          <a:bodyPr wrap="square" lIns="0" rIns="0" tIns="0" bIns="0" anchor="t">
            <a:spAutoFit/>
          </a:bodyPr>
          <a:lstStyle/>
          <a:p>
            <a:pPr algn="ctr"/>
            <a:r>
              <a:rPr sz="850" b="0" i="0">
                <a:solidFill>
                  <a:srgbClr val="4D555C"/>
                </a:solidFill>
                <a:latin typeface="Arial"/>
              </a:rPr>
              <a:t>Centred kicker + serif headline open a section. Optional one-line lede.</a:t>
            </a:r>
          </a:p>
        </p:txBody>
      </p:sp>
      <p:sp>
        <p:nvSpPr>
          <p:cNvPr id="15" name="TextBox 14"/>
          <p:cNvSpPr txBox="1"/>
          <p:nvPr/>
        </p:nvSpPr>
        <p:spPr>
          <a:xfrm>
            <a:off x="787400" y="3759200"/>
            <a:ext cx="3810000" cy="127000"/>
          </a:xfrm>
          <a:prstGeom prst="rect">
            <a:avLst/>
          </a:prstGeom>
          <a:noFill/>
        </p:spPr>
        <p:txBody>
          <a:bodyPr wrap="square" lIns="0" rIns="0" tIns="0" bIns="0" anchor="t">
            <a:spAutoFit/>
          </a:bodyPr>
          <a:lstStyle/>
          <a:p>
            <a:pPr algn="l"/>
            <a:r>
              <a:rPr sz="700" b="1" i="0" spc="60">
                <a:solidFill>
                  <a:srgbClr val="697177"/>
                </a:solidFill>
                <a:latin typeface="Arial"/>
              </a:rPr>
              <a:t>A · SECTION INTRO</a:t>
            </a:r>
          </a:p>
        </p:txBody>
      </p:sp>
      <p:sp>
        <p:nvSpPr>
          <p:cNvPr id="16" name="Rounded Rectangle 15"/>
          <p:cNvSpPr/>
          <p:nvPr/>
        </p:nvSpPr>
        <p:spPr>
          <a:xfrm>
            <a:off x="6248400" y="1879600"/>
            <a:ext cx="5334000" cy="2108200"/>
          </a:xfrm>
          <a:prstGeom prst="roundRect">
            <a:avLst>
              <a:gd name="adj" fmla="val 6024"/>
            </a:avLst>
          </a:prstGeom>
          <a:solidFill>
            <a:srgbClr val="FFFFFF"/>
          </a:solidFill>
          <a:ln w="9525">
            <a:solidFill>
              <a:srgbClr val="E6E8EB"/>
            </a:solidFill>
          </a:ln>
          <a:effectLst/>
        </p:spPr>
        <p:txBody>
          <a:bodyPr rtlCol="0" anchor="ctr"/>
          <a:lstStyle/>
          <a:p>
            <a:pPr algn="ctr"/>
          </a:p>
        </p:txBody>
      </p:sp>
      <p:cxnSp>
        <p:nvCxnSpPr>
          <p:cNvPr id="17" name="Connector 16"/>
          <p:cNvCxnSpPr/>
          <p:nvPr/>
        </p:nvCxnSpPr>
        <p:spPr>
          <a:xfrm flipV="1">
            <a:off x="6350000" y="2641600"/>
            <a:ext cx="5130800" cy="76200"/>
          </a:xfrm>
          <a:prstGeom prst="line">
            <a:avLst/>
          </a:prstGeom>
          <a:ln w="12700">
            <a:solidFill>
              <a:srgbClr val="E0E3E6"/>
            </a:solidFill>
          </a:ln>
        </p:spPr>
      </p:cxnSp>
      <p:sp>
        <p:nvSpPr>
          <p:cNvPr id="18" name="TextBox 17"/>
          <p:cNvSpPr txBox="1"/>
          <p:nvPr/>
        </p:nvSpPr>
        <p:spPr>
          <a:xfrm>
            <a:off x="6502400" y="2286000"/>
            <a:ext cx="1524000" cy="177800"/>
          </a:xfrm>
          <a:prstGeom prst="rect">
            <a:avLst/>
          </a:prstGeom>
          <a:noFill/>
        </p:spPr>
        <p:txBody>
          <a:bodyPr wrap="square" lIns="0" rIns="0" tIns="0" bIns="0" anchor="t">
            <a:spAutoFit/>
          </a:bodyPr>
          <a:lstStyle/>
          <a:p>
            <a:pPr algn="l"/>
            <a:r>
              <a:rPr sz="1100" b="0" i="0">
                <a:solidFill>
                  <a:srgbClr val="11181C"/>
                </a:solidFill>
                <a:latin typeface="Georgia"/>
              </a:rPr>
              <a:t>Track record</a:t>
            </a:r>
          </a:p>
        </p:txBody>
      </p:sp>
      <p:sp>
        <p:nvSpPr>
          <p:cNvPr id="19" name="Oval 18"/>
          <p:cNvSpPr/>
          <p:nvPr/>
        </p:nvSpPr>
        <p:spPr>
          <a:xfrm>
            <a:off x="6502400" y="2603500"/>
            <a:ext cx="76200" cy="76200"/>
          </a:xfrm>
          <a:prstGeom prst="ellipse">
            <a:avLst/>
          </a:prstGeom>
          <a:solidFill>
            <a:srgbClr val="22C96A"/>
          </a:solidFill>
          <a:ln>
            <a:noFill/>
          </a:ln>
          <a:effectLst/>
        </p:spPr>
        <p:txBody>
          <a:bodyPr rtlCol="0" anchor="ctr"/>
          <a:lstStyle/>
          <a:p>
            <a:pPr algn="ctr"/>
          </a:p>
        </p:txBody>
      </p:sp>
      <p:sp>
        <p:nvSpPr>
          <p:cNvPr id="20" name="TextBox 19"/>
          <p:cNvSpPr txBox="1"/>
          <p:nvPr/>
        </p:nvSpPr>
        <p:spPr>
          <a:xfrm>
            <a:off x="6502400" y="2870200"/>
            <a:ext cx="1498600" cy="635000"/>
          </a:xfrm>
          <a:prstGeom prst="rect">
            <a:avLst/>
          </a:prstGeom>
          <a:noFill/>
        </p:spPr>
        <p:txBody>
          <a:bodyPr wrap="square" lIns="0" rIns="0" tIns="0" bIns="0" anchor="t">
            <a:spAutoFit/>
          </a:bodyPr>
          <a:lstStyle/>
          <a:p>
            <a:pPr algn="l">
              <a:lnSpc>
                <a:spcPct val="135000"/>
              </a:lnSpc>
            </a:pPr>
            <a:r>
              <a:rPr sz="850" b="0" i="0">
                <a:solidFill>
                  <a:srgbClr val="4D555C"/>
                </a:solidFill>
                <a:latin typeface="Arial"/>
              </a:rPr>
              <a:t>Two or three lines of proof under each dot.</a:t>
            </a:r>
          </a:p>
        </p:txBody>
      </p:sp>
      <p:sp>
        <p:nvSpPr>
          <p:cNvPr id="21" name="TextBox 20"/>
          <p:cNvSpPr txBox="1"/>
          <p:nvPr/>
        </p:nvSpPr>
        <p:spPr>
          <a:xfrm>
            <a:off x="8204200" y="2286000"/>
            <a:ext cx="1524000" cy="177800"/>
          </a:xfrm>
          <a:prstGeom prst="rect">
            <a:avLst/>
          </a:prstGeom>
          <a:noFill/>
        </p:spPr>
        <p:txBody>
          <a:bodyPr wrap="square" lIns="0" rIns="0" tIns="0" bIns="0" anchor="t">
            <a:spAutoFit/>
          </a:bodyPr>
          <a:lstStyle/>
          <a:p>
            <a:pPr algn="l"/>
            <a:r>
              <a:rPr sz="1100" b="0" i="0">
                <a:solidFill>
                  <a:srgbClr val="11181C"/>
                </a:solidFill>
                <a:latin typeface="Georgia"/>
              </a:rPr>
              <a:t>Broad suite</a:t>
            </a:r>
          </a:p>
        </p:txBody>
      </p:sp>
      <p:sp>
        <p:nvSpPr>
          <p:cNvPr id="22" name="Oval 21"/>
          <p:cNvSpPr/>
          <p:nvPr/>
        </p:nvSpPr>
        <p:spPr>
          <a:xfrm>
            <a:off x="8204200" y="2578100"/>
            <a:ext cx="76200" cy="76200"/>
          </a:xfrm>
          <a:prstGeom prst="ellipse">
            <a:avLst/>
          </a:prstGeom>
          <a:solidFill>
            <a:srgbClr val="22C96A"/>
          </a:solidFill>
          <a:ln>
            <a:noFill/>
          </a:ln>
          <a:effectLst/>
        </p:spPr>
        <p:txBody>
          <a:bodyPr rtlCol="0" anchor="ctr"/>
          <a:lstStyle/>
          <a:p>
            <a:pPr algn="ctr"/>
          </a:p>
        </p:txBody>
      </p:sp>
      <p:sp>
        <p:nvSpPr>
          <p:cNvPr id="23" name="TextBox 22"/>
          <p:cNvSpPr txBox="1"/>
          <p:nvPr/>
        </p:nvSpPr>
        <p:spPr>
          <a:xfrm>
            <a:off x="8204200" y="2870200"/>
            <a:ext cx="1498600" cy="635000"/>
          </a:xfrm>
          <a:prstGeom prst="rect">
            <a:avLst/>
          </a:prstGeom>
          <a:noFill/>
        </p:spPr>
        <p:txBody>
          <a:bodyPr wrap="square" lIns="0" rIns="0" tIns="0" bIns="0" anchor="t">
            <a:spAutoFit/>
          </a:bodyPr>
          <a:lstStyle/>
          <a:p>
            <a:pPr algn="l">
              <a:lnSpc>
                <a:spcPct val="135000"/>
              </a:lnSpc>
            </a:pPr>
            <a:r>
              <a:rPr sz="850" b="0" i="0">
                <a:solidFill>
                  <a:srgbClr val="4D555C"/>
                </a:solidFill>
                <a:latin typeface="Arial"/>
              </a:rPr>
              <a:t>Two or three lines of proof under each dot.</a:t>
            </a:r>
          </a:p>
        </p:txBody>
      </p:sp>
      <p:sp>
        <p:nvSpPr>
          <p:cNvPr id="24" name="TextBox 23"/>
          <p:cNvSpPr txBox="1"/>
          <p:nvPr/>
        </p:nvSpPr>
        <p:spPr>
          <a:xfrm>
            <a:off x="9906000" y="2286000"/>
            <a:ext cx="1524000" cy="177800"/>
          </a:xfrm>
          <a:prstGeom prst="rect">
            <a:avLst/>
          </a:prstGeom>
          <a:noFill/>
        </p:spPr>
        <p:txBody>
          <a:bodyPr wrap="square" lIns="0" rIns="0" tIns="0" bIns="0" anchor="t">
            <a:spAutoFit/>
          </a:bodyPr>
          <a:lstStyle/>
          <a:p>
            <a:pPr algn="l"/>
            <a:r>
              <a:rPr sz="1100" b="0" i="0">
                <a:solidFill>
                  <a:srgbClr val="11181C"/>
                </a:solidFill>
                <a:latin typeface="Georgia"/>
              </a:rPr>
              <a:t>Strong team</a:t>
            </a:r>
          </a:p>
        </p:txBody>
      </p:sp>
      <p:sp>
        <p:nvSpPr>
          <p:cNvPr id="25" name="Oval 24"/>
          <p:cNvSpPr/>
          <p:nvPr/>
        </p:nvSpPr>
        <p:spPr>
          <a:xfrm>
            <a:off x="9906000" y="2552700"/>
            <a:ext cx="76200" cy="76200"/>
          </a:xfrm>
          <a:prstGeom prst="ellipse">
            <a:avLst/>
          </a:prstGeom>
          <a:solidFill>
            <a:srgbClr val="22C96A"/>
          </a:solidFill>
          <a:ln>
            <a:noFill/>
          </a:ln>
          <a:effectLst/>
        </p:spPr>
        <p:txBody>
          <a:bodyPr rtlCol="0" anchor="ctr"/>
          <a:lstStyle/>
          <a:p>
            <a:pPr algn="ctr"/>
          </a:p>
        </p:txBody>
      </p:sp>
      <p:sp>
        <p:nvSpPr>
          <p:cNvPr id="26" name="TextBox 25"/>
          <p:cNvSpPr txBox="1"/>
          <p:nvPr/>
        </p:nvSpPr>
        <p:spPr>
          <a:xfrm>
            <a:off x="9906000" y="2870200"/>
            <a:ext cx="1498600" cy="635000"/>
          </a:xfrm>
          <a:prstGeom prst="rect">
            <a:avLst/>
          </a:prstGeom>
          <a:noFill/>
        </p:spPr>
        <p:txBody>
          <a:bodyPr wrap="square" lIns="0" rIns="0" tIns="0" bIns="0" anchor="t">
            <a:spAutoFit/>
          </a:bodyPr>
          <a:lstStyle/>
          <a:p>
            <a:pPr algn="l">
              <a:lnSpc>
                <a:spcPct val="135000"/>
              </a:lnSpc>
            </a:pPr>
            <a:r>
              <a:rPr sz="850" b="0" i="0">
                <a:solidFill>
                  <a:srgbClr val="4D555C"/>
                </a:solidFill>
                <a:latin typeface="Arial"/>
              </a:rPr>
              <a:t>Two or three lines of proof under each dot.</a:t>
            </a:r>
          </a:p>
        </p:txBody>
      </p:sp>
      <p:sp>
        <p:nvSpPr>
          <p:cNvPr id="27" name="TextBox 26"/>
          <p:cNvSpPr txBox="1"/>
          <p:nvPr/>
        </p:nvSpPr>
        <p:spPr>
          <a:xfrm>
            <a:off x="6426200" y="3759200"/>
            <a:ext cx="3810000" cy="127000"/>
          </a:xfrm>
          <a:prstGeom prst="rect">
            <a:avLst/>
          </a:prstGeom>
          <a:noFill/>
        </p:spPr>
        <p:txBody>
          <a:bodyPr wrap="square" lIns="0" rIns="0" tIns="0" bIns="0" anchor="t">
            <a:spAutoFit/>
          </a:bodyPr>
          <a:lstStyle/>
          <a:p>
            <a:pPr algn="l"/>
            <a:r>
              <a:rPr sz="700" b="1" i="0" spc="60">
                <a:solidFill>
                  <a:srgbClr val="697177"/>
                </a:solidFill>
                <a:latin typeface="Arial"/>
              </a:rPr>
              <a:t>B · WHY COLUMNS (title · dot on line · text)</a:t>
            </a:r>
          </a:p>
        </p:txBody>
      </p:sp>
      <p:sp>
        <p:nvSpPr>
          <p:cNvPr id="28" name="Rounded Rectangle 27"/>
          <p:cNvSpPr/>
          <p:nvPr/>
        </p:nvSpPr>
        <p:spPr>
          <a:xfrm>
            <a:off x="609600" y="4191000"/>
            <a:ext cx="5334000" cy="2108200"/>
          </a:xfrm>
          <a:prstGeom prst="roundRect">
            <a:avLst>
              <a:gd name="adj" fmla="val 6024"/>
            </a:avLst>
          </a:prstGeom>
          <a:solidFill>
            <a:srgbClr val="FFFFFF"/>
          </a:solidFill>
          <a:ln w="9525">
            <a:solidFill>
              <a:srgbClr val="E6E8EB"/>
            </a:solidFill>
          </a:ln>
          <a:effectLst/>
        </p:spPr>
        <p:txBody>
          <a:bodyPr rtlCol="0" anchor="ctr"/>
          <a:lstStyle/>
          <a:p>
            <a:pPr algn="ctr"/>
          </a:p>
        </p:txBody>
      </p:sp>
      <p:sp>
        <p:nvSpPr>
          <p:cNvPr id="29" name="TextBox 28"/>
          <p:cNvSpPr txBox="1"/>
          <p:nvPr/>
        </p:nvSpPr>
        <p:spPr>
          <a:xfrm>
            <a:off x="609600" y="4445000"/>
            <a:ext cx="5334000" cy="152400"/>
          </a:xfrm>
          <a:prstGeom prst="rect">
            <a:avLst/>
          </a:prstGeom>
          <a:noFill/>
        </p:spPr>
        <p:txBody>
          <a:bodyPr wrap="square" lIns="0" rIns="0" tIns="0" bIns="0" anchor="t">
            <a:spAutoFit/>
          </a:bodyPr>
          <a:lstStyle/>
          <a:p>
            <a:pPr algn="ctr"/>
            <a:r>
              <a:rPr sz="850" b="1" i="0" spc="150">
                <a:solidFill>
                  <a:srgbClr val="697177"/>
                </a:solidFill>
                <a:latin typeface="Arial"/>
              </a:rPr>
              <a:t>BACKED BY LEADING INSTITUTIONS</a:t>
            </a:r>
          </a:p>
        </p:txBody>
      </p:sp>
      <p:sp>
        <p:nvSpPr>
          <p:cNvPr id="30" name="Rounded Rectangle 29"/>
          <p:cNvSpPr/>
          <p:nvPr/>
        </p:nvSpPr>
        <p:spPr>
          <a:xfrm>
            <a:off x="889000" y="4775200"/>
            <a:ext cx="711200" cy="330200"/>
          </a:xfrm>
          <a:prstGeom prst="roundRect">
            <a:avLst>
              <a:gd name="adj" fmla="val 15384"/>
            </a:avLst>
          </a:prstGeom>
          <a:solidFill>
            <a:srgbClr val="F0F2F4"/>
          </a:solidFill>
          <a:ln>
            <a:noFill/>
          </a:ln>
          <a:effectLst/>
        </p:spPr>
        <p:txBody>
          <a:bodyPr rtlCol="0" anchor="ctr"/>
          <a:lstStyle/>
          <a:p>
            <a:pPr algn="ctr"/>
          </a:p>
        </p:txBody>
      </p:sp>
      <p:sp>
        <p:nvSpPr>
          <p:cNvPr id="31" name="TextBox 30"/>
          <p:cNvSpPr txBox="1"/>
          <p:nvPr/>
        </p:nvSpPr>
        <p:spPr>
          <a:xfrm>
            <a:off x="889000" y="4775200"/>
            <a:ext cx="711200" cy="330200"/>
          </a:xfrm>
          <a:prstGeom prst="rect">
            <a:avLst/>
          </a:prstGeom>
          <a:noFill/>
        </p:spPr>
        <p:txBody>
          <a:bodyPr wrap="square" lIns="0" rIns="0" tIns="0" bIns="0" anchor="ctr">
            <a:spAutoFit/>
          </a:bodyPr>
          <a:lstStyle/>
          <a:p>
            <a:pPr algn="ctr"/>
            <a:r>
              <a:rPr sz="650" b="1" i="0">
                <a:solidFill>
                  <a:srgbClr val="889096"/>
                </a:solidFill>
                <a:latin typeface="Arial"/>
              </a:rPr>
              <a:t>LOGO</a:t>
            </a:r>
          </a:p>
        </p:txBody>
      </p:sp>
      <p:sp>
        <p:nvSpPr>
          <p:cNvPr id="32" name="Rounded Rectangle 31"/>
          <p:cNvSpPr/>
          <p:nvPr/>
        </p:nvSpPr>
        <p:spPr>
          <a:xfrm>
            <a:off x="1701800" y="4775200"/>
            <a:ext cx="711200" cy="330200"/>
          </a:xfrm>
          <a:prstGeom prst="roundRect">
            <a:avLst>
              <a:gd name="adj" fmla="val 15384"/>
            </a:avLst>
          </a:prstGeom>
          <a:solidFill>
            <a:srgbClr val="F0F2F4"/>
          </a:solidFill>
          <a:ln>
            <a:noFill/>
          </a:ln>
          <a:effectLst/>
        </p:spPr>
        <p:txBody>
          <a:bodyPr rtlCol="0" anchor="ctr"/>
          <a:lstStyle/>
          <a:p>
            <a:pPr algn="ctr"/>
          </a:p>
        </p:txBody>
      </p:sp>
      <p:sp>
        <p:nvSpPr>
          <p:cNvPr id="33" name="TextBox 32"/>
          <p:cNvSpPr txBox="1"/>
          <p:nvPr/>
        </p:nvSpPr>
        <p:spPr>
          <a:xfrm>
            <a:off x="1701800" y="4775200"/>
            <a:ext cx="711200" cy="330200"/>
          </a:xfrm>
          <a:prstGeom prst="rect">
            <a:avLst/>
          </a:prstGeom>
          <a:noFill/>
        </p:spPr>
        <p:txBody>
          <a:bodyPr wrap="square" lIns="0" rIns="0" tIns="0" bIns="0" anchor="ctr">
            <a:spAutoFit/>
          </a:bodyPr>
          <a:lstStyle/>
          <a:p>
            <a:pPr algn="ctr"/>
            <a:r>
              <a:rPr sz="650" b="1" i="0">
                <a:solidFill>
                  <a:srgbClr val="889096"/>
                </a:solidFill>
                <a:latin typeface="Arial"/>
              </a:rPr>
              <a:t>LOGO</a:t>
            </a:r>
          </a:p>
        </p:txBody>
      </p:sp>
      <p:sp>
        <p:nvSpPr>
          <p:cNvPr id="34" name="Rounded Rectangle 33"/>
          <p:cNvSpPr/>
          <p:nvPr/>
        </p:nvSpPr>
        <p:spPr>
          <a:xfrm>
            <a:off x="2514600" y="4775200"/>
            <a:ext cx="711200" cy="330200"/>
          </a:xfrm>
          <a:prstGeom prst="roundRect">
            <a:avLst>
              <a:gd name="adj" fmla="val 15384"/>
            </a:avLst>
          </a:prstGeom>
          <a:solidFill>
            <a:srgbClr val="F0F2F4"/>
          </a:solidFill>
          <a:ln>
            <a:noFill/>
          </a:ln>
          <a:effectLst/>
        </p:spPr>
        <p:txBody>
          <a:bodyPr rtlCol="0" anchor="ctr"/>
          <a:lstStyle/>
          <a:p>
            <a:pPr algn="ctr"/>
          </a:p>
        </p:txBody>
      </p:sp>
      <p:sp>
        <p:nvSpPr>
          <p:cNvPr id="35" name="TextBox 34"/>
          <p:cNvSpPr txBox="1"/>
          <p:nvPr/>
        </p:nvSpPr>
        <p:spPr>
          <a:xfrm>
            <a:off x="2514600" y="4775200"/>
            <a:ext cx="711200" cy="330200"/>
          </a:xfrm>
          <a:prstGeom prst="rect">
            <a:avLst/>
          </a:prstGeom>
          <a:noFill/>
        </p:spPr>
        <p:txBody>
          <a:bodyPr wrap="square" lIns="0" rIns="0" tIns="0" bIns="0" anchor="ctr">
            <a:spAutoFit/>
          </a:bodyPr>
          <a:lstStyle/>
          <a:p>
            <a:pPr algn="ctr"/>
            <a:r>
              <a:rPr sz="650" b="1" i="0">
                <a:solidFill>
                  <a:srgbClr val="889096"/>
                </a:solidFill>
                <a:latin typeface="Arial"/>
              </a:rPr>
              <a:t>LOGO</a:t>
            </a:r>
          </a:p>
        </p:txBody>
      </p:sp>
      <p:sp>
        <p:nvSpPr>
          <p:cNvPr id="36" name="Rounded Rectangle 35"/>
          <p:cNvSpPr/>
          <p:nvPr/>
        </p:nvSpPr>
        <p:spPr>
          <a:xfrm>
            <a:off x="3327400" y="4775200"/>
            <a:ext cx="711200" cy="330200"/>
          </a:xfrm>
          <a:prstGeom prst="roundRect">
            <a:avLst>
              <a:gd name="adj" fmla="val 15384"/>
            </a:avLst>
          </a:prstGeom>
          <a:solidFill>
            <a:srgbClr val="F0F2F4"/>
          </a:solidFill>
          <a:ln>
            <a:noFill/>
          </a:ln>
          <a:effectLst/>
        </p:spPr>
        <p:txBody>
          <a:bodyPr rtlCol="0" anchor="ctr"/>
          <a:lstStyle/>
          <a:p>
            <a:pPr algn="ctr"/>
          </a:p>
        </p:txBody>
      </p:sp>
      <p:sp>
        <p:nvSpPr>
          <p:cNvPr id="37" name="TextBox 36"/>
          <p:cNvSpPr txBox="1"/>
          <p:nvPr/>
        </p:nvSpPr>
        <p:spPr>
          <a:xfrm>
            <a:off x="3327400" y="4775200"/>
            <a:ext cx="711200" cy="330200"/>
          </a:xfrm>
          <a:prstGeom prst="rect">
            <a:avLst/>
          </a:prstGeom>
          <a:noFill/>
        </p:spPr>
        <p:txBody>
          <a:bodyPr wrap="square" lIns="0" rIns="0" tIns="0" bIns="0" anchor="ctr">
            <a:spAutoFit/>
          </a:bodyPr>
          <a:lstStyle/>
          <a:p>
            <a:pPr algn="ctr"/>
            <a:r>
              <a:rPr sz="650" b="1" i="0">
                <a:solidFill>
                  <a:srgbClr val="889096"/>
                </a:solidFill>
                <a:latin typeface="Arial"/>
              </a:rPr>
              <a:t>LOGO</a:t>
            </a:r>
          </a:p>
        </p:txBody>
      </p:sp>
      <p:sp>
        <p:nvSpPr>
          <p:cNvPr id="38" name="Rounded Rectangle 37"/>
          <p:cNvSpPr/>
          <p:nvPr/>
        </p:nvSpPr>
        <p:spPr>
          <a:xfrm>
            <a:off x="4140200" y="4775200"/>
            <a:ext cx="711200" cy="330200"/>
          </a:xfrm>
          <a:prstGeom prst="roundRect">
            <a:avLst>
              <a:gd name="adj" fmla="val 15384"/>
            </a:avLst>
          </a:prstGeom>
          <a:solidFill>
            <a:srgbClr val="F0F2F4"/>
          </a:solidFill>
          <a:ln>
            <a:noFill/>
          </a:ln>
          <a:effectLst/>
        </p:spPr>
        <p:txBody>
          <a:bodyPr rtlCol="0" anchor="ctr"/>
          <a:lstStyle/>
          <a:p>
            <a:pPr algn="ctr"/>
          </a:p>
        </p:txBody>
      </p:sp>
      <p:sp>
        <p:nvSpPr>
          <p:cNvPr id="39" name="TextBox 38"/>
          <p:cNvSpPr txBox="1"/>
          <p:nvPr/>
        </p:nvSpPr>
        <p:spPr>
          <a:xfrm>
            <a:off x="4140200" y="4775200"/>
            <a:ext cx="711200" cy="330200"/>
          </a:xfrm>
          <a:prstGeom prst="rect">
            <a:avLst/>
          </a:prstGeom>
          <a:noFill/>
        </p:spPr>
        <p:txBody>
          <a:bodyPr wrap="square" lIns="0" rIns="0" tIns="0" bIns="0" anchor="ctr">
            <a:spAutoFit/>
          </a:bodyPr>
          <a:lstStyle/>
          <a:p>
            <a:pPr algn="ctr"/>
            <a:r>
              <a:rPr sz="650" b="1" i="0">
                <a:solidFill>
                  <a:srgbClr val="889096"/>
                </a:solidFill>
                <a:latin typeface="Arial"/>
              </a:rPr>
              <a:t>LOGO</a:t>
            </a:r>
          </a:p>
        </p:txBody>
      </p:sp>
      <p:sp>
        <p:nvSpPr>
          <p:cNvPr id="40" name="Rounded Rectangle 39"/>
          <p:cNvSpPr/>
          <p:nvPr/>
        </p:nvSpPr>
        <p:spPr>
          <a:xfrm>
            <a:off x="4953000" y="4775200"/>
            <a:ext cx="711200" cy="330200"/>
          </a:xfrm>
          <a:prstGeom prst="roundRect">
            <a:avLst>
              <a:gd name="adj" fmla="val 15384"/>
            </a:avLst>
          </a:prstGeom>
          <a:solidFill>
            <a:srgbClr val="F0F2F4"/>
          </a:solidFill>
          <a:ln>
            <a:noFill/>
          </a:ln>
          <a:effectLst/>
        </p:spPr>
        <p:txBody>
          <a:bodyPr rtlCol="0" anchor="ctr"/>
          <a:lstStyle/>
          <a:p>
            <a:pPr algn="ctr"/>
          </a:p>
        </p:txBody>
      </p:sp>
      <p:sp>
        <p:nvSpPr>
          <p:cNvPr id="41" name="TextBox 40"/>
          <p:cNvSpPr txBox="1"/>
          <p:nvPr/>
        </p:nvSpPr>
        <p:spPr>
          <a:xfrm>
            <a:off x="4953000" y="4775200"/>
            <a:ext cx="711200" cy="330200"/>
          </a:xfrm>
          <a:prstGeom prst="rect">
            <a:avLst/>
          </a:prstGeom>
          <a:noFill/>
        </p:spPr>
        <p:txBody>
          <a:bodyPr wrap="square" lIns="0" rIns="0" tIns="0" bIns="0" anchor="ctr">
            <a:spAutoFit/>
          </a:bodyPr>
          <a:lstStyle/>
          <a:p>
            <a:pPr algn="ctr"/>
            <a:r>
              <a:rPr sz="650" b="1" i="0">
                <a:solidFill>
                  <a:srgbClr val="889096"/>
                </a:solidFill>
                <a:latin typeface="Arial"/>
              </a:rPr>
              <a:t>LOGO</a:t>
            </a:r>
          </a:p>
        </p:txBody>
      </p:sp>
      <p:sp>
        <p:nvSpPr>
          <p:cNvPr id="42" name="TextBox 41"/>
          <p:cNvSpPr txBox="1"/>
          <p:nvPr/>
        </p:nvSpPr>
        <p:spPr>
          <a:xfrm>
            <a:off x="990600" y="5257800"/>
            <a:ext cx="4572000" cy="381000"/>
          </a:xfrm>
          <a:prstGeom prst="rect">
            <a:avLst/>
          </a:prstGeom>
          <a:noFill/>
        </p:spPr>
        <p:txBody>
          <a:bodyPr wrap="square" lIns="0" rIns="0" tIns="0" bIns="0" anchor="t">
            <a:spAutoFit/>
          </a:bodyPr>
          <a:lstStyle/>
          <a:p>
            <a:pPr algn="ctr"/>
            <a:r>
              <a:rPr sz="850" b="0" i="0">
                <a:solidFill>
                  <a:srgbClr val="4D555C"/>
                </a:solidFill>
                <a:latin typeface="Arial"/>
              </a:rPr>
              <a:t>Logos in one row, same height, greyscale or original colours — never mixed.</a:t>
            </a:r>
          </a:p>
        </p:txBody>
      </p:sp>
      <p:cxnSp>
        <p:nvCxnSpPr>
          <p:cNvPr id="43" name="Connector 42"/>
          <p:cNvCxnSpPr/>
          <p:nvPr/>
        </p:nvCxnSpPr>
        <p:spPr>
          <a:xfrm>
            <a:off x="863600" y="5765800"/>
            <a:ext cx="4826000" cy="0"/>
          </a:xfrm>
          <a:prstGeom prst="line">
            <a:avLst/>
          </a:prstGeom>
          <a:ln w="9525">
            <a:solidFill>
              <a:srgbClr val="E6E8EB"/>
            </a:solidFill>
          </a:ln>
        </p:spPr>
      </p:cxnSp>
      <p:sp>
        <p:nvSpPr>
          <p:cNvPr id="44" name="TextBox 43"/>
          <p:cNvSpPr txBox="1"/>
          <p:nvPr/>
        </p:nvSpPr>
        <p:spPr>
          <a:xfrm>
            <a:off x="787400" y="6070600"/>
            <a:ext cx="3810000" cy="127000"/>
          </a:xfrm>
          <a:prstGeom prst="rect">
            <a:avLst/>
          </a:prstGeom>
          <a:noFill/>
        </p:spPr>
        <p:txBody>
          <a:bodyPr wrap="square" lIns="0" rIns="0" tIns="0" bIns="0" anchor="t">
            <a:spAutoFit/>
          </a:bodyPr>
          <a:lstStyle/>
          <a:p>
            <a:pPr algn="l"/>
            <a:r>
              <a:rPr sz="700" b="1" i="0" spc="60">
                <a:solidFill>
                  <a:srgbClr val="697177"/>
                </a:solidFill>
                <a:latin typeface="Arial"/>
              </a:rPr>
              <a:t>C · LOGO STRIP</a:t>
            </a:r>
          </a:p>
        </p:txBody>
      </p:sp>
      <p:sp>
        <p:nvSpPr>
          <p:cNvPr id="45" name="Rounded Rectangle 44"/>
          <p:cNvSpPr/>
          <p:nvPr/>
        </p:nvSpPr>
        <p:spPr>
          <a:xfrm>
            <a:off x="6248400" y="4191000"/>
            <a:ext cx="5334000" cy="2108200"/>
          </a:xfrm>
          <a:prstGeom prst="roundRect">
            <a:avLst>
              <a:gd name="adj" fmla="val 6024"/>
            </a:avLst>
          </a:prstGeom>
          <a:gradFill rotWithShape="1">
            <a:gsLst>
              <a:gs pos="0">
                <a:srgbClr val="11181C"/>
              </a:gs>
              <a:gs pos="100000">
                <a:srgbClr val="23343C"/>
              </a:gs>
            </a:gsLst>
            <a:lin scaled="0" ang="18900000"/>
          </a:gradFill>
          <a:ln>
            <a:noFill/>
          </a:ln>
          <a:effectLst/>
        </p:spPr>
        <p:txBody>
          <a:bodyPr rtlCol="0" anchor="ctr"/>
          <a:lstStyle/>
          <a:p>
            <a:pPr algn="ctr"/>
          </a:p>
        </p:txBody>
      </p:sp>
      <p:sp>
        <p:nvSpPr>
          <p:cNvPr id="46" name="TextBox 45"/>
          <p:cNvSpPr txBox="1"/>
          <p:nvPr/>
        </p:nvSpPr>
        <p:spPr>
          <a:xfrm>
            <a:off x="6502400" y="4470400"/>
            <a:ext cx="4826000" cy="635000"/>
          </a:xfrm>
          <a:prstGeom prst="rect">
            <a:avLst/>
          </a:prstGeom>
          <a:noFill/>
        </p:spPr>
        <p:txBody>
          <a:bodyPr wrap="square" lIns="0" rIns="0" tIns="0" bIns="0" anchor="t">
            <a:spAutoFit/>
          </a:bodyPr>
          <a:lstStyle/>
          <a:p>
            <a:pPr algn="l">
              <a:lnSpc>
                <a:spcPct val="115000"/>
              </a:lnSpc>
            </a:pPr>
            <a:r>
              <a:rPr sz="1700" b="0" i="0">
                <a:solidFill>
                  <a:srgbClr val="FFFFFF"/>
                </a:solidFill>
                <a:latin typeface="Georgia"/>
              </a:rPr>
              <a:t>Let us take the </a:t>
            </a:r>
            <a:r>
              <a:rPr sz="1700" b="0" i="1">
                <a:solidFill>
                  <a:srgbClr val="FFFFFF"/>
                </a:solidFill>
                <a:latin typeface="Georgia"/>
              </a:rPr>
              <a:t>next step</a:t>
            </a:r>
            <a:r>
              <a:rPr sz="1700" b="0" i="0">
                <a:solidFill>
                  <a:srgbClr val="FFFFFF"/>
                </a:solidFill>
                <a:latin typeface="Georgia"/>
              </a:rPr>
              <a:t> together.</a:t>
            </a:r>
          </a:p>
        </p:txBody>
      </p:sp>
      <p:sp>
        <p:nvSpPr>
          <p:cNvPr id="47" name="TextBox 46"/>
          <p:cNvSpPr txBox="1"/>
          <p:nvPr/>
        </p:nvSpPr>
        <p:spPr>
          <a:xfrm>
            <a:off x="6502400" y="5130800"/>
            <a:ext cx="4572000" cy="304800"/>
          </a:xfrm>
          <a:prstGeom prst="rect">
            <a:avLst/>
          </a:prstGeom>
          <a:noFill/>
        </p:spPr>
        <p:txBody>
          <a:bodyPr wrap="square" lIns="0" rIns="0" tIns="0" bIns="0" anchor="t">
            <a:spAutoFit/>
          </a:bodyPr>
          <a:lstStyle/>
          <a:p>
            <a:pPr algn="l"/>
            <a:r>
              <a:rPr sz="850" b="0" i="0">
                <a:solidFill>
                  <a:srgbClr val="C1C8CD"/>
                </a:solidFill>
                <a:latin typeface="Arial"/>
              </a:rPr>
              <a:t>Closing band: the one decision or support you ask the reviewers for.</a:t>
            </a:r>
          </a:p>
        </p:txBody>
      </p:sp>
      <p:sp>
        <p:nvSpPr>
          <p:cNvPr id="48" name="Rounded Rectangle 47"/>
          <p:cNvSpPr/>
          <p:nvPr/>
        </p:nvSpPr>
        <p:spPr>
          <a:xfrm>
            <a:off x="6502400" y="5588000"/>
            <a:ext cx="1397000" cy="304800"/>
          </a:xfrm>
          <a:prstGeom prst="roundRect">
            <a:avLst>
              <a:gd name="adj" fmla="val 12500"/>
            </a:avLst>
          </a:prstGeom>
          <a:solidFill>
            <a:srgbClr val="22C96A"/>
          </a:solidFill>
          <a:ln>
            <a:noFill/>
          </a:ln>
          <a:effectLst/>
        </p:spPr>
        <p:txBody>
          <a:bodyPr rtlCol="0" anchor="ctr"/>
          <a:lstStyle/>
          <a:p>
            <a:pPr algn="ctr"/>
          </a:p>
        </p:txBody>
      </p:sp>
      <p:sp>
        <p:nvSpPr>
          <p:cNvPr id="49" name="TextBox 48"/>
          <p:cNvSpPr txBox="1"/>
          <p:nvPr/>
        </p:nvSpPr>
        <p:spPr>
          <a:xfrm>
            <a:off x="6502400" y="5588000"/>
            <a:ext cx="1397000" cy="304800"/>
          </a:xfrm>
          <a:prstGeom prst="rect">
            <a:avLst/>
          </a:prstGeom>
          <a:noFill/>
        </p:spPr>
        <p:txBody>
          <a:bodyPr wrap="square" lIns="0" rIns="0" tIns="0" bIns="0" anchor="ctr">
            <a:spAutoFit/>
          </a:bodyPr>
          <a:lstStyle/>
          <a:p>
            <a:pPr algn="ctr"/>
            <a:r>
              <a:rPr sz="750" b="1" i="0" spc="60">
                <a:solidFill>
                  <a:srgbClr val="FFFFFF"/>
                </a:solidFill>
                <a:latin typeface="Arial"/>
              </a:rPr>
              <a:t>APPROVE PLAN</a:t>
            </a:r>
          </a:p>
        </p:txBody>
      </p:sp>
      <p:sp>
        <p:nvSpPr>
          <p:cNvPr id="50" name="Rounded Rectangle 49"/>
          <p:cNvSpPr/>
          <p:nvPr/>
        </p:nvSpPr>
        <p:spPr>
          <a:xfrm>
            <a:off x="8026400" y="5588000"/>
            <a:ext cx="1397000" cy="304800"/>
          </a:xfrm>
          <a:prstGeom prst="roundRect">
            <a:avLst>
              <a:gd name="adj" fmla="val 12500"/>
            </a:avLst>
          </a:prstGeom>
          <a:noFill/>
          <a:ln w="12700">
            <a:solidFill>
              <a:srgbClr val="22C96A"/>
            </a:solidFill>
          </a:ln>
          <a:effectLst/>
        </p:spPr>
        <p:txBody>
          <a:bodyPr rtlCol="0" anchor="ctr"/>
          <a:lstStyle/>
          <a:p>
            <a:pPr algn="ctr"/>
          </a:p>
        </p:txBody>
      </p:sp>
      <p:sp>
        <p:nvSpPr>
          <p:cNvPr id="51" name="TextBox 50"/>
          <p:cNvSpPr txBox="1"/>
          <p:nvPr/>
        </p:nvSpPr>
        <p:spPr>
          <a:xfrm>
            <a:off x="8026400" y="5588000"/>
            <a:ext cx="1397000" cy="304800"/>
          </a:xfrm>
          <a:prstGeom prst="rect">
            <a:avLst/>
          </a:prstGeom>
          <a:noFill/>
        </p:spPr>
        <p:txBody>
          <a:bodyPr wrap="square" lIns="0" rIns="0" tIns="0" bIns="0" anchor="ctr">
            <a:spAutoFit/>
          </a:bodyPr>
          <a:lstStyle/>
          <a:p>
            <a:pPr algn="ctr"/>
            <a:r>
              <a:rPr sz="750" b="1" i="0" spc="60">
                <a:solidFill>
                  <a:srgbClr val="22C96A"/>
                </a:solidFill>
                <a:latin typeface="Arial"/>
              </a:rPr>
              <a:t>SEE APPENDIX</a:t>
            </a:r>
          </a:p>
        </p:txBody>
      </p:sp>
      <p:sp>
        <p:nvSpPr>
          <p:cNvPr id="52" name="TextBox 51"/>
          <p:cNvSpPr txBox="1"/>
          <p:nvPr/>
        </p:nvSpPr>
        <p:spPr>
          <a:xfrm>
            <a:off x="6426200" y="6070600"/>
            <a:ext cx="3810000" cy="127000"/>
          </a:xfrm>
          <a:prstGeom prst="rect">
            <a:avLst/>
          </a:prstGeom>
          <a:noFill/>
        </p:spPr>
        <p:txBody>
          <a:bodyPr wrap="square" lIns="0" rIns="0" tIns="0" bIns="0" anchor="t">
            <a:spAutoFit/>
          </a:bodyPr>
          <a:lstStyle/>
          <a:p>
            <a:pPr algn="l"/>
            <a:r>
              <a:rPr sz="700" b="1" i="0" spc="60">
                <a:solidFill>
                  <a:srgbClr val="889096"/>
                </a:solidFill>
                <a:latin typeface="Arial"/>
              </a:rPr>
              <a:t>D · CTA BAND (dark)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COMPONENTS · CHARTS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One </a:t>
            </a:r>
            <a:r>
              <a:rPr sz="2400" b="0" i="1">
                <a:solidFill>
                  <a:srgbClr val="11181C"/>
                </a:solidFill>
                <a:latin typeface="Georgia"/>
              </a:rPr>
              <a:t>green</a:t>
            </a:r>
            <a:r>
              <a:rPr sz="2400" b="0" i="0">
                <a:solidFill>
                  <a:srgbClr val="11181C"/>
                </a:solidFill>
                <a:latin typeface="Georgia"/>
              </a:rPr>
              <a:t> series, everything else slate.</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Native PowerPoint charts only. The focus series is Green 500; comparison series use Slate 8 and Slate 12.</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16</a:t>
            </a:r>
          </a:p>
        </p:txBody>
      </p:sp>
      <p:graphicFrame>
        <p:nvGraphicFramePr>
          <p:cNvPr id="12" name="Chart 11"/>
          <p:cNvGraphicFramePr>
            <a:graphicFrameLocks noGrp="1"/>
          </p:cNvGraphicFramePr>
          <p:nvPr/>
        </p:nvGraphicFramePr>
        <p:xfrm>
          <a:off x="609600" y="2184400"/>
          <a:ext cx="6604000" cy="3810000"/>
        </p:xfrm>
        <a:graphic>
          <a:graphicData uri="http://schemas.openxmlformats.org/drawingml/2006/chart">
            <c:chart xmlns:c="http://schemas.openxmlformats.org/drawingml/2006/chart" r:id="rId3"/>
          </a:graphicData>
        </a:graphic>
      </p:graphicFrame>
      <p:sp>
        <p:nvSpPr>
          <p:cNvPr id="13" name="TextBox 12"/>
          <p:cNvSpPr txBox="1"/>
          <p:nvPr/>
        </p:nvSpPr>
        <p:spPr>
          <a:xfrm>
            <a:off x="609600" y="6045200"/>
            <a:ext cx="6604000" cy="304800"/>
          </a:xfrm>
          <a:prstGeom prst="rect">
            <a:avLst/>
          </a:prstGeom>
          <a:noFill/>
        </p:spPr>
        <p:txBody>
          <a:bodyPr wrap="square" lIns="0" rIns="0" tIns="0" bIns="0" anchor="t">
            <a:spAutoFit/>
          </a:bodyPr>
          <a:lstStyle/>
          <a:p>
            <a:pPr algn="l">
              <a:lnSpc>
                <a:spcPct val="130000"/>
              </a:lnSpc>
            </a:pPr>
            <a:r>
              <a:rPr sz="800" b="0" i="0">
                <a:solidFill>
                  <a:srgbClr val="697177"/>
                </a:solidFill>
                <a:latin typeface="Arial"/>
              </a:rPr>
              <a:t>Units imported per year. *2026 = Jan–14 Aug. Source: Indonesia import records (example from the F.lli Ferrari study).</a:t>
            </a:r>
          </a:p>
        </p:txBody>
      </p:sp>
      <p:sp>
        <p:nvSpPr>
          <p:cNvPr id="14" name="TextBox 13"/>
          <p:cNvSpPr txBox="1"/>
          <p:nvPr/>
        </p:nvSpPr>
        <p:spPr>
          <a:xfrm>
            <a:off x="7620000" y="2184400"/>
            <a:ext cx="3810000" cy="152400"/>
          </a:xfrm>
          <a:prstGeom prst="rect">
            <a:avLst/>
          </a:prstGeom>
          <a:noFill/>
        </p:spPr>
        <p:txBody>
          <a:bodyPr wrap="square" lIns="0" rIns="0" tIns="0" bIns="0" anchor="t">
            <a:spAutoFit/>
          </a:bodyPr>
          <a:lstStyle/>
          <a:p>
            <a:pPr algn="l"/>
            <a:r>
              <a:rPr sz="850" b="1" i="0" spc="150">
                <a:solidFill>
                  <a:srgbClr val="697177"/>
                </a:solidFill>
                <a:latin typeface="Arial"/>
              </a:rPr>
              <a:t>SERIES ORDER</a:t>
            </a:r>
          </a:p>
        </p:txBody>
      </p:sp>
      <p:sp>
        <p:nvSpPr>
          <p:cNvPr id="15" name="Rounded Rectangle 14"/>
          <p:cNvSpPr/>
          <p:nvPr/>
        </p:nvSpPr>
        <p:spPr>
          <a:xfrm>
            <a:off x="7620000" y="2438400"/>
            <a:ext cx="279400" cy="177800"/>
          </a:xfrm>
          <a:prstGeom prst="roundRect">
            <a:avLst>
              <a:gd name="adj" fmla="val 21428"/>
            </a:avLst>
          </a:prstGeom>
          <a:solidFill>
            <a:srgbClr val="22C96A"/>
          </a:solidFill>
          <a:ln>
            <a:noFill/>
          </a:ln>
          <a:effectLst/>
        </p:spPr>
        <p:txBody>
          <a:bodyPr rtlCol="0" anchor="ctr"/>
          <a:lstStyle/>
          <a:p>
            <a:pPr algn="ctr"/>
          </a:p>
        </p:txBody>
      </p:sp>
      <p:sp>
        <p:nvSpPr>
          <p:cNvPr id="16" name="TextBox 15"/>
          <p:cNvSpPr txBox="1"/>
          <p:nvPr/>
        </p:nvSpPr>
        <p:spPr>
          <a:xfrm>
            <a:off x="8001000" y="2451100"/>
            <a:ext cx="2540000" cy="177800"/>
          </a:xfrm>
          <a:prstGeom prst="rect">
            <a:avLst/>
          </a:prstGeom>
          <a:noFill/>
        </p:spPr>
        <p:txBody>
          <a:bodyPr wrap="square" lIns="0" rIns="0" tIns="0" bIns="0" anchor="t">
            <a:spAutoFit/>
          </a:bodyPr>
          <a:lstStyle/>
          <a:p>
            <a:pPr algn="l"/>
            <a:r>
              <a:rPr sz="900" b="0" i="0">
                <a:solidFill>
                  <a:srgbClr val="11181C"/>
                </a:solidFill>
                <a:latin typeface="Arial"/>
              </a:rPr>
              <a:t>1  Focus / Triatra</a:t>
            </a:r>
          </a:p>
        </p:txBody>
      </p:sp>
      <p:sp>
        <p:nvSpPr>
          <p:cNvPr id="17" name="Rounded Rectangle 16"/>
          <p:cNvSpPr/>
          <p:nvPr/>
        </p:nvSpPr>
        <p:spPr>
          <a:xfrm>
            <a:off x="7620000" y="2743200"/>
            <a:ext cx="279400" cy="177800"/>
          </a:xfrm>
          <a:prstGeom prst="roundRect">
            <a:avLst>
              <a:gd name="adj" fmla="val 21428"/>
            </a:avLst>
          </a:prstGeom>
          <a:solidFill>
            <a:srgbClr val="4D555C"/>
          </a:solidFill>
          <a:ln>
            <a:noFill/>
          </a:ln>
          <a:effectLst/>
        </p:spPr>
        <p:txBody>
          <a:bodyPr rtlCol="0" anchor="ctr"/>
          <a:lstStyle/>
          <a:p>
            <a:pPr algn="ctr"/>
          </a:p>
        </p:txBody>
      </p:sp>
      <p:sp>
        <p:nvSpPr>
          <p:cNvPr id="18" name="TextBox 17"/>
          <p:cNvSpPr txBox="1"/>
          <p:nvPr/>
        </p:nvSpPr>
        <p:spPr>
          <a:xfrm>
            <a:off x="8001000" y="2755900"/>
            <a:ext cx="2540000" cy="177800"/>
          </a:xfrm>
          <a:prstGeom prst="rect">
            <a:avLst/>
          </a:prstGeom>
          <a:noFill/>
        </p:spPr>
        <p:txBody>
          <a:bodyPr wrap="square" lIns="0" rIns="0" tIns="0" bIns="0" anchor="t">
            <a:spAutoFit/>
          </a:bodyPr>
          <a:lstStyle/>
          <a:p>
            <a:pPr algn="l"/>
            <a:r>
              <a:rPr sz="900" b="0" i="0">
                <a:solidFill>
                  <a:srgbClr val="11181C"/>
                </a:solidFill>
                <a:latin typeface="Arial"/>
              </a:rPr>
              <a:t>2  Main comparison</a:t>
            </a:r>
          </a:p>
        </p:txBody>
      </p:sp>
      <p:sp>
        <p:nvSpPr>
          <p:cNvPr id="19" name="Rounded Rectangle 18"/>
          <p:cNvSpPr/>
          <p:nvPr/>
        </p:nvSpPr>
        <p:spPr>
          <a:xfrm>
            <a:off x="7620000" y="3048000"/>
            <a:ext cx="279400" cy="177800"/>
          </a:xfrm>
          <a:prstGeom prst="roundRect">
            <a:avLst>
              <a:gd name="adj" fmla="val 21428"/>
            </a:avLst>
          </a:prstGeom>
          <a:solidFill>
            <a:srgbClr val="C1C8CD"/>
          </a:solidFill>
          <a:ln>
            <a:noFill/>
          </a:ln>
          <a:effectLst/>
        </p:spPr>
        <p:txBody>
          <a:bodyPr rtlCol="0" anchor="ctr"/>
          <a:lstStyle/>
          <a:p>
            <a:pPr algn="ctr"/>
          </a:p>
        </p:txBody>
      </p:sp>
      <p:sp>
        <p:nvSpPr>
          <p:cNvPr id="20" name="TextBox 19"/>
          <p:cNvSpPr txBox="1"/>
          <p:nvPr/>
        </p:nvSpPr>
        <p:spPr>
          <a:xfrm>
            <a:off x="8001000" y="3060700"/>
            <a:ext cx="2540000" cy="177800"/>
          </a:xfrm>
          <a:prstGeom prst="rect">
            <a:avLst/>
          </a:prstGeom>
          <a:noFill/>
        </p:spPr>
        <p:txBody>
          <a:bodyPr wrap="square" lIns="0" rIns="0" tIns="0" bIns="0" anchor="t">
            <a:spAutoFit/>
          </a:bodyPr>
          <a:lstStyle/>
          <a:p>
            <a:pPr algn="l"/>
            <a:r>
              <a:rPr sz="900" b="0" i="0">
                <a:solidFill>
                  <a:srgbClr val="11181C"/>
                </a:solidFill>
                <a:latin typeface="Arial"/>
              </a:rPr>
              <a:t>3  Others</a:t>
            </a:r>
          </a:p>
        </p:txBody>
      </p:sp>
      <p:sp>
        <p:nvSpPr>
          <p:cNvPr id="21" name="Rounded Rectangle 20"/>
          <p:cNvSpPr/>
          <p:nvPr/>
        </p:nvSpPr>
        <p:spPr>
          <a:xfrm>
            <a:off x="7620000" y="3352800"/>
            <a:ext cx="279400" cy="177800"/>
          </a:xfrm>
          <a:prstGeom prst="roundRect">
            <a:avLst>
              <a:gd name="adj" fmla="val 21428"/>
            </a:avLst>
          </a:prstGeom>
          <a:solidFill>
            <a:srgbClr val="0090FF"/>
          </a:solidFill>
          <a:ln>
            <a:noFill/>
          </a:ln>
          <a:effectLst/>
        </p:spPr>
        <p:txBody>
          <a:bodyPr rtlCol="0" anchor="ctr"/>
          <a:lstStyle/>
          <a:p>
            <a:pPr algn="ctr"/>
          </a:p>
        </p:txBody>
      </p:sp>
      <p:sp>
        <p:nvSpPr>
          <p:cNvPr id="22" name="TextBox 21"/>
          <p:cNvSpPr txBox="1"/>
          <p:nvPr/>
        </p:nvSpPr>
        <p:spPr>
          <a:xfrm>
            <a:off x="8001000" y="3365500"/>
            <a:ext cx="2540000" cy="177800"/>
          </a:xfrm>
          <a:prstGeom prst="rect">
            <a:avLst/>
          </a:prstGeom>
          <a:noFill/>
        </p:spPr>
        <p:txBody>
          <a:bodyPr wrap="square" lIns="0" rIns="0" tIns="0" bIns="0" anchor="t">
            <a:spAutoFit/>
          </a:bodyPr>
          <a:lstStyle/>
          <a:p>
            <a:pPr algn="l"/>
            <a:r>
              <a:rPr sz="900" b="0" i="0">
                <a:solidFill>
                  <a:srgbClr val="11181C"/>
                </a:solidFill>
                <a:latin typeface="Arial"/>
              </a:rPr>
              <a:t>4  Extra series 1</a:t>
            </a:r>
          </a:p>
        </p:txBody>
      </p:sp>
      <p:sp>
        <p:nvSpPr>
          <p:cNvPr id="23" name="Rounded Rectangle 22"/>
          <p:cNvSpPr/>
          <p:nvPr/>
        </p:nvSpPr>
        <p:spPr>
          <a:xfrm>
            <a:off x="7620000" y="3657600"/>
            <a:ext cx="279400" cy="177800"/>
          </a:xfrm>
          <a:prstGeom prst="roundRect">
            <a:avLst>
              <a:gd name="adj" fmla="val 21428"/>
            </a:avLst>
          </a:prstGeom>
          <a:solidFill>
            <a:srgbClr val="8E4EC6"/>
          </a:solidFill>
          <a:ln>
            <a:noFill/>
          </a:ln>
          <a:effectLst/>
        </p:spPr>
        <p:txBody>
          <a:bodyPr rtlCol="0" anchor="ctr"/>
          <a:lstStyle/>
          <a:p>
            <a:pPr algn="ctr"/>
          </a:p>
        </p:txBody>
      </p:sp>
      <p:sp>
        <p:nvSpPr>
          <p:cNvPr id="24" name="TextBox 23"/>
          <p:cNvSpPr txBox="1"/>
          <p:nvPr/>
        </p:nvSpPr>
        <p:spPr>
          <a:xfrm>
            <a:off x="8001000" y="3670300"/>
            <a:ext cx="2540000" cy="177800"/>
          </a:xfrm>
          <a:prstGeom prst="rect">
            <a:avLst/>
          </a:prstGeom>
          <a:noFill/>
        </p:spPr>
        <p:txBody>
          <a:bodyPr wrap="square" lIns="0" rIns="0" tIns="0" bIns="0" anchor="t">
            <a:spAutoFit/>
          </a:bodyPr>
          <a:lstStyle/>
          <a:p>
            <a:pPr algn="l"/>
            <a:r>
              <a:rPr sz="900" b="0" i="0">
                <a:solidFill>
                  <a:srgbClr val="11181C"/>
                </a:solidFill>
                <a:latin typeface="Arial"/>
              </a:rPr>
              <a:t>5  Extra series 2</a:t>
            </a:r>
          </a:p>
        </p:txBody>
      </p:sp>
      <p:sp>
        <p:nvSpPr>
          <p:cNvPr id="25" name="Rounded Rectangle 24"/>
          <p:cNvSpPr/>
          <p:nvPr/>
        </p:nvSpPr>
        <p:spPr>
          <a:xfrm>
            <a:off x="7620000" y="3962400"/>
            <a:ext cx="279400" cy="177800"/>
          </a:xfrm>
          <a:prstGeom prst="roundRect">
            <a:avLst>
              <a:gd name="adj" fmla="val 21428"/>
            </a:avLst>
          </a:prstGeom>
          <a:solidFill>
            <a:srgbClr val="E5484D"/>
          </a:solidFill>
          <a:ln>
            <a:noFill/>
          </a:ln>
          <a:effectLst/>
        </p:spPr>
        <p:txBody>
          <a:bodyPr rtlCol="0" anchor="ctr"/>
          <a:lstStyle/>
          <a:p>
            <a:pPr algn="ctr"/>
          </a:p>
        </p:txBody>
      </p:sp>
      <p:sp>
        <p:nvSpPr>
          <p:cNvPr id="26" name="TextBox 25"/>
          <p:cNvSpPr txBox="1"/>
          <p:nvPr/>
        </p:nvSpPr>
        <p:spPr>
          <a:xfrm>
            <a:off x="8001000" y="3975100"/>
            <a:ext cx="2540000" cy="177800"/>
          </a:xfrm>
          <a:prstGeom prst="rect">
            <a:avLst/>
          </a:prstGeom>
          <a:noFill/>
        </p:spPr>
        <p:txBody>
          <a:bodyPr wrap="square" lIns="0" rIns="0" tIns="0" bIns="0" anchor="t">
            <a:spAutoFit/>
          </a:bodyPr>
          <a:lstStyle/>
          <a:p>
            <a:pPr algn="l"/>
            <a:r>
              <a:rPr sz="900" b="0" i="0">
                <a:solidFill>
                  <a:srgbClr val="11181C"/>
                </a:solidFill>
                <a:latin typeface="Arial"/>
              </a:rPr>
              <a:t>6  Negative / risk only</a:t>
            </a:r>
          </a:p>
        </p:txBody>
      </p:sp>
      <p:sp>
        <p:nvSpPr>
          <p:cNvPr id="27" name="TextBox 26"/>
          <p:cNvSpPr txBox="1"/>
          <p:nvPr/>
        </p:nvSpPr>
        <p:spPr>
          <a:xfrm>
            <a:off x="7620000" y="4419600"/>
            <a:ext cx="3810000" cy="152400"/>
          </a:xfrm>
          <a:prstGeom prst="rect">
            <a:avLst/>
          </a:prstGeom>
          <a:noFill/>
        </p:spPr>
        <p:txBody>
          <a:bodyPr wrap="square" lIns="0" rIns="0" tIns="0" bIns="0" anchor="t">
            <a:spAutoFit/>
          </a:bodyPr>
          <a:lstStyle/>
          <a:p>
            <a:pPr algn="l"/>
            <a:r>
              <a:rPr sz="850" b="1" i="0" spc="150">
                <a:solidFill>
                  <a:srgbClr val="697177"/>
                </a:solidFill>
                <a:latin typeface="Arial"/>
              </a:rPr>
              <a:t>RULES</a:t>
            </a:r>
          </a:p>
        </p:txBody>
      </p:sp>
      <p:sp>
        <p:nvSpPr>
          <p:cNvPr id="28" name="Oval 27"/>
          <p:cNvSpPr/>
          <p:nvPr/>
        </p:nvSpPr>
        <p:spPr>
          <a:xfrm>
            <a:off x="7620000" y="4699000"/>
            <a:ext cx="63500" cy="63500"/>
          </a:xfrm>
          <a:prstGeom prst="ellipse">
            <a:avLst/>
          </a:prstGeom>
          <a:solidFill>
            <a:srgbClr val="22C96A"/>
          </a:solidFill>
          <a:ln>
            <a:noFill/>
          </a:ln>
          <a:effectLst/>
        </p:spPr>
        <p:txBody>
          <a:bodyPr rtlCol="0" anchor="ctr"/>
          <a:lstStyle/>
          <a:p>
            <a:pPr algn="ctr"/>
          </a:p>
        </p:txBody>
      </p:sp>
      <p:sp>
        <p:nvSpPr>
          <p:cNvPr id="29" name="TextBox 28"/>
          <p:cNvSpPr txBox="1"/>
          <p:nvPr/>
        </p:nvSpPr>
        <p:spPr>
          <a:xfrm>
            <a:off x="7797800" y="4648200"/>
            <a:ext cx="3810000" cy="203200"/>
          </a:xfrm>
          <a:prstGeom prst="rect">
            <a:avLst/>
          </a:prstGeom>
          <a:noFill/>
        </p:spPr>
        <p:txBody>
          <a:bodyPr wrap="square" lIns="0" rIns="0" tIns="0" bIns="0" anchor="t">
            <a:spAutoFit/>
          </a:bodyPr>
          <a:lstStyle/>
          <a:p>
            <a:pPr algn="l"/>
            <a:r>
              <a:rPr sz="950" b="0" i="0">
                <a:solidFill>
                  <a:srgbClr val="11181C"/>
                </a:solidFill>
                <a:latin typeface="Arial"/>
              </a:rPr>
              <a:t>Headline states the insight</a:t>
            </a:r>
          </a:p>
        </p:txBody>
      </p:sp>
      <p:sp>
        <p:nvSpPr>
          <p:cNvPr id="30" name="Oval 29"/>
          <p:cNvSpPr/>
          <p:nvPr/>
        </p:nvSpPr>
        <p:spPr>
          <a:xfrm>
            <a:off x="7620000" y="5003800"/>
            <a:ext cx="63500" cy="63500"/>
          </a:xfrm>
          <a:prstGeom prst="ellipse">
            <a:avLst/>
          </a:prstGeom>
          <a:solidFill>
            <a:srgbClr val="22C96A"/>
          </a:solidFill>
          <a:ln>
            <a:noFill/>
          </a:ln>
          <a:effectLst/>
        </p:spPr>
        <p:txBody>
          <a:bodyPr rtlCol="0" anchor="ctr"/>
          <a:lstStyle/>
          <a:p>
            <a:pPr algn="ctr"/>
          </a:p>
        </p:txBody>
      </p:sp>
      <p:sp>
        <p:nvSpPr>
          <p:cNvPr id="31" name="TextBox 30"/>
          <p:cNvSpPr txBox="1"/>
          <p:nvPr/>
        </p:nvSpPr>
        <p:spPr>
          <a:xfrm>
            <a:off x="7797800" y="4953000"/>
            <a:ext cx="3810000" cy="203200"/>
          </a:xfrm>
          <a:prstGeom prst="rect">
            <a:avLst/>
          </a:prstGeom>
          <a:noFill/>
        </p:spPr>
        <p:txBody>
          <a:bodyPr wrap="square" lIns="0" rIns="0" tIns="0" bIns="0" anchor="t">
            <a:spAutoFit/>
          </a:bodyPr>
          <a:lstStyle/>
          <a:p>
            <a:pPr algn="l"/>
            <a:r>
              <a:rPr sz="950" b="0" i="0">
                <a:solidFill>
                  <a:srgbClr val="11181C"/>
                </a:solidFill>
                <a:latin typeface="Arial"/>
              </a:rPr>
              <a:t>Labels on bars; no gridlines, no axis</a:t>
            </a:r>
          </a:p>
        </p:txBody>
      </p:sp>
      <p:sp>
        <p:nvSpPr>
          <p:cNvPr id="32" name="Oval 31"/>
          <p:cNvSpPr/>
          <p:nvPr/>
        </p:nvSpPr>
        <p:spPr>
          <a:xfrm>
            <a:off x="7620000" y="5308600"/>
            <a:ext cx="63500" cy="63500"/>
          </a:xfrm>
          <a:prstGeom prst="ellipse">
            <a:avLst/>
          </a:prstGeom>
          <a:solidFill>
            <a:srgbClr val="22C96A"/>
          </a:solidFill>
          <a:ln>
            <a:noFill/>
          </a:ln>
          <a:effectLst/>
        </p:spPr>
        <p:txBody>
          <a:bodyPr rtlCol="0" anchor="ctr"/>
          <a:lstStyle/>
          <a:p>
            <a:pPr algn="ctr"/>
          </a:p>
        </p:txBody>
      </p:sp>
      <p:sp>
        <p:nvSpPr>
          <p:cNvPr id="33" name="TextBox 32"/>
          <p:cNvSpPr txBox="1"/>
          <p:nvPr/>
        </p:nvSpPr>
        <p:spPr>
          <a:xfrm>
            <a:off x="7797800" y="5257800"/>
            <a:ext cx="3810000" cy="203200"/>
          </a:xfrm>
          <a:prstGeom prst="rect">
            <a:avLst/>
          </a:prstGeom>
          <a:noFill/>
        </p:spPr>
        <p:txBody>
          <a:bodyPr wrap="square" lIns="0" rIns="0" tIns="0" bIns="0" anchor="t">
            <a:spAutoFit/>
          </a:bodyPr>
          <a:lstStyle/>
          <a:p>
            <a:pPr algn="l"/>
            <a:r>
              <a:rPr sz="950" b="0" i="0">
                <a:solidFill>
                  <a:srgbClr val="11181C"/>
                </a:solidFill>
                <a:latin typeface="Arial"/>
              </a:rPr>
              <a:t>Axis starts at zero; no 3D, no shadow</a:t>
            </a:r>
          </a:p>
        </p:txBody>
      </p:sp>
      <p:sp>
        <p:nvSpPr>
          <p:cNvPr id="34" name="Oval 33"/>
          <p:cNvSpPr/>
          <p:nvPr/>
        </p:nvSpPr>
        <p:spPr>
          <a:xfrm>
            <a:off x="7620000" y="5613400"/>
            <a:ext cx="63500" cy="63500"/>
          </a:xfrm>
          <a:prstGeom prst="ellipse">
            <a:avLst/>
          </a:prstGeom>
          <a:solidFill>
            <a:srgbClr val="22C96A"/>
          </a:solidFill>
          <a:ln>
            <a:noFill/>
          </a:ln>
          <a:effectLst/>
        </p:spPr>
        <p:txBody>
          <a:bodyPr rtlCol="0" anchor="ctr"/>
          <a:lstStyle/>
          <a:p>
            <a:pPr algn="ctr"/>
          </a:p>
        </p:txBody>
      </p:sp>
      <p:sp>
        <p:nvSpPr>
          <p:cNvPr id="35" name="TextBox 34"/>
          <p:cNvSpPr txBox="1"/>
          <p:nvPr/>
        </p:nvSpPr>
        <p:spPr>
          <a:xfrm>
            <a:off x="7797800" y="5562600"/>
            <a:ext cx="3810000" cy="203200"/>
          </a:xfrm>
          <a:prstGeom prst="rect">
            <a:avLst/>
          </a:prstGeom>
          <a:noFill/>
        </p:spPr>
        <p:txBody>
          <a:bodyPr wrap="square" lIns="0" rIns="0" tIns="0" bIns="0" anchor="t">
            <a:spAutoFit/>
          </a:bodyPr>
          <a:lstStyle/>
          <a:p>
            <a:pPr algn="l"/>
            <a:r>
              <a:rPr sz="950" b="0" i="0">
                <a:solidFill>
                  <a:srgbClr val="11181C"/>
                </a:solidFill>
                <a:latin typeface="Arial"/>
              </a:rPr>
              <a:t>Numbers in Georgia, labels in Arial</a:t>
            </a:r>
          </a:p>
        </p:txBody>
      </p:sp>
      <p:sp>
        <p:nvSpPr>
          <p:cNvPr id="36" name="Oval 35"/>
          <p:cNvSpPr/>
          <p:nvPr/>
        </p:nvSpPr>
        <p:spPr>
          <a:xfrm>
            <a:off x="7620000" y="5918200"/>
            <a:ext cx="63500" cy="63500"/>
          </a:xfrm>
          <a:prstGeom prst="ellipse">
            <a:avLst/>
          </a:prstGeom>
          <a:solidFill>
            <a:srgbClr val="22C96A"/>
          </a:solidFill>
          <a:ln>
            <a:noFill/>
          </a:ln>
          <a:effectLst/>
        </p:spPr>
        <p:txBody>
          <a:bodyPr rtlCol="0" anchor="ctr"/>
          <a:lstStyle/>
          <a:p>
            <a:pPr algn="ctr"/>
          </a:p>
        </p:txBody>
      </p:sp>
      <p:sp>
        <p:nvSpPr>
          <p:cNvPr id="37" name="TextBox 36"/>
          <p:cNvSpPr txBox="1"/>
          <p:nvPr/>
        </p:nvSpPr>
        <p:spPr>
          <a:xfrm>
            <a:off x="7797800" y="5867400"/>
            <a:ext cx="3810000" cy="203200"/>
          </a:xfrm>
          <a:prstGeom prst="rect">
            <a:avLst/>
          </a:prstGeom>
          <a:noFill/>
        </p:spPr>
        <p:txBody>
          <a:bodyPr wrap="square" lIns="0" rIns="0" tIns="0" bIns="0" anchor="t">
            <a:spAutoFit/>
          </a:bodyPr>
          <a:lstStyle/>
          <a:p>
            <a:pPr algn="l"/>
            <a:r>
              <a:rPr sz="950" b="0" i="0">
                <a:solidFill>
                  <a:srgbClr val="11181C"/>
                </a:solidFill>
                <a:latin typeface="Arial"/>
              </a:rPr>
              <a:t>Source line under every chart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COMPONENTS · TABLES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Tables like a </a:t>
            </a:r>
            <a:r>
              <a:rPr sz="2400" b="0" i="1">
                <a:solidFill>
                  <a:srgbClr val="11181C"/>
                </a:solidFill>
                <a:latin typeface="Georgia"/>
              </a:rPr>
              <a:t>fund list</a:t>
            </a:r>
            <a:r>
              <a:rPr sz="2400" b="0" i="0">
                <a:solidFill>
                  <a:srgbClr val="11181C"/>
                </a:solidFill>
                <a:latin typeface="Georgia"/>
              </a:rPr>
              <a:t>: light, ruled, right-aligned.</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17</a:t>
            </a:r>
          </a:p>
        </p:txBody>
      </p:sp>
      <p:graphicFrame>
        <p:nvGraphicFramePr>
          <p:cNvPr id="11" name="Table 10"/>
          <p:cNvGraphicFramePr>
            <a:graphicFrameLocks noGrp="1"/>
          </p:cNvGraphicFramePr>
          <p:nvPr/>
        </p:nvGraphicFramePr>
        <p:xfrm>
          <a:off x="609600" y="1981200"/>
          <a:ext cx="10972800" cy="1981200"/>
        </p:xfrm>
        <a:graphic>
          <a:graphicData uri="http://schemas.openxmlformats.org/drawingml/2006/table">
            <a:tbl>
              <a:tblPr firstRow="0" bandRow="0">
                <a:tableStyleId>{5C22544A-7EE6-4342-B048-85BDC9FD1C3A}</a:tableStyleId>
              </a:tblPr>
              <a:tblGrid>
                <a:gridCol w="1397000"/>
                <a:gridCol w="3175000"/>
                <a:gridCol w="1397000"/>
                <a:gridCol w="1143000"/>
                <a:gridCol w="1778000"/>
                <a:gridCol w="2082800"/>
              </a:tblGrid>
              <a:tr h="330200">
                <a:tc>
                  <a:txBody>
                    <a:bodyPr/>
                    <a:lstStyle/>
                    <a:p>
                      <a:pPr algn="l"/>
                      <a:r>
                        <a:rPr sz="750" b="1" spc="60">
                          <a:solidFill>
                            <a:srgbClr val="697177"/>
                          </a:solidFill>
                          <a:latin typeface="Arial"/>
                        </a:rPr>
                        <a:t>TICKER</a:t>
                      </a:r>
                    </a:p>
                  </a:txBody>
                  <a:tcPr marL="101600" marR="101600" anchor="ctr">
                    <a:lnL w="9525">
                      <a:noFill/>
                    </a:lnL>
                    <a:lnR w="9525">
                      <a:noFill/>
                    </a:lnR>
                    <a:lnT w="9525">
                      <a:noFill/>
                    </a:lnT>
                    <a:lnB w="12700">
                      <a:solidFill>
                        <a:srgbClr val="11181C"/>
                      </a:solidFill>
                    </a:lnB>
                    <a:noFill/>
                  </a:tcPr>
                </a:tc>
                <a:tc>
                  <a:txBody>
                    <a:bodyPr/>
                    <a:lstStyle/>
                    <a:p>
                      <a:pPr algn="l"/>
                      <a:r>
                        <a:rPr sz="750" b="1" spc="60">
                          <a:solidFill>
                            <a:srgbClr val="697177"/>
                          </a:solidFill>
                          <a:latin typeface="Arial"/>
                        </a:rPr>
                        <a:t>PRODUCT</a:t>
                      </a:r>
                    </a:p>
                  </a:txBody>
                  <a:tcPr marL="101600" marR="101600" anchor="ctr">
                    <a:lnL w="9525">
                      <a:noFill/>
                    </a:lnL>
                    <a:lnR w="9525">
                      <a:noFill/>
                    </a:lnR>
                    <a:lnT w="9525">
                      <a:noFill/>
                    </a:lnT>
                    <a:lnB w="12700">
                      <a:solidFill>
                        <a:srgbClr val="11181C"/>
                      </a:solidFill>
                    </a:lnB>
                    <a:noFill/>
                  </a:tcPr>
                </a:tc>
                <a:tc>
                  <a:txBody>
                    <a:bodyPr/>
                    <a:lstStyle/>
                    <a:p>
                      <a:pPr algn="l"/>
                      <a:r>
                        <a:rPr sz="750" b="1" spc="60">
                          <a:solidFill>
                            <a:srgbClr val="697177"/>
                          </a:solidFill>
                          <a:latin typeface="Arial"/>
                        </a:rPr>
                        <a:t>CLASS</a:t>
                      </a:r>
                    </a:p>
                  </a:txBody>
                  <a:tcPr marL="101600" marR="101600" anchor="ctr">
                    <a:lnL w="9525">
                      <a:noFill/>
                    </a:lnL>
                    <a:lnR w="9525">
                      <a:noFill/>
                    </a:lnR>
                    <a:lnT w="9525">
                      <a:noFill/>
                    </a:lnT>
                    <a:lnB w="12700">
                      <a:solidFill>
                        <a:srgbClr val="11181C"/>
                      </a:solidFill>
                    </a:lnB>
                    <a:noFill/>
                  </a:tcPr>
                </a:tc>
                <a:tc>
                  <a:txBody>
                    <a:bodyPr/>
                    <a:lstStyle/>
                    <a:p>
                      <a:pPr algn="r"/>
                      <a:r>
                        <a:rPr sz="750" b="1" spc="60">
                          <a:solidFill>
                            <a:srgbClr val="697177"/>
                          </a:solidFill>
                          <a:latin typeface="Arial"/>
                        </a:rPr>
                        <a:t>UNITS</a:t>
                      </a:r>
                    </a:p>
                  </a:txBody>
                  <a:tcPr marL="101600" marR="101600" anchor="ctr">
                    <a:lnL w="9525">
                      <a:noFill/>
                    </a:lnL>
                    <a:lnR w="9525">
                      <a:noFill/>
                    </a:lnR>
                    <a:lnT w="9525">
                      <a:noFill/>
                    </a:lnT>
                    <a:lnB w="12700">
                      <a:solidFill>
                        <a:srgbClr val="11181C"/>
                      </a:solidFill>
                    </a:lnB>
                    <a:noFill/>
                  </a:tcPr>
                </a:tc>
                <a:tc>
                  <a:txBody>
                    <a:bodyPr/>
                    <a:lstStyle/>
                    <a:p>
                      <a:pPr algn="r"/>
                      <a:r>
                        <a:rPr sz="750" b="1" spc="60">
                          <a:solidFill>
                            <a:srgbClr val="697177"/>
                          </a:solidFill>
                          <a:latin typeface="Arial"/>
                        </a:rPr>
                        <a:t>PRICE</a:t>
                      </a:r>
                    </a:p>
                  </a:txBody>
                  <a:tcPr marL="101600" marR="101600" anchor="ctr">
                    <a:lnL w="9525">
                      <a:noFill/>
                    </a:lnL>
                    <a:lnR w="9525">
                      <a:noFill/>
                    </a:lnR>
                    <a:lnT w="9525">
                      <a:noFill/>
                    </a:lnT>
                    <a:lnB w="12700">
                      <a:solidFill>
                        <a:srgbClr val="11181C"/>
                      </a:solidFill>
                    </a:lnB>
                    <a:noFill/>
                  </a:tcPr>
                </a:tc>
                <a:tc>
                  <a:txBody>
                    <a:bodyPr/>
                    <a:lstStyle/>
                    <a:p>
                      <a:pPr algn="r"/>
                      <a:r>
                        <a:rPr sz="750" b="1" spc="60">
                          <a:solidFill>
                            <a:srgbClr val="697177"/>
                          </a:solidFill>
                          <a:latin typeface="Arial"/>
                        </a:rPr>
                        <a:t>VS COMPETITOR</a:t>
                      </a:r>
                    </a:p>
                  </a:txBody>
                  <a:tcPr marL="101600" marR="101600" anchor="ctr">
                    <a:lnL w="9525">
                      <a:noFill/>
                    </a:lnL>
                    <a:lnR w="9525">
                      <a:noFill/>
                    </a:lnR>
                    <a:lnT w="9525">
                      <a:noFill/>
                    </a:lnT>
                    <a:lnB w="12700">
                      <a:solidFill>
                        <a:srgbClr val="11181C"/>
                      </a:solidFill>
                    </a:lnB>
                    <a:noFill/>
                  </a:tcPr>
                </a:tc>
              </a:tr>
              <a:tr h="330200">
                <a:tc>
                  <a:txBody>
                    <a:bodyPr/>
                    <a:lstStyle/>
                    <a:p>
                      <a:pPr algn="l"/>
                      <a:r>
                        <a:rPr sz="950" b="1">
                          <a:solidFill>
                            <a:srgbClr val="11181C"/>
                          </a:solidFill>
                          <a:latin typeface="Arial"/>
                        </a:rPr>
                        <a:t>268 A4</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F.lli Ferrari knuckle boom</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25–30 tm</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31</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Rp 500 jt</a:t>
                      </a:r>
                    </a:p>
                  </a:txBody>
                  <a:tcPr marL="101600" marR="101600" anchor="ctr">
                    <a:lnL w="9525">
                      <a:noFill/>
                    </a:lnL>
                    <a:lnR w="9525">
                      <a:noFill/>
                    </a:lnR>
                    <a:lnT w="9525">
                      <a:noFill/>
                    </a:lnT>
                    <a:lnB w="9525">
                      <a:solidFill>
                        <a:srgbClr val="E6E8EB"/>
                      </a:solidFill>
                    </a:lnB>
                    <a:noFill/>
                  </a:tcPr>
                </a:tc>
                <a:tc>
                  <a:txBody>
                    <a:bodyPr/>
                    <a:lstStyle/>
                    <a:p>
                      <a:pPr algn="r"/>
                      <a:r>
                        <a:rPr sz="950" b="1">
                          <a:solidFill>
                            <a:srgbClr val="076932"/>
                          </a:solidFill>
                          <a:latin typeface="Arial"/>
                        </a:rPr>
                        <a:t>−23%</a:t>
                      </a:r>
                    </a:p>
                  </a:txBody>
                  <a:tcPr marL="101600" marR="101600" anchor="ctr">
                    <a:lnL w="9525">
                      <a:noFill/>
                    </a:lnL>
                    <a:lnR w="9525">
                      <a:noFill/>
                    </a:lnR>
                    <a:lnT w="9525">
                      <a:noFill/>
                    </a:lnT>
                    <a:lnB w="9525">
                      <a:solidFill>
                        <a:srgbClr val="E6E8EB"/>
                      </a:solidFill>
                    </a:lnB>
                    <a:noFill/>
                  </a:tcPr>
                </a:tc>
              </a:tr>
              <a:tr h="330200">
                <a:tc>
                  <a:txBody>
                    <a:bodyPr/>
                    <a:lstStyle/>
                    <a:p>
                      <a:pPr algn="l"/>
                      <a:r>
                        <a:rPr sz="950" b="1">
                          <a:solidFill>
                            <a:srgbClr val="11181C"/>
                          </a:solidFill>
                          <a:latin typeface="Arial"/>
                        </a:rPr>
                        <a:t>7441C</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F.lli Ferrari knuckle boom</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35–40 tm</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21</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Rp 1.240 jt</a:t>
                      </a:r>
                    </a:p>
                  </a:txBody>
                  <a:tcPr marL="101600" marR="101600" anchor="ctr">
                    <a:lnL w="9525">
                      <a:noFill/>
                    </a:lnL>
                    <a:lnR w="9525">
                      <a:noFill/>
                    </a:lnR>
                    <a:lnT w="9525">
                      <a:noFill/>
                    </a:lnT>
                    <a:lnB w="9525">
                      <a:solidFill>
                        <a:srgbClr val="E6E8EB"/>
                      </a:solidFill>
                    </a:lnB>
                    <a:noFill/>
                  </a:tcPr>
                </a:tc>
                <a:tc>
                  <a:txBody>
                    <a:bodyPr/>
                    <a:lstStyle/>
                    <a:p>
                      <a:pPr algn="r"/>
                      <a:r>
                        <a:rPr sz="950" b="1">
                          <a:solidFill>
                            <a:srgbClr val="076932"/>
                          </a:solidFill>
                          <a:latin typeface="Arial"/>
                        </a:rPr>
                        <a:t>−14%</a:t>
                      </a:r>
                    </a:p>
                  </a:txBody>
                  <a:tcPr marL="101600" marR="101600" anchor="ctr">
                    <a:lnL w="9525">
                      <a:noFill/>
                    </a:lnL>
                    <a:lnR w="9525">
                      <a:noFill/>
                    </a:lnR>
                    <a:lnT w="9525">
                      <a:noFill/>
                    </a:lnT>
                    <a:lnB w="9525">
                      <a:solidFill>
                        <a:srgbClr val="E6E8EB"/>
                      </a:solidFill>
                    </a:lnB>
                    <a:noFill/>
                  </a:tcPr>
                </a:tc>
              </a:tr>
              <a:tr h="330200">
                <a:tc>
                  <a:txBody>
                    <a:bodyPr/>
                    <a:lstStyle/>
                    <a:p>
                      <a:pPr algn="l"/>
                      <a:r>
                        <a:rPr sz="950" b="1">
                          <a:solidFill>
                            <a:srgbClr val="11181C"/>
                          </a:solidFill>
                          <a:latin typeface="Arial"/>
                        </a:rPr>
                        <a:t>FBR450R A4</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F.lli Ferrari knuckle boom</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45–50 tm</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13</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Rp 1.350 jt</a:t>
                      </a:r>
                    </a:p>
                  </a:txBody>
                  <a:tcPr marL="101600" marR="101600" anchor="ctr">
                    <a:lnL w="9525">
                      <a:noFill/>
                    </a:lnL>
                    <a:lnR w="9525">
                      <a:noFill/>
                    </a:lnR>
                    <a:lnT w="9525">
                      <a:noFill/>
                    </a:lnT>
                    <a:lnB w="9525">
                      <a:solidFill>
                        <a:srgbClr val="E6E8EB"/>
                      </a:solidFill>
                    </a:lnB>
                    <a:noFill/>
                  </a:tcPr>
                </a:tc>
                <a:tc>
                  <a:txBody>
                    <a:bodyPr/>
                    <a:lstStyle/>
                    <a:p>
                      <a:pPr algn="r"/>
                      <a:r>
                        <a:rPr sz="950" b="1">
                          <a:solidFill>
                            <a:srgbClr val="076932"/>
                          </a:solidFill>
                          <a:latin typeface="Arial"/>
                        </a:rPr>
                        <a:t>−32%</a:t>
                      </a:r>
                    </a:p>
                  </a:txBody>
                  <a:tcPr marL="101600" marR="101600" anchor="ctr">
                    <a:lnL w="9525">
                      <a:noFill/>
                    </a:lnL>
                    <a:lnR w="9525">
                      <a:noFill/>
                    </a:lnR>
                    <a:lnT w="9525">
                      <a:noFill/>
                    </a:lnT>
                    <a:lnB w="9525">
                      <a:solidFill>
                        <a:srgbClr val="E6E8EB"/>
                      </a:solidFill>
                    </a:lnB>
                    <a:noFill/>
                  </a:tcPr>
                </a:tc>
              </a:tr>
              <a:tr h="330200">
                <a:tc>
                  <a:txBody>
                    <a:bodyPr/>
                    <a:lstStyle/>
                    <a:p>
                      <a:pPr algn="l"/>
                      <a:r>
                        <a:rPr sz="950" b="1">
                          <a:solidFill>
                            <a:srgbClr val="11181C"/>
                          </a:solidFill>
                          <a:latin typeface="Arial"/>
                        </a:rPr>
                        <a:t>FBR350R A4</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F.lli Ferrari knuckle boom</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30–35 tm</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10</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Rp 1.090 jt</a:t>
                      </a:r>
                    </a:p>
                  </a:txBody>
                  <a:tcPr marL="101600" marR="101600" anchor="ctr">
                    <a:lnL w="9525">
                      <a:noFill/>
                    </a:lnL>
                    <a:lnR w="9525">
                      <a:noFill/>
                    </a:lnR>
                    <a:lnT w="9525">
                      <a:noFill/>
                    </a:lnT>
                    <a:lnB w="9525">
                      <a:solidFill>
                        <a:srgbClr val="E6E8EB"/>
                      </a:solidFill>
                    </a:lnB>
                    <a:noFill/>
                  </a:tcPr>
                </a:tc>
                <a:tc>
                  <a:txBody>
                    <a:bodyPr/>
                    <a:lstStyle/>
                    <a:p>
                      <a:pPr algn="r"/>
                      <a:r>
                        <a:rPr sz="950" b="1">
                          <a:solidFill>
                            <a:srgbClr val="076932"/>
                          </a:solidFill>
                          <a:latin typeface="Arial"/>
                        </a:rPr>
                        <a:t>−25%</a:t>
                      </a:r>
                    </a:p>
                  </a:txBody>
                  <a:tcPr marL="101600" marR="101600" anchor="ctr">
                    <a:lnL w="9525">
                      <a:noFill/>
                    </a:lnL>
                    <a:lnR w="9525">
                      <a:noFill/>
                    </a:lnR>
                    <a:lnT w="9525">
                      <a:noFill/>
                    </a:lnT>
                    <a:lnB w="9525">
                      <a:solidFill>
                        <a:srgbClr val="E6E8EB"/>
                      </a:solidFill>
                    </a:lnB>
                    <a:noFill/>
                  </a:tcPr>
                </a:tc>
              </a:tr>
              <a:tr h="330200">
                <a:tc>
                  <a:txBody>
                    <a:bodyPr/>
                    <a:lstStyle/>
                    <a:p>
                      <a:pPr algn="l"/>
                      <a:r>
                        <a:rPr sz="950" b="1">
                          <a:solidFill>
                            <a:srgbClr val="11181C"/>
                          </a:solidFill>
                          <a:latin typeface="Arial"/>
                        </a:rPr>
                        <a:t>9601CR A8</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F.lli Ferrari knuckle boom</a:t>
                      </a:r>
                    </a:p>
                  </a:txBody>
                  <a:tcPr marL="101600" marR="101600" anchor="ctr">
                    <a:lnL w="9525">
                      <a:noFill/>
                    </a:lnL>
                    <a:lnR w="9525">
                      <a:noFill/>
                    </a:lnR>
                    <a:lnT w="9525">
                      <a:noFill/>
                    </a:lnT>
                    <a:lnB w="9525">
                      <a:solidFill>
                        <a:srgbClr val="E6E8EB"/>
                      </a:solidFill>
                    </a:lnB>
                    <a:noFill/>
                  </a:tcPr>
                </a:tc>
                <a:tc>
                  <a:txBody>
                    <a:bodyPr/>
                    <a:lstStyle/>
                    <a:p>
                      <a:pPr algn="l"/>
                      <a:r>
                        <a:rPr sz="950" b="0">
                          <a:solidFill>
                            <a:srgbClr val="4D555C"/>
                          </a:solidFill>
                          <a:latin typeface="Arial"/>
                        </a:rPr>
                        <a:t>50–55 tm</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1</a:t>
                      </a:r>
                    </a:p>
                  </a:txBody>
                  <a:tcPr marL="101600" marR="101600" anchor="ctr">
                    <a:lnL w="9525">
                      <a:noFill/>
                    </a:lnL>
                    <a:lnR w="9525">
                      <a:noFill/>
                    </a:lnR>
                    <a:lnT w="9525">
                      <a:noFill/>
                    </a:lnT>
                    <a:lnB w="9525">
                      <a:solidFill>
                        <a:srgbClr val="E6E8EB"/>
                      </a:solidFill>
                    </a:lnB>
                    <a:noFill/>
                  </a:tcPr>
                </a:tc>
                <a:tc>
                  <a:txBody>
                    <a:bodyPr/>
                    <a:lstStyle/>
                    <a:p>
                      <a:pPr algn="r"/>
                      <a:r>
                        <a:rPr sz="950" b="0">
                          <a:solidFill>
                            <a:srgbClr val="4D555C"/>
                          </a:solidFill>
                          <a:latin typeface="Arial"/>
                        </a:rPr>
                        <a:t>Rp 3.260 jt</a:t>
                      </a:r>
                    </a:p>
                  </a:txBody>
                  <a:tcPr marL="101600" marR="101600" anchor="ctr">
                    <a:lnL w="9525">
                      <a:noFill/>
                    </a:lnL>
                    <a:lnR w="9525">
                      <a:noFill/>
                    </a:lnR>
                    <a:lnT w="9525">
                      <a:noFill/>
                    </a:lnT>
                    <a:lnB w="9525">
                      <a:solidFill>
                        <a:srgbClr val="E6E8EB"/>
                      </a:solidFill>
                    </a:lnB>
                    <a:noFill/>
                  </a:tcPr>
                </a:tc>
                <a:tc>
                  <a:txBody>
                    <a:bodyPr/>
                    <a:lstStyle/>
                    <a:p>
                      <a:pPr algn="r"/>
                      <a:r>
                        <a:rPr sz="950" b="1">
                          <a:solidFill>
                            <a:srgbClr val="076932"/>
                          </a:solidFill>
                          <a:latin typeface="Arial"/>
                        </a:rPr>
                        <a:t>−3%</a:t>
                      </a:r>
                    </a:p>
                  </a:txBody>
                  <a:tcPr marL="101600" marR="101600" anchor="ctr">
                    <a:lnL w="9525">
                      <a:noFill/>
                    </a:lnL>
                    <a:lnR w="9525">
                      <a:noFill/>
                    </a:lnR>
                    <a:lnT w="9525">
                      <a:noFill/>
                    </a:lnT>
                    <a:lnB w="9525">
                      <a:solidFill>
                        <a:srgbClr val="E6E8EB"/>
                      </a:solidFill>
                    </a:lnB>
                    <a:noFill/>
                  </a:tcPr>
                </a:tc>
              </a:tr>
            </a:tbl>
          </a:graphicData>
        </a:graphic>
      </p:graphicFrame>
      <p:sp>
        <p:nvSpPr>
          <p:cNvPr id="12" name="TextBox 11"/>
          <p:cNvSpPr txBox="1"/>
          <p:nvPr/>
        </p:nvSpPr>
        <p:spPr>
          <a:xfrm>
            <a:off x="609600" y="4064000"/>
            <a:ext cx="10972800" cy="152400"/>
          </a:xfrm>
          <a:prstGeom prst="rect">
            <a:avLst/>
          </a:prstGeom>
          <a:noFill/>
        </p:spPr>
        <p:txBody>
          <a:bodyPr wrap="square" lIns="0" rIns="0" tIns="0" bIns="0" anchor="t">
            <a:spAutoFit/>
          </a:bodyPr>
          <a:lstStyle/>
          <a:p>
            <a:pPr algn="l"/>
            <a:r>
              <a:rPr sz="800" b="0" i="0">
                <a:solidFill>
                  <a:srgbClr val="697177"/>
                </a:solidFill>
                <a:latin typeface="Arial"/>
              </a:rPr>
              <a:t>Example rows from the F.lli Ferrari price comparison. Source: TSP price list, import records.</a:t>
            </a:r>
          </a:p>
        </p:txBody>
      </p:sp>
      <p:sp>
        <p:nvSpPr>
          <p:cNvPr id="13" name="Rounded Rectangle 12"/>
          <p:cNvSpPr/>
          <p:nvPr/>
        </p:nvSpPr>
        <p:spPr>
          <a:xfrm>
            <a:off x="609600" y="4445000"/>
            <a:ext cx="2590800" cy="1778000"/>
          </a:xfrm>
          <a:prstGeom prst="roundRect">
            <a:avLst>
              <a:gd name="adj" fmla="val 7142"/>
            </a:avLst>
          </a:prstGeom>
          <a:solidFill>
            <a:srgbClr val="F9FAFB"/>
          </a:solidFill>
          <a:ln>
            <a:noFill/>
          </a:ln>
          <a:effectLst/>
        </p:spPr>
        <p:txBody>
          <a:bodyPr rtlCol="0" anchor="ctr"/>
          <a:lstStyle/>
          <a:p>
            <a:pPr algn="ctr"/>
          </a:p>
        </p:txBody>
      </p:sp>
      <p:sp>
        <p:nvSpPr>
          <p:cNvPr id="14" name="TextBox 13"/>
          <p:cNvSpPr txBox="1"/>
          <p:nvPr/>
        </p:nvSpPr>
        <p:spPr>
          <a:xfrm>
            <a:off x="812800" y="4648200"/>
            <a:ext cx="2286000" cy="203200"/>
          </a:xfrm>
          <a:prstGeom prst="rect">
            <a:avLst/>
          </a:prstGeom>
          <a:noFill/>
        </p:spPr>
        <p:txBody>
          <a:bodyPr wrap="square" lIns="0" rIns="0" tIns="0" bIns="0" anchor="t">
            <a:spAutoFit/>
          </a:bodyPr>
          <a:lstStyle/>
          <a:p>
            <a:pPr algn="l"/>
            <a:r>
              <a:rPr sz="1300" b="0" i="0">
                <a:solidFill>
                  <a:srgbClr val="11181C"/>
                </a:solidFill>
                <a:latin typeface="Georgia"/>
              </a:rPr>
              <a:t>Header</a:t>
            </a:r>
          </a:p>
        </p:txBody>
      </p:sp>
      <p:sp>
        <p:nvSpPr>
          <p:cNvPr id="15" name="TextBox 14"/>
          <p:cNvSpPr txBox="1"/>
          <p:nvPr/>
        </p:nvSpPr>
        <p:spPr>
          <a:xfrm>
            <a:off x="812800" y="4953000"/>
            <a:ext cx="2235200" cy="1143000"/>
          </a:xfrm>
          <a:prstGeom prst="rect">
            <a:avLst/>
          </a:prstGeom>
          <a:noFill/>
        </p:spPr>
        <p:txBody>
          <a:bodyPr wrap="square" lIns="0" rIns="0" tIns="0" bIns="0" anchor="t">
            <a:spAutoFit/>
          </a:bodyPr>
          <a:lstStyle/>
          <a:p>
            <a:pPr algn="l">
              <a:lnSpc>
                <a:spcPct val="140000"/>
              </a:lnSpc>
            </a:pPr>
            <a:r>
              <a:rPr sz="900" b="0" i="0">
                <a:solidFill>
                  <a:srgbClr val="4D555C"/>
                </a:solidFill>
                <a:latin typeface="Arial"/>
              </a:rPr>
              <a:t>7.5 pt bold caps, Slate 11, tracking +0.6, 1 pt Slate 15 rule under it.</a:t>
            </a:r>
          </a:p>
        </p:txBody>
      </p:sp>
      <p:sp>
        <p:nvSpPr>
          <p:cNvPr id="16" name="Rounded Rectangle 15"/>
          <p:cNvSpPr/>
          <p:nvPr/>
        </p:nvSpPr>
        <p:spPr>
          <a:xfrm>
            <a:off x="3352800" y="4445000"/>
            <a:ext cx="2590800" cy="1778000"/>
          </a:xfrm>
          <a:prstGeom prst="roundRect">
            <a:avLst>
              <a:gd name="adj" fmla="val 7142"/>
            </a:avLst>
          </a:prstGeom>
          <a:solidFill>
            <a:srgbClr val="F9FAFB"/>
          </a:solidFill>
          <a:ln>
            <a:noFill/>
          </a:ln>
          <a:effectLst/>
        </p:spPr>
        <p:txBody>
          <a:bodyPr rtlCol="0" anchor="ctr"/>
          <a:lstStyle/>
          <a:p>
            <a:pPr algn="ctr"/>
          </a:p>
        </p:txBody>
      </p:sp>
      <p:sp>
        <p:nvSpPr>
          <p:cNvPr id="17" name="TextBox 16"/>
          <p:cNvSpPr txBox="1"/>
          <p:nvPr/>
        </p:nvSpPr>
        <p:spPr>
          <a:xfrm>
            <a:off x="3556000" y="4648200"/>
            <a:ext cx="2286000" cy="203200"/>
          </a:xfrm>
          <a:prstGeom prst="rect">
            <a:avLst/>
          </a:prstGeom>
          <a:noFill/>
        </p:spPr>
        <p:txBody>
          <a:bodyPr wrap="square" lIns="0" rIns="0" tIns="0" bIns="0" anchor="t">
            <a:spAutoFit/>
          </a:bodyPr>
          <a:lstStyle/>
          <a:p>
            <a:pPr algn="l"/>
            <a:r>
              <a:rPr sz="1300" b="0" i="0">
                <a:solidFill>
                  <a:srgbClr val="11181C"/>
                </a:solidFill>
                <a:latin typeface="Georgia"/>
              </a:rPr>
              <a:t>Rows</a:t>
            </a:r>
          </a:p>
        </p:txBody>
      </p:sp>
      <p:sp>
        <p:nvSpPr>
          <p:cNvPr id="18" name="TextBox 17"/>
          <p:cNvSpPr txBox="1"/>
          <p:nvPr/>
        </p:nvSpPr>
        <p:spPr>
          <a:xfrm>
            <a:off x="3556000" y="4953000"/>
            <a:ext cx="2235200" cy="1143000"/>
          </a:xfrm>
          <a:prstGeom prst="rect">
            <a:avLst/>
          </a:prstGeom>
          <a:noFill/>
        </p:spPr>
        <p:txBody>
          <a:bodyPr wrap="square" lIns="0" rIns="0" tIns="0" bIns="0" anchor="t">
            <a:spAutoFit/>
          </a:bodyPr>
          <a:lstStyle/>
          <a:p>
            <a:pPr algn="l">
              <a:lnSpc>
                <a:spcPct val="140000"/>
              </a:lnSpc>
            </a:pPr>
            <a:r>
              <a:rPr sz="900" b="0" i="0">
                <a:solidFill>
                  <a:srgbClr val="4D555C"/>
                </a:solidFill>
                <a:latin typeface="Arial"/>
              </a:rPr>
              <a:t>Hairline Slate 5, no fills, no vertical lines. 26 pt row height.</a:t>
            </a:r>
          </a:p>
        </p:txBody>
      </p:sp>
      <p:sp>
        <p:nvSpPr>
          <p:cNvPr id="19" name="Rounded Rectangle 18"/>
          <p:cNvSpPr/>
          <p:nvPr/>
        </p:nvSpPr>
        <p:spPr>
          <a:xfrm>
            <a:off x="6096000" y="4445000"/>
            <a:ext cx="2590800" cy="1778000"/>
          </a:xfrm>
          <a:prstGeom prst="roundRect">
            <a:avLst>
              <a:gd name="adj" fmla="val 7142"/>
            </a:avLst>
          </a:prstGeom>
          <a:solidFill>
            <a:srgbClr val="F9FAFB"/>
          </a:solidFill>
          <a:ln>
            <a:noFill/>
          </a:ln>
          <a:effectLst/>
        </p:spPr>
        <p:txBody>
          <a:bodyPr rtlCol="0" anchor="ctr"/>
          <a:lstStyle/>
          <a:p>
            <a:pPr algn="ctr"/>
          </a:p>
        </p:txBody>
      </p:sp>
      <p:sp>
        <p:nvSpPr>
          <p:cNvPr id="20" name="TextBox 19"/>
          <p:cNvSpPr txBox="1"/>
          <p:nvPr/>
        </p:nvSpPr>
        <p:spPr>
          <a:xfrm>
            <a:off x="6299200" y="4648200"/>
            <a:ext cx="2286000" cy="203200"/>
          </a:xfrm>
          <a:prstGeom prst="rect">
            <a:avLst/>
          </a:prstGeom>
          <a:noFill/>
        </p:spPr>
        <p:txBody>
          <a:bodyPr wrap="square" lIns="0" rIns="0" tIns="0" bIns="0" anchor="t">
            <a:spAutoFit/>
          </a:bodyPr>
          <a:lstStyle/>
          <a:p>
            <a:pPr algn="l"/>
            <a:r>
              <a:rPr sz="1300" b="0" i="0">
                <a:solidFill>
                  <a:srgbClr val="11181C"/>
                </a:solidFill>
                <a:latin typeface="Georgia"/>
              </a:rPr>
              <a:t>Alignment</a:t>
            </a:r>
          </a:p>
        </p:txBody>
      </p:sp>
      <p:sp>
        <p:nvSpPr>
          <p:cNvPr id="21" name="TextBox 20"/>
          <p:cNvSpPr txBox="1"/>
          <p:nvPr/>
        </p:nvSpPr>
        <p:spPr>
          <a:xfrm>
            <a:off x="6299200" y="4953000"/>
            <a:ext cx="2235200" cy="1143000"/>
          </a:xfrm>
          <a:prstGeom prst="rect">
            <a:avLst/>
          </a:prstGeom>
          <a:noFill/>
        </p:spPr>
        <p:txBody>
          <a:bodyPr wrap="square" lIns="0" rIns="0" tIns="0" bIns="0" anchor="t">
            <a:spAutoFit/>
          </a:bodyPr>
          <a:lstStyle/>
          <a:p>
            <a:pPr algn="l">
              <a:lnSpc>
                <a:spcPct val="140000"/>
              </a:lnSpc>
            </a:pPr>
            <a:r>
              <a:rPr sz="900" b="0" i="0">
                <a:solidFill>
                  <a:srgbClr val="4D555C"/>
                </a:solidFill>
                <a:latin typeface="Arial"/>
              </a:rPr>
              <a:t>Text left, numbers right. First column bold ink as the 'ticker'.</a:t>
            </a:r>
          </a:p>
        </p:txBody>
      </p:sp>
      <p:sp>
        <p:nvSpPr>
          <p:cNvPr id="22" name="Rounded Rectangle 21"/>
          <p:cNvSpPr/>
          <p:nvPr/>
        </p:nvSpPr>
        <p:spPr>
          <a:xfrm>
            <a:off x="8839200" y="4445000"/>
            <a:ext cx="2590800" cy="1778000"/>
          </a:xfrm>
          <a:prstGeom prst="roundRect">
            <a:avLst>
              <a:gd name="adj" fmla="val 7142"/>
            </a:avLst>
          </a:prstGeom>
          <a:solidFill>
            <a:srgbClr val="F9FAFB"/>
          </a:solidFill>
          <a:ln>
            <a:noFill/>
          </a:ln>
          <a:effectLst/>
        </p:spPr>
        <p:txBody>
          <a:bodyPr rtlCol="0" anchor="ctr"/>
          <a:lstStyle/>
          <a:p>
            <a:pPr algn="ctr"/>
          </a:p>
        </p:txBody>
      </p:sp>
      <p:sp>
        <p:nvSpPr>
          <p:cNvPr id="23" name="TextBox 22"/>
          <p:cNvSpPr txBox="1"/>
          <p:nvPr/>
        </p:nvSpPr>
        <p:spPr>
          <a:xfrm>
            <a:off x="9042400" y="4648200"/>
            <a:ext cx="2286000" cy="203200"/>
          </a:xfrm>
          <a:prstGeom prst="rect">
            <a:avLst/>
          </a:prstGeom>
          <a:noFill/>
        </p:spPr>
        <p:txBody>
          <a:bodyPr wrap="square" lIns="0" rIns="0" tIns="0" bIns="0" anchor="t">
            <a:spAutoFit/>
          </a:bodyPr>
          <a:lstStyle/>
          <a:p>
            <a:pPr algn="l"/>
            <a:r>
              <a:rPr sz="1300" b="0" i="0">
                <a:solidFill>
                  <a:srgbClr val="11181C"/>
                </a:solidFill>
                <a:latin typeface="Georgia"/>
              </a:rPr>
              <a:t>Highlight</a:t>
            </a:r>
          </a:p>
        </p:txBody>
      </p:sp>
      <p:sp>
        <p:nvSpPr>
          <p:cNvPr id="24" name="TextBox 23"/>
          <p:cNvSpPr txBox="1"/>
          <p:nvPr/>
        </p:nvSpPr>
        <p:spPr>
          <a:xfrm>
            <a:off x="9042400" y="4953000"/>
            <a:ext cx="2235200" cy="1143000"/>
          </a:xfrm>
          <a:prstGeom prst="rect">
            <a:avLst/>
          </a:prstGeom>
          <a:noFill/>
        </p:spPr>
        <p:txBody>
          <a:bodyPr wrap="square" lIns="0" rIns="0" tIns="0" bIns="0" anchor="t">
            <a:spAutoFit/>
          </a:bodyPr>
          <a:lstStyle/>
          <a:p>
            <a:pPr algn="l">
              <a:lnSpc>
                <a:spcPct val="140000"/>
              </a:lnSpc>
            </a:pPr>
            <a:r>
              <a:rPr sz="900" b="0" i="0">
                <a:solidFill>
                  <a:srgbClr val="4D555C"/>
                </a:solidFill>
                <a:latin typeface="Arial"/>
              </a:rPr>
              <a:t>Only the decision column in Green 800; risks in Red 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COMPONENTS · IMAGERY</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Photos with </a:t>
            </a:r>
            <a:r>
              <a:rPr sz="2400" b="0" i="1">
                <a:solidFill>
                  <a:srgbClr val="11181C"/>
                </a:solidFill>
                <a:latin typeface="Georgia"/>
              </a:rPr>
              <a:t>purpose</a:t>
            </a:r>
            <a:r>
              <a:rPr sz="2400" b="0" i="0">
                <a:solidFill>
                  <a:srgbClr val="11181C"/>
                </a:solidFill>
                <a:latin typeface="Georgia"/>
              </a:rPr>
              <a:t>, treated the same way.</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18</a:t>
            </a:r>
          </a:p>
        </p:txBody>
      </p:sp>
      <p:pic>
        <p:nvPicPr>
          <p:cNvPr id="11" name="Picture 10" descr="image.jpg"/>
          <p:cNvPicPr>
            <a:picLocks noChangeAspect="1"/>
          </p:cNvPicPr>
          <p:nvPr/>
        </p:nvPicPr>
        <p:blipFill>
          <a:blip r:embed="rId3"/>
          <a:srcRect t="21085" b="21085"/>
          <a:stretch>
            <a:fillRect/>
          </a:stretch>
        </p:blipFill>
        <p:spPr>
          <a:xfrm>
            <a:off x="609600" y="1905000"/>
            <a:ext cx="5334000" cy="2997200"/>
          </a:xfrm>
          <a:prstGeom prst="roundRect">
            <a:avLst>
              <a:gd name="adj" fmla="val 4237"/>
            </a:avLst>
          </a:prstGeom>
        </p:spPr>
      </p:pic>
      <p:sp>
        <p:nvSpPr>
          <p:cNvPr id="12" name="Rounded Rectangle 11"/>
          <p:cNvSpPr/>
          <p:nvPr/>
        </p:nvSpPr>
        <p:spPr>
          <a:xfrm>
            <a:off x="609600" y="1905000"/>
            <a:ext cx="5334000" cy="2997200"/>
          </a:xfrm>
          <a:prstGeom prst="roundRect">
            <a:avLst>
              <a:gd name="adj" fmla="val 4237"/>
            </a:avLst>
          </a:prstGeom>
          <a:gradFill rotWithShape="1">
            <a:gsLst>
              <a:gs pos="0">
                <a:srgbClr val="11181C">
                  <a:alpha val="85000"/>
                </a:srgbClr>
              </a:gs>
              <a:gs pos="100000">
                <a:srgbClr val="11181C">
                  <a:alpha val="0"/>
                </a:srgbClr>
              </a:gs>
            </a:gsLst>
            <a:lin scaled="0" ang="0"/>
          </a:gradFill>
          <a:ln>
            <a:noFill/>
          </a:ln>
          <a:effectLst/>
        </p:spPr>
        <p:txBody>
          <a:bodyPr rtlCol="0" anchor="ctr"/>
          <a:lstStyle/>
          <a:p>
            <a:pPr algn="ctr"/>
          </a:p>
        </p:txBody>
      </p:sp>
      <p:sp>
        <p:nvSpPr>
          <p:cNvPr id="13" name="TextBox 12"/>
          <p:cNvSpPr txBox="1"/>
          <p:nvPr/>
        </p:nvSpPr>
        <p:spPr>
          <a:xfrm>
            <a:off x="863600" y="3810000"/>
            <a:ext cx="3810000" cy="152400"/>
          </a:xfrm>
          <a:prstGeom prst="rect">
            <a:avLst/>
          </a:prstGeom>
          <a:noFill/>
        </p:spPr>
        <p:txBody>
          <a:bodyPr wrap="square" lIns="0" rIns="0" tIns="0" bIns="0" anchor="t">
            <a:spAutoFit/>
          </a:bodyPr>
          <a:lstStyle/>
          <a:p>
            <a:pPr algn="l"/>
            <a:r>
              <a:rPr sz="850" b="1" i="0" spc="150">
                <a:solidFill>
                  <a:srgbClr val="C1C8CD"/>
                </a:solidFill>
                <a:latin typeface="Arial"/>
              </a:rPr>
              <a:t>HERO PHOTO</a:t>
            </a:r>
          </a:p>
        </p:txBody>
      </p:sp>
      <p:sp>
        <p:nvSpPr>
          <p:cNvPr id="14" name="TextBox 13"/>
          <p:cNvSpPr txBox="1"/>
          <p:nvPr/>
        </p:nvSpPr>
        <p:spPr>
          <a:xfrm>
            <a:off x="863600" y="4013200"/>
            <a:ext cx="4826000" cy="508000"/>
          </a:xfrm>
          <a:prstGeom prst="rect">
            <a:avLst/>
          </a:prstGeom>
          <a:noFill/>
        </p:spPr>
        <p:txBody>
          <a:bodyPr wrap="square" lIns="0" rIns="0" tIns="0" bIns="0" anchor="t">
            <a:spAutoFit/>
          </a:bodyPr>
          <a:lstStyle/>
          <a:p>
            <a:pPr algn="l">
              <a:lnSpc>
                <a:spcPct val="115000"/>
              </a:lnSpc>
            </a:pPr>
            <a:r>
              <a:rPr sz="1500" b="0" i="0">
                <a:solidFill>
                  <a:srgbClr val="FFFFFF"/>
                </a:solidFill>
                <a:latin typeface="Georgia"/>
              </a:rPr>
              <a:t>Dark gradient keeps the </a:t>
            </a:r>
            <a:r>
              <a:rPr sz="1500" b="0" i="1">
                <a:solidFill>
                  <a:srgbClr val="FFFFFF"/>
                </a:solidFill>
                <a:latin typeface="Georgia"/>
              </a:rPr>
              <a:t>headline</a:t>
            </a:r>
            <a:r>
              <a:rPr sz="1500" b="0" i="0">
                <a:solidFill>
                  <a:srgbClr val="FFFFFF"/>
                </a:solidFill>
                <a:latin typeface="Georgia"/>
              </a:rPr>
              <a:t> readable.</a:t>
            </a:r>
          </a:p>
        </p:txBody>
      </p:sp>
      <p:sp>
        <p:nvSpPr>
          <p:cNvPr id="15" name="Rounded Rectangle 14"/>
          <p:cNvSpPr/>
          <p:nvPr/>
        </p:nvSpPr>
        <p:spPr>
          <a:xfrm>
            <a:off x="3606800" y="4343400"/>
            <a:ext cx="2159000" cy="431800"/>
          </a:xfrm>
          <a:prstGeom prst="roundRect">
            <a:avLst>
              <a:gd name="adj" fmla="val 17647"/>
            </a:avLst>
          </a:prstGeom>
          <a:solidFill>
            <a:srgbClr val="FFFFFF"/>
          </a:solidFill>
          <a:ln>
            <a:noFill/>
          </a:ln>
          <a:effectLst>
            <a:outerShdw blurRad="203200" dist="76200" dir="5400000" algn="t" rotWithShape="0">
              <a:srgbClr val="11181C">
                <a:alpha val="7000"/>
              </a:srgbClr>
            </a:outerShdw>
          </a:effectLst>
        </p:spPr>
        <p:txBody>
          <a:bodyPr rtlCol="0" anchor="ctr"/>
          <a:lstStyle/>
          <a:p>
            <a:pPr algn="ctr"/>
          </a:p>
        </p:txBody>
      </p:sp>
      <p:sp>
        <p:nvSpPr>
          <p:cNvPr id="16" name="TextBox 15"/>
          <p:cNvSpPr txBox="1"/>
          <p:nvPr/>
        </p:nvSpPr>
        <p:spPr>
          <a:xfrm>
            <a:off x="3759200" y="4432300"/>
            <a:ext cx="1905000" cy="254000"/>
          </a:xfrm>
          <a:prstGeom prst="rect">
            <a:avLst/>
          </a:prstGeom>
          <a:noFill/>
        </p:spPr>
        <p:txBody>
          <a:bodyPr wrap="square" lIns="0" rIns="0" tIns="0" bIns="0" anchor="ctr">
            <a:spAutoFit/>
          </a:bodyPr>
          <a:lstStyle/>
          <a:p>
            <a:pPr algn="l"/>
            <a:r>
              <a:rPr sz="850" b="1" i="0">
                <a:solidFill>
                  <a:srgbClr val="11181C"/>
                </a:solidFill>
                <a:latin typeface="Arial"/>
              </a:rPr>
              <a:t>F.lli Ferrari</a:t>
            </a:r>
            <a:r>
              <a:rPr sz="850" b="0" i="0">
                <a:solidFill>
                  <a:srgbClr val="11181C"/>
                </a:solidFill>
                <a:latin typeface="Arial"/>
              </a:rPr>
              <a:t>  7441C  →</a:t>
            </a:r>
          </a:p>
        </p:txBody>
      </p:sp>
      <p:pic>
        <p:nvPicPr>
          <p:cNvPr id="17" name="Picture 16" descr="image.jpg"/>
          <p:cNvPicPr>
            <a:picLocks noChangeAspect="1"/>
          </p:cNvPicPr>
          <p:nvPr/>
        </p:nvPicPr>
        <p:blipFill>
          <a:blip r:embed="rId4"/>
          <a:srcRect t="21591" b="21591"/>
          <a:stretch>
            <a:fillRect/>
          </a:stretch>
        </p:blipFill>
        <p:spPr>
          <a:xfrm>
            <a:off x="6248400" y="1905000"/>
            <a:ext cx="1676400" cy="1270000"/>
          </a:xfrm>
          <a:prstGeom prst="roundRect">
            <a:avLst>
              <a:gd name="adj" fmla="val 8000"/>
            </a:avLst>
          </a:prstGeom>
        </p:spPr>
      </p:pic>
      <p:sp>
        <p:nvSpPr>
          <p:cNvPr id="18" name="TextBox 17"/>
          <p:cNvSpPr txBox="1"/>
          <p:nvPr/>
        </p:nvSpPr>
        <p:spPr>
          <a:xfrm>
            <a:off x="6248400" y="3251200"/>
            <a:ext cx="1676400" cy="152400"/>
          </a:xfrm>
          <a:prstGeom prst="rect">
            <a:avLst/>
          </a:prstGeom>
          <a:noFill/>
        </p:spPr>
        <p:txBody>
          <a:bodyPr wrap="square" lIns="0" rIns="0" tIns="0" bIns="0" anchor="t">
            <a:spAutoFit/>
          </a:bodyPr>
          <a:lstStyle/>
          <a:p>
            <a:pPr algn="l"/>
            <a:r>
              <a:rPr sz="900" b="0" i="0">
                <a:solidFill>
                  <a:srgbClr val="11181C"/>
                </a:solidFill>
                <a:latin typeface="Georgia"/>
              </a:rPr>
              <a:t>Plant visit</a:t>
            </a:r>
          </a:p>
        </p:txBody>
      </p:sp>
      <p:sp>
        <p:nvSpPr>
          <p:cNvPr id="19" name="TextBox 18"/>
          <p:cNvSpPr txBox="1"/>
          <p:nvPr/>
        </p:nvSpPr>
        <p:spPr>
          <a:xfrm>
            <a:off x="6248400" y="3429000"/>
            <a:ext cx="1676400" cy="152400"/>
          </a:xfrm>
          <a:prstGeom prst="rect">
            <a:avLst/>
          </a:prstGeom>
          <a:noFill/>
        </p:spPr>
        <p:txBody>
          <a:bodyPr wrap="square" lIns="0" rIns="0" tIns="0" bIns="0" anchor="t">
            <a:spAutoFit/>
          </a:bodyPr>
          <a:lstStyle/>
          <a:p>
            <a:pPr algn="l"/>
            <a:r>
              <a:rPr sz="800" b="0" i="0">
                <a:solidFill>
                  <a:srgbClr val="697177"/>
                </a:solidFill>
                <a:latin typeface="Arial"/>
              </a:rPr>
              <a:t>Jun 2026 · UTE plant</a:t>
            </a:r>
          </a:p>
        </p:txBody>
      </p:sp>
      <p:pic>
        <p:nvPicPr>
          <p:cNvPr id="20" name="Picture 19" descr="image.jpg"/>
          <p:cNvPicPr>
            <a:picLocks noChangeAspect="1"/>
          </p:cNvPicPr>
          <p:nvPr/>
        </p:nvPicPr>
        <p:blipFill>
          <a:blip r:embed="rId5"/>
          <a:srcRect t="21502" b="21502"/>
          <a:stretch>
            <a:fillRect/>
          </a:stretch>
        </p:blipFill>
        <p:spPr>
          <a:xfrm>
            <a:off x="8051800" y="1905000"/>
            <a:ext cx="1676400" cy="1270000"/>
          </a:xfrm>
          <a:prstGeom prst="roundRect">
            <a:avLst>
              <a:gd name="adj" fmla="val 8000"/>
            </a:avLst>
          </a:prstGeom>
        </p:spPr>
      </p:pic>
      <p:sp>
        <p:nvSpPr>
          <p:cNvPr id="21" name="TextBox 20"/>
          <p:cNvSpPr txBox="1"/>
          <p:nvPr/>
        </p:nvSpPr>
        <p:spPr>
          <a:xfrm>
            <a:off x="8051800" y="3251200"/>
            <a:ext cx="1676400" cy="152400"/>
          </a:xfrm>
          <a:prstGeom prst="rect">
            <a:avLst/>
          </a:prstGeom>
          <a:noFill/>
        </p:spPr>
        <p:txBody>
          <a:bodyPr wrap="square" lIns="0" rIns="0" tIns="0" bIns="0" anchor="t">
            <a:spAutoFit/>
          </a:bodyPr>
          <a:lstStyle/>
          <a:p>
            <a:pPr algn="l"/>
            <a:r>
              <a:rPr sz="900" b="0" i="0">
                <a:solidFill>
                  <a:srgbClr val="11181C"/>
                </a:solidFill>
                <a:latin typeface="Georgia"/>
              </a:rPr>
              <a:t>Painting check</a:t>
            </a:r>
          </a:p>
        </p:txBody>
      </p:sp>
      <p:sp>
        <p:nvSpPr>
          <p:cNvPr id="22" name="TextBox 21"/>
          <p:cNvSpPr txBox="1"/>
          <p:nvPr/>
        </p:nvSpPr>
        <p:spPr>
          <a:xfrm>
            <a:off x="8051800" y="3429000"/>
            <a:ext cx="1676400" cy="152400"/>
          </a:xfrm>
          <a:prstGeom prst="rect">
            <a:avLst/>
          </a:prstGeom>
          <a:noFill/>
        </p:spPr>
        <p:txBody>
          <a:bodyPr wrap="square" lIns="0" rIns="0" tIns="0" bIns="0" anchor="t">
            <a:spAutoFit/>
          </a:bodyPr>
          <a:lstStyle/>
          <a:p>
            <a:pPr algn="l"/>
            <a:r>
              <a:rPr sz="800" b="0" i="0">
                <a:solidFill>
                  <a:srgbClr val="697177"/>
                </a:solidFill>
                <a:latin typeface="Arial"/>
              </a:rPr>
              <a:t>Jun 2026 · UTE plant</a:t>
            </a:r>
          </a:p>
        </p:txBody>
      </p:sp>
      <p:pic>
        <p:nvPicPr>
          <p:cNvPr id="23" name="Picture 22" descr="image.jpg"/>
          <p:cNvPicPr>
            <a:picLocks noChangeAspect="1"/>
          </p:cNvPicPr>
          <p:nvPr/>
        </p:nvPicPr>
        <p:blipFill>
          <a:blip r:embed="rId6"/>
          <a:srcRect t="21502" b="21502"/>
          <a:stretch>
            <a:fillRect/>
          </a:stretch>
        </p:blipFill>
        <p:spPr>
          <a:xfrm>
            <a:off x="9855200" y="1905000"/>
            <a:ext cx="1676400" cy="1270000"/>
          </a:xfrm>
          <a:prstGeom prst="roundRect">
            <a:avLst>
              <a:gd name="adj" fmla="val 8000"/>
            </a:avLst>
          </a:prstGeom>
        </p:spPr>
      </p:pic>
      <p:sp>
        <p:nvSpPr>
          <p:cNvPr id="24" name="TextBox 23"/>
          <p:cNvSpPr txBox="1"/>
          <p:nvPr/>
        </p:nvSpPr>
        <p:spPr>
          <a:xfrm>
            <a:off x="9855200" y="3251200"/>
            <a:ext cx="1676400" cy="152400"/>
          </a:xfrm>
          <a:prstGeom prst="rect">
            <a:avLst/>
          </a:prstGeom>
          <a:noFill/>
        </p:spPr>
        <p:txBody>
          <a:bodyPr wrap="square" lIns="0" rIns="0" tIns="0" bIns="0" anchor="t">
            <a:spAutoFit/>
          </a:bodyPr>
          <a:lstStyle/>
          <a:p>
            <a:pPr algn="l"/>
            <a:r>
              <a:rPr sz="900" b="0" i="0">
                <a:solidFill>
                  <a:srgbClr val="11181C"/>
                </a:solidFill>
                <a:latin typeface="Georgia"/>
              </a:rPr>
              <a:t>Customer FAT</a:t>
            </a:r>
          </a:p>
        </p:txBody>
      </p:sp>
      <p:sp>
        <p:nvSpPr>
          <p:cNvPr id="25" name="TextBox 24"/>
          <p:cNvSpPr txBox="1"/>
          <p:nvPr/>
        </p:nvSpPr>
        <p:spPr>
          <a:xfrm>
            <a:off x="9855200" y="3429000"/>
            <a:ext cx="1676400" cy="152400"/>
          </a:xfrm>
          <a:prstGeom prst="rect">
            <a:avLst/>
          </a:prstGeom>
          <a:noFill/>
        </p:spPr>
        <p:txBody>
          <a:bodyPr wrap="square" lIns="0" rIns="0" tIns="0" bIns="0" anchor="t">
            <a:spAutoFit/>
          </a:bodyPr>
          <a:lstStyle/>
          <a:p>
            <a:pPr algn="l"/>
            <a:r>
              <a:rPr sz="800" b="0" i="0">
                <a:solidFill>
                  <a:srgbClr val="697177"/>
                </a:solidFill>
                <a:latin typeface="Arial"/>
              </a:rPr>
              <a:t>Jun 2026 · UTE plant</a:t>
            </a:r>
          </a:p>
        </p:txBody>
      </p:sp>
      <p:sp>
        <p:nvSpPr>
          <p:cNvPr id="27" name="Rounded Rectangle 26"/>
          <p:cNvSpPr/>
          <p:nvPr/>
        </p:nvSpPr>
        <p:spPr>
          <a:xfrm>
            <a:off x="6248400" y="3708400"/>
            <a:ext cx="5334000" cy="1193800"/>
          </a:xfrm>
          <a:prstGeom prst="roundRect">
            <a:avLst>
              <a:gd name="adj" fmla="val 10638"/>
            </a:avLst>
          </a:prstGeom>
          <a:solidFill>
            <a:srgbClr val="F9FAFB"/>
          </a:solidFill>
          <a:ln>
            <a:noFill/>
          </a:ln>
          <a:effectLst/>
        </p:spPr>
        <p:txBody>
          <a:bodyPr rtlCol="0" anchor="ctr"/>
          <a:lstStyle/>
          <a:p>
            <a:pPr algn="ctr"/>
          </a:p>
        </p:txBody>
      </p:sp>
      <p:pic>
        <p:nvPicPr>
          <p:cNvPr id="26" name="Picture 25" descr="u3.png"/>
          <p:cNvPicPr>
            <a:picLocks noChangeAspect="1"/>
          </p:cNvPicPr>
          <p:nvPr/>
        </p:nvPicPr>
        <p:blipFill>
          <a:blip r:embed="rId7"/>
          <a:stretch>
            <a:fillRect/>
          </a:stretch>
        </p:blipFill>
        <p:spPr>
          <a:xfrm>
            <a:off x="6502400" y="3784600"/>
            <a:ext cx="1009930" cy="889000"/>
          </a:xfrm>
          <a:prstGeom prst="rect">
            <a:avLst/>
          </a:prstGeom>
        </p:spPr>
      </p:pic>
      <p:sp>
        <p:nvSpPr>
          <p:cNvPr id="28" name="TextBox 27"/>
          <p:cNvSpPr txBox="1"/>
          <p:nvPr/>
        </p:nvSpPr>
        <p:spPr>
          <a:xfrm>
            <a:off x="8890000" y="4013200"/>
            <a:ext cx="2540000" cy="635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Product cutouts sit on Slate 2, same baseline and height across a row.</a:t>
            </a:r>
          </a:p>
        </p:txBody>
      </p:sp>
      <p:sp>
        <p:nvSpPr>
          <p:cNvPr id="29" name="TextBox 28"/>
          <p:cNvSpPr txBox="1"/>
          <p:nvPr/>
        </p:nvSpPr>
        <p:spPr>
          <a:xfrm>
            <a:off x="609600" y="5156200"/>
            <a:ext cx="2540000" cy="203200"/>
          </a:xfrm>
          <a:prstGeom prst="rect">
            <a:avLst/>
          </a:prstGeom>
          <a:noFill/>
        </p:spPr>
        <p:txBody>
          <a:bodyPr wrap="square" lIns="0" rIns="0" tIns="0" bIns="0" anchor="t">
            <a:spAutoFit/>
          </a:bodyPr>
          <a:lstStyle/>
          <a:p>
            <a:pPr algn="l"/>
            <a:r>
              <a:rPr sz="1200" b="0" i="0">
                <a:solidFill>
                  <a:srgbClr val="11181C"/>
                </a:solidFill>
                <a:latin typeface="Georgia"/>
              </a:rPr>
              <a:t>Radius</a:t>
            </a:r>
          </a:p>
        </p:txBody>
      </p:sp>
      <p:sp>
        <p:nvSpPr>
          <p:cNvPr id="30" name="TextBox 29"/>
          <p:cNvSpPr txBox="1"/>
          <p:nvPr/>
        </p:nvSpPr>
        <p:spPr>
          <a:xfrm>
            <a:off x="609600" y="5410200"/>
            <a:ext cx="2540000" cy="508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8–10 pt on single photos; 0 inside dense grids.</a:t>
            </a:r>
          </a:p>
        </p:txBody>
      </p:sp>
      <p:cxnSp>
        <p:nvCxnSpPr>
          <p:cNvPr id="31" name="Connector 30"/>
          <p:cNvCxnSpPr/>
          <p:nvPr/>
        </p:nvCxnSpPr>
        <p:spPr>
          <a:xfrm>
            <a:off x="609600" y="5080000"/>
            <a:ext cx="2540000" cy="0"/>
          </a:xfrm>
          <a:prstGeom prst="line">
            <a:avLst/>
          </a:prstGeom>
          <a:ln w="9525">
            <a:solidFill>
              <a:srgbClr val="E6E8EB"/>
            </a:solidFill>
          </a:ln>
        </p:spPr>
      </p:cxnSp>
      <p:sp>
        <p:nvSpPr>
          <p:cNvPr id="32" name="TextBox 31"/>
          <p:cNvSpPr txBox="1"/>
          <p:nvPr/>
        </p:nvSpPr>
        <p:spPr>
          <a:xfrm>
            <a:off x="3352800" y="5156200"/>
            <a:ext cx="2540000" cy="203200"/>
          </a:xfrm>
          <a:prstGeom prst="rect">
            <a:avLst/>
          </a:prstGeom>
          <a:noFill/>
        </p:spPr>
        <p:txBody>
          <a:bodyPr wrap="square" lIns="0" rIns="0" tIns="0" bIns="0" anchor="t">
            <a:spAutoFit/>
          </a:bodyPr>
          <a:lstStyle/>
          <a:p>
            <a:pPr algn="l"/>
            <a:r>
              <a:rPr sz="1200" b="0" i="0">
                <a:solidFill>
                  <a:srgbClr val="11181C"/>
                </a:solidFill>
                <a:latin typeface="Georgia"/>
              </a:rPr>
              <a:t>Overlay</a:t>
            </a:r>
          </a:p>
        </p:txBody>
      </p:sp>
      <p:sp>
        <p:nvSpPr>
          <p:cNvPr id="33" name="TextBox 32"/>
          <p:cNvSpPr txBox="1"/>
          <p:nvPr/>
        </p:nvSpPr>
        <p:spPr>
          <a:xfrm>
            <a:off x="3352800" y="5410200"/>
            <a:ext cx="2540000" cy="508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Slate 15 gradient, 85% → 0%, only under text.</a:t>
            </a:r>
          </a:p>
        </p:txBody>
      </p:sp>
      <p:cxnSp>
        <p:nvCxnSpPr>
          <p:cNvPr id="34" name="Connector 33"/>
          <p:cNvCxnSpPr/>
          <p:nvPr/>
        </p:nvCxnSpPr>
        <p:spPr>
          <a:xfrm>
            <a:off x="3352800" y="5080000"/>
            <a:ext cx="2540000" cy="0"/>
          </a:xfrm>
          <a:prstGeom prst="line">
            <a:avLst/>
          </a:prstGeom>
          <a:ln w="9525">
            <a:solidFill>
              <a:srgbClr val="E6E8EB"/>
            </a:solidFill>
          </a:ln>
        </p:spPr>
      </p:cxnSp>
      <p:sp>
        <p:nvSpPr>
          <p:cNvPr id="35" name="TextBox 34"/>
          <p:cNvSpPr txBox="1"/>
          <p:nvPr/>
        </p:nvSpPr>
        <p:spPr>
          <a:xfrm>
            <a:off x="6096000" y="5156200"/>
            <a:ext cx="2540000" cy="203200"/>
          </a:xfrm>
          <a:prstGeom prst="rect">
            <a:avLst/>
          </a:prstGeom>
          <a:noFill/>
        </p:spPr>
        <p:txBody>
          <a:bodyPr wrap="square" lIns="0" rIns="0" tIns="0" bIns="0" anchor="t">
            <a:spAutoFit/>
          </a:bodyPr>
          <a:lstStyle/>
          <a:p>
            <a:pPr algn="l"/>
            <a:r>
              <a:rPr sz="1200" b="0" i="0">
                <a:solidFill>
                  <a:srgbClr val="11181C"/>
                </a:solidFill>
                <a:latin typeface="Georgia"/>
              </a:rPr>
              <a:t>Caption</a:t>
            </a:r>
          </a:p>
        </p:txBody>
      </p:sp>
      <p:sp>
        <p:nvSpPr>
          <p:cNvPr id="36" name="TextBox 35"/>
          <p:cNvSpPr txBox="1"/>
          <p:nvPr/>
        </p:nvSpPr>
        <p:spPr>
          <a:xfrm>
            <a:off x="6096000" y="5410200"/>
            <a:ext cx="2540000" cy="508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Serif title + sans meta line under the photo.</a:t>
            </a:r>
          </a:p>
        </p:txBody>
      </p:sp>
      <p:cxnSp>
        <p:nvCxnSpPr>
          <p:cNvPr id="37" name="Connector 36"/>
          <p:cNvCxnSpPr/>
          <p:nvPr/>
        </p:nvCxnSpPr>
        <p:spPr>
          <a:xfrm>
            <a:off x="6096000" y="5080000"/>
            <a:ext cx="2540000" cy="0"/>
          </a:xfrm>
          <a:prstGeom prst="line">
            <a:avLst/>
          </a:prstGeom>
          <a:ln w="9525">
            <a:solidFill>
              <a:srgbClr val="E6E8EB"/>
            </a:solidFill>
          </a:ln>
        </p:spPr>
      </p:cxnSp>
      <p:sp>
        <p:nvSpPr>
          <p:cNvPr id="38" name="TextBox 37"/>
          <p:cNvSpPr txBox="1"/>
          <p:nvPr/>
        </p:nvSpPr>
        <p:spPr>
          <a:xfrm>
            <a:off x="8839200" y="5156200"/>
            <a:ext cx="2540000" cy="203200"/>
          </a:xfrm>
          <a:prstGeom prst="rect">
            <a:avLst/>
          </a:prstGeom>
          <a:noFill/>
        </p:spPr>
        <p:txBody>
          <a:bodyPr wrap="square" lIns="0" rIns="0" tIns="0" bIns="0" anchor="t">
            <a:spAutoFit/>
          </a:bodyPr>
          <a:lstStyle/>
          <a:p>
            <a:pPr algn="l"/>
            <a:r>
              <a:rPr sz="1200" b="0" i="0">
                <a:solidFill>
                  <a:srgbClr val="11181C"/>
                </a:solidFill>
                <a:latin typeface="Georgia"/>
              </a:rPr>
              <a:t>Quality</a:t>
            </a:r>
          </a:p>
        </p:txBody>
      </p:sp>
      <p:sp>
        <p:nvSpPr>
          <p:cNvPr id="39" name="TextBox 38"/>
          <p:cNvSpPr txBox="1"/>
          <p:nvPr/>
        </p:nvSpPr>
        <p:spPr>
          <a:xfrm>
            <a:off x="8839200" y="5410200"/>
            <a:ext cx="2540000" cy="508000"/>
          </a:xfrm>
          <a:prstGeom prst="rect">
            <a:avLst/>
          </a:prstGeom>
          <a:noFill/>
        </p:spPr>
        <p:txBody>
          <a:bodyPr wrap="square" lIns="0" rIns="0" tIns="0" bIns="0" anchor="t">
            <a:spAutoFit/>
          </a:bodyPr>
          <a:lstStyle/>
          <a:p>
            <a:pPr algn="l">
              <a:lnSpc>
                <a:spcPct val="135000"/>
              </a:lnSpc>
            </a:pPr>
            <a:r>
              <a:rPr sz="900" b="0" i="0">
                <a:solidFill>
                  <a:srgbClr val="4D555C"/>
                </a:solidFill>
                <a:latin typeface="Arial"/>
              </a:rPr>
              <a:t>Originals only, never stretched, ≥ 150 dpi.</a:t>
            </a:r>
          </a:p>
        </p:txBody>
      </p:sp>
      <p:cxnSp>
        <p:nvCxnSpPr>
          <p:cNvPr id="40" name="Connector 39"/>
          <p:cNvCxnSpPr/>
          <p:nvPr/>
        </p:nvCxnSpPr>
        <p:spPr>
          <a:xfrm>
            <a:off x="8839200" y="5080000"/>
            <a:ext cx="2540000" cy="0"/>
          </a:xfrm>
          <a:prstGeom prst="line">
            <a:avLst/>
          </a:prstGeom>
          <a:ln w="9525">
            <a:solidFill>
              <a:srgbClr val="E6E8EB"/>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LAYOUTS · PAGE TYPES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Eight page types </a:t>
            </a:r>
            <a:r>
              <a:rPr sz="2400" b="0" i="1">
                <a:solidFill>
                  <a:srgbClr val="11181C"/>
                </a:solidFill>
                <a:latin typeface="Georgia"/>
              </a:rPr>
              <a:t>cover</a:t>
            </a:r>
            <a:r>
              <a:rPr sz="2400" b="0" i="0">
                <a:solidFill>
                  <a:srgbClr val="11181C"/>
                </a:solidFill>
                <a:latin typeface="Georgia"/>
              </a:rPr>
              <a:t> the whole review.</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19</a:t>
            </a:r>
          </a:p>
        </p:txBody>
      </p:sp>
      <p:sp>
        <p:nvSpPr>
          <p:cNvPr id="11" name="Rectangle 10"/>
          <p:cNvSpPr/>
          <p:nvPr/>
        </p:nvSpPr>
        <p:spPr>
          <a:xfrm>
            <a:off x="609600" y="1905000"/>
            <a:ext cx="2540000" cy="1428750"/>
          </a:xfrm>
          <a:prstGeom prst="rect">
            <a:avLst/>
          </a:prstGeom>
          <a:gradFill rotWithShape="1">
            <a:gsLst>
              <a:gs pos="0">
                <a:srgbClr val="11181C"/>
              </a:gs>
              <a:gs pos="100000">
                <a:srgbClr val="23343C"/>
              </a:gs>
            </a:gsLst>
            <a:lin scaled="0" ang="18900000"/>
          </a:gradFill>
          <a:ln w="9525">
            <a:solidFill>
              <a:srgbClr val="E0E3E6"/>
            </a:solidFill>
          </a:ln>
          <a:effectLst/>
        </p:spPr>
        <p:txBody>
          <a:bodyPr rtlCol="0" anchor="ctr"/>
          <a:lstStyle/>
          <a:p>
            <a:pPr algn="ctr"/>
          </a:p>
        </p:txBody>
      </p:sp>
      <p:sp>
        <p:nvSpPr>
          <p:cNvPr id="12" name="Rectangle 11"/>
          <p:cNvSpPr/>
          <p:nvPr/>
        </p:nvSpPr>
        <p:spPr>
          <a:xfrm>
            <a:off x="711200" y="1993900"/>
            <a:ext cx="203200" cy="63500"/>
          </a:xfrm>
          <a:prstGeom prst="rect">
            <a:avLst/>
          </a:prstGeom>
          <a:solidFill>
            <a:srgbClr val="E55200"/>
          </a:solidFill>
          <a:ln>
            <a:noFill/>
          </a:ln>
          <a:effectLst/>
        </p:spPr>
        <p:txBody>
          <a:bodyPr rtlCol="0" anchor="ctr"/>
          <a:lstStyle/>
          <a:p>
            <a:pPr algn="ctr"/>
          </a:p>
        </p:txBody>
      </p:sp>
      <p:cxnSp>
        <p:nvCxnSpPr>
          <p:cNvPr id="13" name="Connector 12"/>
          <p:cNvCxnSpPr/>
          <p:nvPr/>
        </p:nvCxnSpPr>
        <p:spPr>
          <a:xfrm>
            <a:off x="711200" y="2095500"/>
            <a:ext cx="2336800" cy="0"/>
          </a:xfrm>
          <a:prstGeom prst="line">
            <a:avLst/>
          </a:prstGeom>
          <a:ln w="5080">
            <a:solidFill>
              <a:srgbClr val="252D31"/>
            </a:solidFill>
          </a:ln>
        </p:spPr>
      </p:cxnSp>
      <p:sp>
        <p:nvSpPr>
          <p:cNvPr id="14" name="Rectangle 13"/>
          <p:cNvSpPr/>
          <p:nvPr/>
        </p:nvSpPr>
        <p:spPr>
          <a:xfrm>
            <a:off x="736600" y="2438400"/>
            <a:ext cx="1016000" cy="88900"/>
          </a:xfrm>
          <a:prstGeom prst="rect">
            <a:avLst/>
          </a:prstGeom>
          <a:solidFill>
            <a:srgbClr val="FCFCFD"/>
          </a:solidFill>
          <a:ln>
            <a:noFill/>
          </a:ln>
          <a:effectLst/>
        </p:spPr>
        <p:txBody>
          <a:bodyPr rtlCol="0" anchor="ctr"/>
          <a:lstStyle/>
          <a:p>
            <a:pPr algn="ctr"/>
          </a:p>
        </p:txBody>
      </p:sp>
      <p:sp>
        <p:nvSpPr>
          <p:cNvPr id="15" name="Rectangle 14"/>
          <p:cNvSpPr/>
          <p:nvPr/>
        </p:nvSpPr>
        <p:spPr>
          <a:xfrm>
            <a:off x="736600" y="2565400"/>
            <a:ext cx="762000" cy="88900"/>
          </a:xfrm>
          <a:prstGeom prst="rect">
            <a:avLst/>
          </a:prstGeom>
          <a:solidFill>
            <a:srgbClr val="FCFCFD"/>
          </a:solidFill>
          <a:ln>
            <a:noFill/>
          </a:ln>
          <a:effectLst/>
        </p:spPr>
        <p:txBody>
          <a:bodyPr rtlCol="0" anchor="ctr"/>
          <a:lstStyle/>
          <a:p>
            <a:pPr algn="ctr"/>
          </a:p>
        </p:txBody>
      </p:sp>
      <p:sp>
        <p:nvSpPr>
          <p:cNvPr id="16" name="Rectangle 15"/>
          <p:cNvSpPr/>
          <p:nvPr/>
        </p:nvSpPr>
        <p:spPr>
          <a:xfrm>
            <a:off x="736600" y="2743200"/>
            <a:ext cx="889000" cy="38100"/>
          </a:xfrm>
          <a:prstGeom prst="rect">
            <a:avLst/>
          </a:prstGeom>
          <a:solidFill>
            <a:srgbClr val="889096"/>
          </a:solidFill>
          <a:ln>
            <a:noFill/>
          </a:ln>
          <a:effectLst/>
        </p:spPr>
        <p:txBody>
          <a:bodyPr rtlCol="0" anchor="ctr"/>
          <a:lstStyle/>
          <a:p>
            <a:pPr algn="ctr"/>
          </a:p>
        </p:txBody>
      </p:sp>
      <p:sp>
        <p:nvSpPr>
          <p:cNvPr id="17" name="Rounded Rectangle 16"/>
          <p:cNvSpPr/>
          <p:nvPr/>
        </p:nvSpPr>
        <p:spPr>
          <a:xfrm>
            <a:off x="736600" y="2895600"/>
            <a:ext cx="330200" cy="101600"/>
          </a:xfrm>
          <a:prstGeom prst="roundRect">
            <a:avLst>
              <a:gd name="adj" fmla="val 25000"/>
            </a:avLst>
          </a:prstGeom>
          <a:solidFill>
            <a:srgbClr val="22C96A"/>
          </a:solidFill>
          <a:ln>
            <a:noFill/>
          </a:ln>
          <a:effectLst/>
        </p:spPr>
        <p:txBody>
          <a:bodyPr rtlCol="0" anchor="ctr"/>
          <a:lstStyle/>
          <a:p>
            <a:pPr algn="ctr"/>
          </a:p>
        </p:txBody>
      </p:sp>
      <p:sp>
        <p:nvSpPr>
          <p:cNvPr id="18" name="Rounded Rectangle 17"/>
          <p:cNvSpPr/>
          <p:nvPr/>
        </p:nvSpPr>
        <p:spPr>
          <a:xfrm>
            <a:off x="2260600" y="3022600"/>
            <a:ext cx="762000" cy="177800"/>
          </a:xfrm>
          <a:prstGeom prst="roundRect">
            <a:avLst>
              <a:gd name="adj" fmla="val 14285"/>
            </a:avLst>
          </a:prstGeom>
          <a:solidFill>
            <a:srgbClr val="FFFFFF"/>
          </a:solidFill>
          <a:ln>
            <a:noFill/>
          </a:ln>
          <a:effectLst/>
        </p:spPr>
        <p:txBody>
          <a:bodyPr rtlCol="0" anchor="ctr"/>
          <a:lstStyle/>
          <a:p>
            <a:pPr algn="ctr"/>
          </a:p>
        </p:txBody>
      </p:sp>
      <p:sp>
        <p:nvSpPr>
          <p:cNvPr id="19" name="TextBox 18"/>
          <p:cNvSpPr txBox="1"/>
          <p:nvPr/>
        </p:nvSpPr>
        <p:spPr>
          <a:xfrm>
            <a:off x="609600" y="3435350"/>
            <a:ext cx="2540000" cy="203200"/>
          </a:xfrm>
          <a:prstGeom prst="rect">
            <a:avLst/>
          </a:prstGeom>
          <a:noFill/>
        </p:spPr>
        <p:txBody>
          <a:bodyPr wrap="square" lIns="0" rIns="0" tIns="0" bIns="0" anchor="t">
            <a:spAutoFit/>
          </a:bodyPr>
          <a:lstStyle/>
          <a:p>
            <a:pPr algn="l"/>
            <a:r>
              <a:rPr sz="1100" b="0" i="0">
                <a:solidFill>
                  <a:srgbClr val="11181C"/>
                </a:solidFill>
                <a:latin typeface="Georgia"/>
              </a:rPr>
              <a:t>Cover · dark hero</a:t>
            </a:r>
          </a:p>
        </p:txBody>
      </p:sp>
      <p:sp>
        <p:nvSpPr>
          <p:cNvPr id="20" name="TextBox 19"/>
          <p:cNvSpPr txBox="1"/>
          <p:nvPr/>
        </p:nvSpPr>
        <p:spPr>
          <a:xfrm>
            <a:off x="609600" y="3663950"/>
            <a:ext cx="2540000" cy="3302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Kicker, serif title, lede, two buttons, callout card</a:t>
            </a:r>
          </a:p>
        </p:txBody>
      </p:sp>
      <p:sp>
        <p:nvSpPr>
          <p:cNvPr id="21" name="Rectangle 20"/>
          <p:cNvSpPr/>
          <p:nvPr/>
        </p:nvSpPr>
        <p:spPr>
          <a:xfrm>
            <a:off x="3420110" y="1905000"/>
            <a:ext cx="2540000" cy="1428750"/>
          </a:xfrm>
          <a:prstGeom prst="rect">
            <a:avLst/>
          </a:prstGeom>
          <a:solidFill>
            <a:srgbClr val="FFFFFF"/>
          </a:solidFill>
          <a:ln w="9525">
            <a:solidFill>
              <a:srgbClr val="E0E3E6"/>
            </a:solidFill>
          </a:ln>
          <a:effectLst/>
        </p:spPr>
        <p:txBody>
          <a:bodyPr rtlCol="0" anchor="ctr"/>
          <a:lstStyle/>
          <a:p>
            <a:pPr algn="ctr"/>
          </a:p>
        </p:txBody>
      </p:sp>
      <p:sp>
        <p:nvSpPr>
          <p:cNvPr id="22" name="Rectangle 21"/>
          <p:cNvSpPr/>
          <p:nvPr/>
        </p:nvSpPr>
        <p:spPr>
          <a:xfrm>
            <a:off x="3521710" y="1993900"/>
            <a:ext cx="203200" cy="63500"/>
          </a:xfrm>
          <a:prstGeom prst="rect">
            <a:avLst/>
          </a:prstGeom>
          <a:solidFill>
            <a:srgbClr val="E55200"/>
          </a:solidFill>
          <a:ln>
            <a:noFill/>
          </a:ln>
          <a:effectLst/>
        </p:spPr>
        <p:txBody>
          <a:bodyPr rtlCol="0" anchor="ctr"/>
          <a:lstStyle/>
          <a:p>
            <a:pPr algn="ctr"/>
          </a:p>
        </p:txBody>
      </p:sp>
      <p:cxnSp>
        <p:nvCxnSpPr>
          <p:cNvPr id="23" name="Connector 22"/>
          <p:cNvCxnSpPr/>
          <p:nvPr/>
        </p:nvCxnSpPr>
        <p:spPr>
          <a:xfrm>
            <a:off x="3521710" y="2095500"/>
            <a:ext cx="2336800" cy="0"/>
          </a:xfrm>
          <a:prstGeom prst="line">
            <a:avLst/>
          </a:prstGeom>
          <a:ln w="5080">
            <a:solidFill>
              <a:srgbClr val="E6E8EB"/>
            </a:solidFill>
          </a:ln>
        </p:spPr>
      </p:cxnSp>
      <p:sp>
        <p:nvSpPr>
          <p:cNvPr id="24" name="Rectangle 23"/>
          <p:cNvSpPr/>
          <p:nvPr/>
        </p:nvSpPr>
        <p:spPr>
          <a:xfrm>
            <a:off x="3547110" y="2184400"/>
            <a:ext cx="381000" cy="38100"/>
          </a:xfrm>
          <a:prstGeom prst="rect">
            <a:avLst/>
          </a:prstGeom>
          <a:solidFill>
            <a:srgbClr val="889096"/>
          </a:solidFill>
          <a:ln>
            <a:noFill/>
          </a:ln>
          <a:effectLst/>
        </p:spPr>
        <p:txBody>
          <a:bodyPr rtlCol="0" anchor="ctr"/>
          <a:lstStyle/>
          <a:p>
            <a:pPr algn="ctr"/>
          </a:p>
        </p:txBody>
      </p:sp>
      <p:sp>
        <p:nvSpPr>
          <p:cNvPr id="25" name="Rectangle 24"/>
          <p:cNvSpPr/>
          <p:nvPr/>
        </p:nvSpPr>
        <p:spPr>
          <a:xfrm>
            <a:off x="3547110" y="2260600"/>
            <a:ext cx="1143000" cy="88900"/>
          </a:xfrm>
          <a:prstGeom prst="rect">
            <a:avLst/>
          </a:prstGeom>
          <a:solidFill>
            <a:srgbClr val="11181C"/>
          </a:solidFill>
          <a:ln>
            <a:noFill/>
          </a:ln>
          <a:effectLst/>
        </p:spPr>
        <p:txBody>
          <a:bodyPr rtlCol="0" anchor="ctr"/>
          <a:lstStyle/>
          <a:p>
            <a:pPr algn="ctr"/>
          </a:p>
        </p:txBody>
      </p:sp>
      <p:sp>
        <p:nvSpPr>
          <p:cNvPr id="26" name="Rectangle 25"/>
          <p:cNvSpPr/>
          <p:nvPr/>
        </p:nvSpPr>
        <p:spPr>
          <a:xfrm>
            <a:off x="3547110" y="2463800"/>
            <a:ext cx="508000" cy="38100"/>
          </a:xfrm>
          <a:prstGeom prst="rect">
            <a:avLst/>
          </a:prstGeom>
          <a:solidFill>
            <a:srgbClr val="889096"/>
          </a:solidFill>
          <a:ln>
            <a:noFill/>
          </a:ln>
          <a:effectLst/>
        </p:spPr>
        <p:txBody>
          <a:bodyPr rtlCol="0" anchor="ctr"/>
          <a:lstStyle/>
          <a:p>
            <a:pPr algn="ctr"/>
          </a:p>
        </p:txBody>
      </p:sp>
      <p:sp>
        <p:nvSpPr>
          <p:cNvPr id="27" name="Rectangle 26"/>
          <p:cNvSpPr/>
          <p:nvPr/>
        </p:nvSpPr>
        <p:spPr>
          <a:xfrm>
            <a:off x="3547110" y="2565400"/>
            <a:ext cx="482600" cy="44450"/>
          </a:xfrm>
          <a:prstGeom prst="rect">
            <a:avLst/>
          </a:prstGeom>
          <a:solidFill>
            <a:srgbClr val="4D555C"/>
          </a:solidFill>
          <a:ln>
            <a:noFill/>
          </a:ln>
          <a:effectLst/>
        </p:spPr>
        <p:txBody>
          <a:bodyPr rtlCol="0" anchor="ctr"/>
          <a:lstStyle/>
          <a:p>
            <a:pPr algn="ctr"/>
          </a:p>
        </p:txBody>
      </p:sp>
      <p:sp>
        <p:nvSpPr>
          <p:cNvPr id="28" name="Rectangle 27"/>
          <p:cNvSpPr/>
          <p:nvPr/>
        </p:nvSpPr>
        <p:spPr>
          <a:xfrm>
            <a:off x="3547110" y="2717800"/>
            <a:ext cx="482600" cy="44450"/>
          </a:xfrm>
          <a:prstGeom prst="rect">
            <a:avLst/>
          </a:prstGeom>
          <a:solidFill>
            <a:srgbClr val="4D555C"/>
          </a:solidFill>
          <a:ln>
            <a:noFill/>
          </a:ln>
          <a:effectLst/>
        </p:spPr>
        <p:txBody>
          <a:bodyPr rtlCol="0" anchor="ctr"/>
          <a:lstStyle/>
          <a:p>
            <a:pPr algn="ctr"/>
          </a:p>
        </p:txBody>
      </p:sp>
      <p:sp>
        <p:nvSpPr>
          <p:cNvPr id="29" name="Rectangle 28"/>
          <p:cNvSpPr/>
          <p:nvPr/>
        </p:nvSpPr>
        <p:spPr>
          <a:xfrm>
            <a:off x="3547110" y="2870200"/>
            <a:ext cx="482600" cy="44450"/>
          </a:xfrm>
          <a:prstGeom prst="rect">
            <a:avLst/>
          </a:prstGeom>
          <a:solidFill>
            <a:srgbClr val="4D555C"/>
          </a:solidFill>
          <a:ln>
            <a:noFill/>
          </a:ln>
          <a:effectLst/>
        </p:spPr>
        <p:txBody>
          <a:bodyPr rtlCol="0" anchor="ctr"/>
          <a:lstStyle/>
          <a:p>
            <a:pPr algn="ctr"/>
          </a:p>
        </p:txBody>
      </p:sp>
      <p:sp>
        <p:nvSpPr>
          <p:cNvPr id="30" name="Rectangle 29"/>
          <p:cNvSpPr/>
          <p:nvPr/>
        </p:nvSpPr>
        <p:spPr>
          <a:xfrm>
            <a:off x="3547110" y="3022600"/>
            <a:ext cx="482600" cy="44450"/>
          </a:xfrm>
          <a:prstGeom prst="rect">
            <a:avLst/>
          </a:prstGeom>
          <a:solidFill>
            <a:srgbClr val="4D555C"/>
          </a:solidFill>
          <a:ln>
            <a:noFill/>
          </a:ln>
          <a:effectLst/>
        </p:spPr>
        <p:txBody>
          <a:bodyPr rtlCol="0" anchor="ctr"/>
          <a:lstStyle/>
          <a:p>
            <a:pPr algn="ctr"/>
          </a:p>
        </p:txBody>
      </p:sp>
      <p:sp>
        <p:nvSpPr>
          <p:cNvPr id="31" name="Rectangle 30"/>
          <p:cNvSpPr/>
          <p:nvPr/>
        </p:nvSpPr>
        <p:spPr>
          <a:xfrm>
            <a:off x="4131310" y="2463800"/>
            <a:ext cx="508000" cy="38100"/>
          </a:xfrm>
          <a:prstGeom prst="rect">
            <a:avLst/>
          </a:prstGeom>
          <a:solidFill>
            <a:srgbClr val="889096"/>
          </a:solidFill>
          <a:ln>
            <a:noFill/>
          </a:ln>
          <a:effectLst/>
        </p:spPr>
        <p:txBody>
          <a:bodyPr rtlCol="0" anchor="ctr"/>
          <a:lstStyle/>
          <a:p>
            <a:pPr algn="ctr"/>
          </a:p>
        </p:txBody>
      </p:sp>
      <p:sp>
        <p:nvSpPr>
          <p:cNvPr id="32" name="Rectangle 31"/>
          <p:cNvSpPr/>
          <p:nvPr/>
        </p:nvSpPr>
        <p:spPr>
          <a:xfrm>
            <a:off x="4131310" y="2565400"/>
            <a:ext cx="482600" cy="44450"/>
          </a:xfrm>
          <a:prstGeom prst="rect">
            <a:avLst/>
          </a:prstGeom>
          <a:solidFill>
            <a:srgbClr val="4D555C"/>
          </a:solidFill>
          <a:ln>
            <a:noFill/>
          </a:ln>
          <a:effectLst/>
        </p:spPr>
        <p:txBody>
          <a:bodyPr rtlCol="0" anchor="ctr"/>
          <a:lstStyle/>
          <a:p>
            <a:pPr algn="ctr"/>
          </a:p>
        </p:txBody>
      </p:sp>
      <p:sp>
        <p:nvSpPr>
          <p:cNvPr id="33" name="Rectangle 32"/>
          <p:cNvSpPr/>
          <p:nvPr/>
        </p:nvSpPr>
        <p:spPr>
          <a:xfrm>
            <a:off x="4131310" y="2717800"/>
            <a:ext cx="482600" cy="44450"/>
          </a:xfrm>
          <a:prstGeom prst="rect">
            <a:avLst/>
          </a:prstGeom>
          <a:solidFill>
            <a:srgbClr val="4D555C"/>
          </a:solidFill>
          <a:ln>
            <a:noFill/>
          </a:ln>
          <a:effectLst/>
        </p:spPr>
        <p:txBody>
          <a:bodyPr rtlCol="0" anchor="ctr"/>
          <a:lstStyle/>
          <a:p>
            <a:pPr algn="ctr"/>
          </a:p>
        </p:txBody>
      </p:sp>
      <p:sp>
        <p:nvSpPr>
          <p:cNvPr id="34" name="Rectangle 33"/>
          <p:cNvSpPr/>
          <p:nvPr/>
        </p:nvSpPr>
        <p:spPr>
          <a:xfrm>
            <a:off x="4131310" y="2870200"/>
            <a:ext cx="482600" cy="44450"/>
          </a:xfrm>
          <a:prstGeom prst="rect">
            <a:avLst/>
          </a:prstGeom>
          <a:solidFill>
            <a:srgbClr val="4D555C"/>
          </a:solidFill>
          <a:ln>
            <a:noFill/>
          </a:ln>
          <a:effectLst/>
        </p:spPr>
        <p:txBody>
          <a:bodyPr rtlCol="0" anchor="ctr"/>
          <a:lstStyle/>
          <a:p>
            <a:pPr algn="ctr"/>
          </a:p>
        </p:txBody>
      </p:sp>
      <p:sp>
        <p:nvSpPr>
          <p:cNvPr id="35" name="Rectangle 34"/>
          <p:cNvSpPr/>
          <p:nvPr/>
        </p:nvSpPr>
        <p:spPr>
          <a:xfrm>
            <a:off x="4131310" y="3022600"/>
            <a:ext cx="482600" cy="44450"/>
          </a:xfrm>
          <a:prstGeom prst="rect">
            <a:avLst/>
          </a:prstGeom>
          <a:solidFill>
            <a:srgbClr val="4D555C"/>
          </a:solidFill>
          <a:ln>
            <a:noFill/>
          </a:ln>
          <a:effectLst/>
        </p:spPr>
        <p:txBody>
          <a:bodyPr rtlCol="0" anchor="ctr"/>
          <a:lstStyle/>
          <a:p>
            <a:pPr algn="ctr"/>
          </a:p>
        </p:txBody>
      </p:sp>
      <p:sp>
        <p:nvSpPr>
          <p:cNvPr id="36" name="Rectangle 35"/>
          <p:cNvSpPr/>
          <p:nvPr/>
        </p:nvSpPr>
        <p:spPr>
          <a:xfrm>
            <a:off x="4715510" y="2463800"/>
            <a:ext cx="508000" cy="38100"/>
          </a:xfrm>
          <a:prstGeom prst="rect">
            <a:avLst/>
          </a:prstGeom>
          <a:solidFill>
            <a:srgbClr val="889096"/>
          </a:solidFill>
          <a:ln>
            <a:noFill/>
          </a:ln>
          <a:effectLst/>
        </p:spPr>
        <p:txBody>
          <a:bodyPr rtlCol="0" anchor="ctr"/>
          <a:lstStyle/>
          <a:p>
            <a:pPr algn="ctr"/>
          </a:p>
        </p:txBody>
      </p:sp>
      <p:sp>
        <p:nvSpPr>
          <p:cNvPr id="37" name="Rectangle 36"/>
          <p:cNvSpPr/>
          <p:nvPr/>
        </p:nvSpPr>
        <p:spPr>
          <a:xfrm>
            <a:off x="4715510" y="2565400"/>
            <a:ext cx="482600" cy="44450"/>
          </a:xfrm>
          <a:prstGeom prst="rect">
            <a:avLst/>
          </a:prstGeom>
          <a:solidFill>
            <a:srgbClr val="4D555C"/>
          </a:solidFill>
          <a:ln>
            <a:noFill/>
          </a:ln>
          <a:effectLst/>
        </p:spPr>
        <p:txBody>
          <a:bodyPr rtlCol="0" anchor="ctr"/>
          <a:lstStyle/>
          <a:p>
            <a:pPr algn="ctr"/>
          </a:p>
        </p:txBody>
      </p:sp>
      <p:sp>
        <p:nvSpPr>
          <p:cNvPr id="38" name="Rectangle 37"/>
          <p:cNvSpPr/>
          <p:nvPr/>
        </p:nvSpPr>
        <p:spPr>
          <a:xfrm>
            <a:off x="4715510" y="2717800"/>
            <a:ext cx="482600" cy="44450"/>
          </a:xfrm>
          <a:prstGeom prst="rect">
            <a:avLst/>
          </a:prstGeom>
          <a:solidFill>
            <a:srgbClr val="4D555C"/>
          </a:solidFill>
          <a:ln>
            <a:noFill/>
          </a:ln>
          <a:effectLst/>
        </p:spPr>
        <p:txBody>
          <a:bodyPr rtlCol="0" anchor="ctr"/>
          <a:lstStyle/>
          <a:p>
            <a:pPr algn="ctr"/>
          </a:p>
        </p:txBody>
      </p:sp>
      <p:sp>
        <p:nvSpPr>
          <p:cNvPr id="39" name="Rectangle 38"/>
          <p:cNvSpPr/>
          <p:nvPr/>
        </p:nvSpPr>
        <p:spPr>
          <a:xfrm>
            <a:off x="4715510" y="2870200"/>
            <a:ext cx="482600" cy="44450"/>
          </a:xfrm>
          <a:prstGeom prst="rect">
            <a:avLst/>
          </a:prstGeom>
          <a:solidFill>
            <a:srgbClr val="4D555C"/>
          </a:solidFill>
          <a:ln>
            <a:noFill/>
          </a:ln>
          <a:effectLst/>
        </p:spPr>
        <p:txBody>
          <a:bodyPr rtlCol="0" anchor="ctr"/>
          <a:lstStyle/>
          <a:p>
            <a:pPr algn="ctr"/>
          </a:p>
        </p:txBody>
      </p:sp>
      <p:sp>
        <p:nvSpPr>
          <p:cNvPr id="40" name="Rectangle 39"/>
          <p:cNvSpPr/>
          <p:nvPr/>
        </p:nvSpPr>
        <p:spPr>
          <a:xfrm>
            <a:off x="4715510" y="3022600"/>
            <a:ext cx="482600" cy="44450"/>
          </a:xfrm>
          <a:prstGeom prst="rect">
            <a:avLst/>
          </a:prstGeom>
          <a:solidFill>
            <a:srgbClr val="4D555C"/>
          </a:solidFill>
          <a:ln>
            <a:noFill/>
          </a:ln>
          <a:effectLst/>
        </p:spPr>
        <p:txBody>
          <a:bodyPr rtlCol="0" anchor="ctr"/>
          <a:lstStyle/>
          <a:p>
            <a:pPr algn="ctr"/>
          </a:p>
        </p:txBody>
      </p:sp>
      <p:sp>
        <p:nvSpPr>
          <p:cNvPr id="41" name="Rectangle 40"/>
          <p:cNvSpPr/>
          <p:nvPr/>
        </p:nvSpPr>
        <p:spPr>
          <a:xfrm>
            <a:off x="5299710" y="2463800"/>
            <a:ext cx="508000" cy="38100"/>
          </a:xfrm>
          <a:prstGeom prst="rect">
            <a:avLst/>
          </a:prstGeom>
          <a:solidFill>
            <a:srgbClr val="889096"/>
          </a:solidFill>
          <a:ln>
            <a:noFill/>
          </a:ln>
          <a:effectLst/>
        </p:spPr>
        <p:txBody>
          <a:bodyPr rtlCol="0" anchor="ctr"/>
          <a:lstStyle/>
          <a:p>
            <a:pPr algn="ctr"/>
          </a:p>
        </p:txBody>
      </p:sp>
      <p:sp>
        <p:nvSpPr>
          <p:cNvPr id="42" name="Rectangle 41"/>
          <p:cNvSpPr/>
          <p:nvPr/>
        </p:nvSpPr>
        <p:spPr>
          <a:xfrm>
            <a:off x="5299710" y="2565400"/>
            <a:ext cx="482600" cy="44450"/>
          </a:xfrm>
          <a:prstGeom prst="rect">
            <a:avLst/>
          </a:prstGeom>
          <a:solidFill>
            <a:srgbClr val="4D555C"/>
          </a:solidFill>
          <a:ln>
            <a:noFill/>
          </a:ln>
          <a:effectLst/>
        </p:spPr>
        <p:txBody>
          <a:bodyPr rtlCol="0" anchor="ctr"/>
          <a:lstStyle/>
          <a:p>
            <a:pPr algn="ctr"/>
          </a:p>
        </p:txBody>
      </p:sp>
      <p:sp>
        <p:nvSpPr>
          <p:cNvPr id="43" name="Rectangle 42"/>
          <p:cNvSpPr/>
          <p:nvPr/>
        </p:nvSpPr>
        <p:spPr>
          <a:xfrm>
            <a:off x="5299710" y="2717800"/>
            <a:ext cx="482600" cy="44450"/>
          </a:xfrm>
          <a:prstGeom prst="rect">
            <a:avLst/>
          </a:prstGeom>
          <a:solidFill>
            <a:srgbClr val="4D555C"/>
          </a:solidFill>
          <a:ln>
            <a:noFill/>
          </a:ln>
          <a:effectLst/>
        </p:spPr>
        <p:txBody>
          <a:bodyPr rtlCol="0" anchor="ctr"/>
          <a:lstStyle/>
          <a:p>
            <a:pPr algn="ctr"/>
          </a:p>
        </p:txBody>
      </p:sp>
      <p:sp>
        <p:nvSpPr>
          <p:cNvPr id="44" name="Rectangle 43"/>
          <p:cNvSpPr/>
          <p:nvPr/>
        </p:nvSpPr>
        <p:spPr>
          <a:xfrm>
            <a:off x="5299710" y="2870200"/>
            <a:ext cx="482600" cy="44450"/>
          </a:xfrm>
          <a:prstGeom prst="rect">
            <a:avLst/>
          </a:prstGeom>
          <a:solidFill>
            <a:srgbClr val="4D555C"/>
          </a:solidFill>
          <a:ln>
            <a:noFill/>
          </a:ln>
          <a:effectLst/>
        </p:spPr>
        <p:txBody>
          <a:bodyPr rtlCol="0" anchor="ctr"/>
          <a:lstStyle/>
          <a:p>
            <a:pPr algn="ctr"/>
          </a:p>
        </p:txBody>
      </p:sp>
      <p:sp>
        <p:nvSpPr>
          <p:cNvPr id="45" name="Rectangle 44"/>
          <p:cNvSpPr/>
          <p:nvPr/>
        </p:nvSpPr>
        <p:spPr>
          <a:xfrm>
            <a:off x="5299710" y="3022600"/>
            <a:ext cx="482600" cy="44450"/>
          </a:xfrm>
          <a:prstGeom prst="rect">
            <a:avLst/>
          </a:prstGeom>
          <a:solidFill>
            <a:srgbClr val="4D555C"/>
          </a:solidFill>
          <a:ln>
            <a:noFill/>
          </a:ln>
          <a:effectLst/>
        </p:spPr>
        <p:txBody>
          <a:bodyPr rtlCol="0" anchor="ctr"/>
          <a:lstStyle/>
          <a:p>
            <a:pPr algn="ctr"/>
          </a:p>
        </p:txBody>
      </p:sp>
      <p:sp>
        <p:nvSpPr>
          <p:cNvPr id="46" name="TextBox 45"/>
          <p:cNvSpPr txBox="1"/>
          <p:nvPr/>
        </p:nvSpPr>
        <p:spPr>
          <a:xfrm>
            <a:off x="3420110" y="3435350"/>
            <a:ext cx="2540000" cy="203200"/>
          </a:xfrm>
          <a:prstGeom prst="rect">
            <a:avLst/>
          </a:prstGeom>
          <a:noFill/>
        </p:spPr>
        <p:txBody>
          <a:bodyPr wrap="square" lIns="0" rIns="0" tIns="0" bIns="0" anchor="t">
            <a:spAutoFit/>
          </a:bodyPr>
          <a:lstStyle/>
          <a:p>
            <a:pPr algn="l"/>
            <a:r>
              <a:rPr sz="1100" b="0" i="0">
                <a:solidFill>
                  <a:srgbClr val="11181C"/>
                </a:solidFill>
                <a:latin typeface="Georgia"/>
              </a:rPr>
              <a:t>Agenda · link columns</a:t>
            </a:r>
          </a:p>
        </p:txBody>
      </p:sp>
      <p:sp>
        <p:nvSpPr>
          <p:cNvPr id="47" name="TextBox 46"/>
          <p:cNvSpPr txBox="1"/>
          <p:nvPr/>
        </p:nvSpPr>
        <p:spPr>
          <a:xfrm>
            <a:off x="3420110" y="3663950"/>
            <a:ext cx="2540000" cy="3302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Sections as footer-style link columns</a:t>
            </a:r>
          </a:p>
        </p:txBody>
      </p:sp>
      <p:sp>
        <p:nvSpPr>
          <p:cNvPr id="48" name="Rectangle 47"/>
          <p:cNvSpPr/>
          <p:nvPr/>
        </p:nvSpPr>
        <p:spPr>
          <a:xfrm>
            <a:off x="6230620" y="1905000"/>
            <a:ext cx="2540000" cy="1428750"/>
          </a:xfrm>
          <a:prstGeom prst="rect">
            <a:avLst/>
          </a:prstGeom>
          <a:gradFill rotWithShape="1">
            <a:gsLst>
              <a:gs pos="0">
                <a:srgbClr val="11181C"/>
              </a:gs>
              <a:gs pos="100000">
                <a:srgbClr val="23343C"/>
              </a:gs>
            </a:gsLst>
            <a:lin scaled="0" ang="18900000"/>
          </a:gradFill>
          <a:ln w="9525">
            <a:solidFill>
              <a:srgbClr val="E0E3E6"/>
            </a:solidFill>
          </a:ln>
          <a:effectLst/>
        </p:spPr>
        <p:txBody>
          <a:bodyPr rtlCol="0" anchor="ctr"/>
          <a:lstStyle/>
          <a:p>
            <a:pPr algn="ctr"/>
          </a:p>
        </p:txBody>
      </p:sp>
      <p:sp>
        <p:nvSpPr>
          <p:cNvPr id="49" name="Rectangle 48"/>
          <p:cNvSpPr/>
          <p:nvPr/>
        </p:nvSpPr>
        <p:spPr>
          <a:xfrm>
            <a:off x="6332220" y="1993900"/>
            <a:ext cx="203200" cy="63500"/>
          </a:xfrm>
          <a:prstGeom prst="rect">
            <a:avLst/>
          </a:prstGeom>
          <a:solidFill>
            <a:srgbClr val="E55200"/>
          </a:solidFill>
          <a:ln>
            <a:noFill/>
          </a:ln>
          <a:effectLst/>
        </p:spPr>
        <p:txBody>
          <a:bodyPr rtlCol="0" anchor="ctr"/>
          <a:lstStyle/>
          <a:p>
            <a:pPr algn="ctr"/>
          </a:p>
        </p:txBody>
      </p:sp>
      <p:cxnSp>
        <p:nvCxnSpPr>
          <p:cNvPr id="50" name="Connector 49"/>
          <p:cNvCxnSpPr/>
          <p:nvPr/>
        </p:nvCxnSpPr>
        <p:spPr>
          <a:xfrm>
            <a:off x="6332220" y="2095500"/>
            <a:ext cx="2336800" cy="0"/>
          </a:xfrm>
          <a:prstGeom prst="line">
            <a:avLst/>
          </a:prstGeom>
          <a:ln w="5080">
            <a:solidFill>
              <a:srgbClr val="252D31"/>
            </a:solidFill>
          </a:ln>
        </p:spPr>
      </p:cxnSp>
      <p:sp>
        <p:nvSpPr>
          <p:cNvPr id="51" name="Rectangle 50"/>
          <p:cNvSpPr/>
          <p:nvPr/>
        </p:nvSpPr>
        <p:spPr>
          <a:xfrm>
            <a:off x="6357620" y="2489200"/>
            <a:ext cx="381000" cy="38100"/>
          </a:xfrm>
          <a:prstGeom prst="rect">
            <a:avLst/>
          </a:prstGeom>
          <a:solidFill>
            <a:srgbClr val="83E7AE"/>
          </a:solidFill>
          <a:ln>
            <a:noFill/>
          </a:ln>
          <a:effectLst/>
        </p:spPr>
        <p:txBody>
          <a:bodyPr rtlCol="0" anchor="ctr"/>
          <a:lstStyle/>
          <a:p>
            <a:pPr algn="ctr"/>
          </a:p>
        </p:txBody>
      </p:sp>
      <p:sp>
        <p:nvSpPr>
          <p:cNvPr id="52" name="Rectangle 51"/>
          <p:cNvSpPr/>
          <p:nvPr/>
        </p:nvSpPr>
        <p:spPr>
          <a:xfrm>
            <a:off x="6357620" y="2590800"/>
            <a:ext cx="1397000" cy="114300"/>
          </a:xfrm>
          <a:prstGeom prst="rect">
            <a:avLst/>
          </a:prstGeom>
          <a:solidFill>
            <a:srgbClr val="FCFCFD"/>
          </a:solidFill>
          <a:ln>
            <a:noFill/>
          </a:ln>
          <a:effectLst/>
        </p:spPr>
        <p:txBody>
          <a:bodyPr rtlCol="0" anchor="ctr"/>
          <a:lstStyle/>
          <a:p>
            <a:pPr algn="ctr"/>
          </a:p>
        </p:txBody>
      </p:sp>
      <p:sp>
        <p:nvSpPr>
          <p:cNvPr id="53" name="Rectangle 52"/>
          <p:cNvSpPr/>
          <p:nvPr/>
        </p:nvSpPr>
        <p:spPr>
          <a:xfrm>
            <a:off x="6357620" y="2768600"/>
            <a:ext cx="1016000" cy="38100"/>
          </a:xfrm>
          <a:prstGeom prst="rect">
            <a:avLst/>
          </a:prstGeom>
          <a:solidFill>
            <a:srgbClr val="889096"/>
          </a:solidFill>
          <a:ln>
            <a:noFill/>
          </a:ln>
          <a:effectLst/>
        </p:spPr>
        <p:txBody>
          <a:bodyPr rtlCol="0" anchor="ctr"/>
          <a:lstStyle/>
          <a:p>
            <a:pPr algn="ctr"/>
          </a:p>
        </p:txBody>
      </p:sp>
      <p:sp>
        <p:nvSpPr>
          <p:cNvPr id="54" name="Rectangle 53"/>
          <p:cNvSpPr/>
          <p:nvPr/>
        </p:nvSpPr>
        <p:spPr>
          <a:xfrm>
            <a:off x="8008620" y="2209800"/>
            <a:ext cx="635000" cy="1016000"/>
          </a:xfrm>
          <a:prstGeom prst="rect">
            <a:avLst/>
          </a:prstGeom>
          <a:solidFill>
            <a:srgbClr val="252D31"/>
          </a:solidFill>
          <a:ln>
            <a:noFill/>
          </a:ln>
          <a:effectLst/>
        </p:spPr>
        <p:txBody>
          <a:bodyPr rtlCol="0" anchor="ctr"/>
          <a:lstStyle/>
          <a:p>
            <a:pPr algn="ctr"/>
          </a:p>
        </p:txBody>
      </p:sp>
      <p:sp>
        <p:nvSpPr>
          <p:cNvPr id="55" name="TextBox 54"/>
          <p:cNvSpPr txBox="1"/>
          <p:nvPr/>
        </p:nvSpPr>
        <p:spPr>
          <a:xfrm>
            <a:off x="6230620" y="3435350"/>
            <a:ext cx="2540000" cy="203200"/>
          </a:xfrm>
          <a:prstGeom prst="rect">
            <a:avLst/>
          </a:prstGeom>
          <a:noFill/>
        </p:spPr>
        <p:txBody>
          <a:bodyPr wrap="square" lIns="0" rIns="0" tIns="0" bIns="0" anchor="t">
            <a:spAutoFit/>
          </a:bodyPr>
          <a:lstStyle/>
          <a:p>
            <a:pPr algn="l"/>
            <a:r>
              <a:rPr sz="1100" b="0" i="0">
                <a:solidFill>
                  <a:srgbClr val="11181C"/>
                </a:solidFill>
                <a:latin typeface="Georgia"/>
              </a:rPr>
              <a:t>Section divider · dark</a:t>
            </a:r>
          </a:p>
        </p:txBody>
      </p:sp>
      <p:sp>
        <p:nvSpPr>
          <p:cNvPr id="56" name="TextBox 55"/>
          <p:cNvSpPr txBox="1"/>
          <p:nvPr/>
        </p:nvSpPr>
        <p:spPr>
          <a:xfrm>
            <a:off x="6230620" y="3663950"/>
            <a:ext cx="2540000" cy="3302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Kicker, serif title, photo panel right</a:t>
            </a:r>
          </a:p>
        </p:txBody>
      </p:sp>
      <p:sp>
        <p:nvSpPr>
          <p:cNvPr id="57" name="Rectangle 56"/>
          <p:cNvSpPr/>
          <p:nvPr/>
        </p:nvSpPr>
        <p:spPr>
          <a:xfrm>
            <a:off x="9041130" y="1905000"/>
            <a:ext cx="2540000" cy="1428750"/>
          </a:xfrm>
          <a:prstGeom prst="rect">
            <a:avLst/>
          </a:prstGeom>
          <a:solidFill>
            <a:srgbClr val="FFFFFF"/>
          </a:solidFill>
          <a:ln w="9525">
            <a:solidFill>
              <a:srgbClr val="E0E3E6"/>
            </a:solidFill>
          </a:ln>
          <a:effectLst/>
        </p:spPr>
        <p:txBody>
          <a:bodyPr rtlCol="0" anchor="ctr"/>
          <a:lstStyle/>
          <a:p>
            <a:pPr algn="ctr"/>
          </a:p>
        </p:txBody>
      </p:sp>
      <p:sp>
        <p:nvSpPr>
          <p:cNvPr id="58" name="Rectangle 57"/>
          <p:cNvSpPr/>
          <p:nvPr/>
        </p:nvSpPr>
        <p:spPr>
          <a:xfrm>
            <a:off x="9142730" y="1993900"/>
            <a:ext cx="203200" cy="63500"/>
          </a:xfrm>
          <a:prstGeom prst="rect">
            <a:avLst/>
          </a:prstGeom>
          <a:solidFill>
            <a:srgbClr val="E55200"/>
          </a:solidFill>
          <a:ln>
            <a:noFill/>
          </a:ln>
          <a:effectLst/>
        </p:spPr>
        <p:txBody>
          <a:bodyPr rtlCol="0" anchor="ctr"/>
          <a:lstStyle/>
          <a:p>
            <a:pPr algn="ctr"/>
          </a:p>
        </p:txBody>
      </p:sp>
      <p:cxnSp>
        <p:nvCxnSpPr>
          <p:cNvPr id="59" name="Connector 58"/>
          <p:cNvCxnSpPr/>
          <p:nvPr/>
        </p:nvCxnSpPr>
        <p:spPr>
          <a:xfrm>
            <a:off x="9142730" y="2095500"/>
            <a:ext cx="2336800" cy="0"/>
          </a:xfrm>
          <a:prstGeom prst="line">
            <a:avLst/>
          </a:prstGeom>
          <a:ln w="5080">
            <a:solidFill>
              <a:srgbClr val="E6E8EB"/>
            </a:solidFill>
          </a:ln>
        </p:spPr>
      </p:cxnSp>
      <p:sp>
        <p:nvSpPr>
          <p:cNvPr id="60" name="Rectangle 59"/>
          <p:cNvSpPr/>
          <p:nvPr/>
        </p:nvSpPr>
        <p:spPr>
          <a:xfrm>
            <a:off x="9803130" y="2209800"/>
            <a:ext cx="1016000" cy="38100"/>
          </a:xfrm>
          <a:prstGeom prst="rect">
            <a:avLst/>
          </a:prstGeom>
          <a:solidFill>
            <a:srgbClr val="889096"/>
          </a:solidFill>
          <a:ln>
            <a:noFill/>
          </a:ln>
          <a:effectLst/>
        </p:spPr>
        <p:txBody>
          <a:bodyPr rtlCol="0" anchor="ctr"/>
          <a:lstStyle/>
          <a:p>
            <a:pPr algn="ctr"/>
          </a:p>
        </p:txBody>
      </p:sp>
      <p:sp>
        <p:nvSpPr>
          <p:cNvPr id="61" name="Rectangle 60"/>
          <p:cNvSpPr/>
          <p:nvPr/>
        </p:nvSpPr>
        <p:spPr>
          <a:xfrm>
            <a:off x="9485630" y="2298700"/>
            <a:ext cx="1651000" cy="88900"/>
          </a:xfrm>
          <a:prstGeom prst="rect">
            <a:avLst/>
          </a:prstGeom>
          <a:solidFill>
            <a:srgbClr val="11181C"/>
          </a:solidFill>
          <a:ln>
            <a:noFill/>
          </a:ln>
          <a:effectLst/>
        </p:spPr>
        <p:txBody>
          <a:bodyPr rtlCol="0" anchor="ctr"/>
          <a:lstStyle/>
          <a:p>
            <a:pPr algn="ctr"/>
          </a:p>
        </p:txBody>
      </p:sp>
      <p:cxnSp>
        <p:nvCxnSpPr>
          <p:cNvPr id="62" name="Connector 61"/>
          <p:cNvCxnSpPr/>
          <p:nvPr/>
        </p:nvCxnSpPr>
        <p:spPr>
          <a:xfrm flipV="1">
            <a:off x="9142730" y="2667000"/>
            <a:ext cx="2336800" cy="25400"/>
          </a:xfrm>
          <a:prstGeom prst="line">
            <a:avLst/>
          </a:prstGeom>
          <a:ln w="6350">
            <a:solidFill>
              <a:srgbClr val="E0E3E6"/>
            </a:solidFill>
          </a:ln>
        </p:spPr>
      </p:cxnSp>
      <p:sp>
        <p:nvSpPr>
          <p:cNvPr id="63" name="Rectangle 62"/>
          <p:cNvSpPr/>
          <p:nvPr/>
        </p:nvSpPr>
        <p:spPr>
          <a:xfrm>
            <a:off x="9218930" y="2540000"/>
            <a:ext cx="508000" cy="50800"/>
          </a:xfrm>
          <a:prstGeom prst="rect">
            <a:avLst/>
          </a:prstGeom>
          <a:solidFill>
            <a:srgbClr val="11181C"/>
          </a:solidFill>
          <a:ln>
            <a:noFill/>
          </a:ln>
          <a:effectLst/>
        </p:spPr>
        <p:txBody>
          <a:bodyPr rtlCol="0" anchor="ctr"/>
          <a:lstStyle/>
          <a:p>
            <a:pPr algn="ctr"/>
          </a:p>
        </p:txBody>
      </p:sp>
      <p:sp>
        <p:nvSpPr>
          <p:cNvPr id="64" name="Oval 63"/>
          <p:cNvSpPr/>
          <p:nvPr/>
        </p:nvSpPr>
        <p:spPr>
          <a:xfrm>
            <a:off x="9218930" y="2654300"/>
            <a:ext cx="50800" cy="50800"/>
          </a:xfrm>
          <a:prstGeom prst="ellipse">
            <a:avLst/>
          </a:prstGeom>
          <a:solidFill>
            <a:srgbClr val="22C96A"/>
          </a:solidFill>
          <a:ln>
            <a:noFill/>
          </a:ln>
          <a:effectLst/>
        </p:spPr>
        <p:txBody>
          <a:bodyPr rtlCol="0" anchor="ctr"/>
          <a:lstStyle/>
          <a:p>
            <a:pPr algn="ctr"/>
          </a:p>
        </p:txBody>
      </p:sp>
      <p:sp>
        <p:nvSpPr>
          <p:cNvPr id="65" name="Rectangle 64"/>
          <p:cNvSpPr/>
          <p:nvPr/>
        </p:nvSpPr>
        <p:spPr>
          <a:xfrm>
            <a:off x="9218930" y="2819400"/>
            <a:ext cx="609600" cy="38100"/>
          </a:xfrm>
          <a:prstGeom prst="rect">
            <a:avLst/>
          </a:prstGeom>
          <a:solidFill>
            <a:srgbClr val="889096"/>
          </a:solidFill>
          <a:ln>
            <a:noFill/>
          </a:ln>
          <a:effectLst/>
        </p:spPr>
        <p:txBody>
          <a:bodyPr rtlCol="0" anchor="ctr"/>
          <a:lstStyle/>
          <a:p>
            <a:pPr algn="ctr"/>
          </a:p>
        </p:txBody>
      </p:sp>
      <p:sp>
        <p:nvSpPr>
          <p:cNvPr id="66" name="Rectangle 65"/>
          <p:cNvSpPr/>
          <p:nvPr/>
        </p:nvSpPr>
        <p:spPr>
          <a:xfrm>
            <a:off x="9218930" y="2921000"/>
            <a:ext cx="609600" cy="38100"/>
          </a:xfrm>
          <a:prstGeom prst="rect">
            <a:avLst/>
          </a:prstGeom>
          <a:solidFill>
            <a:srgbClr val="889096"/>
          </a:solidFill>
          <a:ln>
            <a:noFill/>
          </a:ln>
          <a:effectLst/>
        </p:spPr>
        <p:txBody>
          <a:bodyPr rtlCol="0" anchor="ctr"/>
          <a:lstStyle/>
          <a:p>
            <a:pPr algn="ctr"/>
          </a:p>
        </p:txBody>
      </p:sp>
      <p:sp>
        <p:nvSpPr>
          <p:cNvPr id="67" name="Rectangle 66"/>
          <p:cNvSpPr/>
          <p:nvPr/>
        </p:nvSpPr>
        <p:spPr>
          <a:xfrm>
            <a:off x="9218930" y="3022600"/>
            <a:ext cx="609600" cy="38100"/>
          </a:xfrm>
          <a:prstGeom prst="rect">
            <a:avLst/>
          </a:prstGeom>
          <a:solidFill>
            <a:srgbClr val="889096"/>
          </a:solidFill>
          <a:ln>
            <a:noFill/>
          </a:ln>
          <a:effectLst/>
        </p:spPr>
        <p:txBody>
          <a:bodyPr rtlCol="0" anchor="ctr"/>
          <a:lstStyle/>
          <a:p>
            <a:pPr algn="ctr"/>
          </a:p>
        </p:txBody>
      </p:sp>
      <p:sp>
        <p:nvSpPr>
          <p:cNvPr id="68" name="Rectangle 67"/>
          <p:cNvSpPr/>
          <p:nvPr/>
        </p:nvSpPr>
        <p:spPr>
          <a:xfrm>
            <a:off x="10006330" y="2540000"/>
            <a:ext cx="508000" cy="50800"/>
          </a:xfrm>
          <a:prstGeom prst="rect">
            <a:avLst/>
          </a:prstGeom>
          <a:solidFill>
            <a:srgbClr val="11181C"/>
          </a:solidFill>
          <a:ln>
            <a:noFill/>
          </a:ln>
          <a:effectLst/>
        </p:spPr>
        <p:txBody>
          <a:bodyPr rtlCol="0" anchor="ctr"/>
          <a:lstStyle/>
          <a:p>
            <a:pPr algn="ctr"/>
          </a:p>
        </p:txBody>
      </p:sp>
      <p:sp>
        <p:nvSpPr>
          <p:cNvPr id="69" name="Oval 68"/>
          <p:cNvSpPr/>
          <p:nvPr/>
        </p:nvSpPr>
        <p:spPr>
          <a:xfrm>
            <a:off x="10006330" y="2654300"/>
            <a:ext cx="50800" cy="50800"/>
          </a:xfrm>
          <a:prstGeom prst="ellipse">
            <a:avLst/>
          </a:prstGeom>
          <a:solidFill>
            <a:srgbClr val="22C96A"/>
          </a:solidFill>
          <a:ln>
            <a:noFill/>
          </a:ln>
          <a:effectLst/>
        </p:spPr>
        <p:txBody>
          <a:bodyPr rtlCol="0" anchor="ctr"/>
          <a:lstStyle/>
          <a:p>
            <a:pPr algn="ctr"/>
          </a:p>
        </p:txBody>
      </p:sp>
      <p:sp>
        <p:nvSpPr>
          <p:cNvPr id="70" name="Rectangle 69"/>
          <p:cNvSpPr/>
          <p:nvPr/>
        </p:nvSpPr>
        <p:spPr>
          <a:xfrm>
            <a:off x="10006330" y="2819400"/>
            <a:ext cx="609600" cy="38100"/>
          </a:xfrm>
          <a:prstGeom prst="rect">
            <a:avLst/>
          </a:prstGeom>
          <a:solidFill>
            <a:srgbClr val="889096"/>
          </a:solidFill>
          <a:ln>
            <a:noFill/>
          </a:ln>
          <a:effectLst/>
        </p:spPr>
        <p:txBody>
          <a:bodyPr rtlCol="0" anchor="ctr"/>
          <a:lstStyle/>
          <a:p>
            <a:pPr algn="ctr"/>
          </a:p>
        </p:txBody>
      </p:sp>
      <p:sp>
        <p:nvSpPr>
          <p:cNvPr id="71" name="Rectangle 70"/>
          <p:cNvSpPr/>
          <p:nvPr/>
        </p:nvSpPr>
        <p:spPr>
          <a:xfrm>
            <a:off x="10006330" y="2921000"/>
            <a:ext cx="609600" cy="38100"/>
          </a:xfrm>
          <a:prstGeom prst="rect">
            <a:avLst/>
          </a:prstGeom>
          <a:solidFill>
            <a:srgbClr val="889096"/>
          </a:solidFill>
          <a:ln>
            <a:noFill/>
          </a:ln>
          <a:effectLst/>
        </p:spPr>
        <p:txBody>
          <a:bodyPr rtlCol="0" anchor="ctr"/>
          <a:lstStyle/>
          <a:p>
            <a:pPr algn="ctr"/>
          </a:p>
        </p:txBody>
      </p:sp>
      <p:sp>
        <p:nvSpPr>
          <p:cNvPr id="72" name="Rectangle 71"/>
          <p:cNvSpPr/>
          <p:nvPr/>
        </p:nvSpPr>
        <p:spPr>
          <a:xfrm>
            <a:off x="10006330" y="3022600"/>
            <a:ext cx="609600" cy="38100"/>
          </a:xfrm>
          <a:prstGeom prst="rect">
            <a:avLst/>
          </a:prstGeom>
          <a:solidFill>
            <a:srgbClr val="889096"/>
          </a:solidFill>
          <a:ln>
            <a:noFill/>
          </a:ln>
          <a:effectLst/>
        </p:spPr>
        <p:txBody>
          <a:bodyPr rtlCol="0" anchor="ctr"/>
          <a:lstStyle/>
          <a:p>
            <a:pPr algn="ctr"/>
          </a:p>
        </p:txBody>
      </p:sp>
      <p:sp>
        <p:nvSpPr>
          <p:cNvPr id="73" name="Rectangle 72"/>
          <p:cNvSpPr/>
          <p:nvPr/>
        </p:nvSpPr>
        <p:spPr>
          <a:xfrm>
            <a:off x="10793730" y="2540000"/>
            <a:ext cx="508000" cy="50800"/>
          </a:xfrm>
          <a:prstGeom prst="rect">
            <a:avLst/>
          </a:prstGeom>
          <a:solidFill>
            <a:srgbClr val="11181C"/>
          </a:solidFill>
          <a:ln>
            <a:noFill/>
          </a:ln>
          <a:effectLst/>
        </p:spPr>
        <p:txBody>
          <a:bodyPr rtlCol="0" anchor="ctr"/>
          <a:lstStyle/>
          <a:p>
            <a:pPr algn="ctr"/>
          </a:p>
        </p:txBody>
      </p:sp>
      <p:sp>
        <p:nvSpPr>
          <p:cNvPr id="74" name="Oval 73"/>
          <p:cNvSpPr/>
          <p:nvPr/>
        </p:nvSpPr>
        <p:spPr>
          <a:xfrm>
            <a:off x="10793730" y="2654300"/>
            <a:ext cx="50800" cy="50800"/>
          </a:xfrm>
          <a:prstGeom prst="ellipse">
            <a:avLst/>
          </a:prstGeom>
          <a:solidFill>
            <a:srgbClr val="22C96A"/>
          </a:solidFill>
          <a:ln>
            <a:noFill/>
          </a:ln>
          <a:effectLst/>
        </p:spPr>
        <p:txBody>
          <a:bodyPr rtlCol="0" anchor="ctr"/>
          <a:lstStyle/>
          <a:p>
            <a:pPr algn="ctr"/>
          </a:p>
        </p:txBody>
      </p:sp>
      <p:sp>
        <p:nvSpPr>
          <p:cNvPr id="75" name="Rectangle 74"/>
          <p:cNvSpPr/>
          <p:nvPr/>
        </p:nvSpPr>
        <p:spPr>
          <a:xfrm>
            <a:off x="10793730" y="2819400"/>
            <a:ext cx="609600" cy="38100"/>
          </a:xfrm>
          <a:prstGeom prst="rect">
            <a:avLst/>
          </a:prstGeom>
          <a:solidFill>
            <a:srgbClr val="889096"/>
          </a:solidFill>
          <a:ln>
            <a:noFill/>
          </a:ln>
          <a:effectLst/>
        </p:spPr>
        <p:txBody>
          <a:bodyPr rtlCol="0" anchor="ctr"/>
          <a:lstStyle/>
          <a:p>
            <a:pPr algn="ctr"/>
          </a:p>
        </p:txBody>
      </p:sp>
      <p:sp>
        <p:nvSpPr>
          <p:cNvPr id="76" name="Rectangle 75"/>
          <p:cNvSpPr/>
          <p:nvPr/>
        </p:nvSpPr>
        <p:spPr>
          <a:xfrm>
            <a:off x="10793730" y="2921000"/>
            <a:ext cx="609600" cy="38100"/>
          </a:xfrm>
          <a:prstGeom prst="rect">
            <a:avLst/>
          </a:prstGeom>
          <a:solidFill>
            <a:srgbClr val="889096"/>
          </a:solidFill>
          <a:ln>
            <a:noFill/>
          </a:ln>
          <a:effectLst/>
        </p:spPr>
        <p:txBody>
          <a:bodyPr rtlCol="0" anchor="ctr"/>
          <a:lstStyle/>
          <a:p>
            <a:pPr algn="ctr"/>
          </a:p>
        </p:txBody>
      </p:sp>
      <p:sp>
        <p:nvSpPr>
          <p:cNvPr id="77" name="Rectangle 76"/>
          <p:cNvSpPr/>
          <p:nvPr/>
        </p:nvSpPr>
        <p:spPr>
          <a:xfrm>
            <a:off x="10793730" y="3022600"/>
            <a:ext cx="609600" cy="38100"/>
          </a:xfrm>
          <a:prstGeom prst="rect">
            <a:avLst/>
          </a:prstGeom>
          <a:solidFill>
            <a:srgbClr val="889096"/>
          </a:solidFill>
          <a:ln>
            <a:noFill/>
          </a:ln>
          <a:effectLst/>
        </p:spPr>
        <p:txBody>
          <a:bodyPr rtlCol="0" anchor="ctr"/>
          <a:lstStyle/>
          <a:p>
            <a:pPr algn="ctr"/>
          </a:p>
        </p:txBody>
      </p:sp>
      <p:sp>
        <p:nvSpPr>
          <p:cNvPr id="78" name="TextBox 77"/>
          <p:cNvSpPr txBox="1"/>
          <p:nvPr/>
        </p:nvSpPr>
        <p:spPr>
          <a:xfrm>
            <a:off x="9041130" y="3435350"/>
            <a:ext cx="2540000" cy="203200"/>
          </a:xfrm>
          <a:prstGeom prst="rect">
            <a:avLst/>
          </a:prstGeom>
          <a:noFill/>
        </p:spPr>
        <p:txBody>
          <a:bodyPr wrap="square" lIns="0" rIns="0" tIns="0" bIns="0" anchor="t">
            <a:spAutoFit/>
          </a:bodyPr>
          <a:lstStyle/>
          <a:p>
            <a:pPr algn="l"/>
            <a:r>
              <a:rPr sz="1100" b="0" i="0">
                <a:solidFill>
                  <a:srgbClr val="11181C"/>
                </a:solidFill>
                <a:latin typeface="Georgia"/>
              </a:rPr>
              <a:t>Section intro · why</a:t>
            </a:r>
          </a:p>
        </p:txBody>
      </p:sp>
      <p:sp>
        <p:nvSpPr>
          <p:cNvPr id="79" name="TextBox 78"/>
          <p:cNvSpPr txBox="1"/>
          <p:nvPr/>
        </p:nvSpPr>
        <p:spPr>
          <a:xfrm>
            <a:off x="9041130" y="3663950"/>
            <a:ext cx="2540000" cy="3302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Centred kicker + headline, why columns</a:t>
            </a:r>
          </a:p>
        </p:txBody>
      </p:sp>
      <p:sp>
        <p:nvSpPr>
          <p:cNvPr id="80" name="Rectangle 79"/>
          <p:cNvSpPr/>
          <p:nvPr/>
        </p:nvSpPr>
        <p:spPr>
          <a:xfrm>
            <a:off x="609600" y="4165600"/>
            <a:ext cx="2540000" cy="1428750"/>
          </a:xfrm>
          <a:prstGeom prst="rect">
            <a:avLst/>
          </a:prstGeom>
          <a:solidFill>
            <a:srgbClr val="FFFFFF"/>
          </a:solidFill>
          <a:ln w="9525">
            <a:solidFill>
              <a:srgbClr val="E0E3E6"/>
            </a:solidFill>
          </a:ln>
          <a:effectLst/>
        </p:spPr>
        <p:txBody>
          <a:bodyPr rtlCol="0" anchor="ctr"/>
          <a:lstStyle/>
          <a:p>
            <a:pPr algn="ctr"/>
          </a:p>
        </p:txBody>
      </p:sp>
      <p:sp>
        <p:nvSpPr>
          <p:cNvPr id="81" name="Rectangle 80"/>
          <p:cNvSpPr/>
          <p:nvPr/>
        </p:nvSpPr>
        <p:spPr>
          <a:xfrm>
            <a:off x="711200" y="4254500"/>
            <a:ext cx="203200" cy="63500"/>
          </a:xfrm>
          <a:prstGeom prst="rect">
            <a:avLst/>
          </a:prstGeom>
          <a:solidFill>
            <a:srgbClr val="E55200"/>
          </a:solidFill>
          <a:ln>
            <a:noFill/>
          </a:ln>
          <a:effectLst/>
        </p:spPr>
        <p:txBody>
          <a:bodyPr rtlCol="0" anchor="ctr"/>
          <a:lstStyle/>
          <a:p>
            <a:pPr algn="ctr"/>
          </a:p>
        </p:txBody>
      </p:sp>
      <p:cxnSp>
        <p:nvCxnSpPr>
          <p:cNvPr id="82" name="Connector 81"/>
          <p:cNvCxnSpPr/>
          <p:nvPr/>
        </p:nvCxnSpPr>
        <p:spPr>
          <a:xfrm>
            <a:off x="711200" y="4356100"/>
            <a:ext cx="2336800" cy="0"/>
          </a:xfrm>
          <a:prstGeom prst="line">
            <a:avLst/>
          </a:prstGeom>
          <a:ln w="5080">
            <a:solidFill>
              <a:srgbClr val="E6E8EB"/>
            </a:solidFill>
          </a:ln>
        </p:spPr>
      </p:cxnSp>
      <p:sp>
        <p:nvSpPr>
          <p:cNvPr id="83" name="Rectangle 82"/>
          <p:cNvSpPr/>
          <p:nvPr/>
        </p:nvSpPr>
        <p:spPr>
          <a:xfrm>
            <a:off x="736600" y="4445000"/>
            <a:ext cx="1143000" cy="76200"/>
          </a:xfrm>
          <a:prstGeom prst="rect">
            <a:avLst/>
          </a:prstGeom>
          <a:solidFill>
            <a:srgbClr val="11181C"/>
          </a:solidFill>
          <a:ln>
            <a:noFill/>
          </a:ln>
          <a:effectLst/>
        </p:spPr>
        <p:txBody>
          <a:bodyPr rtlCol="0" anchor="ctr"/>
          <a:lstStyle/>
          <a:p>
            <a:pPr algn="ctr"/>
          </a:p>
        </p:txBody>
      </p:sp>
      <p:sp>
        <p:nvSpPr>
          <p:cNvPr id="84" name="Rounded Rectangle 83"/>
          <p:cNvSpPr/>
          <p:nvPr/>
        </p:nvSpPr>
        <p:spPr>
          <a:xfrm>
            <a:off x="736600" y="4622800"/>
            <a:ext cx="711200" cy="381000"/>
          </a:xfrm>
          <a:prstGeom prst="roundRect">
            <a:avLst>
              <a:gd name="adj" fmla="val 10000"/>
            </a:avLst>
          </a:prstGeom>
          <a:solidFill>
            <a:srgbClr val="C1C8CD"/>
          </a:solidFill>
          <a:ln>
            <a:noFill/>
          </a:ln>
          <a:effectLst/>
        </p:spPr>
        <p:txBody>
          <a:bodyPr rtlCol="0" anchor="ctr"/>
          <a:lstStyle/>
          <a:p>
            <a:pPr algn="ctr"/>
          </a:p>
        </p:txBody>
      </p:sp>
      <p:sp>
        <p:nvSpPr>
          <p:cNvPr id="85" name="Rectangle 84"/>
          <p:cNvSpPr/>
          <p:nvPr/>
        </p:nvSpPr>
        <p:spPr>
          <a:xfrm>
            <a:off x="736600" y="5054600"/>
            <a:ext cx="381000" cy="38100"/>
          </a:xfrm>
          <a:prstGeom prst="rect">
            <a:avLst/>
          </a:prstGeom>
          <a:solidFill>
            <a:srgbClr val="4D555C"/>
          </a:solidFill>
          <a:ln>
            <a:noFill/>
          </a:ln>
          <a:effectLst/>
        </p:spPr>
        <p:txBody>
          <a:bodyPr rtlCol="0" anchor="ctr"/>
          <a:lstStyle/>
          <a:p>
            <a:pPr algn="ctr"/>
          </a:p>
        </p:txBody>
      </p:sp>
      <p:sp>
        <p:nvSpPr>
          <p:cNvPr id="86" name="Rectangle 85"/>
          <p:cNvSpPr/>
          <p:nvPr/>
        </p:nvSpPr>
        <p:spPr>
          <a:xfrm>
            <a:off x="736600" y="5130800"/>
            <a:ext cx="635000" cy="50800"/>
          </a:xfrm>
          <a:prstGeom prst="rect">
            <a:avLst/>
          </a:prstGeom>
          <a:solidFill>
            <a:srgbClr val="11181C"/>
          </a:solidFill>
          <a:ln>
            <a:noFill/>
          </a:ln>
          <a:effectLst/>
        </p:spPr>
        <p:txBody>
          <a:bodyPr rtlCol="0" anchor="ctr"/>
          <a:lstStyle/>
          <a:p>
            <a:pPr algn="ctr"/>
          </a:p>
        </p:txBody>
      </p:sp>
      <p:sp>
        <p:nvSpPr>
          <p:cNvPr id="87" name="Rounded Rectangle 86"/>
          <p:cNvSpPr/>
          <p:nvPr/>
        </p:nvSpPr>
        <p:spPr>
          <a:xfrm>
            <a:off x="1524000" y="4622800"/>
            <a:ext cx="711200" cy="381000"/>
          </a:xfrm>
          <a:prstGeom prst="roundRect">
            <a:avLst>
              <a:gd name="adj" fmla="val 10000"/>
            </a:avLst>
          </a:prstGeom>
          <a:solidFill>
            <a:srgbClr val="C1C8CD"/>
          </a:solidFill>
          <a:ln>
            <a:noFill/>
          </a:ln>
          <a:effectLst/>
        </p:spPr>
        <p:txBody>
          <a:bodyPr rtlCol="0" anchor="ctr"/>
          <a:lstStyle/>
          <a:p>
            <a:pPr algn="ctr"/>
          </a:p>
        </p:txBody>
      </p:sp>
      <p:sp>
        <p:nvSpPr>
          <p:cNvPr id="88" name="Rectangle 87"/>
          <p:cNvSpPr/>
          <p:nvPr/>
        </p:nvSpPr>
        <p:spPr>
          <a:xfrm>
            <a:off x="1524000" y="5054600"/>
            <a:ext cx="381000" cy="38100"/>
          </a:xfrm>
          <a:prstGeom prst="rect">
            <a:avLst/>
          </a:prstGeom>
          <a:solidFill>
            <a:srgbClr val="4D555C"/>
          </a:solidFill>
          <a:ln>
            <a:noFill/>
          </a:ln>
          <a:effectLst/>
        </p:spPr>
        <p:txBody>
          <a:bodyPr rtlCol="0" anchor="ctr"/>
          <a:lstStyle/>
          <a:p>
            <a:pPr algn="ctr"/>
          </a:p>
        </p:txBody>
      </p:sp>
      <p:sp>
        <p:nvSpPr>
          <p:cNvPr id="89" name="Rectangle 88"/>
          <p:cNvSpPr/>
          <p:nvPr/>
        </p:nvSpPr>
        <p:spPr>
          <a:xfrm>
            <a:off x="1524000" y="5130800"/>
            <a:ext cx="635000" cy="50800"/>
          </a:xfrm>
          <a:prstGeom prst="rect">
            <a:avLst/>
          </a:prstGeom>
          <a:solidFill>
            <a:srgbClr val="11181C"/>
          </a:solidFill>
          <a:ln>
            <a:noFill/>
          </a:ln>
          <a:effectLst/>
        </p:spPr>
        <p:txBody>
          <a:bodyPr rtlCol="0" anchor="ctr"/>
          <a:lstStyle/>
          <a:p>
            <a:pPr algn="ctr"/>
          </a:p>
        </p:txBody>
      </p:sp>
      <p:sp>
        <p:nvSpPr>
          <p:cNvPr id="90" name="Rounded Rectangle 89"/>
          <p:cNvSpPr/>
          <p:nvPr/>
        </p:nvSpPr>
        <p:spPr>
          <a:xfrm>
            <a:off x="2311400" y="4622800"/>
            <a:ext cx="711200" cy="381000"/>
          </a:xfrm>
          <a:prstGeom prst="roundRect">
            <a:avLst>
              <a:gd name="adj" fmla="val 10000"/>
            </a:avLst>
          </a:prstGeom>
          <a:solidFill>
            <a:srgbClr val="C1C8CD"/>
          </a:solidFill>
          <a:ln>
            <a:noFill/>
          </a:ln>
          <a:effectLst/>
        </p:spPr>
        <p:txBody>
          <a:bodyPr rtlCol="0" anchor="ctr"/>
          <a:lstStyle/>
          <a:p>
            <a:pPr algn="ctr"/>
          </a:p>
        </p:txBody>
      </p:sp>
      <p:sp>
        <p:nvSpPr>
          <p:cNvPr id="91" name="Rectangle 90"/>
          <p:cNvSpPr/>
          <p:nvPr/>
        </p:nvSpPr>
        <p:spPr>
          <a:xfrm>
            <a:off x="2311400" y="5054600"/>
            <a:ext cx="381000" cy="38100"/>
          </a:xfrm>
          <a:prstGeom prst="rect">
            <a:avLst/>
          </a:prstGeom>
          <a:solidFill>
            <a:srgbClr val="4D555C"/>
          </a:solidFill>
          <a:ln>
            <a:noFill/>
          </a:ln>
          <a:effectLst/>
        </p:spPr>
        <p:txBody>
          <a:bodyPr rtlCol="0" anchor="ctr"/>
          <a:lstStyle/>
          <a:p>
            <a:pPr algn="ctr"/>
          </a:p>
        </p:txBody>
      </p:sp>
      <p:sp>
        <p:nvSpPr>
          <p:cNvPr id="92" name="Rectangle 91"/>
          <p:cNvSpPr/>
          <p:nvPr/>
        </p:nvSpPr>
        <p:spPr>
          <a:xfrm>
            <a:off x="2311400" y="5130800"/>
            <a:ext cx="635000" cy="50800"/>
          </a:xfrm>
          <a:prstGeom prst="rect">
            <a:avLst/>
          </a:prstGeom>
          <a:solidFill>
            <a:srgbClr val="11181C"/>
          </a:solidFill>
          <a:ln>
            <a:noFill/>
          </a:ln>
          <a:effectLst/>
        </p:spPr>
        <p:txBody>
          <a:bodyPr rtlCol="0" anchor="ctr"/>
          <a:lstStyle/>
          <a:p>
            <a:pPr algn="ctr"/>
          </a:p>
        </p:txBody>
      </p:sp>
      <p:sp>
        <p:nvSpPr>
          <p:cNvPr id="93" name="TextBox 92"/>
          <p:cNvSpPr txBox="1"/>
          <p:nvPr/>
        </p:nvSpPr>
        <p:spPr>
          <a:xfrm>
            <a:off x="609600" y="5695950"/>
            <a:ext cx="2540000" cy="203200"/>
          </a:xfrm>
          <a:prstGeom prst="rect">
            <a:avLst/>
          </a:prstGeom>
          <a:noFill/>
        </p:spPr>
        <p:txBody>
          <a:bodyPr wrap="square" lIns="0" rIns="0" tIns="0" bIns="0" anchor="t">
            <a:spAutoFit/>
          </a:bodyPr>
          <a:lstStyle/>
          <a:p>
            <a:pPr algn="l"/>
            <a:r>
              <a:rPr sz="1100" b="0" i="0">
                <a:solidFill>
                  <a:srgbClr val="11181C"/>
                </a:solidFill>
                <a:latin typeface="Georgia"/>
              </a:rPr>
              <a:t>Insights · cards</a:t>
            </a:r>
          </a:p>
        </p:txBody>
      </p:sp>
      <p:sp>
        <p:nvSpPr>
          <p:cNvPr id="94" name="TextBox 93"/>
          <p:cNvSpPr txBox="1"/>
          <p:nvPr/>
        </p:nvSpPr>
        <p:spPr>
          <a:xfrm>
            <a:off x="609600" y="5924550"/>
            <a:ext cx="2540000" cy="3302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Three cards: photo, meta, serif title</a:t>
            </a:r>
          </a:p>
        </p:txBody>
      </p:sp>
      <p:sp>
        <p:nvSpPr>
          <p:cNvPr id="95" name="Rectangle 94"/>
          <p:cNvSpPr/>
          <p:nvPr/>
        </p:nvSpPr>
        <p:spPr>
          <a:xfrm>
            <a:off x="3420110" y="4165600"/>
            <a:ext cx="2540000" cy="1428750"/>
          </a:xfrm>
          <a:prstGeom prst="rect">
            <a:avLst/>
          </a:prstGeom>
          <a:solidFill>
            <a:srgbClr val="FFFFFF"/>
          </a:solidFill>
          <a:ln w="9525">
            <a:solidFill>
              <a:srgbClr val="E0E3E6"/>
            </a:solidFill>
          </a:ln>
          <a:effectLst/>
        </p:spPr>
        <p:txBody>
          <a:bodyPr rtlCol="0" anchor="ctr"/>
          <a:lstStyle/>
          <a:p>
            <a:pPr algn="ctr"/>
          </a:p>
        </p:txBody>
      </p:sp>
      <p:sp>
        <p:nvSpPr>
          <p:cNvPr id="96" name="Rectangle 95"/>
          <p:cNvSpPr/>
          <p:nvPr/>
        </p:nvSpPr>
        <p:spPr>
          <a:xfrm>
            <a:off x="3521710" y="4254500"/>
            <a:ext cx="203200" cy="63500"/>
          </a:xfrm>
          <a:prstGeom prst="rect">
            <a:avLst/>
          </a:prstGeom>
          <a:solidFill>
            <a:srgbClr val="E55200"/>
          </a:solidFill>
          <a:ln>
            <a:noFill/>
          </a:ln>
          <a:effectLst/>
        </p:spPr>
        <p:txBody>
          <a:bodyPr rtlCol="0" anchor="ctr"/>
          <a:lstStyle/>
          <a:p>
            <a:pPr algn="ctr"/>
          </a:p>
        </p:txBody>
      </p:sp>
      <p:cxnSp>
        <p:nvCxnSpPr>
          <p:cNvPr id="97" name="Connector 96"/>
          <p:cNvCxnSpPr/>
          <p:nvPr/>
        </p:nvCxnSpPr>
        <p:spPr>
          <a:xfrm>
            <a:off x="3521710" y="4356100"/>
            <a:ext cx="2336800" cy="0"/>
          </a:xfrm>
          <a:prstGeom prst="line">
            <a:avLst/>
          </a:prstGeom>
          <a:ln w="5080">
            <a:solidFill>
              <a:srgbClr val="E6E8EB"/>
            </a:solidFill>
          </a:ln>
        </p:spPr>
      </p:cxnSp>
      <p:sp>
        <p:nvSpPr>
          <p:cNvPr id="98" name="Rectangle 97"/>
          <p:cNvSpPr/>
          <p:nvPr/>
        </p:nvSpPr>
        <p:spPr>
          <a:xfrm>
            <a:off x="3547110" y="4445000"/>
            <a:ext cx="1143000" cy="76200"/>
          </a:xfrm>
          <a:prstGeom prst="rect">
            <a:avLst/>
          </a:prstGeom>
          <a:solidFill>
            <a:srgbClr val="11181C"/>
          </a:solidFill>
          <a:ln>
            <a:noFill/>
          </a:ln>
          <a:effectLst/>
        </p:spPr>
        <p:txBody>
          <a:bodyPr rtlCol="0" anchor="ctr"/>
          <a:lstStyle/>
          <a:p>
            <a:pPr algn="ctr"/>
          </a:p>
        </p:txBody>
      </p:sp>
      <p:sp>
        <p:nvSpPr>
          <p:cNvPr id="99" name="Rectangle 98"/>
          <p:cNvSpPr/>
          <p:nvPr/>
        </p:nvSpPr>
        <p:spPr>
          <a:xfrm>
            <a:off x="3597910" y="5054600"/>
            <a:ext cx="177800" cy="381000"/>
          </a:xfrm>
          <a:prstGeom prst="rect">
            <a:avLst/>
          </a:prstGeom>
          <a:solidFill>
            <a:srgbClr val="C1C8CD"/>
          </a:solidFill>
          <a:ln>
            <a:noFill/>
          </a:ln>
          <a:effectLst/>
        </p:spPr>
        <p:txBody>
          <a:bodyPr rtlCol="0" anchor="ctr"/>
          <a:lstStyle/>
          <a:p>
            <a:pPr algn="ctr"/>
          </a:p>
        </p:txBody>
      </p:sp>
      <p:sp>
        <p:nvSpPr>
          <p:cNvPr id="100" name="Rectangle 99"/>
          <p:cNvSpPr/>
          <p:nvPr/>
        </p:nvSpPr>
        <p:spPr>
          <a:xfrm>
            <a:off x="3877310" y="5156200"/>
            <a:ext cx="177800" cy="279400"/>
          </a:xfrm>
          <a:prstGeom prst="rect">
            <a:avLst/>
          </a:prstGeom>
          <a:solidFill>
            <a:srgbClr val="C1C8CD"/>
          </a:solidFill>
          <a:ln>
            <a:noFill/>
          </a:ln>
          <a:effectLst/>
        </p:spPr>
        <p:txBody>
          <a:bodyPr rtlCol="0" anchor="ctr"/>
          <a:lstStyle/>
          <a:p>
            <a:pPr algn="ctr"/>
          </a:p>
        </p:txBody>
      </p:sp>
      <p:sp>
        <p:nvSpPr>
          <p:cNvPr id="101" name="Rectangle 100"/>
          <p:cNvSpPr/>
          <p:nvPr/>
        </p:nvSpPr>
        <p:spPr>
          <a:xfrm>
            <a:off x="4156710" y="4927600"/>
            <a:ext cx="177800" cy="508000"/>
          </a:xfrm>
          <a:prstGeom prst="rect">
            <a:avLst/>
          </a:prstGeom>
          <a:solidFill>
            <a:srgbClr val="22C96A"/>
          </a:solidFill>
          <a:ln>
            <a:noFill/>
          </a:ln>
          <a:effectLst/>
        </p:spPr>
        <p:txBody>
          <a:bodyPr rtlCol="0" anchor="ctr"/>
          <a:lstStyle/>
          <a:p>
            <a:pPr algn="ctr"/>
          </a:p>
        </p:txBody>
      </p:sp>
      <p:sp>
        <p:nvSpPr>
          <p:cNvPr id="102" name="Rectangle 101"/>
          <p:cNvSpPr/>
          <p:nvPr/>
        </p:nvSpPr>
        <p:spPr>
          <a:xfrm>
            <a:off x="4436110" y="5257800"/>
            <a:ext cx="177800" cy="177800"/>
          </a:xfrm>
          <a:prstGeom prst="rect">
            <a:avLst/>
          </a:prstGeom>
          <a:solidFill>
            <a:srgbClr val="C1C8CD"/>
          </a:solidFill>
          <a:ln>
            <a:noFill/>
          </a:ln>
          <a:effectLst/>
        </p:spPr>
        <p:txBody>
          <a:bodyPr rtlCol="0" anchor="ctr"/>
          <a:lstStyle/>
          <a:p>
            <a:pPr algn="ctr"/>
          </a:p>
        </p:txBody>
      </p:sp>
      <p:sp>
        <p:nvSpPr>
          <p:cNvPr id="103" name="Rectangle 102"/>
          <p:cNvSpPr/>
          <p:nvPr/>
        </p:nvSpPr>
        <p:spPr>
          <a:xfrm>
            <a:off x="4842510" y="4673600"/>
            <a:ext cx="990600" cy="38100"/>
          </a:xfrm>
          <a:prstGeom prst="rect">
            <a:avLst/>
          </a:prstGeom>
          <a:solidFill>
            <a:srgbClr val="4D555C"/>
          </a:solidFill>
          <a:ln>
            <a:noFill/>
          </a:ln>
          <a:effectLst/>
        </p:spPr>
        <p:txBody>
          <a:bodyPr rtlCol="0" anchor="ctr"/>
          <a:lstStyle/>
          <a:p>
            <a:pPr algn="ctr"/>
          </a:p>
        </p:txBody>
      </p:sp>
      <p:cxnSp>
        <p:nvCxnSpPr>
          <p:cNvPr id="104" name="Connector 103"/>
          <p:cNvCxnSpPr/>
          <p:nvPr/>
        </p:nvCxnSpPr>
        <p:spPr>
          <a:xfrm>
            <a:off x="4842510" y="4762500"/>
            <a:ext cx="990600" cy="0"/>
          </a:xfrm>
          <a:prstGeom prst="line">
            <a:avLst/>
          </a:prstGeom>
          <a:ln w="5080">
            <a:solidFill>
              <a:srgbClr val="E6E8EB"/>
            </a:solidFill>
          </a:ln>
        </p:spPr>
      </p:cxnSp>
      <p:sp>
        <p:nvSpPr>
          <p:cNvPr id="105" name="Rectangle 104"/>
          <p:cNvSpPr/>
          <p:nvPr/>
        </p:nvSpPr>
        <p:spPr>
          <a:xfrm>
            <a:off x="4842510" y="4851400"/>
            <a:ext cx="990600" cy="38100"/>
          </a:xfrm>
          <a:prstGeom prst="rect">
            <a:avLst/>
          </a:prstGeom>
          <a:solidFill>
            <a:srgbClr val="4D555C"/>
          </a:solidFill>
          <a:ln>
            <a:noFill/>
          </a:ln>
          <a:effectLst/>
        </p:spPr>
        <p:txBody>
          <a:bodyPr rtlCol="0" anchor="ctr"/>
          <a:lstStyle/>
          <a:p>
            <a:pPr algn="ctr"/>
          </a:p>
        </p:txBody>
      </p:sp>
      <p:cxnSp>
        <p:nvCxnSpPr>
          <p:cNvPr id="106" name="Connector 105"/>
          <p:cNvCxnSpPr/>
          <p:nvPr/>
        </p:nvCxnSpPr>
        <p:spPr>
          <a:xfrm>
            <a:off x="4842510" y="4940300"/>
            <a:ext cx="990600" cy="0"/>
          </a:xfrm>
          <a:prstGeom prst="line">
            <a:avLst/>
          </a:prstGeom>
          <a:ln w="5080">
            <a:solidFill>
              <a:srgbClr val="E6E8EB"/>
            </a:solidFill>
          </a:ln>
        </p:spPr>
      </p:cxnSp>
      <p:sp>
        <p:nvSpPr>
          <p:cNvPr id="107" name="Rectangle 106"/>
          <p:cNvSpPr/>
          <p:nvPr/>
        </p:nvSpPr>
        <p:spPr>
          <a:xfrm>
            <a:off x="4842510" y="5029200"/>
            <a:ext cx="990600" cy="38100"/>
          </a:xfrm>
          <a:prstGeom prst="rect">
            <a:avLst/>
          </a:prstGeom>
          <a:solidFill>
            <a:srgbClr val="4D555C"/>
          </a:solidFill>
          <a:ln>
            <a:noFill/>
          </a:ln>
          <a:effectLst/>
        </p:spPr>
        <p:txBody>
          <a:bodyPr rtlCol="0" anchor="ctr"/>
          <a:lstStyle/>
          <a:p>
            <a:pPr algn="ctr"/>
          </a:p>
        </p:txBody>
      </p:sp>
      <p:cxnSp>
        <p:nvCxnSpPr>
          <p:cNvPr id="108" name="Connector 107"/>
          <p:cNvCxnSpPr/>
          <p:nvPr/>
        </p:nvCxnSpPr>
        <p:spPr>
          <a:xfrm>
            <a:off x="4842510" y="5118100"/>
            <a:ext cx="990600" cy="0"/>
          </a:xfrm>
          <a:prstGeom prst="line">
            <a:avLst/>
          </a:prstGeom>
          <a:ln w="5080">
            <a:solidFill>
              <a:srgbClr val="E6E8EB"/>
            </a:solidFill>
          </a:ln>
        </p:spPr>
      </p:cxnSp>
      <p:sp>
        <p:nvSpPr>
          <p:cNvPr id="109" name="Rectangle 108"/>
          <p:cNvSpPr/>
          <p:nvPr/>
        </p:nvSpPr>
        <p:spPr>
          <a:xfrm>
            <a:off x="4842510" y="5207000"/>
            <a:ext cx="990600" cy="38100"/>
          </a:xfrm>
          <a:prstGeom prst="rect">
            <a:avLst/>
          </a:prstGeom>
          <a:solidFill>
            <a:srgbClr val="4D555C"/>
          </a:solidFill>
          <a:ln>
            <a:noFill/>
          </a:ln>
          <a:effectLst/>
        </p:spPr>
        <p:txBody>
          <a:bodyPr rtlCol="0" anchor="ctr"/>
          <a:lstStyle/>
          <a:p>
            <a:pPr algn="ctr"/>
          </a:p>
        </p:txBody>
      </p:sp>
      <p:cxnSp>
        <p:nvCxnSpPr>
          <p:cNvPr id="110" name="Connector 109"/>
          <p:cNvCxnSpPr/>
          <p:nvPr/>
        </p:nvCxnSpPr>
        <p:spPr>
          <a:xfrm>
            <a:off x="4842510" y="5295900"/>
            <a:ext cx="990600" cy="0"/>
          </a:xfrm>
          <a:prstGeom prst="line">
            <a:avLst/>
          </a:prstGeom>
          <a:ln w="5080">
            <a:solidFill>
              <a:srgbClr val="E6E8EB"/>
            </a:solidFill>
          </a:ln>
        </p:spPr>
      </p:cxnSp>
      <p:sp>
        <p:nvSpPr>
          <p:cNvPr id="111" name="TextBox 110"/>
          <p:cNvSpPr txBox="1"/>
          <p:nvPr/>
        </p:nvSpPr>
        <p:spPr>
          <a:xfrm>
            <a:off x="3420110" y="5695950"/>
            <a:ext cx="2540000" cy="203200"/>
          </a:xfrm>
          <a:prstGeom prst="rect">
            <a:avLst/>
          </a:prstGeom>
          <a:noFill/>
        </p:spPr>
        <p:txBody>
          <a:bodyPr wrap="square" lIns="0" rIns="0" tIns="0" bIns="0" anchor="t">
            <a:spAutoFit/>
          </a:bodyPr>
          <a:lstStyle/>
          <a:p>
            <a:pPr algn="l"/>
            <a:r>
              <a:rPr sz="1100" b="0" i="0">
                <a:solidFill>
                  <a:srgbClr val="11181C"/>
                </a:solidFill>
                <a:latin typeface="Georgia"/>
              </a:rPr>
              <a:t>Data · chart + table</a:t>
            </a:r>
          </a:p>
        </p:txBody>
      </p:sp>
      <p:sp>
        <p:nvSpPr>
          <p:cNvPr id="112" name="TextBox 111"/>
          <p:cNvSpPr txBox="1"/>
          <p:nvPr/>
        </p:nvSpPr>
        <p:spPr>
          <a:xfrm>
            <a:off x="3420110" y="5924550"/>
            <a:ext cx="2540000" cy="3302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Chart left, ticker-style rows right</a:t>
            </a:r>
          </a:p>
        </p:txBody>
      </p:sp>
      <p:sp>
        <p:nvSpPr>
          <p:cNvPr id="113" name="Rectangle 112"/>
          <p:cNvSpPr/>
          <p:nvPr/>
        </p:nvSpPr>
        <p:spPr>
          <a:xfrm>
            <a:off x="6230620" y="4165600"/>
            <a:ext cx="2540000" cy="1428750"/>
          </a:xfrm>
          <a:prstGeom prst="rect">
            <a:avLst/>
          </a:prstGeom>
          <a:solidFill>
            <a:srgbClr val="FFFFFF"/>
          </a:solidFill>
          <a:ln w="9525">
            <a:solidFill>
              <a:srgbClr val="E0E3E6"/>
            </a:solidFill>
          </a:ln>
          <a:effectLst/>
        </p:spPr>
        <p:txBody>
          <a:bodyPr rtlCol="0" anchor="ctr"/>
          <a:lstStyle/>
          <a:p>
            <a:pPr algn="ctr"/>
          </a:p>
        </p:txBody>
      </p:sp>
      <p:sp>
        <p:nvSpPr>
          <p:cNvPr id="114" name="Rectangle 113"/>
          <p:cNvSpPr/>
          <p:nvPr/>
        </p:nvSpPr>
        <p:spPr>
          <a:xfrm>
            <a:off x="6332220" y="4254500"/>
            <a:ext cx="203200" cy="63500"/>
          </a:xfrm>
          <a:prstGeom prst="rect">
            <a:avLst/>
          </a:prstGeom>
          <a:solidFill>
            <a:srgbClr val="E55200"/>
          </a:solidFill>
          <a:ln>
            <a:noFill/>
          </a:ln>
          <a:effectLst/>
        </p:spPr>
        <p:txBody>
          <a:bodyPr rtlCol="0" anchor="ctr"/>
          <a:lstStyle/>
          <a:p>
            <a:pPr algn="ctr"/>
          </a:p>
        </p:txBody>
      </p:sp>
      <p:cxnSp>
        <p:nvCxnSpPr>
          <p:cNvPr id="115" name="Connector 114"/>
          <p:cNvCxnSpPr/>
          <p:nvPr/>
        </p:nvCxnSpPr>
        <p:spPr>
          <a:xfrm>
            <a:off x="6332220" y="4356100"/>
            <a:ext cx="2336800" cy="0"/>
          </a:xfrm>
          <a:prstGeom prst="line">
            <a:avLst/>
          </a:prstGeom>
          <a:ln w="5080">
            <a:solidFill>
              <a:srgbClr val="E6E8EB"/>
            </a:solidFill>
          </a:ln>
        </p:spPr>
      </p:cxnSp>
      <p:sp>
        <p:nvSpPr>
          <p:cNvPr id="116" name="Rectangle 115"/>
          <p:cNvSpPr/>
          <p:nvPr/>
        </p:nvSpPr>
        <p:spPr>
          <a:xfrm>
            <a:off x="6357620" y="4445000"/>
            <a:ext cx="1143000" cy="76200"/>
          </a:xfrm>
          <a:prstGeom prst="rect">
            <a:avLst/>
          </a:prstGeom>
          <a:solidFill>
            <a:srgbClr val="11181C"/>
          </a:solidFill>
          <a:ln>
            <a:noFill/>
          </a:ln>
          <a:effectLst/>
        </p:spPr>
        <p:txBody>
          <a:bodyPr rtlCol="0" anchor="ctr"/>
          <a:lstStyle/>
          <a:p>
            <a:pPr algn="ctr"/>
          </a:p>
        </p:txBody>
      </p:sp>
      <p:sp>
        <p:nvSpPr>
          <p:cNvPr id="117" name="Rectangle 116"/>
          <p:cNvSpPr/>
          <p:nvPr/>
        </p:nvSpPr>
        <p:spPr>
          <a:xfrm>
            <a:off x="6357620" y="4622800"/>
            <a:ext cx="381000" cy="50800"/>
          </a:xfrm>
          <a:prstGeom prst="rect">
            <a:avLst/>
          </a:prstGeom>
          <a:solidFill>
            <a:srgbClr val="11181C"/>
          </a:solidFill>
          <a:ln>
            <a:noFill/>
          </a:ln>
          <a:effectLst/>
        </p:spPr>
        <p:txBody>
          <a:bodyPr rtlCol="0" anchor="ctr"/>
          <a:lstStyle/>
          <a:p>
            <a:pPr algn="ctr"/>
          </a:p>
        </p:txBody>
      </p:sp>
      <p:sp>
        <p:nvSpPr>
          <p:cNvPr id="118" name="Rectangle 117"/>
          <p:cNvSpPr/>
          <p:nvPr/>
        </p:nvSpPr>
        <p:spPr>
          <a:xfrm>
            <a:off x="6865620" y="4622800"/>
            <a:ext cx="889000" cy="50800"/>
          </a:xfrm>
          <a:prstGeom prst="rect">
            <a:avLst/>
          </a:prstGeom>
          <a:solidFill>
            <a:srgbClr val="889096"/>
          </a:solidFill>
          <a:ln>
            <a:noFill/>
          </a:ln>
          <a:effectLst/>
        </p:spPr>
        <p:txBody>
          <a:bodyPr rtlCol="0" anchor="ctr"/>
          <a:lstStyle/>
          <a:p>
            <a:pPr algn="ctr"/>
          </a:p>
        </p:txBody>
      </p:sp>
      <p:sp>
        <p:nvSpPr>
          <p:cNvPr id="119" name="Rectangle 118"/>
          <p:cNvSpPr/>
          <p:nvPr/>
        </p:nvSpPr>
        <p:spPr>
          <a:xfrm>
            <a:off x="8338820" y="4622800"/>
            <a:ext cx="304800" cy="50800"/>
          </a:xfrm>
          <a:prstGeom prst="rect">
            <a:avLst/>
          </a:prstGeom>
          <a:solidFill>
            <a:srgbClr val="076932"/>
          </a:solidFill>
          <a:ln>
            <a:noFill/>
          </a:ln>
          <a:effectLst/>
        </p:spPr>
        <p:txBody>
          <a:bodyPr rtlCol="0" anchor="ctr"/>
          <a:lstStyle/>
          <a:p>
            <a:pPr algn="ctr"/>
          </a:p>
        </p:txBody>
      </p:sp>
      <p:cxnSp>
        <p:nvCxnSpPr>
          <p:cNvPr id="120" name="Connector 119"/>
          <p:cNvCxnSpPr/>
          <p:nvPr/>
        </p:nvCxnSpPr>
        <p:spPr>
          <a:xfrm>
            <a:off x="6357620" y="4724400"/>
            <a:ext cx="2286000" cy="0"/>
          </a:xfrm>
          <a:prstGeom prst="line">
            <a:avLst/>
          </a:prstGeom>
          <a:ln w="5080">
            <a:solidFill>
              <a:srgbClr val="E6E8EB"/>
            </a:solidFill>
          </a:ln>
        </p:spPr>
      </p:cxnSp>
      <p:sp>
        <p:nvSpPr>
          <p:cNvPr id="121" name="Rectangle 120"/>
          <p:cNvSpPr/>
          <p:nvPr/>
        </p:nvSpPr>
        <p:spPr>
          <a:xfrm>
            <a:off x="6357620" y="4787900"/>
            <a:ext cx="381000" cy="50800"/>
          </a:xfrm>
          <a:prstGeom prst="rect">
            <a:avLst/>
          </a:prstGeom>
          <a:solidFill>
            <a:srgbClr val="11181C"/>
          </a:solidFill>
          <a:ln>
            <a:noFill/>
          </a:ln>
          <a:effectLst/>
        </p:spPr>
        <p:txBody>
          <a:bodyPr rtlCol="0" anchor="ctr"/>
          <a:lstStyle/>
          <a:p>
            <a:pPr algn="ctr"/>
          </a:p>
        </p:txBody>
      </p:sp>
      <p:sp>
        <p:nvSpPr>
          <p:cNvPr id="122" name="Rectangle 121"/>
          <p:cNvSpPr/>
          <p:nvPr/>
        </p:nvSpPr>
        <p:spPr>
          <a:xfrm>
            <a:off x="6865620" y="4787900"/>
            <a:ext cx="889000" cy="50800"/>
          </a:xfrm>
          <a:prstGeom prst="rect">
            <a:avLst/>
          </a:prstGeom>
          <a:solidFill>
            <a:srgbClr val="889096"/>
          </a:solidFill>
          <a:ln>
            <a:noFill/>
          </a:ln>
          <a:effectLst/>
        </p:spPr>
        <p:txBody>
          <a:bodyPr rtlCol="0" anchor="ctr"/>
          <a:lstStyle/>
          <a:p>
            <a:pPr algn="ctr"/>
          </a:p>
        </p:txBody>
      </p:sp>
      <p:sp>
        <p:nvSpPr>
          <p:cNvPr id="123" name="Rectangle 122"/>
          <p:cNvSpPr/>
          <p:nvPr/>
        </p:nvSpPr>
        <p:spPr>
          <a:xfrm>
            <a:off x="8338820" y="4787900"/>
            <a:ext cx="304800" cy="50800"/>
          </a:xfrm>
          <a:prstGeom prst="rect">
            <a:avLst/>
          </a:prstGeom>
          <a:solidFill>
            <a:srgbClr val="076932"/>
          </a:solidFill>
          <a:ln>
            <a:noFill/>
          </a:ln>
          <a:effectLst/>
        </p:spPr>
        <p:txBody>
          <a:bodyPr rtlCol="0" anchor="ctr"/>
          <a:lstStyle/>
          <a:p>
            <a:pPr algn="ctr"/>
          </a:p>
        </p:txBody>
      </p:sp>
      <p:cxnSp>
        <p:nvCxnSpPr>
          <p:cNvPr id="124" name="Connector 123"/>
          <p:cNvCxnSpPr/>
          <p:nvPr/>
        </p:nvCxnSpPr>
        <p:spPr>
          <a:xfrm>
            <a:off x="6357620" y="4889500"/>
            <a:ext cx="2286000" cy="0"/>
          </a:xfrm>
          <a:prstGeom prst="line">
            <a:avLst/>
          </a:prstGeom>
          <a:ln w="5080">
            <a:solidFill>
              <a:srgbClr val="E6E8EB"/>
            </a:solidFill>
          </a:ln>
        </p:spPr>
      </p:cxnSp>
      <p:sp>
        <p:nvSpPr>
          <p:cNvPr id="125" name="Rectangle 124"/>
          <p:cNvSpPr/>
          <p:nvPr/>
        </p:nvSpPr>
        <p:spPr>
          <a:xfrm>
            <a:off x="6357620" y="4953000"/>
            <a:ext cx="381000" cy="50800"/>
          </a:xfrm>
          <a:prstGeom prst="rect">
            <a:avLst/>
          </a:prstGeom>
          <a:solidFill>
            <a:srgbClr val="11181C"/>
          </a:solidFill>
          <a:ln>
            <a:noFill/>
          </a:ln>
          <a:effectLst/>
        </p:spPr>
        <p:txBody>
          <a:bodyPr rtlCol="0" anchor="ctr"/>
          <a:lstStyle/>
          <a:p>
            <a:pPr algn="ctr"/>
          </a:p>
        </p:txBody>
      </p:sp>
      <p:sp>
        <p:nvSpPr>
          <p:cNvPr id="126" name="Rectangle 125"/>
          <p:cNvSpPr/>
          <p:nvPr/>
        </p:nvSpPr>
        <p:spPr>
          <a:xfrm>
            <a:off x="6865620" y="4953000"/>
            <a:ext cx="889000" cy="50800"/>
          </a:xfrm>
          <a:prstGeom prst="rect">
            <a:avLst/>
          </a:prstGeom>
          <a:solidFill>
            <a:srgbClr val="889096"/>
          </a:solidFill>
          <a:ln>
            <a:noFill/>
          </a:ln>
          <a:effectLst/>
        </p:spPr>
        <p:txBody>
          <a:bodyPr rtlCol="0" anchor="ctr"/>
          <a:lstStyle/>
          <a:p>
            <a:pPr algn="ctr"/>
          </a:p>
        </p:txBody>
      </p:sp>
      <p:sp>
        <p:nvSpPr>
          <p:cNvPr id="127" name="Rectangle 126"/>
          <p:cNvSpPr/>
          <p:nvPr/>
        </p:nvSpPr>
        <p:spPr>
          <a:xfrm>
            <a:off x="8338820" y="4953000"/>
            <a:ext cx="304800" cy="50800"/>
          </a:xfrm>
          <a:prstGeom prst="rect">
            <a:avLst/>
          </a:prstGeom>
          <a:solidFill>
            <a:srgbClr val="076932"/>
          </a:solidFill>
          <a:ln>
            <a:noFill/>
          </a:ln>
          <a:effectLst/>
        </p:spPr>
        <p:txBody>
          <a:bodyPr rtlCol="0" anchor="ctr"/>
          <a:lstStyle/>
          <a:p>
            <a:pPr algn="ctr"/>
          </a:p>
        </p:txBody>
      </p:sp>
      <p:cxnSp>
        <p:nvCxnSpPr>
          <p:cNvPr id="128" name="Connector 127"/>
          <p:cNvCxnSpPr/>
          <p:nvPr/>
        </p:nvCxnSpPr>
        <p:spPr>
          <a:xfrm>
            <a:off x="6357620" y="5054600"/>
            <a:ext cx="2286000" cy="0"/>
          </a:xfrm>
          <a:prstGeom prst="line">
            <a:avLst/>
          </a:prstGeom>
          <a:ln w="5080">
            <a:solidFill>
              <a:srgbClr val="E6E8EB"/>
            </a:solidFill>
          </a:ln>
        </p:spPr>
      </p:cxnSp>
      <p:sp>
        <p:nvSpPr>
          <p:cNvPr id="129" name="Rectangle 128"/>
          <p:cNvSpPr/>
          <p:nvPr/>
        </p:nvSpPr>
        <p:spPr>
          <a:xfrm>
            <a:off x="6357620" y="5118100"/>
            <a:ext cx="381000" cy="50800"/>
          </a:xfrm>
          <a:prstGeom prst="rect">
            <a:avLst/>
          </a:prstGeom>
          <a:solidFill>
            <a:srgbClr val="11181C"/>
          </a:solidFill>
          <a:ln>
            <a:noFill/>
          </a:ln>
          <a:effectLst/>
        </p:spPr>
        <p:txBody>
          <a:bodyPr rtlCol="0" anchor="ctr"/>
          <a:lstStyle/>
          <a:p>
            <a:pPr algn="ctr"/>
          </a:p>
        </p:txBody>
      </p:sp>
      <p:sp>
        <p:nvSpPr>
          <p:cNvPr id="130" name="Rectangle 129"/>
          <p:cNvSpPr/>
          <p:nvPr/>
        </p:nvSpPr>
        <p:spPr>
          <a:xfrm>
            <a:off x="6865620" y="5118100"/>
            <a:ext cx="889000" cy="50800"/>
          </a:xfrm>
          <a:prstGeom prst="rect">
            <a:avLst/>
          </a:prstGeom>
          <a:solidFill>
            <a:srgbClr val="889096"/>
          </a:solidFill>
          <a:ln>
            <a:noFill/>
          </a:ln>
          <a:effectLst/>
        </p:spPr>
        <p:txBody>
          <a:bodyPr rtlCol="0" anchor="ctr"/>
          <a:lstStyle/>
          <a:p>
            <a:pPr algn="ctr"/>
          </a:p>
        </p:txBody>
      </p:sp>
      <p:sp>
        <p:nvSpPr>
          <p:cNvPr id="131" name="Rectangle 130"/>
          <p:cNvSpPr/>
          <p:nvPr/>
        </p:nvSpPr>
        <p:spPr>
          <a:xfrm>
            <a:off x="8338820" y="5118100"/>
            <a:ext cx="304800" cy="50800"/>
          </a:xfrm>
          <a:prstGeom prst="rect">
            <a:avLst/>
          </a:prstGeom>
          <a:solidFill>
            <a:srgbClr val="076932"/>
          </a:solidFill>
          <a:ln>
            <a:noFill/>
          </a:ln>
          <a:effectLst/>
        </p:spPr>
        <p:txBody>
          <a:bodyPr rtlCol="0" anchor="ctr"/>
          <a:lstStyle/>
          <a:p>
            <a:pPr algn="ctr"/>
          </a:p>
        </p:txBody>
      </p:sp>
      <p:cxnSp>
        <p:nvCxnSpPr>
          <p:cNvPr id="132" name="Connector 131"/>
          <p:cNvCxnSpPr/>
          <p:nvPr/>
        </p:nvCxnSpPr>
        <p:spPr>
          <a:xfrm>
            <a:off x="6357620" y="5219700"/>
            <a:ext cx="2286000" cy="0"/>
          </a:xfrm>
          <a:prstGeom prst="line">
            <a:avLst/>
          </a:prstGeom>
          <a:ln w="5080">
            <a:solidFill>
              <a:srgbClr val="E6E8EB"/>
            </a:solidFill>
          </a:ln>
        </p:spPr>
      </p:cxnSp>
      <p:sp>
        <p:nvSpPr>
          <p:cNvPr id="133" name="Rectangle 132"/>
          <p:cNvSpPr/>
          <p:nvPr/>
        </p:nvSpPr>
        <p:spPr>
          <a:xfrm>
            <a:off x="6357620" y="5283200"/>
            <a:ext cx="381000" cy="50800"/>
          </a:xfrm>
          <a:prstGeom prst="rect">
            <a:avLst/>
          </a:prstGeom>
          <a:solidFill>
            <a:srgbClr val="11181C"/>
          </a:solidFill>
          <a:ln>
            <a:noFill/>
          </a:ln>
          <a:effectLst/>
        </p:spPr>
        <p:txBody>
          <a:bodyPr rtlCol="0" anchor="ctr"/>
          <a:lstStyle/>
          <a:p>
            <a:pPr algn="ctr"/>
          </a:p>
        </p:txBody>
      </p:sp>
      <p:sp>
        <p:nvSpPr>
          <p:cNvPr id="134" name="Rectangle 133"/>
          <p:cNvSpPr/>
          <p:nvPr/>
        </p:nvSpPr>
        <p:spPr>
          <a:xfrm>
            <a:off x="6865620" y="5283200"/>
            <a:ext cx="889000" cy="50800"/>
          </a:xfrm>
          <a:prstGeom prst="rect">
            <a:avLst/>
          </a:prstGeom>
          <a:solidFill>
            <a:srgbClr val="889096"/>
          </a:solidFill>
          <a:ln>
            <a:noFill/>
          </a:ln>
          <a:effectLst/>
        </p:spPr>
        <p:txBody>
          <a:bodyPr rtlCol="0" anchor="ctr"/>
          <a:lstStyle/>
          <a:p>
            <a:pPr algn="ctr"/>
          </a:p>
        </p:txBody>
      </p:sp>
      <p:sp>
        <p:nvSpPr>
          <p:cNvPr id="135" name="Rectangle 134"/>
          <p:cNvSpPr/>
          <p:nvPr/>
        </p:nvSpPr>
        <p:spPr>
          <a:xfrm>
            <a:off x="8338820" y="5283200"/>
            <a:ext cx="304800" cy="50800"/>
          </a:xfrm>
          <a:prstGeom prst="rect">
            <a:avLst/>
          </a:prstGeom>
          <a:solidFill>
            <a:srgbClr val="076932"/>
          </a:solidFill>
          <a:ln>
            <a:noFill/>
          </a:ln>
          <a:effectLst/>
        </p:spPr>
        <p:txBody>
          <a:bodyPr rtlCol="0" anchor="ctr"/>
          <a:lstStyle/>
          <a:p>
            <a:pPr algn="ctr"/>
          </a:p>
        </p:txBody>
      </p:sp>
      <p:cxnSp>
        <p:nvCxnSpPr>
          <p:cNvPr id="136" name="Connector 135"/>
          <p:cNvCxnSpPr/>
          <p:nvPr/>
        </p:nvCxnSpPr>
        <p:spPr>
          <a:xfrm>
            <a:off x="6357620" y="5384800"/>
            <a:ext cx="2286000" cy="0"/>
          </a:xfrm>
          <a:prstGeom prst="line">
            <a:avLst/>
          </a:prstGeom>
          <a:ln w="5080">
            <a:solidFill>
              <a:srgbClr val="E6E8EB"/>
            </a:solidFill>
          </a:ln>
        </p:spPr>
      </p:cxnSp>
      <p:sp>
        <p:nvSpPr>
          <p:cNvPr id="137" name="TextBox 136"/>
          <p:cNvSpPr txBox="1"/>
          <p:nvPr/>
        </p:nvSpPr>
        <p:spPr>
          <a:xfrm>
            <a:off x="6230620" y="5695950"/>
            <a:ext cx="2540000" cy="203200"/>
          </a:xfrm>
          <a:prstGeom prst="rect">
            <a:avLst/>
          </a:prstGeom>
          <a:noFill/>
        </p:spPr>
        <p:txBody>
          <a:bodyPr wrap="square" lIns="0" rIns="0" tIns="0" bIns="0" anchor="t">
            <a:spAutoFit/>
          </a:bodyPr>
          <a:lstStyle/>
          <a:p>
            <a:pPr algn="l"/>
            <a:r>
              <a:rPr sz="1100" b="0" i="0">
                <a:solidFill>
                  <a:srgbClr val="11181C"/>
                </a:solidFill>
                <a:latin typeface="Georgia"/>
              </a:rPr>
              <a:t>Product list</a:t>
            </a:r>
          </a:p>
        </p:txBody>
      </p:sp>
      <p:sp>
        <p:nvSpPr>
          <p:cNvPr id="138" name="TextBox 137"/>
          <p:cNvSpPr txBox="1"/>
          <p:nvPr/>
        </p:nvSpPr>
        <p:spPr>
          <a:xfrm>
            <a:off x="6230620" y="5924550"/>
            <a:ext cx="2540000" cy="3302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Ticker rows: code, name, class, value</a:t>
            </a:r>
          </a:p>
        </p:txBody>
      </p:sp>
      <p:sp>
        <p:nvSpPr>
          <p:cNvPr id="139" name="Rectangle 138"/>
          <p:cNvSpPr/>
          <p:nvPr/>
        </p:nvSpPr>
        <p:spPr>
          <a:xfrm>
            <a:off x="9041130" y="4165600"/>
            <a:ext cx="2540000" cy="1428750"/>
          </a:xfrm>
          <a:prstGeom prst="rect">
            <a:avLst/>
          </a:prstGeom>
          <a:gradFill rotWithShape="1">
            <a:gsLst>
              <a:gs pos="0">
                <a:srgbClr val="11181C"/>
              </a:gs>
              <a:gs pos="100000">
                <a:srgbClr val="23343C"/>
              </a:gs>
            </a:gsLst>
            <a:lin scaled="0" ang="18900000"/>
          </a:gradFill>
          <a:ln w="9525">
            <a:solidFill>
              <a:srgbClr val="E0E3E6"/>
            </a:solidFill>
          </a:ln>
          <a:effectLst/>
        </p:spPr>
        <p:txBody>
          <a:bodyPr rtlCol="0" anchor="ctr"/>
          <a:lstStyle/>
          <a:p>
            <a:pPr algn="ctr"/>
          </a:p>
        </p:txBody>
      </p:sp>
      <p:sp>
        <p:nvSpPr>
          <p:cNvPr id="140" name="Rectangle 139"/>
          <p:cNvSpPr/>
          <p:nvPr/>
        </p:nvSpPr>
        <p:spPr>
          <a:xfrm>
            <a:off x="9142730" y="4254500"/>
            <a:ext cx="203200" cy="63500"/>
          </a:xfrm>
          <a:prstGeom prst="rect">
            <a:avLst/>
          </a:prstGeom>
          <a:solidFill>
            <a:srgbClr val="E55200"/>
          </a:solidFill>
          <a:ln>
            <a:noFill/>
          </a:ln>
          <a:effectLst/>
        </p:spPr>
        <p:txBody>
          <a:bodyPr rtlCol="0" anchor="ctr"/>
          <a:lstStyle/>
          <a:p>
            <a:pPr algn="ctr"/>
          </a:p>
        </p:txBody>
      </p:sp>
      <p:cxnSp>
        <p:nvCxnSpPr>
          <p:cNvPr id="141" name="Connector 140"/>
          <p:cNvCxnSpPr/>
          <p:nvPr/>
        </p:nvCxnSpPr>
        <p:spPr>
          <a:xfrm>
            <a:off x="9142730" y="4356100"/>
            <a:ext cx="2336800" cy="0"/>
          </a:xfrm>
          <a:prstGeom prst="line">
            <a:avLst/>
          </a:prstGeom>
          <a:ln w="5080">
            <a:solidFill>
              <a:srgbClr val="252D31"/>
            </a:solidFill>
          </a:ln>
        </p:spPr>
      </p:cxnSp>
      <p:sp>
        <p:nvSpPr>
          <p:cNvPr id="142" name="Rectangle 141"/>
          <p:cNvSpPr/>
          <p:nvPr/>
        </p:nvSpPr>
        <p:spPr>
          <a:xfrm>
            <a:off x="9549130" y="4673600"/>
            <a:ext cx="1524000" cy="101600"/>
          </a:xfrm>
          <a:prstGeom prst="rect">
            <a:avLst/>
          </a:prstGeom>
          <a:solidFill>
            <a:srgbClr val="FCFCFD"/>
          </a:solidFill>
          <a:ln>
            <a:noFill/>
          </a:ln>
          <a:effectLst/>
        </p:spPr>
        <p:txBody>
          <a:bodyPr rtlCol="0" anchor="ctr"/>
          <a:lstStyle/>
          <a:p>
            <a:pPr algn="ctr"/>
          </a:p>
        </p:txBody>
      </p:sp>
      <p:sp>
        <p:nvSpPr>
          <p:cNvPr id="143" name="Rectangle 142"/>
          <p:cNvSpPr/>
          <p:nvPr/>
        </p:nvSpPr>
        <p:spPr>
          <a:xfrm>
            <a:off x="9803130" y="4826000"/>
            <a:ext cx="1016000" cy="38100"/>
          </a:xfrm>
          <a:prstGeom prst="rect">
            <a:avLst/>
          </a:prstGeom>
          <a:solidFill>
            <a:srgbClr val="889096"/>
          </a:solidFill>
          <a:ln>
            <a:noFill/>
          </a:ln>
          <a:effectLst/>
        </p:spPr>
        <p:txBody>
          <a:bodyPr rtlCol="0" anchor="ctr"/>
          <a:lstStyle/>
          <a:p>
            <a:pPr algn="ctr"/>
          </a:p>
        </p:txBody>
      </p:sp>
      <p:sp>
        <p:nvSpPr>
          <p:cNvPr id="144" name="Rounded Rectangle 143"/>
          <p:cNvSpPr/>
          <p:nvPr/>
        </p:nvSpPr>
        <p:spPr>
          <a:xfrm>
            <a:off x="9828530" y="5003800"/>
            <a:ext cx="457200" cy="114300"/>
          </a:xfrm>
          <a:prstGeom prst="roundRect">
            <a:avLst>
              <a:gd name="adj" fmla="val 22222"/>
            </a:avLst>
          </a:prstGeom>
          <a:solidFill>
            <a:srgbClr val="22C96A"/>
          </a:solidFill>
          <a:ln>
            <a:noFill/>
          </a:ln>
          <a:effectLst/>
        </p:spPr>
        <p:txBody>
          <a:bodyPr rtlCol="0" anchor="ctr"/>
          <a:lstStyle/>
          <a:p>
            <a:pPr algn="ctr"/>
          </a:p>
        </p:txBody>
      </p:sp>
      <p:sp>
        <p:nvSpPr>
          <p:cNvPr id="145" name="Rounded Rectangle 144"/>
          <p:cNvSpPr/>
          <p:nvPr/>
        </p:nvSpPr>
        <p:spPr>
          <a:xfrm>
            <a:off x="10336530" y="5003800"/>
            <a:ext cx="457200" cy="114300"/>
          </a:xfrm>
          <a:prstGeom prst="roundRect">
            <a:avLst>
              <a:gd name="adj" fmla="val 22222"/>
            </a:avLst>
          </a:prstGeom>
          <a:noFill/>
          <a:ln w="6350">
            <a:solidFill>
              <a:srgbClr val="22C96A"/>
            </a:solidFill>
          </a:ln>
          <a:effectLst/>
        </p:spPr>
        <p:txBody>
          <a:bodyPr rtlCol="0" anchor="ctr"/>
          <a:lstStyle/>
          <a:p>
            <a:pPr algn="ctr"/>
          </a:p>
        </p:txBody>
      </p:sp>
      <p:sp>
        <p:nvSpPr>
          <p:cNvPr id="146" name="TextBox 145"/>
          <p:cNvSpPr txBox="1"/>
          <p:nvPr/>
        </p:nvSpPr>
        <p:spPr>
          <a:xfrm>
            <a:off x="9041130" y="5695950"/>
            <a:ext cx="2540000" cy="203200"/>
          </a:xfrm>
          <a:prstGeom prst="rect">
            <a:avLst/>
          </a:prstGeom>
          <a:noFill/>
        </p:spPr>
        <p:txBody>
          <a:bodyPr wrap="square" lIns="0" rIns="0" tIns="0" bIns="0" anchor="t">
            <a:spAutoFit/>
          </a:bodyPr>
          <a:lstStyle/>
          <a:p>
            <a:pPr algn="l"/>
            <a:r>
              <a:rPr sz="1100" b="0" i="0">
                <a:solidFill>
                  <a:srgbClr val="11181C"/>
                </a:solidFill>
                <a:latin typeface="Georgia"/>
              </a:rPr>
              <a:t>Closing · CTA</a:t>
            </a:r>
          </a:p>
        </p:txBody>
      </p:sp>
      <p:sp>
        <p:nvSpPr>
          <p:cNvPr id="147" name="TextBox 146"/>
          <p:cNvSpPr txBox="1"/>
          <p:nvPr/>
        </p:nvSpPr>
        <p:spPr>
          <a:xfrm>
            <a:off x="9041130" y="5924550"/>
            <a:ext cx="2540000" cy="330200"/>
          </a:xfrm>
          <a:prstGeom prst="rect">
            <a:avLst/>
          </a:prstGeom>
          <a:noFill/>
        </p:spPr>
        <p:txBody>
          <a:bodyPr wrap="square" lIns="0" rIns="0" tIns="0" bIns="0" anchor="t">
            <a:spAutoFit/>
          </a:bodyPr>
          <a:lstStyle/>
          <a:p>
            <a:pPr algn="l">
              <a:lnSpc>
                <a:spcPct val="130000"/>
              </a:lnSpc>
            </a:pPr>
            <a:r>
              <a:rPr sz="850" b="0" i="0">
                <a:solidFill>
                  <a:srgbClr val="4D555C"/>
                </a:solidFill>
                <a:latin typeface="Arial"/>
              </a:rPr>
              <a:t>Dark band, the one decision, buttons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1181C"/>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FCFCFD"/>
                </a:solidFill>
                <a:latin typeface="Arial"/>
              </a:rPr>
              <a:t>NEDP 6-MONTH REVIEW</a:t>
            </a:r>
            <a:r>
              <a:rPr sz="700" b="1" i="0" spc="60">
                <a:solidFill>
                  <a:srgbClr val="697177"/>
                </a:solidFill>
                <a:latin typeface="Arial"/>
              </a:rPr>
              <a:t>     ·     </a:t>
            </a:r>
            <a:r>
              <a:rPr sz="700" b="1" i="0" spc="60">
                <a:solidFill>
                  <a:srgbClr val="697177"/>
                </a:solidFill>
                <a:latin typeface="Arial"/>
              </a:rPr>
              <a:t>LAYOUTS · DARK SECTION DIVIDER</a:t>
            </a:r>
          </a:p>
        </p:txBody>
      </p:sp>
      <p:cxnSp>
        <p:nvCxnSpPr>
          <p:cNvPr id="5" name="Connector 4"/>
          <p:cNvCxnSpPr/>
          <p:nvPr/>
        </p:nvCxnSpPr>
        <p:spPr>
          <a:xfrm>
            <a:off x="609600" y="635000"/>
            <a:ext cx="10972800" cy="0"/>
          </a:xfrm>
          <a:prstGeom prst="line">
            <a:avLst/>
          </a:prstGeom>
          <a:ln w="9525">
            <a:solidFill>
              <a:srgbClr val="252D31"/>
            </a:solidFill>
          </a:ln>
        </p:spPr>
      </p:cxnSp>
      <p:cxnSp>
        <p:nvCxnSpPr>
          <p:cNvPr id="6" name="Connector 5"/>
          <p:cNvCxnSpPr/>
          <p:nvPr/>
        </p:nvCxnSpPr>
        <p:spPr>
          <a:xfrm>
            <a:off x="609600" y="6502400"/>
            <a:ext cx="10972800" cy="0"/>
          </a:xfrm>
          <a:prstGeom prst="line">
            <a:avLst/>
          </a:prstGeom>
          <a:ln w="9525">
            <a:solidFill>
              <a:srgbClr val="252D31"/>
            </a:solidFill>
          </a:ln>
        </p:spPr>
      </p:cxnSp>
      <p:sp>
        <p:nvSpPr>
          <p:cNvPr id="7" name="TextBox 6"/>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8" name="TextBox 7"/>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FCFCFD"/>
                </a:solidFill>
                <a:latin typeface="Arial"/>
              </a:rPr>
              <a:t>20</a:t>
            </a:r>
          </a:p>
        </p:txBody>
      </p:sp>
      <p:sp>
        <p:nvSpPr>
          <p:cNvPr id="9" name="Rectangle 8"/>
          <p:cNvSpPr/>
          <p:nvPr/>
        </p:nvSpPr>
        <p:spPr>
          <a:xfrm>
            <a:off x="0" y="660400"/>
            <a:ext cx="12192000" cy="5816600"/>
          </a:xfrm>
          <a:prstGeom prst="rect">
            <a:avLst/>
          </a:prstGeom>
          <a:gradFill rotWithShape="1">
            <a:gsLst>
              <a:gs pos="0">
                <a:srgbClr val="11181C"/>
              </a:gs>
              <a:gs pos="100000">
                <a:srgbClr val="23343C"/>
              </a:gs>
            </a:gsLst>
            <a:lin scaled="0" ang="18900000"/>
          </a:gradFill>
          <a:ln>
            <a:noFill/>
          </a:ln>
          <a:effectLst/>
        </p:spPr>
        <p:txBody>
          <a:bodyPr rtlCol="0" anchor="ctr"/>
          <a:lstStyle/>
          <a:p>
            <a:pPr algn="ctr"/>
          </a:p>
        </p:txBody>
      </p:sp>
      <p:sp>
        <p:nvSpPr>
          <p:cNvPr id="10" name="TextBox 9"/>
          <p:cNvSpPr txBox="1"/>
          <p:nvPr/>
        </p:nvSpPr>
        <p:spPr>
          <a:xfrm>
            <a:off x="609600" y="1905000"/>
            <a:ext cx="5080000" cy="152400"/>
          </a:xfrm>
          <a:prstGeom prst="rect">
            <a:avLst/>
          </a:prstGeom>
          <a:noFill/>
        </p:spPr>
        <p:txBody>
          <a:bodyPr wrap="square" lIns="0" rIns="0" tIns="0" bIns="0" anchor="t">
            <a:spAutoFit/>
          </a:bodyPr>
          <a:lstStyle/>
          <a:p>
            <a:pPr algn="l"/>
            <a:r>
              <a:rPr sz="850" b="1" i="0" spc="150">
                <a:solidFill>
                  <a:srgbClr val="83E7AE"/>
                </a:solidFill>
                <a:latin typeface="Arial"/>
              </a:rPr>
              <a:t>SECTION 06 · F.LLI FERRARI CRANE STRATEGY</a:t>
            </a:r>
          </a:p>
        </p:txBody>
      </p:sp>
      <p:sp>
        <p:nvSpPr>
          <p:cNvPr id="11" name="TextBox 10"/>
          <p:cNvSpPr txBox="1"/>
          <p:nvPr/>
        </p:nvSpPr>
        <p:spPr>
          <a:xfrm>
            <a:off x="609600" y="2184400"/>
            <a:ext cx="5588000" cy="1524000"/>
          </a:xfrm>
          <a:prstGeom prst="rect">
            <a:avLst/>
          </a:prstGeom>
          <a:noFill/>
        </p:spPr>
        <p:txBody>
          <a:bodyPr wrap="square" lIns="0" rIns="0" tIns="0" bIns="0" anchor="t">
            <a:spAutoFit/>
          </a:bodyPr>
          <a:lstStyle/>
          <a:p>
            <a:pPr algn="l">
              <a:lnSpc>
                <a:spcPct val="105000"/>
              </a:lnSpc>
            </a:pPr>
            <a:r>
              <a:rPr sz="3200" b="0" i="0">
                <a:solidFill>
                  <a:srgbClr val="FFFFFF"/>
                </a:solidFill>
                <a:latin typeface="Georgia"/>
              </a:rPr>
              <a:t>Where the price </a:t>
            </a:r>
            <a:r>
              <a:rPr sz="3200" b="0" i="1">
                <a:solidFill>
                  <a:srgbClr val="FFFFFF"/>
                </a:solidFill>
                <a:latin typeface="Georgia"/>
              </a:rPr>
              <a:t>wins</a:t>
            </a:r>
            <a:r>
              <a:rPr sz="3200" b="0" i="0">
                <a:solidFill>
                  <a:srgbClr val="FFFFFF"/>
                </a:solidFill>
                <a:latin typeface="Georgia"/>
              </a:rPr>
              <a:t>, and where it does not.</a:t>
            </a:r>
          </a:p>
        </p:txBody>
      </p:sp>
      <p:sp>
        <p:nvSpPr>
          <p:cNvPr id="12" name="TextBox 11"/>
          <p:cNvSpPr txBox="1"/>
          <p:nvPr/>
        </p:nvSpPr>
        <p:spPr>
          <a:xfrm>
            <a:off x="609600" y="3810000"/>
            <a:ext cx="5080000" cy="635000"/>
          </a:xfrm>
          <a:prstGeom prst="rect">
            <a:avLst/>
          </a:prstGeom>
          <a:noFill/>
        </p:spPr>
        <p:txBody>
          <a:bodyPr wrap="square" lIns="0" rIns="0" tIns="0" bIns="0" anchor="t">
            <a:spAutoFit/>
          </a:bodyPr>
          <a:lstStyle/>
          <a:p>
            <a:pPr algn="l">
              <a:lnSpc>
                <a:spcPct val="140000"/>
              </a:lnSpc>
            </a:pPr>
            <a:r>
              <a:rPr sz="1050" b="0" i="0">
                <a:solidFill>
                  <a:srgbClr val="C1C8CD"/>
                </a:solidFill>
                <a:latin typeface="Arial"/>
              </a:rPr>
              <a:t>Market overview, price comparison by tm class, the F.lli Ferrari advantage and the appendix.</a:t>
            </a:r>
          </a:p>
        </p:txBody>
      </p:sp>
      <p:sp>
        <p:nvSpPr>
          <p:cNvPr id="13" name="TextBox 12"/>
          <p:cNvSpPr txBox="1"/>
          <p:nvPr/>
        </p:nvSpPr>
        <p:spPr>
          <a:xfrm>
            <a:off x="609600" y="4648200"/>
            <a:ext cx="3810000" cy="177800"/>
          </a:xfrm>
          <a:prstGeom prst="rect">
            <a:avLst/>
          </a:prstGeom>
          <a:noFill/>
        </p:spPr>
        <p:txBody>
          <a:bodyPr wrap="square" lIns="0" rIns="0" tIns="0" bIns="0" anchor="t">
            <a:spAutoFit/>
          </a:bodyPr>
          <a:lstStyle/>
          <a:p>
            <a:pPr algn="l"/>
            <a:r>
              <a:rPr sz="1000" b="0" i="0">
                <a:solidFill>
                  <a:srgbClr val="FFFFFF"/>
                </a:solidFill>
                <a:latin typeface="Arial"/>
              </a:rPr>
              <a:t>A  Market overview</a:t>
            </a:r>
          </a:p>
        </p:txBody>
      </p:sp>
      <p:cxnSp>
        <p:nvCxnSpPr>
          <p:cNvPr id="14" name="Connector 13"/>
          <p:cNvCxnSpPr/>
          <p:nvPr/>
        </p:nvCxnSpPr>
        <p:spPr>
          <a:xfrm>
            <a:off x="609600" y="4902200"/>
            <a:ext cx="3810000" cy="0"/>
          </a:xfrm>
          <a:prstGeom prst="line">
            <a:avLst/>
          </a:prstGeom>
          <a:ln w="9525">
            <a:solidFill>
              <a:srgbClr val="252D31"/>
            </a:solidFill>
          </a:ln>
        </p:spPr>
      </p:cxnSp>
      <p:sp>
        <p:nvSpPr>
          <p:cNvPr id="15" name="TextBox 14"/>
          <p:cNvSpPr txBox="1"/>
          <p:nvPr/>
        </p:nvSpPr>
        <p:spPr>
          <a:xfrm>
            <a:off x="609600" y="4978400"/>
            <a:ext cx="3810000" cy="177800"/>
          </a:xfrm>
          <a:prstGeom prst="rect">
            <a:avLst/>
          </a:prstGeom>
          <a:noFill/>
        </p:spPr>
        <p:txBody>
          <a:bodyPr wrap="square" lIns="0" rIns="0" tIns="0" bIns="0" anchor="t">
            <a:spAutoFit/>
          </a:bodyPr>
          <a:lstStyle/>
          <a:p>
            <a:pPr algn="l"/>
            <a:r>
              <a:rPr sz="1000" b="0" i="0">
                <a:solidFill>
                  <a:srgbClr val="F0F2F4"/>
                </a:solidFill>
                <a:latin typeface="Arial"/>
              </a:rPr>
              <a:t>B  Price comparison</a:t>
            </a:r>
          </a:p>
        </p:txBody>
      </p:sp>
      <p:cxnSp>
        <p:nvCxnSpPr>
          <p:cNvPr id="16" name="Connector 15"/>
          <p:cNvCxnSpPr/>
          <p:nvPr/>
        </p:nvCxnSpPr>
        <p:spPr>
          <a:xfrm>
            <a:off x="609600" y="5232400"/>
            <a:ext cx="3810000" cy="0"/>
          </a:xfrm>
          <a:prstGeom prst="line">
            <a:avLst/>
          </a:prstGeom>
          <a:ln w="9525">
            <a:solidFill>
              <a:srgbClr val="252D31"/>
            </a:solidFill>
          </a:ln>
        </p:spPr>
      </p:cxnSp>
      <p:sp>
        <p:nvSpPr>
          <p:cNvPr id="17" name="TextBox 16"/>
          <p:cNvSpPr txBox="1"/>
          <p:nvPr/>
        </p:nvSpPr>
        <p:spPr>
          <a:xfrm>
            <a:off x="609600" y="5308600"/>
            <a:ext cx="3810000" cy="177800"/>
          </a:xfrm>
          <a:prstGeom prst="rect">
            <a:avLst/>
          </a:prstGeom>
          <a:noFill/>
        </p:spPr>
        <p:txBody>
          <a:bodyPr wrap="square" lIns="0" rIns="0" tIns="0" bIns="0" anchor="t">
            <a:spAutoFit/>
          </a:bodyPr>
          <a:lstStyle/>
          <a:p>
            <a:pPr algn="l"/>
            <a:r>
              <a:rPr sz="1000" b="0" i="0">
                <a:solidFill>
                  <a:srgbClr val="F0F2F4"/>
                </a:solidFill>
                <a:latin typeface="Arial"/>
              </a:rPr>
              <a:t>C  F.lli Ferrari advantage</a:t>
            </a:r>
          </a:p>
        </p:txBody>
      </p:sp>
      <p:cxnSp>
        <p:nvCxnSpPr>
          <p:cNvPr id="18" name="Connector 17"/>
          <p:cNvCxnSpPr/>
          <p:nvPr/>
        </p:nvCxnSpPr>
        <p:spPr>
          <a:xfrm>
            <a:off x="609600" y="5562600"/>
            <a:ext cx="3810000" cy="0"/>
          </a:xfrm>
          <a:prstGeom prst="line">
            <a:avLst/>
          </a:prstGeom>
          <a:ln w="9525">
            <a:solidFill>
              <a:srgbClr val="252D31"/>
            </a:solidFill>
          </a:ln>
        </p:spPr>
      </p:cxnSp>
      <p:sp>
        <p:nvSpPr>
          <p:cNvPr id="19" name="TextBox 18"/>
          <p:cNvSpPr txBox="1"/>
          <p:nvPr/>
        </p:nvSpPr>
        <p:spPr>
          <a:xfrm>
            <a:off x="609600" y="5638800"/>
            <a:ext cx="3810000" cy="177800"/>
          </a:xfrm>
          <a:prstGeom prst="rect">
            <a:avLst/>
          </a:prstGeom>
          <a:noFill/>
        </p:spPr>
        <p:txBody>
          <a:bodyPr wrap="square" lIns="0" rIns="0" tIns="0" bIns="0" anchor="t">
            <a:spAutoFit/>
          </a:bodyPr>
          <a:lstStyle/>
          <a:p>
            <a:pPr algn="l"/>
            <a:r>
              <a:rPr sz="1000" b="0" i="0">
                <a:solidFill>
                  <a:srgbClr val="F0F2F4"/>
                </a:solidFill>
                <a:latin typeface="Arial"/>
              </a:rPr>
              <a:t>D  Appendix</a:t>
            </a:r>
          </a:p>
        </p:txBody>
      </p:sp>
      <p:cxnSp>
        <p:nvCxnSpPr>
          <p:cNvPr id="20" name="Connector 19"/>
          <p:cNvCxnSpPr/>
          <p:nvPr/>
        </p:nvCxnSpPr>
        <p:spPr>
          <a:xfrm>
            <a:off x="609600" y="5892800"/>
            <a:ext cx="3810000" cy="0"/>
          </a:xfrm>
          <a:prstGeom prst="line">
            <a:avLst/>
          </a:prstGeom>
          <a:ln w="9525">
            <a:solidFill>
              <a:srgbClr val="252D31"/>
            </a:solidFill>
          </a:ln>
        </p:spPr>
      </p:cxnSp>
      <p:pic>
        <p:nvPicPr>
          <p:cNvPr id="21" name="Picture 20" descr="image.jpg"/>
          <p:cNvPicPr>
            <a:picLocks noChangeAspect="1"/>
          </p:cNvPicPr>
          <p:nvPr/>
        </p:nvPicPr>
        <p:blipFill>
          <a:blip r:embed="rId3"/>
          <a:srcRect t="296" b="296"/>
          <a:stretch>
            <a:fillRect/>
          </a:stretch>
        </p:blipFill>
        <p:spPr>
          <a:xfrm>
            <a:off x="7112000" y="1778000"/>
            <a:ext cx="4470400" cy="4318000"/>
          </a:xfrm>
          <a:prstGeom prst="roundRect">
            <a:avLst>
              <a:gd name="adj" fmla="val 3529"/>
            </a:avLst>
          </a:prstGeom>
        </p:spPr>
      </p:pic>
      <p:sp>
        <p:nvSpPr>
          <p:cNvPr id="22" name="Rounded Rectangle 21"/>
          <p:cNvSpPr/>
          <p:nvPr/>
        </p:nvSpPr>
        <p:spPr>
          <a:xfrm>
            <a:off x="7493000" y="5334000"/>
            <a:ext cx="2540000" cy="508000"/>
          </a:xfrm>
          <a:prstGeom prst="roundRect">
            <a:avLst>
              <a:gd name="adj" fmla="val 15000"/>
            </a:avLst>
          </a:prstGeom>
          <a:solidFill>
            <a:srgbClr val="FFFFFF"/>
          </a:solidFill>
          <a:ln>
            <a:noFill/>
          </a:ln>
          <a:effectLst>
            <a:outerShdw blurRad="203200" dist="76200" dir="5400000" algn="t" rotWithShape="0">
              <a:srgbClr val="11181C">
                <a:alpha val="7000"/>
              </a:srgbClr>
            </a:outerShdw>
          </a:effectLst>
        </p:spPr>
        <p:txBody>
          <a:bodyPr rtlCol="0" anchor="ctr"/>
          <a:lstStyle/>
          <a:p>
            <a:pPr algn="ctr"/>
          </a:p>
        </p:txBody>
      </p:sp>
      <p:sp>
        <p:nvSpPr>
          <p:cNvPr id="23" name="TextBox 22"/>
          <p:cNvSpPr txBox="1"/>
          <p:nvPr/>
        </p:nvSpPr>
        <p:spPr>
          <a:xfrm>
            <a:off x="7670800" y="5410200"/>
            <a:ext cx="2286000" cy="355600"/>
          </a:xfrm>
          <a:prstGeom prst="rect">
            <a:avLst/>
          </a:prstGeom>
          <a:noFill/>
        </p:spPr>
        <p:txBody>
          <a:bodyPr wrap="square" lIns="0" rIns="0" tIns="0" bIns="0" anchor="ctr">
            <a:spAutoFit/>
          </a:bodyPr>
          <a:lstStyle/>
          <a:p>
            <a:pPr algn="l"/>
            <a:r>
              <a:rPr sz="850" b="1" i="0">
                <a:solidFill>
                  <a:srgbClr val="11181C"/>
                </a:solidFill>
                <a:latin typeface="Arial"/>
              </a:rPr>
              <a:t>5 cranes</a:t>
            </a:r>
            <a:r>
              <a:rPr sz="850" b="0" i="0">
                <a:solidFill>
                  <a:srgbClr val="11181C"/>
                </a:solidFill>
                <a:latin typeface="Arial"/>
              </a:rPr>
              <a:t>  cheaper head to head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SECTION 06 · PROJECT</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LAYOUTS · APPLIED EXAMPLE</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Five F.lli Ferrari cranes </a:t>
            </a:r>
            <a:r>
              <a:rPr sz="2400" b="0" i="1">
                <a:solidFill>
                  <a:srgbClr val="11181C"/>
                </a:solidFill>
                <a:latin typeface="Georgia"/>
              </a:rPr>
              <a:t>win</a:t>
            </a:r>
            <a:r>
              <a:rPr sz="2400" b="0" i="0">
                <a:solidFill>
                  <a:srgbClr val="11181C"/>
                </a:solidFill>
                <a:latin typeface="Georgia"/>
              </a:rPr>
              <a:t> on price.</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Same size or bigger, lower price than the market leaders in their tm class (Jan 2023 – 14 Aug 2026).</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21</a:t>
            </a:r>
          </a:p>
        </p:txBody>
      </p:sp>
      <p:sp>
        <p:nvSpPr>
          <p:cNvPr id="12" name="TextBox 11"/>
          <p:cNvSpPr txBox="1"/>
          <p:nvPr/>
        </p:nvSpPr>
        <p:spPr>
          <a:xfrm>
            <a:off x="609600" y="2057400"/>
            <a:ext cx="3429000" cy="431800"/>
          </a:xfrm>
          <a:prstGeom prst="rect">
            <a:avLst/>
          </a:prstGeom>
          <a:noFill/>
        </p:spPr>
        <p:txBody>
          <a:bodyPr wrap="square" lIns="0" rIns="0" tIns="0" bIns="0" anchor="t">
            <a:spAutoFit/>
          </a:bodyPr>
          <a:lstStyle/>
          <a:p>
            <a:pPr algn="l"/>
            <a:r>
              <a:rPr sz="2600" b="0" i="0">
                <a:solidFill>
                  <a:srgbClr val="11181C"/>
                </a:solidFill>
                <a:latin typeface="Georgia"/>
              </a:rPr>
              <a:t>5</a:t>
            </a:r>
          </a:p>
        </p:txBody>
      </p:sp>
      <p:sp>
        <p:nvSpPr>
          <p:cNvPr id="13" name="TextBox 12"/>
          <p:cNvSpPr txBox="1"/>
          <p:nvPr/>
        </p:nvSpPr>
        <p:spPr>
          <a:xfrm>
            <a:off x="609600" y="2514600"/>
            <a:ext cx="3302000" cy="177800"/>
          </a:xfrm>
          <a:prstGeom prst="rect">
            <a:avLst/>
          </a:prstGeom>
          <a:noFill/>
        </p:spPr>
        <p:txBody>
          <a:bodyPr wrap="square" lIns="0" rIns="0" tIns="0" bIns="0" anchor="t">
            <a:spAutoFit/>
          </a:bodyPr>
          <a:lstStyle/>
          <a:p>
            <a:pPr algn="l"/>
            <a:r>
              <a:rPr sz="900" b="0" i="0">
                <a:solidFill>
                  <a:srgbClr val="4D555C"/>
                </a:solidFill>
                <a:latin typeface="Arial"/>
              </a:rPr>
              <a:t>cranes cheaper head to head</a:t>
            </a:r>
          </a:p>
        </p:txBody>
      </p:sp>
      <p:cxnSp>
        <p:nvCxnSpPr>
          <p:cNvPr id="14" name="Connector 13"/>
          <p:cNvCxnSpPr/>
          <p:nvPr/>
        </p:nvCxnSpPr>
        <p:spPr>
          <a:xfrm>
            <a:off x="4114800" y="2108200"/>
            <a:ext cx="0" cy="609600"/>
          </a:xfrm>
          <a:prstGeom prst="line">
            <a:avLst/>
          </a:prstGeom>
          <a:ln w="9525">
            <a:solidFill>
              <a:srgbClr val="E6E8EB"/>
            </a:solidFill>
          </a:ln>
        </p:spPr>
      </p:cxnSp>
      <p:sp>
        <p:nvSpPr>
          <p:cNvPr id="15" name="TextBox 14"/>
          <p:cNvSpPr txBox="1"/>
          <p:nvPr/>
        </p:nvSpPr>
        <p:spPr>
          <a:xfrm>
            <a:off x="4292600" y="2057400"/>
            <a:ext cx="3429000" cy="431800"/>
          </a:xfrm>
          <a:prstGeom prst="rect">
            <a:avLst/>
          </a:prstGeom>
          <a:noFill/>
        </p:spPr>
        <p:txBody>
          <a:bodyPr wrap="square" lIns="0" rIns="0" tIns="0" bIns="0" anchor="t">
            <a:spAutoFit/>
          </a:bodyPr>
          <a:lstStyle/>
          <a:p>
            <a:pPr algn="l"/>
            <a:r>
              <a:rPr sz="2600" b="0" i="0">
                <a:solidFill>
                  <a:srgbClr val="11181C"/>
                </a:solidFill>
                <a:latin typeface="Georgia"/>
              </a:rPr>
              <a:t>−3% to −32%</a:t>
            </a:r>
          </a:p>
        </p:txBody>
      </p:sp>
      <p:sp>
        <p:nvSpPr>
          <p:cNvPr id="16" name="TextBox 15"/>
          <p:cNvSpPr txBox="1"/>
          <p:nvPr/>
        </p:nvSpPr>
        <p:spPr>
          <a:xfrm>
            <a:off x="4292600" y="2514600"/>
            <a:ext cx="3302000" cy="177800"/>
          </a:xfrm>
          <a:prstGeom prst="rect">
            <a:avLst/>
          </a:prstGeom>
          <a:noFill/>
        </p:spPr>
        <p:txBody>
          <a:bodyPr wrap="square" lIns="0" rIns="0" tIns="0" bIns="0" anchor="t">
            <a:spAutoFit/>
          </a:bodyPr>
          <a:lstStyle/>
          <a:p>
            <a:pPr algn="l"/>
            <a:r>
              <a:rPr sz="900" b="0" i="0">
                <a:solidFill>
                  <a:srgbClr val="4D555C"/>
                </a:solidFill>
                <a:latin typeface="Arial"/>
              </a:rPr>
              <a:t>price gap vs the leader</a:t>
            </a:r>
          </a:p>
        </p:txBody>
      </p:sp>
      <p:cxnSp>
        <p:nvCxnSpPr>
          <p:cNvPr id="17" name="Connector 16"/>
          <p:cNvCxnSpPr/>
          <p:nvPr/>
        </p:nvCxnSpPr>
        <p:spPr>
          <a:xfrm>
            <a:off x="7797800" y="2108200"/>
            <a:ext cx="0" cy="609600"/>
          </a:xfrm>
          <a:prstGeom prst="line">
            <a:avLst/>
          </a:prstGeom>
          <a:ln w="9525">
            <a:solidFill>
              <a:srgbClr val="E6E8EB"/>
            </a:solidFill>
          </a:ln>
        </p:spPr>
      </p:cxnSp>
      <p:sp>
        <p:nvSpPr>
          <p:cNvPr id="18" name="TextBox 17"/>
          <p:cNvSpPr txBox="1"/>
          <p:nvPr/>
        </p:nvSpPr>
        <p:spPr>
          <a:xfrm>
            <a:off x="7975600" y="2057400"/>
            <a:ext cx="3429000" cy="431800"/>
          </a:xfrm>
          <a:prstGeom prst="rect">
            <a:avLst/>
          </a:prstGeom>
          <a:noFill/>
        </p:spPr>
        <p:txBody>
          <a:bodyPr wrap="square" lIns="0" rIns="0" tIns="0" bIns="0" anchor="t">
            <a:spAutoFit/>
          </a:bodyPr>
          <a:lstStyle/>
          <a:p>
            <a:pPr algn="l"/>
            <a:r>
              <a:rPr sz="2600" b="0" i="0">
                <a:solidFill>
                  <a:srgbClr val="11181C"/>
                </a:solidFill>
                <a:latin typeface="Georgia"/>
              </a:rPr>
              <a:t>76</a:t>
            </a:r>
          </a:p>
        </p:txBody>
      </p:sp>
      <p:sp>
        <p:nvSpPr>
          <p:cNvPr id="19" name="TextBox 18"/>
          <p:cNvSpPr txBox="1"/>
          <p:nvPr/>
        </p:nvSpPr>
        <p:spPr>
          <a:xfrm>
            <a:off x="7975600" y="2514600"/>
            <a:ext cx="3302000" cy="177800"/>
          </a:xfrm>
          <a:prstGeom prst="rect">
            <a:avLst/>
          </a:prstGeom>
          <a:noFill/>
        </p:spPr>
        <p:txBody>
          <a:bodyPr wrap="square" lIns="0" rIns="0" tIns="0" bIns="0" anchor="t">
            <a:spAutoFit/>
          </a:bodyPr>
          <a:lstStyle/>
          <a:p>
            <a:pPr algn="l"/>
            <a:r>
              <a:rPr sz="900" b="0" i="0">
                <a:solidFill>
                  <a:srgbClr val="4D555C"/>
                </a:solidFill>
                <a:latin typeface="Arial"/>
              </a:rPr>
              <a:t>units won by these five models</a:t>
            </a:r>
          </a:p>
        </p:txBody>
      </p:sp>
      <p:sp>
        <p:nvSpPr>
          <p:cNvPr id="20" name="Rounded Rectangle 19"/>
          <p:cNvSpPr/>
          <p:nvPr/>
        </p:nvSpPr>
        <p:spPr>
          <a:xfrm>
            <a:off x="609600" y="2997200"/>
            <a:ext cx="2590800" cy="3251200"/>
          </a:xfrm>
          <a:prstGeom prst="roundRect">
            <a:avLst>
              <a:gd name="adj" fmla="val 4901"/>
            </a:avLst>
          </a:prstGeom>
          <a:solidFill>
            <a:srgbClr val="FFFFFF"/>
          </a:solidFill>
          <a:ln w="9525">
            <a:solidFill>
              <a:srgbClr val="E6E8EB"/>
            </a:solidFill>
          </a:ln>
          <a:effectLst/>
        </p:spPr>
        <p:txBody>
          <a:bodyPr rtlCol="0" anchor="ctr"/>
          <a:lstStyle/>
          <a:p>
            <a:pPr algn="ctr"/>
          </a:p>
        </p:txBody>
      </p:sp>
      <p:pic>
        <p:nvPicPr>
          <p:cNvPr id="21" name="Picture 20" descr="image.jpg"/>
          <p:cNvPicPr>
            <a:picLocks noChangeAspect="1"/>
          </p:cNvPicPr>
          <p:nvPr/>
        </p:nvPicPr>
        <p:blipFill>
          <a:blip r:embed="rId3"/>
          <a:srcRect t="19237" b="19237"/>
          <a:stretch>
            <a:fillRect/>
          </a:stretch>
        </p:blipFill>
        <p:spPr>
          <a:xfrm>
            <a:off x="736600" y="3124200"/>
            <a:ext cx="2336800" cy="1397000"/>
          </a:xfrm>
          <a:prstGeom prst="roundRect">
            <a:avLst>
              <a:gd name="adj" fmla="val 5454"/>
            </a:avLst>
          </a:prstGeom>
        </p:spPr>
      </p:pic>
      <p:sp>
        <p:nvSpPr>
          <p:cNvPr id="22" name="TextBox 21"/>
          <p:cNvSpPr txBox="1"/>
          <p:nvPr/>
        </p:nvSpPr>
        <p:spPr>
          <a:xfrm>
            <a:off x="787400" y="4622800"/>
            <a:ext cx="2286000" cy="152400"/>
          </a:xfrm>
          <a:prstGeom prst="rect">
            <a:avLst/>
          </a:prstGeom>
          <a:noFill/>
        </p:spPr>
        <p:txBody>
          <a:bodyPr wrap="square" lIns="0" rIns="0" tIns="0" bIns="0" anchor="t">
            <a:spAutoFit/>
          </a:bodyPr>
          <a:lstStyle/>
          <a:p>
            <a:pPr algn="l"/>
            <a:r>
              <a:rPr sz="850" b="1" i="0">
                <a:solidFill>
                  <a:srgbClr val="4D555C"/>
                </a:solidFill>
                <a:latin typeface="Arial"/>
              </a:rPr>
              <a:t>F.lli Ferrari</a:t>
            </a:r>
            <a:r>
              <a:rPr sz="850" b="0" i="0">
                <a:solidFill>
                  <a:srgbClr val="4D555C"/>
                </a:solidFill>
                <a:latin typeface="Arial"/>
              </a:rPr>
              <a:t>  •  25–30 tm</a:t>
            </a:r>
          </a:p>
        </p:txBody>
      </p:sp>
      <p:sp>
        <p:nvSpPr>
          <p:cNvPr id="23" name="TextBox 22"/>
          <p:cNvSpPr txBox="1"/>
          <p:nvPr/>
        </p:nvSpPr>
        <p:spPr>
          <a:xfrm>
            <a:off x="787400" y="4826000"/>
            <a:ext cx="2286000" cy="254000"/>
          </a:xfrm>
          <a:prstGeom prst="rect">
            <a:avLst/>
          </a:prstGeom>
          <a:noFill/>
        </p:spPr>
        <p:txBody>
          <a:bodyPr wrap="square" lIns="0" rIns="0" tIns="0" bIns="0" anchor="t">
            <a:spAutoFit/>
          </a:bodyPr>
          <a:lstStyle/>
          <a:p>
            <a:pPr algn="l"/>
            <a:r>
              <a:rPr sz="1500" b="0" i="0">
                <a:solidFill>
                  <a:srgbClr val="11181C"/>
                </a:solidFill>
                <a:latin typeface="Georgia"/>
              </a:rPr>
              <a:t>268 A4</a:t>
            </a:r>
          </a:p>
        </p:txBody>
      </p:sp>
      <p:sp>
        <p:nvSpPr>
          <p:cNvPr id="24" name="TextBox 23"/>
          <p:cNvSpPr txBox="1"/>
          <p:nvPr/>
        </p:nvSpPr>
        <p:spPr>
          <a:xfrm>
            <a:off x="787400" y="5130800"/>
            <a:ext cx="2286000" cy="177800"/>
          </a:xfrm>
          <a:prstGeom prst="rect">
            <a:avLst/>
          </a:prstGeom>
          <a:noFill/>
        </p:spPr>
        <p:txBody>
          <a:bodyPr wrap="square" lIns="0" rIns="0" tIns="0" bIns="0" anchor="t">
            <a:spAutoFit/>
          </a:bodyPr>
          <a:lstStyle/>
          <a:p>
            <a:pPr algn="l"/>
            <a:r>
              <a:rPr sz="950" b="0" i="0">
                <a:solidFill>
                  <a:srgbClr val="4D555C"/>
                </a:solidFill>
                <a:latin typeface="Arial"/>
              </a:rPr>
              <a:t>31 units won</a:t>
            </a:r>
          </a:p>
        </p:txBody>
      </p:sp>
      <p:sp>
        <p:nvSpPr>
          <p:cNvPr id="25" name="Rectangle 24"/>
          <p:cNvSpPr/>
          <p:nvPr/>
        </p:nvSpPr>
        <p:spPr>
          <a:xfrm>
            <a:off x="787400" y="5435600"/>
            <a:ext cx="2235200" cy="9525"/>
          </a:xfrm>
          <a:prstGeom prst="rect">
            <a:avLst/>
          </a:prstGeom>
          <a:solidFill>
            <a:srgbClr val="E6E8EB"/>
          </a:solidFill>
          <a:ln>
            <a:noFill/>
          </a:ln>
          <a:effectLst/>
        </p:spPr>
        <p:txBody>
          <a:bodyPr rtlCol="0" anchor="ctr"/>
          <a:lstStyle/>
          <a:p>
            <a:pPr algn="ctr"/>
          </a:p>
        </p:txBody>
      </p:sp>
      <p:sp>
        <p:nvSpPr>
          <p:cNvPr id="26" name="TextBox 25"/>
          <p:cNvSpPr txBox="1"/>
          <p:nvPr/>
        </p:nvSpPr>
        <p:spPr>
          <a:xfrm>
            <a:off x="787400" y="5537200"/>
            <a:ext cx="2286000" cy="304800"/>
          </a:xfrm>
          <a:prstGeom prst="rect">
            <a:avLst/>
          </a:prstGeom>
          <a:noFill/>
        </p:spPr>
        <p:txBody>
          <a:bodyPr wrap="square" lIns="0" rIns="0" tIns="0" bIns="0" anchor="t">
            <a:spAutoFit/>
          </a:bodyPr>
          <a:lstStyle/>
          <a:p>
            <a:pPr algn="l">
              <a:lnSpc>
                <a:spcPct val="120000"/>
              </a:lnSpc>
            </a:pPr>
            <a:r>
              <a:rPr sz="900" b="1" i="0">
                <a:solidFill>
                  <a:srgbClr val="076932"/>
                </a:solidFill>
                <a:latin typeface="Arial"/>
              </a:rPr>
              <a:t>−23% vs Amco Veba V825</a:t>
            </a:r>
          </a:p>
        </p:txBody>
      </p:sp>
      <p:sp>
        <p:nvSpPr>
          <p:cNvPr id="27" name="TextBox 26"/>
          <p:cNvSpPr txBox="1"/>
          <p:nvPr/>
        </p:nvSpPr>
        <p:spPr>
          <a:xfrm>
            <a:off x="787400" y="5943600"/>
            <a:ext cx="2540000" cy="152400"/>
          </a:xfrm>
          <a:prstGeom prst="rect">
            <a:avLst/>
          </a:prstGeom>
          <a:noFill/>
        </p:spPr>
        <p:txBody>
          <a:bodyPr wrap="square" lIns="0" rIns="0" tIns="0" bIns="0" anchor="t">
            <a:spAutoFit/>
          </a:bodyPr>
          <a:lstStyle/>
          <a:p>
            <a:pPr algn="l"/>
            <a:r>
              <a:rPr sz="750" b="1" i="0" spc="60">
                <a:solidFill>
                  <a:srgbClr val="11181C"/>
                </a:solidFill>
                <a:latin typeface="Arial"/>
              </a:rPr>
              <a:t>SEE COMPARISON  →</a:t>
            </a:r>
          </a:p>
        </p:txBody>
      </p:sp>
      <p:sp>
        <p:nvSpPr>
          <p:cNvPr id="28" name="Rounded Rectangle 27"/>
          <p:cNvSpPr/>
          <p:nvPr/>
        </p:nvSpPr>
        <p:spPr>
          <a:xfrm>
            <a:off x="3403600" y="2997200"/>
            <a:ext cx="2590800" cy="3251200"/>
          </a:xfrm>
          <a:prstGeom prst="roundRect">
            <a:avLst>
              <a:gd name="adj" fmla="val 4901"/>
            </a:avLst>
          </a:prstGeom>
          <a:solidFill>
            <a:srgbClr val="FFFFFF"/>
          </a:solidFill>
          <a:ln w="9525">
            <a:solidFill>
              <a:srgbClr val="E6E8EB"/>
            </a:solidFill>
          </a:ln>
          <a:effectLst/>
        </p:spPr>
        <p:txBody>
          <a:bodyPr rtlCol="0" anchor="ctr"/>
          <a:lstStyle/>
          <a:p>
            <a:pPr algn="ctr"/>
          </a:p>
        </p:txBody>
      </p:sp>
      <p:pic>
        <p:nvPicPr>
          <p:cNvPr id="29" name="Picture 28" descr="image.jpg"/>
          <p:cNvPicPr>
            <a:picLocks noChangeAspect="1"/>
          </p:cNvPicPr>
          <p:nvPr/>
        </p:nvPicPr>
        <p:blipFill>
          <a:blip r:embed="rId4"/>
          <a:srcRect t="19237" b="19237"/>
          <a:stretch>
            <a:fillRect/>
          </a:stretch>
        </p:blipFill>
        <p:spPr>
          <a:xfrm>
            <a:off x="3530600" y="3124200"/>
            <a:ext cx="2336800" cy="1397000"/>
          </a:xfrm>
          <a:prstGeom prst="roundRect">
            <a:avLst>
              <a:gd name="adj" fmla="val 5454"/>
            </a:avLst>
          </a:prstGeom>
        </p:spPr>
      </p:pic>
      <p:sp>
        <p:nvSpPr>
          <p:cNvPr id="30" name="TextBox 29"/>
          <p:cNvSpPr txBox="1"/>
          <p:nvPr/>
        </p:nvSpPr>
        <p:spPr>
          <a:xfrm>
            <a:off x="3581400" y="4622800"/>
            <a:ext cx="2286000" cy="152400"/>
          </a:xfrm>
          <a:prstGeom prst="rect">
            <a:avLst/>
          </a:prstGeom>
          <a:noFill/>
        </p:spPr>
        <p:txBody>
          <a:bodyPr wrap="square" lIns="0" rIns="0" tIns="0" bIns="0" anchor="t">
            <a:spAutoFit/>
          </a:bodyPr>
          <a:lstStyle/>
          <a:p>
            <a:pPr algn="l"/>
            <a:r>
              <a:rPr sz="850" b="1" i="0">
                <a:solidFill>
                  <a:srgbClr val="4D555C"/>
                </a:solidFill>
                <a:latin typeface="Arial"/>
              </a:rPr>
              <a:t>F.lli Ferrari</a:t>
            </a:r>
            <a:r>
              <a:rPr sz="850" b="0" i="0">
                <a:solidFill>
                  <a:srgbClr val="4D555C"/>
                </a:solidFill>
                <a:latin typeface="Arial"/>
              </a:rPr>
              <a:t>  •  35–40 tm</a:t>
            </a:r>
          </a:p>
        </p:txBody>
      </p:sp>
      <p:sp>
        <p:nvSpPr>
          <p:cNvPr id="31" name="TextBox 30"/>
          <p:cNvSpPr txBox="1"/>
          <p:nvPr/>
        </p:nvSpPr>
        <p:spPr>
          <a:xfrm>
            <a:off x="3581400" y="4826000"/>
            <a:ext cx="2286000" cy="254000"/>
          </a:xfrm>
          <a:prstGeom prst="rect">
            <a:avLst/>
          </a:prstGeom>
          <a:noFill/>
        </p:spPr>
        <p:txBody>
          <a:bodyPr wrap="square" lIns="0" rIns="0" tIns="0" bIns="0" anchor="t">
            <a:spAutoFit/>
          </a:bodyPr>
          <a:lstStyle/>
          <a:p>
            <a:pPr algn="l"/>
            <a:r>
              <a:rPr sz="1500" b="0" i="0">
                <a:solidFill>
                  <a:srgbClr val="11181C"/>
                </a:solidFill>
                <a:latin typeface="Georgia"/>
              </a:rPr>
              <a:t>7441C</a:t>
            </a:r>
          </a:p>
        </p:txBody>
      </p:sp>
      <p:sp>
        <p:nvSpPr>
          <p:cNvPr id="32" name="TextBox 31"/>
          <p:cNvSpPr txBox="1"/>
          <p:nvPr/>
        </p:nvSpPr>
        <p:spPr>
          <a:xfrm>
            <a:off x="3581400" y="5130800"/>
            <a:ext cx="2286000" cy="177800"/>
          </a:xfrm>
          <a:prstGeom prst="rect">
            <a:avLst/>
          </a:prstGeom>
          <a:noFill/>
        </p:spPr>
        <p:txBody>
          <a:bodyPr wrap="square" lIns="0" rIns="0" tIns="0" bIns="0" anchor="t">
            <a:spAutoFit/>
          </a:bodyPr>
          <a:lstStyle/>
          <a:p>
            <a:pPr algn="l"/>
            <a:r>
              <a:rPr sz="950" b="0" i="0">
                <a:solidFill>
                  <a:srgbClr val="4D555C"/>
                </a:solidFill>
                <a:latin typeface="Arial"/>
              </a:rPr>
              <a:t>21 units won</a:t>
            </a:r>
          </a:p>
        </p:txBody>
      </p:sp>
      <p:sp>
        <p:nvSpPr>
          <p:cNvPr id="33" name="Rectangle 32"/>
          <p:cNvSpPr/>
          <p:nvPr/>
        </p:nvSpPr>
        <p:spPr>
          <a:xfrm>
            <a:off x="3581400" y="5435600"/>
            <a:ext cx="2235200" cy="9525"/>
          </a:xfrm>
          <a:prstGeom prst="rect">
            <a:avLst/>
          </a:prstGeom>
          <a:solidFill>
            <a:srgbClr val="E6E8EB"/>
          </a:solidFill>
          <a:ln>
            <a:noFill/>
          </a:ln>
          <a:effectLst/>
        </p:spPr>
        <p:txBody>
          <a:bodyPr rtlCol="0" anchor="ctr"/>
          <a:lstStyle/>
          <a:p>
            <a:pPr algn="ctr"/>
          </a:p>
        </p:txBody>
      </p:sp>
      <p:sp>
        <p:nvSpPr>
          <p:cNvPr id="34" name="TextBox 33"/>
          <p:cNvSpPr txBox="1"/>
          <p:nvPr/>
        </p:nvSpPr>
        <p:spPr>
          <a:xfrm>
            <a:off x="3581400" y="5537200"/>
            <a:ext cx="2286000" cy="304800"/>
          </a:xfrm>
          <a:prstGeom prst="rect">
            <a:avLst/>
          </a:prstGeom>
          <a:noFill/>
        </p:spPr>
        <p:txBody>
          <a:bodyPr wrap="square" lIns="0" rIns="0" tIns="0" bIns="0" anchor="t">
            <a:spAutoFit/>
          </a:bodyPr>
          <a:lstStyle/>
          <a:p>
            <a:pPr algn="l">
              <a:lnSpc>
                <a:spcPct val="120000"/>
              </a:lnSpc>
            </a:pPr>
            <a:r>
              <a:rPr sz="900" b="1" i="0">
                <a:solidFill>
                  <a:srgbClr val="076932"/>
                </a:solidFill>
                <a:latin typeface="Arial"/>
              </a:rPr>
              <a:t>−14% vs Palfinger PK 41002</a:t>
            </a:r>
          </a:p>
        </p:txBody>
      </p:sp>
      <p:sp>
        <p:nvSpPr>
          <p:cNvPr id="35" name="TextBox 34"/>
          <p:cNvSpPr txBox="1"/>
          <p:nvPr/>
        </p:nvSpPr>
        <p:spPr>
          <a:xfrm>
            <a:off x="3581400" y="5943600"/>
            <a:ext cx="2540000" cy="152400"/>
          </a:xfrm>
          <a:prstGeom prst="rect">
            <a:avLst/>
          </a:prstGeom>
          <a:noFill/>
        </p:spPr>
        <p:txBody>
          <a:bodyPr wrap="square" lIns="0" rIns="0" tIns="0" bIns="0" anchor="t">
            <a:spAutoFit/>
          </a:bodyPr>
          <a:lstStyle/>
          <a:p>
            <a:pPr algn="l"/>
            <a:r>
              <a:rPr sz="750" b="1" i="0" spc="60">
                <a:solidFill>
                  <a:srgbClr val="11181C"/>
                </a:solidFill>
                <a:latin typeface="Arial"/>
              </a:rPr>
              <a:t>SEE COMPARISON  →</a:t>
            </a:r>
          </a:p>
        </p:txBody>
      </p:sp>
      <p:sp>
        <p:nvSpPr>
          <p:cNvPr id="36" name="Rounded Rectangle 35"/>
          <p:cNvSpPr/>
          <p:nvPr/>
        </p:nvSpPr>
        <p:spPr>
          <a:xfrm>
            <a:off x="6197600" y="2997200"/>
            <a:ext cx="2590800" cy="3251200"/>
          </a:xfrm>
          <a:prstGeom prst="roundRect">
            <a:avLst>
              <a:gd name="adj" fmla="val 4901"/>
            </a:avLst>
          </a:prstGeom>
          <a:solidFill>
            <a:srgbClr val="FFFFFF"/>
          </a:solidFill>
          <a:ln w="9525">
            <a:solidFill>
              <a:srgbClr val="E6E8EB"/>
            </a:solidFill>
          </a:ln>
          <a:effectLst/>
        </p:spPr>
        <p:txBody>
          <a:bodyPr rtlCol="0" anchor="ctr"/>
          <a:lstStyle/>
          <a:p>
            <a:pPr algn="ctr"/>
          </a:p>
        </p:txBody>
      </p:sp>
      <p:pic>
        <p:nvPicPr>
          <p:cNvPr id="37" name="Picture 36" descr="image.jpg"/>
          <p:cNvPicPr>
            <a:picLocks noChangeAspect="1"/>
          </p:cNvPicPr>
          <p:nvPr/>
        </p:nvPicPr>
        <p:blipFill>
          <a:blip r:embed="rId5"/>
          <a:srcRect t="19237" b="19237"/>
          <a:stretch>
            <a:fillRect/>
          </a:stretch>
        </p:blipFill>
        <p:spPr>
          <a:xfrm>
            <a:off x="6324600" y="3124200"/>
            <a:ext cx="2336800" cy="1397000"/>
          </a:xfrm>
          <a:prstGeom prst="roundRect">
            <a:avLst>
              <a:gd name="adj" fmla="val 5454"/>
            </a:avLst>
          </a:prstGeom>
        </p:spPr>
      </p:pic>
      <p:sp>
        <p:nvSpPr>
          <p:cNvPr id="38" name="TextBox 37"/>
          <p:cNvSpPr txBox="1"/>
          <p:nvPr/>
        </p:nvSpPr>
        <p:spPr>
          <a:xfrm>
            <a:off x="6375400" y="4622800"/>
            <a:ext cx="2286000" cy="152400"/>
          </a:xfrm>
          <a:prstGeom prst="rect">
            <a:avLst/>
          </a:prstGeom>
          <a:noFill/>
        </p:spPr>
        <p:txBody>
          <a:bodyPr wrap="square" lIns="0" rIns="0" tIns="0" bIns="0" anchor="t">
            <a:spAutoFit/>
          </a:bodyPr>
          <a:lstStyle/>
          <a:p>
            <a:pPr algn="l"/>
            <a:r>
              <a:rPr sz="850" b="1" i="0">
                <a:solidFill>
                  <a:srgbClr val="4D555C"/>
                </a:solidFill>
                <a:latin typeface="Arial"/>
              </a:rPr>
              <a:t>F.lli Ferrari</a:t>
            </a:r>
            <a:r>
              <a:rPr sz="850" b="0" i="0">
                <a:solidFill>
                  <a:srgbClr val="4D555C"/>
                </a:solidFill>
                <a:latin typeface="Arial"/>
              </a:rPr>
              <a:t>  •  45–50 tm</a:t>
            </a:r>
          </a:p>
        </p:txBody>
      </p:sp>
      <p:sp>
        <p:nvSpPr>
          <p:cNvPr id="39" name="TextBox 38"/>
          <p:cNvSpPr txBox="1"/>
          <p:nvPr/>
        </p:nvSpPr>
        <p:spPr>
          <a:xfrm>
            <a:off x="6375400" y="4826000"/>
            <a:ext cx="2286000" cy="254000"/>
          </a:xfrm>
          <a:prstGeom prst="rect">
            <a:avLst/>
          </a:prstGeom>
          <a:noFill/>
        </p:spPr>
        <p:txBody>
          <a:bodyPr wrap="square" lIns="0" rIns="0" tIns="0" bIns="0" anchor="t">
            <a:spAutoFit/>
          </a:bodyPr>
          <a:lstStyle/>
          <a:p>
            <a:pPr algn="l"/>
            <a:r>
              <a:rPr sz="1500" b="0" i="0">
                <a:solidFill>
                  <a:srgbClr val="11181C"/>
                </a:solidFill>
                <a:latin typeface="Georgia"/>
              </a:rPr>
              <a:t>FBR450R A4</a:t>
            </a:r>
          </a:p>
        </p:txBody>
      </p:sp>
      <p:sp>
        <p:nvSpPr>
          <p:cNvPr id="40" name="TextBox 39"/>
          <p:cNvSpPr txBox="1"/>
          <p:nvPr/>
        </p:nvSpPr>
        <p:spPr>
          <a:xfrm>
            <a:off x="6375400" y="5130800"/>
            <a:ext cx="2286000" cy="177800"/>
          </a:xfrm>
          <a:prstGeom prst="rect">
            <a:avLst/>
          </a:prstGeom>
          <a:noFill/>
        </p:spPr>
        <p:txBody>
          <a:bodyPr wrap="square" lIns="0" rIns="0" tIns="0" bIns="0" anchor="t">
            <a:spAutoFit/>
          </a:bodyPr>
          <a:lstStyle/>
          <a:p>
            <a:pPr algn="l"/>
            <a:r>
              <a:rPr sz="950" b="0" i="0">
                <a:solidFill>
                  <a:srgbClr val="4D555C"/>
                </a:solidFill>
                <a:latin typeface="Arial"/>
              </a:rPr>
              <a:t>13 units won</a:t>
            </a:r>
          </a:p>
        </p:txBody>
      </p:sp>
      <p:sp>
        <p:nvSpPr>
          <p:cNvPr id="41" name="Rectangle 40"/>
          <p:cNvSpPr/>
          <p:nvPr/>
        </p:nvSpPr>
        <p:spPr>
          <a:xfrm>
            <a:off x="6375400" y="5435600"/>
            <a:ext cx="2235200" cy="9525"/>
          </a:xfrm>
          <a:prstGeom prst="rect">
            <a:avLst/>
          </a:prstGeom>
          <a:solidFill>
            <a:srgbClr val="E6E8EB"/>
          </a:solidFill>
          <a:ln>
            <a:noFill/>
          </a:ln>
          <a:effectLst/>
        </p:spPr>
        <p:txBody>
          <a:bodyPr rtlCol="0" anchor="ctr"/>
          <a:lstStyle/>
          <a:p>
            <a:pPr algn="ctr"/>
          </a:p>
        </p:txBody>
      </p:sp>
      <p:sp>
        <p:nvSpPr>
          <p:cNvPr id="42" name="TextBox 41"/>
          <p:cNvSpPr txBox="1"/>
          <p:nvPr/>
        </p:nvSpPr>
        <p:spPr>
          <a:xfrm>
            <a:off x="6375400" y="5537200"/>
            <a:ext cx="2286000" cy="304800"/>
          </a:xfrm>
          <a:prstGeom prst="rect">
            <a:avLst/>
          </a:prstGeom>
          <a:noFill/>
        </p:spPr>
        <p:txBody>
          <a:bodyPr wrap="square" lIns="0" rIns="0" tIns="0" bIns="0" anchor="t">
            <a:spAutoFit/>
          </a:bodyPr>
          <a:lstStyle/>
          <a:p>
            <a:pPr algn="l">
              <a:lnSpc>
                <a:spcPct val="120000"/>
              </a:lnSpc>
            </a:pPr>
            <a:r>
              <a:rPr sz="900" b="1" i="0">
                <a:solidFill>
                  <a:srgbClr val="076932"/>
                </a:solidFill>
                <a:latin typeface="Arial"/>
              </a:rPr>
              <a:t>−32% vs Amco Veba V950</a:t>
            </a:r>
          </a:p>
        </p:txBody>
      </p:sp>
      <p:sp>
        <p:nvSpPr>
          <p:cNvPr id="43" name="TextBox 42"/>
          <p:cNvSpPr txBox="1"/>
          <p:nvPr/>
        </p:nvSpPr>
        <p:spPr>
          <a:xfrm>
            <a:off x="6375400" y="5943600"/>
            <a:ext cx="2540000" cy="152400"/>
          </a:xfrm>
          <a:prstGeom prst="rect">
            <a:avLst/>
          </a:prstGeom>
          <a:noFill/>
        </p:spPr>
        <p:txBody>
          <a:bodyPr wrap="square" lIns="0" rIns="0" tIns="0" bIns="0" anchor="t">
            <a:spAutoFit/>
          </a:bodyPr>
          <a:lstStyle/>
          <a:p>
            <a:pPr algn="l"/>
            <a:r>
              <a:rPr sz="750" b="1" i="0" spc="60">
                <a:solidFill>
                  <a:srgbClr val="11181C"/>
                </a:solidFill>
                <a:latin typeface="Arial"/>
              </a:rPr>
              <a:t>SEE COMPARISON  →</a:t>
            </a:r>
          </a:p>
        </p:txBody>
      </p:sp>
      <p:sp>
        <p:nvSpPr>
          <p:cNvPr id="44" name="Rounded Rectangle 43"/>
          <p:cNvSpPr/>
          <p:nvPr/>
        </p:nvSpPr>
        <p:spPr>
          <a:xfrm>
            <a:off x="8991600" y="2997200"/>
            <a:ext cx="2590800" cy="3251200"/>
          </a:xfrm>
          <a:prstGeom prst="roundRect">
            <a:avLst>
              <a:gd name="adj" fmla="val 4901"/>
            </a:avLst>
          </a:prstGeom>
          <a:solidFill>
            <a:srgbClr val="FFFFFF"/>
          </a:solidFill>
          <a:ln w="9525">
            <a:solidFill>
              <a:srgbClr val="E6E8EB"/>
            </a:solidFill>
          </a:ln>
          <a:effectLst/>
        </p:spPr>
        <p:txBody>
          <a:bodyPr rtlCol="0" anchor="ctr"/>
          <a:lstStyle/>
          <a:p>
            <a:pPr algn="ctr"/>
          </a:p>
        </p:txBody>
      </p:sp>
      <p:pic>
        <p:nvPicPr>
          <p:cNvPr id="45" name="Picture 44" descr="image.jpg"/>
          <p:cNvPicPr>
            <a:picLocks noChangeAspect="1"/>
          </p:cNvPicPr>
          <p:nvPr/>
        </p:nvPicPr>
        <p:blipFill>
          <a:blip r:embed="rId6"/>
          <a:srcRect t="19237" b="19237"/>
          <a:stretch>
            <a:fillRect/>
          </a:stretch>
        </p:blipFill>
        <p:spPr>
          <a:xfrm>
            <a:off x="9118600" y="3124200"/>
            <a:ext cx="2336800" cy="1397000"/>
          </a:xfrm>
          <a:prstGeom prst="roundRect">
            <a:avLst>
              <a:gd name="adj" fmla="val 5454"/>
            </a:avLst>
          </a:prstGeom>
        </p:spPr>
      </p:pic>
      <p:sp>
        <p:nvSpPr>
          <p:cNvPr id="46" name="TextBox 45"/>
          <p:cNvSpPr txBox="1"/>
          <p:nvPr/>
        </p:nvSpPr>
        <p:spPr>
          <a:xfrm>
            <a:off x="9169400" y="4622800"/>
            <a:ext cx="2286000" cy="152400"/>
          </a:xfrm>
          <a:prstGeom prst="rect">
            <a:avLst/>
          </a:prstGeom>
          <a:noFill/>
        </p:spPr>
        <p:txBody>
          <a:bodyPr wrap="square" lIns="0" rIns="0" tIns="0" bIns="0" anchor="t">
            <a:spAutoFit/>
          </a:bodyPr>
          <a:lstStyle/>
          <a:p>
            <a:pPr algn="l"/>
            <a:r>
              <a:rPr sz="850" b="1" i="0">
                <a:solidFill>
                  <a:srgbClr val="4D555C"/>
                </a:solidFill>
                <a:latin typeface="Arial"/>
              </a:rPr>
              <a:t>F.lli Ferrari</a:t>
            </a:r>
            <a:r>
              <a:rPr sz="850" b="0" i="0">
                <a:solidFill>
                  <a:srgbClr val="4D555C"/>
                </a:solidFill>
                <a:latin typeface="Arial"/>
              </a:rPr>
              <a:t>  •  30–35 tm</a:t>
            </a:r>
          </a:p>
        </p:txBody>
      </p:sp>
      <p:sp>
        <p:nvSpPr>
          <p:cNvPr id="47" name="TextBox 46"/>
          <p:cNvSpPr txBox="1"/>
          <p:nvPr/>
        </p:nvSpPr>
        <p:spPr>
          <a:xfrm>
            <a:off x="9169400" y="4826000"/>
            <a:ext cx="2286000" cy="254000"/>
          </a:xfrm>
          <a:prstGeom prst="rect">
            <a:avLst/>
          </a:prstGeom>
          <a:noFill/>
        </p:spPr>
        <p:txBody>
          <a:bodyPr wrap="square" lIns="0" rIns="0" tIns="0" bIns="0" anchor="t">
            <a:spAutoFit/>
          </a:bodyPr>
          <a:lstStyle/>
          <a:p>
            <a:pPr algn="l"/>
            <a:r>
              <a:rPr sz="1500" b="0" i="0">
                <a:solidFill>
                  <a:srgbClr val="11181C"/>
                </a:solidFill>
                <a:latin typeface="Georgia"/>
              </a:rPr>
              <a:t>FBR350R A4</a:t>
            </a:r>
          </a:p>
        </p:txBody>
      </p:sp>
      <p:sp>
        <p:nvSpPr>
          <p:cNvPr id="48" name="TextBox 47"/>
          <p:cNvSpPr txBox="1"/>
          <p:nvPr/>
        </p:nvSpPr>
        <p:spPr>
          <a:xfrm>
            <a:off x="9169400" y="5130800"/>
            <a:ext cx="2286000" cy="177800"/>
          </a:xfrm>
          <a:prstGeom prst="rect">
            <a:avLst/>
          </a:prstGeom>
          <a:noFill/>
        </p:spPr>
        <p:txBody>
          <a:bodyPr wrap="square" lIns="0" rIns="0" tIns="0" bIns="0" anchor="t">
            <a:spAutoFit/>
          </a:bodyPr>
          <a:lstStyle/>
          <a:p>
            <a:pPr algn="l"/>
            <a:r>
              <a:rPr sz="950" b="0" i="0">
                <a:solidFill>
                  <a:srgbClr val="4D555C"/>
                </a:solidFill>
                <a:latin typeface="Arial"/>
              </a:rPr>
              <a:t>10 units won</a:t>
            </a:r>
          </a:p>
        </p:txBody>
      </p:sp>
      <p:sp>
        <p:nvSpPr>
          <p:cNvPr id="49" name="Rectangle 48"/>
          <p:cNvSpPr/>
          <p:nvPr/>
        </p:nvSpPr>
        <p:spPr>
          <a:xfrm>
            <a:off x="9169400" y="5435600"/>
            <a:ext cx="2235200" cy="9525"/>
          </a:xfrm>
          <a:prstGeom prst="rect">
            <a:avLst/>
          </a:prstGeom>
          <a:solidFill>
            <a:srgbClr val="E6E8EB"/>
          </a:solidFill>
          <a:ln>
            <a:noFill/>
          </a:ln>
          <a:effectLst/>
        </p:spPr>
        <p:txBody>
          <a:bodyPr rtlCol="0" anchor="ctr"/>
          <a:lstStyle/>
          <a:p>
            <a:pPr algn="ctr"/>
          </a:p>
        </p:txBody>
      </p:sp>
      <p:sp>
        <p:nvSpPr>
          <p:cNvPr id="50" name="TextBox 49"/>
          <p:cNvSpPr txBox="1"/>
          <p:nvPr/>
        </p:nvSpPr>
        <p:spPr>
          <a:xfrm>
            <a:off x="9169400" y="5537200"/>
            <a:ext cx="2286000" cy="304800"/>
          </a:xfrm>
          <a:prstGeom prst="rect">
            <a:avLst/>
          </a:prstGeom>
          <a:noFill/>
        </p:spPr>
        <p:txBody>
          <a:bodyPr wrap="square" lIns="0" rIns="0" tIns="0" bIns="0" anchor="t">
            <a:spAutoFit/>
          </a:bodyPr>
          <a:lstStyle/>
          <a:p>
            <a:pPr algn="l">
              <a:lnSpc>
                <a:spcPct val="120000"/>
              </a:lnSpc>
            </a:pPr>
            <a:r>
              <a:rPr sz="900" b="1" i="0">
                <a:solidFill>
                  <a:srgbClr val="076932"/>
                </a:solidFill>
                <a:latin typeface="Arial"/>
              </a:rPr>
              <a:t>−25% vs Hiab X-CLX 388</a:t>
            </a:r>
          </a:p>
        </p:txBody>
      </p:sp>
      <p:sp>
        <p:nvSpPr>
          <p:cNvPr id="51" name="TextBox 50"/>
          <p:cNvSpPr txBox="1"/>
          <p:nvPr/>
        </p:nvSpPr>
        <p:spPr>
          <a:xfrm>
            <a:off x="9169400" y="5943600"/>
            <a:ext cx="2540000" cy="152400"/>
          </a:xfrm>
          <a:prstGeom prst="rect">
            <a:avLst/>
          </a:prstGeom>
          <a:noFill/>
        </p:spPr>
        <p:txBody>
          <a:bodyPr wrap="square" lIns="0" rIns="0" tIns="0" bIns="0" anchor="t">
            <a:spAutoFit/>
          </a:bodyPr>
          <a:lstStyle/>
          <a:p>
            <a:pPr algn="l"/>
            <a:r>
              <a:rPr sz="750" b="1" i="0" spc="60">
                <a:solidFill>
                  <a:srgbClr val="11181C"/>
                </a:solidFill>
                <a:latin typeface="Arial"/>
              </a:rPr>
              <a:t>SEE COMPARISON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APPLICATION · WRITING &amp; VOICE</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Complicated work, </a:t>
            </a:r>
            <a:r>
              <a:rPr sz="2400" b="0" i="1">
                <a:solidFill>
                  <a:srgbClr val="11181C"/>
                </a:solidFill>
                <a:latin typeface="Georgia"/>
              </a:rPr>
              <a:t>explained</a:t>
            </a:r>
            <a:r>
              <a:rPr sz="2400" b="0" i="0">
                <a:solidFill>
                  <a:srgbClr val="11181C"/>
                </a:solidFill>
                <a:latin typeface="Georgia"/>
              </a:rPr>
              <a:t> simply.</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Bitwise voice: confident, plain English, no hype. Headlines carry the message; the body only proves it.</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22</a:t>
            </a:r>
          </a:p>
        </p:txBody>
      </p:sp>
      <p:sp>
        <p:nvSpPr>
          <p:cNvPr id="12" name="TextBox 11"/>
          <p:cNvSpPr txBox="1"/>
          <p:nvPr/>
        </p:nvSpPr>
        <p:spPr>
          <a:xfrm>
            <a:off x="609600" y="2108200"/>
            <a:ext cx="5080000" cy="152400"/>
          </a:xfrm>
          <a:prstGeom prst="rect">
            <a:avLst/>
          </a:prstGeom>
          <a:noFill/>
        </p:spPr>
        <p:txBody>
          <a:bodyPr wrap="square" lIns="0" rIns="0" tIns="0" bIns="0" anchor="t">
            <a:spAutoFit/>
          </a:bodyPr>
          <a:lstStyle/>
          <a:p>
            <a:pPr algn="l"/>
            <a:r>
              <a:rPr sz="850" b="1" i="0" spc="150">
                <a:solidFill>
                  <a:srgbClr val="697177"/>
                </a:solidFill>
                <a:latin typeface="Arial"/>
              </a:rPr>
              <a:t>TOPIC → MESSAGE</a:t>
            </a:r>
          </a:p>
        </p:txBody>
      </p:sp>
      <p:sp>
        <p:nvSpPr>
          <p:cNvPr id="13" name="TextBox 12"/>
          <p:cNvSpPr txBox="1"/>
          <p:nvPr/>
        </p:nvSpPr>
        <p:spPr>
          <a:xfrm>
            <a:off x="609600" y="2438400"/>
            <a:ext cx="1905000" cy="203200"/>
          </a:xfrm>
          <a:prstGeom prst="rect">
            <a:avLst/>
          </a:prstGeom>
          <a:noFill/>
        </p:spPr>
        <p:txBody>
          <a:bodyPr wrap="square" lIns="0" rIns="0" tIns="0" bIns="0" anchor="t">
            <a:spAutoFit/>
          </a:bodyPr>
          <a:lstStyle/>
          <a:p>
            <a:pPr algn="l"/>
            <a:r>
              <a:rPr sz="1000" b="0" i="0">
                <a:solidFill>
                  <a:srgbClr val="697177"/>
                </a:solidFill>
                <a:latin typeface="Arial"/>
              </a:rPr>
              <a:t>Market Overview</a:t>
            </a:r>
          </a:p>
        </p:txBody>
      </p:sp>
      <p:sp>
        <p:nvSpPr>
          <p:cNvPr id="14" name="TextBox 13"/>
          <p:cNvSpPr txBox="1"/>
          <p:nvPr/>
        </p:nvSpPr>
        <p:spPr>
          <a:xfrm>
            <a:off x="2514600" y="2413000"/>
            <a:ext cx="381000" cy="203200"/>
          </a:xfrm>
          <a:prstGeom prst="rect">
            <a:avLst/>
          </a:prstGeom>
          <a:noFill/>
        </p:spPr>
        <p:txBody>
          <a:bodyPr wrap="square" lIns="0" rIns="0" tIns="0" bIns="0" anchor="t">
            <a:spAutoFit/>
          </a:bodyPr>
          <a:lstStyle/>
          <a:p>
            <a:pPr algn="l"/>
            <a:r>
              <a:rPr sz="1200" b="1" i="0">
                <a:solidFill>
                  <a:srgbClr val="22C96A"/>
                </a:solidFill>
                <a:latin typeface="Arial"/>
              </a:rPr>
              <a:t>→</a:t>
            </a:r>
          </a:p>
        </p:txBody>
      </p:sp>
      <p:sp>
        <p:nvSpPr>
          <p:cNvPr id="15" name="TextBox 14"/>
          <p:cNvSpPr txBox="1"/>
          <p:nvPr/>
        </p:nvSpPr>
        <p:spPr>
          <a:xfrm>
            <a:off x="2895600" y="2362200"/>
            <a:ext cx="4826000" cy="381000"/>
          </a:xfrm>
          <a:prstGeom prst="rect">
            <a:avLst/>
          </a:prstGeom>
          <a:noFill/>
        </p:spPr>
        <p:txBody>
          <a:bodyPr wrap="square" lIns="0" rIns="0" tIns="0" bIns="0" anchor="t">
            <a:spAutoFit/>
          </a:bodyPr>
          <a:lstStyle/>
          <a:p>
            <a:pPr algn="l">
              <a:lnSpc>
                <a:spcPct val="110000"/>
              </a:lnSpc>
            </a:pPr>
            <a:r>
              <a:rPr sz="1300" b="0" i="0">
                <a:solidFill>
                  <a:srgbClr val="11181C"/>
                </a:solidFill>
                <a:latin typeface="Georgia"/>
              </a:rPr>
              <a:t>Medium and Heavy cranes are 41% of units but </a:t>
            </a:r>
            <a:r>
              <a:rPr sz="1300" b="0" i="1">
                <a:solidFill>
                  <a:srgbClr val="11181C"/>
                </a:solidFill>
                <a:latin typeface="Georgia"/>
              </a:rPr>
              <a:t>64% of value</a:t>
            </a:r>
          </a:p>
        </p:txBody>
      </p:sp>
      <p:cxnSp>
        <p:nvCxnSpPr>
          <p:cNvPr id="16" name="Connector 15"/>
          <p:cNvCxnSpPr/>
          <p:nvPr/>
        </p:nvCxnSpPr>
        <p:spPr>
          <a:xfrm>
            <a:off x="609600" y="2819400"/>
            <a:ext cx="7112000" cy="0"/>
          </a:xfrm>
          <a:prstGeom prst="line">
            <a:avLst/>
          </a:prstGeom>
          <a:ln w="9525">
            <a:solidFill>
              <a:srgbClr val="EBEDEF"/>
            </a:solidFill>
          </a:ln>
        </p:spPr>
      </p:cxnSp>
      <p:sp>
        <p:nvSpPr>
          <p:cNvPr id="17" name="TextBox 16"/>
          <p:cNvSpPr txBox="1"/>
          <p:nvPr/>
        </p:nvSpPr>
        <p:spPr>
          <a:xfrm>
            <a:off x="609600" y="3022600"/>
            <a:ext cx="1905000" cy="203200"/>
          </a:xfrm>
          <a:prstGeom prst="rect">
            <a:avLst/>
          </a:prstGeom>
          <a:noFill/>
        </p:spPr>
        <p:txBody>
          <a:bodyPr wrap="square" lIns="0" rIns="0" tIns="0" bIns="0" anchor="t">
            <a:spAutoFit/>
          </a:bodyPr>
          <a:lstStyle/>
          <a:p>
            <a:pPr algn="l"/>
            <a:r>
              <a:rPr sz="1000" b="0" i="0">
                <a:solidFill>
                  <a:srgbClr val="697177"/>
                </a:solidFill>
                <a:latin typeface="Arial"/>
              </a:rPr>
              <a:t>Price Comparison</a:t>
            </a:r>
          </a:p>
        </p:txBody>
      </p:sp>
      <p:sp>
        <p:nvSpPr>
          <p:cNvPr id="18" name="TextBox 17"/>
          <p:cNvSpPr txBox="1"/>
          <p:nvPr/>
        </p:nvSpPr>
        <p:spPr>
          <a:xfrm>
            <a:off x="2514600" y="2997200"/>
            <a:ext cx="381000" cy="203200"/>
          </a:xfrm>
          <a:prstGeom prst="rect">
            <a:avLst/>
          </a:prstGeom>
          <a:noFill/>
        </p:spPr>
        <p:txBody>
          <a:bodyPr wrap="square" lIns="0" rIns="0" tIns="0" bIns="0" anchor="t">
            <a:spAutoFit/>
          </a:bodyPr>
          <a:lstStyle/>
          <a:p>
            <a:pPr algn="l"/>
            <a:r>
              <a:rPr sz="1200" b="1" i="0">
                <a:solidFill>
                  <a:srgbClr val="22C96A"/>
                </a:solidFill>
                <a:latin typeface="Arial"/>
              </a:rPr>
              <a:t>→</a:t>
            </a:r>
          </a:p>
        </p:txBody>
      </p:sp>
      <p:sp>
        <p:nvSpPr>
          <p:cNvPr id="19" name="TextBox 18"/>
          <p:cNvSpPr txBox="1"/>
          <p:nvPr/>
        </p:nvSpPr>
        <p:spPr>
          <a:xfrm>
            <a:off x="2895600" y="2946400"/>
            <a:ext cx="4826000" cy="381000"/>
          </a:xfrm>
          <a:prstGeom prst="rect">
            <a:avLst/>
          </a:prstGeom>
          <a:noFill/>
        </p:spPr>
        <p:txBody>
          <a:bodyPr wrap="square" lIns="0" rIns="0" tIns="0" bIns="0" anchor="t">
            <a:spAutoFit/>
          </a:bodyPr>
          <a:lstStyle/>
          <a:p>
            <a:pPr algn="l">
              <a:lnSpc>
                <a:spcPct val="110000"/>
              </a:lnSpc>
            </a:pPr>
            <a:r>
              <a:rPr sz="1300" b="0" i="0">
                <a:solidFill>
                  <a:srgbClr val="11181C"/>
                </a:solidFill>
                <a:latin typeface="Georgia"/>
              </a:rPr>
              <a:t>F.lli Ferrari is cheaper in </a:t>
            </a:r>
            <a:r>
              <a:rPr sz="1300" b="0" i="1">
                <a:solidFill>
                  <a:srgbClr val="11181C"/>
                </a:solidFill>
                <a:latin typeface="Georgia"/>
              </a:rPr>
              <a:t>five</a:t>
            </a:r>
            <a:r>
              <a:rPr sz="1300" b="0" i="0">
                <a:solidFill>
                  <a:srgbClr val="11181C"/>
                </a:solidFill>
                <a:latin typeface="Georgia"/>
              </a:rPr>
              <a:t> tm classes</a:t>
            </a:r>
          </a:p>
        </p:txBody>
      </p:sp>
      <p:cxnSp>
        <p:nvCxnSpPr>
          <p:cNvPr id="20" name="Connector 19"/>
          <p:cNvCxnSpPr/>
          <p:nvPr/>
        </p:nvCxnSpPr>
        <p:spPr>
          <a:xfrm>
            <a:off x="609600" y="3403600"/>
            <a:ext cx="7112000" cy="0"/>
          </a:xfrm>
          <a:prstGeom prst="line">
            <a:avLst/>
          </a:prstGeom>
          <a:ln w="9525">
            <a:solidFill>
              <a:srgbClr val="EBEDEF"/>
            </a:solidFill>
          </a:ln>
        </p:spPr>
      </p:cxnSp>
      <p:sp>
        <p:nvSpPr>
          <p:cNvPr id="21" name="TextBox 20"/>
          <p:cNvSpPr txBox="1"/>
          <p:nvPr/>
        </p:nvSpPr>
        <p:spPr>
          <a:xfrm>
            <a:off x="609600" y="3606800"/>
            <a:ext cx="1905000" cy="203200"/>
          </a:xfrm>
          <a:prstGeom prst="rect">
            <a:avLst/>
          </a:prstGeom>
          <a:noFill/>
        </p:spPr>
        <p:txBody>
          <a:bodyPr wrap="square" lIns="0" rIns="0" tIns="0" bIns="0" anchor="t">
            <a:spAutoFit/>
          </a:bodyPr>
          <a:lstStyle/>
          <a:p>
            <a:pPr algn="l"/>
            <a:r>
              <a:rPr sz="1000" b="0" i="0">
                <a:solidFill>
                  <a:srgbClr val="697177"/>
                </a:solidFill>
                <a:latin typeface="Arial"/>
              </a:rPr>
              <a:t>Monitoring</a:t>
            </a:r>
          </a:p>
        </p:txBody>
      </p:sp>
      <p:sp>
        <p:nvSpPr>
          <p:cNvPr id="22" name="TextBox 21"/>
          <p:cNvSpPr txBox="1"/>
          <p:nvPr/>
        </p:nvSpPr>
        <p:spPr>
          <a:xfrm>
            <a:off x="2514600" y="3581400"/>
            <a:ext cx="381000" cy="203200"/>
          </a:xfrm>
          <a:prstGeom prst="rect">
            <a:avLst/>
          </a:prstGeom>
          <a:noFill/>
        </p:spPr>
        <p:txBody>
          <a:bodyPr wrap="square" lIns="0" rIns="0" tIns="0" bIns="0" anchor="t">
            <a:spAutoFit/>
          </a:bodyPr>
          <a:lstStyle/>
          <a:p>
            <a:pPr algn="l"/>
            <a:r>
              <a:rPr sz="1200" b="1" i="0">
                <a:solidFill>
                  <a:srgbClr val="22C96A"/>
                </a:solidFill>
                <a:latin typeface="Arial"/>
              </a:rPr>
              <a:t>→</a:t>
            </a:r>
          </a:p>
        </p:txBody>
      </p:sp>
      <p:sp>
        <p:nvSpPr>
          <p:cNvPr id="23" name="TextBox 22"/>
          <p:cNvSpPr txBox="1"/>
          <p:nvPr/>
        </p:nvSpPr>
        <p:spPr>
          <a:xfrm>
            <a:off x="2895600" y="3530600"/>
            <a:ext cx="4826000" cy="381000"/>
          </a:xfrm>
          <a:prstGeom prst="rect">
            <a:avLst/>
          </a:prstGeom>
          <a:noFill/>
        </p:spPr>
        <p:txBody>
          <a:bodyPr wrap="square" lIns="0" rIns="0" tIns="0" bIns="0" anchor="t">
            <a:spAutoFit/>
          </a:bodyPr>
          <a:lstStyle/>
          <a:p>
            <a:pPr algn="l">
              <a:lnSpc>
                <a:spcPct val="110000"/>
              </a:lnSpc>
            </a:pPr>
            <a:r>
              <a:rPr sz="1300" b="0" i="0">
                <a:solidFill>
                  <a:srgbClr val="11181C"/>
                </a:solidFill>
                <a:latin typeface="Georgia"/>
              </a:rPr>
              <a:t>Plant follow-up keeps every PO on its </a:t>
            </a:r>
            <a:r>
              <a:rPr sz="1300" b="0" i="1">
                <a:solidFill>
                  <a:srgbClr val="11181C"/>
                </a:solidFill>
                <a:latin typeface="Georgia"/>
              </a:rPr>
              <a:t>agreed</a:t>
            </a:r>
            <a:r>
              <a:rPr sz="1300" b="0" i="0">
                <a:solidFill>
                  <a:srgbClr val="11181C"/>
                </a:solidFill>
                <a:latin typeface="Georgia"/>
              </a:rPr>
              <a:t> RFD date</a:t>
            </a:r>
          </a:p>
        </p:txBody>
      </p:sp>
      <p:cxnSp>
        <p:nvCxnSpPr>
          <p:cNvPr id="24" name="Connector 23"/>
          <p:cNvCxnSpPr/>
          <p:nvPr/>
        </p:nvCxnSpPr>
        <p:spPr>
          <a:xfrm>
            <a:off x="609600" y="3987800"/>
            <a:ext cx="7112000" cy="0"/>
          </a:xfrm>
          <a:prstGeom prst="line">
            <a:avLst/>
          </a:prstGeom>
          <a:ln w="9525">
            <a:solidFill>
              <a:srgbClr val="EBEDEF"/>
            </a:solidFill>
          </a:ln>
        </p:spPr>
      </p:cxnSp>
      <p:sp>
        <p:nvSpPr>
          <p:cNvPr id="25" name="TextBox 24"/>
          <p:cNvSpPr txBox="1"/>
          <p:nvPr/>
        </p:nvSpPr>
        <p:spPr>
          <a:xfrm>
            <a:off x="609600" y="4191000"/>
            <a:ext cx="1905000" cy="203200"/>
          </a:xfrm>
          <a:prstGeom prst="rect">
            <a:avLst/>
          </a:prstGeom>
          <a:noFill/>
        </p:spPr>
        <p:txBody>
          <a:bodyPr wrap="square" lIns="0" rIns="0" tIns="0" bIns="0" anchor="t">
            <a:spAutoFit/>
          </a:bodyPr>
          <a:lstStyle/>
          <a:p>
            <a:pPr algn="l"/>
            <a:r>
              <a:rPr sz="1000" b="0" i="0">
                <a:solidFill>
                  <a:srgbClr val="697177"/>
                </a:solidFill>
                <a:latin typeface="Arial"/>
              </a:rPr>
              <a:t>Work Challenges</a:t>
            </a:r>
          </a:p>
        </p:txBody>
      </p:sp>
      <p:sp>
        <p:nvSpPr>
          <p:cNvPr id="26" name="TextBox 25"/>
          <p:cNvSpPr txBox="1"/>
          <p:nvPr/>
        </p:nvSpPr>
        <p:spPr>
          <a:xfrm>
            <a:off x="2514600" y="4165600"/>
            <a:ext cx="381000" cy="203200"/>
          </a:xfrm>
          <a:prstGeom prst="rect">
            <a:avLst/>
          </a:prstGeom>
          <a:noFill/>
        </p:spPr>
        <p:txBody>
          <a:bodyPr wrap="square" lIns="0" rIns="0" tIns="0" bIns="0" anchor="t">
            <a:spAutoFit/>
          </a:bodyPr>
          <a:lstStyle/>
          <a:p>
            <a:pPr algn="l"/>
            <a:r>
              <a:rPr sz="1200" b="1" i="0">
                <a:solidFill>
                  <a:srgbClr val="22C96A"/>
                </a:solidFill>
                <a:latin typeface="Arial"/>
              </a:rPr>
              <a:t>→</a:t>
            </a:r>
          </a:p>
        </p:txBody>
      </p:sp>
      <p:sp>
        <p:nvSpPr>
          <p:cNvPr id="27" name="TextBox 26"/>
          <p:cNvSpPr txBox="1"/>
          <p:nvPr/>
        </p:nvSpPr>
        <p:spPr>
          <a:xfrm>
            <a:off x="2895600" y="4114800"/>
            <a:ext cx="4826000" cy="381000"/>
          </a:xfrm>
          <a:prstGeom prst="rect">
            <a:avLst/>
          </a:prstGeom>
          <a:noFill/>
        </p:spPr>
        <p:txBody>
          <a:bodyPr wrap="square" lIns="0" rIns="0" tIns="0" bIns="0" anchor="t">
            <a:spAutoFit/>
          </a:bodyPr>
          <a:lstStyle/>
          <a:p>
            <a:pPr algn="l">
              <a:lnSpc>
                <a:spcPct val="110000"/>
              </a:lnSpc>
            </a:pPr>
            <a:r>
              <a:rPr sz="1300" b="0" i="0">
                <a:solidFill>
                  <a:srgbClr val="11181C"/>
                </a:solidFill>
                <a:latin typeface="Georgia"/>
              </a:rPr>
              <a:t>Last-minute quotes are the </a:t>
            </a:r>
            <a:r>
              <a:rPr sz="1300" b="0" i="1">
                <a:solidFill>
                  <a:srgbClr val="11181C"/>
                </a:solidFill>
                <a:latin typeface="Georgia"/>
              </a:rPr>
              <a:t>main risk</a:t>
            </a:r>
            <a:r>
              <a:rPr sz="1300" b="0" i="0">
                <a:solidFill>
                  <a:srgbClr val="11181C"/>
                </a:solidFill>
                <a:latin typeface="Georgia"/>
              </a:rPr>
              <a:t> to lead time</a:t>
            </a:r>
          </a:p>
        </p:txBody>
      </p:sp>
      <p:cxnSp>
        <p:nvCxnSpPr>
          <p:cNvPr id="28" name="Connector 27"/>
          <p:cNvCxnSpPr/>
          <p:nvPr/>
        </p:nvCxnSpPr>
        <p:spPr>
          <a:xfrm>
            <a:off x="609600" y="4572000"/>
            <a:ext cx="7112000" cy="0"/>
          </a:xfrm>
          <a:prstGeom prst="line">
            <a:avLst/>
          </a:prstGeom>
          <a:ln w="9525">
            <a:solidFill>
              <a:srgbClr val="EBEDEF"/>
            </a:solidFill>
          </a:ln>
        </p:spPr>
      </p:cxnSp>
      <p:sp>
        <p:nvSpPr>
          <p:cNvPr id="29" name="TextBox 28"/>
          <p:cNvSpPr txBox="1"/>
          <p:nvPr/>
        </p:nvSpPr>
        <p:spPr>
          <a:xfrm>
            <a:off x="8128000" y="2108200"/>
            <a:ext cx="3810000" cy="152400"/>
          </a:xfrm>
          <a:prstGeom prst="rect">
            <a:avLst/>
          </a:prstGeom>
          <a:noFill/>
        </p:spPr>
        <p:txBody>
          <a:bodyPr wrap="square" lIns="0" rIns="0" tIns="0" bIns="0" anchor="t">
            <a:spAutoFit/>
          </a:bodyPr>
          <a:lstStyle/>
          <a:p>
            <a:pPr algn="l"/>
            <a:r>
              <a:rPr sz="850" b="1" i="0" spc="150">
                <a:solidFill>
                  <a:srgbClr val="697177"/>
                </a:solidFill>
                <a:latin typeface="Arial"/>
              </a:rPr>
              <a:t>VOICE RULES</a:t>
            </a:r>
          </a:p>
        </p:txBody>
      </p:sp>
      <p:sp>
        <p:nvSpPr>
          <p:cNvPr id="30" name="Oval 29"/>
          <p:cNvSpPr/>
          <p:nvPr/>
        </p:nvSpPr>
        <p:spPr>
          <a:xfrm>
            <a:off x="8128000" y="2400300"/>
            <a:ext cx="63500" cy="63500"/>
          </a:xfrm>
          <a:prstGeom prst="ellipse">
            <a:avLst/>
          </a:prstGeom>
          <a:solidFill>
            <a:srgbClr val="22C96A"/>
          </a:solidFill>
          <a:ln>
            <a:noFill/>
          </a:ln>
          <a:effectLst/>
        </p:spPr>
        <p:txBody>
          <a:bodyPr rtlCol="0" anchor="ctr"/>
          <a:lstStyle/>
          <a:p>
            <a:pPr algn="ctr"/>
          </a:p>
        </p:txBody>
      </p:sp>
      <p:sp>
        <p:nvSpPr>
          <p:cNvPr id="31" name="TextBox 30"/>
          <p:cNvSpPr txBox="1"/>
          <p:nvPr/>
        </p:nvSpPr>
        <p:spPr>
          <a:xfrm>
            <a:off x="8305800" y="2336800"/>
            <a:ext cx="3276600" cy="330200"/>
          </a:xfrm>
          <a:prstGeom prst="rect">
            <a:avLst/>
          </a:prstGeom>
          <a:noFill/>
        </p:spPr>
        <p:txBody>
          <a:bodyPr wrap="square" lIns="0" rIns="0" tIns="0" bIns="0" anchor="t">
            <a:spAutoFit/>
          </a:bodyPr>
          <a:lstStyle/>
          <a:p>
            <a:pPr algn="l">
              <a:lnSpc>
                <a:spcPct val="125000"/>
              </a:lnSpc>
            </a:pPr>
            <a:r>
              <a:rPr sz="950" b="0" i="0">
                <a:solidFill>
                  <a:srgbClr val="11181C"/>
                </a:solidFill>
                <a:latin typeface="Arial"/>
              </a:rPr>
              <a:t>Short sentences, active voice</a:t>
            </a:r>
          </a:p>
        </p:txBody>
      </p:sp>
      <p:sp>
        <p:nvSpPr>
          <p:cNvPr id="32" name="Oval 31"/>
          <p:cNvSpPr/>
          <p:nvPr/>
        </p:nvSpPr>
        <p:spPr>
          <a:xfrm>
            <a:off x="8128000" y="2781300"/>
            <a:ext cx="63500" cy="63500"/>
          </a:xfrm>
          <a:prstGeom prst="ellipse">
            <a:avLst/>
          </a:prstGeom>
          <a:solidFill>
            <a:srgbClr val="22C96A"/>
          </a:solidFill>
          <a:ln>
            <a:noFill/>
          </a:ln>
          <a:effectLst/>
        </p:spPr>
        <p:txBody>
          <a:bodyPr rtlCol="0" anchor="ctr"/>
          <a:lstStyle/>
          <a:p>
            <a:pPr algn="ctr"/>
          </a:p>
        </p:txBody>
      </p:sp>
      <p:sp>
        <p:nvSpPr>
          <p:cNvPr id="33" name="TextBox 32"/>
          <p:cNvSpPr txBox="1"/>
          <p:nvPr/>
        </p:nvSpPr>
        <p:spPr>
          <a:xfrm>
            <a:off x="8305800" y="2717800"/>
            <a:ext cx="3276600" cy="330200"/>
          </a:xfrm>
          <a:prstGeom prst="rect">
            <a:avLst/>
          </a:prstGeom>
          <a:noFill/>
        </p:spPr>
        <p:txBody>
          <a:bodyPr wrap="square" lIns="0" rIns="0" tIns="0" bIns="0" anchor="t">
            <a:spAutoFit/>
          </a:bodyPr>
          <a:lstStyle/>
          <a:p>
            <a:pPr algn="l">
              <a:lnSpc>
                <a:spcPct val="125000"/>
              </a:lnSpc>
            </a:pPr>
            <a:r>
              <a:rPr sz="950" b="0" i="0">
                <a:solidFill>
                  <a:srgbClr val="11181C"/>
                </a:solidFill>
                <a:latin typeface="Arial"/>
              </a:rPr>
              <a:t>One idea per headline</a:t>
            </a:r>
          </a:p>
        </p:txBody>
      </p:sp>
      <p:sp>
        <p:nvSpPr>
          <p:cNvPr id="34" name="Oval 33"/>
          <p:cNvSpPr/>
          <p:nvPr/>
        </p:nvSpPr>
        <p:spPr>
          <a:xfrm>
            <a:off x="8128000" y="3162300"/>
            <a:ext cx="63500" cy="63500"/>
          </a:xfrm>
          <a:prstGeom prst="ellipse">
            <a:avLst/>
          </a:prstGeom>
          <a:solidFill>
            <a:srgbClr val="22C96A"/>
          </a:solidFill>
          <a:ln>
            <a:noFill/>
          </a:ln>
          <a:effectLst/>
        </p:spPr>
        <p:txBody>
          <a:bodyPr rtlCol="0" anchor="ctr"/>
          <a:lstStyle/>
          <a:p>
            <a:pPr algn="ctr"/>
          </a:p>
        </p:txBody>
      </p:sp>
      <p:sp>
        <p:nvSpPr>
          <p:cNvPr id="35" name="TextBox 34"/>
          <p:cNvSpPr txBox="1"/>
          <p:nvPr/>
        </p:nvSpPr>
        <p:spPr>
          <a:xfrm>
            <a:off x="8305800" y="3098800"/>
            <a:ext cx="3276600" cy="330200"/>
          </a:xfrm>
          <a:prstGeom prst="rect">
            <a:avLst/>
          </a:prstGeom>
          <a:noFill/>
        </p:spPr>
        <p:txBody>
          <a:bodyPr wrap="square" lIns="0" rIns="0" tIns="0" bIns="0" anchor="t">
            <a:spAutoFit/>
          </a:bodyPr>
          <a:lstStyle/>
          <a:p>
            <a:pPr algn="l">
              <a:lnSpc>
                <a:spcPct val="125000"/>
              </a:lnSpc>
            </a:pPr>
            <a:r>
              <a:rPr sz="950" b="0" i="0">
                <a:solidFill>
                  <a:srgbClr val="11181C"/>
                </a:solidFill>
                <a:latin typeface="Arial"/>
              </a:rPr>
              <a:t>Numbers instead of adjectives</a:t>
            </a:r>
          </a:p>
        </p:txBody>
      </p:sp>
      <p:sp>
        <p:nvSpPr>
          <p:cNvPr id="36" name="Oval 35"/>
          <p:cNvSpPr/>
          <p:nvPr/>
        </p:nvSpPr>
        <p:spPr>
          <a:xfrm>
            <a:off x="8128000" y="3543300"/>
            <a:ext cx="63500" cy="63500"/>
          </a:xfrm>
          <a:prstGeom prst="ellipse">
            <a:avLst/>
          </a:prstGeom>
          <a:solidFill>
            <a:srgbClr val="22C96A"/>
          </a:solidFill>
          <a:ln>
            <a:noFill/>
          </a:ln>
          <a:effectLst/>
        </p:spPr>
        <p:txBody>
          <a:bodyPr rtlCol="0" anchor="ctr"/>
          <a:lstStyle/>
          <a:p>
            <a:pPr algn="ctr"/>
          </a:p>
        </p:txBody>
      </p:sp>
      <p:sp>
        <p:nvSpPr>
          <p:cNvPr id="37" name="TextBox 36"/>
          <p:cNvSpPr txBox="1"/>
          <p:nvPr/>
        </p:nvSpPr>
        <p:spPr>
          <a:xfrm>
            <a:off x="8305800" y="3479800"/>
            <a:ext cx="3276600" cy="330200"/>
          </a:xfrm>
          <a:prstGeom prst="rect">
            <a:avLst/>
          </a:prstGeom>
          <a:noFill/>
        </p:spPr>
        <p:txBody>
          <a:bodyPr wrap="square" lIns="0" rIns="0" tIns="0" bIns="0" anchor="t">
            <a:spAutoFit/>
          </a:bodyPr>
          <a:lstStyle/>
          <a:p>
            <a:pPr algn="l">
              <a:lnSpc>
                <a:spcPct val="125000"/>
              </a:lnSpc>
            </a:pPr>
            <a:r>
              <a:rPr sz="950" b="0" i="0">
                <a:solidFill>
                  <a:srgbClr val="11181C"/>
                </a:solidFill>
                <a:latin typeface="Arial"/>
              </a:rPr>
              <a:t>Define an abbreviation once: Request for Delivery (RFD)</a:t>
            </a:r>
          </a:p>
        </p:txBody>
      </p:sp>
      <p:sp>
        <p:nvSpPr>
          <p:cNvPr id="38" name="Oval 37"/>
          <p:cNvSpPr/>
          <p:nvPr/>
        </p:nvSpPr>
        <p:spPr>
          <a:xfrm>
            <a:off x="8128000" y="3924300"/>
            <a:ext cx="63500" cy="63500"/>
          </a:xfrm>
          <a:prstGeom prst="ellipse">
            <a:avLst/>
          </a:prstGeom>
          <a:solidFill>
            <a:srgbClr val="22C96A"/>
          </a:solidFill>
          <a:ln>
            <a:noFill/>
          </a:ln>
          <a:effectLst/>
        </p:spPr>
        <p:txBody>
          <a:bodyPr rtlCol="0" anchor="ctr"/>
          <a:lstStyle/>
          <a:p>
            <a:pPr algn="ctr"/>
          </a:p>
        </p:txBody>
      </p:sp>
      <p:sp>
        <p:nvSpPr>
          <p:cNvPr id="39" name="TextBox 38"/>
          <p:cNvSpPr txBox="1"/>
          <p:nvPr/>
        </p:nvSpPr>
        <p:spPr>
          <a:xfrm>
            <a:off x="8305800" y="3860800"/>
            <a:ext cx="3276600" cy="330200"/>
          </a:xfrm>
          <a:prstGeom prst="rect">
            <a:avLst/>
          </a:prstGeom>
          <a:noFill/>
        </p:spPr>
        <p:txBody>
          <a:bodyPr wrap="square" lIns="0" rIns="0" tIns="0" bIns="0" anchor="t">
            <a:spAutoFit/>
          </a:bodyPr>
          <a:lstStyle/>
          <a:p>
            <a:pPr algn="l">
              <a:lnSpc>
                <a:spcPct val="125000"/>
              </a:lnSpc>
            </a:pPr>
            <a:r>
              <a:rPr sz="950" b="0" i="0">
                <a:solidFill>
                  <a:srgbClr val="11181C"/>
                </a:solidFill>
                <a:latin typeface="Arial"/>
              </a:rPr>
              <a:t>English throughout; system names as they appear</a:t>
            </a:r>
          </a:p>
        </p:txBody>
      </p:sp>
      <p:sp>
        <p:nvSpPr>
          <p:cNvPr id="40" name="Oval 39"/>
          <p:cNvSpPr/>
          <p:nvPr/>
        </p:nvSpPr>
        <p:spPr>
          <a:xfrm>
            <a:off x="8128000" y="4305300"/>
            <a:ext cx="63500" cy="63500"/>
          </a:xfrm>
          <a:prstGeom prst="ellipse">
            <a:avLst/>
          </a:prstGeom>
          <a:solidFill>
            <a:srgbClr val="22C96A"/>
          </a:solidFill>
          <a:ln>
            <a:noFill/>
          </a:ln>
          <a:effectLst/>
        </p:spPr>
        <p:txBody>
          <a:bodyPr rtlCol="0" anchor="ctr"/>
          <a:lstStyle/>
          <a:p>
            <a:pPr algn="ctr"/>
          </a:p>
        </p:txBody>
      </p:sp>
      <p:sp>
        <p:nvSpPr>
          <p:cNvPr id="41" name="TextBox 40"/>
          <p:cNvSpPr txBox="1"/>
          <p:nvPr/>
        </p:nvSpPr>
        <p:spPr>
          <a:xfrm>
            <a:off x="8305800" y="4241800"/>
            <a:ext cx="3276600" cy="330200"/>
          </a:xfrm>
          <a:prstGeom prst="rect">
            <a:avLst/>
          </a:prstGeom>
          <a:noFill/>
        </p:spPr>
        <p:txBody>
          <a:bodyPr wrap="square" lIns="0" rIns="0" tIns="0" bIns="0" anchor="t">
            <a:spAutoFit/>
          </a:bodyPr>
          <a:lstStyle/>
          <a:p>
            <a:pPr algn="l">
              <a:lnSpc>
                <a:spcPct val="125000"/>
              </a:lnSpc>
            </a:pPr>
            <a:r>
              <a:rPr sz="950" b="0" i="0">
                <a:solidFill>
                  <a:srgbClr val="11181C"/>
                </a:solidFill>
                <a:latin typeface="Arial"/>
              </a:rPr>
              <a:t>No hype words: 'very', 'huge', 'amazing'</a:t>
            </a:r>
          </a:p>
        </p:txBody>
      </p:sp>
      <p:sp>
        <p:nvSpPr>
          <p:cNvPr id="42" name="Rounded Rectangle 41"/>
          <p:cNvSpPr/>
          <p:nvPr/>
        </p:nvSpPr>
        <p:spPr>
          <a:xfrm>
            <a:off x="609600" y="4876800"/>
            <a:ext cx="10972800" cy="1371600"/>
          </a:xfrm>
          <a:prstGeom prst="roundRect">
            <a:avLst>
              <a:gd name="adj" fmla="val 9259"/>
            </a:avLst>
          </a:prstGeom>
          <a:solidFill>
            <a:srgbClr val="F9FAFB"/>
          </a:solidFill>
          <a:ln>
            <a:noFill/>
          </a:ln>
          <a:effectLst/>
        </p:spPr>
        <p:txBody>
          <a:bodyPr rtlCol="0" anchor="ctr"/>
          <a:lstStyle/>
          <a:p>
            <a:pPr algn="ctr"/>
          </a:p>
        </p:txBody>
      </p:sp>
      <p:sp>
        <p:nvSpPr>
          <p:cNvPr id="43" name="TextBox 42"/>
          <p:cNvSpPr txBox="1"/>
          <p:nvPr/>
        </p:nvSpPr>
        <p:spPr>
          <a:xfrm>
            <a:off x="609600" y="5105400"/>
            <a:ext cx="10972800" cy="152400"/>
          </a:xfrm>
          <a:prstGeom prst="rect">
            <a:avLst/>
          </a:prstGeom>
          <a:noFill/>
        </p:spPr>
        <p:txBody>
          <a:bodyPr wrap="square" lIns="0" rIns="0" tIns="0" bIns="0" anchor="t">
            <a:spAutoFit/>
          </a:bodyPr>
          <a:lstStyle/>
          <a:p>
            <a:pPr algn="ctr"/>
            <a:r>
              <a:rPr sz="850" b="1" i="0" spc="150">
                <a:solidFill>
                  <a:srgbClr val="697177"/>
                </a:solidFill>
                <a:latin typeface="Arial"/>
              </a:rPr>
              <a:t>THE HEADLINE TEST</a:t>
            </a:r>
          </a:p>
        </p:txBody>
      </p:sp>
      <p:sp>
        <p:nvSpPr>
          <p:cNvPr id="44" name="TextBox 43"/>
          <p:cNvSpPr txBox="1"/>
          <p:nvPr/>
        </p:nvSpPr>
        <p:spPr>
          <a:xfrm>
            <a:off x="1117600" y="5334000"/>
            <a:ext cx="9956800" cy="762000"/>
          </a:xfrm>
          <a:prstGeom prst="rect">
            <a:avLst/>
          </a:prstGeom>
          <a:noFill/>
        </p:spPr>
        <p:txBody>
          <a:bodyPr wrap="square" lIns="0" rIns="0" tIns="0" bIns="0" anchor="t">
            <a:spAutoFit/>
          </a:bodyPr>
          <a:lstStyle/>
          <a:p>
            <a:pPr algn="ctr">
              <a:lnSpc>
                <a:spcPct val="120000"/>
              </a:lnSpc>
            </a:pPr>
            <a:r>
              <a:rPr sz="1600" b="0" i="0">
                <a:solidFill>
                  <a:srgbClr val="11181C"/>
                </a:solidFill>
                <a:latin typeface="Georgia"/>
              </a:rPr>
              <a:t>Read only the headlines from first to last slide. If they tell the whole 6-month story, the deck </a:t>
            </a:r>
            <a:r>
              <a:rPr sz="1600" b="0" i="1">
                <a:solidFill>
                  <a:srgbClr val="11181C"/>
                </a:solidFill>
                <a:latin typeface="Georgia"/>
              </a:rPr>
              <a:t>works</a:t>
            </a:r>
            <a:r>
              <a:rPr sz="1600" b="0" i="0">
                <a:solidFill>
                  <a:srgbClr val="11181C"/>
                </a:solidFill>
                <a:latin typeface="Georgia"/>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APPLICATION · NUMBERS &amp; FORMATS</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One format for </a:t>
            </a:r>
            <a:r>
              <a:rPr sz="2400" b="0" i="1">
                <a:solidFill>
                  <a:srgbClr val="11181C"/>
                </a:solidFill>
                <a:latin typeface="Georgia"/>
              </a:rPr>
              <a:t>every</a:t>
            </a:r>
            <a:r>
              <a:rPr sz="2400" b="0" i="0">
                <a:solidFill>
                  <a:srgbClr val="11181C"/>
                </a:solidFill>
                <a:latin typeface="Georgia"/>
              </a:rPr>
              <a:t> figure.</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23</a:t>
            </a:r>
          </a:p>
        </p:txBody>
      </p:sp>
      <p:sp>
        <p:nvSpPr>
          <p:cNvPr id="11" name="TextBox 10"/>
          <p:cNvSpPr txBox="1"/>
          <p:nvPr/>
        </p:nvSpPr>
        <p:spPr>
          <a:xfrm>
            <a:off x="609600" y="2006600"/>
            <a:ext cx="2032000" cy="177800"/>
          </a:xfrm>
          <a:prstGeom prst="rect">
            <a:avLst/>
          </a:prstGeom>
          <a:noFill/>
        </p:spPr>
        <p:txBody>
          <a:bodyPr wrap="square" lIns="0" rIns="0" tIns="0" bIns="0" anchor="t">
            <a:spAutoFit/>
          </a:bodyPr>
          <a:lstStyle/>
          <a:p>
            <a:pPr algn="l"/>
            <a:r>
              <a:rPr sz="750" b="1" i="0" spc="100">
                <a:solidFill>
                  <a:srgbClr val="697177"/>
                </a:solidFill>
                <a:latin typeface="Arial"/>
              </a:rPr>
              <a:t>CURRENCY · TABLE</a:t>
            </a:r>
          </a:p>
        </p:txBody>
      </p:sp>
      <p:sp>
        <p:nvSpPr>
          <p:cNvPr id="12" name="TextBox 11"/>
          <p:cNvSpPr txBox="1"/>
          <p:nvPr/>
        </p:nvSpPr>
        <p:spPr>
          <a:xfrm>
            <a:off x="2641600" y="1930400"/>
            <a:ext cx="3302000" cy="330200"/>
          </a:xfrm>
          <a:prstGeom prst="rect">
            <a:avLst/>
          </a:prstGeom>
          <a:noFill/>
        </p:spPr>
        <p:txBody>
          <a:bodyPr wrap="square" lIns="0" rIns="0" tIns="0" bIns="0" anchor="t">
            <a:spAutoFit/>
          </a:bodyPr>
          <a:lstStyle/>
          <a:p>
            <a:pPr algn="l"/>
            <a:r>
              <a:rPr sz="1600" b="0" i="0">
                <a:solidFill>
                  <a:srgbClr val="11181C"/>
                </a:solidFill>
                <a:latin typeface="Georgia"/>
              </a:rPr>
              <a:t>Rp 1.240.000.000</a:t>
            </a:r>
          </a:p>
        </p:txBody>
      </p:sp>
      <p:cxnSp>
        <p:nvCxnSpPr>
          <p:cNvPr id="13" name="Connector 12"/>
          <p:cNvCxnSpPr/>
          <p:nvPr/>
        </p:nvCxnSpPr>
        <p:spPr>
          <a:xfrm>
            <a:off x="609600" y="2387600"/>
            <a:ext cx="5334000" cy="0"/>
          </a:xfrm>
          <a:prstGeom prst="line">
            <a:avLst/>
          </a:prstGeom>
          <a:ln w="9525">
            <a:solidFill>
              <a:srgbClr val="E6E8EB"/>
            </a:solidFill>
          </a:ln>
        </p:spPr>
      </p:cxnSp>
      <p:sp>
        <p:nvSpPr>
          <p:cNvPr id="14" name="TextBox 13"/>
          <p:cNvSpPr txBox="1"/>
          <p:nvPr/>
        </p:nvSpPr>
        <p:spPr>
          <a:xfrm>
            <a:off x="609600" y="2667000"/>
            <a:ext cx="2032000" cy="177800"/>
          </a:xfrm>
          <a:prstGeom prst="rect">
            <a:avLst/>
          </a:prstGeom>
          <a:noFill/>
        </p:spPr>
        <p:txBody>
          <a:bodyPr wrap="square" lIns="0" rIns="0" tIns="0" bIns="0" anchor="t">
            <a:spAutoFit/>
          </a:bodyPr>
          <a:lstStyle/>
          <a:p>
            <a:pPr algn="l"/>
            <a:r>
              <a:rPr sz="750" b="1" i="0" spc="100">
                <a:solidFill>
                  <a:srgbClr val="697177"/>
                </a:solidFill>
                <a:latin typeface="Arial"/>
              </a:rPr>
              <a:t>CURRENCY · TEXT</a:t>
            </a:r>
          </a:p>
        </p:txBody>
      </p:sp>
      <p:sp>
        <p:nvSpPr>
          <p:cNvPr id="15" name="TextBox 14"/>
          <p:cNvSpPr txBox="1"/>
          <p:nvPr/>
        </p:nvSpPr>
        <p:spPr>
          <a:xfrm>
            <a:off x="2641600" y="2590800"/>
            <a:ext cx="3302000" cy="330200"/>
          </a:xfrm>
          <a:prstGeom prst="rect">
            <a:avLst/>
          </a:prstGeom>
          <a:noFill/>
        </p:spPr>
        <p:txBody>
          <a:bodyPr wrap="square" lIns="0" rIns="0" tIns="0" bIns="0" anchor="t">
            <a:spAutoFit/>
          </a:bodyPr>
          <a:lstStyle/>
          <a:p>
            <a:pPr algn="l"/>
            <a:r>
              <a:rPr sz="1600" b="0" i="0">
                <a:solidFill>
                  <a:srgbClr val="11181C"/>
                </a:solidFill>
                <a:latin typeface="Georgia"/>
              </a:rPr>
              <a:t>Rp 1,24 M  ·  Rp 650 jt</a:t>
            </a:r>
          </a:p>
        </p:txBody>
      </p:sp>
      <p:cxnSp>
        <p:nvCxnSpPr>
          <p:cNvPr id="16" name="Connector 15"/>
          <p:cNvCxnSpPr/>
          <p:nvPr/>
        </p:nvCxnSpPr>
        <p:spPr>
          <a:xfrm>
            <a:off x="609600" y="3048000"/>
            <a:ext cx="5334000" cy="0"/>
          </a:xfrm>
          <a:prstGeom prst="line">
            <a:avLst/>
          </a:prstGeom>
          <a:ln w="9525">
            <a:solidFill>
              <a:srgbClr val="E6E8EB"/>
            </a:solidFill>
          </a:ln>
        </p:spPr>
      </p:cxnSp>
      <p:sp>
        <p:nvSpPr>
          <p:cNvPr id="17" name="TextBox 16"/>
          <p:cNvSpPr txBox="1"/>
          <p:nvPr/>
        </p:nvSpPr>
        <p:spPr>
          <a:xfrm>
            <a:off x="609600" y="3327400"/>
            <a:ext cx="2032000" cy="177800"/>
          </a:xfrm>
          <a:prstGeom prst="rect">
            <a:avLst/>
          </a:prstGeom>
          <a:noFill/>
        </p:spPr>
        <p:txBody>
          <a:bodyPr wrap="square" lIns="0" rIns="0" tIns="0" bIns="0" anchor="t">
            <a:spAutoFit/>
          </a:bodyPr>
          <a:lstStyle/>
          <a:p>
            <a:pPr algn="l"/>
            <a:r>
              <a:rPr sz="750" b="1" i="0" spc="100">
                <a:solidFill>
                  <a:srgbClr val="697177"/>
                </a:solidFill>
                <a:latin typeface="Arial"/>
              </a:rPr>
              <a:t>CAPACITY</a:t>
            </a:r>
          </a:p>
        </p:txBody>
      </p:sp>
      <p:sp>
        <p:nvSpPr>
          <p:cNvPr id="18" name="TextBox 17"/>
          <p:cNvSpPr txBox="1"/>
          <p:nvPr/>
        </p:nvSpPr>
        <p:spPr>
          <a:xfrm>
            <a:off x="2641600" y="3251200"/>
            <a:ext cx="3302000" cy="330200"/>
          </a:xfrm>
          <a:prstGeom prst="rect">
            <a:avLst/>
          </a:prstGeom>
          <a:noFill/>
        </p:spPr>
        <p:txBody>
          <a:bodyPr wrap="square" lIns="0" rIns="0" tIns="0" bIns="0" anchor="t">
            <a:spAutoFit/>
          </a:bodyPr>
          <a:lstStyle/>
          <a:p>
            <a:pPr algn="l"/>
            <a:r>
              <a:rPr sz="1600" b="0" i="0">
                <a:solidFill>
                  <a:srgbClr val="11181C"/>
                </a:solidFill>
                <a:latin typeface="Georgia"/>
              </a:rPr>
              <a:t>25–35 tm  ·  30,4 tm</a:t>
            </a:r>
          </a:p>
        </p:txBody>
      </p:sp>
      <p:cxnSp>
        <p:nvCxnSpPr>
          <p:cNvPr id="19" name="Connector 18"/>
          <p:cNvCxnSpPr/>
          <p:nvPr/>
        </p:nvCxnSpPr>
        <p:spPr>
          <a:xfrm>
            <a:off x="609600" y="3708400"/>
            <a:ext cx="5334000" cy="0"/>
          </a:xfrm>
          <a:prstGeom prst="line">
            <a:avLst/>
          </a:prstGeom>
          <a:ln w="9525">
            <a:solidFill>
              <a:srgbClr val="E6E8EB"/>
            </a:solidFill>
          </a:ln>
        </p:spPr>
      </p:cxnSp>
      <p:sp>
        <p:nvSpPr>
          <p:cNvPr id="20" name="TextBox 19"/>
          <p:cNvSpPr txBox="1"/>
          <p:nvPr/>
        </p:nvSpPr>
        <p:spPr>
          <a:xfrm>
            <a:off x="609600" y="3987800"/>
            <a:ext cx="2032000" cy="177800"/>
          </a:xfrm>
          <a:prstGeom prst="rect">
            <a:avLst/>
          </a:prstGeom>
          <a:noFill/>
        </p:spPr>
        <p:txBody>
          <a:bodyPr wrap="square" lIns="0" rIns="0" tIns="0" bIns="0" anchor="t">
            <a:spAutoFit/>
          </a:bodyPr>
          <a:lstStyle/>
          <a:p>
            <a:pPr algn="l"/>
            <a:r>
              <a:rPr sz="750" b="1" i="0" spc="100">
                <a:solidFill>
                  <a:srgbClr val="697177"/>
                </a:solidFill>
                <a:latin typeface="Arial"/>
              </a:rPr>
              <a:t>COUNT</a:t>
            </a:r>
          </a:p>
        </p:txBody>
      </p:sp>
      <p:sp>
        <p:nvSpPr>
          <p:cNvPr id="21" name="TextBox 20"/>
          <p:cNvSpPr txBox="1"/>
          <p:nvPr/>
        </p:nvSpPr>
        <p:spPr>
          <a:xfrm>
            <a:off x="2641600" y="3911600"/>
            <a:ext cx="3302000" cy="330200"/>
          </a:xfrm>
          <a:prstGeom prst="rect">
            <a:avLst/>
          </a:prstGeom>
          <a:noFill/>
        </p:spPr>
        <p:txBody>
          <a:bodyPr wrap="square" lIns="0" rIns="0" tIns="0" bIns="0" anchor="t">
            <a:spAutoFit/>
          </a:bodyPr>
          <a:lstStyle/>
          <a:p>
            <a:pPr algn="l"/>
            <a:r>
              <a:rPr sz="1600" b="0" i="0">
                <a:solidFill>
                  <a:srgbClr val="11181C"/>
                </a:solidFill>
                <a:latin typeface="Georgia"/>
              </a:rPr>
              <a:t>31 units  ·  1 unit</a:t>
            </a:r>
          </a:p>
        </p:txBody>
      </p:sp>
      <p:cxnSp>
        <p:nvCxnSpPr>
          <p:cNvPr id="22" name="Connector 21"/>
          <p:cNvCxnSpPr/>
          <p:nvPr/>
        </p:nvCxnSpPr>
        <p:spPr>
          <a:xfrm>
            <a:off x="609600" y="4368800"/>
            <a:ext cx="5334000" cy="0"/>
          </a:xfrm>
          <a:prstGeom prst="line">
            <a:avLst/>
          </a:prstGeom>
          <a:ln w="9525">
            <a:solidFill>
              <a:srgbClr val="E6E8EB"/>
            </a:solidFill>
          </a:ln>
        </p:spPr>
      </p:cxnSp>
      <p:sp>
        <p:nvSpPr>
          <p:cNvPr id="23" name="TextBox 22"/>
          <p:cNvSpPr txBox="1"/>
          <p:nvPr/>
        </p:nvSpPr>
        <p:spPr>
          <a:xfrm>
            <a:off x="609600" y="4648200"/>
            <a:ext cx="2032000" cy="177800"/>
          </a:xfrm>
          <a:prstGeom prst="rect">
            <a:avLst/>
          </a:prstGeom>
          <a:noFill/>
        </p:spPr>
        <p:txBody>
          <a:bodyPr wrap="square" lIns="0" rIns="0" tIns="0" bIns="0" anchor="t">
            <a:spAutoFit/>
          </a:bodyPr>
          <a:lstStyle/>
          <a:p>
            <a:pPr algn="l"/>
            <a:r>
              <a:rPr sz="750" b="1" i="0" spc="100">
                <a:solidFill>
                  <a:srgbClr val="697177"/>
                </a:solidFill>
                <a:latin typeface="Arial"/>
              </a:rPr>
              <a:t>PERCENT / CHANGE</a:t>
            </a:r>
          </a:p>
        </p:txBody>
      </p:sp>
      <p:sp>
        <p:nvSpPr>
          <p:cNvPr id="24" name="TextBox 23"/>
          <p:cNvSpPr txBox="1"/>
          <p:nvPr/>
        </p:nvSpPr>
        <p:spPr>
          <a:xfrm>
            <a:off x="2641600" y="4572000"/>
            <a:ext cx="3302000" cy="330200"/>
          </a:xfrm>
          <a:prstGeom prst="rect">
            <a:avLst/>
          </a:prstGeom>
          <a:noFill/>
        </p:spPr>
        <p:txBody>
          <a:bodyPr wrap="square" lIns="0" rIns="0" tIns="0" bIns="0" anchor="t">
            <a:spAutoFit/>
          </a:bodyPr>
          <a:lstStyle/>
          <a:p>
            <a:pPr algn="l"/>
            <a:r>
              <a:rPr sz="1600" b="0" i="0">
                <a:solidFill>
                  <a:srgbClr val="11181C"/>
                </a:solidFill>
                <a:latin typeface="Georgia"/>
              </a:rPr>
              <a:t>41%  ·  +23%  ·  −14%</a:t>
            </a:r>
          </a:p>
        </p:txBody>
      </p:sp>
      <p:cxnSp>
        <p:nvCxnSpPr>
          <p:cNvPr id="25" name="Connector 24"/>
          <p:cNvCxnSpPr/>
          <p:nvPr/>
        </p:nvCxnSpPr>
        <p:spPr>
          <a:xfrm>
            <a:off x="609600" y="5029200"/>
            <a:ext cx="5334000" cy="0"/>
          </a:xfrm>
          <a:prstGeom prst="line">
            <a:avLst/>
          </a:prstGeom>
          <a:ln w="9525">
            <a:solidFill>
              <a:srgbClr val="E6E8EB"/>
            </a:solidFill>
          </a:ln>
        </p:spPr>
      </p:cxnSp>
      <p:sp>
        <p:nvSpPr>
          <p:cNvPr id="26" name="TextBox 25"/>
          <p:cNvSpPr txBox="1"/>
          <p:nvPr/>
        </p:nvSpPr>
        <p:spPr>
          <a:xfrm>
            <a:off x="6197600" y="2006600"/>
            <a:ext cx="2032000" cy="177800"/>
          </a:xfrm>
          <a:prstGeom prst="rect">
            <a:avLst/>
          </a:prstGeom>
          <a:noFill/>
        </p:spPr>
        <p:txBody>
          <a:bodyPr wrap="square" lIns="0" rIns="0" tIns="0" bIns="0" anchor="t">
            <a:spAutoFit/>
          </a:bodyPr>
          <a:lstStyle/>
          <a:p>
            <a:pPr algn="l"/>
            <a:r>
              <a:rPr sz="750" b="1" i="0" spc="100">
                <a:solidFill>
                  <a:srgbClr val="697177"/>
                </a:solidFill>
                <a:latin typeface="Arial"/>
              </a:rPr>
              <a:t>DATE</a:t>
            </a:r>
          </a:p>
        </p:txBody>
      </p:sp>
      <p:sp>
        <p:nvSpPr>
          <p:cNvPr id="27" name="TextBox 26"/>
          <p:cNvSpPr txBox="1"/>
          <p:nvPr/>
        </p:nvSpPr>
        <p:spPr>
          <a:xfrm>
            <a:off x="8229600" y="1930400"/>
            <a:ext cx="3302000" cy="330200"/>
          </a:xfrm>
          <a:prstGeom prst="rect">
            <a:avLst/>
          </a:prstGeom>
          <a:noFill/>
        </p:spPr>
        <p:txBody>
          <a:bodyPr wrap="square" lIns="0" rIns="0" tIns="0" bIns="0" anchor="t">
            <a:spAutoFit/>
          </a:bodyPr>
          <a:lstStyle/>
          <a:p>
            <a:pPr algn="l"/>
            <a:r>
              <a:rPr sz="1600" b="0" i="0">
                <a:solidFill>
                  <a:srgbClr val="11181C"/>
                </a:solidFill>
                <a:latin typeface="Georgia"/>
              </a:rPr>
              <a:t>14 Aug 2026</a:t>
            </a:r>
          </a:p>
        </p:txBody>
      </p:sp>
      <p:cxnSp>
        <p:nvCxnSpPr>
          <p:cNvPr id="28" name="Connector 27"/>
          <p:cNvCxnSpPr/>
          <p:nvPr/>
        </p:nvCxnSpPr>
        <p:spPr>
          <a:xfrm>
            <a:off x="6197600" y="2387600"/>
            <a:ext cx="5334000" cy="0"/>
          </a:xfrm>
          <a:prstGeom prst="line">
            <a:avLst/>
          </a:prstGeom>
          <a:ln w="9525">
            <a:solidFill>
              <a:srgbClr val="E6E8EB"/>
            </a:solidFill>
          </a:ln>
        </p:spPr>
      </p:cxnSp>
      <p:sp>
        <p:nvSpPr>
          <p:cNvPr id="29" name="TextBox 28"/>
          <p:cNvSpPr txBox="1"/>
          <p:nvPr/>
        </p:nvSpPr>
        <p:spPr>
          <a:xfrm>
            <a:off x="6197600" y="2667000"/>
            <a:ext cx="2032000" cy="177800"/>
          </a:xfrm>
          <a:prstGeom prst="rect">
            <a:avLst/>
          </a:prstGeom>
          <a:noFill/>
        </p:spPr>
        <p:txBody>
          <a:bodyPr wrap="square" lIns="0" rIns="0" tIns="0" bIns="0" anchor="t">
            <a:spAutoFit/>
          </a:bodyPr>
          <a:lstStyle/>
          <a:p>
            <a:pPr algn="l"/>
            <a:r>
              <a:rPr sz="750" b="1" i="0" spc="100">
                <a:solidFill>
                  <a:srgbClr val="697177"/>
                </a:solidFill>
                <a:latin typeface="Arial"/>
              </a:rPr>
              <a:t>PERIOD</a:t>
            </a:r>
          </a:p>
        </p:txBody>
      </p:sp>
      <p:sp>
        <p:nvSpPr>
          <p:cNvPr id="30" name="TextBox 29"/>
          <p:cNvSpPr txBox="1"/>
          <p:nvPr/>
        </p:nvSpPr>
        <p:spPr>
          <a:xfrm>
            <a:off x="8229600" y="2590800"/>
            <a:ext cx="3302000" cy="330200"/>
          </a:xfrm>
          <a:prstGeom prst="rect">
            <a:avLst/>
          </a:prstGeom>
          <a:noFill/>
        </p:spPr>
        <p:txBody>
          <a:bodyPr wrap="square" lIns="0" rIns="0" tIns="0" bIns="0" anchor="t">
            <a:spAutoFit/>
          </a:bodyPr>
          <a:lstStyle/>
          <a:p>
            <a:pPr algn="l"/>
            <a:r>
              <a:rPr sz="1600" b="0" i="0">
                <a:solidFill>
                  <a:srgbClr val="11181C"/>
                </a:solidFill>
                <a:latin typeface="Georgia"/>
              </a:rPr>
              <a:t>Jan 2023 – Aug 2026</a:t>
            </a:r>
          </a:p>
        </p:txBody>
      </p:sp>
      <p:cxnSp>
        <p:nvCxnSpPr>
          <p:cNvPr id="31" name="Connector 30"/>
          <p:cNvCxnSpPr/>
          <p:nvPr/>
        </p:nvCxnSpPr>
        <p:spPr>
          <a:xfrm>
            <a:off x="6197600" y="3048000"/>
            <a:ext cx="5334000" cy="0"/>
          </a:xfrm>
          <a:prstGeom prst="line">
            <a:avLst/>
          </a:prstGeom>
          <a:ln w="9525">
            <a:solidFill>
              <a:srgbClr val="E6E8EB"/>
            </a:solidFill>
          </a:ln>
        </p:spPr>
      </p:cxnSp>
      <p:sp>
        <p:nvSpPr>
          <p:cNvPr id="32" name="TextBox 31"/>
          <p:cNvSpPr txBox="1"/>
          <p:nvPr/>
        </p:nvSpPr>
        <p:spPr>
          <a:xfrm>
            <a:off x="6197600" y="3327400"/>
            <a:ext cx="2032000" cy="177800"/>
          </a:xfrm>
          <a:prstGeom prst="rect">
            <a:avLst/>
          </a:prstGeom>
          <a:noFill/>
        </p:spPr>
        <p:txBody>
          <a:bodyPr wrap="square" lIns="0" rIns="0" tIns="0" bIns="0" anchor="t">
            <a:spAutoFit/>
          </a:bodyPr>
          <a:lstStyle/>
          <a:p>
            <a:pPr algn="l"/>
            <a:r>
              <a:rPr sz="750" b="1" i="0" spc="100">
                <a:solidFill>
                  <a:srgbClr val="697177"/>
                </a:solidFill>
                <a:latin typeface="Arial"/>
              </a:rPr>
              <a:t>QUARTER / MONTH</a:t>
            </a:r>
          </a:p>
        </p:txBody>
      </p:sp>
      <p:sp>
        <p:nvSpPr>
          <p:cNvPr id="33" name="TextBox 32"/>
          <p:cNvSpPr txBox="1"/>
          <p:nvPr/>
        </p:nvSpPr>
        <p:spPr>
          <a:xfrm>
            <a:off x="8229600" y="3251200"/>
            <a:ext cx="3302000" cy="330200"/>
          </a:xfrm>
          <a:prstGeom prst="rect">
            <a:avLst/>
          </a:prstGeom>
          <a:noFill/>
        </p:spPr>
        <p:txBody>
          <a:bodyPr wrap="square" lIns="0" rIns="0" tIns="0" bIns="0" anchor="t">
            <a:spAutoFit/>
          </a:bodyPr>
          <a:lstStyle/>
          <a:p>
            <a:pPr algn="l"/>
            <a:r>
              <a:rPr sz="1600" b="0" i="0">
                <a:solidFill>
                  <a:srgbClr val="11181C"/>
                </a:solidFill>
                <a:latin typeface="Georgia"/>
              </a:rPr>
              <a:t>Q3 2026  ·  Oct 2026</a:t>
            </a:r>
          </a:p>
        </p:txBody>
      </p:sp>
      <p:cxnSp>
        <p:nvCxnSpPr>
          <p:cNvPr id="34" name="Connector 33"/>
          <p:cNvCxnSpPr/>
          <p:nvPr/>
        </p:nvCxnSpPr>
        <p:spPr>
          <a:xfrm>
            <a:off x="6197600" y="3708400"/>
            <a:ext cx="5334000" cy="0"/>
          </a:xfrm>
          <a:prstGeom prst="line">
            <a:avLst/>
          </a:prstGeom>
          <a:ln w="9525">
            <a:solidFill>
              <a:srgbClr val="E6E8EB"/>
            </a:solidFill>
          </a:ln>
        </p:spPr>
      </p:cxnSp>
      <p:sp>
        <p:nvSpPr>
          <p:cNvPr id="35" name="TextBox 34"/>
          <p:cNvSpPr txBox="1"/>
          <p:nvPr/>
        </p:nvSpPr>
        <p:spPr>
          <a:xfrm>
            <a:off x="6197600" y="3987800"/>
            <a:ext cx="2032000" cy="177800"/>
          </a:xfrm>
          <a:prstGeom prst="rect">
            <a:avLst/>
          </a:prstGeom>
          <a:noFill/>
        </p:spPr>
        <p:txBody>
          <a:bodyPr wrap="square" lIns="0" rIns="0" tIns="0" bIns="0" anchor="t">
            <a:spAutoFit/>
          </a:bodyPr>
          <a:lstStyle/>
          <a:p>
            <a:pPr algn="l"/>
            <a:r>
              <a:rPr sz="750" b="1" i="0" spc="100">
                <a:solidFill>
                  <a:srgbClr val="697177"/>
                </a:solidFill>
                <a:latin typeface="Arial"/>
              </a:rPr>
              <a:t>ESTIMATE</a:t>
            </a:r>
          </a:p>
        </p:txBody>
      </p:sp>
      <p:sp>
        <p:nvSpPr>
          <p:cNvPr id="36" name="TextBox 35"/>
          <p:cNvSpPr txBox="1"/>
          <p:nvPr/>
        </p:nvSpPr>
        <p:spPr>
          <a:xfrm>
            <a:off x="8229600" y="3911600"/>
            <a:ext cx="3302000" cy="330200"/>
          </a:xfrm>
          <a:prstGeom prst="rect">
            <a:avLst/>
          </a:prstGeom>
          <a:noFill/>
        </p:spPr>
        <p:txBody>
          <a:bodyPr wrap="square" lIns="0" rIns="0" tIns="0" bIns="0" anchor="t">
            <a:spAutoFit/>
          </a:bodyPr>
          <a:lstStyle/>
          <a:p>
            <a:pPr algn="l"/>
            <a:r>
              <a:rPr sz="1600" b="0" i="0">
                <a:solidFill>
                  <a:srgbClr val="11181C"/>
                </a:solidFill>
                <a:latin typeface="Georgia"/>
              </a:rPr>
              <a:t>7441C*  (*estimate, noted)</a:t>
            </a:r>
          </a:p>
        </p:txBody>
      </p:sp>
      <p:cxnSp>
        <p:nvCxnSpPr>
          <p:cNvPr id="37" name="Connector 36"/>
          <p:cNvCxnSpPr/>
          <p:nvPr/>
        </p:nvCxnSpPr>
        <p:spPr>
          <a:xfrm>
            <a:off x="6197600" y="4368800"/>
            <a:ext cx="5334000" cy="0"/>
          </a:xfrm>
          <a:prstGeom prst="line">
            <a:avLst/>
          </a:prstGeom>
          <a:ln w="9525">
            <a:solidFill>
              <a:srgbClr val="E6E8EB"/>
            </a:solidFill>
          </a:ln>
        </p:spPr>
      </p:cxnSp>
      <p:sp>
        <p:nvSpPr>
          <p:cNvPr id="38" name="Rounded Rectangle 37"/>
          <p:cNvSpPr/>
          <p:nvPr/>
        </p:nvSpPr>
        <p:spPr>
          <a:xfrm>
            <a:off x="6197600" y="5207000"/>
            <a:ext cx="5384800" cy="1041400"/>
          </a:xfrm>
          <a:prstGeom prst="roundRect">
            <a:avLst>
              <a:gd name="adj" fmla="val 12195"/>
            </a:avLst>
          </a:prstGeom>
          <a:solidFill>
            <a:srgbClr val="E5FFF1"/>
          </a:solidFill>
          <a:ln>
            <a:noFill/>
          </a:ln>
          <a:effectLst/>
        </p:spPr>
        <p:txBody>
          <a:bodyPr rtlCol="0" anchor="ctr"/>
          <a:lstStyle/>
          <a:p>
            <a:pPr algn="ctr"/>
          </a:p>
        </p:txBody>
      </p:sp>
      <p:sp>
        <p:nvSpPr>
          <p:cNvPr id="39" name="TextBox 38"/>
          <p:cNvSpPr txBox="1"/>
          <p:nvPr/>
        </p:nvSpPr>
        <p:spPr>
          <a:xfrm>
            <a:off x="6426200" y="5384800"/>
            <a:ext cx="3810000" cy="152400"/>
          </a:xfrm>
          <a:prstGeom prst="rect">
            <a:avLst/>
          </a:prstGeom>
          <a:noFill/>
        </p:spPr>
        <p:txBody>
          <a:bodyPr wrap="square" lIns="0" rIns="0" tIns="0" bIns="0" anchor="t">
            <a:spAutoFit/>
          </a:bodyPr>
          <a:lstStyle/>
          <a:p>
            <a:pPr algn="l"/>
            <a:r>
              <a:rPr sz="850" b="1" i="0" spc="150">
                <a:solidFill>
                  <a:srgbClr val="076932"/>
                </a:solidFill>
                <a:latin typeface="Arial"/>
              </a:rPr>
              <a:t>NOTE</a:t>
            </a:r>
          </a:p>
        </p:txBody>
      </p:sp>
      <p:sp>
        <p:nvSpPr>
          <p:cNvPr id="40" name="TextBox 39"/>
          <p:cNvSpPr txBox="1"/>
          <p:nvPr/>
        </p:nvSpPr>
        <p:spPr>
          <a:xfrm>
            <a:off x="6426200" y="5588000"/>
            <a:ext cx="4953000" cy="609600"/>
          </a:xfrm>
          <a:prstGeom prst="rect">
            <a:avLst/>
          </a:prstGeom>
          <a:noFill/>
        </p:spPr>
        <p:txBody>
          <a:bodyPr wrap="square" lIns="0" rIns="0" tIns="0" bIns="0" anchor="t">
            <a:spAutoFit/>
          </a:bodyPr>
          <a:lstStyle/>
          <a:p>
            <a:pPr algn="l">
              <a:lnSpc>
                <a:spcPct val="135000"/>
              </a:lnSpc>
            </a:pPr>
            <a:r>
              <a:rPr sz="950" b="0" i="0">
                <a:solidFill>
                  <a:srgbClr val="252D31"/>
                </a:solidFill>
                <a:latin typeface="Arial"/>
              </a:rPr>
              <a:t>En dash (–) for ranges, minus sign (−) for drops. Round only in running text; tables keep the full figure so totals add up.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APPLICATION · DRAFT → FINAL</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How your draft </a:t>
            </a:r>
            <a:r>
              <a:rPr sz="2400" b="0" i="1">
                <a:solidFill>
                  <a:srgbClr val="11181C"/>
                </a:solidFill>
                <a:latin typeface="Georgia"/>
              </a:rPr>
              <a:t>becomes</a:t>
            </a:r>
            <a:r>
              <a:rPr sz="2400" b="0" i="0">
                <a:solidFill>
                  <a:srgbClr val="11181C"/>
                </a:solidFill>
                <a:latin typeface="Georgia"/>
              </a:rPr>
              <a:t> the final deck.</a:t>
            </a:r>
          </a:p>
        </p:txBody>
      </p:sp>
      <p:sp>
        <p:nvSpPr>
          <p:cNvPr id="8" name="TextBox 7"/>
          <p:cNvSpPr txBox="1"/>
          <p:nvPr/>
        </p:nvSpPr>
        <p:spPr>
          <a:xfrm>
            <a:off x="609600" y="1549400"/>
            <a:ext cx="8128000" cy="381000"/>
          </a:xfrm>
          <a:prstGeom prst="rect">
            <a:avLst/>
          </a:prstGeom>
          <a:noFill/>
        </p:spPr>
        <p:txBody>
          <a:bodyPr wrap="square" lIns="0" rIns="0" tIns="0" bIns="0" anchor="t">
            <a:spAutoFit/>
          </a:bodyPr>
          <a:lstStyle/>
          <a:p>
            <a:pPr algn="l">
              <a:lnSpc>
                <a:spcPct val="130000"/>
              </a:lnSpc>
            </a:pPr>
            <a:r>
              <a:rPr sz="1050" b="0" i="0">
                <a:solidFill>
                  <a:srgbClr val="4D555C"/>
                </a:solidFill>
                <a:latin typeface="Arial"/>
              </a:rPr>
              <a:t>You keep the content and order; the design pass applies this guide. Five steps, in this order.</a:t>
            </a:r>
          </a:p>
        </p:txBody>
      </p:sp>
      <p:cxnSp>
        <p:nvCxnSpPr>
          <p:cNvPr id="9" name="Connector 8"/>
          <p:cNvCxnSpPr/>
          <p:nvPr/>
        </p:nvCxnSpPr>
        <p:spPr>
          <a:xfrm>
            <a:off x="609600" y="6502400"/>
            <a:ext cx="10972800" cy="0"/>
          </a:xfrm>
          <a:prstGeom prst="line">
            <a:avLst/>
          </a:prstGeom>
          <a:ln w="9525">
            <a:solidFill>
              <a:srgbClr val="E6E8EB"/>
            </a:solidFill>
          </a:ln>
        </p:spPr>
      </p:cxnSp>
      <p:sp>
        <p:nvSpPr>
          <p:cNvPr id="10" name="TextBox 9"/>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1" name="TextBox 10"/>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24</a:t>
            </a:r>
          </a:p>
        </p:txBody>
      </p:sp>
      <p:cxnSp>
        <p:nvCxnSpPr>
          <p:cNvPr id="12" name="Connector 11"/>
          <p:cNvCxnSpPr/>
          <p:nvPr/>
        </p:nvCxnSpPr>
        <p:spPr>
          <a:xfrm>
            <a:off x="736600" y="2717800"/>
            <a:ext cx="10718800" cy="0"/>
          </a:xfrm>
          <a:prstGeom prst="line">
            <a:avLst/>
          </a:prstGeom>
          <a:ln w="12700">
            <a:solidFill>
              <a:srgbClr val="E0E3E6"/>
            </a:solidFill>
          </a:ln>
        </p:spPr>
      </p:cxnSp>
      <p:sp>
        <p:nvSpPr>
          <p:cNvPr id="13" name="TextBox 12"/>
          <p:cNvSpPr txBox="1"/>
          <p:nvPr/>
        </p:nvSpPr>
        <p:spPr>
          <a:xfrm>
            <a:off x="609600" y="2184400"/>
            <a:ext cx="2032000" cy="177800"/>
          </a:xfrm>
          <a:prstGeom prst="rect">
            <a:avLst/>
          </a:prstGeom>
          <a:noFill/>
        </p:spPr>
        <p:txBody>
          <a:bodyPr wrap="square" lIns="0" rIns="0" tIns="0" bIns="0" anchor="t">
            <a:spAutoFit/>
          </a:bodyPr>
          <a:lstStyle/>
          <a:p>
            <a:pPr algn="l"/>
            <a:r>
              <a:rPr sz="900" b="1" i="0">
                <a:solidFill>
                  <a:srgbClr val="22C96A"/>
                </a:solidFill>
                <a:latin typeface="Arial"/>
              </a:rPr>
              <a:t>01</a:t>
            </a:r>
          </a:p>
        </p:txBody>
      </p:sp>
      <p:sp>
        <p:nvSpPr>
          <p:cNvPr id="14" name="TextBox 13"/>
          <p:cNvSpPr txBox="1"/>
          <p:nvPr/>
        </p:nvSpPr>
        <p:spPr>
          <a:xfrm>
            <a:off x="609600" y="2387600"/>
            <a:ext cx="2032000" cy="228600"/>
          </a:xfrm>
          <a:prstGeom prst="rect">
            <a:avLst/>
          </a:prstGeom>
          <a:noFill/>
        </p:spPr>
        <p:txBody>
          <a:bodyPr wrap="square" lIns="0" rIns="0" tIns="0" bIns="0" anchor="t">
            <a:spAutoFit/>
          </a:bodyPr>
          <a:lstStyle/>
          <a:p>
            <a:pPr algn="l"/>
            <a:r>
              <a:rPr sz="1500" b="0" i="0">
                <a:solidFill>
                  <a:srgbClr val="11181C"/>
                </a:solidFill>
                <a:latin typeface="Georgia"/>
              </a:rPr>
              <a:t>Map</a:t>
            </a:r>
          </a:p>
        </p:txBody>
      </p:sp>
      <p:sp>
        <p:nvSpPr>
          <p:cNvPr id="15" name="Oval 14"/>
          <p:cNvSpPr/>
          <p:nvPr/>
        </p:nvSpPr>
        <p:spPr>
          <a:xfrm>
            <a:off x="609600" y="2679700"/>
            <a:ext cx="76200" cy="76200"/>
          </a:xfrm>
          <a:prstGeom prst="ellipse">
            <a:avLst/>
          </a:prstGeom>
          <a:solidFill>
            <a:srgbClr val="22C96A"/>
          </a:solidFill>
          <a:ln>
            <a:noFill/>
          </a:ln>
          <a:effectLst/>
        </p:spPr>
        <p:txBody>
          <a:bodyPr rtlCol="0" anchor="ctr"/>
          <a:lstStyle/>
          <a:p>
            <a:pPr algn="ctr"/>
          </a:p>
        </p:txBody>
      </p:sp>
      <p:sp>
        <p:nvSpPr>
          <p:cNvPr id="16" name="TextBox 15"/>
          <p:cNvSpPr txBox="1"/>
          <p:nvPr/>
        </p:nvSpPr>
        <p:spPr>
          <a:xfrm>
            <a:off x="609600" y="2921000"/>
            <a:ext cx="2032000" cy="762000"/>
          </a:xfrm>
          <a:prstGeom prst="rect">
            <a:avLst/>
          </a:prstGeom>
          <a:noFill/>
        </p:spPr>
        <p:txBody>
          <a:bodyPr wrap="square" lIns="0" rIns="0" tIns="0" bIns="0" anchor="t">
            <a:spAutoFit/>
          </a:bodyPr>
          <a:lstStyle/>
          <a:p>
            <a:pPr algn="l">
              <a:lnSpc>
                <a:spcPct val="140000"/>
              </a:lnSpc>
            </a:pPr>
            <a:r>
              <a:rPr sz="950" b="0" i="0">
                <a:solidFill>
                  <a:srgbClr val="4D555C"/>
                </a:solidFill>
                <a:latin typeface="Arial"/>
              </a:rPr>
              <a:t>Tag each draft slide with one page type (p. 19).</a:t>
            </a:r>
          </a:p>
        </p:txBody>
      </p:sp>
      <p:sp>
        <p:nvSpPr>
          <p:cNvPr id="17" name="TextBox 16"/>
          <p:cNvSpPr txBox="1"/>
          <p:nvPr/>
        </p:nvSpPr>
        <p:spPr>
          <a:xfrm>
            <a:off x="2844800" y="2184400"/>
            <a:ext cx="2032000" cy="177800"/>
          </a:xfrm>
          <a:prstGeom prst="rect">
            <a:avLst/>
          </a:prstGeom>
          <a:noFill/>
        </p:spPr>
        <p:txBody>
          <a:bodyPr wrap="square" lIns="0" rIns="0" tIns="0" bIns="0" anchor="t">
            <a:spAutoFit/>
          </a:bodyPr>
          <a:lstStyle/>
          <a:p>
            <a:pPr algn="l"/>
            <a:r>
              <a:rPr sz="900" b="1" i="0">
                <a:solidFill>
                  <a:srgbClr val="22C96A"/>
                </a:solidFill>
                <a:latin typeface="Arial"/>
              </a:rPr>
              <a:t>02</a:t>
            </a:r>
          </a:p>
        </p:txBody>
      </p:sp>
      <p:sp>
        <p:nvSpPr>
          <p:cNvPr id="18" name="TextBox 17"/>
          <p:cNvSpPr txBox="1"/>
          <p:nvPr/>
        </p:nvSpPr>
        <p:spPr>
          <a:xfrm>
            <a:off x="2844800" y="2387600"/>
            <a:ext cx="2032000" cy="228600"/>
          </a:xfrm>
          <a:prstGeom prst="rect">
            <a:avLst/>
          </a:prstGeom>
          <a:noFill/>
        </p:spPr>
        <p:txBody>
          <a:bodyPr wrap="square" lIns="0" rIns="0" tIns="0" bIns="0" anchor="t">
            <a:spAutoFit/>
          </a:bodyPr>
          <a:lstStyle/>
          <a:p>
            <a:pPr algn="l"/>
            <a:r>
              <a:rPr sz="1500" b="0" i="0">
                <a:solidFill>
                  <a:srgbClr val="11181C"/>
                </a:solidFill>
                <a:latin typeface="Georgia"/>
              </a:rPr>
              <a:t>Message</a:t>
            </a:r>
          </a:p>
        </p:txBody>
      </p:sp>
      <p:sp>
        <p:nvSpPr>
          <p:cNvPr id="19" name="Oval 18"/>
          <p:cNvSpPr/>
          <p:nvPr/>
        </p:nvSpPr>
        <p:spPr>
          <a:xfrm>
            <a:off x="2844800" y="2679700"/>
            <a:ext cx="76200" cy="76200"/>
          </a:xfrm>
          <a:prstGeom prst="ellipse">
            <a:avLst/>
          </a:prstGeom>
          <a:solidFill>
            <a:srgbClr val="22C96A"/>
          </a:solidFill>
          <a:ln>
            <a:noFill/>
          </a:ln>
          <a:effectLst/>
        </p:spPr>
        <p:txBody>
          <a:bodyPr rtlCol="0" anchor="ctr"/>
          <a:lstStyle/>
          <a:p>
            <a:pPr algn="ctr"/>
          </a:p>
        </p:txBody>
      </p:sp>
      <p:sp>
        <p:nvSpPr>
          <p:cNvPr id="20" name="TextBox 19"/>
          <p:cNvSpPr txBox="1"/>
          <p:nvPr/>
        </p:nvSpPr>
        <p:spPr>
          <a:xfrm>
            <a:off x="2844800" y="2921000"/>
            <a:ext cx="2032000" cy="762000"/>
          </a:xfrm>
          <a:prstGeom prst="rect">
            <a:avLst/>
          </a:prstGeom>
          <a:noFill/>
        </p:spPr>
        <p:txBody>
          <a:bodyPr wrap="square" lIns="0" rIns="0" tIns="0" bIns="0" anchor="t">
            <a:spAutoFit/>
          </a:bodyPr>
          <a:lstStyle/>
          <a:p>
            <a:pPr algn="l">
              <a:lnSpc>
                <a:spcPct val="140000"/>
              </a:lnSpc>
            </a:pPr>
            <a:r>
              <a:rPr sz="950" b="0" i="0">
                <a:solidFill>
                  <a:srgbClr val="4D555C"/>
                </a:solidFill>
                <a:latin typeface="Arial"/>
              </a:rPr>
              <a:t>Rewrite the title as a message headline + kicker.</a:t>
            </a:r>
          </a:p>
        </p:txBody>
      </p:sp>
      <p:sp>
        <p:nvSpPr>
          <p:cNvPr id="21" name="TextBox 20"/>
          <p:cNvSpPr txBox="1"/>
          <p:nvPr/>
        </p:nvSpPr>
        <p:spPr>
          <a:xfrm>
            <a:off x="5080000" y="2184400"/>
            <a:ext cx="2032000" cy="177800"/>
          </a:xfrm>
          <a:prstGeom prst="rect">
            <a:avLst/>
          </a:prstGeom>
          <a:noFill/>
        </p:spPr>
        <p:txBody>
          <a:bodyPr wrap="square" lIns="0" rIns="0" tIns="0" bIns="0" anchor="t">
            <a:spAutoFit/>
          </a:bodyPr>
          <a:lstStyle/>
          <a:p>
            <a:pPr algn="l"/>
            <a:r>
              <a:rPr sz="900" b="1" i="0">
                <a:solidFill>
                  <a:srgbClr val="22C96A"/>
                </a:solidFill>
                <a:latin typeface="Arial"/>
              </a:rPr>
              <a:t>03</a:t>
            </a:r>
          </a:p>
        </p:txBody>
      </p:sp>
      <p:sp>
        <p:nvSpPr>
          <p:cNvPr id="22" name="TextBox 21"/>
          <p:cNvSpPr txBox="1"/>
          <p:nvPr/>
        </p:nvSpPr>
        <p:spPr>
          <a:xfrm>
            <a:off x="5080000" y="2387600"/>
            <a:ext cx="2032000" cy="228600"/>
          </a:xfrm>
          <a:prstGeom prst="rect">
            <a:avLst/>
          </a:prstGeom>
          <a:noFill/>
        </p:spPr>
        <p:txBody>
          <a:bodyPr wrap="square" lIns="0" rIns="0" tIns="0" bIns="0" anchor="t">
            <a:spAutoFit/>
          </a:bodyPr>
          <a:lstStyle/>
          <a:p>
            <a:pPr algn="l"/>
            <a:r>
              <a:rPr sz="1500" b="0" i="0">
                <a:solidFill>
                  <a:srgbClr val="11181C"/>
                </a:solidFill>
                <a:latin typeface="Georgia"/>
              </a:rPr>
              <a:t>Rebuild</a:t>
            </a:r>
          </a:p>
        </p:txBody>
      </p:sp>
      <p:sp>
        <p:nvSpPr>
          <p:cNvPr id="23" name="Oval 22"/>
          <p:cNvSpPr/>
          <p:nvPr/>
        </p:nvSpPr>
        <p:spPr>
          <a:xfrm>
            <a:off x="5080000" y="2679700"/>
            <a:ext cx="76200" cy="76200"/>
          </a:xfrm>
          <a:prstGeom prst="ellipse">
            <a:avLst/>
          </a:prstGeom>
          <a:solidFill>
            <a:srgbClr val="22C96A"/>
          </a:solidFill>
          <a:ln>
            <a:noFill/>
          </a:ln>
          <a:effectLst/>
        </p:spPr>
        <p:txBody>
          <a:bodyPr rtlCol="0" anchor="ctr"/>
          <a:lstStyle/>
          <a:p>
            <a:pPr algn="ctr"/>
          </a:p>
        </p:txBody>
      </p:sp>
      <p:sp>
        <p:nvSpPr>
          <p:cNvPr id="24" name="TextBox 23"/>
          <p:cNvSpPr txBox="1"/>
          <p:nvPr/>
        </p:nvSpPr>
        <p:spPr>
          <a:xfrm>
            <a:off x="5080000" y="2921000"/>
            <a:ext cx="2032000" cy="762000"/>
          </a:xfrm>
          <a:prstGeom prst="rect">
            <a:avLst/>
          </a:prstGeom>
          <a:noFill/>
        </p:spPr>
        <p:txBody>
          <a:bodyPr wrap="square" lIns="0" rIns="0" tIns="0" bIns="0" anchor="t">
            <a:spAutoFit/>
          </a:bodyPr>
          <a:lstStyle/>
          <a:p>
            <a:pPr algn="l">
              <a:lnSpc>
                <a:spcPct val="140000"/>
              </a:lnSpc>
            </a:pPr>
            <a:r>
              <a:rPr sz="950" b="0" i="0">
                <a:solidFill>
                  <a:srgbClr val="4D555C"/>
                </a:solidFill>
                <a:latin typeface="Arial"/>
              </a:rPr>
              <a:t>Move content onto the grid using the components.</a:t>
            </a:r>
          </a:p>
        </p:txBody>
      </p:sp>
      <p:sp>
        <p:nvSpPr>
          <p:cNvPr id="25" name="TextBox 24"/>
          <p:cNvSpPr txBox="1"/>
          <p:nvPr/>
        </p:nvSpPr>
        <p:spPr>
          <a:xfrm>
            <a:off x="7315200" y="2184400"/>
            <a:ext cx="2032000" cy="177800"/>
          </a:xfrm>
          <a:prstGeom prst="rect">
            <a:avLst/>
          </a:prstGeom>
          <a:noFill/>
        </p:spPr>
        <p:txBody>
          <a:bodyPr wrap="square" lIns="0" rIns="0" tIns="0" bIns="0" anchor="t">
            <a:spAutoFit/>
          </a:bodyPr>
          <a:lstStyle/>
          <a:p>
            <a:pPr algn="l"/>
            <a:r>
              <a:rPr sz="900" b="1" i="0">
                <a:solidFill>
                  <a:srgbClr val="22C96A"/>
                </a:solidFill>
                <a:latin typeface="Arial"/>
              </a:rPr>
              <a:t>04</a:t>
            </a:r>
          </a:p>
        </p:txBody>
      </p:sp>
      <p:sp>
        <p:nvSpPr>
          <p:cNvPr id="26" name="TextBox 25"/>
          <p:cNvSpPr txBox="1"/>
          <p:nvPr/>
        </p:nvSpPr>
        <p:spPr>
          <a:xfrm>
            <a:off x="7315200" y="2387600"/>
            <a:ext cx="2032000" cy="228600"/>
          </a:xfrm>
          <a:prstGeom prst="rect">
            <a:avLst/>
          </a:prstGeom>
          <a:noFill/>
        </p:spPr>
        <p:txBody>
          <a:bodyPr wrap="square" lIns="0" rIns="0" tIns="0" bIns="0" anchor="t">
            <a:spAutoFit/>
          </a:bodyPr>
          <a:lstStyle/>
          <a:p>
            <a:pPr algn="l"/>
            <a:r>
              <a:rPr sz="1500" b="0" i="0">
                <a:solidFill>
                  <a:srgbClr val="11181C"/>
                </a:solidFill>
                <a:latin typeface="Georgia"/>
              </a:rPr>
              <a:t>Evidence</a:t>
            </a:r>
          </a:p>
        </p:txBody>
      </p:sp>
      <p:sp>
        <p:nvSpPr>
          <p:cNvPr id="27" name="Oval 26"/>
          <p:cNvSpPr/>
          <p:nvPr/>
        </p:nvSpPr>
        <p:spPr>
          <a:xfrm>
            <a:off x="7315200" y="2679700"/>
            <a:ext cx="76200" cy="76200"/>
          </a:xfrm>
          <a:prstGeom prst="ellipse">
            <a:avLst/>
          </a:prstGeom>
          <a:solidFill>
            <a:srgbClr val="22C96A"/>
          </a:solidFill>
          <a:ln>
            <a:noFill/>
          </a:ln>
          <a:effectLst/>
        </p:spPr>
        <p:txBody>
          <a:bodyPr rtlCol="0" anchor="ctr"/>
          <a:lstStyle/>
          <a:p>
            <a:pPr algn="ctr"/>
          </a:p>
        </p:txBody>
      </p:sp>
      <p:sp>
        <p:nvSpPr>
          <p:cNvPr id="28" name="TextBox 27"/>
          <p:cNvSpPr txBox="1"/>
          <p:nvPr/>
        </p:nvSpPr>
        <p:spPr>
          <a:xfrm>
            <a:off x="7315200" y="2921000"/>
            <a:ext cx="2032000" cy="762000"/>
          </a:xfrm>
          <a:prstGeom prst="rect">
            <a:avLst/>
          </a:prstGeom>
          <a:noFill/>
        </p:spPr>
        <p:txBody>
          <a:bodyPr wrap="square" lIns="0" rIns="0" tIns="0" bIns="0" anchor="t">
            <a:spAutoFit/>
          </a:bodyPr>
          <a:lstStyle/>
          <a:p>
            <a:pPr algn="l">
              <a:lnSpc>
                <a:spcPct val="140000"/>
              </a:lnSpc>
            </a:pPr>
            <a:r>
              <a:rPr sz="950" b="0" i="0">
                <a:solidFill>
                  <a:srgbClr val="4D555C"/>
                </a:solidFill>
                <a:latin typeface="Arial"/>
              </a:rPr>
              <a:t>Swap screenshots for native charts/tables; add sources.</a:t>
            </a:r>
          </a:p>
        </p:txBody>
      </p:sp>
      <p:sp>
        <p:nvSpPr>
          <p:cNvPr id="29" name="TextBox 28"/>
          <p:cNvSpPr txBox="1"/>
          <p:nvPr/>
        </p:nvSpPr>
        <p:spPr>
          <a:xfrm>
            <a:off x="9550400" y="2184400"/>
            <a:ext cx="2032000" cy="177800"/>
          </a:xfrm>
          <a:prstGeom prst="rect">
            <a:avLst/>
          </a:prstGeom>
          <a:noFill/>
        </p:spPr>
        <p:txBody>
          <a:bodyPr wrap="square" lIns="0" rIns="0" tIns="0" bIns="0" anchor="t">
            <a:spAutoFit/>
          </a:bodyPr>
          <a:lstStyle/>
          <a:p>
            <a:pPr algn="l"/>
            <a:r>
              <a:rPr sz="900" b="1" i="0">
                <a:solidFill>
                  <a:srgbClr val="22C96A"/>
                </a:solidFill>
                <a:latin typeface="Arial"/>
              </a:rPr>
              <a:t>05</a:t>
            </a:r>
          </a:p>
        </p:txBody>
      </p:sp>
      <p:sp>
        <p:nvSpPr>
          <p:cNvPr id="30" name="TextBox 29"/>
          <p:cNvSpPr txBox="1"/>
          <p:nvPr/>
        </p:nvSpPr>
        <p:spPr>
          <a:xfrm>
            <a:off x="9550400" y="2387600"/>
            <a:ext cx="2032000" cy="228600"/>
          </a:xfrm>
          <a:prstGeom prst="rect">
            <a:avLst/>
          </a:prstGeom>
          <a:noFill/>
        </p:spPr>
        <p:txBody>
          <a:bodyPr wrap="square" lIns="0" rIns="0" tIns="0" bIns="0" anchor="t">
            <a:spAutoFit/>
          </a:bodyPr>
          <a:lstStyle/>
          <a:p>
            <a:pPr algn="l"/>
            <a:r>
              <a:rPr sz="1500" b="0" i="0">
                <a:solidFill>
                  <a:srgbClr val="11181C"/>
                </a:solidFill>
                <a:latin typeface="Georgia"/>
              </a:rPr>
              <a:t>Check</a:t>
            </a:r>
          </a:p>
        </p:txBody>
      </p:sp>
      <p:sp>
        <p:nvSpPr>
          <p:cNvPr id="31" name="Oval 30"/>
          <p:cNvSpPr/>
          <p:nvPr/>
        </p:nvSpPr>
        <p:spPr>
          <a:xfrm>
            <a:off x="9550400" y="2679700"/>
            <a:ext cx="76200" cy="76200"/>
          </a:xfrm>
          <a:prstGeom prst="ellipse">
            <a:avLst/>
          </a:prstGeom>
          <a:solidFill>
            <a:srgbClr val="22C96A"/>
          </a:solidFill>
          <a:ln>
            <a:noFill/>
          </a:ln>
          <a:effectLst/>
        </p:spPr>
        <p:txBody>
          <a:bodyPr rtlCol="0" anchor="ctr"/>
          <a:lstStyle/>
          <a:p>
            <a:pPr algn="ctr"/>
          </a:p>
        </p:txBody>
      </p:sp>
      <p:sp>
        <p:nvSpPr>
          <p:cNvPr id="32" name="TextBox 31"/>
          <p:cNvSpPr txBox="1"/>
          <p:nvPr/>
        </p:nvSpPr>
        <p:spPr>
          <a:xfrm>
            <a:off x="9550400" y="2921000"/>
            <a:ext cx="2032000" cy="762000"/>
          </a:xfrm>
          <a:prstGeom prst="rect">
            <a:avLst/>
          </a:prstGeom>
          <a:noFill/>
        </p:spPr>
        <p:txBody>
          <a:bodyPr wrap="square" lIns="0" rIns="0" tIns="0" bIns="0" anchor="t">
            <a:spAutoFit/>
          </a:bodyPr>
          <a:lstStyle/>
          <a:p>
            <a:pPr algn="l">
              <a:lnSpc>
                <a:spcPct val="140000"/>
              </a:lnSpc>
            </a:pPr>
            <a:r>
              <a:rPr sz="950" b="0" i="0">
                <a:solidFill>
                  <a:srgbClr val="4D555C"/>
                </a:solidFill>
                <a:latin typeface="Arial"/>
              </a:rPr>
              <a:t>Run the checklist; export PDF + PPTX.</a:t>
            </a:r>
          </a:p>
        </p:txBody>
      </p:sp>
      <p:sp>
        <p:nvSpPr>
          <p:cNvPr id="33" name="Rounded Rectangle 32"/>
          <p:cNvSpPr/>
          <p:nvPr/>
        </p:nvSpPr>
        <p:spPr>
          <a:xfrm>
            <a:off x="609600" y="4013200"/>
            <a:ext cx="5334000" cy="2235200"/>
          </a:xfrm>
          <a:prstGeom prst="roundRect">
            <a:avLst>
              <a:gd name="adj" fmla="val 5681"/>
            </a:avLst>
          </a:prstGeom>
          <a:solidFill>
            <a:srgbClr val="F9FAFB"/>
          </a:solidFill>
          <a:ln>
            <a:noFill/>
          </a:ln>
          <a:effectLst/>
        </p:spPr>
        <p:txBody>
          <a:bodyPr rtlCol="0" anchor="ctr"/>
          <a:lstStyle/>
          <a:p>
            <a:pPr algn="ctr"/>
          </a:p>
        </p:txBody>
      </p:sp>
      <p:sp>
        <p:nvSpPr>
          <p:cNvPr id="34" name="TextBox 33"/>
          <p:cNvSpPr txBox="1"/>
          <p:nvPr/>
        </p:nvSpPr>
        <p:spPr>
          <a:xfrm>
            <a:off x="863600" y="4241800"/>
            <a:ext cx="4826000" cy="152400"/>
          </a:xfrm>
          <a:prstGeom prst="rect">
            <a:avLst/>
          </a:prstGeom>
          <a:noFill/>
        </p:spPr>
        <p:txBody>
          <a:bodyPr wrap="square" lIns="0" rIns="0" tIns="0" bIns="0" anchor="t">
            <a:spAutoFit/>
          </a:bodyPr>
          <a:lstStyle/>
          <a:p>
            <a:pPr algn="l"/>
            <a:r>
              <a:rPr sz="850" b="1" i="0" spc="150">
                <a:solidFill>
                  <a:srgbClr val="697177"/>
                </a:solidFill>
                <a:latin typeface="Arial"/>
              </a:rPr>
              <a:t>WHAT STAYS YOURS</a:t>
            </a:r>
          </a:p>
        </p:txBody>
      </p:sp>
      <p:sp>
        <p:nvSpPr>
          <p:cNvPr id="35" name="TextBox 34"/>
          <p:cNvSpPr txBox="1"/>
          <p:nvPr/>
        </p:nvSpPr>
        <p:spPr>
          <a:xfrm>
            <a:off x="863600" y="4521200"/>
            <a:ext cx="4826000" cy="203200"/>
          </a:xfrm>
          <a:prstGeom prst="rect">
            <a:avLst/>
          </a:prstGeom>
          <a:noFill/>
        </p:spPr>
        <p:txBody>
          <a:bodyPr wrap="square" lIns="0" rIns="0" tIns="0" bIns="0" anchor="t">
            <a:spAutoFit/>
          </a:bodyPr>
          <a:lstStyle/>
          <a:p>
            <a:pPr algn="l"/>
            <a:r>
              <a:rPr sz="1050" b="1" i="0">
                <a:solidFill>
                  <a:srgbClr val="22C96A"/>
                </a:solidFill>
                <a:latin typeface="Arial"/>
              </a:rPr>
              <a:t>✓  </a:t>
            </a:r>
            <a:r>
              <a:rPr sz="1050" b="0" i="0">
                <a:solidFill>
                  <a:srgbClr val="11181C"/>
                </a:solidFill>
                <a:latin typeface="Arial"/>
              </a:rPr>
              <a:t>Order of sections and slides</a:t>
            </a:r>
          </a:p>
        </p:txBody>
      </p:sp>
      <p:sp>
        <p:nvSpPr>
          <p:cNvPr id="36" name="TextBox 35"/>
          <p:cNvSpPr txBox="1"/>
          <p:nvPr/>
        </p:nvSpPr>
        <p:spPr>
          <a:xfrm>
            <a:off x="863600" y="4851400"/>
            <a:ext cx="4826000" cy="203200"/>
          </a:xfrm>
          <a:prstGeom prst="rect">
            <a:avLst/>
          </a:prstGeom>
          <a:noFill/>
        </p:spPr>
        <p:txBody>
          <a:bodyPr wrap="square" lIns="0" rIns="0" tIns="0" bIns="0" anchor="t">
            <a:spAutoFit/>
          </a:bodyPr>
          <a:lstStyle/>
          <a:p>
            <a:pPr algn="l"/>
            <a:r>
              <a:rPr sz="1050" b="1" i="0">
                <a:solidFill>
                  <a:srgbClr val="22C96A"/>
                </a:solidFill>
                <a:latin typeface="Arial"/>
              </a:rPr>
              <a:t>✓  </a:t>
            </a:r>
            <a:r>
              <a:rPr sz="1050" b="0" i="0">
                <a:solidFill>
                  <a:srgbClr val="11181C"/>
                </a:solidFill>
                <a:latin typeface="Arial"/>
              </a:rPr>
              <a:t>Facts, numbers and wording of results</a:t>
            </a:r>
          </a:p>
        </p:txBody>
      </p:sp>
      <p:sp>
        <p:nvSpPr>
          <p:cNvPr id="37" name="TextBox 36"/>
          <p:cNvSpPr txBox="1"/>
          <p:nvPr/>
        </p:nvSpPr>
        <p:spPr>
          <a:xfrm>
            <a:off x="863600" y="5181600"/>
            <a:ext cx="4826000" cy="203200"/>
          </a:xfrm>
          <a:prstGeom prst="rect">
            <a:avLst/>
          </a:prstGeom>
          <a:noFill/>
        </p:spPr>
        <p:txBody>
          <a:bodyPr wrap="square" lIns="0" rIns="0" tIns="0" bIns="0" anchor="t">
            <a:spAutoFit/>
          </a:bodyPr>
          <a:lstStyle/>
          <a:p>
            <a:pPr algn="l"/>
            <a:r>
              <a:rPr sz="1050" b="1" i="0">
                <a:solidFill>
                  <a:srgbClr val="22C96A"/>
                </a:solidFill>
                <a:latin typeface="Arial"/>
              </a:rPr>
              <a:t>✓  </a:t>
            </a:r>
            <a:r>
              <a:rPr sz="1050" b="0" i="0">
                <a:solidFill>
                  <a:srgbClr val="11181C"/>
                </a:solidFill>
                <a:latin typeface="Arial"/>
              </a:rPr>
              <a:t>Photos and evidence you chose</a:t>
            </a:r>
          </a:p>
        </p:txBody>
      </p:sp>
      <p:sp>
        <p:nvSpPr>
          <p:cNvPr id="38" name="Rounded Rectangle 37"/>
          <p:cNvSpPr/>
          <p:nvPr/>
        </p:nvSpPr>
        <p:spPr>
          <a:xfrm>
            <a:off x="6248400" y="4013200"/>
            <a:ext cx="5334000" cy="2235200"/>
          </a:xfrm>
          <a:prstGeom prst="roundRect">
            <a:avLst>
              <a:gd name="adj" fmla="val 5681"/>
            </a:avLst>
          </a:prstGeom>
          <a:solidFill>
            <a:srgbClr val="FFFFFF"/>
          </a:solidFill>
          <a:ln w="9525">
            <a:solidFill>
              <a:srgbClr val="E6E8EB"/>
            </a:solidFill>
          </a:ln>
          <a:effectLst/>
        </p:spPr>
        <p:txBody>
          <a:bodyPr rtlCol="0" anchor="ctr"/>
          <a:lstStyle/>
          <a:p>
            <a:pPr algn="ctr"/>
          </a:p>
        </p:txBody>
      </p:sp>
      <p:sp>
        <p:nvSpPr>
          <p:cNvPr id="39" name="TextBox 38"/>
          <p:cNvSpPr txBox="1"/>
          <p:nvPr/>
        </p:nvSpPr>
        <p:spPr>
          <a:xfrm>
            <a:off x="6502400" y="4241800"/>
            <a:ext cx="4826000" cy="152400"/>
          </a:xfrm>
          <a:prstGeom prst="rect">
            <a:avLst/>
          </a:prstGeom>
          <a:noFill/>
        </p:spPr>
        <p:txBody>
          <a:bodyPr wrap="square" lIns="0" rIns="0" tIns="0" bIns="0" anchor="t">
            <a:spAutoFit/>
          </a:bodyPr>
          <a:lstStyle/>
          <a:p>
            <a:pPr algn="l"/>
            <a:r>
              <a:rPr sz="850" b="1" i="0" spc="150">
                <a:solidFill>
                  <a:srgbClr val="697177"/>
                </a:solidFill>
                <a:latin typeface="Arial"/>
              </a:rPr>
              <a:t>WHAT THE DESIGN PASS CHANGES</a:t>
            </a:r>
          </a:p>
        </p:txBody>
      </p:sp>
      <p:sp>
        <p:nvSpPr>
          <p:cNvPr id="40" name="TextBox 39"/>
          <p:cNvSpPr txBox="1"/>
          <p:nvPr/>
        </p:nvSpPr>
        <p:spPr>
          <a:xfrm>
            <a:off x="6502400" y="4521200"/>
            <a:ext cx="4826000" cy="203200"/>
          </a:xfrm>
          <a:prstGeom prst="rect">
            <a:avLst/>
          </a:prstGeom>
          <a:noFill/>
        </p:spPr>
        <p:txBody>
          <a:bodyPr wrap="square" lIns="0" rIns="0" tIns="0" bIns="0" anchor="t">
            <a:spAutoFit/>
          </a:bodyPr>
          <a:lstStyle/>
          <a:p>
            <a:pPr algn="l"/>
            <a:r>
              <a:rPr sz="1050" b="1" i="0">
                <a:solidFill>
                  <a:srgbClr val="22C96A"/>
                </a:solidFill>
                <a:latin typeface="Arial"/>
              </a:rPr>
              <a:t>→  </a:t>
            </a:r>
            <a:r>
              <a:rPr sz="1050" b="0" i="0">
                <a:solidFill>
                  <a:srgbClr val="11181C"/>
                </a:solidFill>
                <a:latin typeface="Arial"/>
              </a:rPr>
              <a:t>Fonts, sizes, colours, spacing</a:t>
            </a:r>
          </a:p>
        </p:txBody>
      </p:sp>
      <p:sp>
        <p:nvSpPr>
          <p:cNvPr id="41" name="TextBox 40"/>
          <p:cNvSpPr txBox="1"/>
          <p:nvPr/>
        </p:nvSpPr>
        <p:spPr>
          <a:xfrm>
            <a:off x="6502400" y="4851400"/>
            <a:ext cx="4826000" cy="203200"/>
          </a:xfrm>
          <a:prstGeom prst="rect">
            <a:avLst/>
          </a:prstGeom>
          <a:noFill/>
        </p:spPr>
        <p:txBody>
          <a:bodyPr wrap="square" lIns="0" rIns="0" tIns="0" bIns="0" anchor="t">
            <a:spAutoFit/>
          </a:bodyPr>
          <a:lstStyle/>
          <a:p>
            <a:pPr algn="l"/>
            <a:r>
              <a:rPr sz="1050" b="1" i="0">
                <a:solidFill>
                  <a:srgbClr val="22C96A"/>
                </a:solidFill>
                <a:latin typeface="Arial"/>
              </a:rPr>
              <a:t>→  </a:t>
            </a:r>
            <a:r>
              <a:rPr sz="1050" b="0" i="0">
                <a:solidFill>
                  <a:srgbClr val="11181C"/>
                </a:solidFill>
                <a:latin typeface="Arial"/>
              </a:rPr>
              <a:t>Position and size of every element</a:t>
            </a:r>
          </a:p>
        </p:txBody>
      </p:sp>
      <p:sp>
        <p:nvSpPr>
          <p:cNvPr id="42" name="TextBox 41"/>
          <p:cNvSpPr txBox="1"/>
          <p:nvPr/>
        </p:nvSpPr>
        <p:spPr>
          <a:xfrm>
            <a:off x="6502400" y="5181600"/>
            <a:ext cx="4826000" cy="203200"/>
          </a:xfrm>
          <a:prstGeom prst="rect">
            <a:avLst/>
          </a:prstGeom>
          <a:noFill/>
        </p:spPr>
        <p:txBody>
          <a:bodyPr wrap="square" lIns="0" rIns="0" tIns="0" bIns="0" anchor="t">
            <a:spAutoFit/>
          </a:bodyPr>
          <a:lstStyle/>
          <a:p>
            <a:pPr algn="l"/>
            <a:r>
              <a:rPr sz="1050" b="1" i="0">
                <a:solidFill>
                  <a:srgbClr val="22C96A"/>
                </a:solidFill>
                <a:latin typeface="Arial"/>
              </a:rPr>
              <a:t>→  </a:t>
            </a:r>
            <a:r>
              <a:rPr sz="1050" b="0" i="0">
                <a:solidFill>
                  <a:srgbClr val="11181C"/>
                </a:solidFill>
                <a:latin typeface="Arial"/>
              </a:rPr>
              <a:t>Headlines rewritten as messages (you approve)</a:t>
            </a:r>
          </a:p>
        </p:txBody>
      </p:sp>
      <p:sp>
        <p:nvSpPr>
          <p:cNvPr id="43" name="TextBox 42"/>
          <p:cNvSpPr txBox="1"/>
          <p:nvPr/>
        </p:nvSpPr>
        <p:spPr>
          <a:xfrm>
            <a:off x="6502400" y="5511800"/>
            <a:ext cx="4826000" cy="203200"/>
          </a:xfrm>
          <a:prstGeom prst="rect">
            <a:avLst/>
          </a:prstGeom>
          <a:noFill/>
        </p:spPr>
        <p:txBody>
          <a:bodyPr wrap="square" lIns="0" rIns="0" tIns="0" bIns="0" anchor="t">
            <a:spAutoFit/>
          </a:bodyPr>
          <a:lstStyle/>
          <a:p>
            <a:pPr algn="l"/>
            <a:r>
              <a:rPr sz="1050" b="1" i="0">
                <a:solidFill>
                  <a:srgbClr val="22C96A"/>
                </a:solidFill>
                <a:latin typeface="Arial"/>
              </a:rPr>
              <a:t>→  </a:t>
            </a:r>
            <a:r>
              <a:rPr sz="1050" b="0" i="0">
                <a:solidFill>
                  <a:srgbClr val="11181C"/>
                </a:solidFill>
                <a:latin typeface="Arial"/>
              </a:rPr>
              <a:t>Charts and tables rebuilt natively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279400"/>
            <a:ext cx="498582" cy="228600"/>
          </a:xfrm>
          <a:prstGeom prst="rect">
            <a:avLst/>
          </a:prstGeom>
        </p:spPr>
      </p:pic>
      <p:sp>
        <p:nvSpPr>
          <p:cNvPr id="4" name="TextBox 3"/>
          <p:cNvSpPr txBox="1"/>
          <p:nvPr/>
        </p:nvSpPr>
        <p:spPr>
          <a:xfrm>
            <a:off x="7112000" y="330200"/>
            <a:ext cx="4470400" cy="152400"/>
          </a:xfrm>
          <a:prstGeom prst="rect">
            <a:avLst/>
          </a:prstGeom>
          <a:noFill/>
        </p:spPr>
        <p:txBody>
          <a:bodyPr wrap="square" lIns="0" rIns="0" tIns="0" bIns="0" anchor="t">
            <a:spAutoFit/>
          </a:bodyPr>
          <a:lstStyle/>
          <a:p>
            <a:pPr algn="r"/>
            <a:r>
              <a:rPr sz="700" b="1" i="0" spc="60">
                <a:solidFill>
                  <a:srgbClr val="11181C"/>
                </a:solidFill>
                <a:latin typeface="Arial"/>
              </a:rPr>
              <a:t>NEDP 6-MONTH REVIEW</a:t>
            </a:r>
            <a:r>
              <a:rPr sz="700" b="1" i="0" spc="60">
                <a:solidFill>
                  <a:srgbClr val="697177"/>
                </a:solidFill>
                <a:latin typeface="Arial"/>
              </a:rPr>
              <a:t>     ·     </a:t>
            </a:r>
            <a:r>
              <a:rPr sz="700" b="1" i="0" spc="60">
                <a:solidFill>
                  <a:srgbClr val="697177"/>
                </a:solidFill>
                <a:latin typeface="Arial"/>
              </a:rPr>
              <a:t>DESIGN GUIDANCE</a:t>
            </a:r>
          </a:p>
        </p:txBody>
      </p:sp>
      <p:cxnSp>
        <p:nvCxnSpPr>
          <p:cNvPr id="5" name="Connector 4"/>
          <p:cNvCxnSpPr/>
          <p:nvPr/>
        </p:nvCxnSpPr>
        <p:spPr>
          <a:xfrm>
            <a:off x="609600" y="635000"/>
            <a:ext cx="10972800" cy="0"/>
          </a:xfrm>
          <a:prstGeom prst="line">
            <a:avLst/>
          </a:prstGeom>
          <a:ln w="9525">
            <a:solidFill>
              <a:srgbClr val="E6E8EB"/>
            </a:solidFill>
          </a:ln>
        </p:spPr>
      </p:cxnSp>
      <p:sp>
        <p:nvSpPr>
          <p:cNvPr id="6" name="TextBox 5"/>
          <p:cNvSpPr txBox="1"/>
          <p:nvPr/>
        </p:nvSpPr>
        <p:spPr>
          <a:xfrm>
            <a:off x="609600" y="863600"/>
            <a:ext cx="7620000" cy="152400"/>
          </a:xfrm>
          <a:prstGeom prst="rect">
            <a:avLst/>
          </a:prstGeom>
          <a:noFill/>
        </p:spPr>
        <p:txBody>
          <a:bodyPr wrap="square" lIns="0" rIns="0" tIns="0" bIns="0" anchor="t">
            <a:spAutoFit/>
          </a:bodyPr>
          <a:lstStyle/>
          <a:p>
            <a:pPr algn="l"/>
            <a:r>
              <a:rPr sz="850" b="1" i="0" spc="150">
                <a:solidFill>
                  <a:srgbClr val="697177"/>
                </a:solidFill>
                <a:latin typeface="Arial"/>
              </a:rPr>
              <a:t>APPLICATION · PRE-SEND CHECKLIST</a:t>
            </a:r>
          </a:p>
        </p:txBody>
      </p:sp>
      <p:sp>
        <p:nvSpPr>
          <p:cNvPr id="7" name="TextBox 6"/>
          <p:cNvSpPr txBox="1"/>
          <p:nvPr/>
        </p:nvSpPr>
        <p:spPr>
          <a:xfrm>
            <a:off x="609600" y="1066800"/>
            <a:ext cx="10972800" cy="508000"/>
          </a:xfrm>
          <a:prstGeom prst="rect">
            <a:avLst/>
          </a:prstGeom>
          <a:noFill/>
        </p:spPr>
        <p:txBody>
          <a:bodyPr wrap="square" lIns="0" rIns="0" tIns="0" bIns="0" anchor="t">
            <a:spAutoFit/>
          </a:bodyPr>
          <a:lstStyle/>
          <a:p>
            <a:pPr algn="l"/>
            <a:r>
              <a:rPr sz="2400" b="0" i="0">
                <a:solidFill>
                  <a:srgbClr val="11181C"/>
                </a:solidFill>
                <a:latin typeface="Georgia"/>
              </a:rPr>
              <a:t>Sixteen checks </a:t>
            </a:r>
            <a:r>
              <a:rPr sz="2400" b="0" i="1">
                <a:solidFill>
                  <a:srgbClr val="11181C"/>
                </a:solidFill>
                <a:latin typeface="Georgia"/>
              </a:rPr>
              <a:t>before</a:t>
            </a:r>
            <a:r>
              <a:rPr sz="2400" b="0" i="0">
                <a:solidFill>
                  <a:srgbClr val="11181C"/>
                </a:solidFill>
                <a:latin typeface="Georgia"/>
              </a:rPr>
              <a:t> it goes out.</a:t>
            </a:r>
          </a:p>
        </p:txBody>
      </p:sp>
      <p:cxnSp>
        <p:nvCxnSpPr>
          <p:cNvPr id="8" name="Connector 7"/>
          <p:cNvCxnSpPr/>
          <p:nvPr/>
        </p:nvCxnSpPr>
        <p:spPr>
          <a:xfrm>
            <a:off x="609600" y="6502400"/>
            <a:ext cx="10972800" cy="0"/>
          </a:xfrm>
          <a:prstGeom prst="line">
            <a:avLst/>
          </a:prstGeom>
          <a:ln w="9525">
            <a:solidFill>
              <a:srgbClr val="E6E8EB"/>
            </a:solidFill>
          </a:ln>
        </p:spPr>
      </p:cxnSp>
      <p:sp>
        <p:nvSpPr>
          <p:cNvPr id="9" name="TextBox 8"/>
          <p:cNvSpPr txBox="1"/>
          <p:nvPr/>
        </p:nvSpPr>
        <p:spPr>
          <a:xfrm>
            <a:off x="609600" y="6578600"/>
            <a:ext cx="5080000" cy="127000"/>
          </a:xfrm>
          <a:prstGeom prst="rect">
            <a:avLst/>
          </a:prstGeom>
          <a:noFill/>
        </p:spPr>
        <p:txBody>
          <a:bodyPr wrap="square" lIns="0" rIns="0" tIns="0" bIns="0" anchor="t">
            <a:spAutoFit/>
          </a:bodyPr>
          <a:lstStyle/>
          <a:p>
            <a:pPr algn="l"/>
            <a:r>
              <a:rPr sz="650" b="1" i="0" spc="80">
                <a:solidFill>
                  <a:srgbClr val="697177"/>
                </a:solidFill>
                <a:latin typeface="Arial"/>
              </a:rPr>
              <a:t>NEDP MID YEAR REVIEW 2026  ·  DESIGN GUIDANCE</a:t>
            </a:r>
          </a:p>
        </p:txBody>
      </p:sp>
      <p:sp>
        <p:nvSpPr>
          <p:cNvPr id="10" name="TextBox 9"/>
          <p:cNvSpPr txBox="1"/>
          <p:nvPr/>
        </p:nvSpPr>
        <p:spPr>
          <a:xfrm>
            <a:off x="10820400" y="6578600"/>
            <a:ext cx="762000" cy="127000"/>
          </a:xfrm>
          <a:prstGeom prst="rect">
            <a:avLst/>
          </a:prstGeom>
          <a:noFill/>
        </p:spPr>
        <p:txBody>
          <a:bodyPr wrap="square" lIns="0" rIns="0" tIns="0" bIns="0" anchor="t">
            <a:spAutoFit/>
          </a:bodyPr>
          <a:lstStyle/>
          <a:p>
            <a:pPr algn="r"/>
            <a:r>
              <a:rPr sz="650" b="1" i="0" spc="80">
                <a:solidFill>
                  <a:srgbClr val="11181C"/>
                </a:solidFill>
                <a:latin typeface="Arial"/>
              </a:rPr>
              <a:t>25</a:t>
            </a:r>
          </a:p>
        </p:txBody>
      </p:sp>
      <p:sp>
        <p:nvSpPr>
          <p:cNvPr id="11" name="TextBox 10"/>
          <p:cNvSpPr txBox="1"/>
          <p:nvPr/>
        </p:nvSpPr>
        <p:spPr>
          <a:xfrm>
            <a:off x="609600" y="1930400"/>
            <a:ext cx="2540000" cy="152400"/>
          </a:xfrm>
          <a:prstGeom prst="rect">
            <a:avLst/>
          </a:prstGeom>
          <a:noFill/>
        </p:spPr>
        <p:txBody>
          <a:bodyPr wrap="square" lIns="0" rIns="0" tIns="0" bIns="0" anchor="t">
            <a:spAutoFit/>
          </a:bodyPr>
          <a:lstStyle/>
          <a:p>
            <a:pPr algn="l"/>
            <a:r>
              <a:rPr sz="850" b="1" i="0" spc="150">
                <a:solidFill>
                  <a:srgbClr val="697177"/>
                </a:solidFill>
                <a:latin typeface="Arial"/>
              </a:rPr>
              <a:t>STORY</a:t>
            </a:r>
          </a:p>
        </p:txBody>
      </p:sp>
      <p:cxnSp>
        <p:nvCxnSpPr>
          <p:cNvPr id="12" name="Connector 11"/>
          <p:cNvCxnSpPr/>
          <p:nvPr/>
        </p:nvCxnSpPr>
        <p:spPr>
          <a:xfrm>
            <a:off x="609600" y="2133600"/>
            <a:ext cx="2590800" cy="0"/>
          </a:xfrm>
          <a:prstGeom prst="line">
            <a:avLst/>
          </a:prstGeom>
          <a:ln w="12700">
            <a:solidFill>
              <a:srgbClr val="11181C"/>
            </a:solidFill>
          </a:ln>
        </p:spPr>
      </p:cxnSp>
      <p:sp>
        <p:nvSpPr>
          <p:cNvPr id="13" name="Rounded Rectangle 12"/>
          <p:cNvSpPr/>
          <p:nvPr/>
        </p:nvSpPr>
        <p:spPr>
          <a:xfrm>
            <a:off x="609600" y="23114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14" name="TextBox 13"/>
          <p:cNvSpPr txBox="1"/>
          <p:nvPr/>
        </p:nvSpPr>
        <p:spPr>
          <a:xfrm>
            <a:off x="889000" y="22860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Headlines alone tell the story</a:t>
            </a:r>
          </a:p>
        </p:txBody>
      </p:sp>
      <p:cxnSp>
        <p:nvCxnSpPr>
          <p:cNvPr id="15" name="Connector 14"/>
          <p:cNvCxnSpPr/>
          <p:nvPr/>
        </p:nvCxnSpPr>
        <p:spPr>
          <a:xfrm>
            <a:off x="609600" y="2743200"/>
            <a:ext cx="2590800" cy="0"/>
          </a:xfrm>
          <a:prstGeom prst="line">
            <a:avLst/>
          </a:prstGeom>
          <a:ln w="9525">
            <a:solidFill>
              <a:srgbClr val="EBEDEF"/>
            </a:solidFill>
          </a:ln>
        </p:spPr>
      </p:cxnSp>
      <p:sp>
        <p:nvSpPr>
          <p:cNvPr id="16" name="Rounded Rectangle 15"/>
          <p:cNvSpPr/>
          <p:nvPr/>
        </p:nvSpPr>
        <p:spPr>
          <a:xfrm>
            <a:off x="609600" y="28702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17" name="TextBox 16"/>
          <p:cNvSpPr txBox="1"/>
          <p:nvPr/>
        </p:nvSpPr>
        <p:spPr>
          <a:xfrm>
            <a:off x="889000" y="28448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One message per slide</a:t>
            </a:r>
          </a:p>
        </p:txBody>
      </p:sp>
      <p:cxnSp>
        <p:nvCxnSpPr>
          <p:cNvPr id="18" name="Connector 17"/>
          <p:cNvCxnSpPr/>
          <p:nvPr/>
        </p:nvCxnSpPr>
        <p:spPr>
          <a:xfrm>
            <a:off x="609600" y="3302000"/>
            <a:ext cx="2590800" cy="0"/>
          </a:xfrm>
          <a:prstGeom prst="line">
            <a:avLst/>
          </a:prstGeom>
          <a:ln w="9525">
            <a:solidFill>
              <a:srgbClr val="EBEDEF"/>
            </a:solidFill>
          </a:ln>
        </p:spPr>
      </p:cxnSp>
      <p:sp>
        <p:nvSpPr>
          <p:cNvPr id="19" name="Rounded Rectangle 18"/>
          <p:cNvSpPr/>
          <p:nvPr/>
        </p:nvSpPr>
        <p:spPr>
          <a:xfrm>
            <a:off x="609600" y="34290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20" name="TextBox 19"/>
          <p:cNvSpPr txBox="1"/>
          <p:nvPr/>
        </p:nvSpPr>
        <p:spPr>
          <a:xfrm>
            <a:off x="889000" y="34036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Agenda matches dividers</a:t>
            </a:r>
          </a:p>
        </p:txBody>
      </p:sp>
      <p:cxnSp>
        <p:nvCxnSpPr>
          <p:cNvPr id="21" name="Connector 20"/>
          <p:cNvCxnSpPr/>
          <p:nvPr/>
        </p:nvCxnSpPr>
        <p:spPr>
          <a:xfrm>
            <a:off x="609600" y="3860800"/>
            <a:ext cx="2590800" cy="0"/>
          </a:xfrm>
          <a:prstGeom prst="line">
            <a:avLst/>
          </a:prstGeom>
          <a:ln w="9525">
            <a:solidFill>
              <a:srgbClr val="EBEDEF"/>
            </a:solidFill>
          </a:ln>
        </p:spPr>
      </p:cxnSp>
      <p:sp>
        <p:nvSpPr>
          <p:cNvPr id="22" name="Rounded Rectangle 21"/>
          <p:cNvSpPr/>
          <p:nvPr/>
        </p:nvSpPr>
        <p:spPr>
          <a:xfrm>
            <a:off x="609600" y="39878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23" name="TextBox 22"/>
          <p:cNvSpPr txBox="1"/>
          <p:nvPr/>
        </p:nvSpPr>
        <p:spPr>
          <a:xfrm>
            <a:off x="889000" y="39624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Closing states the decision</a:t>
            </a:r>
          </a:p>
        </p:txBody>
      </p:sp>
      <p:cxnSp>
        <p:nvCxnSpPr>
          <p:cNvPr id="24" name="Connector 23"/>
          <p:cNvCxnSpPr/>
          <p:nvPr/>
        </p:nvCxnSpPr>
        <p:spPr>
          <a:xfrm>
            <a:off x="609600" y="4419600"/>
            <a:ext cx="2590800" cy="0"/>
          </a:xfrm>
          <a:prstGeom prst="line">
            <a:avLst/>
          </a:prstGeom>
          <a:ln w="9525">
            <a:solidFill>
              <a:srgbClr val="EBEDEF"/>
            </a:solidFill>
          </a:ln>
        </p:spPr>
      </p:cxnSp>
      <p:sp>
        <p:nvSpPr>
          <p:cNvPr id="25" name="TextBox 24"/>
          <p:cNvSpPr txBox="1"/>
          <p:nvPr/>
        </p:nvSpPr>
        <p:spPr>
          <a:xfrm>
            <a:off x="3352800" y="1930400"/>
            <a:ext cx="2540000" cy="152400"/>
          </a:xfrm>
          <a:prstGeom prst="rect">
            <a:avLst/>
          </a:prstGeom>
          <a:noFill/>
        </p:spPr>
        <p:txBody>
          <a:bodyPr wrap="square" lIns="0" rIns="0" tIns="0" bIns="0" anchor="t">
            <a:spAutoFit/>
          </a:bodyPr>
          <a:lstStyle/>
          <a:p>
            <a:pPr algn="l"/>
            <a:r>
              <a:rPr sz="850" b="1" i="0" spc="150">
                <a:solidFill>
                  <a:srgbClr val="697177"/>
                </a:solidFill>
                <a:latin typeface="Arial"/>
              </a:rPr>
              <a:t>TYPE</a:t>
            </a:r>
          </a:p>
        </p:txBody>
      </p:sp>
      <p:cxnSp>
        <p:nvCxnSpPr>
          <p:cNvPr id="26" name="Connector 25"/>
          <p:cNvCxnSpPr/>
          <p:nvPr/>
        </p:nvCxnSpPr>
        <p:spPr>
          <a:xfrm>
            <a:off x="3352800" y="2133600"/>
            <a:ext cx="2590800" cy="0"/>
          </a:xfrm>
          <a:prstGeom prst="line">
            <a:avLst/>
          </a:prstGeom>
          <a:ln w="12700">
            <a:solidFill>
              <a:srgbClr val="11181C"/>
            </a:solidFill>
          </a:ln>
        </p:spPr>
      </p:cxnSp>
      <p:sp>
        <p:nvSpPr>
          <p:cNvPr id="27" name="Rounded Rectangle 26"/>
          <p:cNvSpPr/>
          <p:nvPr/>
        </p:nvSpPr>
        <p:spPr>
          <a:xfrm>
            <a:off x="3352800" y="23114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28" name="TextBox 27"/>
          <p:cNvSpPr txBox="1"/>
          <p:nvPr/>
        </p:nvSpPr>
        <p:spPr>
          <a:xfrm>
            <a:off x="3632200" y="22860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Georgia + Arial only</a:t>
            </a:r>
          </a:p>
        </p:txBody>
      </p:sp>
      <p:cxnSp>
        <p:nvCxnSpPr>
          <p:cNvPr id="29" name="Connector 28"/>
          <p:cNvCxnSpPr/>
          <p:nvPr/>
        </p:nvCxnSpPr>
        <p:spPr>
          <a:xfrm>
            <a:off x="3352800" y="2743200"/>
            <a:ext cx="2590800" cy="0"/>
          </a:xfrm>
          <a:prstGeom prst="line">
            <a:avLst/>
          </a:prstGeom>
          <a:ln w="9525">
            <a:solidFill>
              <a:srgbClr val="EBEDEF"/>
            </a:solidFill>
          </a:ln>
        </p:spPr>
      </p:cxnSp>
      <p:sp>
        <p:nvSpPr>
          <p:cNvPr id="30" name="Rounded Rectangle 29"/>
          <p:cNvSpPr/>
          <p:nvPr/>
        </p:nvSpPr>
        <p:spPr>
          <a:xfrm>
            <a:off x="3352800" y="28702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31" name="TextBox 30"/>
          <p:cNvSpPr txBox="1"/>
          <p:nvPr/>
        </p:nvSpPr>
        <p:spPr>
          <a:xfrm>
            <a:off x="3632200" y="28448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Italic emphasis, never bold serif</a:t>
            </a:r>
          </a:p>
        </p:txBody>
      </p:sp>
      <p:cxnSp>
        <p:nvCxnSpPr>
          <p:cNvPr id="32" name="Connector 31"/>
          <p:cNvCxnSpPr/>
          <p:nvPr/>
        </p:nvCxnSpPr>
        <p:spPr>
          <a:xfrm>
            <a:off x="3352800" y="3302000"/>
            <a:ext cx="2590800" cy="0"/>
          </a:xfrm>
          <a:prstGeom prst="line">
            <a:avLst/>
          </a:prstGeom>
          <a:ln w="9525">
            <a:solidFill>
              <a:srgbClr val="EBEDEF"/>
            </a:solidFill>
          </a:ln>
        </p:spPr>
      </p:cxnSp>
      <p:sp>
        <p:nvSpPr>
          <p:cNvPr id="33" name="Rounded Rectangle 32"/>
          <p:cNvSpPr/>
          <p:nvPr/>
        </p:nvSpPr>
        <p:spPr>
          <a:xfrm>
            <a:off x="3352800" y="34290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34" name="TextBox 33"/>
          <p:cNvSpPr txBox="1"/>
          <p:nvPr/>
        </p:nvSpPr>
        <p:spPr>
          <a:xfrm>
            <a:off x="3632200" y="34036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Kickers in tracked caps</a:t>
            </a:r>
          </a:p>
        </p:txBody>
      </p:sp>
      <p:cxnSp>
        <p:nvCxnSpPr>
          <p:cNvPr id="35" name="Connector 34"/>
          <p:cNvCxnSpPr/>
          <p:nvPr/>
        </p:nvCxnSpPr>
        <p:spPr>
          <a:xfrm>
            <a:off x="3352800" y="3860800"/>
            <a:ext cx="2590800" cy="0"/>
          </a:xfrm>
          <a:prstGeom prst="line">
            <a:avLst/>
          </a:prstGeom>
          <a:ln w="9525">
            <a:solidFill>
              <a:srgbClr val="EBEDEF"/>
            </a:solidFill>
          </a:ln>
        </p:spPr>
      </p:cxnSp>
      <p:sp>
        <p:nvSpPr>
          <p:cNvPr id="36" name="Rounded Rectangle 35"/>
          <p:cNvSpPr/>
          <p:nvPr/>
        </p:nvSpPr>
        <p:spPr>
          <a:xfrm>
            <a:off x="3352800" y="39878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37" name="TextBox 36"/>
          <p:cNvSpPr txBox="1"/>
          <p:nvPr/>
        </p:nvSpPr>
        <p:spPr>
          <a:xfrm>
            <a:off x="3632200" y="39624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Body ≥ 9 pt, sources ≥ 8 pt</a:t>
            </a:r>
          </a:p>
        </p:txBody>
      </p:sp>
      <p:cxnSp>
        <p:nvCxnSpPr>
          <p:cNvPr id="38" name="Connector 37"/>
          <p:cNvCxnSpPr/>
          <p:nvPr/>
        </p:nvCxnSpPr>
        <p:spPr>
          <a:xfrm>
            <a:off x="3352800" y="4419600"/>
            <a:ext cx="2590800" cy="0"/>
          </a:xfrm>
          <a:prstGeom prst="line">
            <a:avLst/>
          </a:prstGeom>
          <a:ln w="9525">
            <a:solidFill>
              <a:srgbClr val="EBEDEF"/>
            </a:solidFill>
          </a:ln>
        </p:spPr>
      </p:cxnSp>
      <p:sp>
        <p:nvSpPr>
          <p:cNvPr id="39" name="TextBox 38"/>
          <p:cNvSpPr txBox="1"/>
          <p:nvPr/>
        </p:nvSpPr>
        <p:spPr>
          <a:xfrm>
            <a:off x="6096000" y="1930400"/>
            <a:ext cx="2540000" cy="152400"/>
          </a:xfrm>
          <a:prstGeom prst="rect">
            <a:avLst/>
          </a:prstGeom>
          <a:noFill/>
        </p:spPr>
        <p:txBody>
          <a:bodyPr wrap="square" lIns="0" rIns="0" tIns="0" bIns="0" anchor="t">
            <a:spAutoFit/>
          </a:bodyPr>
          <a:lstStyle/>
          <a:p>
            <a:pPr algn="l"/>
            <a:r>
              <a:rPr sz="850" b="1" i="0" spc="150">
                <a:solidFill>
                  <a:srgbClr val="697177"/>
                </a:solidFill>
                <a:latin typeface="Arial"/>
              </a:rPr>
              <a:t>COLOUR &amp; LAYOUT</a:t>
            </a:r>
          </a:p>
        </p:txBody>
      </p:sp>
      <p:cxnSp>
        <p:nvCxnSpPr>
          <p:cNvPr id="40" name="Connector 39"/>
          <p:cNvCxnSpPr/>
          <p:nvPr/>
        </p:nvCxnSpPr>
        <p:spPr>
          <a:xfrm>
            <a:off x="6096000" y="2133600"/>
            <a:ext cx="2590800" cy="0"/>
          </a:xfrm>
          <a:prstGeom prst="line">
            <a:avLst/>
          </a:prstGeom>
          <a:ln w="12700">
            <a:solidFill>
              <a:srgbClr val="11181C"/>
            </a:solidFill>
          </a:ln>
        </p:spPr>
      </p:cxnSp>
      <p:sp>
        <p:nvSpPr>
          <p:cNvPr id="41" name="Rounded Rectangle 40"/>
          <p:cNvSpPr/>
          <p:nvPr/>
        </p:nvSpPr>
        <p:spPr>
          <a:xfrm>
            <a:off x="6096000" y="23114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42" name="TextBox 41"/>
          <p:cNvSpPr txBox="1"/>
          <p:nvPr/>
        </p:nvSpPr>
        <p:spPr>
          <a:xfrm>
            <a:off x="6375400" y="22860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Slate + one green only</a:t>
            </a:r>
          </a:p>
        </p:txBody>
      </p:sp>
      <p:cxnSp>
        <p:nvCxnSpPr>
          <p:cNvPr id="43" name="Connector 42"/>
          <p:cNvCxnSpPr/>
          <p:nvPr/>
        </p:nvCxnSpPr>
        <p:spPr>
          <a:xfrm>
            <a:off x="6096000" y="2743200"/>
            <a:ext cx="2590800" cy="0"/>
          </a:xfrm>
          <a:prstGeom prst="line">
            <a:avLst/>
          </a:prstGeom>
          <a:ln w="9525">
            <a:solidFill>
              <a:srgbClr val="EBEDEF"/>
            </a:solidFill>
          </a:ln>
        </p:spPr>
      </p:cxnSp>
      <p:sp>
        <p:nvSpPr>
          <p:cNvPr id="44" name="Rounded Rectangle 43"/>
          <p:cNvSpPr/>
          <p:nvPr/>
        </p:nvSpPr>
        <p:spPr>
          <a:xfrm>
            <a:off x="6096000" y="28702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45" name="TextBox 44"/>
          <p:cNvSpPr txBox="1"/>
          <p:nvPr/>
        </p:nvSpPr>
        <p:spPr>
          <a:xfrm>
            <a:off x="6375400" y="28448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Max one primary button</a:t>
            </a:r>
          </a:p>
        </p:txBody>
      </p:sp>
      <p:cxnSp>
        <p:nvCxnSpPr>
          <p:cNvPr id="46" name="Connector 45"/>
          <p:cNvCxnSpPr/>
          <p:nvPr/>
        </p:nvCxnSpPr>
        <p:spPr>
          <a:xfrm>
            <a:off x="6096000" y="3302000"/>
            <a:ext cx="2590800" cy="0"/>
          </a:xfrm>
          <a:prstGeom prst="line">
            <a:avLst/>
          </a:prstGeom>
          <a:ln w="9525">
            <a:solidFill>
              <a:srgbClr val="EBEDEF"/>
            </a:solidFill>
          </a:ln>
        </p:spPr>
      </p:cxnSp>
      <p:sp>
        <p:nvSpPr>
          <p:cNvPr id="47" name="Rounded Rectangle 46"/>
          <p:cNvSpPr/>
          <p:nvPr/>
        </p:nvSpPr>
        <p:spPr>
          <a:xfrm>
            <a:off x="6096000" y="34290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48" name="TextBox 47"/>
          <p:cNvSpPr txBox="1"/>
          <p:nvPr/>
        </p:nvSpPr>
        <p:spPr>
          <a:xfrm>
            <a:off x="6375400" y="34036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Everything on the 12-col grid</a:t>
            </a:r>
          </a:p>
        </p:txBody>
      </p:sp>
      <p:cxnSp>
        <p:nvCxnSpPr>
          <p:cNvPr id="49" name="Connector 48"/>
          <p:cNvCxnSpPr/>
          <p:nvPr/>
        </p:nvCxnSpPr>
        <p:spPr>
          <a:xfrm>
            <a:off x="6096000" y="3860800"/>
            <a:ext cx="2590800" cy="0"/>
          </a:xfrm>
          <a:prstGeom prst="line">
            <a:avLst/>
          </a:prstGeom>
          <a:ln w="9525">
            <a:solidFill>
              <a:srgbClr val="EBEDEF"/>
            </a:solidFill>
          </a:ln>
        </p:spPr>
      </p:cxnSp>
      <p:sp>
        <p:nvSpPr>
          <p:cNvPr id="50" name="Rounded Rectangle 49"/>
          <p:cNvSpPr/>
          <p:nvPr/>
        </p:nvSpPr>
        <p:spPr>
          <a:xfrm>
            <a:off x="6096000" y="39878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51" name="TextBox 50"/>
          <p:cNvSpPr txBox="1"/>
          <p:nvPr/>
        </p:nvSpPr>
        <p:spPr>
          <a:xfrm>
            <a:off x="6375400" y="39624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Footer and page number present</a:t>
            </a:r>
          </a:p>
        </p:txBody>
      </p:sp>
      <p:cxnSp>
        <p:nvCxnSpPr>
          <p:cNvPr id="52" name="Connector 51"/>
          <p:cNvCxnSpPr/>
          <p:nvPr/>
        </p:nvCxnSpPr>
        <p:spPr>
          <a:xfrm>
            <a:off x="6096000" y="4419600"/>
            <a:ext cx="2590800" cy="0"/>
          </a:xfrm>
          <a:prstGeom prst="line">
            <a:avLst/>
          </a:prstGeom>
          <a:ln w="9525">
            <a:solidFill>
              <a:srgbClr val="EBEDEF"/>
            </a:solidFill>
          </a:ln>
        </p:spPr>
      </p:cxnSp>
      <p:sp>
        <p:nvSpPr>
          <p:cNvPr id="53" name="TextBox 52"/>
          <p:cNvSpPr txBox="1"/>
          <p:nvPr/>
        </p:nvSpPr>
        <p:spPr>
          <a:xfrm>
            <a:off x="8839200" y="1930400"/>
            <a:ext cx="2540000" cy="152400"/>
          </a:xfrm>
          <a:prstGeom prst="rect">
            <a:avLst/>
          </a:prstGeom>
          <a:noFill/>
        </p:spPr>
        <p:txBody>
          <a:bodyPr wrap="square" lIns="0" rIns="0" tIns="0" bIns="0" anchor="t">
            <a:spAutoFit/>
          </a:bodyPr>
          <a:lstStyle/>
          <a:p>
            <a:pPr algn="l"/>
            <a:r>
              <a:rPr sz="850" b="1" i="0" spc="150">
                <a:solidFill>
                  <a:srgbClr val="697177"/>
                </a:solidFill>
                <a:latin typeface="Arial"/>
              </a:rPr>
              <a:t>DATA</a:t>
            </a:r>
          </a:p>
        </p:txBody>
      </p:sp>
      <p:cxnSp>
        <p:nvCxnSpPr>
          <p:cNvPr id="54" name="Connector 53"/>
          <p:cNvCxnSpPr/>
          <p:nvPr/>
        </p:nvCxnSpPr>
        <p:spPr>
          <a:xfrm>
            <a:off x="8839200" y="2133600"/>
            <a:ext cx="2590800" cy="0"/>
          </a:xfrm>
          <a:prstGeom prst="line">
            <a:avLst/>
          </a:prstGeom>
          <a:ln w="12700">
            <a:solidFill>
              <a:srgbClr val="11181C"/>
            </a:solidFill>
          </a:ln>
        </p:spPr>
      </p:cxnSp>
      <p:sp>
        <p:nvSpPr>
          <p:cNvPr id="55" name="Rounded Rectangle 54"/>
          <p:cNvSpPr/>
          <p:nvPr/>
        </p:nvSpPr>
        <p:spPr>
          <a:xfrm>
            <a:off x="8839200" y="23114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56" name="TextBox 55"/>
          <p:cNvSpPr txBox="1"/>
          <p:nvPr/>
        </p:nvSpPr>
        <p:spPr>
          <a:xfrm>
            <a:off x="9118600" y="22860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Native charts and tables</a:t>
            </a:r>
          </a:p>
        </p:txBody>
      </p:sp>
      <p:cxnSp>
        <p:nvCxnSpPr>
          <p:cNvPr id="57" name="Connector 56"/>
          <p:cNvCxnSpPr/>
          <p:nvPr/>
        </p:nvCxnSpPr>
        <p:spPr>
          <a:xfrm>
            <a:off x="8839200" y="2743200"/>
            <a:ext cx="2590800" cy="0"/>
          </a:xfrm>
          <a:prstGeom prst="line">
            <a:avLst/>
          </a:prstGeom>
          <a:ln w="9525">
            <a:solidFill>
              <a:srgbClr val="EBEDEF"/>
            </a:solidFill>
          </a:ln>
        </p:spPr>
      </p:cxnSp>
      <p:sp>
        <p:nvSpPr>
          <p:cNvPr id="58" name="Rounded Rectangle 57"/>
          <p:cNvSpPr/>
          <p:nvPr/>
        </p:nvSpPr>
        <p:spPr>
          <a:xfrm>
            <a:off x="8839200" y="28702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59" name="TextBox 58"/>
          <p:cNvSpPr txBox="1"/>
          <p:nvPr/>
        </p:nvSpPr>
        <p:spPr>
          <a:xfrm>
            <a:off x="9118600" y="28448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Source under every figure</a:t>
            </a:r>
          </a:p>
        </p:txBody>
      </p:sp>
      <p:cxnSp>
        <p:nvCxnSpPr>
          <p:cNvPr id="60" name="Connector 59"/>
          <p:cNvCxnSpPr/>
          <p:nvPr/>
        </p:nvCxnSpPr>
        <p:spPr>
          <a:xfrm>
            <a:off x="8839200" y="3302000"/>
            <a:ext cx="2590800" cy="0"/>
          </a:xfrm>
          <a:prstGeom prst="line">
            <a:avLst/>
          </a:prstGeom>
          <a:ln w="9525">
            <a:solidFill>
              <a:srgbClr val="EBEDEF"/>
            </a:solidFill>
          </a:ln>
        </p:spPr>
      </p:cxnSp>
      <p:sp>
        <p:nvSpPr>
          <p:cNvPr id="61" name="Rounded Rectangle 60"/>
          <p:cNvSpPr/>
          <p:nvPr/>
        </p:nvSpPr>
        <p:spPr>
          <a:xfrm>
            <a:off x="8839200" y="34290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62" name="TextBox 61"/>
          <p:cNvSpPr txBox="1"/>
          <p:nvPr/>
        </p:nvSpPr>
        <p:spPr>
          <a:xfrm>
            <a:off x="9118600" y="34036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Formats follow p. 23</a:t>
            </a:r>
          </a:p>
        </p:txBody>
      </p:sp>
      <p:cxnSp>
        <p:nvCxnSpPr>
          <p:cNvPr id="63" name="Connector 62"/>
          <p:cNvCxnSpPr/>
          <p:nvPr/>
        </p:nvCxnSpPr>
        <p:spPr>
          <a:xfrm>
            <a:off x="8839200" y="3860800"/>
            <a:ext cx="2590800" cy="0"/>
          </a:xfrm>
          <a:prstGeom prst="line">
            <a:avLst/>
          </a:prstGeom>
          <a:ln w="9525">
            <a:solidFill>
              <a:srgbClr val="EBEDEF"/>
            </a:solidFill>
          </a:ln>
        </p:spPr>
      </p:cxnSp>
      <p:sp>
        <p:nvSpPr>
          <p:cNvPr id="64" name="Rounded Rectangle 63"/>
          <p:cNvSpPr/>
          <p:nvPr/>
        </p:nvSpPr>
        <p:spPr>
          <a:xfrm>
            <a:off x="8839200" y="3987800"/>
            <a:ext cx="165100" cy="165100"/>
          </a:xfrm>
          <a:prstGeom prst="roundRect">
            <a:avLst>
              <a:gd name="adj" fmla="val 23076"/>
            </a:avLst>
          </a:prstGeom>
          <a:solidFill>
            <a:srgbClr val="FFFFFF"/>
          </a:solidFill>
          <a:ln w="12700">
            <a:solidFill>
              <a:srgbClr val="C1C8CD"/>
            </a:solidFill>
          </a:ln>
          <a:effectLst/>
        </p:spPr>
        <p:txBody>
          <a:bodyPr rtlCol="0" anchor="ctr"/>
          <a:lstStyle/>
          <a:p>
            <a:pPr algn="ctr"/>
          </a:p>
        </p:txBody>
      </p:sp>
      <p:sp>
        <p:nvSpPr>
          <p:cNvPr id="65" name="TextBox 64"/>
          <p:cNvSpPr txBox="1"/>
          <p:nvPr/>
        </p:nvSpPr>
        <p:spPr>
          <a:xfrm>
            <a:off x="9118600" y="3962400"/>
            <a:ext cx="2286000" cy="431800"/>
          </a:xfrm>
          <a:prstGeom prst="rect">
            <a:avLst/>
          </a:prstGeom>
          <a:noFill/>
        </p:spPr>
        <p:txBody>
          <a:bodyPr wrap="square" lIns="0" rIns="0" tIns="0" bIns="0" anchor="t">
            <a:spAutoFit/>
          </a:bodyPr>
          <a:lstStyle/>
          <a:p>
            <a:pPr algn="l">
              <a:lnSpc>
                <a:spcPct val="115000"/>
              </a:lnSpc>
            </a:pPr>
            <a:r>
              <a:rPr sz="1050" b="0" i="0">
                <a:solidFill>
                  <a:srgbClr val="11181C"/>
                </a:solidFill>
                <a:latin typeface="Georgia"/>
              </a:rPr>
              <a:t>Numbers match the appendix</a:t>
            </a:r>
          </a:p>
        </p:txBody>
      </p:sp>
      <p:cxnSp>
        <p:nvCxnSpPr>
          <p:cNvPr id="66" name="Connector 65"/>
          <p:cNvCxnSpPr/>
          <p:nvPr/>
        </p:nvCxnSpPr>
        <p:spPr>
          <a:xfrm>
            <a:off x="8839200" y="4419600"/>
            <a:ext cx="2590800" cy="0"/>
          </a:xfrm>
          <a:prstGeom prst="line">
            <a:avLst/>
          </a:prstGeom>
          <a:ln w="9525">
            <a:solidFill>
              <a:srgbClr val="EBEDEF"/>
            </a:solidFill>
          </a:ln>
        </p:spPr>
      </p:cxnSp>
      <p:sp>
        <p:nvSpPr>
          <p:cNvPr id="67" name="Rounded Rectangle 66"/>
          <p:cNvSpPr/>
          <p:nvPr/>
        </p:nvSpPr>
        <p:spPr>
          <a:xfrm>
            <a:off x="609600" y="4724400"/>
            <a:ext cx="10972800" cy="1524000"/>
          </a:xfrm>
          <a:prstGeom prst="roundRect">
            <a:avLst>
              <a:gd name="adj" fmla="val 10000"/>
            </a:avLst>
          </a:prstGeom>
          <a:gradFill rotWithShape="1">
            <a:gsLst>
              <a:gs pos="0">
                <a:srgbClr val="11181C"/>
              </a:gs>
              <a:gs pos="100000">
                <a:srgbClr val="23343C"/>
              </a:gs>
            </a:gsLst>
            <a:lin scaled="0" ang="18900000"/>
          </a:gradFill>
          <a:ln>
            <a:noFill/>
          </a:ln>
          <a:effectLst/>
        </p:spPr>
        <p:txBody>
          <a:bodyPr rtlCol="0" anchor="ctr"/>
          <a:lstStyle/>
          <a:p>
            <a:pPr algn="ctr"/>
          </a:p>
        </p:txBody>
      </p:sp>
      <p:sp>
        <p:nvSpPr>
          <p:cNvPr id="68" name="TextBox 67"/>
          <p:cNvSpPr txBox="1"/>
          <p:nvPr/>
        </p:nvSpPr>
        <p:spPr>
          <a:xfrm>
            <a:off x="965200" y="4978400"/>
            <a:ext cx="5080000" cy="152400"/>
          </a:xfrm>
          <a:prstGeom prst="rect">
            <a:avLst/>
          </a:prstGeom>
          <a:noFill/>
        </p:spPr>
        <p:txBody>
          <a:bodyPr wrap="square" lIns="0" rIns="0" tIns="0" bIns="0" anchor="t">
            <a:spAutoFit/>
          </a:bodyPr>
          <a:lstStyle/>
          <a:p>
            <a:pPr algn="l"/>
            <a:r>
              <a:rPr sz="850" b="1" i="0" spc="150">
                <a:solidFill>
                  <a:srgbClr val="889096"/>
                </a:solidFill>
                <a:latin typeface="Arial"/>
              </a:rPr>
              <a:t>FILE NAMING</a:t>
            </a:r>
          </a:p>
        </p:txBody>
      </p:sp>
      <p:sp>
        <p:nvSpPr>
          <p:cNvPr id="69" name="TextBox 68"/>
          <p:cNvSpPr txBox="1"/>
          <p:nvPr/>
        </p:nvSpPr>
        <p:spPr>
          <a:xfrm>
            <a:off x="965200" y="5207000"/>
            <a:ext cx="10160000" cy="381000"/>
          </a:xfrm>
          <a:prstGeom prst="rect">
            <a:avLst/>
          </a:prstGeom>
          <a:noFill/>
        </p:spPr>
        <p:txBody>
          <a:bodyPr wrap="square" lIns="0" rIns="0" tIns="0" bIns="0" anchor="t">
            <a:spAutoFit/>
          </a:bodyPr>
          <a:lstStyle/>
          <a:p>
            <a:pPr algn="l"/>
            <a:r>
              <a:rPr sz="1800" b="0" i="0">
                <a:solidFill>
                  <a:srgbClr val="FFFFFF"/>
                </a:solidFill>
                <a:latin typeface="Georgia"/>
              </a:rPr>
              <a:t>NEDP_6M_Review_</a:t>
            </a:r>
            <a:r>
              <a:rPr sz="1800" b="0" i="0">
                <a:solidFill>
                  <a:srgbClr val="83E7AE"/>
                </a:solidFill>
                <a:latin typeface="Georgia"/>
              </a:rPr>
              <a:t>TiberiasSimu</a:t>
            </a:r>
            <a:r>
              <a:rPr sz="1800" b="0" i="0">
                <a:solidFill>
                  <a:srgbClr val="C1C8CD"/>
                </a:solidFill>
                <a:latin typeface="Georgia"/>
              </a:rPr>
              <a:t>_v03_2026-10-13</a:t>
            </a:r>
            <a:r>
              <a:rPr sz="1800" b="0" i="0">
                <a:solidFill>
                  <a:srgbClr val="889096"/>
                </a:solidFill>
                <a:latin typeface="Georgia"/>
              </a:rPr>
              <a:t>.pptx</a:t>
            </a:r>
          </a:p>
        </p:txBody>
      </p:sp>
      <p:sp>
        <p:nvSpPr>
          <p:cNvPr id="70" name="TextBox 69"/>
          <p:cNvSpPr txBox="1"/>
          <p:nvPr/>
        </p:nvSpPr>
        <p:spPr>
          <a:xfrm>
            <a:off x="965200" y="5664200"/>
            <a:ext cx="7620000" cy="381000"/>
          </a:xfrm>
          <a:prstGeom prst="rect">
            <a:avLst/>
          </a:prstGeom>
          <a:noFill/>
        </p:spPr>
        <p:txBody>
          <a:bodyPr wrap="square" lIns="0" rIns="0" tIns="0" bIns="0" anchor="t">
            <a:spAutoFit/>
          </a:bodyPr>
          <a:lstStyle/>
          <a:p>
            <a:pPr algn="l"/>
            <a:r>
              <a:rPr sz="950" b="0" i="0">
                <a:solidFill>
                  <a:srgbClr val="C1C8CD"/>
                </a:solidFill>
                <a:latin typeface="Arial"/>
              </a:rPr>
              <a:t>Send the PDF to read and the PPTX to edit. Raise the version on every copy you send.</a:t>
            </a:r>
          </a:p>
        </p:txBody>
      </p:sp>
      <p:sp>
        <p:nvSpPr>
          <p:cNvPr id="71" name="Rounded Rectangle 70"/>
          <p:cNvSpPr/>
          <p:nvPr/>
        </p:nvSpPr>
        <p:spPr>
          <a:xfrm>
            <a:off x="9677400" y="5689600"/>
            <a:ext cx="1524000" cy="304800"/>
          </a:xfrm>
          <a:prstGeom prst="roundRect">
            <a:avLst>
              <a:gd name="adj" fmla="val 12500"/>
            </a:avLst>
          </a:prstGeom>
          <a:solidFill>
            <a:srgbClr val="22C96A"/>
          </a:solidFill>
          <a:ln>
            <a:noFill/>
          </a:ln>
          <a:effectLst/>
        </p:spPr>
        <p:txBody>
          <a:bodyPr rtlCol="0" anchor="ctr"/>
          <a:lstStyle/>
          <a:p>
            <a:pPr algn="ctr"/>
          </a:p>
        </p:txBody>
      </p:sp>
      <p:sp>
        <p:nvSpPr>
          <p:cNvPr id="72" name="TextBox 71"/>
          <p:cNvSpPr txBox="1"/>
          <p:nvPr/>
        </p:nvSpPr>
        <p:spPr>
          <a:xfrm>
            <a:off x="9677400" y="5689600"/>
            <a:ext cx="1524000" cy="304800"/>
          </a:xfrm>
          <a:prstGeom prst="rect">
            <a:avLst/>
          </a:prstGeom>
          <a:noFill/>
        </p:spPr>
        <p:txBody>
          <a:bodyPr wrap="square" lIns="0" rIns="0" tIns="0" bIns="0" anchor="ctr">
            <a:spAutoFit/>
          </a:bodyPr>
          <a:lstStyle/>
          <a:p>
            <a:pPr algn="ctr"/>
            <a:r>
              <a:rPr sz="750" b="1" i="0" spc="60">
                <a:solidFill>
                  <a:srgbClr val="FFFFFF"/>
                </a:solidFill>
                <a:latin typeface="Arial"/>
              </a:rPr>
              <a:t>READY TO SEND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1181C"/>
              </a:gs>
              <a:gs pos="100000">
                <a:srgbClr val="23343C"/>
              </a:gs>
            </a:gsLst>
            <a:lin scaled="0" ang="18900000"/>
          </a:gradFill>
          <a:ln>
            <a:noFill/>
          </a:ln>
          <a:effectLst/>
        </p:spPr>
        <p:txBody>
          <a:bodyPr rtlCol="0" anchor="ctr"/>
          <a:lstStyle/>
          <a:p>
            <a:pPr algn="ctr"/>
          </a:p>
        </p:txBody>
      </p:sp>
      <p:pic>
        <p:nvPicPr>
          <p:cNvPr id="3" name="Picture 2" descr="image.png"/>
          <p:cNvPicPr>
            <a:picLocks noChangeAspect="1"/>
          </p:cNvPicPr>
          <p:nvPr/>
        </p:nvPicPr>
        <p:blipFill>
          <a:blip r:embed="rId2"/>
          <a:stretch>
            <a:fillRect/>
          </a:stretch>
        </p:blipFill>
        <p:spPr>
          <a:xfrm>
            <a:off x="609600" y="381000"/>
            <a:ext cx="609378" cy="279400"/>
          </a:xfrm>
          <a:prstGeom prst="rect">
            <a:avLst/>
          </a:prstGeom>
        </p:spPr>
      </p:pic>
      <p:sp>
        <p:nvSpPr>
          <p:cNvPr id="4" name="TextBox 3"/>
          <p:cNvSpPr txBox="1"/>
          <p:nvPr/>
        </p:nvSpPr>
        <p:spPr>
          <a:xfrm>
            <a:off x="0" y="2413000"/>
            <a:ext cx="12192000" cy="152400"/>
          </a:xfrm>
          <a:prstGeom prst="rect">
            <a:avLst/>
          </a:prstGeom>
          <a:noFill/>
        </p:spPr>
        <p:txBody>
          <a:bodyPr wrap="square" lIns="0" rIns="0" tIns="0" bIns="0" anchor="t">
            <a:spAutoFit/>
          </a:bodyPr>
          <a:lstStyle/>
          <a:p>
            <a:pPr algn="ctr"/>
            <a:r>
              <a:rPr sz="850" b="1" i="0" spc="150">
                <a:solidFill>
                  <a:srgbClr val="83E7AE"/>
                </a:solidFill>
                <a:latin typeface="Arial"/>
              </a:rPr>
              <a:t>NEXT STEP</a:t>
            </a:r>
          </a:p>
        </p:txBody>
      </p:sp>
      <p:sp>
        <p:nvSpPr>
          <p:cNvPr id="5" name="TextBox 4"/>
          <p:cNvSpPr txBox="1"/>
          <p:nvPr/>
        </p:nvSpPr>
        <p:spPr>
          <a:xfrm>
            <a:off x="1524000" y="2692400"/>
            <a:ext cx="9144000" cy="1143000"/>
          </a:xfrm>
          <a:prstGeom prst="rect">
            <a:avLst/>
          </a:prstGeom>
          <a:noFill/>
        </p:spPr>
        <p:txBody>
          <a:bodyPr wrap="square" lIns="0" rIns="0" tIns="0" bIns="0" anchor="t">
            <a:spAutoFit/>
          </a:bodyPr>
          <a:lstStyle/>
          <a:p>
            <a:pPr algn="ctr"/>
            <a:r>
              <a:rPr sz="3800" b="0" i="0">
                <a:solidFill>
                  <a:srgbClr val="FFFFFF"/>
                </a:solidFill>
                <a:latin typeface="Georgia"/>
              </a:rPr>
              <a:t>Send the draft. </a:t>
            </a:r>
            <a:r>
              <a:rPr sz="3800" b="0" i="1">
                <a:solidFill>
                  <a:srgbClr val="FFFFFF"/>
                </a:solidFill>
                <a:latin typeface="Georgia"/>
              </a:rPr>
              <a:t>We make it clear.</a:t>
            </a:r>
          </a:p>
        </p:txBody>
      </p:sp>
      <p:sp>
        <p:nvSpPr>
          <p:cNvPr id="6" name="TextBox 5"/>
          <p:cNvSpPr txBox="1"/>
          <p:nvPr/>
        </p:nvSpPr>
        <p:spPr>
          <a:xfrm>
            <a:off x="3048000" y="3683000"/>
            <a:ext cx="6096000" cy="508000"/>
          </a:xfrm>
          <a:prstGeom prst="rect">
            <a:avLst/>
          </a:prstGeom>
          <a:noFill/>
        </p:spPr>
        <p:txBody>
          <a:bodyPr wrap="square" lIns="0" rIns="0" tIns="0" bIns="0" anchor="t">
            <a:spAutoFit/>
          </a:bodyPr>
          <a:lstStyle/>
          <a:p>
            <a:pPr algn="ctr">
              <a:lnSpc>
                <a:spcPct val="140000"/>
              </a:lnSpc>
            </a:pPr>
            <a:r>
              <a:rPr sz="1050" b="0" i="0">
                <a:solidFill>
                  <a:srgbClr val="C1C8CD"/>
                </a:solidFill>
                <a:latin typeface="Arial"/>
              </a:rPr>
              <a:t>Share the draft PPT with its content and order. Each slide will be rebuilt with this guidance: type, colour, grid, components.</a:t>
            </a:r>
          </a:p>
        </p:txBody>
      </p:sp>
      <p:sp>
        <p:nvSpPr>
          <p:cNvPr id="7" name="Rounded Rectangle 6"/>
          <p:cNvSpPr/>
          <p:nvPr/>
        </p:nvSpPr>
        <p:spPr>
          <a:xfrm>
            <a:off x="4508500" y="4445000"/>
            <a:ext cx="1524000" cy="304800"/>
          </a:xfrm>
          <a:prstGeom prst="roundRect">
            <a:avLst>
              <a:gd name="adj" fmla="val 12500"/>
            </a:avLst>
          </a:prstGeom>
          <a:solidFill>
            <a:srgbClr val="22C96A"/>
          </a:solidFill>
          <a:ln>
            <a:noFill/>
          </a:ln>
          <a:effectLst/>
        </p:spPr>
        <p:txBody>
          <a:bodyPr rtlCol="0" anchor="ctr"/>
          <a:lstStyle/>
          <a:p>
            <a:pPr algn="ctr"/>
          </a:p>
        </p:txBody>
      </p:sp>
      <p:sp>
        <p:nvSpPr>
          <p:cNvPr id="8" name="TextBox 7"/>
          <p:cNvSpPr txBox="1"/>
          <p:nvPr/>
        </p:nvSpPr>
        <p:spPr>
          <a:xfrm>
            <a:off x="4508500" y="4445000"/>
            <a:ext cx="1524000" cy="304800"/>
          </a:xfrm>
          <a:prstGeom prst="rect">
            <a:avLst/>
          </a:prstGeom>
          <a:noFill/>
        </p:spPr>
        <p:txBody>
          <a:bodyPr wrap="square" lIns="0" rIns="0" tIns="0" bIns="0" anchor="ctr">
            <a:spAutoFit/>
          </a:bodyPr>
          <a:lstStyle/>
          <a:p>
            <a:pPr algn="ctr"/>
            <a:r>
              <a:rPr sz="750" b="1" i="0" spc="60">
                <a:solidFill>
                  <a:srgbClr val="FFFFFF"/>
                </a:solidFill>
                <a:latin typeface="Arial"/>
              </a:rPr>
              <a:t>SHARE DRAFT</a:t>
            </a:r>
          </a:p>
        </p:txBody>
      </p:sp>
      <p:sp>
        <p:nvSpPr>
          <p:cNvPr id="9" name="Rounded Rectangle 8"/>
          <p:cNvSpPr/>
          <p:nvPr/>
        </p:nvSpPr>
        <p:spPr>
          <a:xfrm>
            <a:off x="6159500" y="4445000"/>
            <a:ext cx="1524000" cy="304800"/>
          </a:xfrm>
          <a:prstGeom prst="roundRect">
            <a:avLst>
              <a:gd name="adj" fmla="val 12500"/>
            </a:avLst>
          </a:prstGeom>
          <a:noFill/>
          <a:ln w="12700">
            <a:solidFill>
              <a:srgbClr val="22C96A"/>
            </a:solidFill>
          </a:ln>
          <a:effectLst/>
        </p:spPr>
        <p:txBody>
          <a:bodyPr rtlCol="0" anchor="ctr"/>
          <a:lstStyle/>
          <a:p>
            <a:pPr algn="ctr"/>
          </a:p>
        </p:txBody>
      </p:sp>
      <p:sp>
        <p:nvSpPr>
          <p:cNvPr id="10" name="TextBox 9"/>
          <p:cNvSpPr txBox="1"/>
          <p:nvPr/>
        </p:nvSpPr>
        <p:spPr>
          <a:xfrm>
            <a:off x="6159500" y="4445000"/>
            <a:ext cx="1524000" cy="304800"/>
          </a:xfrm>
          <a:prstGeom prst="rect">
            <a:avLst/>
          </a:prstGeom>
          <a:noFill/>
        </p:spPr>
        <p:txBody>
          <a:bodyPr wrap="square" lIns="0" rIns="0" tIns="0" bIns="0" anchor="ctr">
            <a:spAutoFit/>
          </a:bodyPr>
          <a:lstStyle/>
          <a:p>
            <a:pPr algn="ctr"/>
            <a:r>
              <a:rPr sz="750" b="1" i="0" spc="60">
                <a:solidFill>
                  <a:srgbClr val="22C96A"/>
                </a:solidFill>
                <a:latin typeface="Arial"/>
              </a:rPr>
              <a:t>ASK A QUESTION</a:t>
            </a:r>
          </a:p>
        </p:txBody>
      </p:sp>
      <p:sp>
        <p:nvSpPr>
          <p:cNvPr id="11" name="TextBox 10"/>
          <p:cNvSpPr txBox="1"/>
          <p:nvPr/>
        </p:nvSpPr>
        <p:spPr>
          <a:xfrm>
            <a:off x="609600" y="6350000"/>
            <a:ext cx="7620000" cy="152400"/>
          </a:xfrm>
          <a:prstGeom prst="rect">
            <a:avLst/>
          </a:prstGeom>
          <a:noFill/>
        </p:spPr>
        <p:txBody>
          <a:bodyPr wrap="square" lIns="0" rIns="0" tIns="0" bIns="0" anchor="t">
            <a:spAutoFit/>
          </a:bodyPr>
          <a:lstStyle/>
          <a:p>
            <a:pPr algn="l"/>
            <a:r>
              <a:rPr sz="650" b="1" i="0" spc="80">
                <a:solidFill>
                  <a:srgbClr val="889096"/>
                </a:solidFill>
                <a:latin typeface="Arial"/>
              </a:rPr>
              <a:t>PREPARED BY TIBERIAS K. SIMU  ·  MARKETING STRATEGIC 2 ASSOCIATE  ·  PT TRIATRA SINERGIA PRATAMA</a:t>
            </a:r>
          </a:p>
        </p:txBody>
      </p:sp>
      <p:sp>
        <p:nvSpPr>
          <p:cNvPr id="12" name="TextBox 11"/>
          <p:cNvSpPr txBox="1"/>
          <p:nvPr/>
        </p:nvSpPr>
        <p:spPr>
          <a:xfrm>
            <a:off x="609600" y="6527800"/>
            <a:ext cx="10922000" cy="152400"/>
          </a:xfrm>
          <a:prstGeom prst="rect">
            <a:avLst/>
          </a:prstGeom>
          <a:noFill/>
        </p:spPr>
        <p:txBody>
          <a:bodyPr wrap="square" lIns="0" rIns="0" tIns="0" bIns="0" anchor="t">
            <a:spAutoFit/>
          </a:bodyPr>
          <a:lstStyle/>
          <a:p>
            <a:pPr algn="l"/>
            <a:r>
              <a:rPr sz="650" b="0" i="0">
                <a:solidFill>
                  <a:srgbClr val="697177"/>
                </a:solidFill>
                <a:latin typeface="Arial"/>
              </a:rPr>
              <a:t>Style reference: Bitwise Asset Management website (typography, colour tokens, components). Fonts substituted with Georgia and Arial.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