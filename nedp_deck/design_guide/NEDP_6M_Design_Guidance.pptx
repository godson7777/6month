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147483180" r:id="rId2"/>
    <p:sldId id="2147483244" r:id="rId13"/>
    <p:sldId id="2147483245" r:id="rId14"/>
    <p:sldId id="2147483246" r:id="rId15"/>
    <p:sldId id="2147483247" r:id="rId16"/>
    <p:sldId id="2147483241" r:id="rId3"/>
    <p:sldId id="2147483248" r:id="rId17"/>
    <p:sldId id="2147483249" r:id="rId18"/>
    <p:sldId id="2147483250" r:id="rId19"/>
    <p:sldId id="2147483242" r:id="rId4"/>
    <p:sldId id="2147483251" r:id="rId20"/>
    <p:sldId id="2147483252" r:id="rId21"/>
    <p:sldId id="2147483253" r:id="rId22"/>
    <p:sldId id="2147483254" r:id="rId23"/>
    <p:sldId id="2147483255" r:id="rId24"/>
    <p:sldId id="214748318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645"/>
  </p:normalViewPr>
  <p:slideViewPr>
    <p:cSldViewPr snapToGrid="0">
      <p:cViewPr varScale="1">
        <p:scale>
          <a:sx n="70" d="100"/>
          <a:sy n="70" d="100"/>
        </p:scale>
        <p:origin x="4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Medium</c:v>
                </c:pt>
              </c:strCache>
            </c:strRef>
          </c:tx>
          <c:spPr>
            <a:solidFill>
              <a:srgbClr val="E55200"/>
            </a:solidFill>
          </c:spPr>
          <c:cat>
            <c:strRef>
              <c:f>Sheet1!$A$2:$A$5</c:f>
              <c:strCache>
                <c:ptCount val="4"/>
                <c:pt idx="0">
                  <c:v>2023</c:v>
                </c:pt>
                <c:pt idx="1">
                  <c:v>2024</c:v>
                </c:pt>
                <c:pt idx="2">
                  <c:v>2025</c:v>
                </c:pt>
                <c:pt idx="3">
                  <c:v>2026*</c:v>
                </c:pt>
              </c:strCache>
            </c:strRef>
          </c:cat>
          <c:val>
            <c:numRef>
              <c:f>Sheet1!$B$2:$B$5</c:f>
              <c:numCache>
                <c:formatCode>General</c:formatCode>
                <c:ptCount val="4"/>
                <c:pt idx="0">
                  <c:v>71</c:v>
                </c:pt>
                <c:pt idx="1">
                  <c:v>59</c:v>
                </c:pt>
                <c:pt idx="2">
                  <c:v>54</c:v>
                </c:pt>
                <c:pt idx="3">
                  <c:v>19</c:v>
                </c:pt>
              </c:numCache>
            </c:numRef>
          </c:val>
        </c:ser>
        <c:ser>
          <c:idx val="1"/>
          <c:order val="1"/>
          <c:tx>
            <c:strRef>
              <c:f>Sheet1!$C$1</c:f>
              <c:strCache>
                <c:ptCount val="1"/>
                <c:pt idx="0">
                  <c:v>Others</c:v>
                </c:pt>
              </c:strCache>
            </c:strRef>
          </c:tx>
          <c:spPr>
            <a:solidFill>
              <a:srgbClr val="B8BEC4"/>
            </a:solidFill>
          </c:spPr>
          <c:cat>
            <c:strRef>
              <c:f>Sheet1!$A$2:$A$5</c:f>
              <c:strCache>
                <c:ptCount val="4"/>
                <c:pt idx="0">
                  <c:v>2023</c:v>
                </c:pt>
                <c:pt idx="1">
                  <c:v>2024</c:v>
                </c:pt>
                <c:pt idx="2">
                  <c:v>2025</c:v>
                </c:pt>
                <c:pt idx="3">
                  <c:v>2026*</c:v>
                </c:pt>
              </c:strCache>
            </c:strRef>
          </c:cat>
          <c:val>
            <c:numRef>
              <c:f>Sheet1!$C$2:$C$5</c:f>
              <c:numCache>
                <c:formatCode>General</c:formatCode>
                <c:ptCount val="4"/>
                <c:pt idx="0">
                  <c:v>122</c:v>
                </c:pt>
                <c:pt idx="1">
                  <c:v>91</c:v>
                </c:pt>
                <c:pt idx="2">
                  <c:v>107</c:v>
                </c:pt>
                <c:pt idx="3">
                  <c:v>59</c:v>
                </c:pt>
              </c:numCache>
            </c:numRef>
          </c:val>
        </c:ser>
        <c:dLbls>
          <c:txPr>
            <a:bodyPr/>
            <a:lstStyle/>
            <a:p>
              <a:pPr>
                <a:defRPr sz="850" b="1">
                  <a:solidFill>
                    <a:srgbClr val="26262A"/>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0D7"/>
            </a:solidFill>
          </a:ln>
        </c:spPr>
        <c:txPr>
          <a:bodyPr/>
          <a:lstStyle/>
          <a:p>
            <a:pPr>
              <a:defRPr sz="900">
                <a:solidFill>
                  <a:srgbClr val="6E7B8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850">
              <a:solidFill>
                <a:srgbClr val="6E7B84"/>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B1AB5-F9F4-6942-9E1C-7A745D72015C}"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A27F00-0A9F-C54C-A966-1E2E0FF19A9A}" type="slidenum">
              <a:rPr lang="en-US" smtClean="0"/>
              <a:t>‹#›</a:t>
            </a:fld>
            <a:endParaRPr lang="en-US"/>
          </a:p>
        </p:txBody>
      </p:sp>
    </p:spTree>
    <p:extLst>
      <p:ext uri="{BB962C8B-B14F-4D97-AF65-F5344CB8AC3E}">
        <p14:creationId xmlns:p14="http://schemas.microsoft.com/office/powerpoint/2010/main" val="4136381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AF7594-8072-0C42-8312-540B333AC7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81064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jpe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jpe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4C4F-D872-B477-8A0E-9F67CF7ED8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335DC436-0A8A-31D1-2FF0-030DD8874A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84597A9E-87DA-B433-4653-D5CAD0DA85B5}"/>
              </a:ext>
            </a:extLst>
          </p:cNvPr>
          <p:cNvSpPr>
            <a:spLocks noGrp="1"/>
          </p:cNvSpPr>
          <p:nvPr>
            <p:ph type="dt" sz="half" idx="10"/>
          </p:nvPr>
        </p:nvSpPr>
        <p:spPr/>
        <p:txBody>
          <a:bodyPr/>
          <a:lstStyle/>
          <a:p>
            <a:fld id="{7A275B1F-65BF-4A91-9238-A64B1360CC1C}" type="datetimeFigureOut">
              <a:rPr lang="en-ID" smtClean="0"/>
              <a:t>13/10/2026</a:t>
            </a:fld>
            <a:endParaRPr lang="en-ID"/>
          </a:p>
        </p:txBody>
      </p:sp>
      <p:sp>
        <p:nvSpPr>
          <p:cNvPr id="5" name="Footer Placeholder 4">
            <a:extLst>
              <a:ext uri="{FF2B5EF4-FFF2-40B4-BE49-F238E27FC236}">
                <a16:creationId xmlns:a16="http://schemas.microsoft.com/office/drawing/2014/main" id="{138A024A-59FC-2B40-8223-145C1A668A7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43B11BFF-0E67-0E0B-B87B-DBF0ADC70ACB}"/>
              </a:ext>
            </a:extLst>
          </p:cNvPr>
          <p:cNvSpPr>
            <a:spLocks noGrp="1"/>
          </p:cNvSpPr>
          <p:nvPr>
            <p:ph type="sldNum" sz="quarter" idx="12"/>
          </p:nvPr>
        </p:nvSpPr>
        <p:spPr/>
        <p:txBody>
          <a:bodyPr/>
          <a:lstStyle/>
          <a:p>
            <a:fld id="{1177BE13-1DEC-41B6-835D-DA8EC58D29C1}" type="slidenum">
              <a:rPr lang="en-ID" smtClean="0"/>
              <a:t>‹#›</a:t>
            </a:fld>
            <a:endParaRPr lang="en-ID"/>
          </a:p>
        </p:txBody>
      </p:sp>
    </p:spTree>
    <p:extLst>
      <p:ext uri="{BB962C8B-B14F-4D97-AF65-F5344CB8AC3E}">
        <p14:creationId xmlns:p14="http://schemas.microsoft.com/office/powerpoint/2010/main" val="3371495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8EA848-AA89-F6BC-259D-419169AD3E91}"/>
              </a:ext>
            </a:extLst>
          </p:cNvPr>
          <p:cNvPicPr>
            <a:picLocks noChangeAspect="1"/>
          </p:cNvPicPr>
          <p:nvPr userDrawn="1"/>
        </p:nvPicPr>
        <p:blipFill>
          <a:blip r:embed="rId2"/>
          <a:srcRect b="18211"/>
          <a:stretch/>
        </p:blipFill>
        <p:spPr>
          <a:xfrm>
            <a:off x="0" y="6128658"/>
            <a:ext cx="12192000" cy="729342"/>
          </a:xfrm>
          <a:prstGeom prst="rect">
            <a:avLst/>
          </a:prstGeom>
        </p:spPr>
      </p:pic>
      <p:sp>
        <p:nvSpPr>
          <p:cNvPr id="34" name="Slide Number Placeholder 5">
            <a:extLst>
              <a:ext uri="{FF2B5EF4-FFF2-40B4-BE49-F238E27FC236}">
                <a16:creationId xmlns:a16="http://schemas.microsoft.com/office/drawing/2014/main" id="{8486A3FD-8358-D868-CD02-C659C539BBF4}"/>
              </a:ext>
            </a:extLst>
          </p:cNvPr>
          <p:cNvSpPr txBox="1">
            <a:spLocks/>
          </p:cNvSpPr>
          <p:nvPr userDrawn="1"/>
        </p:nvSpPr>
        <p:spPr>
          <a:xfrm>
            <a:off x="11173229" y="6593577"/>
            <a:ext cx="960750" cy="208165"/>
          </a:xfrm>
          <a:prstGeom prst="roundRect">
            <a:avLst>
              <a:gd name="adj" fmla="val 28315"/>
            </a:avLst>
          </a:prstGeom>
          <a:noFill/>
          <a:ln>
            <a:noFill/>
          </a:ln>
        </p:spPr>
        <p:txBody>
          <a:bodyPr vert="horz" lIns="91440" tIns="45720" rIns="91440" bIns="45720" rtlCol="0" anchor="ctr" wrap="none"/>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chemeClr val="tx1"/>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chemeClr val="tx1"/>
              </a:solidFill>
              <a:effectLst/>
              <a:uLnTx/>
              <a:uFillTx/>
              <a:latin typeface="Work Sans" pitchFamily="2"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FEEC1DB-ABA7-860C-494A-9A24D4B63052}"/>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tx1"/>
                </a:solidFill>
                <a:effectLst/>
                <a:latin typeface="+mn-lt"/>
              </a:rPr>
              <a:t>© 2026 PT </a:t>
            </a:r>
            <a:r>
              <a:rPr lang="pt-BR" sz="700" b="0" i="0" err="1">
                <a:solidFill>
                  <a:schemeClr val="tx1"/>
                </a:solidFill>
                <a:effectLst/>
                <a:latin typeface="+mn-lt"/>
              </a:rPr>
              <a:t>Triatra</a:t>
            </a:r>
            <a:r>
              <a:rPr lang="pt-BR" sz="700" b="0" i="0">
                <a:solidFill>
                  <a:schemeClr val="tx1"/>
                </a:solidFill>
                <a:effectLst/>
                <a:latin typeface="+mn-lt"/>
              </a:rPr>
              <a:t> Sinergia </a:t>
            </a:r>
            <a:r>
              <a:rPr lang="pt-BR" sz="700" b="0" i="0" err="1">
                <a:solidFill>
                  <a:schemeClr val="tx1"/>
                </a:solidFill>
                <a:effectLst/>
                <a:latin typeface="+mn-lt"/>
              </a:rPr>
              <a:t>Pratama</a:t>
            </a:r>
            <a:r>
              <a:rPr lang="pt-BR" sz="700" b="0" i="0">
                <a:solidFill>
                  <a:schemeClr val="tx1"/>
                </a:solidFill>
                <a:effectLst/>
                <a:latin typeface="+mn-lt"/>
              </a:rPr>
              <a:t>, a </a:t>
            </a:r>
            <a:r>
              <a:rPr lang="pt-BR" sz="700" b="0" i="0" err="1">
                <a:solidFill>
                  <a:schemeClr val="tx1"/>
                </a:solidFill>
                <a:effectLst/>
                <a:latin typeface="+mn-lt"/>
              </a:rPr>
              <a:t>subsidiary</a:t>
            </a:r>
            <a:r>
              <a:rPr lang="pt-BR" sz="700" b="0" i="0">
                <a:solidFill>
                  <a:schemeClr val="tx1"/>
                </a:solidFill>
                <a:effectLst/>
                <a:latin typeface="+mn-lt"/>
              </a:rPr>
              <a:t> </a:t>
            </a:r>
            <a:r>
              <a:rPr lang="pt-BR" sz="700" b="0" i="0" err="1">
                <a:solidFill>
                  <a:schemeClr val="tx1"/>
                </a:solidFill>
                <a:effectLst/>
                <a:latin typeface="+mn-lt"/>
              </a:rPr>
              <a:t>of</a:t>
            </a:r>
            <a:r>
              <a:rPr lang="pt-BR" sz="700" b="0" i="0">
                <a:solidFill>
                  <a:schemeClr val="tx1"/>
                </a:solidFill>
                <a:effectLst/>
                <a:latin typeface="+mn-lt"/>
              </a:rPr>
              <a:t> PT United </a:t>
            </a:r>
            <a:r>
              <a:rPr lang="pt-BR" sz="700" b="0" i="0" err="1">
                <a:solidFill>
                  <a:schemeClr val="tx1"/>
                </a:solidFill>
                <a:effectLst/>
                <a:latin typeface="+mn-lt"/>
              </a:rPr>
              <a:t>Tractors</a:t>
            </a:r>
            <a:r>
              <a:rPr lang="pt-BR" sz="700" b="0" i="0">
                <a:solidFill>
                  <a:schemeClr val="tx1"/>
                </a:solidFill>
                <a:effectLst/>
                <a:latin typeface="+mn-lt"/>
              </a:rPr>
              <a:t> </a:t>
            </a:r>
            <a:r>
              <a:rPr lang="pt-BR" sz="700" b="0" i="0" err="1">
                <a:solidFill>
                  <a:schemeClr val="tx1"/>
                </a:solidFill>
                <a:effectLst/>
                <a:latin typeface="+mn-lt"/>
              </a:rPr>
              <a:t>Pandu</a:t>
            </a:r>
            <a:r>
              <a:rPr lang="pt-BR" sz="700" b="0" i="0">
                <a:solidFill>
                  <a:schemeClr val="tx1"/>
                </a:solidFill>
                <a:effectLst/>
                <a:latin typeface="+mn-lt"/>
              </a:rPr>
              <a:t> </a:t>
            </a:r>
            <a:r>
              <a:rPr lang="pt-BR" sz="700" b="0" i="0" err="1">
                <a:solidFill>
                  <a:schemeClr val="tx1"/>
                </a:solidFill>
                <a:effectLst/>
                <a:latin typeface="+mn-lt"/>
              </a:rPr>
              <a:t>Engineering</a:t>
            </a:r>
            <a:endParaRPr lang="pt-BR" sz="700" b="0" i="0">
              <a:solidFill>
                <a:schemeClr val="tx1"/>
              </a:solidFill>
              <a:effectLst/>
              <a:latin typeface="+mn-lt"/>
            </a:endParaRPr>
          </a:p>
        </p:txBody>
      </p:sp>
      <p:pic>
        <p:nvPicPr>
          <p:cNvPr id="31" name="Picture 30">
            <a:extLst>
              <a:ext uri="{FF2B5EF4-FFF2-40B4-BE49-F238E27FC236}">
                <a16:creationId xmlns:a16="http://schemas.microsoft.com/office/drawing/2014/main" id="{7729BE4E-00B4-2AB4-D8A3-15961CC08688}"/>
              </a:ext>
            </a:extLst>
          </p:cNvPr>
          <p:cNvPicPr>
            <a:picLocks noChangeAspect="1"/>
          </p:cNvPicPr>
          <p:nvPr userDrawn="1"/>
        </p:nvPicPr>
        <p:blipFill>
          <a:blip r:embed="rId3"/>
          <a:stretch>
            <a:fillRect/>
          </a:stretch>
        </p:blipFill>
        <p:spPr>
          <a:xfrm>
            <a:off x="11058862" y="147249"/>
            <a:ext cx="980935" cy="553855"/>
          </a:xfrm>
          <a:prstGeom prst="rect">
            <a:avLst/>
          </a:prstGeom>
        </p:spPr>
      </p:pic>
      <p:sp>
        <p:nvSpPr>
          <p:cNvPr id="3" name="TextBox 2">
            <a:extLst>
              <a:ext uri="{FF2B5EF4-FFF2-40B4-BE49-F238E27FC236}">
                <a16:creationId xmlns:a16="http://schemas.microsoft.com/office/drawing/2014/main" id="{941818C9-4351-4D56-5DE8-109FFEB21038}"/>
              </a:ext>
            </a:extLst>
          </p:cNvPr>
          <p:cNvSpPr txBox="1"/>
          <p:nvPr userDrawn="1"/>
        </p:nvSpPr>
        <p:spPr>
          <a:xfrm>
            <a:off x="402772" y="5482327"/>
            <a:ext cx="8098971" cy="646331"/>
          </a:xfrm>
          <a:prstGeom prst="rect">
            <a:avLst/>
          </a:prstGeom>
          <a:noFill/>
        </p:spPr>
        <p:txBody>
          <a:bodyPr wrap="square" rtlCol="0">
            <a:spAutoFit/>
          </a:bodyPr>
          <a:lstStyle/>
          <a:p>
            <a:r>
              <a:rPr lang="en-US" dirty="0">
                <a:solidFill>
                  <a:schemeClr val="bg2"/>
                </a:solidFill>
              </a:rPr>
              <a:t>Template prepared by Yusa Wijaya</a:t>
            </a:r>
          </a:p>
          <a:p>
            <a:r>
              <a:rPr lang="en-US" dirty="0">
                <a:solidFill>
                  <a:schemeClr val="bg2"/>
                </a:solidFill>
              </a:rPr>
              <a:t>Marketing Strategic 3</a:t>
            </a:r>
          </a:p>
        </p:txBody>
      </p:sp>
    </p:spTree>
    <p:extLst>
      <p:ext uri="{BB962C8B-B14F-4D97-AF65-F5344CB8AC3E}">
        <p14:creationId xmlns:p14="http://schemas.microsoft.com/office/powerpoint/2010/main" val="33149089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8EA848-AA89-F6BC-259D-419169AD3E91}"/>
              </a:ext>
            </a:extLst>
          </p:cNvPr>
          <p:cNvPicPr>
            <a:picLocks noChangeAspect="1"/>
          </p:cNvPicPr>
          <p:nvPr userDrawn="1"/>
        </p:nvPicPr>
        <p:blipFill>
          <a:blip r:embed="rId2"/>
          <a:srcRect b="18211"/>
          <a:stretch/>
        </p:blipFill>
        <p:spPr>
          <a:xfrm>
            <a:off x="0" y="6128658"/>
            <a:ext cx="12192000" cy="729342"/>
          </a:xfrm>
          <a:prstGeom prst="rect">
            <a:avLst/>
          </a:prstGeom>
        </p:spPr>
      </p:pic>
      <p:sp>
        <p:nvSpPr>
          <p:cNvPr id="34" name="Slide Number Placeholder 5">
            <a:extLst>
              <a:ext uri="{FF2B5EF4-FFF2-40B4-BE49-F238E27FC236}">
                <a16:creationId xmlns:a16="http://schemas.microsoft.com/office/drawing/2014/main" id="{8486A3FD-8358-D868-CD02-C659C539BBF4}"/>
              </a:ext>
            </a:extLst>
          </p:cNvPr>
          <p:cNvSpPr txBox="1">
            <a:spLocks/>
          </p:cNvSpPr>
          <p:nvPr userDrawn="1"/>
        </p:nvSpPr>
        <p:spPr>
          <a:xfrm>
            <a:off x="11173229" y="6593577"/>
            <a:ext cx="960750" cy="208165"/>
          </a:xfrm>
          <a:prstGeom prst="roundRect">
            <a:avLst>
              <a:gd name="adj" fmla="val 28315"/>
            </a:avLst>
          </a:prstGeom>
          <a:noFill/>
          <a:ln>
            <a:noFill/>
          </a:ln>
        </p:spPr>
        <p:txBody>
          <a:bodyPr vert="horz" lIns="91440" tIns="45720" rIns="91440" bIns="45720" rtlCol="0" anchor="ctr" wrap="none"/>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chemeClr val="tx1"/>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chemeClr val="tx1"/>
              </a:solidFill>
              <a:effectLst/>
              <a:uLnTx/>
              <a:uFillTx/>
              <a:latin typeface="Work Sans" pitchFamily="2"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FEEC1DB-ABA7-860C-494A-9A24D4B63052}"/>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tx1"/>
                </a:solidFill>
                <a:effectLst/>
                <a:latin typeface="+mn-lt"/>
              </a:rPr>
              <a:t>© 2026 PT </a:t>
            </a:r>
            <a:r>
              <a:rPr lang="pt-BR" sz="700" b="0" i="0" err="1">
                <a:solidFill>
                  <a:schemeClr val="tx1"/>
                </a:solidFill>
                <a:effectLst/>
                <a:latin typeface="+mn-lt"/>
              </a:rPr>
              <a:t>Triatra</a:t>
            </a:r>
            <a:r>
              <a:rPr lang="pt-BR" sz="700" b="0" i="0">
                <a:solidFill>
                  <a:schemeClr val="tx1"/>
                </a:solidFill>
                <a:effectLst/>
                <a:latin typeface="+mn-lt"/>
              </a:rPr>
              <a:t> Sinergia </a:t>
            </a:r>
            <a:r>
              <a:rPr lang="pt-BR" sz="700" b="0" i="0" err="1">
                <a:solidFill>
                  <a:schemeClr val="tx1"/>
                </a:solidFill>
                <a:effectLst/>
                <a:latin typeface="+mn-lt"/>
              </a:rPr>
              <a:t>Pratama</a:t>
            </a:r>
            <a:r>
              <a:rPr lang="pt-BR" sz="700" b="0" i="0">
                <a:solidFill>
                  <a:schemeClr val="tx1"/>
                </a:solidFill>
                <a:effectLst/>
                <a:latin typeface="+mn-lt"/>
              </a:rPr>
              <a:t>, a </a:t>
            </a:r>
            <a:r>
              <a:rPr lang="pt-BR" sz="700" b="0" i="0" err="1">
                <a:solidFill>
                  <a:schemeClr val="tx1"/>
                </a:solidFill>
                <a:effectLst/>
                <a:latin typeface="+mn-lt"/>
              </a:rPr>
              <a:t>subsidiary</a:t>
            </a:r>
            <a:r>
              <a:rPr lang="pt-BR" sz="700" b="0" i="0">
                <a:solidFill>
                  <a:schemeClr val="tx1"/>
                </a:solidFill>
                <a:effectLst/>
                <a:latin typeface="+mn-lt"/>
              </a:rPr>
              <a:t> </a:t>
            </a:r>
            <a:r>
              <a:rPr lang="pt-BR" sz="700" b="0" i="0" err="1">
                <a:solidFill>
                  <a:schemeClr val="tx1"/>
                </a:solidFill>
                <a:effectLst/>
                <a:latin typeface="+mn-lt"/>
              </a:rPr>
              <a:t>of</a:t>
            </a:r>
            <a:r>
              <a:rPr lang="pt-BR" sz="700" b="0" i="0">
                <a:solidFill>
                  <a:schemeClr val="tx1"/>
                </a:solidFill>
                <a:effectLst/>
                <a:latin typeface="+mn-lt"/>
              </a:rPr>
              <a:t> PT United </a:t>
            </a:r>
            <a:r>
              <a:rPr lang="pt-BR" sz="700" b="0" i="0" err="1">
                <a:solidFill>
                  <a:schemeClr val="tx1"/>
                </a:solidFill>
                <a:effectLst/>
                <a:latin typeface="+mn-lt"/>
              </a:rPr>
              <a:t>Tractors</a:t>
            </a:r>
            <a:r>
              <a:rPr lang="pt-BR" sz="700" b="0" i="0">
                <a:solidFill>
                  <a:schemeClr val="tx1"/>
                </a:solidFill>
                <a:effectLst/>
                <a:latin typeface="+mn-lt"/>
              </a:rPr>
              <a:t> </a:t>
            </a:r>
            <a:r>
              <a:rPr lang="pt-BR" sz="700" b="0" i="0" err="1">
                <a:solidFill>
                  <a:schemeClr val="tx1"/>
                </a:solidFill>
                <a:effectLst/>
                <a:latin typeface="+mn-lt"/>
              </a:rPr>
              <a:t>Pandu</a:t>
            </a:r>
            <a:r>
              <a:rPr lang="pt-BR" sz="700" b="0" i="0">
                <a:solidFill>
                  <a:schemeClr val="tx1"/>
                </a:solidFill>
                <a:effectLst/>
                <a:latin typeface="+mn-lt"/>
              </a:rPr>
              <a:t> </a:t>
            </a:r>
            <a:r>
              <a:rPr lang="pt-BR" sz="700" b="0" i="0" err="1">
                <a:solidFill>
                  <a:schemeClr val="tx1"/>
                </a:solidFill>
                <a:effectLst/>
                <a:latin typeface="+mn-lt"/>
              </a:rPr>
              <a:t>Engineering</a:t>
            </a:r>
            <a:endParaRPr lang="pt-BR" sz="700" b="0" i="0">
              <a:solidFill>
                <a:schemeClr val="tx1"/>
              </a:solidFill>
              <a:effectLst/>
              <a:latin typeface="+mn-lt"/>
            </a:endParaRPr>
          </a:p>
        </p:txBody>
      </p:sp>
      <p:pic>
        <p:nvPicPr>
          <p:cNvPr id="31" name="Picture 30">
            <a:extLst>
              <a:ext uri="{FF2B5EF4-FFF2-40B4-BE49-F238E27FC236}">
                <a16:creationId xmlns:a16="http://schemas.microsoft.com/office/drawing/2014/main" id="{7729BE4E-00B4-2AB4-D8A3-15961CC08688}"/>
              </a:ext>
            </a:extLst>
          </p:cNvPr>
          <p:cNvPicPr>
            <a:picLocks noChangeAspect="1"/>
          </p:cNvPicPr>
          <p:nvPr userDrawn="1"/>
        </p:nvPicPr>
        <p:blipFill>
          <a:blip r:embed="rId3"/>
          <a:stretch>
            <a:fillRect/>
          </a:stretch>
        </p:blipFill>
        <p:spPr>
          <a:xfrm>
            <a:off x="11058862" y="147249"/>
            <a:ext cx="980935" cy="553855"/>
          </a:xfrm>
          <a:prstGeom prst="rect">
            <a:avLst/>
          </a:prstGeom>
        </p:spPr>
      </p:pic>
    </p:spTree>
    <p:extLst>
      <p:ext uri="{BB962C8B-B14F-4D97-AF65-F5344CB8AC3E}">
        <p14:creationId xmlns:p14="http://schemas.microsoft.com/office/powerpoint/2010/main" val="28232040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D1E79B4-F7B3-96C2-53B2-A1FE363CF64C}"/>
              </a:ext>
            </a:extLst>
          </p:cNvPr>
          <p:cNvSpPr/>
          <p:nvPr userDrawn="1"/>
        </p:nvSpPr>
        <p:spPr>
          <a:xfrm flipV="1">
            <a:off x="290416" y="213097"/>
            <a:ext cx="516605" cy="434217"/>
          </a:xfrm>
          <a:prstGeom prst="roundRect">
            <a:avLst>
              <a:gd name="adj" fmla="val 0"/>
            </a:avLst>
          </a:prstGeom>
          <a:solidFill>
            <a:schemeClr val="bg2">
              <a:lumMod val="9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4EE3EAF5-F1C2-2B5E-4083-1FC4C9C5FCFB}"/>
              </a:ext>
            </a:extLst>
          </p:cNvPr>
          <p:cNvSpPr/>
          <p:nvPr userDrawn="1"/>
        </p:nvSpPr>
        <p:spPr>
          <a:xfrm flipV="1">
            <a:off x="249776" y="172458"/>
            <a:ext cx="516605" cy="434218"/>
          </a:xfrm>
          <a:prstGeom prst="roundRect">
            <a:avLst>
              <a:gd name="adj" fmla="val 0"/>
            </a:avLst>
          </a:prstGeom>
          <a:solidFill>
            <a:srgbClr val="E552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34" name="Slide Number Placeholder 5">
            <a:extLst>
              <a:ext uri="{FF2B5EF4-FFF2-40B4-BE49-F238E27FC236}">
                <a16:creationId xmlns:a16="http://schemas.microsoft.com/office/drawing/2014/main" id="{8486A3FD-8358-D868-CD02-C659C539BBF4}"/>
              </a:ext>
            </a:extLst>
          </p:cNvPr>
          <p:cNvSpPr txBox="1">
            <a:spLocks/>
          </p:cNvSpPr>
          <p:nvPr userDrawn="1"/>
        </p:nvSpPr>
        <p:spPr>
          <a:xfrm>
            <a:off x="11079047" y="6590649"/>
            <a:ext cx="960750" cy="208165"/>
          </a:xfrm>
          <a:prstGeom prst="roundRect">
            <a:avLst>
              <a:gd name="adj" fmla="val 28315"/>
            </a:avLst>
          </a:prstGeom>
          <a:noFill/>
          <a:ln>
            <a:noFill/>
          </a:ln>
        </p:spPr>
        <p:txBody>
          <a:bodyPr vert="horz" lIns="91440" tIns="45720" rIns="91440" bIns="45720" rtlCol="0" anchor="ctr" wrap="none"/>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tx1"/>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chemeClr val="tx1"/>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dirty="0">
              <a:ln>
                <a:noFill/>
              </a:ln>
              <a:solidFill>
                <a:schemeClr val="tx1"/>
              </a:solidFill>
              <a:effectLst/>
              <a:uLnTx/>
              <a:uFillTx/>
              <a:latin typeface="Work Sans" pitchFamily="2"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FEEC1DB-ABA7-860C-494A-9A24D4B63052}"/>
              </a:ext>
            </a:extLst>
          </p:cNvPr>
          <p:cNvSpPr txBox="1"/>
          <p:nvPr userDrawn="1"/>
        </p:nvSpPr>
        <p:spPr>
          <a:xfrm>
            <a:off x="4593265" y="6575551"/>
            <a:ext cx="6775942" cy="238363"/>
          </a:xfrm>
          <a:prstGeom prst="roundRect">
            <a:avLst/>
          </a:prstGeom>
          <a:noFill/>
        </p:spPr>
        <p:txBody>
          <a:bodyPr wrap="square">
            <a:spAutoFit/>
          </a:bodyPr>
          <a:lstStyle/>
          <a:p>
            <a:pPr algn="r"/>
            <a:r>
              <a:rPr lang="pt-BR" sz="800" b="0" i="0" dirty="0">
                <a:solidFill>
                  <a:schemeClr val="tx1"/>
                </a:solidFill>
                <a:effectLst/>
                <a:latin typeface="Arial" panose="020B0604020202020204" pitchFamily="34" charset="0"/>
                <a:cs typeface="Arial" panose="020B0604020202020204" pitchFamily="34" charset="0"/>
              </a:rPr>
              <a:t>© 2026 PT </a:t>
            </a:r>
            <a:r>
              <a:rPr lang="pt-BR" sz="800" b="0" i="0" dirty="0" err="1">
                <a:solidFill>
                  <a:schemeClr val="tx1"/>
                </a:solidFill>
                <a:effectLst/>
                <a:latin typeface="Arial" panose="020B0604020202020204" pitchFamily="34" charset="0"/>
                <a:cs typeface="Arial" panose="020B0604020202020204" pitchFamily="34" charset="0"/>
              </a:rPr>
              <a:t>Triatra</a:t>
            </a:r>
            <a:r>
              <a:rPr lang="pt-BR" sz="800" b="0" i="0" dirty="0">
                <a:solidFill>
                  <a:schemeClr val="tx1"/>
                </a:solidFill>
                <a:effectLst/>
                <a:latin typeface="Arial" panose="020B0604020202020204" pitchFamily="34" charset="0"/>
                <a:cs typeface="Arial" panose="020B0604020202020204" pitchFamily="34" charset="0"/>
              </a:rPr>
              <a:t> Sinergia </a:t>
            </a:r>
            <a:r>
              <a:rPr lang="pt-BR" sz="800" b="0" i="0" dirty="0" err="1">
                <a:solidFill>
                  <a:schemeClr val="tx1"/>
                </a:solidFill>
                <a:effectLst/>
                <a:latin typeface="Arial" panose="020B0604020202020204" pitchFamily="34" charset="0"/>
                <a:cs typeface="Arial" panose="020B0604020202020204" pitchFamily="34" charset="0"/>
              </a:rPr>
              <a:t>Pratama</a:t>
            </a:r>
            <a:r>
              <a:rPr lang="pt-BR" sz="800" b="0" i="0" dirty="0">
                <a:solidFill>
                  <a:schemeClr val="tx1"/>
                </a:solidFill>
                <a:effectLst/>
                <a:latin typeface="Arial" panose="020B0604020202020204" pitchFamily="34" charset="0"/>
                <a:cs typeface="Arial" panose="020B0604020202020204" pitchFamily="34" charset="0"/>
              </a:rPr>
              <a:t>, a </a:t>
            </a:r>
            <a:r>
              <a:rPr lang="pt-BR" sz="800" b="0" i="0" dirty="0" err="1">
                <a:solidFill>
                  <a:schemeClr val="tx1"/>
                </a:solidFill>
                <a:effectLst/>
                <a:latin typeface="Arial" panose="020B0604020202020204" pitchFamily="34" charset="0"/>
                <a:cs typeface="Arial" panose="020B0604020202020204" pitchFamily="34" charset="0"/>
              </a:rPr>
              <a:t>subsidiary</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of</a:t>
            </a:r>
            <a:r>
              <a:rPr lang="pt-BR" sz="800" b="0" i="0" dirty="0">
                <a:solidFill>
                  <a:schemeClr val="tx1"/>
                </a:solidFill>
                <a:effectLst/>
                <a:latin typeface="Arial" panose="020B0604020202020204" pitchFamily="34" charset="0"/>
                <a:cs typeface="Arial" panose="020B0604020202020204" pitchFamily="34" charset="0"/>
              </a:rPr>
              <a:t> PT United </a:t>
            </a:r>
            <a:r>
              <a:rPr lang="pt-BR" sz="800" b="0" i="0" dirty="0" err="1">
                <a:solidFill>
                  <a:schemeClr val="tx1"/>
                </a:solidFill>
                <a:effectLst/>
                <a:latin typeface="Arial" panose="020B0604020202020204" pitchFamily="34" charset="0"/>
                <a:cs typeface="Arial" panose="020B0604020202020204" pitchFamily="34" charset="0"/>
              </a:rPr>
              <a:t>Tractors</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Pandu</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Engineering</a:t>
            </a:r>
            <a:endParaRPr lang="pt-BR" sz="800" b="0" i="0" dirty="0">
              <a:solidFill>
                <a:schemeClr val="tx1"/>
              </a:solidFill>
              <a:effectLst/>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7729BE4E-00B4-2AB4-D8A3-15961CC08688}"/>
              </a:ext>
            </a:extLst>
          </p:cNvPr>
          <p:cNvPicPr>
            <a:picLocks noChangeAspect="1"/>
          </p:cNvPicPr>
          <p:nvPr userDrawn="1"/>
        </p:nvPicPr>
        <p:blipFill>
          <a:blip r:embed="rId2"/>
          <a:stretch>
            <a:fillRect/>
          </a:stretch>
        </p:blipFill>
        <p:spPr>
          <a:xfrm>
            <a:off x="11058862" y="136491"/>
            <a:ext cx="980935" cy="553855"/>
          </a:xfrm>
          <a:prstGeom prst="rect">
            <a:avLst/>
          </a:prstGeom>
        </p:spPr>
      </p:pic>
      <p:cxnSp>
        <p:nvCxnSpPr>
          <p:cNvPr id="5" name="Straight Connector 4">
            <a:extLst>
              <a:ext uri="{FF2B5EF4-FFF2-40B4-BE49-F238E27FC236}">
                <a16:creationId xmlns:a16="http://schemas.microsoft.com/office/drawing/2014/main" id="{5C9A5609-5B1A-7BC5-8371-72041C4B1F80}"/>
              </a:ext>
            </a:extLst>
          </p:cNvPr>
          <p:cNvCxnSpPr/>
          <p:nvPr userDrawn="1"/>
        </p:nvCxnSpPr>
        <p:spPr>
          <a:xfrm>
            <a:off x="0" y="819434"/>
            <a:ext cx="12192000" cy="0"/>
          </a:xfrm>
          <a:prstGeom prst="line">
            <a:avLst/>
          </a:prstGeom>
          <a:ln w="3175">
            <a:solidFill>
              <a:schemeClr val="accent2">
                <a:lumMod val="40000"/>
                <a:lumOff val="60000"/>
                <a:alpha val="67743"/>
              </a:schemeClr>
            </a:solidFill>
            <a:prstDash val="solid"/>
          </a:ln>
          <a:effectLst>
            <a:outerShdw blurRad="50800" dist="127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8BA014C-83D6-5823-EC0F-794A874CD629}"/>
              </a:ext>
            </a:extLst>
          </p:cNvPr>
          <p:cNvCxnSpPr>
            <a:cxnSpLocks/>
          </p:cNvCxnSpPr>
          <p:nvPr userDrawn="1"/>
        </p:nvCxnSpPr>
        <p:spPr>
          <a:xfrm>
            <a:off x="249776" y="6527937"/>
            <a:ext cx="11683772" cy="0"/>
          </a:xfrm>
          <a:prstGeom prst="line">
            <a:avLst/>
          </a:prstGeom>
          <a:ln w="3175">
            <a:solidFill>
              <a:schemeClr val="tx1">
                <a:lumMod val="50000"/>
                <a:lumOff val="50000"/>
                <a:alpha val="67743"/>
              </a:schemeClr>
            </a:solidFill>
            <a:prstDash val="solid"/>
          </a:ln>
          <a:effectLst>
            <a:outerShdw blurRad="50800" dist="127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80462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F38615-4DB9-A511-CA23-52BC83269515}"/>
              </a:ext>
            </a:extLst>
          </p:cNvPr>
          <p:cNvPicPr>
            <a:picLocks noChangeAspect="1"/>
          </p:cNvPicPr>
          <p:nvPr userDrawn="1"/>
        </p:nvPicPr>
        <p:blipFill>
          <a:blip r:embed="rId2"/>
          <a:srcRect b="18211"/>
          <a:stretch/>
        </p:blipFill>
        <p:spPr>
          <a:xfrm>
            <a:off x="0" y="6305106"/>
            <a:ext cx="12192000" cy="552893"/>
          </a:xfrm>
          <a:prstGeom prst="rect">
            <a:avLst/>
          </a:prstGeom>
        </p:spPr>
      </p:pic>
      <p:sp>
        <p:nvSpPr>
          <p:cNvPr id="4" name="Rectangle: Rounded Corners 3">
            <a:extLst>
              <a:ext uri="{FF2B5EF4-FFF2-40B4-BE49-F238E27FC236}">
                <a16:creationId xmlns:a16="http://schemas.microsoft.com/office/drawing/2014/main" id="{CD1E79B4-F7B3-96C2-53B2-A1FE363CF64C}"/>
              </a:ext>
            </a:extLst>
          </p:cNvPr>
          <p:cNvSpPr/>
          <p:nvPr userDrawn="1"/>
        </p:nvSpPr>
        <p:spPr>
          <a:xfrm flipV="1">
            <a:off x="290416" y="213097"/>
            <a:ext cx="516605" cy="434217"/>
          </a:xfrm>
          <a:prstGeom prst="roundRect">
            <a:avLst>
              <a:gd name="adj" fmla="val 0"/>
            </a:avLst>
          </a:prstGeom>
          <a:solidFill>
            <a:schemeClr val="bg2">
              <a:lumMod val="9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4EE3EAF5-F1C2-2B5E-4083-1FC4C9C5FCFB}"/>
              </a:ext>
            </a:extLst>
          </p:cNvPr>
          <p:cNvSpPr/>
          <p:nvPr userDrawn="1"/>
        </p:nvSpPr>
        <p:spPr>
          <a:xfrm flipV="1">
            <a:off x="249776" y="172458"/>
            <a:ext cx="516605" cy="434218"/>
          </a:xfrm>
          <a:prstGeom prst="roundRect">
            <a:avLst>
              <a:gd name="adj" fmla="val 0"/>
            </a:avLst>
          </a:prstGeom>
          <a:solidFill>
            <a:srgbClr val="E552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34" name="Slide Number Placeholder 5">
            <a:extLst>
              <a:ext uri="{FF2B5EF4-FFF2-40B4-BE49-F238E27FC236}">
                <a16:creationId xmlns:a16="http://schemas.microsoft.com/office/drawing/2014/main" id="{8486A3FD-8358-D868-CD02-C659C539BBF4}"/>
              </a:ext>
            </a:extLst>
          </p:cNvPr>
          <p:cNvSpPr txBox="1">
            <a:spLocks/>
          </p:cNvSpPr>
          <p:nvPr userDrawn="1"/>
        </p:nvSpPr>
        <p:spPr>
          <a:xfrm>
            <a:off x="11162596" y="6593577"/>
            <a:ext cx="960750" cy="208165"/>
          </a:xfrm>
          <a:prstGeom prst="roundRect">
            <a:avLst>
              <a:gd name="adj" fmla="val 28315"/>
            </a:avLst>
          </a:prstGeom>
          <a:noFill/>
          <a:ln>
            <a:noFill/>
          </a:ln>
        </p:spPr>
        <p:txBody>
          <a:bodyPr vert="horz" lIns="91440" tIns="45720" rIns="91440" bIns="45720" rtlCol="0" anchor="ctr" wrap="none"/>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tx1"/>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chemeClr val="tx1"/>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dirty="0">
              <a:ln>
                <a:noFill/>
              </a:ln>
              <a:solidFill>
                <a:schemeClr val="tx1"/>
              </a:solidFill>
              <a:effectLst/>
              <a:uLnTx/>
              <a:uFillTx/>
              <a:latin typeface="Work Sans" pitchFamily="2"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FEEC1DB-ABA7-860C-494A-9A24D4B63052}"/>
              </a:ext>
            </a:extLst>
          </p:cNvPr>
          <p:cNvSpPr txBox="1"/>
          <p:nvPr userDrawn="1"/>
        </p:nvSpPr>
        <p:spPr>
          <a:xfrm>
            <a:off x="4593265" y="6575551"/>
            <a:ext cx="6775942" cy="238363"/>
          </a:xfrm>
          <a:prstGeom prst="roundRect">
            <a:avLst/>
          </a:prstGeom>
          <a:noFill/>
        </p:spPr>
        <p:txBody>
          <a:bodyPr wrap="square">
            <a:spAutoFit/>
          </a:bodyPr>
          <a:lstStyle/>
          <a:p>
            <a:pPr algn="r"/>
            <a:r>
              <a:rPr lang="pt-BR" sz="800" b="0" i="0" dirty="0">
                <a:solidFill>
                  <a:schemeClr val="tx1"/>
                </a:solidFill>
                <a:effectLst/>
                <a:latin typeface="Arial" panose="020B0604020202020204" pitchFamily="34" charset="0"/>
                <a:cs typeface="Arial" panose="020B0604020202020204" pitchFamily="34" charset="0"/>
              </a:rPr>
              <a:t>© 2026 PT </a:t>
            </a:r>
            <a:r>
              <a:rPr lang="pt-BR" sz="800" b="0" i="0" dirty="0" err="1">
                <a:solidFill>
                  <a:schemeClr val="tx1"/>
                </a:solidFill>
                <a:effectLst/>
                <a:latin typeface="Arial" panose="020B0604020202020204" pitchFamily="34" charset="0"/>
                <a:cs typeface="Arial" panose="020B0604020202020204" pitchFamily="34" charset="0"/>
              </a:rPr>
              <a:t>Triatra</a:t>
            </a:r>
            <a:r>
              <a:rPr lang="pt-BR" sz="800" b="0" i="0" dirty="0">
                <a:solidFill>
                  <a:schemeClr val="tx1"/>
                </a:solidFill>
                <a:effectLst/>
                <a:latin typeface="Arial" panose="020B0604020202020204" pitchFamily="34" charset="0"/>
                <a:cs typeface="Arial" panose="020B0604020202020204" pitchFamily="34" charset="0"/>
              </a:rPr>
              <a:t> Sinergia </a:t>
            </a:r>
            <a:r>
              <a:rPr lang="pt-BR" sz="800" b="0" i="0" dirty="0" err="1">
                <a:solidFill>
                  <a:schemeClr val="tx1"/>
                </a:solidFill>
                <a:effectLst/>
                <a:latin typeface="Arial" panose="020B0604020202020204" pitchFamily="34" charset="0"/>
                <a:cs typeface="Arial" panose="020B0604020202020204" pitchFamily="34" charset="0"/>
              </a:rPr>
              <a:t>Pratama</a:t>
            </a:r>
            <a:r>
              <a:rPr lang="pt-BR" sz="800" b="0" i="0" dirty="0">
                <a:solidFill>
                  <a:schemeClr val="tx1"/>
                </a:solidFill>
                <a:effectLst/>
                <a:latin typeface="Arial" panose="020B0604020202020204" pitchFamily="34" charset="0"/>
                <a:cs typeface="Arial" panose="020B0604020202020204" pitchFamily="34" charset="0"/>
              </a:rPr>
              <a:t>, a </a:t>
            </a:r>
            <a:r>
              <a:rPr lang="pt-BR" sz="800" b="0" i="0" dirty="0" err="1">
                <a:solidFill>
                  <a:schemeClr val="tx1"/>
                </a:solidFill>
                <a:effectLst/>
                <a:latin typeface="Arial" panose="020B0604020202020204" pitchFamily="34" charset="0"/>
                <a:cs typeface="Arial" panose="020B0604020202020204" pitchFamily="34" charset="0"/>
              </a:rPr>
              <a:t>subsidiary</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of</a:t>
            </a:r>
            <a:r>
              <a:rPr lang="pt-BR" sz="800" b="0" i="0" dirty="0">
                <a:solidFill>
                  <a:schemeClr val="tx1"/>
                </a:solidFill>
                <a:effectLst/>
                <a:latin typeface="Arial" panose="020B0604020202020204" pitchFamily="34" charset="0"/>
                <a:cs typeface="Arial" panose="020B0604020202020204" pitchFamily="34" charset="0"/>
              </a:rPr>
              <a:t> PT United </a:t>
            </a:r>
            <a:r>
              <a:rPr lang="pt-BR" sz="800" b="0" i="0" dirty="0" err="1">
                <a:solidFill>
                  <a:schemeClr val="tx1"/>
                </a:solidFill>
                <a:effectLst/>
                <a:latin typeface="Arial" panose="020B0604020202020204" pitchFamily="34" charset="0"/>
                <a:cs typeface="Arial" panose="020B0604020202020204" pitchFamily="34" charset="0"/>
              </a:rPr>
              <a:t>Tractors</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Pandu</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Engineering</a:t>
            </a:r>
            <a:endParaRPr lang="pt-BR" sz="800" b="0" i="0" dirty="0">
              <a:solidFill>
                <a:schemeClr val="tx1"/>
              </a:solidFill>
              <a:effectLst/>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7729BE4E-00B4-2AB4-D8A3-15961CC08688}"/>
              </a:ext>
            </a:extLst>
          </p:cNvPr>
          <p:cNvPicPr>
            <a:picLocks noChangeAspect="1"/>
          </p:cNvPicPr>
          <p:nvPr userDrawn="1"/>
        </p:nvPicPr>
        <p:blipFill>
          <a:blip r:embed="rId3"/>
          <a:stretch>
            <a:fillRect/>
          </a:stretch>
        </p:blipFill>
        <p:spPr>
          <a:xfrm>
            <a:off x="11058862" y="136491"/>
            <a:ext cx="980935" cy="553855"/>
          </a:xfrm>
          <a:prstGeom prst="rect">
            <a:avLst/>
          </a:prstGeom>
        </p:spPr>
      </p:pic>
      <p:cxnSp>
        <p:nvCxnSpPr>
          <p:cNvPr id="5" name="Straight Connector 4">
            <a:extLst>
              <a:ext uri="{FF2B5EF4-FFF2-40B4-BE49-F238E27FC236}">
                <a16:creationId xmlns:a16="http://schemas.microsoft.com/office/drawing/2014/main" id="{5C9A5609-5B1A-7BC5-8371-72041C4B1F80}"/>
              </a:ext>
            </a:extLst>
          </p:cNvPr>
          <p:cNvCxnSpPr/>
          <p:nvPr userDrawn="1"/>
        </p:nvCxnSpPr>
        <p:spPr>
          <a:xfrm>
            <a:off x="0" y="819434"/>
            <a:ext cx="12192000" cy="0"/>
          </a:xfrm>
          <a:prstGeom prst="line">
            <a:avLst/>
          </a:prstGeom>
          <a:ln w="3175">
            <a:solidFill>
              <a:schemeClr val="accent2">
                <a:lumMod val="40000"/>
                <a:lumOff val="60000"/>
                <a:alpha val="67743"/>
              </a:schemeClr>
            </a:solidFill>
            <a:prstDash val="solid"/>
          </a:ln>
          <a:effectLst>
            <a:outerShdw blurRad="50800" dist="127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14398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F5C46C8F-7AF3-687B-7A82-5B14F503186C}"/>
              </a:ext>
            </a:extLst>
          </p:cNvPr>
          <p:cNvGrpSpPr/>
          <p:nvPr userDrawn="1"/>
        </p:nvGrpSpPr>
        <p:grpSpPr>
          <a:xfrm>
            <a:off x="37131" y="6323002"/>
            <a:ext cx="12154869" cy="534998"/>
            <a:chOff x="-1" y="6311674"/>
            <a:chExt cx="12156375" cy="572268"/>
          </a:xfrm>
        </p:grpSpPr>
        <p:pic>
          <p:nvPicPr>
            <p:cNvPr id="34" name="Picture 33">
              <a:extLst>
                <a:ext uri="{FF2B5EF4-FFF2-40B4-BE49-F238E27FC236}">
                  <a16:creationId xmlns:a16="http://schemas.microsoft.com/office/drawing/2014/main" id="{82A030BC-78FA-9621-8703-08EFF80783D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 y="6366564"/>
              <a:ext cx="516669" cy="516669"/>
            </a:xfrm>
            <a:prstGeom prst="rect">
              <a:avLst/>
            </a:prstGeom>
          </p:spPr>
        </p:pic>
        <p:pic>
          <p:nvPicPr>
            <p:cNvPr id="35" name="Picture 34">
              <a:extLst>
                <a:ext uri="{FF2B5EF4-FFF2-40B4-BE49-F238E27FC236}">
                  <a16:creationId xmlns:a16="http://schemas.microsoft.com/office/drawing/2014/main" id="{C55C4DC1-8281-0B49-A12F-5E78E7045F93}"/>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6596" y="6367273"/>
              <a:ext cx="516669" cy="516669"/>
            </a:xfrm>
            <a:prstGeom prst="rect">
              <a:avLst/>
            </a:prstGeom>
          </p:spPr>
        </p:pic>
        <p:pic>
          <p:nvPicPr>
            <p:cNvPr id="36" name="Picture 35">
              <a:extLst>
                <a:ext uri="{FF2B5EF4-FFF2-40B4-BE49-F238E27FC236}">
                  <a16:creationId xmlns:a16="http://schemas.microsoft.com/office/drawing/2014/main" id="{57833CDC-0C1F-2A9F-C5BC-5E36ADEE0ABC}"/>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3193" y="6360661"/>
              <a:ext cx="516669" cy="492914"/>
            </a:xfrm>
            <a:prstGeom prst="rect">
              <a:avLst/>
            </a:prstGeom>
          </p:spPr>
        </p:pic>
        <p:pic>
          <p:nvPicPr>
            <p:cNvPr id="37" name="Picture 36">
              <a:extLst>
                <a:ext uri="{FF2B5EF4-FFF2-40B4-BE49-F238E27FC236}">
                  <a16:creationId xmlns:a16="http://schemas.microsoft.com/office/drawing/2014/main" id="{9BF224AA-D02D-9142-C3E8-43D45340B2FB}"/>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490863" y="6353290"/>
              <a:ext cx="516669" cy="516669"/>
            </a:xfrm>
            <a:prstGeom prst="rect">
              <a:avLst/>
            </a:prstGeom>
          </p:spPr>
        </p:pic>
        <p:pic>
          <p:nvPicPr>
            <p:cNvPr id="38" name="Picture 37">
              <a:extLst>
                <a:ext uri="{FF2B5EF4-FFF2-40B4-BE49-F238E27FC236}">
                  <a16:creationId xmlns:a16="http://schemas.microsoft.com/office/drawing/2014/main" id="{38B4E853-8D98-B808-6F99-0B640F366EC1}"/>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997460" y="6353999"/>
              <a:ext cx="516669" cy="516669"/>
            </a:xfrm>
            <a:prstGeom prst="rect">
              <a:avLst/>
            </a:prstGeom>
          </p:spPr>
        </p:pic>
        <p:pic>
          <p:nvPicPr>
            <p:cNvPr id="39" name="Picture 38">
              <a:extLst>
                <a:ext uri="{FF2B5EF4-FFF2-40B4-BE49-F238E27FC236}">
                  <a16:creationId xmlns:a16="http://schemas.microsoft.com/office/drawing/2014/main" id="{857BBE01-74EA-3218-F5F3-90EE9FF1D9EB}"/>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2504057" y="6347387"/>
              <a:ext cx="516669" cy="492914"/>
            </a:xfrm>
            <a:prstGeom prst="rect">
              <a:avLst/>
            </a:prstGeom>
          </p:spPr>
        </p:pic>
        <p:pic>
          <p:nvPicPr>
            <p:cNvPr id="40" name="Picture 39">
              <a:extLst>
                <a:ext uri="{FF2B5EF4-FFF2-40B4-BE49-F238E27FC236}">
                  <a16:creationId xmlns:a16="http://schemas.microsoft.com/office/drawing/2014/main" id="{6A010994-1FA0-C3AB-D746-169ED0B331C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3020491" y="6336754"/>
              <a:ext cx="516669" cy="516669"/>
            </a:xfrm>
            <a:prstGeom prst="rect">
              <a:avLst/>
            </a:prstGeom>
          </p:spPr>
        </p:pic>
        <p:pic>
          <p:nvPicPr>
            <p:cNvPr id="41" name="Picture 40">
              <a:extLst>
                <a:ext uri="{FF2B5EF4-FFF2-40B4-BE49-F238E27FC236}">
                  <a16:creationId xmlns:a16="http://schemas.microsoft.com/office/drawing/2014/main" id="{E44FE811-F84B-DD50-FD7A-1AEB3001131B}"/>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3527088" y="6337463"/>
              <a:ext cx="516669" cy="516669"/>
            </a:xfrm>
            <a:prstGeom prst="rect">
              <a:avLst/>
            </a:prstGeom>
          </p:spPr>
        </p:pic>
        <p:pic>
          <p:nvPicPr>
            <p:cNvPr id="42" name="Picture 41">
              <a:extLst>
                <a:ext uri="{FF2B5EF4-FFF2-40B4-BE49-F238E27FC236}">
                  <a16:creationId xmlns:a16="http://schemas.microsoft.com/office/drawing/2014/main" id="{FB0695A4-F148-DAEF-4B16-2120DA585631}"/>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4033685" y="6330851"/>
              <a:ext cx="516669" cy="492914"/>
            </a:xfrm>
            <a:prstGeom prst="rect">
              <a:avLst/>
            </a:prstGeom>
          </p:spPr>
        </p:pic>
        <p:pic>
          <p:nvPicPr>
            <p:cNvPr id="43" name="Picture 42">
              <a:extLst>
                <a:ext uri="{FF2B5EF4-FFF2-40B4-BE49-F238E27FC236}">
                  <a16:creationId xmlns:a16="http://schemas.microsoft.com/office/drawing/2014/main" id="{EFA10690-56CD-10F0-FDD4-ABB2C3159144}"/>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4540282" y="6347387"/>
              <a:ext cx="516669" cy="516669"/>
            </a:xfrm>
            <a:prstGeom prst="rect">
              <a:avLst/>
            </a:prstGeom>
          </p:spPr>
        </p:pic>
        <p:pic>
          <p:nvPicPr>
            <p:cNvPr id="44" name="Picture 43">
              <a:extLst>
                <a:ext uri="{FF2B5EF4-FFF2-40B4-BE49-F238E27FC236}">
                  <a16:creationId xmlns:a16="http://schemas.microsoft.com/office/drawing/2014/main" id="{7715D77B-23E7-85AD-B0BE-EFB3E072F61C}"/>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46879" y="6348096"/>
              <a:ext cx="516669" cy="516669"/>
            </a:xfrm>
            <a:prstGeom prst="rect">
              <a:avLst/>
            </a:prstGeom>
          </p:spPr>
        </p:pic>
        <p:pic>
          <p:nvPicPr>
            <p:cNvPr id="45" name="Picture 44">
              <a:extLst>
                <a:ext uri="{FF2B5EF4-FFF2-40B4-BE49-F238E27FC236}">
                  <a16:creationId xmlns:a16="http://schemas.microsoft.com/office/drawing/2014/main" id="{7EBA116B-319D-A838-A5E0-28A8F6605034}"/>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5553476" y="6341484"/>
              <a:ext cx="516669" cy="492914"/>
            </a:xfrm>
            <a:prstGeom prst="rect">
              <a:avLst/>
            </a:prstGeom>
          </p:spPr>
        </p:pic>
        <p:pic>
          <p:nvPicPr>
            <p:cNvPr id="46" name="Picture 45">
              <a:extLst>
                <a:ext uri="{FF2B5EF4-FFF2-40B4-BE49-F238E27FC236}">
                  <a16:creationId xmlns:a16="http://schemas.microsoft.com/office/drawing/2014/main" id="{14464871-43FA-3C22-259F-54ACF93427CE}"/>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6031146" y="6334113"/>
              <a:ext cx="516669" cy="516669"/>
            </a:xfrm>
            <a:prstGeom prst="rect">
              <a:avLst/>
            </a:prstGeom>
          </p:spPr>
        </p:pic>
        <p:pic>
          <p:nvPicPr>
            <p:cNvPr id="47" name="Picture 46">
              <a:extLst>
                <a:ext uri="{FF2B5EF4-FFF2-40B4-BE49-F238E27FC236}">
                  <a16:creationId xmlns:a16="http://schemas.microsoft.com/office/drawing/2014/main" id="{C31E1291-A362-0CAD-7965-FF0CCC737A63}"/>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6537743" y="6334822"/>
              <a:ext cx="516669" cy="516669"/>
            </a:xfrm>
            <a:prstGeom prst="rect">
              <a:avLst/>
            </a:prstGeom>
          </p:spPr>
        </p:pic>
        <p:pic>
          <p:nvPicPr>
            <p:cNvPr id="48" name="Picture 47">
              <a:extLst>
                <a:ext uri="{FF2B5EF4-FFF2-40B4-BE49-F238E27FC236}">
                  <a16:creationId xmlns:a16="http://schemas.microsoft.com/office/drawing/2014/main" id="{31B276E0-32E2-EFC4-84CD-F1CDA41BADAC}"/>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7044340" y="6328210"/>
              <a:ext cx="516669" cy="492914"/>
            </a:xfrm>
            <a:prstGeom prst="rect">
              <a:avLst/>
            </a:prstGeom>
          </p:spPr>
        </p:pic>
        <p:pic>
          <p:nvPicPr>
            <p:cNvPr id="49" name="Picture 48">
              <a:extLst>
                <a:ext uri="{FF2B5EF4-FFF2-40B4-BE49-F238E27FC236}">
                  <a16:creationId xmlns:a16="http://schemas.microsoft.com/office/drawing/2014/main" id="{01E3AA88-31BD-82B6-7A40-081E9CFEAE6F}"/>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7560774" y="6317577"/>
              <a:ext cx="516669" cy="516669"/>
            </a:xfrm>
            <a:prstGeom prst="rect">
              <a:avLst/>
            </a:prstGeom>
          </p:spPr>
        </p:pic>
        <p:pic>
          <p:nvPicPr>
            <p:cNvPr id="50" name="Picture 49">
              <a:extLst>
                <a:ext uri="{FF2B5EF4-FFF2-40B4-BE49-F238E27FC236}">
                  <a16:creationId xmlns:a16="http://schemas.microsoft.com/office/drawing/2014/main" id="{EC503AF5-F8BE-C8ED-23A7-FB774BE34A12}"/>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8067371" y="6318286"/>
              <a:ext cx="516669" cy="516669"/>
            </a:xfrm>
            <a:prstGeom prst="rect">
              <a:avLst/>
            </a:prstGeom>
          </p:spPr>
        </p:pic>
        <p:pic>
          <p:nvPicPr>
            <p:cNvPr id="51" name="Picture 50">
              <a:extLst>
                <a:ext uri="{FF2B5EF4-FFF2-40B4-BE49-F238E27FC236}">
                  <a16:creationId xmlns:a16="http://schemas.microsoft.com/office/drawing/2014/main" id="{D8F8A7DB-BB07-B623-4C95-E0867F32B95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8573968" y="6311674"/>
              <a:ext cx="516669" cy="492914"/>
            </a:xfrm>
            <a:prstGeom prst="rect">
              <a:avLst/>
            </a:prstGeom>
          </p:spPr>
        </p:pic>
        <p:pic>
          <p:nvPicPr>
            <p:cNvPr id="52" name="Picture 51">
              <a:extLst>
                <a:ext uri="{FF2B5EF4-FFF2-40B4-BE49-F238E27FC236}">
                  <a16:creationId xmlns:a16="http://schemas.microsoft.com/office/drawing/2014/main" id="{474BB5AC-0545-759F-113B-8F3225FE0DF2}"/>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9135647" y="6340622"/>
              <a:ext cx="516669" cy="516669"/>
            </a:xfrm>
            <a:prstGeom prst="rect">
              <a:avLst/>
            </a:prstGeom>
          </p:spPr>
        </p:pic>
        <p:pic>
          <p:nvPicPr>
            <p:cNvPr id="53" name="Picture 52">
              <a:extLst>
                <a:ext uri="{FF2B5EF4-FFF2-40B4-BE49-F238E27FC236}">
                  <a16:creationId xmlns:a16="http://schemas.microsoft.com/office/drawing/2014/main" id="{A2F50533-F190-5767-8F30-A1B8F4F97720}"/>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9642244" y="6341331"/>
              <a:ext cx="516669" cy="516669"/>
            </a:xfrm>
            <a:prstGeom prst="rect">
              <a:avLst/>
            </a:prstGeom>
          </p:spPr>
        </p:pic>
        <p:pic>
          <p:nvPicPr>
            <p:cNvPr id="54" name="Picture 53">
              <a:extLst>
                <a:ext uri="{FF2B5EF4-FFF2-40B4-BE49-F238E27FC236}">
                  <a16:creationId xmlns:a16="http://schemas.microsoft.com/office/drawing/2014/main" id="{04CD1849-00F3-BE0A-8B45-72E47CD0949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48841" y="6334719"/>
              <a:ext cx="516669" cy="492914"/>
            </a:xfrm>
            <a:prstGeom prst="rect">
              <a:avLst/>
            </a:prstGeom>
          </p:spPr>
        </p:pic>
        <p:pic>
          <p:nvPicPr>
            <p:cNvPr id="55" name="Picture 54">
              <a:extLst>
                <a:ext uri="{FF2B5EF4-FFF2-40B4-BE49-F238E27FC236}">
                  <a16:creationId xmlns:a16="http://schemas.microsoft.com/office/drawing/2014/main" id="{11F5A672-4461-B93C-D145-53AE46CC5166}"/>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0626511" y="6327348"/>
              <a:ext cx="516669" cy="516669"/>
            </a:xfrm>
            <a:prstGeom prst="rect">
              <a:avLst/>
            </a:prstGeom>
          </p:spPr>
        </p:pic>
        <p:pic>
          <p:nvPicPr>
            <p:cNvPr id="56" name="Picture 55">
              <a:extLst>
                <a:ext uri="{FF2B5EF4-FFF2-40B4-BE49-F238E27FC236}">
                  <a16:creationId xmlns:a16="http://schemas.microsoft.com/office/drawing/2014/main" id="{6F4091AB-6F75-E1ED-63D4-797DEF487544}"/>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1133108" y="6328057"/>
              <a:ext cx="516669" cy="516669"/>
            </a:xfrm>
            <a:prstGeom prst="rect">
              <a:avLst/>
            </a:prstGeom>
          </p:spPr>
        </p:pic>
        <p:pic>
          <p:nvPicPr>
            <p:cNvPr id="57" name="Picture 56">
              <a:extLst>
                <a:ext uri="{FF2B5EF4-FFF2-40B4-BE49-F238E27FC236}">
                  <a16:creationId xmlns:a16="http://schemas.microsoft.com/office/drawing/2014/main" id="{68F6F8B8-3A8C-1BA2-C1AB-4EEE05F91C43}"/>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1639705" y="6321445"/>
              <a:ext cx="516669" cy="492914"/>
            </a:xfrm>
            <a:prstGeom prst="rect">
              <a:avLst/>
            </a:prstGeom>
          </p:spPr>
        </p:pic>
      </p:grpSp>
      <p:sp>
        <p:nvSpPr>
          <p:cNvPr id="58" name="Slide Number Placeholder 5">
            <a:extLst>
              <a:ext uri="{FF2B5EF4-FFF2-40B4-BE49-F238E27FC236}">
                <a16:creationId xmlns:a16="http://schemas.microsoft.com/office/drawing/2014/main" id="{4C12B701-8015-9658-22A1-B5E2EF434F56}"/>
              </a:ext>
            </a:extLst>
          </p:cNvPr>
          <p:cNvSpPr txBox="1">
            <a:spLocks/>
          </p:cNvSpPr>
          <p:nvPr userDrawn="1"/>
        </p:nvSpPr>
        <p:spPr>
          <a:xfrm>
            <a:off x="11173229" y="6593577"/>
            <a:ext cx="960750" cy="208165"/>
          </a:xfrm>
          <a:prstGeom prst="roundRect">
            <a:avLst>
              <a:gd name="adj" fmla="val 28315"/>
            </a:avLst>
          </a:prstGeom>
          <a:noFill/>
          <a:ln>
            <a:noFill/>
          </a:ln>
        </p:spPr>
        <p:txBody>
          <a:bodyPr vert="horz" lIns="91440" tIns="45720" rIns="91440" bIns="45720" rtlCol="0" anchor="ctr" wrap="none"/>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rgbClr val="C00000"/>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endParaRPr>
          </a:p>
        </p:txBody>
      </p:sp>
      <p:sp>
        <p:nvSpPr>
          <p:cNvPr id="59" name="TextBox 58">
            <a:extLst>
              <a:ext uri="{FF2B5EF4-FFF2-40B4-BE49-F238E27FC236}">
                <a16:creationId xmlns:a16="http://schemas.microsoft.com/office/drawing/2014/main" id="{4CA922E0-ED6B-948D-7FEE-B89887311BE7}"/>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bg1">
                    <a:lumMod val="50000"/>
                  </a:schemeClr>
                </a:solidFill>
                <a:effectLst/>
                <a:latin typeface="+mn-lt"/>
              </a:rPr>
              <a:t>© 2026 PT Triatra Sinergia Pratama </a:t>
            </a:r>
            <a:endParaRPr lang="en-ID" sz="700" b="0">
              <a:solidFill>
                <a:schemeClr val="bg1">
                  <a:lumMod val="50000"/>
                </a:schemeClr>
              </a:solidFill>
              <a:latin typeface="+mn-lt"/>
            </a:endParaRPr>
          </a:p>
        </p:txBody>
      </p:sp>
      <p:sp>
        <p:nvSpPr>
          <p:cNvPr id="60" name="Rectangle: Rounded Corners 59">
            <a:extLst>
              <a:ext uri="{FF2B5EF4-FFF2-40B4-BE49-F238E27FC236}">
                <a16:creationId xmlns:a16="http://schemas.microsoft.com/office/drawing/2014/main" id="{8883326A-E8D9-81E6-F0D6-FC20360F2271}"/>
              </a:ext>
            </a:extLst>
          </p:cNvPr>
          <p:cNvSpPr/>
          <p:nvPr userDrawn="1"/>
        </p:nvSpPr>
        <p:spPr>
          <a:xfrm flipV="1">
            <a:off x="0" y="136198"/>
            <a:ext cx="12192000" cy="534997"/>
          </a:xfrm>
          <a:prstGeom prst="roundRect">
            <a:avLst>
              <a:gd name="adj" fmla="val 0"/>
            </a:avLst>
          </a:prstGeom>
          <a:gradFill>
            <a:gsLst>
              <a:gs pos="61000">
                <a:schemeClr val="bg1">
                  <a:lumMod val="75000"/>
                </a:schemeClr>
              </a:gs>
              <a:gs pos="14000">
                <a:schemeClr val="bg1"/>
              </a:gs>
              <a:gs pos="100000">
                <a:schemeClr val="bg1">
                  <a:lumMod val="50000"/>
                </a:schemeClr>
              </a:gs>
            </a:gsLst>
            <a:lin ang="108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61" name="Rectangle: Rounded Corners 60">
            <a:extLst>
              <a:ext uri="{FF2B5EF4-FFF2-40B4-BE49-F238E27FC236}">
                <a16:creationId xmlns:a16="http://schemas.microsoft.com/office/drawing/2014/main" id="{70F9B49E-EDFB-AD43-2750-7A1B82A19AF4}"/>
              </a:ext>
            </a:extLst>
          </p:cNvPr>
          <p:cNvSpPr/>
          <p:nvPr userDrawn="1"/>
        </p:nvSpPr>
        <p:spPr>
          <a:xfrm flipV="1">
            <a:off x="0" y="73371"/>
            <a:ext cx="12192000" cy="563112"/>
          </a:xfrm>
          <a:prstGeom prst="roundRect">
            <a:avLst>
              <a:gd name="adj" fmla="val 0"/>
            </a:avLst>
          </a:prstGeom>
          <a:gradFill>
            <a:gsLst>
              <a:gs pos="61000">
                <a:srgbClr val="E55200"/>
              </a:gs>
              <a:gs pos="14000">
                <a:schemeClr val="bg1"/>
              </a:gs>
              <a:gs pos="100000">
                <a:srgbClr val="E55200"/>
              </a:gs>
            </a:gsLst>
            <a:lin ang="108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pic>
        <p:nvPicPr>
          <p:cNvPr id="62" name="Picture 61" descr="A logo with white text&#10;&#10;AI-generated content may be incorrect.">
            <a:extLst>
              <a:ext uri="{FF2B5EF4-FFF2-40B4-BE49-F238E27FC236}">
                <a16:creationId xmlns:a16="http://schemas.microsoft.com/office/drawing/2014/main" id="{7C400F03-9141-DA4B-19D8-AB5C09BF227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65510" y="121173"/>
            <a:ext cx="1337156" cy="508420"/>
          </a:xfrm>
          <a:prstGeom prst="rect">
            <a:avLst/>
          </a:prstGeom>
        </p:spPr>
      </p:pic>
    </p:spTree>
    <p:extLst>
      <p:ext uri="{BB962C8B-B14F-4D97-AF65-F5344CB8AC3E}">
        <p14:creationId xmlns:p14="http://schemas.microsoft.com/office/powerpoint/2010/main" val="30765344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ADEC0A6-1861-628C-FFB3-F89966776F57}"/>
              </a:ext>
            </a:extLst>
          </p:cNvPr>
          <p:cNvGrpSpPr/>
          <p:nvPr userDrawn="1"/>
        </p:nvGrpSpPr>
        <p:grpSpPr>
          <a:xfrm>
            <a:off x="37131" y="6323002"/>
            <a:ext cx="12154869" cy="534998"/>
            <a:chOff x="-1" y="6311674"/>
            <a:chExt cx="12156375" cy="572268"/>
          </a:xfrm>
        </p:grpSpPr>
        <p:pic>
          <p:nvPicPr>
            <p:cNvPr id="7" name="Picture 6">
              <a:extLst>
                <a:ext uri="{FF2B5EF4-FFF2-40B4-BE49-F238E27FC236}">
                  <a16:creationId xmlns:a16="http://schemas.microsoft.com/office/drawing/2014/main" id="{FF30B68D-D280-0D71-41CE-CDB337D082F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 y="6366564"/>
              <a:ext cx="516669" cy="516669"/>
            </a:xfrm>
            <a:prstGeom prst="rect">
              <a:avLst/>
            </a:prstGeom>
          </p:spPr>
        </p:pic>
        <p:pic>
          <p:nvPicPr>
            <p:cNvPr id="8" name="Picture 7">
              <a:extLst>
                <a:ext uri="{FF2B5EF4-FFF2-40B4-BE49-F238E27FC236}">
                  <a16:creationId xmlns:a16="http://schemas.microsoft.com/office/drawing/2014/main" id="{E2E44B7A-3431-33CC-86CE-0334B8F9E421}"/>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6596" y="6367273"/>
              <a:ext cx="516669" cy="516669"/>
            </a:xfrm>
            <a:prstGeom prst="rect">
              <a:avLst/>
            </a:prstGeom>
          </p:spPr>
        </p:pic>
        <p:pic>
          <p:nvPicPr>
            <p:cNvPr id="9" name="Picture 8">
              <a:extLst>
                <a:ext uri="{FF2B5EF4-FFF2-40B4-BE49-F238E27FC236}">
                  <a16:creationId xmlns:a16="http://schemas.microsoft.com/office/drawing/2014/main" id="{67914360-8254-DD26-E22C-B94295234F9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3193" y="6360661"/>
              <a:ext cx="516669" cy="492914"/>
            </a:xfrm>
            <a:prstGeom prst="rect">
              <a:avLst/>
            </a:prstGeom>
          </p:spPr>
        </p:pic>
        <p:pic>
          <p:nvPicPr>
            <p:cNvPr id="10" name="Picture 9">
              <a:extLst>
                <a:ext uri="{FF2B5EF4-FFF2-40B4-BE49-F238E27FC236}">
                  <a16:creationId xmlns:a16="http://schemas.microsoft.com/office/drawing/2014/main" id="{39E3D9F9-02D3-90C4-CCF4-A925B8FB04C0}"/>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490863" y="6353290"/>
              <a:ext cx="516669" cy="516669"/>
            </a:xfrm>
            <a:prstGeom prst="rect">
              <a:avLst/>
            </a:prstGeom>
          </p:spPr>
        </p:pic>
        <p:pic>
          <p:nvPicPr>
            <p:cNvPr id="11" name="Picture 10">
              <a:extLst>
                <a:ext uri="{FF2B5EF4-FFF2-40B4-BE49-F238E27FC236}">
                  <a16:creationId xmlns:a16="http://schemas.microsoft.com/office/drawing/2014/main" id="{3FEBD915-1DCB-BFB8-5FAE-8ADFA23FFB90}"/>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997460" y="6353999"/>
              <a:ext cx="516669" cy="516669"/>
            </a:xfrm>
            <a:prstGeom prst="rect">
              <a:avLst/>
            </a:prstGeom>
          </p:spPr>
        </p:pic>
        <p:pic>
          <p:nvPicPr>
            <p:cNvPr id="12" name="Picture 11">
              <a:extLst>
                <a:ext uri="{FF2B5EF4-FFF2-40B4-BE49-F238E27FC236}">
                  <a16:creationId xmlns:a16="http://schemas.microsoft.com/office/drawing/2014/main" id="{1B389D77-5502-5B4D-B1C5-B6C600BCA0AD}"/>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2504057" y="6347387"/>
              <a:ext cx="516669" cy="492914"/>
            </a:xfrm>
            <a:prstGeom prst="rect">
              <a:avLst/>
            </a:prstGeom>
          </p:spPr>
        </p:pic>
        <p:pic>
          <p:nvPicPr>
            <p:cNvPr id="13" name="Picture 12">
              <a:extLst>
                <a:ext uri="{FF2B5EF4-FFF2-40B4-BE49-F238E27FC236}">
                  <a16:creationId xmlns:a16="http://schemas.microsoft.com/office/drawing/2014/main" id="{DB67954D-A0ED-4886-1A29-7900ACFDE8B4}"/>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3020491" y="6336754"/>
              <a:ext cx="516669" cy="516669"/>
            </a:xfrm>
            <a:prstGeom prst="rect">
              <a:avLst/>
            </a:prstGeom>
          </p:spPr>
        </p:pic>
        <p:pic>
          <p:nvPicPr>
            <p:cNvPr id="14" name="Picture 13">
              <a:extLst>
                <a:ext uri="{FF2B5EF4-FFF2-40B4-BE49-F238E27FC236}">
                  <a16:creationId xmlns:a16="http://schemas.microsoft.com/office/drawing/2014/main" id="{9A2D138E-EC88-263D-17AD-291DA40695DF}"/>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3527088" y="6337463"/>
              <a:ext cx="516669" cy="516669"/>
            </a:xfrm>
            <a:prstGeom prst="rect">
              <a:avLst/>
            </a:prstGeom>
          </p:spPr>
        </p:pic>
        <p:pic>
          <p:nvPicPr>
            <p:cNvPr id="15" name="Picture 14">
              <a:extLst>
                <a:ext uri="{FF2B5EF4-FFF2-40B4-BE49-F238E27FC236}">
                  <a16:creationId xmlns:a16="http://schemas.microsoft.com/office/drawing/2014/main" id="{E3C2FA1A-3BDC-D504-1951-6DA5ABBF1078}"/>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4033685" y="6330851"/>
              <a:ext cx="516669" cy="492914"/>
            </a:xfrm>
            <a:prstGeom prst="rect">
              <a:avLst/>
            </a:prstGeom>
          </p:spPr>
        </p:pic>
        <p:pic>
          <p:nvPicPr>
            <p:cNvPr id="16" name="Picture 15">
              <a:extLst>
                <a:ext uri="{FF2B5EF4-FFF2-40B4-BE49-F238E27FC236}">
                  <a16:creationId xmlns:a16="http://schemas.microsoft.com/office/drawing/2014/main" id="{252376A2-2E43-8FED-27D8-840FC8688A91}"/>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4540282" y="6347387"/>
              <a:ext cx="516669" cy="516669"/>
            </a:xfrm>
            <a:prstGeom prst="rect">
              <a:avLst/>
            </a:prstGeom>
          </p:spPr>
        </p:pic>
        <p:pic>
          <p:nvPicPr>
            <p:cNvPr id="17" name="Picture 16">
              <a:extLst>
                <a:ext uri="{FF2B5EF4-FFF2-40B4-BE49-F238E27FC236}">
                  <a16:creationId xmlns:a16="http://schemas.microsoft.com/office/drawing/2014/main" id="{003187FD-D4A6-D6D4-7CD6-3827E2AE8E4D}"/>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46879" y="6348096"/>
              <a:ext cx="516669" cy="516669"/>
            </a:xfrm>
            <a:prstGeom prst="rect">
              <a:avLst/>
            </a:prstGeom>
          </p:spPr>
        </p:pic>
        <p:pic>
          <p:nvPicPr>
            <p:cNvPr id="18" name="Picture 17">
              <a:extLst>
                <a:ext uri="{FF2B5EF4-FFF2-40B4-BE49-F238E27FC236}">
                  <a16:creationId xmlns:a16="http://schemas.microsoft.com/office/drawing/2014/main" id="{FBD5C6E0-E26B-CB06-1770-75579DE5D64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5553476" y="6341484"/>
              <a:ext cx="516669" cy="492914"/>
            </a:xfrm>
            <a:prstGeom prst="rect">
              <a:avLst/>
            </a:prstGeom>
          </p:spPr>
        </p:pic>
        <p:pic>
          <p:nvPicPr>
            <p:cNvPr id="19" name="Picture 18">
              <a:extLst>
                <a:ext uri="{FF2B5EF4-FFF2-40B4-BE49-F238E27FC236}">
                  <a16:creationId xmlns:a16="http://schemas.microsoft.com/office/drawing/2014/main" id="{27493920-C4CA-28AA-2A6B-78AF21C2255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6031146" y="6334113"/>
              <a:ext cx="516669" cy="516669"/>
            </a:xfrm>
            <a:prstGeom prst="rect">
              <a:avLst/>
            </a:prstGeom>
          </p:spPr>
        </p:pic>
        <p:pic>
          <p:nvPicPr>
            <p:cNvPr id="20" name="Picture 19">
              <a:extLst>
                <a:ext uri="{FF2B5EF4-FFF2-40B4-BE49-F238E27FC236}">
                  <a16:creationId xmlns:a16="http://schemas.microsoft.com/office/drawing/2014/main" id="{6628A0EF-B762-3487-7A89-31745F0B0F78}"/>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6537743" y="6334822"/>
              <a:ext cx="516669" cy="516669"/>
            </a:xfrm>
            <a:prstGeom prst="rect">
              <a:avLst/>
            </a:prstGeom>
          </p:spPr>
        </p:pic>
        <p:pic>
          <p:nvPicPr>
            <p:cNvPr id="21" name="Picture 20">
              <a:extLst>
                <a:ext uri="{FF2B5EF4-FFF2-40B4-BE49-F238E27FC236}">
                  <a16:creationId xmlns:a16="http://schemas.microsoft.com/office/drawing/2014/main" id="{4950869C-7A37-EE51-2E34-B97A6AD9278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7044340" y="6328210"/>
              <a:ext cx="516669" cy="492914"/>
            </a:xfrm>
            <a:prstGeom prst="rect">
              <a:avLst/>
            </a:prstGeom>
          </p:spPr>
        </p:pic>
        <p:pic>
          <p:nvPicPr>
            <p:cNvPr id="22" name="Picture 21">
              <a:extLst>
                <a:ext uri="{FF2B5EF4-FFF2-40B4-BE49-F238E27FC236}">
                  <a16:creationId xmlns:a16="http://schemas.microsoft.com/office/drawing/2014/main" id="{69BB61F5-C97C-101A-B143-891F31DEF22B}"/>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7560774" y="6317577"/>
              <a:ext cx="516669" cy="516669"/>
            </a:xfrm>
            <a:prstGeom prst="rect">
              <a:avLst/>
            </a:prstGeom>
          </p:spPr>
        </p:pic>
        <p:pic>
          <p:nvPicPr>
            <p:cNvPr id="23" name="Picture 22">
              <a:extLst>
                <a:ext uri="{FF2B5EF4-FFF2-40B4-BE49-F238E27FC236}">
                  <a16:creationId xmlns:a16="http://schemas.microsoft.com/office/drawing/2014/main" id="{3257E681-040D-5012-5853-ACA4F043A36D}"/>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8067371" y="6318286"/>
              <a:ext cx="516669" cy="516669"/>
            </a:xfrm>
            <a:prstGeom prst="rect">
              <a:avLst/>
            </a:prstGeom>
          </p:spPr>
        </p:pic>
        <p:pic>
          <p:nvPicPr>
            <p:cNvPr id="24" name="Picture 23">
              <a:extLst>
                <a:ext uri="{FF2B5EF4-FFF2-40B4-BE49-F238E27FC236}">
                  <a16:creationId xmlns:a16="http://schemas.microsoft.com/office/drawing/2014/main" id="{E8FA957D-F8E4-C9F3-002A-4B7E07AE2B7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8573968" y="6311674"/>
              <a:ext cx="516669" cy="492914"/>
            </a:xfrm>
            <a:prstGeom prst="rect">
              <a:avLst/>
            </a:prstGeom>
          </p:spPr>
        </p:pic>
        <p:pic>
          <p:nvPicPr>
            <p:cNvPr id="25" name="Picture 24">
              <a:extLst>
                <a:ext uri="{FF2B5EF4-FFF2-40B4-BE49-F238E27FC236}">
                  <a16:creationId xmlns:a16="http://schemas.microsoft.com/office/drawing/2014/main" id="{4B5068E4-A6C7-4650-ECFD-6B9BD2DD97AA}"/>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9135647" y="6340622"/>
              <a:ext cx="516669" cy="516669"/>
            </a:xfrm>
            <a:prstGeom prst="rect">
              <a:avLst/>
            </a:prstGeom>
          </p:spPr>
        </p:pic>
        <p:pic>
          <p:nvPicPr>
            <p:cNvPr id="26" name="Picture 25">
              <a:extLst>
                <a:ext uri="{FF2B5EF4-FFF2-40B4-BE49-F238E27FC236}">
                  <a16:creationId xmlns:a16="http://schemas.microsoft.com/office/drawing/2014/main" id="{9D5340D3-3317-9B6A-3BEC-8DB19038D1BE}"/>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9642244" y="6341331"/>
              <a:ext cx="516669" cy="516669"/>
            </a:xfrm>
            <a:prstGeom prst="rect">
              <a:avLst/>
            </a:prstGeom>
          </p:spPr>
        </p:pic>
        <p:pic>
          <p:nvPicPr>
            <p:cNvPr id="27" name="Picture 26">
              <a:extLst>
                <a:ext uri="{FF2B5EF4-FFF2-40B4-BE49-F238E27FC236}">
                  <a16:creationId xmlns:a16="http://schemas.microsoft.com/office/drawing/2014/main" id="{5EB7F051-1A8B-41B7-1566-34A168A7BA32}"/>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48841" y="6334719"/>
              <a:ext cx="516669" cy="492914"/>
            </a:xfrm>
            <a:prstGeom prst="rect">
              <a:avLst/>
            </a:prstGeom>
          </p:spPr>
        </p:pic>
        <p:pic>
          <p:nvPicPr>
            <p:cNvPr id="28" name="Picture 27">
              <a:extLst>
                <a:ext uri="{FF2B5EF4-FFF2-40B4-BE49-F238E27FC236}">
                  <a16:creationId xmlns:a16="http://schemas.microsoft.com/office/drawing/2014/main" id="{492F2351-80E8-CC8C-8EB3-8784DA310D9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0626511" y="6327348"/>
              <a:ext cx="516669" cy="516669"/>
            </a:xfrm>
            <a:prstGeom prst="rect">
              <a:avLst/>
            </a:prstGeom>
          </p:spPr>
        </p:pic>
        <p:pic>
          <p:nvPicPr>
            <p:cNvPr id="29" name="Picture 28">
              <a:extLst>
                <a:ext uri="{FF2B5EF4-FFF2-40B4-BE49-F238E27FC236}">
                  <a16:creationId xmlns:a16="http://schemas.microsoft.com/office/drawing/2014/main" id="{35A11174-D635-8E72-1FCD-5A49F08DD1D5}"/>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1133108" y="6328057"/>
              <a:ext cx="516669" cy="516669"/>
            </a:xfrm>
            <a:prstGeom prst="rect">
              <a:avLst/>
            </a:prstGeom>
          </p:spPr>
        </p:pic>
        <p:pic>
          <p:nvPicPr>
            <p:cNvPr id="30" name="Picture 29">
              <a:extLst>
                <a:ext uri="{FF2B5EF4-FFF2-40B4-BE49-F238E27FC236}">
                  <a16:creationId xmlns:a16="http://schemas.microsoft.com/office/drawing/2014/main" id="{6B4D4D6E-EACE-1318-EB2D-77C742D5A04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1639705" y="6321445"/>
              <a:ext cx="516669" cy="492914"/>
            </a:xfrm>
            <a:prstGeom prst="rect">
              <a:avLst/>
            </a:prstGeom>
          </p:spPr>
        </p:pic>
      </p:grpSp>
      <p:sp>
        <p:nvSpPr>
          <p:cNvPr id="31" name="Slide Number Placeholder 5">
            <a:extLst>
              <a:ext uri="{FF2B5EF4-FFF2-40B4-BE49-F238E27FC236}">
                <a16:creationId xmlns:a16="http://schemas.microsoft.com/office/drawing/2014/main" id="{B3FF9488-5F22-0F40-5897-13E9301169F0}"/>
              </a:ext>
            </a:extLst>
          </p:cNvPr>
          <p:cNvSpPr txBox="1">
            <a:spLocks/>
          </p:cNvSpPr>
          <p:nvPr userDrawn="1"/>
        </p:nvSpPr>
        <p:spPr>
          <a:xfrm>
            <a:off x="11173229" y="6593577"/>
            <a:ext cx="960750" cy="208165"/>
          </a:xfrm>
          <a:prstGeom prst="roundRect">
            <a:avLst>
              <a:gd name="adj" fmla="val 28315"/>
            </a:avLst>
          </a:prstGeom>
          <a:noFill/>
          <a:ln>
            <a:noFill/>
          </a:ln>
        </p:spPr>
        <p:txBody>
          <a:bodyPr vert="horz" lIns="91440" tIns="45720" rIns="91440" bIns="45720" rtlCol="0" anchor="ctr" wrap="none"/>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rgbClr val="C00000"/>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endParaRPr>
          </a:p>
        </p:txBody>
      </p:sp>
      <p:sp>
        <p:nvSpPr>
          <p:cNvPr id="32" name="TextBox 31">
            <a:extLst>
              <a:ext uri="{FF2B5EF4-FFF2-40B4-BE49-F238E27FC236}">
                <a16:creationId xmlns:a16="http://schemas.microsoft.com/office/drawing/2014/main" id="{3CBE0518-699E-148F-8A7C-519EB4F0789D}"/>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bg1">
                    <a:lumMod val="50000"/>
                  </a:schemeClr>
                </a:solidFill>
                <a:effectLst/>
                <a:latin typeface="+mn-lt"/>
              </a:rPr>
              <a:t>© 2026 PT Triatra Sinergia Pratama </a:t>
            </a:r>
            <a:endParaRPr lang="en-ID" sz="700" b="0">
              <a:solidFill>
                <a:schemeClr val="bg1">
                  <a:lumMod val="50000"/>
                </a:schemeClr>
              </a:solidFill>
              <a:latin typeface="+mn-lt"/>
            </a:endParaRPr>
          </a:p>
        </p:txBody>
      </p:sp>
      <p:sp>
        <p:nvSpPr>
          <p:cNvPr id="2" name="Rectangle: Rounded Corners 1">
            <a:extLst>
              <a:ext uri="{FF2B5EF4-FFF2-40B4-BE49-F238E27FC236}">
                <a16:creationId xmlns:a16="http://schemas.microsoft.com/office/drawing/2014/main" id="{A9AF7CC2-1B62-8B8E-2ED0-BF743BCF24B9}"/>
              </a:ext>
            </a:extLst>
          </p:cNvPr>
          <p:cNvSpPr/>
          <p:nvPr userDrawn="1"/>
        </p:nvSpPr>
        <p:spPr>
          <a:xfrm flipV="1">
            <a:off x="0" y="-20707"/>
            <a:ext cx="12192000" cy="904627"/>
          </a:xfrm>
          <a:prstGeom prst="roundRect">
            <a:avLst>
              <a:gd name="adj" fmla="val 0"/>
            </a:avLst>
          </a:prstGeom>
          <a:solidFill>
            <a:schemeClr val="bg2"/>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pic>
        <p:nvPicPr>
          <p:cNvPr id="3" name="Picture 2" descr="A logo with white text&#10;&#10;AI-generated content may be incorrect.">
            <a:extLst>
              <a:ext uri="{FF2B5EF4-FFF2-40B4-BE49-F238E27FC236}">
                <a16:creationId xmlns:a16="http://schemas.microsoft.com/office/drawing/2014/main" id="{F9800AEC-7C85-3978-E704-FD5682544C1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65510" y="121173"/>
            <a:ext cx="1337156" cy="508420"/>
          </a:xfrm>
          <a:prstGeom prst="rect">
            <a:avLst/>
          </a:prstGeom>
        </p:spPr>
      </p:pic>
    </p:spTree>
    <p:extLst>
      <p:ext uri="{BB962C8B-B14F-4D97-AF65-F5344CB8AC3E}">
        <p14:creationId xmlns:p14="http://schemas.microsoft.com/office/powerpoint/2010/main" val="8378259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ADEC0A6-1861-628C-FFB3-F89966776F57}"/>
              </a:ext>
            </a:extLst>
          </p:cNvPr>
          <p:cNvGrpSpPr/>
          <p:nvPr userDrawn="1"/>
        </p:nvGrpSpPr>
        <p:grpSpPr>
          <a:xfrm>
            <a:off x="37131" y="6323002"/>
            <a:ext cx="12154869" cy="534998"/>
            <a:chOff x="-1" y="6311674"/>
            <a:chExt cx="12156375" cy="572268"/>
          </a:xfrm>
        </p:grpSpPr>
        <p:pic>
          <p:nvPicPr>
            <p:cNvPr id="7" name="Picture 6">
              <a:extLst>
                <a:ext uri="{FF2B5EF4-FFF2-40B4-BE49-F238E27FC236}">
                  <a16:creationId xmlns:a16="http://schemas.microsoft.com/office/drawing/2014/main" id="{FF30B68D-D280-0D71-41CE-CDB337D082F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 y="6366564"/>
              <a:ext cx="516669" cy="516669"/>
            </a:xfrm>
            <a:prstGeom prst="rect">
              <a:avLst/>
            </a:prstGeom>
          </p:spPr>
        </p:pic>
        <p:pic>
          <p:nvPicPr>
            <p:cNvPr id="8" name="Picture 7">
              <a:extLst>
                <a:ext uri="{FF2B5EF4-FFF2-40B4-BE49-F238E27FC236}">
                  <a16:creationId xmlns:a16="http://schemas.microsoft.com/office/drawing/2014/main" id="{E2E44B7A-3431-33CC-86CE-0334B8F9E421}"/>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6596" y="6367273"/>
              <a:ext cx="516669" cy="516669"/>
            </a:xfrm>
            <a:prstGeom prst="rect">
              <a:avLst/>
            </a:prstGeom>
          </p:spPr>
        </p:pic>
        <p:pic>
          <p:nvPicPr>
            <p:cNvPr id="9" name="Picture 8">
              <a:extLst>
                <a:ext uri="{FF2B5EF4-FFF2-40B4-BE49-F238E27FC236}">
                  <a16:creationId xmlns:a16="http://schemas.microsoft.com/office/drawing/2014/main" id="{67914360-8254-DD26-E22C-B94295234F9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3193" y="6360661"/>
              <a:ext cx="516669" cy="492914"/>
            </a:xfrm>
            <a:prstGeom prst="rect">
              <a:avLst/>
            </a:prstGeom>
          </p:spPr>
        </p:pic>
        <p:pic>
          <p:nvPicPr>
            <p:cNvPr id="10" name="Picture 9">
              <a:extLst>
                <a:ext uri="{FF2B5EF4-FFF2-40B4-BE49-F238E27FC236}">
                  <a16:creationId xmlns:a16="http://schemas.microsoft.com/office/drawing/2014/main" id="{39E3D9F9-02D3-90C4-CCF4-A925B8FB04C0}"/>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490863" y="6353290"/>
              <a:ext cx="516669" cy="516669"/>
            </a:xfrm>
            <a:prstGeom prst="rect">
              <a:avLst/>
            </a:prstGeom>
          </p:spPr>
        </p:pic>
        <p:pic>
          <p:nvPicPr>
            <p:cNvPr id="11" name="Picture 10">
              <a:extLst>
                <a:ext uri="{FF2B5EF4-FFF2-40B4-BE49-F238E27FC236}">
                  <a16:creationId xmlns:a16="http://schemas.microsoft.com/office/drawing/2014/main" id="{3FEBD915-1DCB-BFB8-5FAE-8ADFA23FFB90}"/>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997460" y="6353999"/>
              <a:ext cx="516669" cy="516669"/>
            </a:xfrm>
            <a:prstGeom prst="rect">
              <a:avLst/>
            </a:prstGeom>
          </p:spPr>
        </p:pic>
        <p:pic>
          <p:nvPicPr>
            <p:cNvPr id="12" name="Picture 11">
              <a:extLst>
                <a:ext uri="{FF2B5EF4-FFF2-40B4-BE49-F238E27FC236}">
                  <a16:creationId xmlns:a16="http://schemas.microsoft.com/office/drawing/2014/main" id="{1B389D77-5502-5B4D-B1C5-B6C600BCA0AD}"/>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2504057" y="6347387"/>
              <a:ext cx="516669" cy="492914"/>
            </a:xfrm>
            <a:prstGeom prst="rect">
              <a:avLst/>
            </a:prstGeom>
          </p:spPr>
        </p:pic>
        <p:pic>
          <p:nvPicPr>
            <p:cNvPr id="13" name="Picture 12">
              <a:extLst>
                <a:ext uri="{FF2B5EF4-FFF2-40B4-BE49-F238E27FC236}">
                  <a16:creationId xmlns:a16="http://schemas.microsoft.com/office/drawing/2014/main" id="{DB67954D-A0ED-4886-1A29-7900ACFDE8B4}"/>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3020491" y="6336754"/>
              <a:ext cx="516669" cy="516669"/>
            </a:xfrm>
            <a:prstGeom prst="rect">
              <a:avLst/>
            </a:prstGeom>
          </p:spPr>
        </p:pic>
        <p:pic>
          <p:nvPicPr>
            <p:cNvPr id="14" name="Picture 13">
              <a:extLst>
                <a:ext uri="{FF2B5EF4-FFF2-40B4-BE49-F238E27FC236}">
                  <a16:creationId xmlns:a16="http://schemas.microsoft.com/office/drawing/2014/main" id="{9A2D138E-EC88-263D-17AD-291DA40695DF}"/>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3527088" y="6337463"/>
              <a:ext cx="516669" cy="516669"/>
            </a:xfrm>
            <a:prstGeom prst="rect">
              <a:avLst/>
            </a:prstGeom>
          </p:spPr>
        </p:pic>
        <p:pic>
          <p:nvPicPr>
            <p:cNvPr id="15" name="Picture 14">
              <a:extLst>
                <a:ext uri="{FF2B5EF4-FFF2-40B4-BE49-F238E27FC236}">
                  <a16:creationId xmlns:a16="http://schemas.microsoft.com/office/drawing/2014/main" id="{E3C2FA1A-3BDC-D504-1951-6DA5ABBF1078}"/>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4033685" y="6330851"/>
              <a:ext cx="516669" cy="492914"/>
            </a:xfrm>
            <a:prstGeom prst="rect">
              <a:avLst/>
            </a:prstGeom>
          </p:spPr>
        </p:pic>
        <p:pic>
          <p:nvPicPr>
            <p:cNvPr id="16" name="Picture 15">
              <a:extLst>
                <a:ext uri="{FF2B5EF4-FFF2-40B4-BE49-F238E27FC236}">
                  <a16:creationId xmlns:a16="http://schemas.microsoft.com/office/drawing/2014/main" id="{252376A2-2E43-8FED-27D8-840FC8688A91}"/>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4540282" y="6347387"/>
              <a:ext cx="516669" cy="516669"/>
            </a:xfrm>
            <a:prstGeom prst="rect">
              <a:avLst/>
            </a:prstGeom>
          </p:spPr>
        </p:pic>
        <p:pic>
          <p:nvPicPr>
            <p:cNvPr id="17" name="Picture 16">
              <a:extLst>
                <a:ext uri="{FF2B5EF4-FFF2-40B4-BE49-F238E27FC236}">
                  <a16:creationId xmlns:a16="http://schemas.microsoft.com/office/drawing/2014/main" id="{003187FD-D4A6-D6D4-7CD6-3827E2AE8E4D}"/>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46879" y="6348096"/>
              <a:ext cx="516669" cy="516669"/>
            </a:xfrm>
            <a:prstGeom prst="rect">
              <a:avLst/>
            </a:prstGeom>
          </p:spPr>
        </p:pic>
        <p:pic>
          <p:nvPicPr>
            <p:cNvPr id="18" name="Picture 17">
              <a:extLst>
                <a:ext uri="{FF2B5EF4-FFF2-40B4-BE49-F238E27FC236}">
                  <a16:creationId xmlns:a16="http://schemas.microsoft.com/office/drawing/2014/main" id="{FBD5C6E0-E26B-CB06-1770-75579DE5D64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5553476" y="6341484"/>
              <a:ext cx="516669" cy="492914"/>
            </a:xfrm>
            <a:prstGeom prst="rect">
              <a:avLst/>
            </a:prstGeom>
          </p:spPr>
        </p:pic>
        <p:pic>
          <p:nvPicPr>
            <p:cNvPr id="19" name="Picture 18">
              <a:extLst>
                <a:ext uri="{FF2B5EF4-FFF2-40B4-BE49-F238E27FC236}">
                  <a16:creationId xmlns:a16="http://schemas.microsoft.com/office/drawing/2014/main" id="{27493920-C4CA-28AA-2A6B-78AF21C2255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6031146" y="6334113"/>
              <a:ext cx="516669" cy="516669"/>
            </a:xfrm>
            <a:prstGeom prst="rect">
              <a:avLst/>
            </a:prstGeom>
          </p:spPr>
        </p:pic>
        <p:pic>
          <p:nvPicPr>
            <p:cNvPr id="20" name="Picture 19">
              <a:extLst>
                <a:ext uri="{FF2B5EF4-FFF2-40B4-BE49-F238E27FC236}">
                  <a16:creationId xmlns:a16="http://schemas.microsoft.com/office/drawing/2014/main" id="{6628A0EF-B762-3487-7A89-31745F0B0F78}"/>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6537743" y="6334822"/>
              <a:ext cx="516669" cy="516669"/>
            </a:xfrm>
            <a:prstGeom prst="rect">
              <a:avLst/>
            </a:prstGeom>
          </p:spPr>
        </p:pic>
        <p:pic>
          <p:nvPicPr>
            <p:cNvPr id="21" name="Picture 20">
              <a:extLst>
                <a:ext uri="{FF2B5EF4-FFF2-40B4-BE49-F238E27FC236}">
                  <a16:creationId xmlns:a16="http://schemas.microsoft.com/office/drawing/2014/main" id="{4950869C-7A37-EE51-2E34-B97A6AD9278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7044340" y="6328210"/>
              <a:ext cx="516669" cy="492914"/>
            </a:xfrm>
            <a:prstGeom prst="rect">
              <a:avLst/>
            </a:prstGeom>
          </p:spPr>
        </p:pic>
        <p:pic>
          <p:nvPicPr>
            <p:cNvPr id="22" name="Picture 21">
              <a:extLst>
                <a:ext uri="{FF2B5EF4-FFF2-40B4-BE49-F238E27FC236}">
                  <a16:creationId xmlns:a16="http://schemas.microsoft.com/office/drawing/2014/main" id="{69BB61F5-C97C-101A-B143-891F31DEF22B}"/>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7560774" y="6317577"/>
              <a:ext cx="516669" cy="516669"/>
            </a:xfrm>
            <a:prstGeom prst="rect">
              <a:avLst/>
            </a:prstGeom>
          </p:spPr>
        </p:pic>
        <p:pic>
          <p:nvPicPr>
            <p:cNvPr id="23" name="Picture 22">
              <a:extLst>
                <a:ext uri="{FF2B5EF4-FFF2-40B4-BE49-F238E27FC236}">
                  <a16:creationId xmlns:a16="http://schemas.microsoft.com/office/drawing/2014/main" id="{3257E681-040D-5012-5853-ACA4F043A36D}"/>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8067371" y="6318286"/>
              <a:ext cx="516669" cy="516669"/>
            </a:xfrm>
            <a:prstGeom prst="rect">
              <a:avLst/>
            </a:prstGeom>
          </p:spPr>
        </p:pic>
        <p:pic>
          <p:nvPicPr>
            <p:cNvPr id="24" name="Picture 23">
              <a:extLst>
                <a:ext uri="{FF2B5EF4-FFF2-40B4-BE49-F238E27FC236}">
                  <a16:creationId xmlns:a16="http://schemas.microsoft.com/office/drawing/2014/main" id="{E8FA957D-F8E4-C9F3-002A-4B7E07AE2B7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8573968" y="6311674"/>
              <a:ext cx="516669" cy="492914"/>
            </a:xfrm>
            <a:prstGeom prst="rect">
              <a:avLst/>
            </a:prstGeom>
          </p:spPr>
        </p:pic>
        <p:pic>
          <p:nvPicPr>
            <p:cNvPr id="25" name="Picture 24">
              <a:extLst>
                <a:ext uri="{FF2B5EF4-FFF2-40B4-BE49-F238E27FC236}">
                  <a16:creationId xmlns:a16="http://schemas.microsoft.com/office/drawing/2014/main" id="{4B5068E4-A6C7-4650-ECFD-6B9BD2DD97AA}"/>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9135647" y="6340622"/>
              <a:ext cx="516669" cy="516669"/>
            </a:xfrm>
            <a:prstGeom prst="rect">
              <a:avLst/>
            </a:prstGeom>
          </p:spPr>
        </p:pic>
        <p:pic>
          <p:nvPicPr>
            <p:cNvPr id="26" name="Picture 25">
              <a:extLst>
                <a:ext uri="{FF2B5EF4-FFF2-40B4-BE49-F238E27FC236}">
                  <a16:creationId xmlns:a16="http://schemas.microsoft.com/office/drawing/2014/main" id="{9D5340D3-3317-9B6A-3BEC-8DB19038D1BE}"/>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9642244" y="6341331"/>
              <a:ext cx="516669" cy="516669"/>
            </a:xfrm>
            <a:prstGeom prst="rect">
              <a:avLst/>
            </a:prstGeom>
          </p:spPr>
        </p:pic>
        <p:pic>
          <p:nvPicPr>
            <p:cNvPr id="27" name="Picture 26">
              <a:extLst>
                <a:ext uri="{FF2B5EF4-FFF2-40B4-BE49-F238E27FC236}">
                  <a16:creationId xmlns:a16="http://schemas.microsoft.com/office/drawing/2014/main" id="{5EB7F051-1A8B-41B7-1566-34A168A7BA32}"/>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48841" y="6334719"/>
              <a:ext cx="516669" cy="492914"/>
            </a:xfrm>
            <a:prstGeom prst="rect">
              <a:avLst/>
            </a:prstGeom>
          </p:spPr>
        </p:pic>
        <p:pic>
          <p:nvPicPr>
            <p:cNvPr id="28" name="Picture 27">
              <a:extLst>
                <a:ext uri="{FF2B5EF4-FFF2-40B4-BE49-F238E27FC236}">
                  <a16:creationId xmlns:a16="http://schemas.microsoft.com/office/drawing/2014/main" id="{492F2351-80E8-CC8C-8EB3-8784DA310D9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0626511" y="6327348"/>
              <a:ext cx="516669" cy="516669"/>
            </a:xfrm>
            <a:prstGeom prst="rect">
              <a:avLst/>
            </a:prstGeom>
          </p:spPr>
        </p:pic>
        <p:pic>
          <p:nvPicPr>
            <p:cNvPr id="29" name="Picture 28">
              <a:extLst>
                <a:ext uri="{FF2B5EF4-FFF2-40B4-BE49-F238E27FC236}">
                  <a16:creationId xmlns:a16="http://schemas.microsoft.com/office/drawing/2014/main" id="{35A11174-D635-8E72-1FCD-5A49F08DD1D5}"/>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1133108" y="6328057"/>
              <a:ext cx="516669" cy="516669"/>
            </a:xfrm>
            <a:prstGeom prst="rect">
              <a:avLst/>
            </a:prstGeom>
          </p:spPr>
        </p:pic>
        <p:pic>
          <p:nvPicPr>
            <p:cNvPr id="30" name="Picture 29">
              <a:extLst>
                <a:ext uri="{FF2B5EF4-FFF2-40B4-BE49-F238E27FC236}">
                  <a16:creationId xmlns:a16="http://schemas.microsoft.com/office/drawing/2014/main" id="{6B4D4D6E-EACE-1318-EB2D-77C742D5A04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1639705" y="6321445"/>
              <a:ext cx="516669" cy="492914"/>
            </a:xfrm>
            <a:prstGeom prst="rect">
              <a:avLst/>
            </a:prstGeom>
          </p:spPr>
        </p:pic>
      </p:grpSp>
      <p:sp>
        <p:nvSpPr>
          <p:cNvPr id="31" name="Slide Number Placeholder 5">
            <a:extLst>
              <a:ext uri="{FF2B5EF4-FFF2-40B4-BE49-F238E27FC236}">
                <a16:creationId xmlns:a16="http://schemas.microsoft.com/office/drawing/2014/main" id="{B3FF9488-5F22-0F40-5897-13E9301169F0}"/>
              </a:ext>
            </a:extLst>
          </p:cNvPr>
          <p:cNvSpPr txBox="1">
            <a:spLocks/>
          </p:cNvSpPr>
          <p:nvPr userDrawn="1"/>
        </p:nvSpPr>
        <p:spPr>
          <a:xfrm>
            <a:off x="11173229" y="6593577"/>
            <a:ext cx="960750" cy="208165"/>
          </a:xfrm>
          <a:prstGeom prst="roundRect">
            <a:avLst>
              <a:gd name="adj" fmla="val 28315"/>
            </a:avLst>
          </a:prstGeom>
          <a:noFill/>
          <a:ln>
            <a:noFill/>
          </a:ln>
        </p:spPr>
        <p:txBody>
          <a:bodyPr vert="horz" lIns="91440" tIns="45720" rIns="91440" bIns="45720" rtlCol="0" anchor="ctr" wrap="none"/>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rgbClr val="C00000"/>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endParaRPr>
          </a:p>
        </p:txBody>
      </p:sp>
      <p:sp>
        <p:nvSpPr>
          <p:cNvPr id="32" name="TextBox 31">
            <a:extLst>
              <a:ext uri="{FF2B5EF4-FFF2-40B4-BE49-F238E27FC236}">
                <a16:creationId xmlns:a16="http://schemas.microsoft.com/office/drawing/2014/main" id="{3CBE0518-699E-148F-8A7C-519EB4F0789D}"/>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bg1">
                    <a:lumMod val="50000"/>
                  </a:schemeClr>
                </a:solidFill>
                <a:effectLst/>
                <a:latin typeface="+mn-lt"/>
              </a:rPr>
              <a:t>© 2026 PT Triatra Sinergia Pratama </a:t>
            </a:r>
            <a:endParaRPr lang="en-ID" sz="700" b="0">
              <a:solidFill>
                <a:schemeClr val="bg1">
                  <a:lumMod val="50000"/>
                </a:schemeClr>
              </a:solidFill>
              <a:latin typeface="+mn-lt"/>
            </a:endParaRPr>
          </a:p>
        </p:txBody>
      </p:sp>
      <p:pic>
        <p:nvPicPr>
          <p:cNvPr id="2" name="Picture 1" descr="A logo with white text&#10;&#10;AI-generated content may be incorrect.">
            <a:extLst>
              <a:ext uri="{FF2B5EF4-FFF2-40B4-BE49-F238E27FC236}">
                <a16:creationId xmlns:a16="http://schemas.microsoft.com/office/drawing/2014/main" id="{DE0C6950-73CE-BA3D-D748-CEAC38B66BC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16049" y="200077"/>
            <a:ext cx="1337156" cy="508420"/>
          </a:xfrm>
          <a:prstGeom prst="rect">
            <a:avLst/>
          </a:prstGeom>
        </p:spPr>
      </p:pic>
      <p:cxnSp>
        <p:nvCxnSpPr>
          <p:cNvPr id="3" name="Straight Connector 2">
            <a:extLst>
              <a:ext uri="{FF2B5EF4-FFF2-40B4-BE49-F238E27FC236}">
                <a16:creationId xmlns:a16="http://schemas.microsoft.com/office/drawing/2014/main" id="{AB70E410-DBD2-EB6B-7153-7220C492BE71}"/>
              </a:ext>
            </a:extLst>
          </p:cNvPr>
          <p:cNvCxnSpPr>
            <a:cxnSpLocks/>
          </p:cNvCxnSpPr>
          <p:nvPr userDrawn="1"/>
        </p:nvCxnSpPr>
        <p:spPr>
          <a:xfrm>
            <a:off x="0" y="715954"/>
            <a:ext cx="10398067" cy="0"/>
          </a:xfrm>
          <a:prstGeom prst="line">
            <a:avLst/>
          </a:prstGeom>
          <a:ln w="9525">
            <a:solidFill>
              <a:srgbClr val="F2AA84"/>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1630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5FF2866-94E7-C1C8-4A38-C2FDCEED850B}"/>
              </a:ext>
            </a:extLst>
          </p:cNvPr>
          <p:cNvSpPr>
            <a:spLocks noGrp="1"/>
          </p:cNvSpPr>
          <p:nvPr>
            <p:ph type="dt" sz="half" idx="10"/>
          </p:nvPr>
        </p:nvSpPr>
        <p:spPr/>
        <p:txBody>
          <a:bodyPr/>
          <a:lstStyle/>
          <a:p>
            <a:fld id="{8E4C6D2F-9698-4AD1-AF61-FBB014564687}" type="datetimeFigureOut">
              <a:rPr lang="en-ID" smtClean="0"/>
              <a:t>13/10/2026</a:t>
            </a:fld>
            <a:endParaRPr lang="en-ID"/>
          </a:p>
        </p:txBody>
      </p:sp>
      <p:sp>
        <p:nvSpPr>
          <p:cNvPr id="5" name="Footer Placeholder 4">
            <a:extLst>
              <a:ext uri="{FF2B5EF4-FFF2-40B4-BE49-F238E27FC236}">
                <a16:creationId xmlns:a16="http://schemas.microsoft.com/office/drawing/2014/main" id="{5DF2C1CE-8E82-46B7-D534-3FC109F7B02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B969EF7-1241-FC4F-B5EA-256D849AE8C8}"/>
              </a:ext>
            </a:extLst>
          </p:cNvPr>
          <p:cNvSpPr>
            <a:spLocks noGrp="1"/>
          </p:cNvSpPr>
          <p:nvPr>
            <p:ph type="sldNum" sz="quarter" idx="12"/>
          </p:nvPr>
        </p:nvSpPr>
        <p:spPr/>
        <p:txBody>
          <a:bodyPr/>
          <a:lstStyle/>
          <a:p>
            <a:fld id="{BCCC4FA6-9004-4589-A030-2821D7950F2E}" type="slidenum">
              <a:rPr lang="en-ID" smtClean="0"/>
              <a:t>‹#›</a:t>
            </a:fld>
            <a:endParaRPr lang="en-ID"/>
          </a:p>
        </p:txBody>
      </p:sp>
      <p:grpSp>
        <p:nvGrpSpPr>
          <p:cNvPr id="94" name="Group 93">
            <a:extLst>
              <a:ext uri="{FF2B5EF4-FFF2-40B4-BE49-F238E27FC236}">
                <a16:creationId xmlns:a16="http://schemas.microsoft.com/office/drawing/2014/main" id="{B81EF408-9524-EA92-4ABA-1855C5400071}"/>
              </a:ext>
            </a:extLst>
          </p:cNvPr>
          <p:cNvGrpSpPr/>
          <p:nvPr userDrawn="1"/>
        </p:nvGrpSpPr>
        <p:grpSpPr>
          <a:xfrm>
            <a:off x="-101303" y="1234776"/>
            <a:ext cx="5428255" cy="2720516"/>
            <a:chOff x="6353023" y="2760785"/>
            <a:chExt cx="5525553" cy="2680965"/>
          </a:xfrm>
        </p:grpSpPr>
        <p:pic>
          <p:nvPicPr>
            <p:cNvPr id="95" name="Picture 94">
              <a:extLst>
                <a:ext uri="{FF2B5EF4-FFF2-40B4-BE49-F238E27FC236}">
                  <a16:creationId xmlns:a16="http://schemas.microsoft.com/office/drawing/2014/main" id="{CB98439B-AFB6-72AE-4AFB-BCAA447B987F}"/>
                </a:ext>
              </a:extLst>
            </p:cNvPr>
            <p:cNvPicPr>
              <a:picLocks noChangeAspect="1"/>
            </p:cNvPicPr>
            <p:nvPr userDrawn="1"/>
          </p:nvPicPr>
          <p:blipFill>
            <a:blip r:embed="rId2">
              <a:alphaModFix amt="10000"/>
            </a:blip>
            <a:srcRect l="5856" t="-37" r="5400" b="645"/>
            <a:stretch/>
          </p:blipFill>
          <p:spPr>
            <a:xfrm>
              <a:off x="7991354" y="2803120"/>
              <a:ext cx="668215" cy="748400"/>
            </a:xfrm>
            <a:prstGeom prst="rect">
              <a:avLst/>
            </a:prstGeom>
          </p:spPr>
        </p:pic>
        <p:pic>
          <p:nvPicPr>
            <p:cNvPr id="96" name="Picture 95">
              <a:extLst>
                <a:ext uri="{FF2B5EF4-FFF2-40B4-BE49-F238E27FC236}">
                  <a16:creationId xmlns:a16="http://schemas.microsoft.com/office/drawing/2014/main" id="{9026D880-4FF1-9BF8-47D6-EDA06EE930B4}"/>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7313631" y="2844994"/>
              <a:ext cx="668215" cy="668215"/>
            </a:xfrm>
            <a:prstGeom prst="rect">
              <a:avLst/>
            </a:prstGeom>
          </p:spPr>
        </p:pic>
        <p:pic>
          <p:nvPicPr>
            <p:cNvPr id="97" name="Picture 96">
              <a:extLst>
                <a:ext uri="{FF2B5EF4-FFF2-40B4-BE49-F238E27FC236}">
                  <a16:creationId xmlns:a16="http://schemas.microsoft.com/office/drawing/2014/main" id="{9BB60A44-9B2A-C870-83C2-94EA891C25F2}"/>
                </a:ext>
              </a:extLst>
            </p:cNvPr>
            <p:cNvPicPr>
              <a:picLocks noChangeAspect="1"/>
            </p:cNvPicPr>
            <p:nvPr userDrawn="1"/>
          </p:nvPicPr>
          <p:blipFill>
            <a:blip r:embed="rId4">
              <a:alphaModFix amt="2000"/>
            </a:blip>
            <a:stretch>
              <a:fillRect/>
            </a:stretch>
          </p:blipFill>
          <p:spPr>
            <a:xfrm>
              <a:off x="8001543" y="4184148"/>
              <a:ext cx="695378" cy="668215"/>
            </a:xfrm>
            <a:prstGeom prst="rect">
              <a:avLst/>
            </a:prstGeom>
          </p:spPr>
        </p:pic>
        <p:pic>
          <p:nvPicPr>
            <p:cNvPr id="98" name="Picture 97">
              <a:extLst>
                <a:ext uri="{FF2B5EF4-FFF2-40B4-BE49-F238E27FC236}">
                  <a16:creationId xmlns:a16="http://schemas.microsoft.com/office/drawing/2014/main" id="{BC92BF89-F84A-89FF-78F0-A1805447AE07}"/>
                </a:ext>
              </a:extLst>
            </p:cNvPr>
            <p:cNvPicPr>
              <a:picLocks noChangeAspect="1"/>
            </p:cNvPicPr>
            <p:nvPr userDrawn="1"/>
          </p:nvPicPr>
          <p:blipFill>
            <a:blip r:embed="rId3">
              <a:alphaModFix amt="10000"/>
              <a:extLst>
                <a:ext uri="{28A0092B-C50C-407E-A947-70E740481C1C}">
                  <a14:useLocalDpi xmlns:a14="http://schemas.microsoft.com/office/drawing/2010/main" val="0"/>
                </a:ext>
              </a:extLst>
            </a:blip>
            <a:srcRect/>
            <a:stretch/>
          </p:blipFill>
          <p:spPr>
            <a:xfrm flipH="1">
              <a:off x="8011732" y="3515933"/>
              <a:ext cx="668215" cy="668215"/>
            </a:xfrm>
            <a:prstGeom prst="rect">
              <a:avLst/>
            </a:prstGeom>
          </p:spPr>
        </p:pic>
        <p:pic>
          <p:nvPicPr>
            <p:cNvPr id="99" name="Picture 98">
              <a:extLst>
                <a:ext uri="{FF2B5EF4-FFF2-40B4-BE49-F238E27FC236}">
                  <a16:creationId xmlns:a16="http://schemas.microsoft.com/office/drawing/2014/main" id="{847C9783-C22B-FAF2-1A03-1907C0C48E68}"/>
                </a:ext>
              </a:extLst>
            </p:cNvPr>
            <p:cNvPicPr>
              <a:picLocks noChangeAspect="1"/>
            </p:cNvPicPr>
            <p:nvPr userDrawn="1"/>
          </p:nvPicPr>
          <p:blipFill>
            <a:blip r:embed="rId2">
              <a:alphaModFix amt="2000"/>
            </a:blip>
            <a:srcRect l="5856" t="-37" r="5400" b="645"/>
            <a:stretch/>
          </p:blipFill>
          <p:spPr>
            <a:xfrm>
              <a:off x="7316354" y="4190896"/>
              <a:ext cx="668215" cy="748400"/>
            </a:xfrm>
            <a:prstGeom prst="rect">
              <a:avLst/>
            </a:prstGeom>
          </p:spPr>
        </p:pic>
        <p:pic>
          <p:nvPicPr>
            <p:cNvPr id="100" name="Picture 99">
              <a:extLst>
                <a:ext uri="{FF2B5EF4-FFF2-40B4-BE49-F238E27FC236}">
                  <a16:creationId xmlns:a16="http://schemas.microsoft.com/office/drawing/2014/main" id="{29994748-A5A0-1D8F-40FE-F426DB039CDF}"/>
                </a:ext>
              </a:extLst>
            </p:cNvPr>
            <p:cNvPicPr>
              <a:picLocks noChangeAspect="1"/>
            </p:cNvPicPr>
            <p:nvPr userDrawn="1"/>
          </p:nvPicPr>
          <p:blipFill>
            <a:blip r:embed="rId4">
              <a:alphaModFix amt="10000"/>
            </a:blip>
            <a:stretch>
              <a:fillRect/>
            </a:stretch>
          </p:blipFill>
          <p:spPr>
            <a:xfrm>
              <a:off x="7316354" y="3522681"/>
              <a:ext cx="695378" cy="668215"/>
            </a:xfrm>
            <a:prstGeom prst="rect">
              <a:avLst/>
            </a:prstGeom>
          </p:spPr>
        </p:pic>
        <p:pic>
          <p:nvPicPr>
            <p:cNvPr id="101" name="Picture 100">
              <a:extLst>
                <a:ext uri="{FF2B5EF4-FFF2-40B4-BE49-F238E27FC236}">
                  <a16:creationId xmlns:a16="http://schemas.microsoft.com/office/drawing/2014/main" id="{1D5B6BF9-28CC-A342-FD3F-0E9A9266D412}"/>
                </a:ext>
              </a:extLst>
            </p:cNvPr>
            <p:cNvPicPr>
              <a:picLocks noChangeAspect="1"/>
            </p:cNvPicPr>
            <p:nvPr userDrawn="1"/>
          </p:nvPicPr>
          <p:blipFill>
            <a:blip r:embed="rId4">
              <a:alphaModFix amt="2000"/>
            </a:blip>
            <a:stretch>
              <a:fillRect/>
            </a:stretch>
          </p:blipFill>
          <p:spPr>
            <a:xfrm>
              <a:off x="9827071" y="3429000"/>
              <a:ext cx="695378" cy="668215"/>
            </a:xfrm>
            <a:prstGeom prst="rect">
              <a:avLst/>
            </a:prstGeom>
          </p:spPr>
        </p:pic>
        <p:pic>
          <p:nvPicPr>
            <p:cNvPr id="102" name="Picture 101">
              <a:extLst>
                <a:ext uri="{FF2B5EF4-FFF2-40B4-BE49-F238E27FC236}">
                  <a16:creationId xmlns:a16="http://schemas.microsoft.com/office/drawing/2014/main" id="{268E5A07-E00F-A5A2-7F8F-C5BCEAB0F2DF}"/>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9837260" y="2760785"/>
              <a:ext cx="668215" cy="668215"/>
            </a:xfrm>
            <a:prstGeom prst="rect">
              <a:avLst/>
            </a:prstGeom>
          </p:spPr>
        </p:pic>
        <p:pic>
          <p:nvPicPr>
            <p:cNvPr id="103" name="Picture 102">
              <a:extLst>
                <a:ext uri="{FF2B5EF4-FFF2-40B4-BE49-F238E27FC236}">
                  <a16:creationId xmlns:a16="http://schemas.microsoft.com/office/drawing/2014/main" id="{B10595C1-601F-C331-1CA0-59CB93FCD033}"/>
                </a:ext>
              </a:extLst>
            </p:cNvPr>
            <p:cNvPicPr>
              <a:picLocks noChangeAspect="1"/>
            </p:cNvPicPr>
            <p:nvPr userDrawn="1"/>
          </p:nvPicPr>
          <p:blipFill>
            <a:blip r:embed="rId2">
              <a:alphaModFix amt="2000"/>
            </a:blip>
            <a:srcRect l="5856" t="-37" r="5400" b="645"/>
            <a:stretch/>
          </p:blipFill>
          <p:spPr>
            <a:xfrm>
              <a:off x="9149296" y="3435748"/>
              <a:ext cx="668215" cy="748400"/>
            </a:xfrm>
            <a:prstGeom prst="rect">
              <a:avLst/>
            </a:prstGeom>
          </p:spPr>
        </p:pic>
        <p:pic>
          <p:nvPicPr>
            <p:cNvPr id="104" name="Picture 103">
              <a:extLst>
                <a:ext uri="{FF2B5EF4-FFF2-40B4-BE49-F238E27FC236}">
                  <a16:creationId xmlns:a16="http://schemas.microsoft.com/office/drawing/2014/main" id="{033270AF-8BBD-E6C3-2833-E7E707671901}"/>
                </a:ext>
              </a:extLst>
            </p:cNvPr>
            <p:cNvPicPr>
              <a:picLocks noChangeAspect="1"/>
            </p:cNvPicPr>
            <p:nvPr userDrawn="1"/>
          </p:nvPicPr>
          <p:blipFill>
            <a:blip r:embed="rId4">
              <a:alphaModFix amt="2000"/>
            </a:blip>
            <a:stretch>
              <a:fillRect/>
            </a:stretch>
          </p:blipFill>
          <p:spPr>
            <a:xfrm>
              <a:off x="9149296" y="2767533"/>
              <a:ext cx="695378" cy="668215"/>
            </a:xfrm>
            <a:prstGeom prst="rect">
              <a:avLst/>
            </a:prstGeom>
          </p:spPr>
        </p:pic>
        <p:pic>
          <p:nvPicPr>
            <p:cNvPr id="105" name="Picture 104">
              <a:extLst>
                <a:ext uri="{FF2B5EF4-FFF2-40B4-BE49-F238E27FC236}">
                  <a16:creationId xmlns:a16="http://schemas.microsoft.com/office/drawing/2014/main" id="{A4E5D12B-D144-8466-9EDE-793E412BA456}"/>
                </a:ext>
              </a:extLst>
            </p:cNvPr>
            <p:cNvPicPr>
              <a:picLocks noChangeAspect="1"/>
            </p:cNvPicPr>
            <p:nvPr userDrawn="1"/>
          </p:nvPicPr>
          <p:blipFill>
            <a:blip r:embed="rId2">
              <a:alphaModFix amt="2000"/>
            </a:blip>
            <a:srcRect l="5856" t="-37" r="5400" b="645"/>
            <a:stretch/>
          </p:blipFill>
          <p:spPr>
            <a:xfrm>
              <a:off x="11189983" y="4053974"/>
              <a:ext cx="668215" cy="748400"/>
            </a:xfrm>
            <a:prstGeom prst="rect">
              <a:avLst/>
            </a:prstGeom>
          </p:spPr>
        </p:pic>
        <p:pic>
          <p:nvPicPr>
            <p:cNvPr id="106" name="Picture 105">
              <a:extLst>
                <a:ext uri="{FF2B5EF4-FFF2-40B4-BE49-F238E27FC236}">
                  <a16:creationId xmlns:a16="http://schemas.microsoft.com/office/drawing/2014/main" id="{01F7955B-D339-981F-C619-D6FAD6D4FFC9}"/>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10512260" y="4095848"/>
              <a:ext cx="668215" cy="668215"/>
            </a:xfrm>
            <a:prstGeom prst="rect">
              <a:avLst/>
            </a:prstGeom>
          </p:spPr>
        </p:pic>
        <p:pic>
          <p:nvPicPr>
            <p:cNvPr id="107" name="Picture 106">
              <a:extLst>
                <a:ext uri="{FF2B5EF4-FFF2-40B4-BE49-F238E27FC236}">
                  <a16:creationId xmlns:a16="http://schemas.microsoft.com/office/drawing/2014/main" id="{0498A9C9-8637-59F1-D4A4-990098E03DAB}"/>
                </a:ext>
              </a:extLst>
            </p:cNvPr>
            <p:cNvPicPr>
              <a:picLocks noChangeAspect="1"/>
            </p:cNvPicPr>
            <p:nvPr userDrawn="1"/>
          </p:nvPicPr>
          <p:blipFill>
            <a:blip r:embed="rId2">
              <a:alphaModFix amt="2000"/>
            </a:blip>
            <a:srcRect l="5856" t="-37" r="5400" b="645"/>
            <a:stretch/>
          </p:blipFill>
          <p:spPr>
            <a:xfrm>
              <a:off x="9807322" y="4053974"/>
              <a:ext cx="668215" cy="748400"/>
            </a:xfrm>
            <a:prstGeom prst="rect">
              <a:avLst/>
            </a:prstGeom>
          </p:spPr>
        </p:pic>
        <p:pic>
          <p:nvPicPr>
            <p:cNvPr id="108" name="Picture 107">
              <a:extLst>
                <a:ext uri="{FF2B5EF4-FFF2-40B4-BE49-F238E27FC236}">
                  <a16:creationId xmlns:a16="http://schemas.microsoft.com/office/drawing/2014/main" id="{E513C1B7-2574-4666-F0E7-593C9E596B95}"/>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9146573" y="4095848"/>
              <a:ext cx="668215" cy="668215"/>
            </a:xfrm>
            <a:prstGeom prst="rect">
              <a:avLst/>
            </a:prstGeom>
          </p:spPr>
        </p:pic>
        <p:pic>
          <p:nvPicPr>
            <p:cNvPr id="109" name="Picture 108">
              <a:extLst>
                <a:ext uri="{FF2B5EF4-FFF2-40B4-BE49-F238E27FC236}">
                  <a16:creationId xmlns:a16="http://schemas.microsoft.com/office/drawing/2014/main" id="{01E0D101-E1BF-CED6-8F67-793A6E04FDD8}"/>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11210361" y="4766787"/>
              <a:ext cx="668215" cy="668215"/>
            </a:xfrm>
            <a:prstGeom prst="rect">
              <a:avLst/>
            </a:prstGeom>
          </p:spPr>
        </p:pic>
        <p:pic>
          <p:nvPicPr>
            <p:cNvPr id="110" name="Picture 109">
              <a:extLst>
                <a:ext uri="{FF2B5EF4-FFF2-40B4-BE49-F238E27FC236}">
                  <a16:creationId xmlns:a16="http://schemas.microsoft.com/office/drawing/2014/main" id="{8DA6C2D6-2D65-AF92-788E-EDF467B2822B}"/>
                </a:ext>
              </a:extLst>
            </p:cNvPr>
            <p:cNvPicPr>
              <a:picLocks noChangeAspect="1"/>
            </p:cNvPicPr>
            <p:nvPr userDrawn="1"/>
          </p:nvPicPr>
          <p:blipFill>
            <a:blip r:embed="rId4">
              <a:alphaModFix amt="2000"/>
            </a:blip>
            <a:stretch>
              <a:fillRect/>
            </a:stretch>
          </p:blipFill>
          <p:spPr>
            <a:xfrm>
              <a:off x="10514983" y="4773535"/>
              <a:ext cx="695378" cy="668215"/>
            </a:xfrm>
            <a:prstGeom prst="rect">
              <a:avLst/>
            </a:prstGeom>
          </p:spPr>
        </p:pic>
        <p:pic>
          <p:nvPicPr>
            <p:cNvPr id="111" name="Picture 110">
              <a:extLst>
                <a:ext uri="{FF2B5EF4-FFF2-40B4-BE49-F238E27FC236}">
                  <a16:creationId xmlns:a16="http://schemas.microsoft.com/office/drawing/2014/main" id="{F145BE39-80CC-36B8-488E-9778F93BB816}"/>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9837260" y="4766787"/>
              <a:ext cx="668215" cy="668215"/>
            </a:xfrm>
            <a:prstGeom prst="rect">
              <a:avLst/>
            </a:prstGeom>
          </p:spPr>
        </p:pic>
        <p:pic>
          <p:nvPicPr>
            <p:cNvPr id="112" name="Picture 111">
              <a:extLst>
                <a:ext uri="{FF2B5EF4-FFF2-40B4-BE49-F238E27FC236}">
                  <a16:creationId xmlns:a16="http://schemas.microsoft.com/office/drawing/2014/main" id="{83152A0C-3C82-DFDD-0C7B-BA0C0FE52827}"/>
                </a:ext>
              </a:extLst>
            </p:cNvPr>
            <p:cNvPicPr>
              <a:picLocks noChangeAspect="1"/>
            </p:cNvPicPr>
            <p:nvPr userDrawn="1"/>
          </p:nvPicPr>
          <p:blipFill>
            <a:blip r:embed="rId4">
              <a:alphaModFix amt="2000"/>
            </a:blip>
            <a:stretch>
              <a:fillRect/>
            </a:stretch>
          </p:blipFill>
          <p:spPr>
            <a:xfrm>
              <a:off x="9149296" y="4773535"/>
              <a:ext cx="695378" cy="668215"/>
            </a:xfrm>
            <a:prstGeom prst="rect">
              <a:avLst/>
            </a:prstGeom>
          </p:spPr>
        </p:pic>
        <p:pic>
          <p:nvPicPr>
            <p:cNvPr id="113" name="Picture 112">
              <a:extLst>
                <a:ext uri="{FF2B5EF4-FFF2-40B4-BE49-F238E27FC236}">
                  <a16:creationId xmlns:a16="http://schemas.microsoft.com/office/drawing/2014/main" id="{752F0A06-B528-94C6-978A-66073429690D}"/>
                </a:ext>
              </a:extLst>
            </p:cNvPr>
            <p:cNvPicPr>
              <a:picLocks noChangeAspect="1"/>
            </p:cNvPicPr>
            <p:nvPr userDrawn="1"/>
          </p:nvPicPr>
          <p:blipFill>
            <a:blip r:embed="rId2">
              <a:alphaModFix amt="2000"/>
            </a:blip>
            <a:srcRect l="5856" t="-37" r="5400" b="645"/>
            <a:stretch/>
          </p:blipFill>
          <p:spPr>
            <a:xfrm>
              <a:off x="8396433" y="4032159"/>
              <a:ext cx="668215" cy="748400"/>
            </a:xfrm>
            <a:prstGeom prst="rect">
              <a:avLst/>
            </a:prstGeom>
          </p:spPr>
        </p:pic>
        <p:pic>
          <p:nvPicPr>
            <p:cNvPr id="114" name="Picture 113">
              <a:extLst>
                <a:ext uri="{FF2B5EF4-FFF2-40B4-BE49-F238E27FC236}">
                  <a16:creationId xmlns:a16="http://schemas.microsoft.com/office/drawing/2014/main" id="{8B0C8A5B-53C9-34AA-B465-4D914513533B}"/>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7718710" y="4074033"/>
              <a:ext cx="668215" cy="668215"/>
            </a:xfrm>
            <a:prstGeom prst="rect">
              <a:avLst/>
            </a:prstGeom>
          </p:spPr>
        </p:pic>
        <p:pic>
          <p:nvPicPr>
            <p:cNvPr id="115" name="Picture 114">
              <a:extLst>
                <a:ext uri="{FF2B5EF4-FFF2-40B4-BE49-F238E27FC236}">
                  <a16:creationId xmlns:a16="http://schemas.microsoft.com/office/drawing/2014/main" id="{3F03C63F-8A14-29B1-B437-BE1DD7AEB8E5}"/>
                </a:ext>
              </a:extLst>
            </p:cNvPr>
            <p:cNvPicPr>
              <a:picLocks noChangeAspect="1"/>
            </p:cNvPicPr>
            <p:nvPr userDrawn="1"/>
          </p:nvPicPr>
          <p:blipFill>
            <a:blip r:embed="rId2">
              <a:alphaModFix amt="2000"/>
            </a:blip>
            <a:srcRect l="5856" t="-37" r="5400" b="645"/>
            <a:stretch/>
          </p:blipFill>
          <p:spPr>
            <a:xfrm>
              <a:off x="7013772" y="4032159"/>
              <a:ext cx="668215" cy="748400"/>
            </a:xfrm>
            <a:prstGeom prst="rect">
              <a:avLst/>
            </a:prstGeom>
          </p:spPr>
        </p:pic>
        <p:pic>
          <p:nvPicPr>
            <p:cNvPr id="116" name="Picture 115">
              <a:extLst>
                <a:ext uri="{FF2B5EF4-FFF2-40B4-BE49-F238E27FC236}">
                  <a16:creationId xmlns:a16="http://schemas.microsoft.com/office/drawing/2014/main" id="{2099E0A1-6073-033C-938B-7A3CD2E246F1}"/>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6353023" y="4074033"/>
              <a:ext cx="668215" cy="668215"/>
            </a:xfrm>
            <a:prstGeom prst="rect">
              <a:avLst/>
            </a:prstGeom>
          </p:spPr>
        </p:pic>
        <p:pic>
          <p:nvPicPr>
            <p:cNvPr id="117" name="Picture 116">
              <a:extLst>
                <a:ext uri="{FF2B5EF4-FFF2-40B4-BE49-F238E27FC236}">
                  <a16:creationId xmlns:a16="http://schemas.microsoft.com/office/drawing/2014/main" id="{0DE37399-9FFA-AA49-D63B-98941D1DEB8C}"/>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8416811" y="4744972"/>
              <a:ext cx="668215" cy="668215"/>
            </a:xfrm>
            <a:prstGeom prst="rect">
              <a:avLst/>
            </a:prstGeom>
          </p:spPr>
        </p:pic>
        <p:pic>
          <p:nvPicPr>
            <p:cNvPr id="118" name="Picture 117">
              <a:extLst>
                <a:ext uri="{FF2B5EF4-FFF2-40B4-BE49-F238E27FC236}">
                  <a16:creationId xmlns:a16="http://schemas.microsoft.com/office/drawing/2014/main" id="{BF956FBE-2D36-1B24-DB07-81627F92BAF6}"/>
                </a:ext>
              </a:extLst>
            </p:cNvPr>
            <p:cNvPicPr>
              <a:picLocks noChangeAspect="1"/>
            </p:cNvPicPr>
            <p:nvPr userDrawn="1"/>
          </p:nvPicPr>
          <p:blipFill>
            <a:blip r:embed="rId4">
              <a:alphaModFix amt="2000"/>
            </a:blip>
            <a:stretch>
              <a:fillRect/>
            </a:stretch>
          </p:blipFill>
          <p:spPr>
            <a:xfrm>
              <a:off x="7721433" y="4751720"/>
              <a:ext cx="695378" cy="668215"/>
            </a:xfrm>
            <a:prstGeom prst="rect">
              <a:avLst/>
            </a:prstGeom>
          </p:spPr>
        </p:pic>
        <p:pic>
          <p:nvPicPr>
            <p:cNvPr id="119" name="Picture 118">
              <a:extLst>
                <a:ext uri="{FF2B5EF4-FFF2-40B4-BE49-F238E27FC236}">
                  <a16:creationId xmlns:a16="http://schemas.microsoft.com/office/drawing/2014/main" id="{BBD0FE61-71C1-CC0F-517B-61CF9333CD83}"/>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7043710" y="4744972"/>
              <a:ext cx="668215" cy="668215"/>
            </a:xfrm>
            <a:prstGeom prst="rect">
              <a:avLst/>
            </a:prstGeom>
          </p:spPr>
        </p:pic>
        <p:pic>
          <p:nvPicPr>
            <p:cNvPr id="120" name="Picture 119">
              <a:extLst>
                <a:ext uri="{FF2B5EF4-FFF2-40B4-BE49-F238E27FC236}">
                  <a16:creationId xmlns:a16="http://schemas.microsoft.com/office/drawing/2014/main" id="{6FD4CFEE-0105-FD05-ADBF-4270F548C9B5}"/>
                </a:ext>
              </a:extLst>
            </p:cNvPr>
            <p:cNvPicPr>
              <a:picLocks noChangeAspect="1"/>
            </p:cNvPicPr>
            <p:nvPr userDrawn="1"/>
          </p:nvPicPr>
          <p:blipFill>
            <a:blip r:embed="rId4">
              <a:alphaModFix amt="2000"/>
            </a:blip>
            <a:stretch>
              <a:fillRect/>
            </a:stretch>
          </p:blipFill>
          <p:spPr>
            <a:xfrm>
              <a:off x="6355746" y="4751720"/>
              <a:ext cx="695378" cy="668215"/>
            </a:xfrm>
            <a:prstGeom prst="rect">
              <a:avLst/>
            </a:prstGeom>
          </p:spPr>
        </p:pic>
      </p:grpSp>
      <p:sp>
        <p:nvSpPr>
          <p:cNvPr id="3" name="Shape 1">
            <a:extLst>
              <a:ext uri="{FF2B5EF4-FFF2-40B4-BE49-F238E27FC236}">
                <a16:creationId xmlns:a16="http://schemas.microsoft.com/office/drawing/2014/main" id="{7F6B0B12-CA9E-A1D0-BC31-88914F5E10F4}"/>
              </a:ext>
            </a:extLst>
          </p:cNvPr>
          <p:cNvSpPr/>
          <p:nvPr userDrawn="1"/>
        </p:nvSpPr>
        <p:spPr>
          <a:xfrm>
            <a:off x="5535912" y="-10087"/>
            <a:ext cx="45719" cy="6878173"/>
          </a:xfrm>
          <a:prstGeom prst="rect">
            <a:avLst/>
          </a:prstGeom>
          <a:solidFill>
            <a:srgbClr val="80350E"/>
          </a:solidFill>
          <a:ln w="12700">
            <a:noFill/>
            <a:prstDash val="solid"/>
          </a:ln>
        </p:spPr>
        <p:txBody>
          <a:bodyPr/>
          <a:lstStyle/>
          <a:p>
            <a:endParaRPr lang="en-US"/>
          </a:p>
        </p:txBody>
      </p:sp>
      <p:pic>
        <p:nvPicPr>
          <p:cNvPr id="7" name="Picture 6">
            <a:extLst>
              <a:ext uri="{FF2B5EF4-FFF2-40B4-BE49-F238E27FC236}">
                <a16:creationId xmlns:a16="http://schemas.microsoft.com/office/drawing/2014/main" id="{F4C37229-EEE4-727A-A46E-A982D348F752}"/>
              </a:ext>
            </a:extLst>
          </p:cNvPr>
          <p:cNvPicPr>
            <a:picLocks noChangeAspect="1"/>
          </p:cNvPicPr>
          <p:nvPr userDrawn="1"/>
        </p:nvPicPr>
        <p:blipFill>
          <a:blip r:embed="rId5">
            <a:extLst>
              <a:ext uri="{28A0092B-C50C-407E-A947-70E740481C1C}">
                <a14:useLocalDpi xmlns:a14="http://schemas.microsoft.com/office/drawing/2010/main" val="0"/>
              </a:ext>
            </a:extLst>
          </a:blip>
          <a:srcRect l="353" r="353"/>
          <a:stretch/>
        </p:blipFill>
        <p:spPr>
          <a:xfrm>
            <a:off x="5581631" y="-10087"/>
            <a:ext cx="6665233" cy="6878173"/>
          </a:xfrm>
          <a:prstGeom prst="rect">
            <a:avLst/>
          </a:prstGeom>
        </p:spPr>
      </p:pic>
      <p:sp>
        <p:nvSpPr>
          <p:cNvPr id="8" name="Shape 0">
            <a:extLst>
              <a:ext uri="{FF2B5EF4-FFF2-40B4-BE49-F238E27FC236}">
                <a16:creationId xmlns:a16="http://schemas.microsoft.com/office/drawing/2014/main" id="{B7F5C4BA-0841-94C6-8D01-1FB68B3C2F35}"/>
              </a:ext>
            </a:extLst>
          </p:cNvPr>
          <p:cNvSpPr/>
          <p:nvPr userDrawn="1"/>
        </p:nvSpPr>
        <p:spPr>
          <a:xfrm>
            <a:off x="5582203" y="-1"/>
            <a:ext cx="6665233" cy="6858000"/>
          </a:xfrm>
          <a:prstGeom prst="rect">
            <a:avLst/>
          </a:prstGeom>
          <a:solidFill>
            <a:schemeClr val="accent2">
              <a:alpha val="73000"/>
            </a:schemeClr>
          </a:solidFill>
          <a:ln w="12700">
            <a:noFill/>
            <a:prstDash val="solid"/>
          </a:ln>
        </p:spPr>
        <p:txBody>
          <a:bodyPr/>
          <a:lstStyle/>
          <a:p>
            <a:endParaRPr lang="en-US" dirty="0"/>
          </a:p>
        </p:txBody>
      </p:sp>
    </p:spTree>
    <p:extLst>
      <p:ext uri="{BB962C8B-B14F-4D97-AF65-F5344CB8AC3E}">
        <p14:creationId xmlns:p14="http://schemas.microsoft.com/office/powerpoint/2010/main" val="3103001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5FF2866-94E7-C1C8-4A38-C2FDCEED850B}"/>
              </a:ext>
            </a:extLst>
          </p:cNvPr>
          <p:cNvSpPr>
            <a:spLocks noGrp="1"/>
          </p:cNvSpPr>
          <p:nvPr>
            <p:ph type="dt" sz="half" idx="10"/>
          </p:nvPr>
        </p:nvSpPr>
        <p:spPr/>
        <p:txBody>
          <a:bodyPr/>
          <a:lstStyle/>
          <a:p>
            <a:fld id="{8E4C6D2F-9698-4AD1-AF61-FBB014564687}" type="datetimeFigureOut">
              <a:rPr lang="en-ID" smtClean="0"/>
              <a:t>13/10/2026</a:t>
            </a:fld>
            <a:endParaRPr lang="en-ID"/>
          </a:p>
        </p:txBody>
      </p:sp>
      <p:sp>
        <p:nvSpPr>
          <p:cNvPr id="5" name="Footer Placeholder 4">
            <a:extLst>
              <a:ext uri="{FF2B5EF4-FFF2-40B4-BE49-F238E27FC236}">
                <a16:creationId xmlns:a16="http://schemas.microsoft.com/office/drawing/2014/main" id="{5DF2C1CE-8E82-46B7-D534-3FC109F7B026}"/>
              </a:ext>
            </a:extLst>
          </p:cNvPr>
          <p:cNvSpPr>
            <a:spLocks noGrp="1"/>
          </p:cNvSpPr>
          <p:nvPr>
            <p:ph type="ftr" sz="quarter" idx="11"/>
          </p:nvPr>
        </p:nvSpPr>
        <p:spPr/>
        <p:txBody>
          <a:bodyPr/>
          <a:lstStyle/>
          <a:p>
            <a:endParaRPr lang="en-ID"/>
          </a:p>
        </p:txBody>
      </p:sp>
      <p:pic>
        <p:nvPicPr>
          <p:cNvPr id="9" name="Picture 8">
            <a:extLst>
              <a:ext uri="{FF2B5EF4-FFF2-40B4-BE49-F238E27FC236}">
                <a16:creationId xmlns:a16="http://schemas.microsoft.com/office/drawing/2014/main" id="{D4842748-918B-C561-5F21-0712AD1B92F4}"/>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rcRect/>
          <a:stretch/>
        </p:blipFill>
        <p:spPr>
          <a:xfrm>
            <a:off x="0" y="1"/>
            <a:ext cx="12192000" cy="6858000"/>
          </a:xfrm>
          <a:prstGeom prst="rect">
            <a:avLst/>
          </a:prstGeom>
          <a:solidFill>
            <a:srgbClr val="E55200">
              <a:alpha val="50000"/>
            </a:srgbClr>
          </a:solidFill>
        </p:spPr>
      </p:pic>
      <p:pic>
        <p:nvPicPr>
          <p:cNvPr id="3" name="Google Shape;74;p15" title="SLIDE PRESENTATION.jpg">
            <a:extLst>
              <a:ext uri="{FF2B5EF4-FFF2-40B4-BE49-F238E27FC236}">
                <a16:creationId xmlns:a16="http://schemas.microsoft.com/office/drawing/2014/main" id="{6B3917FB-146A-4BE3-4EFA-E7E0A7361396}"/>
              </a:ext>
            </a:extLst>
          </p:cNvPr>
          <p:cNvPicPr preferRelativeResize="0"/>
          <p:nvPr userDrawn="1"/>
        </p:nvPicPr>
        <p:blipFill rotWithShape="1">
          <a:blip r:embed="rId3">
            <a:alphaModFix/>
          </a:blip>
          <a:srcRect r="40937"/>
          <a:stretch>
            <a:fillRect/>
          </a:stretch>
        </p:blipFill>
        <p:spPr>
          <a:xfrm>
            <a:off x="0" y="0"/>
            <a:ext cx="6721450" cy="6851252"/>
          </a:xfrm>
          <a:prstGeom prst="rect">
            <a:avLst/>
          </a:prstGeom>
          <a:noFill/>
          <a:ln>
            <a:noFill/>
          </a:ln>
        </p:spPr>
      </p:pic>
      <p:pic>
        <p:nvPicPr>
          <p:cNvPr id="7" name="Google Shape;74;p15" title="SLIDE PRESENTATION.jpg">
            <a:extLst>
              <a:ext uri="{FF2B5EF4-FFF2-40B4-BE49-F238E27FC236}">
                <a16:creationId xmlns:a16="http://schemas.microsoft.com/office/drawing/2014/main" id="{16BF28E8-C1B5-29FB-A6F2-4CDCA0816038}"/>
              </a:ext>
            </a:extLst>
          </p:cNvPr>
          <p:cNvPicPr preferRelativeResize="0"/>
          <p:nvPr userDrawn="1"/>
        </p:nvPicPr>
        <p:blipFill rotWithShape="1">
          <a:blip r:embed="rId3">
            <a:alphaModFix amt="60000"/>
          </a:blip>
          <a:srcRect r="40937"/>
          <a:stretch>
            <a:fillRect/>
          </a:stretch>
        </p:blipFill>
        <p:spPr>
          <a:xfrm>
            <a:off x="5093003" y="6748"/>
            <a:ext cx="7098997" cy="6851252"/>
          </a:xfrm>
          <a:prstGeom prst="rect">
            <a:avLst/>
          </a:prstGeom>
          <a:noFill/>
          <a:ln>
            <a:noFill/>
          </a:ln>
        </p:spPr>
      </p:pic>
      <p:grpSp>
        <p:nvGrpSpPr>
          <p:cNvPr id="22" name="Group 21">
            <a:extLst>
              <a:ext uri="{FF2B5EF4-FFF2-40B4-BE49-F238E27FC236}">
                <a16:creationId xmlns:a16="http://schemas.microsoft.com/office/drawing/2014/main" id="{DD22AB22-B432-FDF1-463A-431E2553CAAD}"/>
              </a:ext>
            </a:extLst>
          </p:cNvPr>
          <p:cNvGrpSpPr/>
          <p:nvPr userDrawn="1"/>
        </p:nvGrpSpPr>
        <p:grpSpPr>
          <a:xfrm>
            <a:off x="-5446" y="6110507"/>
            <a:ext cx="764931" cy="2048608"/>
            <a:chOff x="0" y="0"/>
            <a:chExt cx="764931" cy="2048608"/>
          </a:xfrm>
        </p:grpSpPr>
        <p:pic>
          <p:nvPicPr>
            <p:cNvPr id="23" name="Picture 22">
              <a:extLst>
                <a:ext uri="{FF2B5EF4-FFF2-40B4-BE49-F238E27FC236}">
                  <a16:creationId xmlns:a16="http://schemas.microsoft.com/office/drawing/2014/main" id="{5EE58D1C-A22A-9239-76A3-3E7F6F8D08A8}"/>
                </a:ext>
              </a:extLst>
            </p:cNvPr>
            <p:cNvPicPr>
              <a:picLocks noChangeAspect="1"/>
            </p:cNvPicPr>
            <p:nvPr userDrawn="1"/>
          </p:nvPicPr>
          <p:blipFill>
            <a:blip r:embed="rId4">
              <a:alphaModFix amt="7000"/>
              <a:lum bright="70000" contrast="-70000"/>
            </a:blip>
            <a:stretch>
              <a:fillRect/>
            </a:stretch>
          </p:blipFill>
          <p:spPr>
            <a:xfrm rot="16200000">
              <a:off x="35169" y="0"/>
              <a:ext cx="668215" cy="668215"/>
            </a:xfrm>
            <a:prstGeom prst="rect">
              <a:avLst/>
            </a:prstGeom>
          </p:spPr>
        </p:pic>
        <p:pic>
          <p:nvPicPr>
            <p:cNvPr id="24" name="Picture 23">
              <a:extLst>
                <a:ext uri="{FF2B5EF4-FFF2-40B4-BE49-F238E27FC236}">
                  <a16:creationId xmlns:a16="http://schemas.microsoft.com/office/drawing/2014/main" id="{B5689A37-6C0F-0762-0D39-38AF37529F37}"/>
                </a:ext>
              </a:extLst>
            </p:cNvPr>
            <p:cNvPicPr>
              <a:picLocks noChangeAspect="1"/>
            </p:cNvPicPr>
            <p:nvPr userDrawn="1"/>
          </p:nvPicPr>
          <p:blipFill>
            <a:blip r:embed="rId5">
              <a:alphaModFix amt="7000"/>
              <a:lum bright="70000" contrast="-70000"/>
            </a:blip>
            <a:stretch>
              <a:fillRect/>
            </a:stretch>
          </p:blipFill>
          <p:spPr>
            <a:xfrm>
              <a:off x="35169" y="650631"/>
              <a:ext cx="668215" cy="668215"/>
            </a:xfrm>
            <a:prstGeom prst="rect">
              <a:avLst/>
            </a:prstGeom>
          </p:spPr>
        </p:pic>
        <p:pic>
          <p:nvPicPr>
            <p:cNvPr id="25" name="Picture 24">
              <a:extLst>
                <a:ext uri="{FF2B5EF4-FFF2-40B4-BE49-F238E27FC236}">
                  <a16:creationId xmlns:a16="http://schemas.microsoft.com/office/drawing/2014/main" id="{51776207-A701-C8D0-63B8-DD483AF0AD0F}"/>
                </a:ext>
              </a:extLst>
            </p:cNvPr>
            <p:cNvPicPr>
              <a:picLocks noChangeAspect="1"/>
            </p:cNvPicPr>
            <p:nvPr userDrawn="1"/>
          </p:nvPicPr>
          <p:blipFill>
            <a:blip r:embed="rId6">
              <a:alphaModFix amt="7000"/>
              <a:lum bright="70000" contrast="-70000"/>
            </a:blip>
            <a:stretch>
              <a:fillRect/>
            </a:stretch>
          </p:blipFill>
          <p:spPr>
            <a:xfrm>
              <a:off x="0" y="1318846"/>
              <a:ext cx="764931" cy="729762"/>
            </a:xfrm>
            <a:prstGeom prst="rect">
              <a:avLst/>
            </a:prstGeom>
          </p:spPr>
        </p:pic>
      </p:grpSp>
      <p:pic>
        <p:nvPicPr>
          <p:cNvPr id="2" name="Google Shape;76;p15" title="LOGO PRIMER - Putih Orange  Putih.png">
            <a:extLst>
              <a:ext uri="{FF2B5EF4-FFF2-40B4-BE49-F238E27FC236}">
                <a16:creationId xmlns:a16="http://schemas.microsoft.com/office/drawing/2014/main" id="{60440AB2-883E-394A-BE69-1E1A7B0DE1D1}"/>
              </a:ext>
            </a:extLst>
          </p:cNvPr>
          <p:cNvPicPr preferRelativeResize="0"/>
          <p:nvPr userDrawn="1"/>
        </p:nvPicPr>
        <p:blipFill rotWithShape="1">
          <a:blip r:embed="rId7">
            <a:alphaModFix/>
          </a:blip>
          <a:srcRect/>
          <a:stretch/>
        </p:blipFill>
        <p:spPr>
          <a:xfrm>
            <a:off x="498848" y="260942"/>
            <a:ext cx="1441109" cy="598815"/>
          </a:xfrm>
          <a:prstGeom prst="rect">
            <a:avLst/>
          </a:prstGeom>
          <a:noFill/>
          <a:ln>
            <a:noFill/>
          </a:ln>
        </p:spPr>
      </p:pic>
      <p:pic>
        <p:nvPicPr>
          <p:cNvPr id="44" name="Google Shape;74;p15" title="SLIDE PRESENTATION.jpg">
            <a:extLst>
              <a:ext uri="{FF2B5EF4-FFF2-40B4-BE49-F238E27FC236}">
                <a16:creationId xmlns:a16="http://schemas.microsoft.com/office/drawing/2014/main" id="{9D75AF92-D9E3-05B6-65CF-B56D9F7B553A}"/>
              </a:ext>
            </a:extLst>
          </p:cNvPr>
          <p:cNvPicPr preferRelativeResize="0"/>
          <p:nvPr userDrawn="1"/>
        </p:nvPicPr>
        <p:blipFill rotWithShape="1">
          <a:blip r:embed="rId3">
            <a:alphaModFix amt="8000"/>
          </a:blip>
          <a:srcRect r="40937"/>
          <a:stretch>
            <a:fillRect/>
          </a:stretch>
        </p:blipFill>
        <p:spPr>
          <a:xfrm>
            <a:off x="-35169" y="1319321"/>
            <a:ext cx="12192000" cy="6851252"/>
          </a:xfrm>
          <a:prstGeom prst="rect">
            <a:avLst/>
          </a:prstGeom>
          <a:noFill/>
          <a:ln>
            <a:noFill/>
          </a:ln>
        </p:spPr>
      </p:pic>
      <p:sp>
        <p:nvSpPr>
          <p:cNvPr id="82" name="Google Shape;55;p13">
            <a:extLst>
              <a:ext uri="{FF2B5EF4-FFF2-40B4-BE49-F238E27FC236}">
                <a16:creationId xmlns:a16="http://schemas.microsoft.com/office/drawing/2014/main" id="{49E35351-D61F-00CE-1024-635B3A49AF4B}"/>
              </a:ext>
            </a:extLst>
          </p:cNvPr>
          <p:cNvSpPr txBox="1"/>
          <p:nvPr userDrawn="1"/>
        </p:nvSpPr>
        <p:spPr>
          <a:xfrm>
            <a:off x="377019" y="1882562"/>
            <a:ext cx="5879960" cy="1493706"/>
          </a:xfrm>
          <a:prstGeom prst="rect">
            <a:avLst/>
          </a:prstGeom>
          <a:solidFill>
            <a:schemeClr val="accent2">
              <a:alpha val="0"/>
            </a:schemeClr>
          </a:solidFill>
          <a:ln>
            <a:noFill/>
          </a:ln>
        </p:spPr>
        <p:txBody>
          <a:bodyPr spcFirstLastPara="1" wrap="square" lIns="121900" tIns="121900" rIns="121900" bIns="121900" anchor="t" anchorCtr="0">
            <a:noAutofit/>
          </a:bodyPr>
          <a:lstStyle/>
          <a:p>
            <a:r>
              <a:rPr lang="en" sz="6000" dirty="0">
                <a:solidFill>
                  <a:schemeClr val="bg1"/>
                </a:solidFill>
                <a:latin typeface="Work Sans Medium" pitchFamily="2" charset="0"/>
                <a:ea typeface="Inter"/>
                <a:cs typeface="Inter"/>
                <a:sym typeface="Inter"/>
              </a:rPr>
              <a:t>THANK YOU!</a:t>
            </a:r>
            <a:endParaRPr sz="6000" dirty="0">
              <a:solidFill>
                <a:schemeClr val="bg1"/>
              </a:solidFill>
              <a:latin typeface="Work Sans Medium" pitchFamily="2" charset="0"/>
              <a:ea typeface="Inter"/>
              <a:cs typeface="Inter"/>
              <a:sym typeface="Inter"/>
            </a:endParaRPr>
          </a:p>
        </p:txBody>
      </p:sp>
      <p:sp>
        <p:nvSpPr>
          <p:cNvPr id="84" name="TextBox 83">
            <a:extLst>
              <a:ext uri="{FF2B5EF4-FFF2-40B4-BE49-F238E27FC236}">
                <a16:creationId xmlns:a16="http://schemas.microsoft.com/office/drawing/2014/main" id="{53DBCFCF-64B2-504F-6BE5-689A81EF8CC2}"/>
              </a:ext>
            </a:extLst>
          </p:cNvPr>
          <p:cNvSpPr txBox="1"/>
          <p:nvPr userDrawn="1"/>
        </p:nvSpPr>
        <p:spPr>
          <a:xfrm>
            <a:off x="398778" y="6170797"/>
            <a:ext cx="6409646" cy="5078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The information contained in these documents is confidential, privileged and only for the information of the intended recipient and may not be used, published or redistributed without the prior written consent of PT </a:t>
            </a:r>
            <a:r>
              <a:rPr kumimoji="0" lang="en-US" sz="900" b="0" i="0" u="none" strike="noStrike" kern="1200" cap="none" spc="0" normalizeH="0" baseline="0" noProof="0" dirty="0" err="1">
                <a:ln>
                  <a:noFill/>
                </a:ln>
                <a:solidFill>
                  <a:schemeClr val="bg1">
                    <a:lumMod val="95000"/>
                  </a:schemeClr>
                </a:solidFill>
                <a:effectLst/>
                <a:uLnTx/>
                <a:uFillTx/>
                <a:latin typeface="Arial" panose="020B0604020202020204" pitchFamily="34" charset="0"/>
                <a:ea typeface="+mn-ea"/>
                <a:cs typeface="Arial" panose="020B0604020202020204" pitchFamily="34" charset="0"/>
              </a:rPr>
              <a:t>Triatra</a:t>
            </a:r>
            <a:r>
              <a:rPr kumimoji="0" lang="en-US"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a:t>
            </a:r>
            <a:r>
              <a:rPr kumimoji="0" lang="en-US" sz="900" b="0" i="0" u="none" strike="noStrike" kern="1200" cap="none" spc="0" normalizeH="0" baseline="0" noProof="0" dirty="0" err="1">
                <a:ln>
                  <a:noFill/>
                </a:ln>
                <a:solidFill>
                  <a:schemeClr val="bg1">
                    <a:lumMod val="95000"/>
                  </a:schemeClr>
                </a:solidFill>
                <a:effectLst/>
                <a:uLnTx/>
                <a:uFillTx/>
                <a:latin typeface="Arial" panose="020B0604020202020204" pitchFamily="34" charset="0"/>
                <a:ea typeface="+mn-ea"/>
                <a:cs typeface="Arial" panose="020B0604020202020204" pitchFamily="34" charset="0"/>
              </a:rPr>
              <a:t>Sinergia</a:t>
            </a:r>
            <a:r>
              <a:rPr kumimoji="0" lang="en-US"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Pratama.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2026 PT </a:t>
            </a:r>
            <a:r>
              <a:rPr kumimoji="0" lang="en-ID" sz="900" b="0" i="0" u="none" strike="noStrike" kern="1200" cap="none" spc="0" normalizeH="0" baseline="0" noProof="0" dirty="0" err="1">
                <a:ln>
                  <a:noFill/>
                </a:ln>
                <a:solidFill>
                  <a:schemeClr val="bg1">
                    <a:lumMod val="95000"/>
                  </a:schemeClr>
                </a:solidFill>
                <a:effectLst/>
                <a:uLnTx/>
                <a:uFillTx/>
                <a:latin typeface="Arial" panose="020B0604020202020204" pitchFamily="34" charset="0"/>
                <a:ea typeface="+mn-ea"/>
                <a:cs typeface="Arial" panose="020B0604020202020204" pitchFamily="34" charset="0"/>
              </a:rPr>
              <a:t>Triatra</a:t>
            </a:r>
            <a:r>
              <a:rPr kumimoji="0" lang="en-ID"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a:t>
            </a:r>
            <a:r>
              <a:rPr kumimoji="0" lang="en-ID" sz="900" b="0" i="0" u="none" strike="noStrike" kern="1200" cap="none" spc="0" normalizeH="0" baseline="0" noProof="0" dirty="0" err="1">
                <a:ln>
                  <a:noFill/>
                </a:ln>
                <a:solidFill>
                  <a:schemeClr val="bg1">
                    <a:lumMod val="95000"/>
                  </a:schemeClr>
                </a:solidFill>
                <a:effectLst/>
                <a:uLnTx/>
                <a:uFillTx/>
                <a:latin typeface="Arial" panose="020B0604020202020204" pitchFamily="34" charset="0"/>
                <a:ea typeface="+mn-ea"/>
                <a:cs typeface="Arial" panose="020B0604020202020204" pitchFamily="34" charset="0"/>
              </a:rPr>
              <a:t>Sinergia</a:t>
            </a:r>
            <a:r>
              <a:rPr kumimoji="0" lang="en-ID"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Pratama. All Rights Reserved.</a:t>
            </a:r>
          </a:p>
        </p:txBody>
      </p:sp>
      <p:sp>
        <p:nvSpPr>
          <p:cNvPr id="6" name="Rectangle 5">
            <a:extLst>
              <a:ext uri="{FF2B5EF4-FFF2-40B4-BE49-F238E27FC236}">
                <a16:creationId xmlns:a16="http://schemas.microsoft.com/office/drawing/2014/main" id="{1A9B960B-2CDC-3630-D927-309127095BB8}"/>
              </a:ext>
            </a:extLst>
          </p:cNvPr>
          <p:cNvSpPr/>
          <p:nvPr userDrawn="1"/>
        </p:nvSpPr>
        <p:spPr>
          <a:xfrm>
            <a:off x="398778" y="4423932"/>
            <a:ext cx="6280101" cy="13610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latin typeface="Arial" panose="020B0604020202020204" pitchFamily="34" charset="0"/>
                <a:cs typeface="Arial" panose="020B0604020202020204" pitchFamily="34" charset="0"/>
              </a:rPr>
              <a:t>Prepared by:</a:t>
            </a:r>
          </a:p>
          <a:p>
            <a:r>
              <a:rPr lang="en-US" sz="1200" dirty="0">
                <a:solidFill>
                  <a:schemeClr val="bg1"/>
                </a:solidFill>
                <a:latin typeface="Arial" panose="020B0604020202020204" pitchFamily="34" charset="0"/>
                <a:cs typeface="Arial" panose="020B0604020202020204" pitchFamily="34" charset="0"/>
              </a:rPr>
              <a:t>Tiberias K. Simu – Marketing Strategic 2 Associate</a:t>
            </a:r>
          </a:p>
          <a:p>
            <a:r>
              <a:rPr lang="en-US" sz="1200" dirty="0">
                <a:solidFill>
                  <a:schemeClr val="bg1"/>
                </a:solidFill>
                <a:latin typeface="Arial" panose="020B0604020202020204" pitchFamily="34" charset="0"/>
                <a:cs typeface="Arial" panose="020B0604020202020204" pitchFamily="34" charset="0"/>
              </a:rPr>
              <a:t>Department of Strategic Marketing 2</a:t>
            </a:r>
          </a:p>
          <a:p>
            <a:r>
              <a:rPr lang="en-ID" sz="1200" dirty="0">
                <a:solidFill>
                  <a:schemeClr val="bg1"/>
                </a:solidFill>
                <a:latin typeface="Arial" panose="020B0604020202020204" pitchFamily="34" charset="0"/>
                <a:ea typeface="Source Sans Pro" panose="020B0503030403020204" pitchFamily="34" charset="0"/>
                <a:cs typeface="Arial" panose="020B0604020202020204" pitchFamily="34" charset="0"/>
              </a:rPr>
              <a:t>Marketing Unit &amp; Strategic Division</a:t>
            </a:r>
          </a:p>
          <a:p>
            <a:r>
              <a:rPr lang="en-ID"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PT </a:t>
            </a:r>
            <a:r>
              <a:rPr lang="en-US" sz="1200" b="1" dirty="0" err="1">
                <a:solidFill>
                  <a:schemeClr val="bg1"/>
                </a:solidFill>
                <a:latin typeface="Arial" panose="020B0604020202020204" pitchFamily="34" charset="0"/>
                <a:ea typeface="Source Sans Pro" panose="020B0503030403020204" pitchFamily="34" charset="0"/>
                <a:cs typeface="Arial" panose="020B0604020202020204" pitchFamily="34" charset="0"/>
              </a:rPr>
              <a:t>Triatra</a:t>
            </a:r>
            <a:r>
              <a:rPr lang="en-US"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 </a:t>
            </a:r>
            <a:r>
              <a:rPr lang="en-US" sz="1200" b="1" dirty="0" err="1">
                <a:solidFill>
                  <a:schemeClr val="bg1"/>
                </a:solidFill>
                <a:latin typeface="Arial" panose="020B0604020202020204" pitchFamily="34" charset="0"/>
                <a:ea typeface="Source Sans Pro" panose="020B0503030403020204" pitchFamily="34" charset="0"/>
                <a:cs typeface="Arial" panose="020B0604020202020204" pitchFamily="34" charset="0"/>
              </a:rPr>
              <a:t>Sinergia</a:t>
            </a:r>
            <a:r>
              <a:rPr lang="en-US"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 Pratama, a Subsidiary of PT United Tractors Pandu Engineering</a:t>
            </a:r>
            <a:endParaRPr lang="en-ID" sz="1200" b="1" dirty="0">
              <a:solidFill>
                <a:schemeClr val="bg1"/>
              </a:solidFill>
              <a:latin typeface="Arial" panose="020B0604020202020204" pitchFamily="34" charset="0"/>
              <a:ea typeface="Source Sans Pro" panose="020B0503030403020204" pitchFamily="34" charset="0"/>
              <a:cs typeface="Arial" panose="020B0604020202020204" pitchFamily="34" charset="0"/>
            </a:endParaRPr>
          </a:p>
        </p:txBody>
      </p:sp>
    </p:spTree>
    <p:extLst>
      <p:ext uri="{BB962C8B-B14F-4D97-AF65-F5344CB8AC3E}">
        <p14:creationId xmlns:p14="http://schemas.microsoft.com/office/powerpoint/2010/main" val="2598682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5FF2866-94E7-C1C8-4A38-C2FDCEED850B}"/>
              </a:ext>
            </a:extLst>
          </p:cNvPr>
          <p:cNvSpPr>
            <a:spLocks noGrp="1"/>
          </p:cNvSpPr>
          <p:nvPr>
            <p:ph type="dt" sz="half" idx="10"/>
          </p:nvPr>
        </p:nvSpPr>
        <p:spPr/>
        <p:txBody>
          <a:bodyPr/>
          <a:lstStyle/>
          <a:p>
            <a:fld id="{8E4C6D2F-9698-4AD1-AF61-FBB014564687}" type="datetimeFigureOut">
              <a:rPr lang="en-ID" smtClean="0"/>
              <a:t>13/10/2026</a:t>
            </a:fld>
            <a:endParaRPr lang="en-ID"/>
          </a:p>
        </p:txBody>
      </p:sp>
      <p:sp>
        <p:nvSpPr>
          <p:cNvPr id="5" name="Footer Placeholder 4">
            <a:extLst>
              <a:ext uri="{FF2B5EF4-FFF2-40B4-BE49-F238E27FC236}">
                <a16:creationId xmlns:a16="http://schemas.microsoft.com/office/drawing/2014/main" id="{5DF2C1CE-8E82-46B7-D534-3FC109F7B02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B969EF7-1241-FC4F-B5EA-256D849AE8C8}"/>
              </a:ext>
            </a:extLst>
          </p:cNvPr>
          <p:cNvSpPr>
            <a:spLocks noGrp="1"/>
          </p:cNvSpPr>
          <p:nvPr>
            <p:ph type="sldNum" sz="quarter" idx="12"/>
          </p:nvPr>
        </p:nvSpPr>
        <p:spPr/>
        <p:txBody>
          <a:bodyPr/>
          <a:lstStyle/>
          <a:p>
            <a:fld id="{BCCC4FA6-9004-4589-A030-2821D7950F2E}" type="slidenum">
              <a:rPr lang="en-ID" smtClean="0"/>
              <a:t>‹#›</a:t>
            </a:fld>
            <a:endParaRPr lang="en-ID"/>
          </a:p>
        </p:txBody>
      </p:sp>
      <p:pic>
        <p:nvPicPr>
          <p:cNvPr id="9" name="Picture 8">
            <a:extLst>
              <a:ext uri="{FF2B5EF4-FFF2-40B4-BE49-F238E27FC236}">
                <a16:creationId xmlns:a16="http://schemas.microsoft.com/office/drawing/2014/main" id="{D4842748-918B-C561-5F21-0712AD1B92F4}"/>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rcRect/>
          <a:stretch/>
        </p:blipFill>
        <p:spPr>
          <a:xfrm>
            <a:off x="0" y="1"/>
            <a:ext cx="12192000" cy="6858000"/>
          </a:xfrm>
          <a:prstGeom prst="rect">
            <a:avLst/>
          </a:prstGeom>
          <a:solidFill>
            <a:srgbClr val="E55200">
              <a:alpha val="50000"/>
            </a:srgbClr>
          </a:solidFill>
        </p:spPr>
      </p:pic>
      <p:sp>
        <p:nvSpPr>
          <p:cNvPr id="11" name="Oval 10">
            <a:extLst>
              <a:ext uri="{FF2B5EF4-FFF2-40B4-BE49-F238E27FC236}">
                <a16:creationId xmlns:a16="http://schemas.microsoft.com/office/drawing/2014/main" id="{D00AEF3E-994E-1C2D-74AD-B6F318146263}"/>
              </a:ext>
            </a:extLst>
          </p:cNvPr>
          <p:cNvSpPr/>
          <p:nvPr userDrawn="1"/>
        </p:nvSpPr>
        <p:spPr>
          <a:xfrm>
            <a:off x="11458936" y="6194922"/>
            <a:ext cx="497711" cy="533292"/>
          </a:xfrm>
          <a:prstGeom prst="ellipse">
            <a:avLst/>
          </a:prstGeom>
          <a:solidFill>
            <a:srgbClr val="E6A2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 name="Google Shape;74;p15" title="SLIDE PRESENTATION.jpg">
            <a:extLst>
              <a:ext uri="{FF2B5EF4-FFF2-40B4-BE49-F238E27FC236}">
                <a16:creationId xmlns:a16="http://schemas.microsoft.com/office/drawing/2014/main" id="{AAAD229F-1BE5-C564-C821-B5C5DE0D70BB}"/>
              </a:ext>
            </a:extLst>
          </p:cNvPr>
          <p:cNvPicPr preferRelativeResize="0"/>
          <p:nvPr userDrawn="1"/>
        </p:nvPicPr>
        <p:blipFill rotWithShape="1">
          <a:blip r:embed="rId3">
            <a:alphaModFix amt="8000"/>
          </a:blip>
          <a:srcRect r="40937"/>
          <a:stretch>
            <a:fillRect/>
          </a:stretch>
        </p:blipFill>
        <p:spPr>
          <a:xfrm>
            <a:off x="0" y="6748"/>
            <a:ext cx="12192000" cy="6851252"/>
          </a:xfrm>
          <a:prstGeom prst="rect">
            <a:avLst/>
          </a:prstGeom>
          <a:noFill/>
          <a:ln>
            <a:noFill/>
          </a:ln>
        </p:spPr>
      </p:pic>
      <p:sp>
        <p:nvSpPr>
          <p:cNvPr id="3" name="Slide Number Placeholder 5">
            <a:extLst>
              <a:ext uri="{FF2B5EF4-FFF2-40B4-BE49-F238E27FC236}">
                <a16:creationId xmlns:a16="http://schemas.microsoft.com/office/drawing/2014/main" id="{D496A6E8-41DA-2005-893F-9E495EAC19AD}"/>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sp>
        <p:nvSpPr>
          <p:cNvPr id="7" name="Oval 6">
            <a:extLst>
              <a:ext uri="{FF2B5EF4-FFF2-40B4-BE49-F238E27FC236}">
                <a16:creationId xmlns:a16="http://schemas.microsoft.com/office/drawing/2014/main" id="{430D4A1C-7105-A6E9-27DD-D561668804B5}"/>
              </a:ext>
            </a:extLst>
          </p:cNvPr>
          <p:cNvSpPr/>
          <p:nvPr userDrawn="1"/>
        </p:nvSpPr>
        <p:spPr>
          <a:xfrm>
            <a:off x="11458936" y="6194922"/>
            <a:ext cx="497711" cy="533292"/>
          </a:xfrm>
          <a:prstGeom prst="ellipse">
            <a:avLst/>
          </a:prstGeom>
          <a:solidFill>
            <a:srgbClr val="E6A2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a16="http://schemas.microsoft.com/office/drawing/2014/main" id="{C4DEB250-BA04-38A5-EDD7-45527DF724F3}"/>
              </a:ext>
            </a:extLst>
          </p:cNvPr>
          <p:cNvPicPr>
            <a:picLocks noChangeAspect="1"/>
          </p:cNvPicPr>
          <p:nvPr userDrawn="1"/>
        </p:nvPicPr>
        <p:blipFill>
          <a:blip r:embed="rId4">
            <a:alphaModFix amt="2000"/>
          </a:blip>
          <a:srcRect l="5856" t="-37" r="5400" b="645"/>
          <a:stretch/>
        </p:blipFill>
        <p:spPr>
          <a:xfrm>
            <a:off x="11488616" y="1329682"/>
            <a:ext cx="668215" cy="748400"/>
          </a:xfrm>
          <a:prstGeom prst="rect">
            <a:avLst/>
          </a:prstGeom>
        </p:spPr>
      </p:pic>
      <p:pic>
        <p:nvPicPr>
          <p:cNvPr id="10" name="Picture 9">
            <a:extLst>
              <a:ext uri="{FF2B5EF4-FFF2-40B4-BE49-F238E27FC236}">
                <a16:creationId xmlns:a16="http://schemas.microsoft.com/office/drawing/2014/main" id="{8C32AA0F-E2B0-A1C1-4DDA-0C1E6C58375E}"/>
              </a:ext>
            </a:extLst>
          </p:cNvPr>
          <p:cNvPicPr>
            <a:picLocks noChangeAspect="1"/>
          </p:cNvPicPr>
          <p:nvPr userDrawn="1"/>
        </p:nvPicPr>
        <p:blipFill>
          <a:blip r:embed="rId5">
            <a:alphaModFix amt="30000"/>
          </a:blip>
          <a:stretch>
            <a:fillRect/>
          </a:stretch>
        </p:blipFill>
        <p:spPr>
          <a:xfrm>
            <a:off x="11413707" y="700074"/>
            <a:ext cx="695378" cy="668215"/>
          </a:xfrm>
          <a:prstGeom prst="rect">
            <a:avLst/>
          </a:prstGeom>
        </p:spPr>
      </p:pic>
      <p:pic>
        <p:nvPicPr>
          <p:cNvPr id="12" name="Picture 11">
            <a:extLst>
              <a:ext uri="{FF2B5EF4-FFF2-40B4-BE49-F238E27FC236}">
                <a16:creationId xmlns:a16="http://schemas.microsoft.com/office/drawing/2014/main" id="{2B788642-733D-6C62-2AE0-A75AFF281334}"/>
              </a:ext>
            </a:extLst>
          </p:cNvPr>
          <p:cNvPicPr>
            <a:picLocks noChangeAspect="1"/>
          </p:cNvPicPr>
          <p:nvPr userDrawn="1"/>
        </p:nvPicPr>
        <p:blipFill>
          <a:blip r:embed="rId6">
            <a:alphaModFix amt="10000"/>
            <a:extLst>
              <a:ext uri="{28A0092B-C50C-407E-A947-70E740481C1C}">
                <a14:useLocalDpi xmlns:a14="http://schemas.microsoft.com/office/drawing/2010/main" val="0"/>
              </a:ext>
            </a:extLst>
          </a:blip>
          <a:srcRect/>
          <a:stretch/>
        </p:blipFill>
        <p:spPr>
          <a:xfrm flipH="1">
            <a:off x="11423896" y="31859"/>
            <a:ext cx="668215" cy="668215"/>
          </a:xfrm>
          <a:prstGeom prst="rect">
            <a:avLst/>
          </a:prstGeom>
        </p:spPr>
      </p:pic>
      <p:pic>
        <p:nvPicPr>
          <p:cNvPr id="13" name="Picture 12">
            <a:extLst>
              <a:ext uri="{FF2B5EF4-FFF2-40B4-BE49-F238E27FC236}">
                <a16:creationId xmlns:a16="http://schemas.microsoft.com/office/drawing/2014/main" id="{3AFC186C-2309-F4EA-4837-8EF13B3E7A11}"/>
              </a:ext>
            </a:extLst>
          </p:cNvPr>
          <p:cNvPicPr>
            <a:picLocks noChangeAspect="1"/>
          </p:cNvPicPr>
          <p:nvPr userDrawn="1"/>
        </p:nvPicPr>
        <p:blipFill>
          <a:blip r:embed="rId4">
            <a:alphaModFix amt="30000"/>
          </a:blip>
          <a:srcRect l="5856" t="-37" r="5400" b="645"/>
          <a:stretch/>
        </p:blipFill>
        <p:spPr>
          <a:xfrm>
            <a:off x="10728518" y="706822"/>
            <a:ext cx="668215" cy="748400"/>
          </a:xfrm>
          <a:prstGeom prst="rect">
            <a:avLst/>
          </a:prstGeom>
        </p:spPr>
      </p:pic>
      <p:pic>
        <p:nvPicPr>
          <p:cNvPr id="14" name="Picture 13">
            <a:extLst>
              <a:ext uri="{FF2B5EF4-FFF2-40B4-BE49-F238E27FC236}">
                <a16:creationId xmlns:a16="http://schemas.microsoft.com/office/drawing/2014/main" id="{115A49D5-365A-16FE-5713-2C9BF012B8EF}"/>
              </a:ext>
            </a:extLst>
          </p:cNvPr>
          <p:cNvPicPr>
            <a:picLocks noChangeAspect="1"/>
          </p:cNvPicPr>
          <p:nvPr userDrawn="1"/>
        </p:nvPicPr>
        <p:blipFill>
          <a:blip r:embed="rId5">
            <a:alphaModFix amt="6000"/>
          </a:blip>
          <a:stretch>
            <a:fillRect/>
          </a:stretch>
        </p:blipFill>
        <p:spPr>
          <a:xfrm>
            <a:off x="10728518" y="38607"/>
            <a:ext cx="695378" cy="668215"/>
          </a:xfrm>
          <a:prstGeom prst="rect">
            <a:avLst/>
          </a:prstGeom>
        </p:spPr>
      </p:pic>
      <p:pic>
        <p:nvPicPr>
          <p:cNvPr id="15" name="Picture 14">
            <a:extLst>
              <a:ext uri="{FF2B5EF4-FFF2-40B4-BE49-F238E27FC236}">
                <a16:creationId xmlns:a16="http://schemas.microsoft.com/office/drawing/2014/main" id="{825C62C2-1D43-4DF9-E1EC-52FCF3EAC0A8}"/>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810893" y="1371556"/>
            <a:ext cx="668215" cy="668215"/>
          </a:xfrm>
          <a:prstGeom prst="rect">
            <a:avLst/>
          </a:prstGeom>
        </p:spPr>
      </p:pic>
      <p:pic>
        <p:nvPicPr>
          <p:cNvPr id="16" name="Picture 15">
            <a:extLst>
              <a:ext uri="{FF2B5EF4-FFF2-40B4-BE49-F238E27FC236}">
                <a16:creationId xmlns:a16="http://schemas.microsoft.com/office/drawing/2014/main" id="{4E1CB7FC-BFE0-526A-481A-A74DE355468C}"/>
              </a:ext>
            </a:extLst>
          </p:cNvPr>
          <p:cNvPicPr>
            <a:picLocks noChangeAspect="1"/>
          </p:cNvPicPr>
          <p:nvPr userDrawn="1"/>
        </p:nvPicPr>
        <p:blipFill>
          <a:blip r:embed="rId5">
            <a:alphaModFix amt="0"/>
          </a:blip>
          <a:stretch>
            <a:fillRect/>
          </a:stretch>
        </p:blipFill>
        <p:spPr>
          <a:xfrm>
            <a:off x="10040606" y="700074"/>
            <a:ext cx="695378" cy="668215"/>
          </a:xfrm>
          <a:prstGeom prst="rect">
            <a:avLst/>
          </a:prstGeom>
        </p:spPr>
      </p:pic>
      <p:pic>
        <p:nvPicPr>
          <p:cNvPr id="17" name="Picture 16">
            <a:extLst>
              <a:ext uri="{FF2B5EF4-FFF2-40B4-BE49-F238E27FC236}">
                <a16:creationId xmlns:a16="http://schemas.microsoft.com/office/drawing/2014/main" id="{A601E868-9393-C7CE-9287-416A774B9CF9}"/>
              </a:ext>
            </a:extLst>
          </p:cNvPr>
          <p:cNvPicPr>
            <a:picLocks noChangeAspect="1"/>
          </p:cNvPicPr>
          <p:nvPr userDrawn="1"/>
        </p:nvPicPr>
        <p:blipFill>
          <a:blip r:embed="rId6">
            <a:alphaModFix amt="30000"/>
            <a:extLst>
              <a:ext uri="{28A0092B-C50C-407E-A947-70E740481C1C}">
                <a14:useLocalDpi xmlns:a14="http://schemas.microsoft.com/office/drawing/2010/main" val="0"/>
              </a:ext>
            </a:extLst>
          </a:blip>
          <a:srcRect/>
          <a:stretch/>
        </p:blipFill>
        <p:spPr>
          <a:xfrm flipH="1">
            <a:off x="10050795" y="31859"/>
            <a:ext cx="668215" cy="668215"/>
          </a:xfrm>
          <a:prstGeom prst="rect">
            <a:avLst/>
          </a:prstGeom>
        </p:spPr>
      </p:pic>
      <p:pic>
        <p:nvPicPr>
          <p:cNvPr id="18" name="Picture 17">
            <a:extLst>
              <a:ext uri="{FF2B5EF4-FFF2-40B4-BE49-F238E27FC236}">
                <a16:creationId xmlns:a16="http://schemas.microsoft.com/office/drawing/2014/main" id="{BA54CD30-209B-1173-9AF6-2B19A107244B}"/>
              </a:ext>
            </a:extLst>
          </p:cNvPr>
          <p:cNvPicPr>
            <a:picLocks noChangeAspect="1"/>
          </p:cNvPicPr>
          <p:nvPr userDrawn="1"/>
        </p:nvPicPr>
        <p:blipFill>
          <a:blip r:embed="rId4">
            <a:alphaModFix amt="2000"/>
          </a:blip>
          <a:srcRect l="5856" t="-37" r="5400" b="645"/>
          <a:stretch/>
        </p:blipFill>
        <p:spPr>
          <a:xfrm>
            <a:off x="10105955" y="1329682"/>
            <a:ext cx="668215" cy="748400"/>
          </a:xfrm>
          <a:prstGeom prst="rect">
            <a:avLst/>
          </a:prstGeom>
        </p:spPr>
      </p:pic>
      <p:pic>
        <p:nvPicPr>
          <p:cNvPr id="19" name="Picture 18">
            <a:extLst>
              <a:ext uri="{FF2B5EF4-FFF2-40B4-BE49-F238E27FC236}">
                <a16:creationId xmlns:a16="http://schemas.microsoft.com/office/drawing/2014/main" id="{3A5BEBD4-E034-2EDE-F7BB-986B43145238}"/>
              </a:ext>
            </a:extLst>
          </p:cNvPr>
          <p:cNvPicPr>
            <a:picLocks noChangeAspect="1"/>
          </p:cNvPicPr>
          <p:nvPr userDrawn="1"/>
        </p:nvPicPr>
        <p:blipFill>
          <a:blip r:embed="rId4">
            <a:alphaModFix amt="0"/>
          </a:blip>
          <a:srcRect l="5856" t="-37" r="5400" b="645"/>
          <a:stretch/>
        </p:blipFill>
        <p:spPr>
          <a:xfrm>
            <a:off x="9362831" y="706822"/>
            <a:ext cx="668215" cy="748400"/>
          </a:xfrm>
          <a:prstGeom prst="rect">
            <a:avLst/>
          </a:prstGeom>
        </p:spPr>
      </p:pic>
      <p:pic>
        <p:nvPicPr>
          <p:cNvPr id="20" name="Picture 19">
            <a:extLst>
              <a:ext uri="{FF2B5EF4-FFF2-40B4-BE49-F238E27FC236}">
                <a16:creationId xmlns:a16="http://schemas.microsoft.com/office/drawing/2014/main" id="{321F60E7-0130-4145-2450-D5CF695AEA98}"/>
              </a:ext>
            </a:extLst>
          </p:cNvPr>
          <p:cNvPicPr>
            <a:picLocks noChangeAspect="1"/>
          </p:cNvPicPr>
          <p:nvPr userDrawn="1"/>
        </p:nvPicPr>
        <p:blipFill>
          <a:blip r:embed="rId5">
            <a:alphaModFix amt="6000"/>
          </a:blip>
          <a:stretch>
            <a:fillRect/>
          </a:stretch>
        </p:blipFill>
        <p:spPr>
          <a:xfrm>
            <a:off x="9362831" y="38607"/>
            <a:ext cx="695378" cy="668215"/>
          </a:xfrm>
          <a:prstGeom prst="rect">
            <a:avLst/>
          </a:prstGeom>
        </p:spPr>
      </p:pic>
      <p:pic>
        <p:nvPicPr>
          <p:cNvPr id="21" name="Picture 20">
            <a:extLst>
              <a:ext uri="{FF2B5EF4-FFF2-40B4-BE49-F238E27FC236}">
                <a16:creationId xmlns:a16="http://schemas.microsoft.com/office/drawing/2014/main" id="{FBE9AC4B-CD43-325A-9D9C-3DA69F82D183}"/>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9445206" y="1371556"/>
            <a:ext cx="668215" cy="668215"/>
          </a:xfrm>
          <a:prstGeom prst="rect">
            <a:avLst/>
          </a:prstGeom>
        </p:spPr>
      </p:pic>
      <p:pic>
        <p:nvPicPr>
          <p:cNvPr id="22" name="Picture 21">
            <a:extLst>
              <a:ext uri="{FF2B5EF4-FFF2-40B4-BE49-F238E27FC236}">
                <a16:creationId xmlns:a16="http://schemas.microsoft.com/office/drawing/2014/main" id="{54639D55-B39E-11F7-AC19-1777E1267BC0}"/>
              </a:ext>
            </a:extLst>
          </p:cNvPr>
          <p:cNvPicPr>
            <a:picLocks noChangeAspect="1"/>
          </p:cNvPicPr>
          <p:nvPr userDrawn="1"/>
        </p:nvPicPr>
        <p:blipFill>
          <a:blip r:embed="rId5">
            <a:alphaModFix amt="6000"/>
          </a:blip>
          <a:stretch>
            <a:fillRect/>
          </a:stretch>
        </p:blipFill>
        <p:spPr>
          <a:xfrm>
            <a:off x="8662673" y="706822"/>
            <a:ext cx="695378" cy="668215"/>
          </a:xfrm>
          <a:prstGeom prst="rect">
            <a:avLst/>
          </a:prstGeom>
        </p:spPr>
      </p:pic>
      <p:pic>
        <p:nvPicPr>
          <p:cNvPr id="23" name="Picture 22">
            <a:extLst>
              <a:ext uri="{FF2B5EF4-FFF2-40B4-BE49-F238E27FC236}">
                <a16:creationId xmlns:a16="http://schemas.microsoft.com/office/drawing/2014/main" id="{D9C1D77D-CFB0-A97B-C1D9-19C67143F024}"/>
              </a:ext>
            </a:extLst>
          </p:cNvPr>
          <p:cNvPicPr>
            <a:picLocks noChangeAspect="1"/>
          </p:cNvPicPr>
          <p:nvPr userDrawn="1"/>
        </p:nvPicPr>
        <p:blipFill>
          <a:blip r:embed="rId6">
            <a:alphaModFix amt="0"/>
            <a:extLst>
              <a:ext uri="{28A0092B-C50C-407E-A947-70E740481C1C}">
                <a14:useLocalDpi xmlns:a14="http://schemas.microsoft.com/office/drawing/2010/main" val="0"/>
              </a:ext>
            </a:extLst>
          </a:blip>
          <a:srcRect/>
          <a:stretch/>
        </p:blipFill>
        <p:spPr>
          <a:xfrm flipH="1">
            <a:off x="8672862" y="38607"/>
            <a:ext cx="668215" cy="668215"/>
          </a:xfrm>
          <a:prstGeom prst="rect">
            <a:avLst/>
          </a:prstGeom>
        </p:spPr>
      </p:pic>
      <p:pic>
        <p:nvPicPr>
          <p:cNvPr id="24" name="Picture 23">
            <a:extLst>
              <a:ext uri="{FF2B5EF4-FFF2-40B4-BE49-F238E27FC236}">
                <a16:creationId xmlns:a16="http://schemas.microsoft.com/office/drawing/2014/main" id="{63CF412B-786E-3636-CF7E-908EFD09423A}"/>
              </a:ext>
            </a:extLst>
          </p:cNvPr>
          <p:cNvPicPr>
            <a:picLocks noChangeAspect="1"/>
          </p:cNvPicPr>
          <p:nvPr userDrawn="1"/>
        </p:nvPicPr>
        <p:blipFill>
          <a:blip r:embed="rId4">
            <a:alphaModFix amt="6000"/>
          </a:blip>
          <a:srcRect l="5856" t="-37" r="5400" b="645"/>
          <a:stretch/>
        </p:blipFill>
        <p:spPr>
          <a:xfrm>
            <a:off x="7977484" y="713570"/>
            <a:ext cx="668215" cy="748400"/>
          </a:xfrm>
          <a:prstGeom prst="rect">
            <a:avLst/>
          </a:prstGeom>
        </p:spPr>
      </p:pic>
      <p:pic>
        <p:nvPicPr>
          <p:cNvPr id="25" name="Picture 24">
            <a:extLst>
              <a:ext uri="{FF2B5EF4-FFF2-40B4-BE49-F238E27FC236}">
                <a16:creationId xmlns:a16="http://schemas.microsoft.com/office/drawing/2014/main" id="{D3738C52-A9EE-B897-FC37-297E645DF210}"/>
              </a:ext>
            </a:extLst>
          </p:cNvPr>
          <p:cNvPicPr>
            <a:picLocks noChangeAspect="1"/>
          </p:cNvPicPr>
          <p:nvPr userDrawn="1"/>
        </p:nvPicPr>
        <p:blipFill>
          <a:blip r:embed="rId5">
            <a:alphaModFix amt="0"/>
          </a:blip>
          <a:stretch>
            <a:fillRect/>
          </a:stretch>
        </p:blipFill>
        <p:spPr>
          <a:xfrm>
            <a:off x="7977484" y="45355"/>
            <a:ext cx="695378" cy="668215"/>
          </a:xfrm>
          <a:prstGeom prst="rect">
            <a:avLst/>
          </a:prstGeom>
        </p:spPr>
      </p:pic>
      <p:pic>
        <p:nvPicPr>
          <p:cNvPr id="26" name="Picture 25">
            <a:extLst>
              <a:ext uri="{FF2B5EF4-FFF2-40B4-BE49-F238E27FC236}">
                <a16:creationId xmlns:a16="http://schemas.microsoft.com/office/drawing/2014/main" id="{DFB281C8-473B-B587-4FDF-123A6ED38ACA}"/>
              </a:ext>
            </a:extLst>
          </p:cNvPr>
          <p:cNvPicPr>
            <a:picLocks noChangeAspect="1"/>
          </p:cNvPicPr>
          <p:nvPr userDrawn="1"/>
        </p:nvPicPr>
        <p:blipFill>
          <a:blip r:embed="rId5">
            <a:alphaModFix amt="0"/>
          </a:blip>
          <a:stretch>
            <a:fillRect/>
          </a:stretch>
        </p:blipFill>
        <p:spPr>
          <a:xfrm>
            <a:off x="7289572" y="706822"/>
            <a:ext cx="695378" cy="668215"/>
          </a:xfrm>
          <a:prstGeom prst="rect">
            <a:avLst/>
          </a:prstGeom>
        </p:spPr>
      </p:pic>
      <p:pic>
        <p:nvPicPr>
          <p:cNvPr id="27" name="Picture 26">
            <a:extLst>
              <a:ext uri="{FF2B5EF4-FFF2-40B4-BE49-F238E27FC236}">
                <a16:creationId xmlns:a16="http://schemas.microsoft.com/office/drawing/2014/main" id="{ED47C7C1-7D0E-6537-22EC-61589C59D4E2}"/>
              </a:ext>
            </a:extLst>
          </p:cNvPr>
          <p:cNvPicPr>
            <a:picLocks noChangeAspect="1"/>
          </p:cNvPicPr>
          <p:nvPr userDrawn="1"/>
        </p:nvPicPr>
        <p:blipFill>
          <a:blip r:embed="rId6">
            <a:alphaModFix amt="0"/>
            <a:extLst>
              <a:ext uri="{28A0092B-C50C-407E-A947-70E740481C1C}">
                <a14:useLocalDpi xmlns:a14="http://schemas.microsoft.com/office/drawing/2010/main" val="0"/>
              </a:ext>
            </a:extLst>
          </a:blip>
          <a:srcRect/>
          <a:stretch/>
        </p:blipFill>
        <p:spPr>
          <a:xfrm flipH="1">
            <a:off x="7299761" y="38607"/>
            <a:ext cx="668215" cy="668215"/>
          </a:xfrm>
          <a:prstGeom prst="rect">
            <a:avLst/>
          </a:prstGeom>
        </p:spPr>
      </p:pic>
      <p:pic>
        <p:nvPicPr>
          <p:cNvPr id="28" name="Picture 27">
            <a:extLst>
              <a:ext uri="{FF2B5EF4-FFF2-40B4-BE49-F238E27FC236}">
                <a16:creationId xmlns:a16="http://schemas.microsoft.com/office/drawing/2014/main" id="{952B1CC9-C724-D581-0149-FC7F9AAA5683}"/>
              </a:ext>
            </a:extLst>
          </p:cNvPr>
          <p:cNvPicPr>
            <a:picLocks noChangeAspect="1"/>
          </p:cNvPicPr>
          <p:nvPr userDrawn="1"/>
        </p:nvPicPr>
        <p:blipFill>
          <a:blip r:embed="rId5">
            <a:alphaModFix amt="27000"/>
          </a:blip>
          <a:stretch>
            <a:fillRect/>
          </a:stretch>
        </p:blipFill>
        <p:spPr>
          <a:xfrm>
            <a:off x="11426285" y="2769695"/>
            <a:ext cx="695378" cy="668215"/>
          </a:xfrm>
          <a:prstGeom prst="rect">
            <a:avLst/>
          </a:prstGeom>
        </p:spPr>
      </p:pic>
      <p:pic>
        <p:nvPicPr>
          <p:cNvPr id="29" name="Picture 28">
            <a:extLst>
              <a:ext uri="{FF2B5EF4-FFF2-40B4-BE49-F238E27FC236}">
                <a16:creationId xmlns:a16="http://schemas.microsoft.com/office/drawing/2014/main" id="{601F7865-A2F1-1B13-F465-8FDF4AA89EED}"/>
              </a:ext>
            </a:extLst>
          </p:cNvPr>
          <p:cNvPicPr>
            <a:picLocks noChangeAspect="1"/>
          </p:cNvPicPr>
          <p:nvPr userDrawn="1"/>
        </p:nvPicPr>
        <p:blipFill>
          <a:blip r:embed="rId5">
            <a:alphaModFix amt="2000"/>
          </a:blip>
          <a:stretch>
            <a:fillRect/>
          </a:stretch>
        </p:blipFill>
        <p:spPr>
          <a:xfrm>
            <a:off x="11498805" y="2710710"/>
            <a:ext cx="695378" cy="668215"/>
          </a:xfrm>
          <a:prstGeom prst="rect">
            <a:avLst/>
          </a:prstGeom>
        </p:spPr>
      </p:pic>
      <p:pic>
        <p:nvPicPr>
          <p:cNvPr id="30" name="Picture 29">
            <a:extLst>
              <a:ext uri="{FF2B5EF4-FFF2-40B4-BE49-F238E27FC236}">
                <a16:creationId xmlns:a16="http://schemas.microsoft.com/office/drawing/2014/main" id="{140EA939-E7FD-3101-8889-921FABA2E132}"/>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1508994" y="2042495"/>
            <a:ext cx="668215" cy="668215"/>
          </a:xfrm>
          <a:prstGeom prst="rect">
            <a:avLst/>
          </a:prstGeom>
        </p:spPr>
      </p:pic>
      <p:pic>
        <p:nvPicPr>
          <p:cNvPr id="31" name="Picture 30">
            <a:extLst>
              <a:ext uri="{FF2B5EF4-FFF2-40B4-BE49-F238E27FC236}">
                <a16:creationId xmlns:a16="http://schemas.microsoft.com/office/drawing/2014/main" id="{FEB24659-38BD-5C10-373C-682B49289F12}"/>
              </a:ext>
            </a:extLst>
          </p:cNvPr>
          <p:cNvPicPr>
            <a:picLocks noChangeAspect="1"/>
          </p:cNvPicPr>
          <p:nvPr userDrawn="1"/>
        </p:nvPicPr>
        <p:blipFill>
          <a:blip r:embed="rId4">
            <a:alphaModFix amt="2000"/>
          </a:blip>
          <a:srcRect l="5856" t="-37" r="5400" b="645"/>
          <a:stretch/>
        </p:blipFill>
        <p:spPr>
          <a:xfrm>
            <a:off x="10813616" y="2717458"/>
            <a:ext cx="668215" cy="748400"/>
          </a:xfrm>
          <a:prstGeom prst="rect">
            <a:avLst/>
          </a:prstGeom>
        </p:spPr>
      </p:pic>
      <p:pic>
        <p:nvPicPr>
          <p:cNvPr id="32" name="Picture 31">
            <a:extLst>
              <a:ext uri="{FF2B5EF4-FFF2-40B4-BE49-F238E27FC236}">
                <a16:creationId xmlns:a16="http://schemas.microsoft.com/office/drawing/2014/main" id="{55914B9A-FF19-BC0F-76AA-3D0A402F0E42}"/>
              </a:ext>
            </a:extLst>
          </p:cNvPr>
          <p:cNvPicPr>
            <a:picLocks noChangeAspect="1"/>
          </p:cNvPicPr>
          <p:nvPr userDrawn="1"/>
        </p:nvPicPr>
        <p:blipFill>
          <a:blip r:embed="rId5">
            <a:alphaModFix amt="2000"/>
          </a:blip>
          <a:stretch>
            <a:fillRect/>
          </a:stretch>
        </p:blipFill>
        <p:spPr>
          <a:xfrm>
            <a:off x="10813616" y="2049243"/>
            <a:ext cx="695378" cy="668215"/>
          </a:xfrm>
          <a:prstGeom prst="rect">
            <a:avLst/>
          </a:prstGeom>
        </p:spPr>
      </p:pic>
      <p:pic>
        <p:nvPicPr>
          <p:cNvPr id="33" name="Picture 32">
            <a:extLst>
              <a:ext uri="{FF2B5EF4-FFF2-40B4-BE49-F238E27FC236}">
                <a16:creationId xmlns:a16="http://schemas.microsoft.com/office/drawing/2014/main" id="{B67C4AAD-8930-6748-8D9F-036687848978}"/>
              </a:ext>
            </a:extLst>
          </p:cNvPr>
          <p:cNvPicPr>
            <a:picLocks noChangeAspect="1"/>
          </p:cNvPicPr>
          <p:nvPr userDrawn="1"/>
        </p:nvPicPr>
        <p:blipFill>
          <a:blip r:embed="rId5">
            <a:alphaModFix amt="2000"/>
          </a:blip>
          <a:stretch>
            <a:fillRect/>
          </a:stretch>
        </p:blipFill>
        <p:spPr>
          <a:xfrm>
            <a:off x="10125704" y="2710710"/>
            <a:ext cx="695378" cy="668215"/>
          </a:xfrm>
          <a:prstGeom prst="rect">
            <a:avLst/>
          </a:prstGeom>
        </p:spPr>
      </p:pic>
      <p:pic>
        <p:nvPicPr>
          <p:cNvPr id="34" name="Picture 33">
            <a:extLst>
              <a:ext uri="{FF2B5EF4-FFF2-40B4-BE49-F238E27FC236}">
                <a16:creationId xmlns:a16="http://schemas.microsoft.com/office/drawing/2014/main" id="{706840D5-9411-247E-5A8A-8AF3C5FA3569}"/>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135893" y="2042495"/>
            <a:ext cx="668215" cy="668215"/>
          </a:xfrm>
          <a:prstGeom prst="rect">
            <a:avLst/>
          </a:prstGeom>
        </p:spPr>
      </p:pic>
      <p:pic>
        <p:nvPicPr>
          <p:cNvPr id="35" name="Picture 34">
            <a:extLst>
              <a:ext uri="{FF2B5EF4-FFF2-40B4-BE49-F238E27FC236}">
                <a16:creationId xmlns:a16="http://schemas.microsoft.com/office/drawing/2014/main" id="{2881F0DE-A4A5-359C-A2FE-CB9E10533C9C}"/>
              </a:ext>
            </a:extLst>
          </p:cNvPr>
          <p:cNvPicPr>
            <a:picLocks noChangeAspect="1"/>
          </p:cNvPicPr>
          <p:nvPr userDrawn="1"/>
        </p:nvPicPr>
        <p:blipFill>
          <a:blip r:embed="rId4">
            <a:alphaModFix amt="2000"/>
          </a:blip>
          <a:srcRect l="5856" t="-37" r="5400" b="645"/>
          <a:stretch/>
        </p:blipFill>
        <p:spPr>
          <a:xfrm>
            <a:off x="9447929" y="2717458"/>
            <a:ext cx="668215" cy="748400"/>
          </a:xfrm>
          <a:prstGeom prst="rect">
            <a:avLst/>
          </a:prstGeom>
        </p:spPr>
      </p:pic>
      <p:pic>
        <p:nvPicPr>
          <p:cNvPr id="36" name="Picture 35">
            <a:extLst>
              <a:ext uri="{FF2B5EF4-FFF2-40B4-BE49-F238E27FC236}">
                <a16:creationId xmlns:a16="http://schemas.microsoft.com/office/drawing/2014/main" id="{08E6F935-031D-87D6-D604-556276C83305}"/>
              </a:ext>
            </a:extLst>
          </p:cNvPr>
          <p:cNvPicPr>
            <a:picLocks noChangeAspect="1"/>
          </p:cNvPicPr>
          <p:nvPr userDrawn="1"/>
        </p:nvPicPr>
        <p:blipFill>
          <a:blip r:embed="rId5">
            <a:alphaModFix amt="2000"/>
          </a:blip>
          <a:stretch>
            <a:fillRect/>
          </a:stretch>
        </p:blipFill>
        <p:spPr>
          <a:xfrm>
            <a:off x="9447929" y="2049243"/>
            <a:ext cx="695378" cy="668215"/>
          </a:xfrm>
          <a:prstGeom prst="rect">
            <a:avLst/>
          </a:prstGeom>
        </p:spPr>
      </p:pic>
      <p:pic>
        <p:nvPicPr>
          <p:cNvPr id="37" name="Picture 36">
            <a:extLst>
              <a:ext uri="{FF2B5EF4-FFF2-40B4-BE49-F238E27FC236}">
                <a16:creationId xmlns:a16="http://schemas.microsoft.com/office/drawing/2014/main" id="{1EC92CDC-3EDE-9EDC-1E7F-1D9D67BF389A}"/>
              </a:ext>
            </a:extLst>
          </p:cNvPr>
          <p:cNvPicPr>
            <a:picLocks noChangeAspect="1"/>
          </p:cNvPicPr>
          <p:nvPr userDrawn="1"/>
        </p:nvPicPr>
        <p:blipFill>
          <a:blip r:embed="rId4">
            <a:alphaModFix amt="10000"/>
          </a:blip>
          <a:srcRect l="5856" t="-37" r="5400" b="645"/>
          <a:stretch/>
        </p:blipFill>
        <p:spPr>
          <a:xfrm>
            <a:off x="8254819" y="4171379"/>
            <a:ext cx="668215" cy="748400"/>
          </a:xfrm>
          <a:prstGeom prst="rect">
            <a:avLst/>
          </a:prstGeom>
        </p:spPr>
      </p:pic>
      <p:pic>
        <p:nvPicPr>
          <p:cNvPr id="38" name="Picture 37">
            <a:extLst>
              <a:ext uri="{FF2B5EF4-FFF2-40B4-BE49-F238E27FC236}">
                <a16:creationId xmlns:a16="http://schemas.microsoft.com/office/drawing/2014/main" id="{ABE96AA4-348D-84FC-22BB-604DED6E98BE}"/>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7577096" y="4213253"/>
            <a:ext cx="668215" cy="668215"/>
          </a:xfrm>
          <a:prstGeom prst="rect">
            <a:avLst/>
          </a:prstGeom>
        </p:spPr>
      </p:pic>
      <p:pic>
        <p:nvPicPr>
          <p:cNvPr id="39" name="Picture 38">
            <a:extLst>
              <a:ext uri="{FF2B5EF4-FFF2-40B4-BE49-F238E27FC236}">
                <a16:creationId xmlns:a16="http://schemas.microsoft.com/office/drawing/2014/main" id="{8298FC8D-4DF5-656D-6CBA-F64F50CC6B3E}"/>
              </a:ext>
            </a:extLst>
          </p:cNvPr>
          <p:cNvPicPr>
            <a:picLocks noChangeAspect="1"/>
          </p:cNvPicPr>
          <p:nvPr userDrawn="1"/>
        </p:nvPicPr>
        <p:blipFill>
          <a:blip r:embed="rId4">
            <a:alphaModFix amt="2000"/>
          </a:blip>
          <a:srcRect l="5856" t="-37" r="5400" b="645"/>
          <a:stretch/>
        </p:blipFill>
        <p:spPr>
          <a:xfrm>
            <a:off x="10070787" y="3416231"/>
            <a:ext cx="668215" cy="748400"/>
          </a:xfrm>
          <a:prstGeom prst="rect">
            <a:avLst/>
          </a:prstGeom>
        </p:spPr>
      </p:pic>
      <p:pic>
        <p:nvPicPr>
          <p:cNvPr id="40" name="Picture 39">
            <a:extLst>
              <a:ext uri="{FF2B5EF4-FFF2-40B4-BE49-F238E27FC236}">
                <a16:creationId xmlns:a16="http://schemas.microsoft.com/office/drawing/2014/main" id="{80A711E9-8948-CBE5-7640-C9C6063008CA}"/>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9410038" y="3458105"/>
            <a:ext cx="668215" cy="668215"/>
          </a:xfrm>
          <a:prstGeom prst="rect">
            <a:avLst/>
          </a:prstGeom>
        </p:spPr>
      </p:pic>
      <p:pic>
        <p:nvPicPr>
          <p:cNvPr id="41" name="Picture 40">
            <a:extLst>
              <a:ext uri="{FF2B5EF4-FFF2-40B4-BE49-F238E27FC236}">
                <a16:creationId xmlns:a16="http://schemas.microsoft.com/office/drawing/2014/main" id="{2A99E703-3F9C-072C-A301-54FA939D3255}"/>
              </a:ext>
            </a:extLst>
          </p:cNvPr>
          <p:cNvPicPr>
            <a:picLocks noChangeAspect="1"/>
          </p:cNvPicPr>
          <p:nvPr userDrawn="1"/>
        </p:nvPicPr>
        <p:blipFill>
          <a:blip r:embed="rId5">
            <a:alphaModFix amt="2000"/>
          </a:blip>
          <a:stretch>
            <a:fillRect/>
          </a:stretch>
        </p:blipFill>
        <p:spPr>
          <a:xfrm>
            <a:off x="8265008" y="5552407"/>
            <a:ext cx="695378" cy="668215"/>
          </a:xfrm>
          <a:prstGeom prst="rect">
            <a:avLst/>
          </a:prstGeom>
        </p:spPr>
      </p:pic>
      <p:pic>
        <p:nvPicPr>
          <p:cNvPr id="42" name="Picture 41">
            <a:extLst>
              <a:ext uri="{FF2B5EF4-FFF2-40B4-BE49-F238E27FC236}">
                <a16:creationId xmlns:a16="http://schemas.microsoft.com/office/drawing/2014/main" id="{14B2BBBC-8701-E916-13FD-ADF5EBE6E53F}"/>
              </a:ext>
            </a:extLst>
          </p:cNvPr>
          <p:cNvPicPr>
            <a:picLocks noChangeAspect="1"/>
          </p:cNvPicPr>
          <p:nvPr userDrawn="1"/>
        </p:nvPicPr>
        <p:blipFill>
          <a:blip r:embed="rId6">
            <a:alphaModFix amt="10000"/>
            <a:extLst>
              <a:ext uri="{28A0092B-C50C-407E-A947-70E740481C1C}">
                <a14:useLocalDpi xmlns:a14="http://schemas.microsoft.com/office/drawing/2010/main" val="0"/>
              </a:ext>
            </a:extLst>
          </a:blip>
          <a:srcRect/>
          <a:stretch/>
        </p:blipFill>
        <p:spPr>
          <a:xfrm flipH="1">
            <a:off x="8275197" y="4884192"/>
            <a:ext cx="668215" cy="668215"/>
          </a:xfrm>
          <a:prstGeom prst="rect">
            <a:avLst/>
          </a:prstGeom>
        </p:spPr>
      </p:pic>
      <p:pic>
        <p:nvPicPr>
          <p:cNvPr id="43" name="Picture 42">
            <a:extLst>
              <a:ext uri="{FF2B5EF4-FFF2-40B4-BE49-F238E27FC236}">
                <a16:creationId xmlns:a16="http://schemas.microsoft.com/office/drawing/2014/main" id="{21616316-29AC-7430-3ADB-F166210228F4}"/>
              </a:ext>
            </a:extLst>
          </p:cNvPr>
          <p:cNvPicPr>
            <a:picLocks noChangeAspect="1"/>
          </p:cNvPicPr>
          <p:nvPr userDrawn="1"/>
        </p:nvPicPr>
        <p:blipFill>
          <a:blip r:embed="rId4">
            <a:alphaModFix amt="2000"/>
          </a:blip>
          <a:srcRect l="5856" t="-37" r="5400" b="645"/>
          <a:stretch/>
        </p:blipFill>
        <p:spPr>
          <a:xfrm>
            <a:off x="7579819" y="5559155"/>
            <a:ext cx="668215" cy="748400"/>
          </a:xfrm>
          <a:prstGeom prst="rect">
            <a:avLst/>
          </a:prstGeom>
        </p:spPr>
      </p:pic>
      <p:pic>
        <p:nvPicPr>
          <p:cNvPr id="44" name="Picture 43">
            <a:extLst>
              <a:ext uri="{FF2B5EF4-FFF2-40B4-BE49-F238E27FC236}">
                <a16:creationId xmlns:a16="http://schemas.microsoft.com/office/drawing/2014/main" id="{706E6339-0D84-1317-B40D-DA2F9B83EB70}"/>
              </a:ext>
            </a:extLst>
          </p:cNvPr>
          <p:cNvPicPr>
            <a:picLocks noChangeAspect="1"/>
          </p:cNvPicPr>
          <p:nvPr userDrawn="1"/>
        </p:nvPicPr>
        <p:blipFill>
          <a:blip r:embed="rId5">
            <a:alphaModFix amt="10000"/>
          </a:blip>
          <a:stretch>
            <a:fillRect/>
          </a:stretch>
        </p:blipFill>
        <p:spPr>
          <a:xfrm>
            <a:off x="7579819" y="4890940"/>
            <a:ext cx="695378" cy="668215"/>
          </a:xfrm>
          <a:prstGeom prst="rect">
            <a:avLst/>
          </a:prstGeom>
        </p:spPr>
      </p:pic>
      <p:pic>
        <p:nvPicPr>
          <p:cNvPr id="45" name="Picture 44">
            <a:extLst>
              <a:ext uri="{FF2B5EF4-FFF2-40B4-BE49-F238E27FC236}">
                <a16:creationId xmlns:a16="http://schemas.microsoft.com/office/drawing/2014/main" id="{D21242F3-9CC6-D7A1-14A4-D093F3028ABB}"/>
              </a:ext>
            </a:extLst>
          </p:cNvPr>
          <p:cNvPicPr>
            <a:picLocks noChangeAspect="1"/>
          </p:cNvPicPr>
          <p:nvPr userDrawn="1"/>
        </p:nvPicPr>
        <p:blipFill>
          <a:blip r:embed="rId5">
            <a:alphaModFix amt="2000"/>
          </a:blip>
          <a:stretch>
            <a:fillRect/>
          </a:stretch>
        </p:blipFill>
        <p:spPr>
          <a:xfrm>
            <a:off x="10090536" y="4797259"/>
            <a:ext cx="695378" cy="668215"/>
          </a:xfrm>
          <a:prstGeom prst="rect">
            <a:avLst/>
          </a:prstGeom>
        </p:spPr>
      </p:pic>
      <p:pic>
        <p:nvPicPr>
          <p:cNvPr id="46" name="Picture 45">
            <a:extLst>
              <a:ext uri="{FF2B5EF4-FFF2-40B4-BE49-F238E27FC236}">
                <a16:creationId xmlns:a16="http://schemas.microsoft.com/office/drawing/2014/main" id="{F3EB7419-EE33-3948-152B-79E03A20A6D8}"/>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100725" y="4129044"/>
            <a:ext cx="668215" cy="668215"/>
          </a:xfrm>
          <a:prstGeom prst="rect">
            <a:avLst/>
          </a:prstGeom>
        </p:spPr>
      </p:pic>
      <p:pic>
        <p:nvPicPr>
          <p:cNvPr id="47" name="Picture 46">
            <a:extLst>
              <a:ext uri="{FF2B5EF4-FFF2-40B4-BE49-F238E27FC236}">
                <a16:creationId xmlns:a16="http://schemas.microsoft.com/office/drawing/2014/main" id="{3948B754-0202-621D-03AC-38BC826549C7}"/>
              </a:ext>
            </a:extLst>
          </p:cNvPr>
          <p:cNvPicPr>
            <a:picLocks noChangeAspect="1"/>
          </p:cNvPicPr>
          <p:nvPr userDrawn="1"/>
        </p:nvPicPr>
        <p:blipFill>
          <a:blip r:embed="rId4">
            <a:alphaModFix amt="2000"/>
          </a:blip>
          <a:srcRect l="5856" t="-37" r="5400" b="645"/>
          <a:stretch/>
        </p:blipFill>
        <p:spPr>
          <a:xfrm>
            <a:off x="9412761" y="4804007"/>
            <a:ext cx="668215" cy="748400"/>
          </a:xfrm>
          <a:prstGeom prst="rect">
            <a:avLst/>
          </a:prstGeom>
        </p:spPr>
      </p:pic>
      <p:pic>
        <p:nvPicPr>
          <p:cNvPr id="48" name="Picture 47">
            <a:extLst>
              <a:ext uri="{FF2B5EF4-FFF2-40B4-BE49-F238E27FC236}">
                <a16:creationId xmlns:a16="http://schemas.microsoft.com/office/drawing/2014/main" id="{802D5A6C-08EB-D58F-A5EB-26A25A99B9A3}"/>
              </a:ext>
            </a:extLst>
          </p:cNvPr>
          <p:cNvPicPr>
            <a:picLocks noChangeAspect="1"/>
          </p:cNvPicPr>
          <p:nvPr userDrawn="1"/>
        </p:nvPicPr>
        <p:blipFill>
          <a:blip r:embed="rId5">
            <a:alphaModFix amt="2000"/>
          </a:blip>
          <a:stretch>
            <a:fillRect/>
          </a:stretch>
        </p:blipFill>
        <p:spPr>
          <a:xfrm>
            <a:off x="9412761" y="4135792"/>
            <a:ext cx="695378" cy="668215"/>
          </a:xfrm>
          <a:prstGeom prst="rect">
            <a:avLst/>
          </a:prstGeom>
        </p:spPr>
      </p:pic>
      <p:pic>
        <p:nvPicPr>
          <p:cNvPr id="49" name="Picture 48">
            <a:extLst>
              <a:ext uri="{FF2B5EF4-FFF2-40B4-BE49-F238E27FC236}">
                <a16:creationId xmlns:a16="http://schemas.microsoft.com/office/drawing/2014/main" id="{8ED4B5D9-4F4A-A547-D810-A798C56D779D}"/>
              </a:ext>
            </a:extLst>
          </p:cNvPr>
          <p:cNvPicPr>
            <a:picLocks noChangeAspect="1"/>
          </p:cNvPicPr>
          <p:nvPr userDrawn="1"/>
        </p:nvPicPr>
        <p:blipFill>
          <a:blip r:embed="rId4">
            <a:alphaModFix amt="2000"/>
          </a:blip>
          <a:srcRect l="5856" t="-37" r="5400" b="645"/>
          <a:stretch/>
        </p:blipFill>
        <p:spPr>
          <a:xfrm>
            <a:off x="11453448" y="5422233"/>
            <a:ext cx="668215" cy="748400"/>
          </a:xfrm>
          <a:prstGeom prst="rect">
            <a:avLst/>
          </a:prstGeom>
        </p:spPr>
      </p:pic>
      <p:pic>
        <p:nvPicPr>
          <p:cNvPr id="50" name="Picture 49">
            <a:extLst>
              <a:ext uri="{FF2B5EF4-FFF2-40B4-BE49-F238E27FC236}">
                <a16:creationId xmlns:a16="http://schemas.microsoft.com/office/drawing/2014/main" id="{22B2D95C-09C7-9982-CC31-B740BD1861D2}"/>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775725" y="5464107"/>
            <a:ext cx="668215" cy="668215"/>
          </a:xfrm>
          <a:prstGeom prst="rect">
            <a:avLst/>
          </a:prstGeom>
        </p:spPr>
      </p:pic>
      <p:pic>
        <p:nvPicPr>
          <p:cNvPr id="51" name="Picture 50">
            <a:extLst>
              <a:ext uri="{FF2B5EF4-FFF2-40B4-BE49-F238E27FC236}">
                <a16:creationId xmlns:a16="http://schemas.microsoft.com/office/drawing/2014/main" id="{77D4EE2D-3E1F-E3E0-A5EB-CC135FBFA28F}"/>
              </a:ext>
            </a:extLst>
          </p:cNvPr>
          <p:cNvPicPr>
            <a:picLocks noChangeAspect="1"/>
          </p:cNvPicPr>
          <p:nvPr userDrawn="1"/>
        </p:nvPicPr>
        <p:blipFill>
          <a:blip r:embed="rId4">
            <a:alphaModFix amt="2000"/>
          </a:blip>
          <a:srcRect l="5856" t="-37" r="5400" b="645"/>
          <a:stretch/>
        </p:blipFill>
        <p:spPr>
          <a:xfrm>
            <a:off x="10070787" y="5422233"/>
            <a:ext cx="668215" cy="748400"/>
          </a:xfrm>
          <a:prstGeom prst="rect">
            <a:avLst/>
          </a:prstGeom>
        </p:spPr>
      </p:pic>
      <p:pic>
        <p:nvPicPr>
          <p:cNvPr id="52" name="Picture 51">
            <a:extLst>
              <a:ext uri="{FF2B5EF4-FFF2-40B4-BE49-F238E27FC236}">
                <a16:creationId xmlns:a16="http://schemas.microsoft.com/office/drawing/2014/main" id="{DAE322F4-8B96-0955-923B-1D73EC1FDF44}"/>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9410038" y="5464107"/>
            <a:ext cx="668215" cy="668215"/>
          </a:xfrm>
          <a:prstGeom prst="rect">
            <a:avLst/>
          </a:prstGeom>
        </p:spPr>
      </p:pic>
      <p:pic>
        <p:nvPicPr>
          <p:cNvPr id="53" name="Picture 52">
            <a:extLst>
              <a:ext uri="{FF2B5EF4-FFF2-40B4-BE49-F238E27FC236}">
                <a16:creationId xmlns:a16="http://schemas.microsoft.com/office/drawing/2014/main" id="{2CDC80F0-CE0A-D94A-D86F-E1E14C6D6B10}"/>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1473826" y="6135046"/>
            <a:ext cx="668215" cy="668215"/>
          </a:xfrm>
          <a:prstGeom prst="rect">
            <a:avLst/>
          </a:prstGeom>
        </p:spPr>
      </p:pic>
      <p:pic>
        <p:nvPicPr>
          <p:cNvPr id="55" name="Picture 54">
            <a:extLst>
              <a:ext uri="{FF2B5EF4-FFF2-40B4-BE49-F238E27FC236}">
                <a16:creationId xmlns:a16="http://schemas.microsoft.com/office/drawing/2014/main" id="{7C070626-B45D-3DF6-82FE-726E1BCDB102}"/>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100725" y="6135046"/>
            <a:ext cx="668215" cy="668215"/>
          </a:xfrm>
          <a:prstGeom prst="rect">
            <a:avLst/>
          </a:prstGeom>
        </p:spPr>
      </p:pic>
      <p:pic>
        <p:nvPicPr>
          <p:cNvPr id="56" name="Picture 55">
            <a:extLst>
              <a:ext uri="{FF2B5EF4-FFF2-40B4-BE49-F238E27FC236}">
                <a16:creationId xmlns:a16="http://schemas.microsoft.com/office/drawing/2014/main" id="{897A68D2-B178-1976-F1C8-A5CD9AF7BB67}"/>
              </a:ext>
            </a:extLst>
          </p:cNvPr>
          <p:cNvPicPr>
            <a:picLocks noChangeAspect="1"/>
          </p:cNvPicPr>
          <p:nvPr userDrawn="1"/>
        </p:nvPicPr>
        <p:blipFill>
          <a:blip r:embed="rId5">
            <a:alphaModFix amt="2000"/>
          </a:blip>
          <a:stretch>
            <a:fillRect/>
          </a:stretch>
        </p:blipFill>
        <p:spPr>
          <a:xfrm>
            <a:off x="9412761" y="6141794"/>
            <a:ext cx="695378" cy="668215"/>
          </a:xfrm>
          <a:prstGeom prst="rect">
            <a:avLst/>
          </a:prstGeom>
        </p:spPr>
      </p:pic>
      <p:pic>
        <p:nvPicPr>
          <p:cNvPr id="57" name="Picture 56">
            <a:extLst>
              <a:ext uri="{FF2B5EF4-FFF2-40B4-BE49-F238E27FC236}">
                <a16:creationId xmlns:a16="http://schemas.microsoft.com/office/drawing/2014/main" id="{1113156A-4625-4987-E766-DD4C637285E8}"/>
              </a:ext>
            </a:extLst>
          </p:cNvPr>
          <p:cNvPicPr>
            <a:picLocks noChangeAspect="1"/>
          </p:cNvPicPr>
          <p:nvPr userDrawn="1"/>
        </p:nvPicPr>
        <p:blipFill>
          <a:blip r:embed="rId4">
            <a:alphaModFix amt="2000"/>
          </a:blip>
          <a:srcRect l="5856" t="-37" r="5400" b="645"/>
          <a:stretch/>
        </p:blipFill>
        <p:spPr>
          <a:xfrm>
            <a:off x="8659898" y="5400418"/>
            <a:ext cx="668215" cy="748400"/>
          </a:xfrm>
          <a:prstGeom prst="rect">
            <a:avLst/>
          </a:prstGeom>
        </p:spPr>
      </p:pic>
      <p:pic>
        <p:nvPicPr>
          <p:cNvPr id="58" name="Picture 57">
            <a:extLst>
              <a:ext uri="{FF2B5EF4-FFF2-40B4-BE49-F238E27FC236}">
                <a16:creationId xmlns:a16="http://schemas.microsoft.com/office/drawing/2014/main" id="{45DEC82B-E4D5-FC0B-612B-C6779B237F24}"/>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7982175" y="5442292"/>
            <a:ext cx="668215" cy="668215"/>
          </a:xfrm>
          <a:prstGeom prst="rect">
            <a:avLst/>
          </a:prstGeom>
        </p:spPr>
      </p:pic>
      <p:pic>
        <p:nvPicPr>
          <p:cNvPr id="59" name="Picture 58">
            <a:extLst>
              <a:ext uri="{FF2B5EF4-FFF2-40B4-BE49-F238E27FC236}">
                <a16:creationId xmlns:a16="http://schemas.microsoft.com/office/drawing/2014/main" id="{3AE8D7BE-20D8-1275-B804-CDA8F23423E9}"/>
              </a:ext>
            </a:extLst>
          </p:cNvPr>
          <p:cNvPicPr>
            <a:picLocks noChangeAspect="1"/>
          </p:cNvPicPr>
          <p:nvPr userDrawn="1"/>
        </p:nvPicPr>
        <p:blipFill>
          <a:blip r:embed="rId4">
            <a:alphaModFix amt="2000"/>
          </a:blip>
          <a:srcRect l="5856" t="-37" r="5400" b="645"/>
          <a:stretch/>
        </p:blipFill>
        <p:spPr>
          <a:xfrm>
            <a:off x="7277237" y="5400418"/>
            <a:ext cx="668215" cy="748400"/>
          </a:xfrm>
          <a:prstGeom prst="rect">
            <a:avLst/>
          </a:prstGeom>
        </p:spPr>
      </p:pic>
      <p:pic>
        <p:nvPicPr>
          <p:cNvPr id="60" name="Picture 59">
            <a:extLst>
              <a:ext uri="{FF2B5EF4-FFF2-40B4-BE49-F238E27FC236}">
                <a16:creationId xmlns:a16="http://schemas.microsoft.com/office/drawing/2014/main" id="{5532EDA9-CDE7-DEAC-78C0-44E18DC52A33}"/>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6616488" y="5442292"/>
            <a:ext cx="668215" cy="668215"/>
          </a:xfrm>
          <a:prstGeom prst="rect">
            <a:avLst/>
          </a:prstGeom>
        </p:spPr>
      </p:pic>
      <p:pic>
        <p:nvPicPr>
          <p:cNvPr id="61" name="Picture 60">
            <a:extLst>
              <a:ext uri="{FF2B5EF4-FFF2-40B4-BE49-F238E27FC236}">
                <a16:creationId xmlns:a16="http://schemas.microsoft.com/office/drawing/2014/main" id="{8FF8F867-96E9-39B4-CEAA-502ED76AC1B4}"/>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8680276" y="6113231"/>
            <a:ext cx="668215" cy="668215"/>
          </a:xfrm>
          <a:prstGeom prst="rect">
            <a:avLst/>
          </a:prstGeom>
        </p:spPr>
      </p:pic>
      <p:pic>
        <p:nvPicPr>
          <p:cNvPr id="62" name="Picture 61">
            <a:extLst>
              <a:ext uri="{FF2B5EF4-FFF2-40B4-BE49-F238E27FC236}">
                <a16:creationId xmlns:a16="http://schemas.microsoft.com/office/drawing/2014/main" id="{22AA714B-D71D-D931-0FAF-E167FC759461}"/>
              </a:ext>
            </a:extLst>
          </p:cNvPr>
          <p:cNvPicPr>
            <a:picLocks noChangeAspect="1"/>
          </p:cNvPicPr>
          <p:nvPr userDrawn="1"/>
        </p:nvPicPr>
        <p:blipFill>
          <a:blip r:embed="rId5">
            <a:alphaModFix amt="2000"/>
          </a:blip>
          <a:stretch>
            <a:fillRect/>
          </a:stretch>
        </p:blipFill>
        <p:spPr>
          <a:xfrm>
            <a:off x="7984898" y="6119979"/>
            <a:ext cx="695378" cy="668215"/>
          </a:xfrm>
          <a:prstGeom prst="rect">
            <a:avLst/>
          </a:prstGeom>
        </p:spPr>
      </p:pic>
      <p:pic>
        <p:nvPicPr>
          <p:cNvPr id="63" name="Picture 62">
            <a:extLst>
              <a:ext uri="{FF2B5EF4-FFF2-40B4-BE49-F238E27FC236}">
                <a16:creationId xmlns:a16="http://schemas.microsoft.com/office/drawing/2014/main" id="{213CCCFF-8E5D-6824-43B7-E050BB45F74A}"/>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7307175" y="6113231"/>
            <a:ext cx="668215" cy="668215"/>
          </a:xfrm>
          <a:prstGeom prst="rect">
            <a:avLst/>
          </a:prstGeom>
        </p:spPr>
      </p:pic>
      <p:pic>
        <p:nvPicPr>
          <p:cNvPr id="64" name="Picture 63">
            <a:extLst>
              <a:ext uri="{FF2B5EF4-FFF2-40B4-BE49-F238E27FC236}">
                <a16:creationId xmlns:a16="http://schemas.microsoft.com/office/drawing/2014/main" id="{261EF1E3-C005-5E83-9E04-F131F2544E9C}"/>
              </a:ext>
            </a:extLst>
          </p:cNvPr>
          <p:cNvPicPr>
            <a:picLocks noChangeAspect="1"/>
          </p:cNvPicPr>
          <p:nvPr userDrawn="1"/>
        </p:nvPicPr>
        <p:blipFill>
          <a:blip r:embed="rId5">
            <a:alphaModFix amt="2000"/>
          </a:blip>
          <a:stretch>
            <a:fillRect/>
          </a:stretch>
        </p:blipFill>
        <p:spPr>
          <a:xfrm>
            <a:off x="6619211" y="6119979"/>
            <a:ext cx="695378" cy="668215"/>
          </a:xfrm>
          <a:prstGeom prst="rect">
            <a:avLst/>
          </a:prstGeom>
        </p:spPr>
      </p:pic>
      <p:sp>
        <p:nvSpPr>
          <p:cNvPr id="54" name="Google Shape;55;p13">
            <a:extLst>
              <a:ext uri="{FF2B5EF4-FFF2-40B4-BE49-F238E27FC236}">
                <a16:creationId xmlns:a16="http://schemas.microsoft.com/office/drawing/2014/main" id="{4305E396-6A81-7FC5-EA9D-7FF1879022A0}"/>
              </a:ext>
            </a:extLst>
          </p:cNvPr>
          <p:cNvSpPr txBox="1"/>
          <p:nvPr userDrawn="1"/>
        </p:nvSpPr>
        <p:spPr>
          <a:xfrm>
            <a:off x="354936" y="1525615"/>
            <a:ext cx="5879960" cy="1493706"/>
          </a:xfrm>
          <a:prstGeom prst="rect">
            <a:avLst/>
          </a:prstGeom>
          <a:solidFill>
            <a:schemeClr val="accent2">
              <a:alpha val="0"/>
            </a:schemeClr>
          </a:solidFill>
          <a:ln>
            <a:noFill/>
          </a:ln>
        </p:spPr>
        <p:txBody>
          <a:bodyPr spcFirstLastPara="1" wrap="square" lIns="121900" tIns="121900" rIns="121900" bIns="121900" anchor="t" anchorCtr="0">
            <a:noAutofit/>
          </a:bodyPr>
          <a:lstStyle/>
          <a:p>
            <a:r>
              <a:rPr lang="en" sz="6600" dirty="0">
                <a:solidFill>
                  <a:schemeClr val="accent2">
                    <a:lumMod val="75000"/>
                  </a:schemeClr>
                </a:solidFill>
                <a:latin typeface="Work Sans Medium" pitchFamily="2" charset="0"/>
                <a:ea typeface="Inter"/>
                <a:cs typeface="Inter"/>
                <a:sym typeface="Inter"/>
              </a:rPr>
              <a:t>THANK YOU!</a:t>
            </a:r>
            <a:endParaRPr sz="6600" dirty="0">
              <a:solidFill>
                <a:schemeClr val="accent2">
                  <a:lumMod val="75000"/>
                </a:schemeClr>
              </a:solidFill>
              <a:latin typeface="Work Sans Medium" pitchFamily="2" charset="0"/>
              <a:ea typeface="Inter"/>
              <a:cs typeface="Inter"/>
              <a:sym typeface="Inter"/>
            </a:endParaRPr>
          </a:p>
        </p:txBody>
      </p:sp>
      <p:sp>
        <p:nvSpPr>
          <p:cNvPr id="65" name="Google Shape;55;p13">
            <a:extLst>
              <a:ext uri="{FF2B5EF4-FFF2-40B4-BE49-F238E27FC236}">
                <a16:creationId xmlns:a16="http://schemas.microsoft.com/office/drawing/2014/main" id="{0F8FEE40-AC1C-A1A7-B249-971C303F4203}"/>
              </a:ext>
            </a:extLst>
          </p:cNvPr>
          <p:cNvSpPr txBox="1"/>
          <p:nvPr userDrawn="1"/>
        </p:nvSpPr>
        <p:spPr>
          <a:xfrm>
            <a:off x="498848" y="2742370"/>
            <a:ext cx="5473689" cy="964423"/>
          </a:xfrm>
          <a:prstGeom prst="rect">
            <a:avLst/>
          </a:prstGeom>
          <a:solidFill>
            <a:schemeClr val="accent2">
              <a:alpha val="36000"/>
            </a:schemeClr>
          </a:solidFill>
          <a:ln>
            <a:noFill/>
          </a:ln>
        </p:spPr>
        <p:txBody>
          <a:bodyPr spcFirstLastPara="1" wrap="square" lIns="121900" tIns="121900" rIns="121900" bIns="121900" anchor="t" anchorCtr="0">
            <a:noAutofit/>
          </a:bodyPr>
          <a:lstStyle/>
          <a:p>
            <a:r>
              <a:rPr lang="en-US" b="1" dirty="0">
                <a:solidFill>
                  <a:schemeClr val="bg1"/>
                </a:solidFill>
                <a:latin typeface="Arial" panose="020B0604020202020204" pitchFamily="34" charset="0"/>
                <a:cs typeface="Arial" panose="020B0604020202020204" pitchFamily="34" charset="0"/>
              </a:rPr>
              <a:t>“Every expert was once a beginner. Every </a:t>
            </a:r>
            <a:r>
              <a:rPr lang="en-US" b="1" dirty="0" err="1">
                <a:solidFill>
                  <a:schemeClr val="bg1"/>
                </a:solidFill>
                <a:latin typeface="Arial" panose="020B0604020202020204" pitchFamily="34" charset="0"/>
                <a:cs typeface="Arial" panose="020B0604020202020204" pitchFamily="34" charset="0"/>
              </a:rPr>
              <a:t>masteIDRiece</a:t>
            </a:r>
            <a:r>
              <a:rPr lang="en-US" b="1" dirty="0">
                <a:solidFill>
                  <a:schemeClr val="bg1"/>
                </a:solidFill>
                <a:latin typeface="Arial" panose="020B0604020202020204" pitchFamily="34" charset="0"/>
                <a:cs typeface="Arial" panose="020B0604020202020204" pitchFamily="34" charset="0"/>
              </a:rPr>
              <a:t> was once a disaster."</a:t>
            </a:r>
            <a:r>
              <a:rPr lang="en-US" dirty="0">
                <a:solidFill>
                  <a:schemeClr val="bg1"/>
                </a:solidFill>
                <a:latin typeface="Arial" panose="020B0604020202020204" pitchFamily="34" charset="0"/>
                <a:cs typeface="Arial" panose="020B0604020202020204" pitchFamily="34" charset="0"/>
              </a:rPr>
              <a:t> </a:t>
            </a:r>
          </a:p>
          <a:p>
            <a:r>
              <a:rPr lang="en-US" dirty="0">
                <a:solidFill>
                  <a:schemeClr val="bg1"/>
                </a:solidFill>
                <a:latin typeface="Arial" panose="020B0604020202020204" pitchFamily="34" charset="0"/>
                <a:cs typeface="Arial" panose="020B0604020202020204" pitchFamily="34" charset="0"/>
              </a:rPr>
              <a:t>— </a:t>
            </a:r>
            <a:r>
              <a:rPr lang="en-US" i="1" dirty="0">
                <a:solidFill>
                  <a:schemeClr val="bg1"/>
                </a:solidFill>
                <a:latin typeface="Arial" panose="020B0604020202020204" pitchFamily="34" charset="0"/>
                <a:cs typeface="Arial" panose="020B0604020202020204" pitchFamily="34" charset="0"/>
              </a:rPr>
              <a:t>T. Harv Eker</a:t>
            </a:r>
            <a:endParaRPr lang="en-US" dirty="0">
              <a:solidFill>
                <a:schemeClr val="bg1"/>
              </a:solidFill>
              <a:latin typeface="Arial" panose="020B0604020202020204" pitchFamily="34" charset="0"/>
              <a:ea typeface="Inter"/>
              <a:cs typeface="Arial" panose="020B0604020202020204" pitchFamily="34" charset="0"/>
              <a:sym typeface="Inter"/>
            </a:endParaRPr>
          </a:p>
        </p:txBody>
      </p:sp>
      <p:sp>
        <p:nvSpPr>
          <p:cNvPr id="66" name="Rectangle 65">
            <a:extLst>
              <a:ext uri="{FF2B5EF4-FFF2-40B4-BE49-F238E27FC236}">
                <a16:creationId xmlns:a16="http://schemas.microsoft.com/office/drawing/2014/main" id="{4F822B97-258A-07F5-51F7-F324F0B1B6F9}"/>
              </a:ext>
            </a:extLst>
          </p:cNvPr>
          <p:cNvSpPr/>
          <p:nvPr userDrawn="1"/>
        </p:nvSpPr>
        <p:spPr>
          <a:xfrm>
            <a:off x="498848" y="3819598"/>
            <a:ext cx="6280101" cy="13610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latin typeface="Arial" panose="020B0604020202020204" pitchFamily="34" charset="0"/>
                <a:cs typeface="Arial" panose="020B0604020202020204" pitchFamily="34" charset="0"/>
              </a:rPr>
              <a:t>Prepared by: </a:t>
            </a:r>
          </a:p>
          <a:p>
            <a:r>
              <a:rPr lang="en-US" sz="1200" dirty="0">
                <a:solidFill>
                  <a:schemeClr val="bg1"/>
                </a:solidFill>
                <a:latin typeface="Arial" panose="020B0604020202020204" pitchFamily="34" charset="0"/>
                <a:cs typeface="Arial" panose="020B0604020202020204" pitchFamily="34" charset="0"/>
              </a:rPr>
              <a:t>Yusa Wijaya – Marketing Associate</a:t>
            </a:r>
          </a:p>
          <a:p>
            <a:r>
              <a:rPr lang="en-US" sz="1200" dirty="0">
                <a:solidFill>
                  <a:schemeClr val="bg1"/>
                </a:solidFill>
                <a:latin typeface="Arial" panose="020B0604020202020204" pitchFamily="34" charset="0"/>
                <a:cs typeface="Arial" panose="020B0604020202020204" pitchFamily="34" charset="0"/>
              </a:rPr>
              <a:t>Department of Strategic Marketing 3</a:t>
            </a:r>
          </a:p>
          <a:p>
            <a:r>
              <a:rPr lang="en-ID" sz="1200" dirty="0">
                <a:solidFill>
                  <a:schemeClr val="bg1"/>
                </a:solidFill>
                <a:latin typeface="Arial" panose="020B0604020202020204" pitchFamily="34" charset="0"/>
                <a:ea typeface="Source Sans Pro" panose="020B0503030403020204" pitchFamily="34" charset="0"/>
                <a:cs typeface="Arial" panose="020B0604020202020204" pitchFamily="34" charset="0"/>
              </a:rPr>
              <a:t>Marketing Unit &amp; Strategic Division</a:t>
            </a:r>
          </a:p>
          <a:p>
            <a:r>
              <a:rPr lang="en-ID"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PT </a:t>
            </a:r>
            <a:r>
              <a:rPr lang="en-US" sz="1200" b="1" dirty="0" err="1">
                <a:solidFill>
                  <a:schemeClr val="bg1"/>
                </a:solidFill>
                <a:latin typeface="Arial" panose="020B0604020202020204" pitchFamily="34" charset="0"/>
                <a:ea typeface="Source Sans Pro" panose="020B0503030403020204" pitchFamily="34" charset="0"/>
                <a:cs typeface="Arial" panose="020B0604020202020204" pitchFamily="34" charset="0"/>
              </a:rPr>
              <a:t>Triatra</a:t>
            </a:r>
            <a:r>
              <a:rPr lang="en-US"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 </a:t>
            </a:r>
            <a:r>
              <a:rPr lang="en-US" sz="1200" b="1" dirty="0" err="1">
                <a:solidFill>
                  <a:schemeClr val="bg1"/>
                </a:solidFill>
                <a:latin typeface="Arial" panose="020B0604020202020204" pitchFamily="34" charset="0"/>
                <a:ea typeface="Source Sans Pro" panose="020B0503030403020204" pitchFamily="34" charset="0"/>
                <a:cs typeface="Arial" panose="020B0604020202020204" pitchFamily="34" charset="0"/>
              </a:rPr>
              <a:t>Sinergia</a:t>
            </a:r>
            <a:r>
              <a:rPr lang="en-US"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 Pratama, a Subsidiary of PT United Tractors Pandu Engineering</a:t>
            </a:r>
            <a:endParaRPr lang="en-ID" sz="1200" b="1" dirty="0">
              <a:solidFill>
                <a:schemeClr val="bg1"/>
              </a:solidFill>
              <a:latin typeface="Arial" panose="020B0604020202020204" pitchFamily="34" charset="0"/>
              <a:ea typeface="Source Sans Pro" panose="020B0503030403020204" pitchFamily="34" charset="0"/>
              <a:cs typeface="Arial" panose="020B0604020202020204" pitchFamily="34" charset="0"/>
            </a:endParaRPr>
          </a:p>
        </p:txBody>
      </p:sp>
      <p:pic>
        <p:nvPicPr>
          <p:cNvPr id="67" name="Google Shape;76;p15" title="LOGO PRIMER - Putih Orange  Putih.png">
            <a:extLst>
              <a:ext uri="{FF2B5EF4-FFF2-40B4-BE49-F238E27FC236}">
                <a16:creationId xmlns:a16="http://schemas.microsoft.com/office/drawing/2014/main" id="{7336D4BF-F370-62C6-08B6-9DAED6F381F2}"/>
              </a:ext>
            </a:extLst>
          </p:cNvPr>
          <p:cNvPicPr preferRelativeResize="0"/>
          <p:nvPr userDrawn="1"/>
        </p:nvPicPr>
        <p:blipFill rotWithShape="1">
          <a:blip r:embed="rId7">
            <a:alphaModFix/>
          </a:blip>
          <a:srcRect/>
          <a:stretch/>
        </p:blipFill>
        <p:spPr>
          <a:xfrm>
            <a:off x="498848" y="260942"/>
            <a:ext cx="1441109" cy="598815"/>
          </a:xfrm>
          <a:prstGeom prst="rect">
            <a:avLst/>
          </a:prstGeom>
          <a:noFill/>
          <a:ln>
            <a:noFill/>
          </a:ln>
        </p:spPr>
      </p:pic>
    </p:spTree>
    <p:extLst>
      <p:ext uri="{BB962C8B-B14F-4D97-AF65-F5344CB8AC3E}">
        <p14:creationId xmlns:p14="http://schemas.microsoft.com/office/powerpoint/2010/main" val="28848364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1105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57207D-A280-A159-45C2-DF1959FF43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C8135350-58A2-F698-E7C5-5E03BDA158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E1DB8A16-5EC3-C556-47FE-E87174C224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275B1F-65BF-4A91-9238-A64B1360CC1C}" type="datetimeFigureOut">
              <a:rPr lang="en-ID" smtClean="0"/>
              <a:t>13/10/2026</a:t>
            </a:fld>
            <a:endParaRPr lang="en-ID"/>
          </a:p>
        </p:txBody>
      </p:sp>
      <p:sp>
        <p:nvSpPr>
          <p:cNvPr id="5" name="Footer Placeholder 4">
            <a:extLst>
              <a:ext uri="{FF2B5EF4-FFF2-40B4-BE49-F238E27FC236}">
                <a16:creationId xmlns:a16="http://schemas.microsoft.com/office/drawing/2014/main" id="{376B03C6-F7A6-9519-1180-8BE8A2C7BE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4CCD86D0-E462-26D0-B65B-1CB425B90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77BE13-1DEC-41B6-835D-DA8EC58D29C1}" type="slidenum">
              <a:rPr lang="en-ID" smtClean="0"/>
              <a:t>‹#›</a:t>
            </a:fld>
            <a:endParaRPr lang="en-ID"/>
          </a:p>
        </p:txBody>
      </p:sp>
    </p:spTree>
    <p:extLst>
      <p:ext uri="{BB962C8B-B14F-4D97-AF65-F5344CB8AC3E}">
        <p14:creationId xmlns:p14="http://schemas.microsoft.com/office/powerpoint/2010/main" val="1165922003"/>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77" r:id="rId3"/>
    <p:sldLayoutId id="2147483664" r:id="rId4"/>
    <p:sldLayoutId id="2147483676" r:id="rId5"/>
    <p:sldLayoutId id="2147483665" r:id="rId6"/>
    <p:sldLayoutId id="2147483668" r:id="rId7"/>
    <p:sldLayoutId id="2147483670" r:id="rId8"/>
    <p:sldLayoutId id="2147483672" r:id="rId9"/>
    <p:sldLayoutId id="2147483673" r:id="rId10"/>
    <p:sldLayoutId id="2147483674"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jp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07164-87EC-2E33-C7D4-28AF2AA744B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CA19176-0092-BB3D-95E8-D51D0F71C5DC}"/>
              </a:ext>
            </a:extLst>
          </p:cNvPr>
          <p:cNvSpPr/>
          <p:nvPr/>
        </p:nvSpPr>
        <p:spPr>
          <a:xfrm>
            <a:off x="274130" y="1688966"/>
            <a:ext cx="5821870" cy="1175680"/>
          </a:xfrm>
          <a:prstGeom prst="round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E55200"/>
                </a:solidFill>
                <a:latin typeface="Arial"/>
                <a:cs typeface="Arial"/>
              </a:rPr>
              <a:t>DESIGN GUIDANCE</a:t>
            </a:r>
            <a:endParaRPr kumimoji="0" lang="en-US" sz="3200" b="1" i="0" u="none" strike="noStrike" kern="1200" cap="none" spc="0" normalizeH="0" baseline="0" noProof="0" dirty="0">
              <a:ln>
                <a:noFill/>
              </a:ln>
              <a:solidFill>
                <a:srgbClr val="E55200"/>
              </a:solidFill>
              <a:effectLst/>
              <a:uLnTx/>
              <a:uFillTx/>
              <a:latin typeface="Arial"/>
              <a:ea typeface="+mn-ea"/>
              <a:cs typeface="Arial"/>
            </a:endParaRPr>
          </a:p>
        </p:txBody>
      </p:sp>
      <p:sp>
        <p:nvSpPr>
          <p:cNvPr id="5" name="TextBox 4">
            <a:extLst>
              <a:ext uri="{FF2B5EF4-FFF2-40B4-BE49-F238E27FC236}">
                <a16:creationId xmlns:a16="http://schemas.microsoft.com/office/drawing/2014/main" id="{8CC42363-84C6-464C-5A12-993B22CCC38B}"/>
              </a:ext>
            </a:extLst>
          </p:cNvPr>
          <p:cNvSpPr txBox="1"/>
          <p:nvPr/>
        </p:nvSpPr>
        <p:spPr>
          <a:xfrm>
            <a:off x="331492" y="3505241"/>
            <a:ext cx="4559300" cy="272415"/>
          </a:xfrm>
          <a:prstGeom prst="round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55200"/>
                </a:solidFill>
                <a:effectLst/>
                <a:uLnTx/>
                <a:uFillTx/>
                <a:latin typeface="Arial" panose="020B0604020202020204" pitchFamily="34" charset="0"/>
                <a:ea typeface="Inter"/>
                <a:cs typeface="Arial" panose="020B0604020202020204" pitchFamily="34" charset="0"/>
                <a:sym typeface="Inter"/>
              </a:rPr>
              <a:t>Strictly Confidential</a:t>
            </a:r>
          </a:p>
        </p:txBody>
      </p:sp>
      <p:sp>
        <p:nvSpPr>
          <p:cNvPr id="7" name="TextBox 6">
            <a:extLst>
              <a:ext uri="{FF2B5EF4-FFF2-40B4-BE49-F238E27FC236}">
                <a16:creationId xmlns:a16="http://schemas.microsoft.com/office/drawing/2014/main" id="{0271A734-B325-E93B-34C6-BA914E69F195}"/>
              </a:ext>
            </a:extLst>
          </p:cNvPr>
          <p:cNvSpPr txBox="1"/>
          <p:nvPr/>
        </p:nvSpPr>
        <p:spPr>
          <a:xfrm>
            <a:off x="310643" y="6258932"/>
            <a:ext cx="5075549"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The information contained in these documents is confidential, privileged and only for the information of the intended recipient and may not be used, published or redistributed without the prior written consent of PT </a:t>
            </a:r>
            <a:r>
              <a:rPr kumimoji="0" lang="en-US" sz="700" b="0" i="0" u="none" strike="noStrike" kern="1200" cap="none" spc="0" normalizeH="0" baseline="0" noProof="0" dirty="0" err="1">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Triatra</a:t>
            </a:r>
            <a:r>
              <a:rPr kumimoji="0" lang="en-US"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a:t>
            </a:r>
            <a:r>
              <a:rPr kumimoji="0" lang="en-US" sz="700" b="0" i="0" u="none" strike="noStrike" kern="1200" cap="none" spc="0" normalizeH="0" baseline="0" noProof="0" dirty="0" err="1">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Sinergia</a:t>
            </a:r>
            <a:r>
              <a:rPr kumimoji="0" lang="en-US"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Pratama.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2026 PT </a:t>
            </a:r>
            <a:r>
              <a:rPr kumimoji="0" lang="en-ID" sz="700" b="0" i="0" u="none" strike="noStrike" kern="1200" cap="none" spc="0" normalizeH="0" baseline="0" noProof="0" dirty="0" err="1">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Triatra</a:t>
            </a:r>
            <a:r>
              <a:rPr kumimoji="0" lang="en-ID"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a:t>
            </a:r>
            <a:r>
              <a:rPr kumimoji="0" lang="en-ID" sz="700" b="0" i="0" u="none" strike="noStrike" kern="1200" cap="none" spc="0" normalizeH="0" baseline="0" noProof="0" dirty="0" err="1">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Sinergia</a:t>
            </a:r>
            <a:r>
              <a:rPr kumimoji="0" lang="en-ID"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Pratama. All Rights Reserved.</a:t>
            </a:r>
          </a:p>
        </p:txBody>
      </p:sp>
      <p:sp>
        <p:nvSpPr>
          <p:cNvPr id="26" name="Shape 3">
            <a:extLst>
              <a:ext uri="{FF2B5EF4-FFF2-40B4-BE49-F238E27FC236}">
                <a16:creationId xmlns:a16="http://schemas.microsoft.com/office/drawing/2014/main" id="{DADEF842-D4A7-DB36-0E5F-29B8220AF659}"/>
              </a:ext>
            </a:extLst>
          </p:cNvPr>
          <p:cNvSpPr/>
          <p:nvPr/>
        </p:nvSpPr>
        <p:spPr>
          <a:xfrm>
            <a:off x="441453" y="3385968"/>
            <a:ext cx="822960" cy="45720"/>
          </a:xfrm>
          <a:prstGeom prst="rect">
            <a:avLst/>
          </a:prstGeom>
          <a:solidFill>
            <a:schemeClr val="accent2"/>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TextBox 27">
            <a:extLst>
              <a:ext uri="{FF2B5EF4-FFF2-40B4-BE49-F238E27FC236}">
                <a16:creationId xmlns:a16="http://schemas.microsoft.com/office/drawing/2014/main" id="{6313F337-5B93-EB7D-162C-E34B0F1074FB}"/>
              </a:ext>
            </a:extLst>
          </p:cNvPr>
          <p:cNvSpPr txBox="1"/>
          <p:nvPr/>
        </p:nvSpPr>
        <p:spPr>
          <a:xfrm>
            <a:off x="351212" y="4850775"/>
            <a:ext cx="4519859" cy="369332"/>
          </a:xfrm>
          <a:prstGeom prst="roundRect">
            <a:avLst>
              <a:gd name="adj" fmla="val 0"/>
            </a:avLst>
          </a:prstGeom>
          <a:solidFill>
            <a:schemeClr val="accent2">
              <a:lumMod val="20000"/>
              <a:lumOff val="80000"/>
              <a:alpha val="3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Inter"/>
                <a:cs typeface="Arial" panose="020B0604020202020204" pitchFamily="34" charset="0"/>
                <a:sym typeface="Inter"/>
              </a:rPr>
              <a:t>Prepared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Inter"/>
                <a:cs typeface="Arial" panose="020B0604020202020204" pitchFamily="34" charset="0"/>
                <a:sym typeface="Inter"/>
              </a:rPr>
              <a:t>NEDP 6-Month Review 2026 — slide standard</a:t>
            </a:r>
          </a:p>
        </p:txBody>
      </p:sp>
      <p:sp>
        <p:nvSpPr>
          <p:cNvPr id="31" name="TextBox 30">
            <a:extLst>
              <a:ext uri="{FF2B5EF4-FFF2-40B4-BE49-F238E27FC236}">
                <a16:creationId xmlns:a16="http://schemas.microsoft.com/office/drawing/2014/main" id="{2190F49F-CB8E-2101-41A9-753BFA7B4674}"/>
              </a:ext>
            </a:extLst>
          </p:cNvPr>
          <p:cNvSpPr txBox="1"/>
          <p:nvPr/>
        </p:nvSpPr>
        <p:spPr>
          <a:xfrm>
            <a:off x="345881" y="5474073"/>
            <a:ext cx="5725067" cy="222625"/>
          </a:xfrm>
          <a:prstGeom prst="rect">
            <a:avLst/>
          </a:prstGeom>
          <a:noFill/>
        </p:spPr>
        <p:txBody>
          <a:bodyPr wrap="square">
            <a:spAutoFit/>
          </a:bodyPr>
          <a:lstStyle/>
          <a:p>
            <a:pPr marL="0" marR="0" lvl="0" indent="0" algn="l" defTabSz="914400" rtl="0" eaLnBrk="1" fontAlgn="auto" latinLnBrk="0" hangingPunct="1">
              <a:lnSpc>
                <a:spcPts val="960"/>
              </a:lnSpc>
              <a:spcBef>
                <a:spcPts val="0"/>
              </a:spcBef>
              <a:spcAft>
                <a:spcPts val="0"/>
              </a:spcAft>
              <a:buClrTx/>
              <a:buSzTx/>
              <a:buFontTx/>
              <a:buNone/>
              <a:tabLst/>
              <a:defRPr/>
            </a:pPr>
            <a:r>
              <a:rPr kumimoji="0" lang="en-US" sz="1000" b="1" i="0" u="none" strike="noStrike" kern="1200" cap="none" spc="0" normalizeH="0" baseline="0" noProof="0">
                <a:ln>
                  <a:noFill/>
                </a:ln>
                <a:solidFill>
                  <a:srgbClr val="E55200"/>
                </a:solidFill>
                <a:effectLst/>
                <a:uLnTx/>
                <a:uFillTx/>
                <a:latin typeface="Arial" pitchFamily="34" charset="0"/>
                <a:ea typeface="Arial" pitchFamily="34" charset="-122"/>
                <a:cs typeface="Arial" pitchFamily="34" charset="-120"/>
              </a:rPr>
              <a:t>PT </a:t>
            </a:r>
            <a:r>
              <a:rPr kumimoji="0" lang="en-US" sz="1000" b="1" i="0" u="none" strike="noStrike" kern="1200" cap="none" spc="0" normalizeH="0" baseline="0" noProof="0" err="1">
                <a:ln>
                  <a:noFill/>
                </a:ln>
                <a:solidFill>
                  <a:srgbClr val="E55200"/>
                </a:solidFill>
                <a:effectLst/>
                <a:uLnTx/>
                <a:uFillTx/>
                <a:latin typeface="Arial" pitchFamily="34" charset="0"/>
                <a:ea typeface="Arial" pitchFamily="34" charset="-122"/>
                <a:cs typeface="Arial" pitchFamily="34" charset="-120"/>
              </a:rPr>
              <a:t>Triatra</a:t>
            </a:r>
            <a:r>
              <a:rPr kumimoji="0" lang="en-US" sz="1000" b="1" i="0" u="none" strike="noStrike" kern="1200" cap="none" spc="0" normalizeH="0" baseline="0" noProof="0">
                <a:ln>
                  <a:noFill/>
                </a:ln>
                <a:solidFill>
                  <a:srgbClr val="E55200"/>
                </a:solidFill>
                <a:effectLst/>
                <a:uLnTx/>
                <a:uFillTx/>
                <a:latin typeface="Arial" pitchFamily="34" charset="0"/>
                <a:ea typeface="Arial" pitchFamily="34" charset="-122"/>
                <a:cs typeface="Arial" pitchFamily="34" charset="-120"/>
              </a:rPr>
              <a:t> </a:t>
            </a:r>
            <a:r>
              <a:rPr kumimoji="0" lang="en-US" sz="1000" b="1" i="0" u="none" strike="noStrike" kern="1200" cap="none" spc="0" normalizeH="0" baseline="0" noProof="0" err="1">
                <a:ln>
                  <a:noFill/>
                </a:ln>
                <a:solidFill>
                  <a:srgbClr val="E55200"/>
                </a:solidFill>
                <a:effectLst/>
                <a:uLnTx/>
                <a:uFillTx/>
                <a:latin typeface="Arial" pitchFamily="34" charset="0"/>
                <a:ea typeface="Arial" pitchFamily="34" charset="-122"/>
                <a:cs typeface="Arial" pitchFamily="34" charset="-120"/>
              </a:rPr>
              <a:t>Sinergia</a:t>
            </a:r>
            <a:r>
              <a:rPr kumimoji="0" lang="en-US" sz="1000" b="1" i="0" u="none" strike="noStrike" kern="1200" cap="none" spc="0" normalizeH="0" baseline="0" noProof="0">
                <a:ln>
                  <a:noFill/>
                </a:ln>
                <a:solidFill>
                  <a:srgbClr val="E55200"/>
                </a:solidFill>
                <a:effectLst/>
                <a:uLnTx/>
                <a:uFillTx/>
                <a:latin typeface="Arial" pitchFamily="34" charset="0"/>
                <a:ea typeface="Arial" pitchFamily="34" charset="-122"/>
                <a:cs typeface="Arial" pitchFamily="34" charset="-120"/>
              </a:rPr>
              <a:t> Pratama, a subsidiary of United Tractors Pandu Engineering</a:t>
            </a:r>
            <a:endParaRPr kumimoji="0" lang="en-US" sz="1000" b="1" i="0" u="none" strike="noStrike" kern="1200" cap="none" spc="0" normalizeH="0" baseline="0" noProof="0">
              <a:ln>
                <a:noFill/>
              </a:ln>
              <a:solidFill>
                <a:srgbClr val="E55200"/>
              </a:solidFill>
              <a:effectLst/>
              <a:uLnTx/>
              <a:uFillTx/>
              <a:latin typeface="Aptos" panose="02110004020202020204"/>
              <a:ea typeface="+mn-ea"/>
              <a:cs typeface="+mn-cs"/>
            </a:endParaRPr>
          </a:p>
        </p:txBody>
      </p:sp>
      <p:sp>
        <p:nvSpPr>
          <p:cNvPr id="32" name="Shape 10">
            <a:extLst>
              <a:ext uri="{FF2B5EF4-FFF2-40B4-BE49-F238E27FC236}">
                <a16:creationId xmlns:a16="http://schemas.microsoft.com/office/drawing/2014/main" id="{40BAF280-1098-9968-276D-8AAA565BD919}"/>
              </a:ext>
            </a:extLst>
          </p:cNvPr>
          <p:cNvSpPr/>
          <p:nvPr/>
        </p:nvSpPr>
        <p:spPr>
          <a:xfrm>
            <a:off x="403207" y="5822037"/>
            <a:ext cx="4770146" cy="0"/>
          </a:xfrm>
          <a:prstGeom prst="line">
            <a:avLst/>
          </a:prstGeom>
          <a:noFill/>
          <a:ln w="11430">
            <a:solidFill>
              <a:srgbClr val="E6D9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7" name="Text 14">
            <a:extLst>
              <a:ext uri="{FF2B5EF4-FFF2-40B4-BE49-F238E27FC236}">
                <a16:creationId xmlns:a16="http://schemas.microsoft.com/office/drawing/2014/main" id="{67D9B156-A816-8AEB-E38E-7ED9C2C3849D}"/>
              </a:ext>
            </a:extLst>
          </p:cNvPr>
          <p:cNvSpPr/>
          <p:nvPr/>
        </p:nvSpPr>
        <p:spPr>
          <a:xfrm>
            <a:off x="6132513" y="5504132"/>
            <a:ext cx="3840480" cy="822960"/>
          </a:xfrm>
          <a:prstGeom prst="rect">
            <a:avLst/>
          </a:prstGeom>
          <a:noFill/>
          <a:ln/>
        </p:spPr>
        <p:txBody>
          <a:bodyPr wrap="square" lIns="0" tIns="0" rIns="0" bIns="0" rtlCol="0" anchor="b"/>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700" b="1" i="1"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Total Solution</a:t>
            </a:r>
            <a:endParaRPr kumimoji="0" lang="en-US" sz="17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700" b="1" i="1"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for Your Productivity</a:t>
            </a:r>
            <a:endParaRPr kumimoji="0" lang="en-US" sz="17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38" name="Picture 37">
            <a:extLst>
              <a:ext uri="{FF2B5EF4-FFF2-40B4-BE49-F238E27FC236}">
                <a16:creationId xmlns:a16="http://schemas.microsoft.com/office/drawing/2014/main" id="{B4D497E5-E39B-2A38-BD9E-44441F5C33E9}"/>
              </a:ext>
            </a:extLst>
          </p:cNvPr>
          <p:cNvPicPr>
            <a:picLocks noChangeAspect="1"/>
          </p:cNvPicPr>
          <p:nvPr/>
        </p:nvPicPr>
        <p:blipFill>
          <a:blip r:embed="rId3"/>
          <a:stretch>
            <a:fillRect/>
          </a:stretch>
        </p:blipFill>
        <p:spPr>
          <a:xfrm>
            <a:off x="441453" y="344966"/>
            <a:ext cx="918990" cy="518880"/>
          </a:xfrm>
          <a:prstGeom prst="rect">
            <a:avLst/>
          </a:prstGeom>
        </p:spPr>
      </p:pic>
      <p:pic>
        <p:nvPicPr>
          <p:cNvPr id="6" name="Picture 5">
            <a:extLst>
              <a:ext uri="{FF2B5EF4-FFF2-40B4-BE49-F238E27FC236}">
                <a16:creationId xmlns:a16="http://schemas.microsoft.com/office/drawing/2014/main" id="{8F488CE8-51D3-7A7D-80F1-12CBBAC19D4B}"/>
              </a:ext>
            </a:extLst>
          </p:cNvPr>
          <p:cNvPicPr>
            <a:picLocks noChangeAspect="1"/>
          </p:cNvPicPr>
          <p:nvPr/>
        </p:nvPicPr>
        <p:blipFill>
          <a:blip r:embed="rId4"/>
          <a:stretch>
            <a:fillRect/>
          </a:stretch>
        </p:blipFill>
        <p:spPr>
          <a:xfrm>
            <a:off x="4010122" y="385763"/>
            <a:ext cx="1376070" cy="405311"/>
          </a:xfrm>
          <a:prstGeom prst="rect">
            <a:avLst/>
          </a:prstGeom>
        </p:spPr>
      </p:pic>
      <p:sp>
        <p:nvSpPr>
          <p:cNvPr id="8" name="TextBox 7">
            <a:extLst>
              <a:ext uri="{FF2B5EF4-FFF2-40B4-BE49-F238E27FC236}">
                <a16:creationId xmlns:a16="http://schemas.microsoft.com/office/drawing/2014/main" id="{52DD8D62-A6B3-E9A2-76FC-A5E8BF29D2F9}"/>
              </a:ext>
            </a:extLst>
          </p:cNvPr>
          <p:cNvSpPr txBox="1"/>
          <p:nvPr/>
        </p:nvSpPr>
        <p:spPr>
          <a:xfrm>
            <a:off x="310643" y="5842765"/>
            <a:ext cx="4559300" cy="374571"/>
          </a:xfrm>
          <a:prstGeom prst="round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Inter"/>
                <a:cs typeface="Arial" panose="020B0604020202020204" pitchFamily="34" charset="0"/>
                <a:sym typeface="Inter"/>
              </a:rPr>
              <a:t>13 October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Inter"/>
                <a:cs typeface="Arial" panose="020B0604020202020204" pitchFamily="34" charset="0"/>
                <a:sym typeface="Inter"/>
              </a:rPr>
              <a:t>File version: 13.10.2026</a:t>
            </a:r>
          </a:p>
        </p:txBody>
      </p:sp>
      <p:pic>
        <p:nvPicPr>
          <p:cNvPr id="2" name="Picture 1">
            <a:extLst>
              <a:ext uri="{FF2B5EF4-FFF2-40B4-BE49-F238E27FC236}">
                <a16:creationId xmlns:a16="http://schemas.microsoft.com/office/drawing/2014/main" id="{189E212E-348D-5DCD-2173-FE2BEAB4A778}"/>
              </a:ext>
            </a:extLst>
          </p:cNvPr>
          <p:cNvPicPr>
            <a:picLocks noChangeAspect="1"/>
          </p:cNvPicPr>
          <p:nvPr/>
        </p:nvPicPr>
        <p:blipFill>
          <a:blip r:embed="rId5"/>
          <a:stretch>
            <a:fillRect/>
          </a:stretch>
        </p:blipFill>
        <p:spPr>
          <a:xfrm>
            <a:off x="2741388" y="435215"/>
            <a:ext cx="1135803" cy="243453"/>
          </a:xfrm>
          <a:prstGeom prst="rect">
            <a:avLst/>
          </a:prstGeom>
        </p:spPr>
      </p:pic>
    </p:spTree>
    <p:extLst>
      <p:ext uri="{BB962C8B-B14F-4D97-AF65-F5344CB8AC3E}">
        <p14:creationId xmlns:p14="http://schemas.microsoft.com/office/powerpoint/2010/main" val="1017000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0.5</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3" name="TextBox 2"/>
          <p:cNvSpPr txBox="1"/>
          <p:nvPr/>
        </p:nvSpPr>
        <p:spPr>
          <a:xfrm>
            <a:off x="896112" y="170211"/>
            <a:ext cx="930859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200" b="1" i="0" u="none" strike="noStrike" kern="1200" cap="none" spc="0" normalizeH="0" baseline="0" noProof="0" dirty="0">
                <a:ln>
                  <a:noFill/>
                </a:ln>
                <a:solidFill>
                  <a:srgbClr val="E55200"/>
                </a:solidFill>
                <a:effectLst/>
                <a:uLnTx/>
                <a:uFillTx/>
                <a:latin typeface="Arial"/>
                <a:ea typeface="+mn-ea"/>
                <a:cs typeface="+mn-cs"/>
              </a:rPr>
              <a:t>DESIGN GUIDANCE — COLOUR PALETTE &amp; BOXES</a:t>
            </a:r>
          </a:p>
        </p:txBody>
      </p:sp>
      <p:sp>
        <p:nvSpPr>
          <p:cNvPr id="4" name="TextBox 3"/>
          <p:cNvSpPr txBox="1"/>
          <p:nvPr/>
        </p:nvSpPr>
        <p:spPr>
          <a:xfrm>
            <a:off x="896112" y="407955"/>
            <a:ext cx="996696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400" b="1" i="0" u="none" strike="noStrike" kern="1200" cap="none" spc="0" normalizeH="0" baseline="0" noProof="0">
                <a:ln>
                  <a:noFill/>
                </a:ln>
                <a:solidFill>
                  <a:srgbClr val="26262A"/>
                </a:solidFill>
                <a:effectLst/>
                <a:uLnTx/>
                <a:uFillTx/>
                <a:latin typeface="Arial"/>
                <a:ea typeface="+mn-ea"/>
                <a:cs typeface="+mn-cs"/>
              </a:rPr>
              <a:t>Eleven colours and six box types — copy from here when building new slides</a:t>
            </a:r>
          </a:p>
        </p:txBody>
      </p:sp>
      <p:sp>
        <p:nvSpPr>
          <p:cNvPr id="5" name="TextBox 4"/>
          <p:cNvSpPr txBox="1"/>
          <p:nvPr/>
        </p:nvSpPr>
        <p:spPr>
          <a:xfrm>
            <a:off x="566928" y="932688"/>
            <a:ext cx="1105509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1 · COLOUR PALETTE</a:t>
            </a:r>
          </a:p>
        </p:txBody>
      </p:sp>
      <p:sp>
        <p:nvSpPr>
          <p:cNvPr id="6" name="Rectangle 5"/>
          <p:cNvSpPr/>
          <p:nvPr/>
        </p:nvSpPr>
        <p:spPr>
          <a:xfrm>
            <a:off x="566928" y="1152144"/>
            <a:ext cx="11055096"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p:cNvSpPr/>
          <p:nvPr/>
        </p:nvSpPr>
        <p:spPr>
          <a:xfrm>
            <a:off x="566928" y="1261872"/>
            <a:ext cx="905256" cy="329184"/>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7"/>
          <p:cNvSpPr txBox="1"/>
          <p:nvPr/>
        </p:nvSpPr>
        <p:spPr>
          <a:xfrm>
            <a:off x="566928"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Brown</a:t>
            </a:r>
          </a:p>
        </p:txBody>
      </p:sp>
      <p:sp>
        <p:nvSpPr>
          <p:cNvPr id="9" name="TextBox 8"/>
          <p:cNvSpPr txBox="1"/>
          <p:nvPr/>
        </p:nvSpPr>
        <p:spPr>
          <a:xfrm>
            <a:off x="566928"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80350E</a:t>
            </a:r>
          </a:p>
        </p:txBody>
      </p:sp>
      <p:sp>
        <p:nvSpPr>
          <p:cNvPr id="10" name="TextBox 9"/>
          <p:cNvSpPr txBox="1"/>
          <p:nvPr/>
        </p:nvSpPr>
        <p:spPr>
          <a:xfrm>
            <a:off x="566928"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Key takeaway, number tag, NPD bar</a:t>
            </a:r>
          </a:p>
        </p:txBody>
      </p:sp>
      <p:sp>
        <p:nvSpPr>
          <p:cNvPr id="11" name="Rectangle 10"/>
          <p:cNvSpPr/>
          <p:nvPr/>
        </p:nvSpPr>
        <p:spPr>
          <a:xfrm>
            <a:off x="1581912" y="1261872"/>
            <a:ext cx="905256" cy="329184"/>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TextBox 11"/>
          <p:cNvSpPr txBox="1"/>
          <p:nvPr/>
        </p:nvSpPr>
        <p:spPr>
          <a:xfrm>
            <a:off x="1581912"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Orange</a:t>
            </a:r>
          </a:p>
        </p:txBody>
      </p:sp>
      <p:sp>
        <p:nvSpPr>
          <p:cNvPr id="13" name="TextBox 12"/>
          <p:cNvSpPr txBox="1"/>
          <p:nvPr/>
        </p:nvSpPr>
        <p:spPr>
          <a:xfrm>
            <a:off x="1581912"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E55200</a:t>
            </a:r>
          </a:p>
        </p:txBody>
      </p:sp>
      <p:sp>
        <p:nvSpPr>
          <p:cNvPr id="14" name="TextBox 13"/>
          <p:cNvSpPr txBox="1"/>
          <p:nvPr/>
        </p:nvSpPr>
        <p:spPr>
          <a:xfrm>
            <a:off x="1581912"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Section label, key number, risk</a:t>
            </a:r>
          </a:p>
        </p:txBody>
      </p:sp>
      <p:sp>
        <p:nvSpPr>
          <p:cNvPr id="15" name="Rectangle 14"/>
          <p:cNvSpPr/>
          <p:nvPr/>
        </p:nvSpPr>
        <p:spPr>
          <a:xfrm>
            <a:off x="2596896" y="1261872"/>
            <a:ext cx="905256" cy="329184"/>
          </a:xfrm>
          <a:prstGeom prst="rect">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2596896"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Sand</a:t>
            </a:r>
          </a:p>
        </p:txBody>
      </p:sp>
      <p:sp>
        <p:nvSpPr>
          <p:cNvPr id="17" name="TextBox 16"/>
          <p:cNvSpPr txBox="1"/>
          <p:nvPr/>
        </p:nvSpPr>
        <p:spPr>
          <a:xfrm>
            <a:off x="2596896"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A35F35</a:t>
            </a:r>
          </a:p>
        </p:txBody>
      </p:sp>
      <p:sp>
        <p:nvSpPr>
          <p:cNvPr id="18" name="TextBox 17"/>
          <p:cNvSpPr txBox="1"/>
          <p:nvPr/>
        </p:nvSpPr>
        <p:spPr>
          <a:xfrm>
            <a:off x="2596896"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Trial bar, ask / decision box</a:t>
            </a:r>
          </a:p>
        </p:txBody>
      </p:sp>
      <p:sp>
        <p:nvSpPr>
          <p:cNvPr id="19" name="Rectangle 18"/>
          <p:cNvSpPr/>
          <p:nvPr/>
        </p:nvSpPr>
        <p:spPr>
          <a:xfrm>
            <a:off x="3611880" y="1261872"/>
            <a:ext cx="905256" cy="329184"/>
          </a:xfrm>
          <a:prstGeom prst="rect">
            <a:avLst/>
          </a:prstGeom>
          <a:solidFill>
            <a:srgbClr val="F0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TextBox 19"/>
          <p:cNvSpPr txBox="1"/>
          <p:nvPr/>
        </p:nvSpPr>
        <p:spPr>
          <a:xfrm>
            <a:off x="3611880"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Peach</a:t>
            </a:r>
          </a:p>
        </p:txBody>
      </p:sp>
      <p:sp>
        <p:nvSpPr>
          <p:cNvPr id="21" name="TextBox 20"/>
          <p:cNvSpPr txBox="1"/>
          <p:nvPr/>
        </p:nvSpPr>
        <p:spPr>
          <a:xfrm>
            <a:off x="3611880"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F0A878</a:t>
            </a:r>
          </a:p>
        </p:txBody>
      </p:sp>
      <p:sp>
        <p:nvSpPr>
          <p:cNvPr id="22" name="TextBox 21"/>
          <p:cNvSpPr txBox="1"/>
          <p:nvPr/>
        </p:nvSpPr>
        <p:spPr>
          <a:xfrm>
            <a:off x="3611880"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NPI bar, label on dark box</a:t>
            </a:r>
          </a:p>
        </p:txBody>
      </p:sp>
      <p:sp>
        <p:nvSpPr>
          <p:cNvPr id="23" name="Rectangle 22"/>
          <p:cNvSpPr/>
          <p:nvPr/>
        </p:nvSpPr>
        <p:spPr>
          <a:xfrm>
            <a:off x="4626864" y="1261872"/>
            <a:ext cx="905256" cy="329184"/>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TextBox 23"/>
          <p:cNvSpPr txBox="1"/>
          <p:nvPr/>
        </p:nvSpPr>
        <p:spPr>
          <a:xfrm>
            <a:off x="4626864"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Grey</a:t>
            </a:r>
          </a:p>
        </p:txBody>
      </p:sp>
      <p:sp>
        <p:nvSpPr>
          <p:cNvPr id="25" name="TextBox 24"/>
          <p:cNvSpPr txBox="1"/>
          <p:nvPr/>
        </p:nvSpPr>
        <p:spPr>
          <a:xfrm>
            <a:off x="4626864"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B8BEC4</a:t>
            </a:r>
          </a:p>
        </p:txBody>
      </p:sp>
      <p:sp>
        <p:nvSpPr>
          <p:cNvPr id="26" name="TextBox 25"/>
          <p:cNvSpPr txBox="1"/>
          <p:nvPr/>
        </p:nvSpPr>
        <p:spPr>
          <a:xfrm>
            <a:off x="4626864"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Commercial bar, not started</a:t>
            </a:r>
          </a:p>
        </p:txBody>
      </p:sp>
      <p:sp>
        <p:nvSpPr>
          <p:cNvPr id="27" name="Rectangle 26"/>
          <p:cNvSpPr/>
          <p:nvPr/>
        </p:nvSpPr>
        <p:spPr>
          <a:xfrm>
            <a:off x="5641848" y="1261872"/>
            <a:ext cx="905256" cy="329184"/>
          </a:xfrm>
          <a:prstGeom prst="rect">
            <a:avLst/>
          </a:prstGeom>
          <a:solidFill>
            <a:srgbClr val="6E7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8" name="TextBox 27"/>
          <p:cNvSpPr txBox="1"/>
          <p:nvPr/>
        </p:nvSpPr>
        <p:spPr>
          <a:xfrm>
            <a:off x="5641848"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Muted</a:t>
            </a:r>
          </a:p>
        </p:txBody>
      </p:sp>
      <p:sp>
        <p:nvSpPr>
          <p:cNvPr id="29" name="TextBox 28"/>
          <p:cNvSpPr txBox="1"/>
          <p:nvPr/>
        </p:nvSpPr>
        <p:spPr>
          <a:xfrm>
            <a:off x="5641848"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6E7B84</a:t>
            </a:r>
          </a:p>
        </p:txBody>
      </p:sp>
      <p:sp>
        <p:nvSpPr>
          <p:cNvPr id="30" name="TextBox 29"/>
          <p:cNvSpPr txBox="1"/>
          <p:nvPr/>
        </p:nvSpPr>
        <p:spPr>
          <a:xfrm>
            <a:off x="5641848"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Sub-label, source, header</a:t>
            </a:r>
          </a:p>
        </p:txBody>
      </p:sp>
      <p:sp>
        <p:nvSpPr>
          <p:cNvPr id="31" name="Rectangle 30"/>
          <p:cNvSpPr/>
          <p:nvPr/>
        </p:nvSpPr>
        <p:spPr>
          <a:xfrm>
            <a:off x="6656832" y="1261872"/>
            <a:ext cx="905256" cy="329184"/>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TextBox 31"/>
          <p:cNvSpPr txBox="1"/>
          <p:nvPr/>
        </p:nvSpPr>
        <p:spPr>
          <a:xfrm>
            <a:off x="6656832"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Ink</a:t>
            </a:r>
          </a:p>
        </p:txBody>
      </p:sp>
      <p:sp>
        <p:nvSpPr>
          <p:cNvPr id="33" name="TextBox 32"/>
          <p:cNvSpPr txBox="1"/>
          <p:nvPr/>
        </p:nvSpPr>
        <p:spPr>
          <a:xfrm>
            <a:off x="6656832"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26262A</a:t>
            </a:r>
          </a:p>
        </p:txBody>
      </p:sp>
      <p:sp>
        <p:nvSpPr>
          <p:cNvPr id="34" name="TextBox 33"/>
          <p:cNvSpPr txBox="1"/>
          <p:nvPr/>
        </p:nvSpPr>
        <p:spPr>
          <a:xfrm>
            <a:off x="6656832"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Title and body text</a:t>
            </a:r>
          </a:p>
        </p:txBody>
      </p:sp>
      <p:sp>
        <p:nvSpPr>
          <p:cNvPr id="35" name="Rectangle 34"/>
          <p:cNvSpPr/>
          <p:nvPr/>
        </p:nvSpPr>
        <p:spPr>
          <a:xfrm>
            <a:off x="7671816" y="1261872"/>
            <a:ext cx="905256" cy="329184"/>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TextBox 35"/>
          <p:cNvSpPr txBox="1"/>
          <p:nvPr/>
        </p:nvSpPr>
        <p:spPr>
          <a:xfrm>
            <a:off x="7671816"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Wash</a:t>
            </a:r>
          </a:p>
        </p:txBody>
      </p:sp>
      <p:sp>
        <p:nvSpPr>
          <p:cNvPr id="37" name="TextBox 36"/>
          <p:cNvSpPr txBox="1"/>
          <p:nvPr/>
        </p:nvSpPr>
        <p:spPr>
          <a:xfrm>
            <a:off x="7671816"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F7F8FA</a:t>
            </a:r>
          </a:p>
        </p:txBody>
      </p:sp>
      <p:sp>
        <p:nvSpPr>
          <p:cNvPr id="38" name="TextBox 37"/>
          <p:cNvSpPr txBox="1"/>
          <p:nvPr/>
        </p:nvSpPr>
        <p:spPr>
          <a:xfrm>
            <a:off x="7671816"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Card and key number fill</a:t>
            </a:r>
          </a:p>
        </p:txBody>
      </p:sp>
      <p:sp>
        <p:nvSpPr>
          <p:cNvPr id="39" name="Rectangle 38"/>
          <p:cNvSpPr/>
          <p:nvPr/>
        </p:nvSpPr>
        <p:spPr>
          <a:xfrm>
            <a:off x="8686800" y="1261872"/>
            <a:ext cx="905256" cy="329184"/>
          </a:xfrm>
          <a:prstGeom prst="rect">
            <a:avLst/>
          </a:prstGeom>
          <a:solidFill>
            <a:srgbClr val="C9D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TextBox 39"/>
          <p:cNvSpPr txBox="1"/>
          <p:nvPr/>
        </p:nvSpPr>
        <p:spPr>
          <a:xfrm>
            <a:off x="8686800"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Border</a:t>
            </a:r>
          </a:p>
        </p:txBody>
      </p:sp>
      <p:sp>
        <p:nvSpPr>
          <p:cNvPr id="41" name="TextBox 40"/>
          <p:cNvSpPr txBox="1"/>
          <p:nvPr/>
        </p:nvSpPr>
        <p:spPr>
          <a:xfrm>
            <a:off x="8686800"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C9D0D7</a:t>
            </a:r>
          </a:p>
        </p:txBody>
      </p:sp>
      <p:sp>
        <p:nvSpPr>
          <p:cNvPr id="42" name="TextBox 41"/>
          <p:cNvSpPr txBox="1"/>
          <p:nvPr/>
        </p:nvSpPr>
        <p:spPr>
          <a:xfrm>
            <a:off x="8686800"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Card outline</a:t>
            </a:r>
          </a:p>
        </p:txBody>
      </p:sp>
      <p:sp>
        <p:nvSpPr>
          <p:cNvPr id="43" name="Rectangle 42"/>
          <p:cNvSpPr/>
          <p:nvPr/>
        </p:nvSpPr>
        <p:spPr>
          <a:xfrm>
            <a:off x="9701784" y="1261872"/>
            <a:ext cx="905256" cy="329184"/>
          </a:xfrm>
          <a:prstGeom prst="rect">
            <a:avLst/>
          </a:prstGeom>
          <a:solidFill>
            <a:srgbClr val="E4E8EB"/>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TextBox 43"/>
          <p:cNvSpPr txBox="1"/>
          <p:nvPr/>
        </p:nvSpPr>
        <p:spPr>
          <a:xfrm>
            <a:off x="9701784"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Rule</a:t>
            </a:r>
          </a:p>
        </p:txBody>
      </p:sp>
      <p:sp>
        <p:nvSpPr>
          <p:cNvPr id="45" name="TextBox 44"/>
          <p:cNvSpPr txBox="1"/>
          <p:nvPr/>
        </p:nvSpPr>
        <p:spPr>
          <a:xfrm>
            <a:off x="9701784"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E4E8EB</a:t>
            </a:r>
          </a:p>
        </p:txBody>
      </p:sp>
      <p:sp>
        <p:nvSpPr>
          <p:cNvPr id="46" name="TextBox 45"/>
          <p:cNvSpPr txBox="1"/>
          <p:nvPr/>
        </p:nvSpPr>
        <p:spPr>
          <a:xfrm>
            <a:off x="9701784"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Hairline under row / kicker</a:t>
            </a:r>
          </a:p>
        </p:txBody>
      </p:sp>
      <p:sp>
        <p:nvSpPr>
          <p:cNvPr id="47" name="Rectangle 46"/>
          <p:cNvSpPr/>
          <p:nvPr/>
        </p:nvSpPr>
        <p:spPr>
          <a:xfrm>
            <a:off x="10716768" y="1261872"/>
            <a:ext cx="905256" cy="329184"/>
          </a:xfrm>
          <a:prstGeom prst="rect">
            <a:avLst/>
          </a:prstGeom>
          <a:solidFill>
            <a:srgbClr val="FDEEE4"/>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8" name="TextBox 47"/>
          <p:cNvSpPr txBox="1"/>
          <p:nvPr/>
        </p:nvSpPr>
        <p:spPr>
          <a:xfrm>
            <a:off x="10716768"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Tint</a:t>
            </a:r>
          </a:p>
        </p:txBody>
      </p:sp>
      <p:sp>
        <p:nvSpPr>
          <p:cNvPr id="49" name="TextBox 48"/>
          <p:cNvSpPr txBox="1"/>
          <p:nvPr/>
        </p:nvSpPr>
        <p:spPr>
          <a:xfrm>
            <a:off x="10716768"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FDEEE4</a:t>
            </a:r>
          </a:p>
        </p:txBody>
      </p:sp>
      <p:sp>
        <p:nvSpPr>
          <p:cNvPr id="50" name="TextBox 49"/>
          <p:cNvSpPr txBox="1"/>
          <p:nvPr/>
        </p:nvSpPr>
        <p:spPr>
          <a:xfrm>
            <a:off x="10716768"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Note / context box</a:t>
            </a:r>
          </a:p>
        </p:txBody>
      </p:sp>
      <p:sp>
        <p:nvSpPr>
          <p:cNvPr id="51" name="TextBox 50"/>
          <p:cNvSpPr txBox="1"/>
          <p:nvPr/>
        </p:nvSpPr>
        <p:spPr>
          <a:xfrm>
            <a:off x="566928" y="2487168"/>
            <a:ext cx="1105509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2 · BOXES — BOX AND ROUNDED VERSIONS</a:t>
            </a:r>
          </a:p>
        </p:txBody>
      </p:sp>
      <p:sp>
        <p:nvSpPr>
          <p:cNvPr id="52" name="Rectangle 51"/>
          <p:cNvSpPr/>
          <p:nvPr/>
        </p:nvSpPr>
        <p:spPr>
          <a:xfrm>
            <a:off x="566928" y="2706624"/>
            <a:ext cx="11055096"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3" name="TextBox 52"/>
          <p:cNvSpPr txBox="1"/>
          <p:nvPr/>
        </p:nvSpPr>
        <p:spPr>
          <a:xfrm>
            <a:off x="1344168"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KEY NUMBER</a:t>
            </a:r>
          </a:p>
        </p:txBody>
      </p:sp>
      <p:sp>
        <p:nvSpPr>
          <p:cNvPr id="54" name="TextBox 53"/>
          <p:cNvSpPr txBox="1"/>
          <p:nvPr/>
        </p:nvSpPr>
        <p:spPr>
          <a:xfrm>
            <a:off x="3087624"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CONTENT CARD</a:t>
            </a:r>
          </a:p>
        </p:txBody>
      </p:sp>
      <p:sp>
        <p:nvSpPr>
          <p:cNvPr id="55" name="TextBox 54"/>
          <p:cNvSpPr txBox="1"/>
          <p:nvPr/>
        </p:nvSpPr>
        <p:spPr>
          <a:xfrm>
            <a:off x="4831080"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KEY TAKEAWAY</a:t>
            </a:r>
          </a:p>
        </p:txBody>
      </p:sp>
      <p:sp>
        <p:nvSpPr>
          <p:cNvPr id="56" name="TextBox 55"/>
          <p:cNvSpPr txBox="1"/>
          <p:nvPr/>
        </p:nvSpPr>
        <p:spPr>
          <a:xfrm>
            <a:off x="6574536"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ATTENTION / RISK</a:t>
            </a:r>
          </a:p>
        </p:txBody>
      </p:sp>
      <p:sp>
        <p:nvSpPr>
          <p:cNvPr id="57" name="TextBox 56"/>
          <p:cNvSpPr txBox="1"/>
          <p:nvPr/>
        </p:nvSpPr>
        <p:spPr>
          <a:xfrm>
            <a:off x="8317992"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ASK / DECISION</a:t>
            </a:r>
          </a:p>
        </p:txBody>
      </p:sp>
      <p:sp>
        <p:nvSpPr>
          <p:cNvPr id="58" name="TextBox 57"/>
          <p:cNvSpPr txBox="1"/>
          <p:nvPr/>
        </p:nvSpPr>
        <p:spPr>
          <a:xfrm>
            <a:off x="10061448"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NOTE / CONTEXT</a:t>
            </a:r>
          </a:p>
        </p:txBody>
      </p:sp>
      <p:sp>
        <p:nvSpPr>
          <p:cNvPr id="59" name="TextBox 58"/>
          <p:cNvSpPr txBox="1"/>
          <p:nvPr/>
        </p:nvSpPr>
        <p:spPr>
          <a:xfrm>
            <a:off x="566928" y="3328415"/>
            <a:ext cx="7772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BOX</a:t>
            </a:r>
          </a:p>
        </p:txBody>
      </p:sp>
      <p:sp>
        <p:nvSpPr>
          <p:cNvPr id="60" name="Rectangle 59"/>
          <p:cNvSpPr/>
          <p:nvPr/>
        </p:nvSpPr>
        <p:spPr>
          <a:xfrm>
            <a:off x="1344168" y="3017520"/>
            <a:ext cx="1560576" cy="804672"/>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TextBox 60"/>
          <p:cNvSpPr txBox="1"/>
          <p:nvPr/>
        </p:nvSpPr>
        <p:spPr>
          <a:xfrm>
            <a:off x="1472184" y="3127248"/>
            <a:ext cx="1331976" cy="32918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2000" b="1" i="0" u="none" strike="noStrike" kern="1200" cap="none" spc="0" normalizeH="0" baseline="0" noProof="0">
                <a:ln>
                  <a:noFill/>
                </a:ln>
                <a:solidFill>
                  <a:srgbClr val="E55200"/>
                </a:solidFill>
                <a:effectLst/>
                <a:uLnTx/>
                <a:uFillTx/>
                <a:latin typeface="Arial"/>
                <a:ea typeface="+mn-ea"/>
                <a:cs typeface="+mn-cs"/>
              </a:rPr>
              <a:t>2 of 3</a:t>
            </a:r>
          </a:p>
        </p:txBody>
      </p:sp>
      <p:sp>
        <p:nvSpPr>
          <p:cNvPr id="62" name="TextBox 61"/>
          <p:cNvSpPr txBox="1"/>
          <p:nvPr/>
        </p:nvSpPr>
        <p:spPr>
          <a:xfrm>
            <a:off x="1472184" y="3547872"/>
            <a:ext cx="133197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1A1A1A"/>
                </a:solidFill>
                <a:effectLst/>
                <a:uLnTx/>
                <a:uFillTx/>
                <a:latin typeface="Arial"/>
                <a:ea typeface="+mn-ea"/>
                <a:cs typeface="+mn-cs"/>
              </a:rPr>
              <a:t>One short label</a:t>
            </a:r>
          </a:p>
        </p:txBody>
      </p:sp>
      <p:sp>
        <p:nvSpPr>
          <p:cNvPr id="63" name="Rectangle 62"/>
          <p:cNvSpPr/>
          <p:nvPr/>
        </p:nvSpPr>
        <p:spPr>
          <a:xfrm>
            <a:off x="3087624" y="3017520"/>
            <a:ext cx="1560576" cy="804672"/>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4" name="TextBox 63"/>
          <p:cNvSpPr txBox="1"/>
          <p:nvPr/>
        </p:nvSpPr>
        <p:spPr>
          <a:xfrm>
            <a:off x="3215640" y="3127248"/>
            <a:ext cx="1331976"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1" i="0" u="none" strike="noStrike" kern="1200" cap="none" spc="0" normalizeH="0" baseline="0" noProof="0">
                <a:ln>
                  <a:noFill/>
                </a:ln>
                <a:solidFill>
                  <a:srgbClr val="80350E"/>
                </a:solidFill>
                <a:effectLst/>
                <a:uLnTx/>
                <a:uFillTx/>
                <a:latin typeface="Arial"/>
                <a:ea typeface="+mn-ea"/>
                <a:cs typeface="+mn-cs"/>
              </a:rPr>
              <a:t>Card title</a:t>
            </a:r>
          </a:p>
        </p:txBody>
      </p:sp>
      <p:sp>
        <p:nvSpPr>
          <p:cNvPr id="65" name="TextBox 64"/>
          <p:cNvSpPr txBox="1"/>
          <p:nvPr/>
        </p:nvSpPr>
        <p:spPr>
          <a:xfrm>
            <a:off x="3215640" y="3364991"/>
            <a:ext cx="133197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Supporting detail, two lines max</a:t>
            </a:r>
          </a:p>
        </p:txBody>
      </p:sp>
      <p:sp>
        <p:nvSpPr>
          <p:cNvPr id="66" name="Rectangle 65"/>
          <p:cNvSpPr/>
          <p:nvPr/>
        </p:nvSpPr>
        <p:spPr>
          <a:xfrm>
            <a:off x="4831080" y="3017520"/>
            <a:ext cx="1560576" cy="804672"/>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7" name="TextBox 66"/>
          <p:cNvSpPr txBox="1"/>
          <p:nvPr/>
        </p:nvSpPr>
        <p:spPr>
          <a:xfrm>
            <a:off x="4959096" y="312724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0A878"/>
                </a:solidFill>
                <a:effectLst/>
                <a:uLnTx/>
                <a:uFillTx/>
                <a:latin typeface="Arial"/>
                <a:ea typeface="+mn-ea"/>
                <a:cs typeface="+mn-cs"/>
              </a:rPr>
              <a:t>KEY TAKEAWAY</a:t>
            </a:r>
          </a:p>
        </p:txBody>
      </p:sp>
      <p:sp>
        <p:nvSpPr>
          <p:cNvPr id="68" name="TextBox 67"/>
          <p:cNvSpPr txBox="1"/>
          <p:nvPr/>
        </p:nvSpPr>
        <p:spPr>
          <a:xfrm>
            <a:off x="4959096" y="3346703"/>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The one point the GMC must remember</a:t>
            </a:r>
          </a:p>
        </p:txBody>
      </p:sp>
      <p:sp>
        <p:nvSpPr>
          <p:cNvPr id="69" name="Rectangle 68"/>
          <p:cNvSpPr/>
          <p:nvPr/>
        </p:nvSpPr>
        <p:spPr>
          <a:xfrm>
            <a:off x="6574536" y="3017520"/>
            <a:ext cx="1560576" cy="804672"/>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0" name="TextBox 69"/>
          <p:cNvSpPr txBox="1"/>
          <p:nvPr/>
        </p:nvSpPr>
        <p:spPr>
          <a:xfrm>
            <a:off x="6702552" y="312724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ATTENTION</a:t>
            </a:r>
          </a:p>
        </p:txBody>
      </p:sp>
      <p:sp>
        <p:nvSpPr>
          <p:cNvPr id="71" name="TextBox 70"/>
          <p:cNvSpPr txBox="1"/>
          <p:nvPr/>
        </p:nvSpPr>
        <p:spPr>
          <a:xfrm>
            <a:off x="6702552" y="3346703"/>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FFFFFF"/>
                </a:solidFill>
                <a:effectLst/>
                <a:uLnTx/>
                <a:uFillTx/>
                <a:latin typeface="Arial"/>
                <a:ea typeface="+mn-ea"/>
                <a:cs typeface="+mn-cs"/>
              </a:rPr>
              <a:t>Risk, slip or issue to flag</a:t>
            </a:r>
          </a:p>
        </p:txBody>
      </p:sp>
      <p:sp>
        <p:nvSpPr>
          <p:cNvPr id="72" name="Rectangle 71"/>
          <p:cNvSpPr/>
          <p:nvPr/>
        </p:nvSpPr>
        <p:spPr>
          <a:xfrm>
            <a:off x="8317992" y="3017520"/>
            <a:ext cx="1560576" cy="804672"/>
          </a:xfrm>
          <a:prstGeom prst="rect">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3" name="TextBox 72"/>
          <p:cNvSpPr txBox="1"/>
          <p:nvPr/>
        </p:nvSpPr>
        <p:spPr>
          <a:xfrm>
            <a:off x="8446008" y="312724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ASK</a:t>
            </a:r>
          </a:p>
        </p:txBody>
      </p:sp>
      <p:sp>
        <p:nvSpPr>
          <p:cNvPr id="74" name="TextBox 73"/>
          <p:cNvSpPr txBox="1"/>
          <p:nvPr/>
        </p:nvSpPr>
        <p:spPr>
          <a:xfrm>
            <a:off x="8446008" y="3346703"/>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FFFFFF"/>
                </a:solidFill>
                <a:effectLst/>
                <a:uLnTx/>
                <a:uFillTx/>
                <a:latin typeface="Arial"/>
                <a:ea typeface="+mn-ea"/>
                <a:cs typeface="+mn-cs"/>
              </a:rPr>
              <a:t>Support or decision requested</a:t>
            </a:r>
          </a:p>
        </p:txBody>
      </p:sp>
      <p:sp>
        <p:nvSpPr>
          <p:cNvPr id="75" name="Rectangle 74"/>
          <p:cNvSpPr/>
          <p:nvPr/>
        </p:nvSpPr>
        <p:spPr>
          <a:xfrm>
            <a:off x="10061448" y="3017520"/>
            <a:ext cx="1560576" cy="804672"/>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6" name="TextBox 75"/>
          <p:cNvSpPr txBox="1"/>
          <p:nvPr/>
        </p:nvSpPr>
        <p:spPr>
          <a:xfrm>
            <a:off x="10189464" y="312724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E55200"/>
                </a:solidFill>
                <a:effectLst/>
                <a:uLnTx/>
                <a:uFillTx/>
                <a:latin typeface="Arial"/>
                <a:ea typeface="+mn-ea"/>
                <a:cs typeface="+mn-cs"/>
              </a:rPr>
              <a:t>NOTE</a:t>
            </a:r>
          </a:p>
        </p:txBody>
      </p:sp>
      <p:sp>
        <p:nvSpPr>
          <p:cNvPr id="77" name="TextBox 76"/>
          <p:cNvSpPr txBox="1"/>
          <p:nvPr/>
        </p:nvSpPr>
        <p:spPr>
          <a:xfrm>
            <a:off x="10189464" y="3346703"/>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26262A"/>
                </a:solidFill>
                <a:effectLst/>
                <a:uLnTx/>
                <a:uFillTx/>
                <a:latin typeface="Arial"/>
                <a:ea typeface="+mn-ea"/>
                <a:cs typeface="+mn-cs"/>
              </a:rPr>
              <a:t>Context, assumption or caveat</a:t>
            </a:r>
          </a:p>
        </p:txBody>
      </p:sp>
      <p:sp>
        <p:nvSpPr>
          <p:cNvPr id="78" name="TextBox 77"/>
          <p:cNvSpPr txBox="1"/>
          <p:nvPr/>
        </p:nvSpPr>
        <p:spPr>
          <a:xfrm>
            <a:off x="566928" y="4288536"/>
            <a:ext cx="7772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ROUNDED</a:t>
            </a:r>
          </a:p>
        </p:txBody>
      </p:sp>
      <p:sp>
        <p:nvSpPr>
          <p:cNvPr id="79" name="Rounded Rectangle 78"/>
          <p:cNvSpPr/>
          <p:nvPr/>
        </p:nvSpPr>
        <p:spPr>
          <a:xfrm>
            <a:off x="1344168" y="3977639"/>
            <a:ext cx="1560576" cy="804672"/>
          </a:xfrm>
          <a:prstGeom prst="roundRect">
            <a:avLst>
              <a:gd name="adj" fmla="val 10000"/>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TextBox 79"/>
          <p:cNvSpPr txBox="1"/>
          <p:nvPr/>
        </p:nvSpPr>
        <p:spPr>
          <a:xfrm>
            <a:off x="1472184" y="4087368"/>
            <a:ext cx="1331976" cy="32918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2000" b="1" i="0" u="none" strike="noStrike" kern="1200" cap="none" spc="0" normalizeH="0" baseline="0" noProof="0">
                <a:ln>
                  <a:noFill/>
                </a:ln>
                <a:solidFill>
                  <a:srgbClr val="E55200"/>
                </a:solidFill>
                <a:effectLst/>
                <a:uLnTx/>
                <a:uFillTx/>
                <a:latin typeface="Arial"/>
                <a:ea typeface="+mn-ea"/>
                <a:cs typeface="+mn-cs"/>
              </a:rPr>
              <a:t>2 of 3</a:t>
            </a:r>
          </a:p>
        </p:txBody>
      </p:sp>
      <p:sp>
        <p:nvSpPr>
          <p:cNvPr id="81" name="TextBox 80"/>
          <p:cNvSpPr txBox="1"/>
          <p:nvPr/>
        </p:nvSpPr>
        <p:spPr>
          <a:xfrm>
            <a:off x="1472184" y="4507992"/>
            <a:ext cx="133197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1A1A1A"/>
                </a:solidFill>
                <a:effectLst/>
                <a:uLnTx/>
                <a:uFillTx/>
                <a:latin typeface="Arial"/>
                <a:ea typeface="+mn-ea"/>
                <a:cs typeface="+mn-cs"/>
              </a:rPr>
              <a:t>One short label</a:t>
            </a:r>
          </a:p>
        </p:txBody>
      </p:sp>
      <p:sp>
        <p:nvSpPr>
          <p:cNvPr id="82" name="Rounded Rectangle 81"/>
          <p:cNvSpPr/>
          <p:nvPr/>
        </p:nvSpPr>
        <p:spPr>
          <a:xfrm>
            <a:off x="3087624" y="3977639"/>
            <a:ext cx="1560576" cy="804672"/>
          </a:xfrm>
          <a:prstGeom prst="roundRect">
            <a:avLst>
              <a:gd name="adj" fmla="val 10000"/>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3" name="TextBox 82"/>
          <p:cNvSpPr txBox="1"/>
          <p:nvPr/>
        </p:nvSpPr>
        <p:spPr>
          <a:xfrm>
            <a:off x="3215640" y="4087368"/>
            <a:ext cx="1331976"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1" i="0" u="none" strike="noStrike" kern="1200" cap="none" spc="0" normalizeH="0" baseline="0" noProof="0">
                <a:ln>
                  <a:noFill/>
                </a:ln>
                <a:solidFill>
                  <a:srgbClr val="80350E"/>
                </a:solidFill>
                <a:effectLst/>
                <a:uLnTx/>
                <a:uFillTx/>
                <a:latin typeface="Arial"/>
                <a:ea typeface="+mn-ea"/>
                <a:cs typeface="+mn-cs"/>
              </a:rPr>
              <a:t>Card title</a:t>
            </a:r>
          </a:p>
        </p:txBody>
      </p:sp>
      <p:sp>
        <p:nvSpPr>
          <p:cNvPr id="84" name="TextBox 83"/>
          <p:cNvSpPr txBox="1"/>
          <p:nvPr/>
        </p:nvSpPr>
        <p:spPr>
          <a:xfrm>
            <a:off x="3215640" y="4325112"/>
            <a:ext cx="133197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Supporting detail, two lines max</a:t>
            </a:r>
          </a:p>
        </p:txBody>
      </p:sp>
      <p:sp>
        <p:nvSpPr>
          <p:cNvPr id="85" name="Rounded Rectangle 84"/>
          <p:cNvSpPr/>
          <p:nvPr/>
        </p:nvSpPr>
        <p:spPr>
          <a:xfrm>
            <a:off x="4831080" y="3977639"/>
            <a:ext cx="1560576" cy="804672"/>
          </a:xfrm>
          <a:prstGeom prst="roundRect">
            <a:avLst>
              <a:gd name="adj" fmla="val 1000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6" name="TextBox 85"/>
          <p:cNvSpPr txBox="1"/>
          <p:nvPr/>
        </p:nvSpPr>
        <p:spPr>
          <a:xfrm>
            <a:off x="4959096" y="408736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0A878"/>
                </a:solidFill>
                <a:effectLst/>
                <a:uLnTx/>
                <a:uFillTx/>
                <a:latin typeface="Arial"/>
                <a:ea typeface="+mn-ea"/>
                <a:cs typeface="+mn-cs"/>
              </a:rPr>
              <a:t>KEY TAKEAWAY</a:t>
            </a:r>
          </a:p>
        </p:txBody>
      </p:sp>
      <p:sp>
        <p:nvSpPr>
          <p:cNvPr id="87" name="TextBox 86"/>
          <p:cNvSpPr txBox="1"/>
          <p:nvPr/>
        </p:nvSpPr>
        <p:spPr>
          <a:xfrm>
            <a:off x="4959096" y="4306824"/>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The one point the GMC must remember</a:t>
            </a:r>
          </a:p>
        </p:txBody>
      </p:sp>
      <p:sp>
        <p:nvSpPr>
          <p:cNvPr id="88" name="Rounded Rectangle 87"/>
          <p:cNvSpPr/>
          <p:nvPr/>
        </p:nvSpPr>
        <p:spPr>
          <a:xfrm>
            <a:off x="6574536" y="3977639"/>
            <a:ext cx="1560576" cy="804672"/>
          </a:xfrm>
          <a:prstGeom prst="roundRect">
            <a:avLst>
              <a:gd name="adj" fmla="val 10000"/>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9" name="TextBox 88"/>
          <p:cNvSpPr txBox="1"/>
          <p:nvPr/>
        </p:nvSpPr>
        <p:spPr>
          <a:xfrm>
            <a:off x="6702552" y="408736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ATTENTION</a:t>
            </a:r>
          </a:p>
        </p:txBody>
      </p:sp>
      <p:sp>
        <p:nvSpPr>
          <p:cNvPr id="90" name="TextBox 89"/>
          <p:cNvSpPr txBox="1"/>
          <p:nvPr/>
        </p:nvSpPr>
        <p:spPr>
          <a:xfrm>
            <a:off x="6702552" y="4306824"/>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FFFFFF"/>
                </a:solidFill>
                <a:effectLst/>
                <a:uLnTx/>
                <a:uFillTx/>
                <a:latin typeface="Arial"/>
                <a:ea typeface="+mn-ea"/>
                <a:cs typeface="+mn-cs"/>
              </a:rPr>
              <a:t>Risk, slip or issue to flag</a:t>
            </a:r>
          </a:p>
        </p:txBody>
      </p:sp>
      <p:sp>
        <p:nvSpPr>
          <p:cNvPr id="91" name="Rounded Rectangle 90"/>
          <p:cNvSpPr/>
          <p:nvPr/>
        </p:nvSpPr>
        <p:spPr>
          <a:xfrm>
            <a:off x="8317992" y="3977639"/>
            <a:ext cx="1560576" cy="804672"/>
          </a:xfrm>
          <a:prstGeom prst="roundRect">
            <a:avLst>
              <a:gd name="adj" fmla="val 10000"/>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2" name="TextBox 91"/>
          <p:cNvSpPr txBox="1"/>
          <p:nvPr/>
        </p:nvSpPr>
        <p:spPr>
          <a:xfrm>
            <a:off x="8446008" y="408736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ASK</a:t>
            </a:r>
          </a:p>
        </p:txBody>
      </p:sp>
      <p:sp>
        <p:nvSpPr>
          <p:cNvPr id="93" name="TextBox 92"/>
          <p:cNvSpPr txBox="1"/>
          <p:nvPr/>
        </p:nvSpPr>
        <p:spPr>
          <a:xfrm>
            <a:off x="8446008" y="4306824"/>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FFFFFF"/>
                </a:solidFill>
                <a:effectLst/>
                <a:uLnTx/>
                <a:uFillTx/>
                <a:latin typeface="Arial"/>
                <a:ea typeface="+mn-ea"/>
                <a:cs typeface="+mn-cs"/>
              </a:rPr>
              <a:t>Support or decision requested</a:t>
            </a:r>
          </a:p>
        </p:txBody>
      </p:sp>
      <p:sp>
        <p:nvSpPr>
          <p:cNvPr id="94" name="Rounded Rectangle 93"/>
          <p:cNvSpPr/>
          <p:nvPr/>
        </p:nvSpPr>
        <p:spPr>
          <a:xfrm>
            <a:off x="10061448" y="3977639"/>
            <a:ext cx="1560576" cy="804672"/>
          </a:xfrm>
          <a:prstGeom prst="roundRect">
            <a:avLst>
              <a:gd name="adj" fmla="val 10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5" name="TextBox 94"/>
          <p:cNvSpPr txBox="1"/>
          <p:nvPr/>
        </p:nvSpPr>
        <p:spPr>
          <a:xfrm>
            <a:off x="10189464" y="408736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E55200"/>
                </a:solidFill>
                <a:effectLst/>
                <a:uLnTx/>
                <a:uFillTx/>
                <a:latin typeface="Arial"/>
                <a:ea typeface="+mn-ea"/>
                <a:cs typeface="+mn-cs"/>
              </a:rPr>
              <a:t>NOTE</a:t>
            </a:r>
          </a:p>
        </p:txBody>
      </p:sp>
      <p:sp>
        <p:nvSpPr>
          <p:cNvPr id="96" name="TextBox 95"/>
          <p:cNvSpPr txBox="1"/>
          <p:nvPr/>
        </p:nvSpPr>
        <p:spPr>
          <a:xfrm>
            <a:off x="10189464" y="4306824"/>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26262A"/>
                </a:solidFill>
                <a:effectLst/>
                <a:uLnTx/>
                <a:uFillTx/>
                <a:latin typeface="Arial"/>
                <a:ea typeface="+mn-ea"/>
                <a:cs typeface="+mn-cs"/>
              </a:rPr>
              <a:t>Context, assumption or caveat</a:t>
            </a:r>
          </a:p>
        </p:txBody>
      </p:sp>
      <p:sp>
        <p:nvSpPr>
          <p:cNvPr id="97" name="TextBox 96"/>
          <p:cNvSpPr txBox="1"/>
          <p:nvPr/>
        </p:nvSpPr>
        <p:spPr>
          <a:xfrm>
            <a:off x="566928" y="5074920"/>
            <a:ext cx="1105509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3 · LINES AND NAVIGATION</a:t>
            </a:r>
          </a:p>
        </p:txBody>
      </p:sp>
      <p:sp>
        <p:nvSpPr>
          <p:cNvPr id="98" name="Rectangle 97"/>
          <p:cNvSpPr/>
          <p:nvPr/>
        </p:nvSpPr>
        <p:spPr>
          <a:xfrm>
            <a:off x="566928" y="5294376"/>
            <a:ext cx="11055096"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99" name="Connector 98"/>
          <p:cNvCxnSpPr/>
          <p:nvPr/>
        </p:nvCxnSpPr>
        <p:spPr>
          <a:xfrm>
            <a:off x="932688" y="5413248"/>
            <a:ext cx="0" cy="731520"/>
          </a:xfrm>
          <a:prstGeom prst="line">
            <a:avLst/>
          </a:prstGeom>
          <a:ln w="9525">
            <a:solidFill>
              <a:srgbClr val="80350E">
                <a:alpha val="55000"/>
              </a:srgbClr>
            </a:solidFill>
          </a:ln>
        </p:spPr>
        <p:style>
          <a:lnRef idx="2">
            <a:schemeClr val="accent1"/>
          </a:lnRef>
          <a:fillRef idx="0">
            <a:schemeClr val="accent1"/>
          </a:fillRef>
          <a:effectRef idx="1">
            <a:schemeClr val="accent1"/>
          </a:effectRef>
          <a:fontRef idx="minor">
            <a:schemeClr val="tx1"/>
          </a:fontRef>
        </p:style>
      </p:cxnSp>
      <p:pic>
        <p:nvPicPr>
          <p:cNvPr id="100" name="chevron" descr="image.png"/>
          <p:cNvPicPr>
            <a:picLocks noChangeAspect="1"/>
          </p:cNvPicPr>
          <p:nvPr/>
        </p:nvPicPr>
        <p:blipFill>
          <a:blip r:embed="rId2"/>
          <a:stretch>
            <a:fillRect/>
          </a:stretch>
        </p:blipFill>
        <p:spPr>
          <a:xfrm>
            <a:off x="843808" y="5639287"/>
            <a:ext cx="177759" cy="279440"/>
          </a:xfrm>
          <a:prstGeom prst="rect">
            <a:avLst/>
          </a:prstGeom>
        </p:spPr>
      </p:pic>
      <p:sp>
        <p:nvSpPr>
          <p:cNvPr id="101" name="TextBox 100"/>
          <p:cNvSpPr txBox="1"/>
          <p:nvPr/>
        </p:nvSpPr>
        <p:spPr>
          <a:xfrm>
            <a:off x="1207007" y="5559552"/>
            <a:ext cx="2011680" cy="4572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Divider: brown line 0.75 pt, 55% opacity, line chevron in the middle</a:t>
            </a:r>
          </a:p>
        </p:txBody>
      </p:sp>
      <p:sp>
        <p:nvSpPr>
          <p:cNvPr id="102" name="Rectangle 101"/>
          <p:cNvSpPr/>
          <p:nvPr/>
        </p:nvSpPr>
        <p:spPr>
          <a:xfrm>
            <a:off x="3401568" y="5532120"/>
            <a:ext cx="1463040" cy="10972"/>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 name="TextBox 102"/>
          <p:cNvSpPr txBox="1"/>
          <p:nvPr/>
        </p:nvSpPr>
        <p:spPr>
          <a:xfrm>
            <a:off x="3401568" y="5596128"/>
            <a:ext cx="14630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Header rule (ink)</a:t>
            </a:r>
          </a:p>
        </p:txBody>
      </p:sp>
      <p:sp>
        <p:nvSpPr>
          <p:cNvPr id="104" name="Rectangle 103"/>
          <p:cNvSpPr/>
          <p:nvPr/>
        </p:nvSpPr>
        <p:spPr>
          <a:xfrm>
            <a:off x="3401568" y="5897880"/>
            <a:ext cx="1463040"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5" name="TextBox 104"/>
          <p:cNvSpPr txBox="1"/>
          <p:nvPr/>
        </p:nvSpPr>
        <p:spPr>
          <a:xfrm>
            <a:off x="3401568" y="5961888"/>
            <a:ext cx="14630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Row hairline (rule)</a:t>
            </a:r>
          </a:p>
        </p:txBody>
      </p:sp>
      <p:sp>
        <p:nvSpPr>
          <p:cNvPr id="106" name="Chevron 105"/>
          <p:cNvSpPr/>
          <p:nvPr/>
        </p:nvSpPr>
        <p:spPr>
          <a:xfrm>
            <a:off x="5230368" y="5468112"/>
            <a:ext cx="1024128" cy="256032"/>
          </a:xfrm>
          <a:prstGeom prst="chevron">
            <a:avLst>
              <a:gd name="adj" fmla="val 30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7" name="TextBox 106"/>
          <p:cNvSpPr txBox="1"/>
          <p:nvPr/>
        </p:nvSpPr>
        <p:spPr>
          <a:xfrm>
            <a:off x="5230368" y="5468112"/>
            <a:ext cx="1024128"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NPD</a:t>
            </a:r>
          </a:p>
        </p:txBody>
      </p:sp>
      <p:sp>
        <p:nvSpPr>
          <p:cNvPr id="108" name="Chevron 107"/>
          <p:cNvSpPr/>
          <p:nvPr/>
        </p:nvSpPr>
        <p:spPr>
          <a:xfrm>
            <a:off x="6309359" y="5468112"/>
            <a:ext cx="1024128" cy="256032"/>
          </a:xfrm>
          <a:prstGeom prst="chevron">
            <a:avLst>
              <a:gd name="adj" fmla="val 3000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9" name="TextBox 108"/>
          <p:cNvSpPr txBox="1"/>
          <p:nvPr/>
        </p:nvSpPr>
        <p:spPr>
          <a:xfrm>
            <a:off x="6309359" y="5468112"/>
            <a:ext cx="1024128"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Trial Program</a:t>
            </a:r>
          </a:p>
        </p:txBody>
      </p:sp>
      <p:sp>
        <p:nvSpPr>
          <p:cNvPr id="110" name="Chevron 109"/>
          <p:cNvSpPr/>
          <p:nvPr/>
        </p:nvSpPr>
        <p:spPr>
          <a:xfrm>
            <a:off x="7388352" y="5468112"/>
            <a:ext cx="1024128" cy="256032"/>
          </a:xfrm>
          <a:prstGeom prst="chevron">
            <a:avLst>
              <a:gd name="adj" fmla="val 30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1" name="TextBox 110"/>
          <p:cNvSpPr txBox="1"/>
          <p:nvPr/>
        </p:nvSpPr>
        <p:spPr>
          <a:xfrm>
            <a:off x="7388352" y="5468112"/>
            <a:ext cx="1024128"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NPI</a:t>
            </a:r>
          </a:p>
        </p:txBody>
      </p:sp>
      <p:sp>
        <p:nvSpPr>
          <p:cNvPr id="112" name="TextBox 111"/>
          <p:cNvSpPr txBox="1"/>
          <p:nvPr/>
        </p:nvSpPr>
        <p:spPr>
          <a:xfrm>
            <a:off x="5230368" y="5815584"/>
            <a:ext cx="320040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Stage navigation: active stage in brown</a:t>
            </a:r>
          </a:p>
        </p:txBody>
      </p:sp>
      <p:sp>
        <p:nvSpPr>
          <p:cNvPr id="113" name="Oval 112"/>
          <p:cNvSpPr/>
          <p:nvPr/>
        </p:nvSpPr>
        <p:spPr>
          <a:xfrm>
            <a:off x="8705088" y="5468112"/>
            <a:ext cx="237744" cy="237744"/>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4" name="TextBox 113"/>
          <p:cNvSpPr txBox="1"/>
          <p:nvPr/>
        </p:nvSpPr>
        <p:spPr>
          <a:xfrm>
            <a:off x="8549640"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Done</a:t>
            </a:r>
          </a:p>
        </p:txBody>
      </p:sp>
      <p:sp>
        <p:nvSpPr>
          <p:cNvPr id="115" name="Oval 114"/>
          <p:cNvSpPr/>
          <p:nvPr/>
        </p:nvSpPr>
        <p:spPr>
          <a:xfrm>
            <a:off x="9290304" y="5468112"/>
            <a:ext cx="237744" cy="237744"/>
          </a:xfrm>
          <a:prstGeom prst="ellipse">
            <a:avLst/>
          </a:prstGeom>
          <a:solidFill>
            <a:srgbClr val="FFFFFF"/>
          </a:solidFill>
          <a:ln w="9525">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6" name="Pie 115"/>
          <p:cNvSpPr/>
          <p:nvPr/>
        </p:nvSpPr>
        <p:spPr>
          <a:xfrm>
            <a:off x="9290304" y="5468112"/>
            <a:ext cx="237744" cy="237744"/>
          </a:xfrm>
          <a:prstGeom prst="pie">
            <a:avLst>
              <a:gd name="adj1" fmla="val 16200000"/>
              <a:gd name="adj2" fmla="val 1080000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 name="TextBox 116"/>
          <p:cNvSpPr txBox="1"/>
          <p:nvPr/>
        </p:nvSpPr>
        <p:spPr>
          <a:xfrm>
            <a:off x="9134856"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75%</a:t>
            </a:r>
          </a:p>
        </p:txBody>
      </p:sp>
      <p:sp>
        <p:nvSpPr>
          <p:cNvPr id="118" name="Oval 117"/>
          <p:cNvSpPr/>
          <p:nvPr/>
        </p:nvSpPr>
        <p:spPr>
          <a:xfrm>
            <a:off x="9875519" y="5468112"/>
            <a:ext cx="237744" cy="237744"/>
          </a:xfrm>
          <a:prstGeom prst="ellipse">
            <a:avLst/>
          </a:prstGeom>
          <a:solidFill>
            <a:srgbClr val="FFFFFF"/>
          </a:solidFill>
          <a:ln w="9525">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9" name="Pie 118"/>
          <p:cNvSpPr/>
          <p:nvPr/>
        </p:nvSpPr>
        <p:spPr>
          <a:xfrm>
            <a:off x="9875519" y="5468112"/>
            <a:ext cx="237744" cy="237744"/>
          </a:xfrm>
          <a:prstGeom prst="pie">
            <a:avLst>
              <a:gd name="adj1" fmla="val 16200000"/>
              <a:gd name="adj2" fmla="val 540000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0" name="TextBox 119"/>
          <p:cNvSpPr txBox="1"/>
          <p:nvPr/>
        </p:nvSpPr>
        <p:spPr>
          <a:xfrm>
            <a:off x="9720072"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50%</a:t>
            </a:r>
          </a:p>
        </p:txBody>
      </p:sp>
      <p:sp>
        <p:nvSpPr>
          <p:cNvPr id="121" name="Oval 120"/>
          <p:cNvSpPr/>
          <p:nvPr/>
        </p:nvSpPr>
        <p:spPr>
          <a:xfrm>
            <a:off x="10460736" y="5468112"/>
            <a:ext cx="237744" cy="237744"/>
          </a:xfrm>
          <a:prstGeom prst="ellipse">
            <a:avLst/>
          </a:prstGeom>
          <a:solidFill>
            <a:srgbClr val="FFFFFF"/>
          </a:solidFill>
          <a:ln w="9525">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2" name="Pie 121"/>
          <p:cNvSpPr/>
          <p:nvPr/>
        </p:nvSpPr>
        <p:spPr>
          <a:xfrm>
            <a:off x="10460736" y="5468112"/>
            <a:ext cx="237744" cy="237744"/>
          </a:xfrm>
          <a:prstGeom prst="pie">
            <a:avLst>
              <a:gd name="adj1" fmla="val 16200000"/>
              <a:gd name="adj2" fmla="val 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3" name="TextBox 122"/>
          <p:cNvSpPr txBox="1"/>
          <p:nvPr/>
        </p:nvSpPr>
        <p:spPr>
          <a:xfrm>
            <a:off x="10305288"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25%</a:t>
            </a:r>
          </a:p>
        </p:txBody>
      </p:sp>
      <p:sp>
        <p:nvSpPr>
          <p:cNvPr id="124" name="Oval 123"/>
          <p:cNvSpPr/>
          <p:nvPr/>
        </p:nvSpPr>
        <p:spPr>
          <a:xfrm>
            <a:off x="11045952" y="5468112"/>
            <a:ext cx="237744" cy="237744"/>
          </a:xfrm>
          <a:prstGeom prst="ellipse">
            <a:avLst/>
          </a:prstGeom>
          <a:solidFill>
            <a:srgbClr val="FFFFFF"/>
          </a:solidFill>
          <a:ln w="9525">
            <a:solidFill>
              <a:srgbClr val="B8BE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5" name="TextBox 124"/>
          <p:cNvSpPr txBox="1"/>
          <p:nvPr/>
        </p:nvSpPr>
        <p:spPr>
          <a:xfrm>
            <a:off x="10890504"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Not started</a:t>
            </a:r>
          </a:p>
        </p:txBody>
      </p:sp>
      <p:sp>
        <p:nvSpPr>
          <p:cNvPr id="126" name="TextBox 125"/>
          <p:cNvSpPr txBox="1"/>
          <p:nvPr/>
        </p:nvSpPr>
        <p:spPr>
          <a:xfrm>
            <a:off x="8549640" y="5989320"/>
            <a:ext cx="301752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Progress: on going split into 25 / 50 / 75%</a:t>
            </a: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Internal resources</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0.9</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3" name="TextBox 2"/>
          <p:cNvSpPr txBox="1"/>
          <p:nvPr/>
        </p:nvSpPr>
        <p:spPr>
          <a:xfrm>
            <a:off x="896112" y="170211"/>
            <a:ext cx="930859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200" b="1" i="0" u="none" strike="noStrike" kern="1200" cap="none" spc="0" normalizeH="0" baseline="0" noProof="0" dirty="0">
                <a:ln>
                  <a:noFill/>
                </a:ln>
                <a:solidFill>
                  <a:srgbClr val="E55200"/>
                </a:solidFill>
                <a:effectLst/>
                <a:uLnTx/>
                <a:uFillTx/>
                <a:latin typeface="Arial"/>
                <a:ea typeface="+mn-ea"/>
                <a:cs typeface="+mn-cs"/>
              </a:rPr>
              <a:t>DESIGN GUIDANCE — TIMEFRAME TEMPLATE</a:t>
            </a:r>
          </a:p>
        </p:txBody>
      </p:sp>
      <p:sp>
        <p:nvSpPr>
          <p:cNvPr id="4" name="TextBox 3"/>
          <p:cNvSpPr txBox="1"/>
          <p:nvPr/>
        </p:nvSpPr>
        <p:spPr>
          <a:xfrm>
            <a:off x="896112" y="407955"/>
            <a:ext cx="996696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400" b="1" i="0" u="none" strike="noStrike" kern="1200" cap="none" spc="0" normalizeH="0" baseline="0" noProof="0">
                <a:ln>
                  <a:noFill/>
                </a:ln>
                <a:solidFill>
                  <a:srgbClr val="26262A"/>
                </a:solidFill>
                <a:effectLst/>
                <a:uLnTx/>
                <a:uFillTx/>
                <a:latin typeface="Arial"/>
                <a:ea typeface="+mn-ea"/>
                <a:cs typeface="+mn-cs"/>
              </a:rPr>
              <a:t>Plans and milestones in one native table — copy, then rename periods, rows and bars</a:t>
            </a:r>
          </a:p>
        </p:txBody>
      </p:sp>
      <p:graphicFrame>
        <p:nvGraphicFramePr>
          <p:cNvPr id="5" name="Timeframe table"/>
          <p:cNvGraphicFramePr>
            <a:graphicFrameLocks noGrp="1"/>
          </p:cNvGraphicFramePr>
          <p:nvPr/>
        </p:nvGraphicFramePr>
        <p:xfrm>
          <a:off x="566928" y="1005840"/>
          <a:ext cx="11055096" cy="3895344"/>
        </p:xfrm>
        <a:graphic>
          <a:graphicData uri="http://schemas.openxmlformats.org/drawingml/2006/table">
            <a:tbl>
              <a:tblPr>
                <a:tableStyleId>{2D5ABB26-0587-4C30-8999-92F81FD0307C}</a:tableStyleId>
              </a:tblPr>
              <a:tblGrid>
                <a:gridCol w="3200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731520">
                  <a:extLst>
                    <a:ext uri="{9D8B030D-6E8A-4147-A177-3AD203B41FA5}">
                      <a16:colId xmlns:a16="http://schemas.microsoft.com/office/drawing/2014/main" val="20009"/>
                    </a:ext>
                  </a:extLst>
                </a:gridCol>
                <a:gridCol w="731520">
                  <a:extLst>
                    <a:ext uri="{9D8B030D-6E8A-4147-A177-3AD203B41FA5}">
                      <a16:colId xmlns:a16="http://schemas.microsoft.com/office/drawing/2014/main" val="20010"/>
                    </a:ext>
                  </a:extLst>
                </a:gridCol>
                <a:gridCol w="1225296">
                  <a:extLst>
                    <a:ext uri="{9D8B030D-6E8A-4147-A177-3AD203B41FA5}">
                      <a16:colId xmlns:a16="http://schemas.microsoft.com/office/drawing/2014/main" val="20011"/>
                    </a:ext>
                  </a:extLst>
                </a:gridCol>
              </a:tblGrid>
              <a:tr h="274320">
                <a:tc>
                  <a:txBody>
                    <a:bodyPr/>
                    <a:lstStyle/>
                    <a:p>
                      <a:pPr algn="l"/>
                      <a:endParaRPr/>
                    </a:p>
                  </a:txBody>
                  <a:tcPr marL="45720" marR="27432" marT="18288" marB="18288" anchor="ctr">
                    <a:lnL w="0">
                      <a:noFill/>
                    </a:lnL>
                    <a:lnR w="0">
                      <a:noFill/>
                    </a:lnR>
                    <a:lnT w="0">
                      <a:noFill/>
                    </a:lnT>
                    <a:lnB w="0">
                      <a:noFill/>
                    </a:lnB>
                    <a:noFill/>
                  </a:tcPr>
                </a:tc>
                <a:tc>
                  <a:txBody>
                    <a:bodyPr/>
                    <a:lstStyle/>
                    <a:p>
                      <a:pPr algn="l"/>
                      <a:endParaRPr dirty="0"/>
                    </a:p>
                  </a:txBody>
                  <a:tcPr marL="45720" marR="27432" marT="18288" marB="18288" anchor="ctr">
                    <a:lnL w="0">
                      <a:noFill/>
                    </a:lnL>
                    <a:lnR w="0">
                      <a:noFill/>
                    </a:lnR>
                    <a:lnT w="0">
                      <a:noFill/>
                    </a:lnT>
                    <a:lnB w="0">
                      <a:noFill/>
                    </a:lnB>
                    <a:noFill/>
                  </a:tcPr>
                </a:tc>
                <a:tc>
                  <a:txBody>
                    <a:bodyPr/>
                    <a:lstStyle/>
                    <a:p>
                      <a:pPr algn="l"/>
                      <a:endParaRPr/>
                    </a:p>
                  </a:txBody>
                  <a:tcPr marL="45720" marR="27432" marT="18288" marB="18288" anchor="ctr">
                    <a:lnL w="0">
                      <a:noFill/>
                    </a:lnL>
                    <a:lnR w="0">
                      <a:noFill/>
                    </a:lnR>
                    <a:lnT w="0">
                      <a:noFill/>
                    </a:lnT>
                    <a:lnB w="0">
                      <a:noFill/>
                    </a:lnB>
                    <a:noFill/>
                  </a:tcPr>
                </a:tc>
                <a:tc gridSpan="4">
                  <a:txBody>
                    <a:bodyPr/>
                    <a:lstStyle/>
                    <a:p>
                      <a:pPr algn="ctr"/>
                      <a:r>
                        <a:rPr sz="850" b="1" i="1" dirty="0">
                          <a:solidFill>
                            <a:srgbClr val="E55200"/>
                          </a:solidFill>
                          <a:latin typeface="Arial"/>
                        </a:rPr>
                        <a:t>[Year 1]</a:t>
                      </a: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gridSpan="4">
                  <a:txBody>
                    <a:bodyPr/>
                    <a:lstStyle/>
                    <a:p>
                      <a:pPr algn="ctr"/>
                      <a:r>
                        <a:rPr sz="850" b="1" i="1">
                          <a:solidFill>
                            <a:srgbClr val="E55200"/>
                          </a:solidFill>
                          <a:latin typeface="Arial"/>
                        </a:rPr>
                        <a:t>[Year 2]</a:t>
                      </a: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a:txBody>
                    <a:bodyPr/>
                    <a:lstStyle/>
                    <a:p>
                      <a:pPr algn="l"/>
                      <a:endParaRPr/>
                    </a:p>
                  </a:txBody>
                  <a:tcPr marL="45720" marR="27432" marT="18288" marB="18288" anchor="ctr">
                    <a:lnL w="0">
                      <a:noFill/>
                    </a:lnL>
                    <a:lnR w="0">
                      <a:noFill/>
                    </a:lnR>
                    <a:lnT w="0">
                      <a:noFill/>
                    </a:lnT>
                    <a:lnB w="0">
                      <a:noFill/>
                    </a:lnB>
                    <a:noFill/>
                  </a:tcPr>
                </a:tc>
                <a:extLst>
                  <a:ext uri="{0D108BD9-81ED-4DB2-BD59-A6C34878D82A}">
                    <a16:rowId xmlns:a16="http://schemas.microsoft.com/office/drawing/2014/main" val="10000"/>
                  </a:ext>
                </a:extLst>
              </a:tr>
              <a:tr h="274320">
                <a:tc>
                  <a:txBody>
                    <a:bodyPr/>
                    <a:lstStyle/>
                    <a:p>
                      <a:pPr algn="l"/>
                      <a:r>
                        <a:rPr sz="850" b="1" i="0">
                          <a:solidFill>
                            <a:srgbClr val="6E7B84"/>
                          </a:solidFill>
                          <a:latin typeface="Arial"/>
                        </a:rPr>
                        <a:t>#</a:t>
                      </a:r>
                    </a:p>
                  </a:txBody>
                  <a:tcPr marL="45720" marR="27432" marT="18288" marB="18288" anchor="ctr">
                    <a:lnL w="0">
                      <a:noFill/>
                    </a:lnL>
                    <a:lnR w="0">
                      <a:noFill/>
                    </a:lnR>
                    <a:lnT w="0">
                      <a:noFill/>
                    </a:lnT>
                    <a:lnB w="12700">
                      <a:solidFill>
                        <a:srgbClr val="26262A"/>
                      </a:solidFill>
                    </a:lnB>
                    <a:noFill/>
                  </a:tcPr>
                </a:tc>
                <a:tc>
                  <a:txBody>
                    <a:bodyPr/>
                    <a:lstStyle/>
                    <a:p>
                      <a:pPr algn="l"/>
                      <a:r>
                        <a:rPr sz="850" b="1" i="0" dirty="0">
                          <a:solidFill>
                            <a:srgbClr val="6E7B84"/>
                          </a:solidFill>
                          <a:latin typeface="Arial"/>
                        </a:rPr>
                        <a:t>ACTIVITY / MILESTONE</a:t>
                      </a:r>
                    </a:p>
                  </a:txBody>
                  <a:tcPr marL="45720" marR="27432" marT="18288" marB="18288" anchor="ctr">
                    <a:lnL w="0">
                      <a:noFill/>
                    </a:lnL>
                    <a:lnR w="0">
                      <a:noFill/>
                    </a:lnR>
                    <a:lnT w="0">
                      <a:noFill/>
                    </a:lnT>
                    <a:lnB w="12700">
                      <a:solidFill>
                        <a:srgbClr val="26262A"/>
                      </a:solidFill>
                    </a:lnB>
                    <a:noFill/>
                  </a:tcPr>
                </a:tc>
                <a:tc>
                  <a:txBody>
                    <a:bodyPr/>
                    <a:lstStyle/>
                    <a:p>
                      <a:pPr algn="l"/>
                      <a:r>
                        <a:rPr sz="850" b="1" i="0">
                          <a:solidFill>
                            <a:srgbClr val="6E7B84"/>
                          </a:solidFill>
                          <a:latin typeface="Arial"/>
                        </a:rPr>
                        <a:t>PIC</a:t>
                      </a:r>
                    </a:p>
                  </a:txBody>
                  <a:tcPr marL="45720" marR="27432" marT="18288" marB="18288" anchor="ctr">
                    <a:lnL w="0">
                      <a:noFill/>
                    </a:lnL>
                    <a:lnR w="0">
                      <a:noFill/>
                    </a:lnR>
                    <a:lnT w="0">
                      <a:noFill/>
                    </a:lnT>
                    <a:lnB w="12700">
                      <a:solidFill>
                        <a:srgbClr val="26262A"/>
                      </a:solidFill>
                    </a:lnB>
                    <a:noFill/>
                  </a:tcPr>
                </a:tc>
                <a:tc>
                  <a:txBody>
                    <a:bodyPr/>
                    <a:lstStyle/>
                    <a:p>
                      <a:pPr algn="ctr"/>
                      <a:r>
                        <a:rPr sz="850" b="1" i="0">
                          <a:solidFill>
                            <a:srgbClr val="6E7B84"/>
                          </a:solidFill>
                          <a:latin typeface="Arial"/>
                        </a:rPr>
                        <a:t>Q1</a:t>
                      </a:r>
                    </a:p>
                  </a:txBody>
                  <a:tcPr marL="45720" marR="27432" marT="18288" marB="18288" anchor="ctr">
                    <a:lnL w="19050">
                      <a:no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Q2</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FFFFFF"/>
                          </a:solidFill>
                          <a:latin typeface="Arial"/>
                        </a:rPr>
                        <a:t>Q3</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E55200"/>
                    </a:solidFill>
                  </a:tcPr>
                </a:tc>
                <a:tc>
                  <a:txBody>
                    <a:bodyPr/>
                    <a:lstStyle/>
                    <a:p>
                      <a:pPr algn="ctr"/>
                      <a:r>
                        <a:rPr sz="850" b="1" i="0">
                          <a:solidFill>
                            <a:srgbClr val="6E7B84"/>
                          </a:solidFill>
                          <a:latin typeface="Arial"/>
                        </a:rPr>
                        <a:t>Q4</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Q1</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Q2</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Q3</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Q4</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l"/>
                      <a:r>
                        <a:rPr sz="850" b="1" i="0">
                          <a:solidFill>
                            <a:srgbClr val="6E7B84"/>
                          </a:solidFill>
                          <a:latin typeface="Arial"/>
                        </a:rPr>
                        <a:t>STATUS</a:t>
                      </a:r>
                    </a:p>
                  </a:txBody>
                  <a:tcPr marL="45720" marR="27432" marT="18288" marB="18288" anchor="ctr">
                    <a:lnL w="19050" cap="flat" cmpd="sng" algn="ctr">
                      <a:solidFill>
                        <a:srgbClr val="FFFFFF"/>
                      </a:solidFill>
                      <a:prstDash val="solid"/>
                      <a:round/>
                      <a:headEnd type="none" w="med" len="med"/>
                      <a:tailEnd type="none" w="med" len="med"/>
                    </a:lnL>
                    <a:lnR w="0">
                      <a:noFill/>
                    </a:lnR>
                    <a:lnT w="0">
                      <a:noFill/>
                    </a:lnT>
                    <a:lnB w="12700">
                      <a:solidFill>
                        <a:srgbClr val="26262A"/>
                      </a:solidFill>
                    </a:lnB>
                    <a:noFill/>
                  </a:tcPr>
                </a:tc>
                <a:extLst>
                  <a:ext uri="{0D108BD9-81ED-4DB2-BD59-A6C34878D82A}">
                    <a16:rowId xmlns:a16="http://schemas.microsoft.com/office/drawing/2014/main" val="10001"/>
                  </a:ext>
                </a:extLst>
              </a:tr>
              <a:tr h="274320">
                <a:tc gridSpan="12">
                  <a:txBody>
                    <a:bodyPr/>
                    <a:lstStyle/>
                    <a:p>
                      <a:pPr algn="l"/>
                      <a:r>
                        <a:rPr sz="850" b="1" i="1" dirty="0">
                          <a:solidFill>
                            <a:srgbClr val="E55200"/>
                          </a:solidFill>
                          <a:latin typeface="Arial"/>
                        </a:rPr>
                        <a:t>[WORKSTREAM / PRODUCT 1]</a:t>
                      </a:r>
                    </a:p>
                  </a:txBody>
                  <a:tcPr marL="45720" marR="27432" marT="18288" marB="18288" anchor="ctr">
                    <a:lnL w="0">
                      <a:noFill/>
                    </a:lnL>
                    <a:lnR w="0">
                      <a:noFill/>
                    </a:lnR>
                    <a:lnT w="12700" cap="flat" cmpd="sng" algn="ctr">
                      <a:solidFill>
                        <a:srgbClr val="26262A"/>
                      </a:solidFill>
                      <a:prstDash val="solid"/>
                      <a:round/>
                      <a:headEnd type="none" w="med" len="med"/>
                      <a:tailEnd type="none" w="med" len="med"/>
                    </a:lnT>
                    <a:lnB w="9525">
                      <a:solidFill>
                        <a:srgbClr val="E4E8EB"/>
                      </a:solidFill>
                    </a:lnB>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2"/>
                  </a:ext>
                </a:extLst>
              </a:tr>
              <a:tr h="274320">
                <a:tc>
                  <a:txBody>
                    <a:bodyPr/>
                    <a:lstStyle/>
                    <a:p>
                      <a:pPr algn="l"/>
                      <a:r>
                        <a:rPr sz="850" b="0" i="0">
                          <a:solidFill>
                            <a:srgbClr val="6E7B84"/>
                          </a:solidFill>
                          <a:latin typeface="Arial"/>
                        </a:rPr>
                        <a:t>1</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[NPD — spec, partner, sample]</a:t>
                      </a:r>
                    </a:p>
                  </a:txBody>
                  <a:tcPr marL="45720" marR="27432" marT="18288" marB="18288" anchor="ctr">
                    <a:lnL w="0">
                      <a:noFill/>
                    </a:lnL>
                    <a:lnR w="0">
                      <a:noFill/>
                    </a:lnR>
                    <a:lnT w="0">
                      <a:noFill/>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0">
                      <a:noFill/>
                    </a:lnT>
                    <a:lnB w="9525">
                      <a:solidFill>
                        <a:srgbClr val="E4E8EB"/>
                      </a:solidFill>
                    </a:lnB>
                    <a:noFill/>
                  </a:tcPr>
                </a:tc>
                <a:tc>
                  <a:txBody>
                    <a:bodyPr/>
                    <a:lstStyle/>
                    <a:p>
                      <a:pPr algn="l"/>
                      <a:r>
                        <a:rPr sz="850" b="1" i="0">
                          <a:solidFill>
                            <a:srgbClr val="FFFFFF"/>
                          </a:solidFill>
                          <a:latin typeface="Arial"/>
                        </a:rPr>
                        <a:t>NPD</a:t>
                      </a:r>
                    </a:p>
                  </a:txBody>
                  <a:tcPr marL="45720" marR="27432" marT="18288" marB="18288" anchor="ctr">
                    <a:lnL w="0">
                      <a:noFill/>
                    </a:lnL>
                    <a:lnR w="0">
                      <a:noFill/>
                    </a:lnR>
                    <a:lnT w="0">
                      <a:noFill/>
                    </a:lnT>
                    <a:lnB w="9525">
                      <a:solidFill>
                        <a:srgbClr val="E4E8EB"/>
                      </a:solidFill>
                    </a:lnB>
                    <a:solidFill>
                      <a:srgbClr val="80350E"/>
                    </a:solidFill>
                  </a:tcPr>
                </a:tc>
                <a:tc>
                  <a:txBody>
                    <a:bodyPr/>
                    <a:lstStyle/>
                    <a:p>
                      <a:pPr algn="l"/>
                      <a:endParaRPr dirty="0"/>
                    </a:p>
                  </a:txBody>
                  <a:tcPr marL="45720" marR="27432" marT="18288" marB="18288" anchor="ctr">
                    <a:lnL w="0">
                      <a:noFill/>
                    </a:lnL>
                    <a:lnR w="0">
                      <a:noFill/>
                    </a:lnR>
                    <a:lnT w="0">
                      <a:noFill/>
                    </a:lnT>
                    <a:lnB w="9525">
                      <a:solidFill>
                        <a:srgbClr val="E4E8EB"/>
                      </a:solidFill>
                    </a:lnB>
                    <a:solidFill>
                      <a:srgbClr val="80350E"/>
                    </a:solidFill>
                  </a:tcPr>
                </a:tc>
                <a:tc>
                  <a:txBody>
                    <a:bodyPr/>
                    <a:lstStyle/>
                    <a:p>
                      <a:pPr algn="l"/>
                      <a:endParaRPr/>
                    </a:p>
                  </a:txBody>
                  <a:tcPr marL="45720" marR="27432" marT="18288" marB="18288" anchor="ctr">
                    <a:lnL w="19050">
                      <a:no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r>
                        <a:rPr sz="850" b="0" i="1">
                          <a:solidFill>
                            <a:srgbClr val="E55200"/>
                          </a:solidFill>
                          <a:latin typeface="Arial"/>
                        </a:rPr>
                        <a:t>[Done]</a:t>
                      </a:r>
                    </a:p>
                  </a:txBody>
                  <a:tcPr marL="45720" marR="27432" marT="18288" marB="18288" anchor="ctr">
                    <a:lnL w="19050" cap="flat" cmpd="sng" algn="ctr">
                      <a:solidFill>
                        <a:srgbClr val="FFFFFF"/>
                      </a:solidFill>
                      <a:prstDash val="solid"/>
                      <a:round/>
                      <a:headEnd type="none" w="med" len="med"/>
                      <a:tailEnd type="none" w="med" len="med"/>
                    </a:lnL>
                    <a:lnR w="0">
                      <a:noFill/>
                    </a:lnR>
                    <a:lnT w="0">
                      <a:noFill/>
                    </a:lnT>
                    <a:lnB w="9525">
                      <a:solidFill>
                        <a:srgbClr val="E4E8EB"/>
                      </a:solidFill>
                    </a:lnB>
                    <a:noFill/>
                  </a:tcPr>
                </a:tc>
                <a:extLst>
                  <a:ext uri="{0D108BD9-81ED-4DB2-BD59-A6C34878D82A}">
                    <a16:rowId xmlns:a16="http://schemas.microsoft.com/office/drawing/2014/main" val="10003"/>
                  </a:ext>
                </a:extLst>
              </a:tr>
              <a:tr h="274320">
                <a:tc>
                  <a:txBody>
                    <a:bodyPr/>
                    <a:lstStyle/>
                    <a:p>
                      <a:pPr algn="l"/>
                      <a:r>
                        <a:rPr sz="850" b="0" i="0">
                          <a:solidFill>
                            <a:srgbClr val="6E7B84"/>
                          </a:solidFill>
                          <a:latin typeface="Arial"/>
                        </a:rPr>
                        <a:t>2</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[Trial program — site, KPI]</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FFFFFF"/>
                          </a:solidFill>
                          <a:latin typeface="Arial"/>
                        </a:rPr>
                        <a:t>Trial</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A35F35"/>
                    </a:solidFill>
                  </a:tcPr>
                </a:tc>
                <a:tc>
                  <a:txBody>
                    <a:bodyPr/>
                    <a:lstStyle/>
                    <a:p>
                      <a:pPr algn="l"/>
                      <a:endParaRP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solidFill>
                      <a:srgbClr val="A35F35"/>
                    </a:solid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[On going]</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04"/>
                  </a:ext>
                </a:extLst>
              </a:tr>
              <a:tr h="274320">
                <a:tc>
                  <a:txBody>
                    <a:bodyPr/>
                    <a:lstStyle/>
                    <a:p>
                      <a:pPr algn="l"/>
                      <a:r>
                        <a:rPr sz="850" b="0" i="0">
                          <a:solidFill>
                            <a:srgbClr val="6E7B84"/>
                          </a:solidFill>
                          <a:latin typeface="Arial"/>
                        </a:rPr>
                        <a:t>3</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[NPI — price, doc, channel]</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26262A"/>
                          </a:solidFill>
                          <a:latin typeface="Arial"/>
                        </a:rPr>
                        <a:t>NPI</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F0A878"/>
                    </a:solid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[Not started]</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05"/>
                  </a:ext>
                </a:extLst>
              </a:tr>
              <a:tr h="274320">
                <a:tc>
                  <a:txBody>
                    <a:bodyPr/>
                    <a:lstStyle/>
                    <a:p>
                      <a:pPr algn="l"/>
                      <a:r>
                        <a:rPr sz="850" b="0" i="0">
                          <a:solidFill>
                            <a:srgbClr val="6E7B84"/>
                          </a:solidFill>
                          <a:latin typeface="Arial"/>
                        </a:rPr>
                        <a:t>4</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[Target launching]</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FFFFFF"/>
                          </a:solidFill>
                          <a:latin typeface="Arial"/>
                        </a:rPr>
                        <a:t>◆ Launch</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E55200"/>
                    </a:solid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[Not started]</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06"/>
                  </a:ext>
                </a:extLst>
              </a:tr>
              <a:tr h="274320">
                <a:tc gridSpan="12">
                  <a:txBody>
                    <a:bodyPr/>
                    <a:lstStyle/>
                    <a:p>
                      <a:pPr algn="l"/>
                      <a:r>
                        <a:rPr sz="850" b="1" i="1" dirty="0">
                          <a:solidFill>
                            <a:srgbClr val="E55200"/>
                          </a:solidFill>
                          <a:latin typeface="Arial"/>
                        </a:rPr>
                        <a:t>[WORKSTREAM / PRODUCT 2]</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7"/>
                  </a:ext>
                </a:extLst>
              </a:tr>
              <a:tr h="274320">
                <a:tc>
                  <a:txBody>
                    <a:bodyPr/>
                    <a:lstStyle/>
                    <a:p>
                      <a:pPr algn="l"/>
                      <a:r>
                        <a:rPr sz="850" b="0" i="0">
                          <a:solidFill>
                            <a:srgbClr val="6E7B84"/>
                          </a:solidFill>
                          <a:latin typeface="Arial"/>
                        </a:rPr>
                        <a:t>5</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[NPD]</a:t>
                      </a:r>
                    </a:p>
                  </a:txBody>
                  <a:tcPr marL="45720" marR="27432" marT="18288" marB="18288" anchor="ctr">
                    <a:lnL w="0">
                      <a:noFill/>
                    </a:lnL>
                    <a:lnR w="0">
                      <a:noFill/>
                    </a:lnR>
                    <a:lnT w="0">
                      <a:noFill/>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0">
                      <a:noFill/>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r>
                        <a:rPr sz="850" b="1" i="0">
                          <a:solidFill>
                            <a:srgbClr val="FFFFFF"/>
                          </a:solidFill>
                          <a:latin typeface="Arial"/>
                        </a:rPr>
                        <a:t>NPD</a:t>
                      </a:r>
                    </a:p>
                  </a:txBody>
                  <a:tcPr marL="45720" marR="27432" marT="18288" marB="18288" anchor="ctr">
                    <a:lnL w="19050" cap="flat" cmpd="sng" algn="ctr">
                      <a:solidFill>
                        <a:srgbClr val="FFFFFF"/>
                      </a:solidFill>
                      <a:prstDash val="solid"/>
                      <a:round/>
                      <a:headEnd type="none" w="med" len="med"/>
                      <a:tailEnd type="none" w="med" len="med"/>
                    </a:lnL>
                    <a:lnR w="0">
                      <a:noFill/>
                    </a:lnR>
                    <a:lnT w="0">
                      <a:noFill/>
                    </a:lnT>
                    <a:lnB w="9525">
                      <a:solidFill>
                        <a:srgbClr val="E4E8EB"/>
                      </a:solidFill>
                    </a:lnB>
                    <a:solidFill>
                      <a:srgbClr val="80350E"/>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80350E"/>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80350E"/>
                    </a:solidFill>
                  </a:tcPr>
                </a:tc>
                <a:tc>
                  <a:txBody>
                    <a:bodyPr/>
                    <a:lstStyle/>
                    <a:p>
                      <a:pPr algn="l"/>
                      <a:endParaRPr/>
                    </a:p>
                  </a:txBody>
                  <a:tcPr marL="45720" marR="27432" marT="18288" marB="18288" anchor="ctr">
                    <a:lnL w="19050">
                      <a:no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r>
                        <a:rPr sz="850" b="0" i="1">
                          <a:solidFill>
                            <a:srgbClr val="E55200"/>
                          </a:solidFill>
                          <a:latin typeface="Arial"/>
                        </a:rPr>
                        <a:t>[On going]</a:t>
                      </a:r>
                    </a:p>
                  </a:txBody>
                  <a:tcPr marL="45720" marR="27432" marT="18288" marB="18288" anchor="ctr">
                    <a:lnL w="19050" cap="flat" cmpd="sng" algn="ctr">
                      <a:solidFill>
                        <a:srgbClr val="FFFFFF"/>
                      </a:solidFill>
                      <a:prstDash val="solid"/>
                      <a:round/>
                      <a:headEnd type="none" w="med" len="med"/>
                      <a:tailEnd type="none" w="med" len="med"/>
                    </a:lnL>
                    <a:lnR w="0">
                      <a:noFill/>
                    </a:lnR>
                    <a:lnT w="0">
                      <a:noFill/>
                    </a:lnT>
                    <a:lnB w="9525">
                      <a:solidFill>
                        <a:srgbClr val="E4E8EB"/>
                      </a:solidFill>
                    </a:lnB>
                    <a:noFill/>
                  </a:tcPr>
                </a:tc>
                <a:extLst>
                  <a:ext uri="{0D108BD9-81ED-4DB2-BD59-A6C34878D82A}">
                    <a16:rowId xmlns:a16="http://schemas.microsoft.com/office/drawing/2014/main" val="10008"/>
                  </a:ext>
                </a:extLst>
              </a:tr>
              <a:tr h="274320">
                <a:tc>
                  <a:txBody>
                    <a:bodyPr/>
                    <a:lstStyle/>
                    <a:p>
                      <a:pPr algn="l"/>
                      <a:r>
                        <a:rPr sz="850" b="0" i="0">
                          <a:solidFill>
                            <a:srgbClr val="6E7B84"/>
                          </a:solidFill>
                          <a:latin typeface="Arial"/>
                        </a:rPr>
                        <a:t>6</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[Trial program]</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FFFFFF"/>
                          </a:solidFill>
                          <a:latin typeface="Arial"/>
                        </a:rPr>
                        <a:t>Trial</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A35F35"/>
                    </a:solidFill>
                  </a:tcPr>
                </a:tc>
                <a:tc>
                  <a:txBody>
                    <a:bodyPr/>
                    <a:lstStyle/>
                    <a:p>
                      <a:pPr algn="l"/>
                      <a:endParaRP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solidFill>
                      <a:srgbClr val="A35F35"/>
                    </a:solid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[Not started]</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09"/>
                  </a:ext>
                </a:extLst>
              </a:tr>
              <a:tr h="274320">
                <a:tc>
                  <a:txBody>
                    <a:bodyPr/>
                    <a:lstStyle/>
                    <a:p>
                      <a:pPr algn="l"/>
                      <a:r>
                        <a:rPr sz="850" b="0" i="0">
                          <a:solidFill>
                            <a:srgbClr val="6E7B84"/>
                          </a:solidFill>
                          <a:latin typeface="Arial"/>
                        </a:rPr>
                        <a:t>7</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[NPI]</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26262A"/>
                          </a:solidFill>
                          <a:latin typeface="Arial"/>
                        </a:rPr>
                        <a:t>NPI</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F0A878"/>
                    </a:solidFill>
                  </a:tcPr>
                </a:tc>
                <a:tc>
                  <a:txBody>
                    <a:bodyPr/>
                    <a:lstStyle/>
                    <a:p>
                      <a:pPr algn="l"/>
                      <a:r>
                        <a:rPr sz="850" b="0" i="1">
                          <a:solidFill>
                            <a:srgbClr val="E55200"/>
                          </a:solidFill>
                          <a:latin typeface="Arial"/>
                        </a:rPr>
                        <a:t>[Not started]</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10"/>
                  </a:ext>
                </a:extLst>
              </a:tr>
              <a:tr h="274320">
                <a:tc gridSpan="12">
                  <a:txBody>
                    <a:bodyPr/>
                    <a:lstStyle/>
                    <a:p>
                      <a:pPr algn="l"/>
                      <a:r>
                        <a:rPr sz="850" b="1" i="1" dirty="0">
                          <a:solidFill>
                            <a:srgbClr val="E55200"/>
                          </a:solidFill>
                          <a:latin typeface="Arial"/>
                        </a:rPr>
                        <a:t>[COMMERCIAL / SUSTAIN]</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11"/>
                  </a:ext>
                </a:extLst>
              </a:tr>
              <a:tr h="274320">
                <a:tc>
                  <a:txBody>
                    <a:bodyPr/>
                    <a:lstStyle/>
                    <a:p>
                      <a:pPr algn="l"/>
                      <a:r>
                        <a:rPr sz="850" b="0" i="0">
                          <a:solidFill>
                            <a:srgbClr val="6E7B84"/>
                          </a:solidFill>
                          <a:latin typeface="Arial"/>
                        </a:rPr>
                        <a:t>8</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a:solidFill>
                            <a:srgbClr val="E55200"/>
                          </a:solidFill>
                          <a:latin typeface="Arial"/>
                        </a:rPr>
                        <a:t>[Already commercial product]</a:t>
                      </a:r>
                    </a:p>
                  </a:txBody>
                  <a:tcPr marL="45720" marR="27432" marT="18288" marB="18288" anchor="ctr">
                    <a:lnL w="0">
                      <a:noFill/>
                    </a:lnL>
                    <a:lnR w="0">
                      <a:noFill/>
                    </a:lnR>
                    <a:lnT w="0">
                      <a:noFill/>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0">
                      <a:noFill/>
                    </a:lnT>
                    <a:lnB w="9525">
                      <a:solidFill>
                        <a:srgbClr val="E4E8EB"/>
                      </a:solidFill>
                    </a:lnB>
                    <a:noFill/>
                  </a:tcPr>
                </a:tc>
                <a:tc>
                  <a:txBody>
                    <a:bodyPr/>
                    <a:lstStyle/>
                    <a:p>
                      <a:pPr algn="l"/>
                      <a:r>
                        <a:rPr sz="850" b="1" i="0">
                          <a:solidFill>
                            <a:srgbClr val="26262A"/>
                          </a:solidFill>
                          <a:latin typeface="Arial"/>
                        </a:rPr>
                        <a:t>Commercial</a:t>
                      </a: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r>
                        <a:rPr sz="850" b="0" i="1" dirty="0">
                          <a:solidFill>
                            <a:srgbClr val="E55200"/>
                          </a:solidFill>
                          <a:latin typeface="Arial"/>
                        </a:rPr>
                        <a:t>[Running]</a:t>
                      </a:r>
                    </a:p>
                  </a:txBody>
                  <a:tcPr marL="45720" marR="27432" marT="18288" marB="18288" anchor="ctr">
                    <a:lnL w="0">
                      <a:noFill/>
                    </a:lnL>
                    <a:lnR w="0">
                      <a:noFill/>
                    </a:lnR>
                    <a:lnT w="0">
                      <a:noFill/>
                    </a:lnT>
                    <a:lnB w="9525">
                      <a:solidFill>
                        <a:srgbClr val="E4E8EB"/>
                      </a:solidFill>
                    </a:lnB>
                    <a:noFill/>
                  </a:tcPr>
                </a:tc>
                <a:extLst>
                  <a:ext uri="{0D108BD9-81ED-4DB2-BD59-A6C34878D82A}">
                    <a16:rowId xmlns:a16="http://schemas.microsoft.com/office/drawing/2014/main" val="10012"/>
                  </a:ext>
                </a:extLst>
              </a:tr>
            </a:tbl>
          </a:graphicData>
        </a:graphic>
      </p:graphicFrame>
      <p:sp>
        <p:nvSpPr>
          <p:cNvPr id="6" name="TextBox 5"/>
          <p:cNvSpPr txBox="1"/>
          <p:nvPr/>
        </p:nvSpPr>
        <p:spPr>
          <a:xfrm>
            <a:off x="566928" y="5157216"/>
            <a:ext cx="51206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LEGEND</a:t>
            </a:r>
          </a:p>
        </p:txBody>
      </p:sp>
      <p:sp>
        <p:nvSpPr>
          <p:cNvPr id="7" name="Rectangle 6"/>
          <p:cNvSpPr/>
          <p:nvPr/>
        </p:nvSpPr>
        <p:spPr>
          <a:xfrm>
            <a:off x="566928" y="5376672"/>
            <a:ext cx="5120640"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p:cNvSpPr/>
          <p:nvPr/>
        </p:nvSpPr>
        <p:spPr>
          <a:xfrm>
            <a:off x="566928" y="5504688"/>
            <a:ext cx="292608" cy="164592"/>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p:cNvSpPr txBox="1"/>
          <p:nvPr/>
        </p:nvSpPr>
        <p:spPr>
          <a:xfrm>
            <a:off x="932688" y="549554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NPD</a:t>
            </a:r>
          </a:p>
        </p:txBody>
      </p:sp>
      <p:sp>
        <p:nvSpPr>
          <p:cNvPr id="10" name="Rectangle 9"/>
          <p:cNvSpPr/>
          <p:nvPr/>
        </p:nvSpPr>
        <p:spPr>
          <a:xfrm>
            <a:off x="2304288" y="5504688"/>
            <a:ext cx="292608" cy="164592"/>
          </a:xfrm>
          <a:prstGeom prst="rect">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p:cNvSpPr txBox="1"/>
          <p:nvPr/>
        </p:nvSpPr>
        <p:spPr>
          <a:xfrm>
            <a:off x="2670048" y="549554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Trial program</a:t>
            </a:r>
          </a:p>
        </p:txBody>
      </p:sp>
      <p:sp>
        <p:nvSpPr>
          <p:cNvPr id="12" name="Rectangle 11"/>
          <p:cNvSpPr/>
          <p:nvPr/>
        </p:nvSpPr>
        <p:spPr>
          <a:xfrm>
            <a:off x="4041648" y="5504688"/>
            <a:ext cx="292608" cy="164592"/>
          </a:xfrm>
          <a:prstGeom prst="rect">
            <a:avLst/>
          </a:prstGeom>
          <a:solidFill>
            <a:srgbClr val="F0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p:cNvSpPr txBox="1"/>
          <p:nvPr/>
        </p:nvSpPr>
        <p:spPr>
          <a:xfrm>
            <a:off x="4407408" y="549554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NPI</a:t>
            </a:r>
          </a:p>
        </p:txBody>
      </p:sp>
      <p:sp>
        <p:nvSpPr>
          <p:cNvPr id="14" name="Rectangle 13"/>
          <p:cNvSpPr/>
          <p:nvPr/>
        </p:nvSpPr>
        <p:spPr>
          <a:xfrm>
            <a:off x="566928" y="5779007"/>
            <a:ext cx="292608" cy="164592"/>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p:cNvSpPr txBox="1"/>
          <p:nvPr/>
        </p:nvSpPr>
        <p:spPr>
          <a:xfrm>
            <a:off x="932688" y="576986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Launch / milestone ◆</a:t>
            </a:r>
          </a:p>
        </p:txBody>
      </p:sp>
      <p:sp>
        <p:nvSpPr>
          <p:cNvPr id="16" name="Rectangle 15"/>
          <p:cNvSpPr/>
          <p:nvPr/>
        </p:nvSpPr>
        <p:spPr>
          <a:xfrm>
            <a:off x="2304288" y="5779007"/>
            <a:ext cx="292608" cy="164592"/>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TextBox 16"/>
          <p:cNvSpPr txBox="1"/>
          <p:nvPr/>
        </p:nvSpPr>
        <p:spPr>
          <a:xfrm>
            <a:off x="2670048" y="576986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Commercial</a:t>
            </a:r>
          </a:p>
        </p:txBody>
      </p:sp>
      <p:sp>
        <p:nvSpPr>
          <p:cNvPr id="18" name="Rectangle 17"/>
          <p:cNvSpPr/>
          <p:nvPr/>
        </p:nvSpPr>
        <p:spPr>
          <a:xfrm>
            <a:off x="4041648" y="5779007"/>
            <a:ext cx="292608" cy="164592"/>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TextBox 18"/>
          <p:cNvSpPr txBox="1"/>
          <p:nvPr/>
        </p:nvSpPr>
        <p:spPr>
          <a:xfrm>
            <a:off x="4407408" y="5769864"/>
            <a:ext cx="14630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Header = current period</a:t>
            </a:r>
          </a:p>
        </p:txBody>
      </p:sp>
      <p:sp>
        <p:nvSpPr>
          <p:cNvPr id="20" name="TextBox 19"/>
          <p:cNvSpPr txBox="1"/>
          <p:nvPr/>
        </p:nvSpPr>
        <p:spPr>
          <a:xfrm>
            <a:off x="6236208" y="5157216"/>
            <a:ext cx="538581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HOW TO EDIT</a:t>
            </a:r>
          </a:p>
        </p:txBody>
      </p:sp>
      <p:sp>
        <p:nvSpPr>
          <p:cNvPr id="21" name="Rectangle 20"/>
          <p:cNvSpPr/>
          <p:nvPr/>
        </p:nvSpPr>
        <p:spPr>
          <a:xfrm>
            <a:off x="6236208" y="5376672"/>
            <a:ext cx="5385816"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p:cNvSpPr txBox="1"/>
          <p:nvPr/>
        </p:nvSpPr>
        <p:spPr>
          <a:xfrm>
            <a:off x="6236208" y="5486400"/>
            <a:ext cx="5385816" cy="1097280"/>
          </a:xfrm>
          <a:prstGeom prst="rect">
            <a:avLst/>
          </a:prstGeom>
          <a:noFill/>
        </p:spPr>
        <p:txBody>
          <a:bodyPr wrap="square" lIns="0" tIns="0" rIns="0" bIns="0" anchor="t">
            <a:spAutoFit/>
          </a:bodyPr>
          <a:lstStyle/>
          <a:p>
            <a:pPr marL="146304" marR="0" lvl="0" indent="-146304" algn="l" defTabSz="914400" rtl="0" eaLnBrk="1" fontAlgn="auto" latinLnBrk="0" hangingPunct="1">
              <a:lnSpc>
                <a:spcPct val="100000"/>
              </a:lnSpc>
              <a:spcBef>
                <a:spcPts val="0"/>
              </a:spcBef>
              <a:spcAft>
                <a:spcPts val="300"/>
              </a:spcAft>
              <a:buClr>
                <a:srgbClr val="E55200"/>
              </a:buClr>
              <a:buSzTx/>
              <a:buFont typeface="Arial"/>
              <a:buChar char="•"/>
              <a:tabLst/>
              <a:defRPr/>
            </a:pPr>
            <a:r>
              <a:rPr kumimoji="0" sz="850" b="0" i="0" u="none" strike="noStrike" kern="1200" cap="none" spc="0" normalizeH="0" baseline="0" noProof="0">
                <a:ln>
                  <a:noFill/>
                </a:ln>
                <a:solidFill>
                  <a:srgbClr val="26262A"/>
                </a:solidFill>
                <a:effectLst/>
                <a:uLnTx/>
                <a:uFillTx/>
                <a:latin typeface="Arial"/>
                <a:ea typeface="+mn-ea"/>
                <a:cs typeface="+mn-cs"/>
              </a:rPr>
              <a:t>Extend a bar: select the period cells → Table Design › Shading → pick the phase colour</a:t>
            </a:r>
          </a:p>
          <a:p>
            <a:pPr marL="146304" marR="0" lvl="0" indent="-146304" algn="l" defTabSz="914400" rtl="0" eaLnBrk="1" fontAlgn="auto" latinLnBrk="0" hangingPunct="1">
              <a:lnSpc>
                <a:spcPct val="100000"/>
              </a:lnSpc>
              <a:spcBef>
                <a:spcPts val="0"/>
              </a:spcBef>
              <a:spcAft>
                <a:spcPts val="300"/>
              </a:spcAft>
              <a:buClr>
                <a:srgbClr val="E55200"/>
              </a:buClr>
              <a:buSzTx/>
              <a:buFont typeface="Arial"/>
              <a:buChar char="•"/>
              <a:tabLst/>
              <a:defRPr/>
            </a:pPr>
            <a:r>
              <a:rPr kumimoji="0" sz="850" b="0" i="0" u="none" strike="noStrike" kern="1200" cap="none" spc="0" normalizeH="0" baseline="0" noProof="0">
                <a:ln>
                  <a:noFill/>
                </a:ln>
                <a:solidFill>
                  <a:srgbClr val="26262A"/>
                </a:solidFill>
                <a:effectLst/>
                <a:uLnTx/>
                <a:uFillTx/>
                <a:latin typeface="Arial"/>
                <a:ea typeface="+mn-ea"/>
                <a:cs typeface="+mn-cs"/>
              </a:rPr>
              <a:t>Add a row or period: right-click → Insert rows / columns; rename Q1… to months or weeks if needed</a:t>
            </a:r>
          </a:p>
          <a:p>
            <a:pPr marL="146304" marR="0" lvl="0" indent="-146304" algn="l" defTabSz="914400" rtl="0" eaLnBrk="1" fontAlgn="auto" latinLnBrk="0" hangingPunct="1">
              <a:lnSpc>
                <a:spcPct val="100000"/>
              </a:lnSpc>
              <a:spcBef>
                <a:spcPts val="0"/>
              </a:spcBef>
              <a:spcAft>
                <a:spcPts val="300"/>
              </a:spcAft>
              <a:buClr>
                <a:srgbClr val="E55200"/>
              </a:buClr>
              <a:buSzTx/>
              <a:buFont typeface="Arial"/>
              <a:buChar char="•"/>
              <a:tabLst/>
              <a:defRPr/>
            </a:pPr>
            <a:r>
              <a:rPr kumimoji="0" sz="850" b="0" i="0" u="none" strike="noStrike" kern="1200" cap="none" spc="0" normalizeH="0" baseline="0" noProof="0">
                <a:ln>
                  <a:noFill/>
                </a:ln>
                <a:solidFill>
                  <a:srgbClr val="26262A"/>
                </a:solidFill>
                <a:effectLst/>
                <a:uLnTx/>
                <a:uFillTx/>
                <a:latin typeface="Arial"/>
                <a:ea typeface="+mn-ea"/>
                <a:cs typeface="+mn-cs"/>
              </a:rPr>
              <a:t>Move "today": shade the current period header orange, the rest wash</a:t>
            </a:r>
          </a:p>
        </p:txBody>
      </p:sp>
      <p:sp>
        <p:nvSpPr>
          <p:cNvPr id="23" name="TextBox 22"/>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Internal resources</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37325-9A03-8EA6-C5C7-221F4D1752C4}"/>
            </a:ext>
          </a:extLst>
        </p:cNvPr>
        <p:cNvGrpSpPr/>
        <p:nvPr/>
      </p:nvGrpSpPr>
      <p:grpSpPr>
        <a:xfrm>
          <a:off x="0" y="0"/>
          <a:ext cx="0" cy="0"/>
          <a:chOff x="0" y="0"/>
          <a:chExt cx="0" cy="0"/>
        </a:xfrm>
      </p:grpSpPr>
    </p:spTree>
    <p:extLst>
      <p:ext uri="{BB962C8B-B14F-4D97-AF65-F5344CB8AC3E}">
        <p14:creationId xmlns:p14="http://schemas.microsoft.com/office/powerpoint/2010/main" val="178033855"/>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PRINCIPLES</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Every slide in the 6-month review should be clear at first glance</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0.1</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layout ideas adapted from the Bitwise Asset Management website (editorial headline, stat row, whitespace)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TextBox 127"/>
          <p:cNvSpPr txBox="1"/>
          <p:nvPr/>
        </p:nvSpPr>
        <p:spPr>
          <a:xfrm>
            <a:off x="571500" y="1168400"/>
            <a:ext cx="11049000" cy="177800"/>
          </a:xfrm>
          <a:prstGeom prst="rect">
            <a:avLst/>
          </a:prstGeom>
          <a:noFill/>
        </p:spPr>
        <p:txBody>
          <a:bodyPr wrap="square" lIns="0" rIns="0" tIns="0" bIns="0" anchor="t">
            <a:spAutoFit/>
          </a:bodyPr>
          <a:lstStyle/>
          <a:p>
            <a:pPr algn="ctr"/>
            <a:r>
              <a:rPr sz="850" b="1" spc="200">
                <a:solidFill>
                  <a:srgbClr val="6E7B84"/>
                </a:solidFill>
                <a:latin typeface="Arial"/>
              </a:rPr>
              <a:t>WHY THIS GUIDE</a:t>
            </a:r>
          </a:p>
        </p:txBody>
      </p:sp>
      <p:sp>
        <p:nvSpPr>
          <p:cNvPr id="129" name="TextBox 128"/>
          <p:cNvSpPr txBox="1"/>
          <p:nvPr/>
        </p:nvSpPr>
        <p:spPr>
          <a:xfrm>
            <a:off x="571500" y="1371600"/>
            <a:ext cx="11049000" cy="381000"/>
          </a:xfrm>
          <a:prstGeom prst="rect">
            <a:avLst/>
          </a:prstGeom>
          <a:noFill/>
        </p:spPr>
        <p:txBody>
          <a:bodyPr wrap="square" lIns="0" rIns="0" tIns="0" bIns="0" anchor="t">
            <a:spAutoFit/>
          </a:bodyPr>
          <a:lstStyle/>
          <a:p>
            <a:pPr algn="ctr"/>
            <a:r>
              <a:rPr sz="2200" b="1">
                <a:solidFill>
                  <a:srgbClr val="26262A"/>
                </a:solidFill>
                <a:latin typeface="Arial"/>
              </a:rPr>
              <a:t>One deck, one look, one </a:t>
            </a:r>
            <a:r>
              <a:rPr sz="2200" b="1">
                <a:solidFill>
                  <a:srgbClr val="E55200"/>
                </a:solidFill>
                <a:latin typeface="Arial"/>
              </a:rPr>
              <a:t>clear</a:t>
            </a:r>
            <a:r>
              <a:rPr sz="2200" b="1">
                <a:solidFill>
                  <a:srgbClr val="26262A"/>
                </a:solidFill>
                <a:latin typeface="Arial"/>
              </a:rPr>
              <a:t> story.</a:t>
            </a:r>
          </a:p>
        </p:txBody>
      </p:sp>
      <p:sp>
        <p:nvSpPr>
          <p:cNvPr id="130" name="TextBox 129"/>
          <p:cNvSpPr txBox="1"/>
          <p:nvPr/>
        </p:nvSpPr>
        <p:spPr>
          <a:xfrm>
            <a:off x="2159000" y="1778000"/>
            <a:ext cx="7874000" cy="381000"/>
          </a:xfrm>
          <a:prstGeom prst="rect">
            <a:avLst/>
          </a:prstGeom>
          <a:noFill/>
        </p:spPr>
        <p:txBody>
          <a:bodyPr wrap="square" lIns="0" rIns="0" tIns="0" bIns="0" anchor="t">
            <a:spAutoFit/>
          </a:bodyPr>
          <a:lstStyle/>
          <a:p>
            <a:pPr algn="ctr"/>
            <a:r>
              <a:rPr sz="1000" b="0">
                <a:solidFill>
                  <a:srgbClr val="6E7B84"/>
                </a:solidFill>
                <a:latin typeface="Arial"/>
              </a:rPr>
              <a:t>A shared standard for colour, type, layout and evidence, so reviewers spend their time on the content and not on decoding the slide.</a:t>
            </a:r>
          </a:p>
        </p:txBody>
      </p:sp>
      <p:cxnSp>
        <p:nvCxnSpPr>
          <p:cNvPr id="131" name="Connector 130"/>
          <p:cNvCxnSpPr/>
          <p:nvPr/>
        </p:nvCxnSpPr>
        <p:spPr>
          <a:xfrm>
            <a:off x="254000" y="2819400"/>
            <a:ext cx="11684000" cy="0"/>
          </a:xfrm>
          <a:prstGeom prst="line">
            <a:avLst/>
          </a:prstGeom>
          <a:ln w="12700">
            <a:solidFill>
              <a:srgbClr val="E4E8EB"/>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571500" y="2438400"/>
            <a:ext cx="3429000" cy="203200"/>
          </a:xfrm>
          <a:prstGeom prst="rect">
            <a:avLst/>
          </a:prstGeom>
          <a:noFill/>
        </p:spPr>
        <p:txBody>
          <a:bodyPr wrap="square" lIns="0" rIns="0" tIns="0" bIns="0" anchor="t">
            <a:spAutoFit/>
          </a:bodyPr>
          <a:lstStyle/>
          <a:p>
            <a:pPr algn="l"/>
            <a:r>
              <a:rPr sz="1100" b="1">
                <a:solidFill>
                  <a:srgbClr val="26262A"/>
                </a:solidFill>
                <a:latin typeface="Arial"/>
              </a:rPr>
              <a:t>One message per slide</a:t>
            </a:r>
          </a:p>
        </p:txBody>
      </p:sp>
      <p:sp>
        <p:nvSpPr>
          <p:cNvPr id="133" name="Oval 132"/>
          <p:cNvSpPr/>
          <p:nvPr/>
        </p:nvSpPr>
        <p:spPr>
          <a:xfrm>
            <a:off x="571500" y="2774950"/>
            <a:ext cx="88900" cy="889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4" name="TextBox 133"/>
          <p:cNvSpPr txBox="1"/>
          <p:nvPr/>
        </p:nvSpPr>
        <p:spPr>
          <a:xfrm>
            <a:off x="571500" y="2997200"/>
            <a:ext cx="3365500" cy="762000"/>
          </a:xfrm>
          <a:prstGeom prst="rect">
            <a:avLst/>
          </a:prstGeom>
          <a:noFill/>
        </p:spPr>
        <p:txBody>
          <a:bodyPr wrap="square" lIns="0" rIns="0" tIns="0" bIns="0" anchor="t">
            <a:spAutoFit/>
          </a:bodyPr>
          <a:lstStyle/>
          <a:p>
            <a:pPr algn="l">
              <a:lnSpc>
                <a:spcPct val="115000"/>
              </a:lnSpc>
            </a:pPr>
            <a:r>
              <a:rPr sz="950" b="0">
                <a:solidFill>
                  <a:srgbClr val="6E7B84"/>
                </a:solidFill>
                <a:latin typeface="Arial"/>
              </a:rPr>
              <a:t>The subtitle states the conclusion and the body only proves it. If a slide needs two messages, split it into two slides.</a:t>
            </a:r>
          </a:p>
        </p:txBody>
      </p:sp>
      <p:sp>
        <p:nvSpPr>
          <p:cNvPr id="135" name="TextBox 134"/>
          <p:cNvSpPr txBox="1"/>
          <p:nvPr/>
        </p:nvSpPr>
        <p:spPr>
          <a:xfrm>
            <a:off x="4381500" y="2438400"/>
            <a:ext cx="3429000" cy="203200"/>
          </a:xfrm>
          <a:prstGeom prst="rect">
            <a:avLst/>
          </a:prstGeom>
          <a:noFill/>
        </p:spPr>
        <p:txBody>
          <a:bodyPr wrap="square" lIns="0" rIns="0" tIns="0" bIns="0" anchor="t">
            <a:spAutoFit/>
          </a:bodyPr>
          <a:lstStyle/>
          <a:p>
            <a:pPr algn="l"/>
            <a:r>
              <a:rPr sz="1100" b="1">
                <a:solidFill>
                  <a:srgbClr val="26262A"/>
                </a:solidFill>
                <a:latin typeface="Arial"/>
              </a:rPr>
              <a:t>Evidence over adjectives</a:t>
            </a:r>
          </a:p>
        </p:txBody>
      </p:sp>
      <p:sp>
        <p:nvSpPr>
          <p:cNvPr id="136" name="Oval 135"/>
          <p:cNvSpPr/>
          <p:nvPr/>
        </p:nvSpPr>
        <p:spPr>
          <a:xfrm>
            <a:off x="4381500" y="2774950"/>
            <a:ext cx="88900" cy="889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7" name="TextBox 136"/>
          <p:cNvSpPr txBox="1"/>
          <p:nvPr/>
        </p:nvSpPr>
        <p:spPr>
          <a:xfrm>
            <a:off x="4381500" y="2997200"/>
            <a:ext cx="3365500" cy="762000"/>
          </a:xfrm>
          <a:prstGeom prst="rect">
            <a:avLst/>
          </a:prstGeom>
          <a:noFill/>
        </p:spPr>
        <p:txBody>
          <a:bodyPr wrap="square" lIns="0" rIns="0" tIns="0" bIns="0" anchor="t">
            <a:spAutoFit/>
          </a:bodyPr>
          <a:lstStyle/>
          <a:p>
            <a:pPr algn="l">
              <a:lnSpc>
                <a:spcPct val="115000"/>
              </a:lnSpc>
            </a:pPr>
            <a:r>
              <a:rPr sz="950" b="0">
                <a:solidFill>
                  <a:srgbClr val="6E7B84"/>
                </a:solidFill>
                <a:latin typeface="Arial"/>
              </a:rPr>
              <a:t>Show the number, the photo, the screenshot or the document. Replace words such as 'significant' with the figure and its source.</a:t>
            </a:r>
          </a:p>
        </p:txBody>
      </p:sp>
      <p:sp>
        <p:nvSpPr>
          <p:cNvPr id="138" name="TextBox 137"/>
          <p:cNvSpPr txBox="1"/>
          <p:nvPr/>
        </p:nvSpPr>
        <p:spPr>
          <a:xfrm>
            <a:off x="8191500" y="2438400"/>
            <a:ext cx="3429000" cy="203200"/>
          </a:xfrm>
          <a:prstGeom prst="rect">
            <a:avLst/>
          </a:prstGeom>
          <a:noFill/>
        </p:spPr>
        <p:txBody>
          <a:bodyPr wrap="square" lIns="0" rIns="0" tIns="0" bIns="0" anchor="t">
            <a:spAutoFit/>
          </a:bodyPr>
          <a:lstStyle/>
          <a:p>
            <a:pPr algn="l"/>
            <a:r>
              <a:rPr sz="1100" b="1">
                <a:solidFill>
                  <a:srgbClr val="26262A"/>
                </a:solidFill>
                <a:latin typeface="Arial"/>
              </a:rPr>
              <a:t>Whitespace is structure</a:t>
            </a:r>
          </a:p>
        </p:txBody>
      </p:sp>
      <p:sp>
        <p:nvSpPr>
          <p:cNvPr id="139" name="Oval 138"/>
          <p:cNvSpPr/>
          <p:nvPr/>
        </p:nvSpPr>
        <p:spPr>
          <a:xfrm>
            <a:off x="8191500" y="2774950"/>
            <a:ext cx="88900" cy="889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0" name="TextBox 139"/>
          <p:cNvSpPr txBox="1"/>
          <p:nvPr/>
        </p:nvSpPr>
        <p:spPr>
          <a:xfrm>
            <a:off x="8191500" y="2997200"/>
            <a:ext cx="3365500" cy="762000"/>
          </a:xfrm>
          <a:prstGeom prst="rect">
            <a:avLst/>
          </a:prstGeom>
          <a:noFill/>
        </p:spPr>
        <p:txBody>
          <a:bodyPr wrap="square" lIns="0" rIns="0" tIns="0" bIns="0" anchor="t">
            <a:spAutoFit/>
          </a:bodyPr>
          <a:lstStyle/>
          <a:p>
            <a:pPr algn="l">
              <a:lnSpc>
                <a:spcPct val="115000"/>
              </a:lnSpc>
            </a:pPr>
            <a:r>
              <a:rPr sz="950" b="0">
                <a:solidFill>
                  <a:srgbClr val="6E7B84"/>
                </a:solidFill>
                <a:latin typeface="Arial"/>
              </a:rPr>
              <a:t>Group items with space, not with extra boxes. Align everything to the grid so the eye reads left to right, top to bottom.</a:t>
            </a:r>
          </a:p>
        </p:txBody>
      </p:sp>
      <p:sp>
        <p:nvSpPr>
          <p:cNvPr id="141" name="Rectangle 140"/>
          <p:cNvSpPr/>
          <p:nvPr/>
        </p:nvSpPr>
        <p:spPr>
          <a:xfrm>
            <a:off x="571500" y="4038600"/>
            <a:ext cx="11049000" cy="2159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2" name="TextBox 141"/>
          <p:cNvSpPr txBox="1"/>
          <p:nvPr/>
        </p:nvSpPr>
        <p:spPr>
          <a:xfrm>
            <a:off x="876300" y="4241800"/>
            <a:ext cx="5080000" cy="177800"/>
          </a:xfrm>
          <a:prstGeom prst="rect">
            <a:avLst/>
          </a:prstGeom>
          <a:noFill/>
        </p:spPr>
        <p:txBody>
          <a:bodyPr wrap="square" lIns="0" rIns="0" tIns="0" bIns="0" anchor="t">
            <a:spAutoFit/>
          </a:bodyPr>
          <a:lstStyle/>
          <a:p>
            <a:pPr algn="l"/>
            <a:r>
              <a:rPr sz="850" b="1" spc="200">
                <a:solidFill>
                  <a:srgbClr val="6E7B84"/>
                </a:solidFill>
                <a:latin typeface="Arial"/>
              </a:rPr>
              <a:t>THE STANDARD IN FOUR NUMBERS</a:t>
            </a:r>
          </a:p>
        </p:txBody>
      </p:sp>
      <p:sp>
        <p:nvSpPr>
          <p:cNvPr id="143" name="TextBox 142"/>
          <p:cNvSpPr txBox="1"/>
          <p:nvPr/>
        </p:nvSpPr>
        <p:spPr>
          <a:xfrm>
            <a:off x="876300" y="4597400"/>
            <a:ext cx="2413000" cy="558800"/>
          </a:xfrm>
          <a:prstGeom prst="rect">
            <a:avLst/>
          </a:prstGeom>
          <a:noFill/>
        </p:spPr>
        <p:txBody>
          <a:bodyPr wrap="square" lIns="0" rIns="0" tIns="0" bIns="0" anchor="t">
            <a:spAutoFit/>
          </a:bodyPr>
          <a:lstStyle/>
          <a:p>
            <a:pPr algn="l"/>
            <a:r>
              <a:rPr sz="3200" b="1">
                <a:solidFill>
                  <a:srgbClr val="E55200"/>
                </a:solidFill>
                <a:latin typeface="Arial"/>
              </a:rPr>
              <a:t>1</a:t>
            </a:r>
          </a:p>
        </p:txBody>
      </p:sp>
      <p:sp>
        <p:nvSpPr>
          <p:cNvPr id="144" name="TextBox 143"/>
          <p:cNvSpPr txBox="1"/>
          <p:nvPr/>
        </p:nvSpPr>
        <p:spPr>
          <a:xfrm>
            <a:off x="876300" y="5232400"/>
            <a:ext cx="2286000" cy="508000"/>
          </a:xfrm>
          <a:prstGeom prst="rect">
            <a:avLst/>
          </a:prstGeom>
          <a:noFill/>
        </p:spPr>
        <p:txBody>
          <a:bodyPr wrap="square" lIns="0" rIns="0" tIns="0" bIns="0" anchor="t">
            <a:spAutoFit/>
          </a:bodyPr>
          <a:lstStyle/>
          <a:p>
            <a:pPr algn="l">
              <a:lnSpc>
                <a:spcPct val="110000"/>
              </a:lnSpc>
            </a:pPr>
            <a:r>
              <a:rPr sz="950" b="1">
                <a:solidFill>
                  <a:srgbClr val="26262A"/>
                </a:solidFill>
                <a:latin typeface="Arial"/>
              </a:rPr>
              <a:t>message per slide, written as the subtitle</a:t>
            </a:r>
          </a:p>
        </p:txBody>
      </p:sp>
      <p:cxnSp>
        <p:nvCxnSpPr>
          <p:cNvPr id="145" name="Connector 144"/>
          <p:cNvCxnSpPr/>
          <p:nvPr/>
        </p:nvCxnSpPr>
        <p:spPr>
          <a:xfrm>
            <a:off x="3365500" y="4673600"/>
            <a:ext cx="0" cy="1193800"/>
          </a:xfrm>
          <a:prstGeom prst="line">
            <a:avLst/>
          </a:prstGeom>
          <a:ln w="9525">
            <a:solidFill>
              <a:srgbClr val="C9D0D7"/>
            </a:solidFill>
          </a:ln>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3543300" y="4597400"/>
            <a:ext cx="2413000" cy="558800"/>
          </a:xfrm>
          <a:prstGeom prst="rect">
            <a:avLst/>
          </a:prstGeom>
          <a:noFill/>
        </p:spPr>
        <p:txBody>
          <a:bodyPr wrap="square" lIns="0" rIns="0" tIns="0" bIns="0" anchor="t">
            <a:spAutoFit/>
          </a:bodyPr>
          <a:lstStyle/>
          <a:p>
            <a:pPr algn="l"/>
            <a:r>
              <a:rPr sz="3200" b="1">
                <a:solidFill>
                  <a:srgbClr val="E55200"/>
                </a:solidFill>
                <a:latin typeface="Arial"/>
              </a:rPr>
              <a:t>≤ 6</a:t>
            </a:r>
          </a:p>
        </p:txBody>
      </p:sp>
      <p:sp>
        <p:nvSpPr>
          <p:cNvPr id="147" name="TextBox 146"/>
          <p:cNvSpPr txBox="1"/>
          <p:nvPr/>
        </p:nvSpPr>
        <p:spPr>
          <a:xfrm>
            <a:off x="3543300" y="5232400"/>
            <a:ext cx="2286000" cy="508000"/>
          </a:xfrm>
          <a:prstGeom prst="rect">
            <a:avLst/>
          </a:prstGeom>
          <a:noFill/>
        </p:spPr>
        <p:txBody>
          <a:bodyPr wrap="square" lIns="0" rIns="0" tIns="0" bIns="0" anchor="t">
            <a:spAutoFit/>
          </a:bodyPr>
          <a:lstStyle/>
          <a:p>
            <a:pPr algn="l">
              <a:lnSpc>
                <a:spcPct val="110000"/>
              </a:lnSpc>
            </a:pPr>
            <a:r>
              <a:rPr sz="950" b="1">
                <a:solidFill>
                  <a:srgbClr val="26262A"/>
                </a:solidFill>
                <a:latin typeface="Arial"/>
              </a:rPr>
              <a:t>bullets per box, one line each where possible</a:t>
            </a:r>
          </a:p>
        </p:txBody>
      </p:sp>
      <p:cxnSp>
        <p:nvCxnSpPr>
          <p:cNvPr id="148" name="Connector 147"/>
          <p:cNvCxnSpPr/>
          <p:nvPr/>
        </p:nvCxnSpPr>
        <p:spPr>
          <a:xfrm>
            <a:off x="6032500" y="4673600"/>
            <a:ext cx="0" cy="1193800"/>
          </a:xfrm>
          <a:prstGeom prst="line">
            <a:avLst/>
          </a:prstGeom>
          <a:ln w="9525">
            <a:solidFill>
              <a:srgbClr val="C9D0D7"/>
            </a:solidFill>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6210300" y="4597400"/>
            <a:ext cx="2413000" cy="558800"/>
          </a:xfrm>
          <a:prstGeom prst="rect">
            <a:avLst/>
          </a:prstGeom>
          <a:noFill/>
        </p:spPr>
        <p:txBody>
          <a:bodyPr wrap="square" lIns="0" rIns="0" tIns="0" bIns="0" anchor="t">
            <a:spAutoFit/>
          </a:bodyPr>
          <a:lstStyle/>
          <a:p>
            <a:pPr algn="l"/>
            <a:r>
              <a:rPr sz="3200" b="1">
                <a:solidFill>
                  <a:srgbClr val="E55200"/>
                </a:solidFill>
                <a:latin typeface="Arial"/>
              </a:rPr>
              <a:t>3</a:t>
            </a:r>
          </a:p>
        </p:txBody>
      </p:sp>
      <p:sp>
        <p:nvSpPr>
          <p:cNvPr id="150" name="TextBox 149"/>
          <p:cNvSpPr txBox="1"/>
          <p:nvPr/>
        </p:nvSpPr>
        <p:spPr>
          <a:xfrm>
            <a:off x="6210300" y="5232400"/>
            <a:ext cx="2286000" cy="508000"/>
          </a:xfrm>
          <a:prstGeom prst="rect">
            <a:avLst/>
          </a:prstGeom>
          <a:noFill/>
        </p:spPr>
        <p:txBody>
          <a:bodyPr wrap="square" lIns="0" rIns="0" tIns="0" bIns="0" anchor="t">
            <a:spAutoFit/>
          </a:bodyPr>
          <a:lstStyle/>
          <a:p>
            <a:pPr algn="l">
              <a:lnSpc>
                <a:spcPct val="110000"/>
              </a:lnSpc>
            </a:pPr>
            <a:r>
              <a:rPr sz="950" b="1">
                <a:solidFill>
                  <a:srgbClr val="26262A"/>
                </a:solidFill>
                <a:latin typeface="Arial"/>
              </a:rPr>
              <a:t>colours on one slide, plus the neutrals</a:t>
            </a:r>
          </a:p>
        </p:txBody>
      </p:sp>
      <p:cxnSp>
        <p:nvCxnSpPr>
          <p:cNvPr id="151" name="Connector 150"/>
          <p:cNvCxnSpPr/>
          <p:nvPr/>
        </p:nvCxnSpPr>
        <p:spPr>
          <a:xfrm>
            <a:off x="8699500" y="4673600"/>
            <a:ext cx="0" cy="1193800"/>
          </a:xfrm>
          <a:prstGeom prst="line">
            <a:avLst/>
          </a:prstGeom>
          <a:ln w="9525">
            <a:solidFill>
              <a:srgbClr val="C9D0D7"/>
            </a:solidFill>
          </a:ln>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8877300" y="4597400"/>
            <a:ext cx="2413000" cy="558800"/>
          </a:xfrm>
          <a:prstGeom prst="rect">
            <a:avLst/>
          </a:prstGeom>
          <a:noFill/>
        </p:spPr>
        <p:txBody>
          <a:bodyPr wrap="square" lIns="0" rIns="0" tIns="0" bIns="0" anchor="t">
            <a:spAutoFit/>
          </a:bodyPr>
          <a:lstStyle/>
          <a:p>
            <a:pPr algn="l"/>
            <a:r>
              <a:rPr sz="3200" b="1">
                <a:solidFill>
                  <a:srgbClr val="E55200"/>
                </a:solidFill>
                <a:latin typeface="Arial"/>
              </a:rPr>
              <a:t>8.5 pt</a:t>
            </a:r>
          </a:p>
        </p:txBody>
      </p:sp>
      <p:sp>
        <p:nvSpPr>
          <p:cNvPr id="153" name="TextBox 152"/>
          <p:cNvSpPr txBox="1"/>
          <p:nvPr/>
        </p:nvSpPr>
        <p:spPr>
          <a:xfrm>
            <a:off x="8877300" y="5232400"/>
            <a:ext cx="2286000" cy="508000"/>
          </a:xfrm>
          <a:prstGeom prst="rect">
            <a:avLst/>
          </a:prstGeom>
          <a:noFill/>
        </p:spPr>
        <p:txBody>
          <a:bodyPr wrap="square" lIns="0" rIns="0" tIns="0" bIns="0" anchor="t">
            <a:spAutoFit/>
          </a:bodyPr>
          <a:lstStyle/>
          <a:p>
            <a:pPr algn="l">
              <a:lnSpc>
                <a:spcPct val="110000"/>
              </a:lnSpc>
            </a:pPr>
            <a:r>
              <a:rPr sz="950" b="1">
                <a:solidFill>
                  <a:srgbClr val="26262A"/>
                </a:solidFill>
                <a:latin typeface="Arial"/>
              </a:rPr>
              <a:t>smallest text size, including sources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SLIDE ANATOMY</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Six fixed zones: the header carries the message, the body proves it</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0.2</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Triatra Template PPT 2026 V3; design references collected for this guide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Rectangle 127"/>
          <p:cNvSpPr/>
          <p:nvPr/>
        </p:nvSpPr>
        <p:spPr>
          <a:xfrm>
            <a:off x="571500" y="1092200"/>
            <a:ext cx="5969000" cy="3357879"/>
          </a:xfrm>
          <a:prstGeom prst="rect">
            <a:avLst/>
          </a:prstGeom>
          <a:solidFill>
            <a:srgbClr val="FFFFFF"/>
          </a:solidFill>
          <a:ln w="1270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29" name="Rectangle 128"/>
          <p:cNvSpPr/>
          <p:nvPr/>
        </p:nvSpPr>
        <p:spPr>
          <a:xfrm>
            <a:off x="689636" y="1222771"/>
            <a:ext cx="261143" cy="118136"/>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0" name="TextBox 129"/>
          <p:cNvSpPr txBox="1"/>
          <p:nvPr/>
        </p:nvSpPr>
        <p:spPr>
          <a:xfrm>
            <a:off x="689636" y="1222771"/>
            <a:ext cx="261143" cy="118136"/>
          </a:xfrm>
          <a:prstGeom prst="rect">
            <a:avLst/>
          </a:prstGeom>
          <a:noFill/>
        </p:spPr>
        <p:txBody>
          <a:bodyPr wrap="square" lIns="0" rIns="0" tIns="0" bIns="0" anchor="ctr">
            <a:spAutoFit/>
          </a:bodyPr>
          <a:lstStyle/>
          <a:p>
            <a:pPr algn="ctr"/>
            <a:r>
              <a:rPr sz="700" b="1">
                <a:solidFill>
                  <a:srgbClr val="FFFFFF"/>
                </a:solidFill>
                <a:latin typeface="Arial"/>
              </a:rPr>
              <a:t>1</a:t>
            </a:r>
          </a:p>
        </p:txBody>
      </p:sp>
      <p:sp>
        <p:nvSpPr>
          <p:cNvPr id="131" name="TextBox 130"/>
          <p:cNvSpPr txBox="1"/>
          <p:nvPr/>
        </p:nvSpPr>
        <p:spPr>
          <a:xfrm>
            <a:off x="1012957" y="1173030"/>
            <a:ext cx="3810000" cy="114300"/>
          </a:xfrm>
          <a:prstGeom prst="rect">
            <a:avLst/>
          </a:prstGeom>
          <a:noFill/>
        </p:spPr>
        <p:txBody>
          <a:bodyPr wrap="square" lIns="0" rIns="0" tIns="0" bIns="0" anchor="t">
            <a:spAutoFit/>
          </a:bodyPr>
          <a:lstStyle/>
          <a:p>
            <a:pPr algn="l"/>
            <a:r>
              <a:rPr sz="600" b="1">
                <a:solidFill>
                  <a:srgbClr val="E55200"/>
                </a:solidFill>
                <a:latin typeface="Arial"/>
              </a:rPr>
              <a:t>MAJOR SLIDE TITLE</a:t>
            </a:r>
          </a:p>
        </p:txBody>
      </p:sp>
      <p:sp>
        <p:nvSpPr>
          <p:cNvPr id="132" name="TextBox 131"/>
          <p:cNvSpPr txBox="1"/>
          <p:nvPr/>
        </p:nvSpPr>
        <p:spPr>
          <a:xfrm>
            <a:off x="1012957" y="1278731"/>
            <a:ext cx="4572000" cy="127000"/>
          </a:xfrm>
          <a:prstGeom prst="rect">
            <a:avLst/>
          </a:prstGeom>
          <a:noFill/>
        </p:spPr>
        <p:txBody>
          <a:bodyPr wrap="square" lIns="0" rIns="0" tIns="0" bIns="0" anchor="t">
            <a:spAutoFit/>
          </a:bodyPr>
          <a:lstStyle/>
          <a:p>
            <a:pPr algn="l"/>
            <a:r>
              <a:rPr sz="700" b="1">
                <a:solidFill>
                  <a:srgbClr val="26262A"/>
                </a:solidFill>
                <a:latin typeface="Arial"/>
              </a:rPr>
              <a:t>Subtitle written as the message of the slide</a:t>
            </a:r>
          </a:p>
        </p:txBody>
      </p:sp>
      <p:sp>
        <p:nvSpPr>
          <p:cNvPr id="133" name="Rectangle 132"/>
          <p:cNvSpPr/>
          <p:nvPr/>
        </p:nvSpPr>
        <p:spPr>
          <a:xfrm>
            <a:off x="5905500" y="1181100"/>
            <a:ext cx="482600" cy="1905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4" name="TextBox 133"/>
          <p:cNvSpPr txBox="1"/>
          <p:nvPr/>
        </p:nvSpPr>
        <p:spPr>
          <a:xfrm>
            <a:off x="5905500" y="1181100"/>
            <a:ext cx="482600" cy="190500"/>
          </a:xfrm>
          <a:prstGeom prst="rect">
            <a:avLst/>
          </a:prstGeom>
          <a:noFill/>
        </p:spPr>
        <p:txBody>
          <a:bodyPr wrap="square" lIns="0" rIns="0" tIns="0" bIns="0" anchor="ctr">
            <a:spAutoFit/>
          </a:bodyPr>
          <a:lstStyle/>
          <a:p>
            <a:pPr algn="ctr"/>
            <a:r>
              <a:rPr sz="550" b="1">
                <a:solidFill>
                  <a:srgbClr val="E55200"/>
                </a:solidFill>
                <a:latin typeface="Arial"/>
              </a:rPr>
              <a:t>LOGO</a:t>
            </a:r>
          </a:p>
        </p:txBody>
      </p:sp>
      <p:sp>
        <p:nvSpPr>
          <p:cNvPr id="135" name="Rectangle 134"/>
          <p:cNvSpPr/>
          <p:nvPr/>
        </p:nvSpPr>
        <p:spPr>
          <a:xfrm>
            <a:off x="571500" y="1477697"/>
            <a:ext cx="5969000" cy="1016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6" name="Rectangle 135"/>
          <p:cNvSpPr/>
          <p:nvPr/>
        </p:nvSpPr>
        <p:spPr>
          <a:xfrm>
            <a:off x="851296" y="1558528"/>
            <a:ext cx="5409406" cy="2673614"/>
          </a:xfrm>
          <a:prstGeom prst="rect">
            <a:avLst/>
          </a:prstGeom>
          <a:solidFill>
            <a:srgbClr val="FDEEE4"/>
          </a:solidFill>
          <a:ln w="9525">
            <a:solidFill>
              <a:srgbClr val="F0A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7" name="TextBox 136"/>
          <p:cNvSpPr txBox="1"/>
          <p:nvPr/>
        </p:nvSpPr>
        <p:spPr>
          <a:xfrm>
            <a:off x="851296" y="1558528"/>
            <a:ext cx="5409406" cy="2673614"/>
          </a:xfrm>
          <a:prstGeom prst="rect">
            <a:avLst/>
          </a:prstGeom>
          <a:noFill/>
        </p:spPr>
        <p:txBody>
          <a:bodyPr wrap="square" lIns="0" rIns="0" tIns="0" bIns="0" anchor="ctr">
            <a:spAutoFit/>
          </a:bodyPr>
          <a:lstStyle/>
          <a:p>
            <a:pPr algn="ctr"/>
            <a:r>
              <a:rPr sz="800" b="1">
                <a:solidFill>
                  <a:srgbClr val="A35F35"/>
                </a:solidFill>
                <a:latin typeface="Arial"/>
              </a:rPr>
              <a:t>BODY ZONE</a:t>
            </a:r>
          </a:p>
          <a:p>
            <a:pPr algn="ctr"/>
            <a:r>
              <a:rPr sz="800" b="1">
                <a:solidFill>
                  <a:srgbClr val="A35F35"/>
                </a:solidFill>
                <a:latin typeface="Arial"/>
              </a:rPr>
              <a:t>870 × 430 pt</a:t>
            </a:r>
          </a:p>
        </p:txBody>
      </p:sp>
      <p:sp>
        <p:nvSpPr>
          <p:cNvPr id="138" name="TextBox 137"/>
          <p:cNvSpPr txBox="1"/>
          <p:nvPr/>
        </p:nvSpPr>
        <p:spPr>
          <a:xfrm>
            <a:off x="695854" y="4331626"/>
            <a:ext cx="2540000" cy="88900"/>
          </a:xfrm>
          <a:prstGeom prst="rect">
            <a:avLst/>
          </a:prstGeom>
          <a:noFill/>
        </p:spPr>
        <p:txBody>
          <a:bodyPr wrap="square" lIns="0" rIns="0" tIns="0" bIns="0" anchor="t">
            <a:spAutoFit/>
          </a:bodyPr>
          <a:lstStyle/>
          <a:p>
            <a:pPr algn="l"/>
            <a:r>
              <a:rPr sz="450" b="0">
                <a:solidFill>
                  <a:srgbClr val="6E7B84"/>
                </a:solidFill>
                <a:latin typeface="Arial"/>
              </a:rPr>
              <a:t>Source: Internal resources</a:t>
            </a:r>
          </a:p>
        </p:txBody>
      </p:sp>
      <p:sp>
        <p:nvSpPr>
          <p:cNvPr id="139" name="TextBox 138"/>
          <p:cNvSpPr txBox="1"/>
          <p:nvPr/>
        </p:nvSpPr>
        <p:spPr>
          <a:xfrm>
            <a:off x="3937000" y="4331626"/>
            <a:ext cx="2540000" cy="88900"/>
          </a:xfrm>
          <a:prstGeom prst="rect">
            <a:avLst/>
          </a:prstGeom>
          <a:noFill/>
        </p:spPr>
        <p:txBody>
          <a:bodyPr wrap="square" lIns="0" rIns="0" tIns="0" bIns="0" anchor="t">
            <a:spAutoFit/>
          </a:bodyPr>
          <a:lstStyle/>
          <a:p>
            <a:pPr algn="r"/>
            <a:r>
              <a:rPr sz="450" b="0">
                <a:solidFill>
                  <a:srgbClr val="6E7B84"/>
                </a:solidFill>
                <a:latin typeface="Arial"/>
              </a:rPr>
              <a:t>© 2026 PT Triatra Sinergia Pratama …   Page 4</a:t>
            </a:r>
          </a:p>
        </p:txBody>
      </p:sp>
      <p:sp>
        <p:nvSpPr>
          <p:cNvPr id="140" name="Oval 139"/>
          <p:cNvSpPr/>
          <p:nvPr/>
        </p:nvSpPr>
        <p:spPr>
          <a:xfrm>
            <a:off x="600736" y="1019571"/>
            <a:ext cx="177800" cy="1778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1" name="TextBox 140"/>
          <p:cNvSpPr txBox="1"/>
          <p:nvPr/>
        </p:nvSpPr>
        <p:spPr>
          <a:xfrm>
            <a:off x="600736" y="1019571"/>
            <a:ext cx="177800" cy="177800"/>
          </a:xfrm>
          <a:prstGeom prst="rect">
            <a:avLst/>
          </a:prstGeom>
          <a:noFill/>
        </p:spPr>
        <p:txBody>
          <a:bodyPr wrap="square" lIns="0" rIns="0" tIns="0" bIns="0" anchor="ctr">
            <a:spAutoFit/>
          </a:bodyPr>
          <a:lstStyle/>
          <a:p>
            <a:pPr algn="ctr"/>
            <a:r>
              <a:rPr sz="850" b="1">
                <a:solidFill>
                  <a:srgbClr val="FFFFFF"/>
                </a:solidFill>
                <a:latin typeface="Arial"/>
              </a:rPr>
              <a:t>1</a:t>
            </a:r>
          </a:p>
        </p:txBody>
      </p:sp>
      <p:sp>
        <p:nvSpPr>
          <p:cNvPr id="142" name="Oval 141"/>
          <p:cNvSpPr/>
          <p:nvPr/>
        </p:nvSpPr>
        <p:spPr>
          <a:xfrm>
            <a:off x="1856713" y="951177"/>
            <a:ext cx="177800" cy="1778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3" name="TextBox 142"/>
          <p:cNvSpPr txBox="1"/>
          <p:nvPr/>
        </p:nvSpPr>
        <p:spPr>
          <a:xfrm>
            <a:off x="1856713" y="951177"/>
            <a:ext cx="177800" cy="177800"/>
          </a:xfrm>
          <a:prstGeom prst="rect">
            <a:avLst/>
          </a:prstGeom>
          <a:noFill/>
        </p:spPr>
        <p:txBody>
          <a:bodyPr wrap="square" lIns="0" rIns="0" tIns="0" bIns="0" anchor="ctr">
            <a:spAutoFit/>
          </a:bodyPr>
          <a:lstStyle/>
          <a:p>
            <a:pPr algn="ctr"/>
            <a:r>
              <a:rPr sz="850" b="1">
                <a:solidFill>
                  <a:srgbClr val="FFFFFF"/>
                </a:solidFill>
                <a:latin typeface="Arial"/>
              </a:rPr>
              <a:t>2</a:t>
            </a:r>
          </a:p>
        </p:txBody>
      </p:sp>
      <p:sp>
        <p:nvSpPr>
          <p:cNvPr id="144" name="Oval 143"/>
          <p:cNvSpPr/>
          <p:nvPr/>
        </p:nvSpPr>
        <p:spPr>
          <a:xfrm>
            <a:off x="2789369" y="1087966"/>
            <a:ext cx="177800" cy="1778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5" name="TextBox 144"/>
          <p:cNvSpPr txBox="1"/>
          <p:nvPr/>
        </p:nvSpPr>
        <p:spPr>
          <a:xfrm>
            <a:off x="2789369" y="1087966"/>
            <a:ext cx="177800" cy="177800"/>
          </a:xfrm>
          <a:prstGeom prst="rect">
            <a:avLst/>
          </a:prstGeom>
          <a:noFill/>
        </p:spPr>
        <p:txBody>
          <a:bodyPr wrap="square" lIns="0" rIns="0" tIns="0" bIns="0" anchor="ctr">
            <a:spAutoFit/>
          </a:bodyPr>
          <a:lstStyle/>
          <a:p>
            <a:pPr algn="ctr"/>
            <a:r>
              <a:rPr sz="850" b="1">
                <a:solidFill>
                  <a:srgbClr val="FFFFFF"/>
                </a:solidFill>
                <a:latin typeface="Arial"/>
              </a:rPr>
              <a:t>3</a:t>
            </a:r>
          </a:p>
        </p:txBody>
      </p:sp>
      <p:sp>
        <p:nvSpPr>
          <p:cNvPr id="146" name="Oval 145"/>
          <p:cNvSpPr/>
          <p:nvPr/>
        </p:nvSpPr>
        <p:spPr>
          <a:xfrm>
            <a:off x="899186" y="1656159"/>
            <a:ext cx="177800" cy="1778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7" name="TextBox 146"/>
          <p:cNvSpPr txBox="1"/>
          <p:nvPr/>
        </p:nvSpPr>
        <p:spPr>
          <a:xfrm>
            <a:off x="899186" y="1656159"/>
            <a:ext cx="177800" cy="177800"/>
          </a:xfrm>
          <a:prstGeom prst="rect">
            <a:avLst/>
          </a:prstGeom>
          <a:noFill/>
        </p:spPr>
        <p:txBody>
          <a:bodyPr wrap="square" lIns="0" rIns="0" tIns="0" bIns="0" anchor="ctr">
            <a:spAutoFit/>
          </a:bodyPr>
          <a:lstStyle/>
          <a:p>
            <a:pPr algn="ctr"/>
            <a:r>
              <a:rPr sz="850" b="1">
                <a:solidFill>
                  <a:srgbClr val="FFFFFF"/>
                </a:solidFill>
                <a:latin typeface="Arial"/>
              </a:rPr>
              <a:t>4</a:t>
            </a:r>
          </a:p>
        </p:txBody>
      </p:sp>
      <p:sp>
        <p:nvSpPr>
          <p:cNvPr id="148" name="Oval 147"/>
          <p:cNvSpPr/>
          <p:nvPr/>
        </p:nvSpPr>
        <p:spPr>
          <a:xfrm>
            <a:off x="1290902" y="4242726"/>
            <a:ext cx="177800" cy="1778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9" name="TextBox 148"/>
          <p:cNvSpPr txBox="1"/>
          <p:nvPr/>
        </p:nvSpPr>
        <p:spPr>
          <a:xfrm>
            <a:off x="1290902" y="4242726"/>
            <a:ext cx="177800" cy="177800"/>
          </a:xfrm>
          <a:prstGeom prst="rect">
            <a:avLst/>
          </a:prstGeom>
          <a:noFill/>
        </p:spPr>
        <p:txBody>
          <a:bodyPr wrap="square" lIns="0" rIns="0" tIns="0" bIns="0" anchor="ctr">
            <a:spAutoFit/>
          </a:bodyPr>
          <a:lstStyle/>
          <a:p>
            <a:pPr algn="ctr"/>
            <a:r>
              <a:rPr sz="850" b="1">
                <a:solidFill>
                  <a:srgbClr val="FFFFFF"/>
                </a:solidFill>
                <a:latin typeface="Arial"/>
              </a:rPr>
              <a:t>5</a:t>
            </a:r>
          </a:p>
        </p:txBody>
      </p:sp>
      <p:sp>
        <p:nvSpPr>
          <p:cNvPr id="150" name="Oval 149"/>
          <p:cNvSpPr/>
          <p:nvPr/>
        </p:nvSpPr>
        <p:spPr>
          <a:xfrm>
            <a:off x="6078537" y="4242726"/>
            <a:ext cx="177800" cy="1778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1" name="TextBox 150"/>
          <p:cNvSpPr txBox="1"/>
          <p:nvPr/>
        </p:nvSpPr>
        <p:spPr>
          <a:xfrm>
            <a:off x="6078537" y="4242726"/>
            <a:ext cx="177800" cy="177800"/>
          </a:xfrm>
          <a:prstGeom prst="rect">
            <a:avLst/>
          </a:prstGeom>
          <a:noFill/>
        </p:spPr>
        <p:txBody>
          <a:bodyPr wrap="square" lIns="0" rIns="0" tIns="0" bIns="0" anchor="ctr">
            <a:spAutoFit/>
          </a:bodyPr>
          <a:lstStyle/>
          <a:p>
            <a:pPr algn="ctr"/>
            <a:r>
              <a:rPr sz="850" b="1">
                <a:solidFill>
                  <a:srgbClr val="FFFFFF"/>
                </a:solidFill>
                <a:latin typeface="Arial"/>
              </a:rPr>
              <a:t>6</a:t>
            </a:r>
          </a:p>
        </p:txBody>
      </p:sp>
      <p:sp>
        <p:nvSpPr>
          <p:cNvPr id="152" name="Oval 151"/>
          <p:cNvSpPr/>
          <p:nvPr/>
        </p:nvSpPr>
        <p:spPr>
          <a:xfrm>
            <a:off x="6858000" y="11176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3" name="TextBox 152"/>
          <p:cNvSpPr txBox="1"/>
          <p:nvPr/>
        </p:nvSpPr>
        <p:spPr>
          <a:xfrm>
            <a:off x="6858000" y="1117600"/>
            <a:ext cx="228600" cy="228600"/>
          </a:xfrm>
          <a:prstGeom prst="rect">
            <a:avLst/>
          </a:prstGeom>
          <a:noFill/>
        </p:spPr>
        <p:txBody>
          <a:bodyPr wrap="square" lIns="0" rIns="0" tIns="0" bIns="0" anchor="ctr">
            <a:spAutoFit/>
          </a:bodyPr>
          <a:lstStyle/>
          <a:p>
            <a:pPr algn="ctr"/>
            <a:r>
              <a:rPr sz="850" b="1">
                <a:solidFill>
                  <a:srgbClr val="FFFFFF"/>
                </a:solidFill>
                <a:latin typeface="Arial"/>
              </a:rPr>
              <a:t>1</a:t>
            </a:r>
          </a:p>
        </p:txBody>
      </p:sp>
      <p:sp>
        <p:nvSpPr>
          <p:cNvPr id="154" name="TextBox 153"/>
          <p:cNvSpPr txBox="1"/>
          <p:nvPr/>
        </p:nvSpPr>
        <p:spPr>
          <a:xfrm>
            <a:off x="7188200" y="1130300"/>
            <a:ext cx="4445000" cy="177800"/>
          </a:xfrm>
          <a:prstGeom prst="rect">
            <a:avLst/>
          </a:prstGeom>
          <a:noFill/>
        </p:spPr>
        <p:txBody>
          <a:bodyPr wrap="square" lIns="0" rIns="0" tIns="0" bIns="0" anchor="t">
            <a:spAutoFit/>
          </a:bodyPr>
          <a:lstStyle/>
          <a:p>
            <a:pPr algn="l"/>
            <a:r>
              <a:rPr sz="1000" b="1">
                <a:solidFill>
                  <a:srgbClr val="80350E"/>
                </a:solidFill>
                <a:latin typeface="Arial"/>
              </a:rPr>
              <a:t>Number box</a:t>
            </a:r>
          </a:p>
        </p:txBody>
      </p:sp>
      <p:sp>
        <p:nvSpPr>
          <p:cNvPr id="155" name="TextBox 154"/>
          <p:cNvSpPr txBox="1"/>
          <p:nvPr/>
        </p:nvSpPr>
        <p:spPr>
          <a:xfrm>
            <a:off x="7188200" y="1320800"/>
            <a:ext cx="4445000" cy="3302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Section.slide number. White 16 pt bold on Orange. Already in the layout.</a:t>
            </a:r>
          </a:p>
        </p:txBody>
      </p:sp>
      <p:sp>
        <p:nvSpPr>
          <p:cNvPr id="156" name="Rectangle 155"/>
          <p:cNvSpPr/>
          <p:nvPr/>
        </p:nvSpPr>
        <p:spPr>
          <a:xfrm>
            <a:off x="6858000" y="1625600"/>
            <a:ext cx="47625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7" name="Oval 156"/>
          <p:cNvSpPr/>
          <p:nvPr/>
        </p:nvSpPr>
        <p:spPr>
          <a:xfrm>
            <a:off x="6858000" y="16764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8" name="TextBox 157"/>
          <p:cNvSpPr txBox="1"/>
          <p:nvPr/>
        </p:nvSpPr>
        <p:spPr>
          <a:xfrm>
            <a:off x="6858000" y="1676400"/>
            <a:ext cx="228600" cy="228600"/>
          </a:xfrm>
          <a:prstGeom prst="rect">
            <a:avLst/>
          </a:prstGeom>
          <a:noFill/>
        </p:spPr>
        <p:txBody>
          <a:bodyPr wrap="square" lIns="0" rIns="0" tIns="0" bIns="0" anchor="ctr">
            <a:spAutoFit/>
          </a:bodyPr>
          <a:lstStyle/>
          <a:p>
            <a:pPr algn="ctr"/>
            <a:r>
              <a:rPr sz="850" b="1">
                <a:solidFill>
                  <a:srgbClr val="FFFFFF"/>
                </a:solidFill>
                <a:latin typeface="Arial"/>
              </a:rPr>
              <a:t>2</a:t>
            </a:r>
          </a:p>
        </p:txBody>
      </p:sp>
      <p:sp>
        <p:nvSpPr>
          <p:cNvPr id="159" name="TextBox 158"/>
          <p:cNvSpPr txBox="1"/>
          <p:nvPr/>
        </p:nvSpPr>
        <p:spPr>
          <a:xfrm>
            <a:off x="7188200" y="1689100"/>
            <a:ext cx="4445000" cy="177800"/>
          </a:xfrm>
          <a:prstGeom prst="rect">
            <a:avLst/>
          </a:prstGeom>
          <a:noFill/>
        </p:spPr>
        <p:txBody>
          <a:bodyPr wrap="square" lIns="0" rIns="0" tIns="0" bIns="0" anchor="t">
            <a:spAutoFit/>
          </a:bodyPr>
          <a:lstStyle/>
          <a:p>
            <a:pPr algn="l"/>
            <a:r>
              <a:rPr sz="1000" b="1">
                <a:solidFill>
                  <a:srgbClr val="80350E"/>
                </a:solidFill>
                <a:latin typeface="Arial"/>
              </a:rPr>
              <a:t>Major title</a:t>
            </a:r>
          </a:p>
        </p:txBody>
      </p:sp>
      <p:sp>
        <p:nvSpPr>
          <p:cNvPr id="160" name="TextBox 159"/>
          <p:cNvSpPr txBox="1"/>
          <p:nvPr/>
        </p:nvSpPr>
        <p:spPr>
          <a:xfrm>
            <a:off x="7188200" y="1879600"/>
            <a:ext cx="4445000" cy="3302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Topic in CAPS. Arial 12 pt bold, Orange E55200. One line only.</a:t>
            </a:r>
          </a:p>
        </p:txBody>
      </p:sp>
      <p:sp>
        <p:nvSpPr>
          <p:cNvPr id="161" name="Rectangle 160"/>
          <p:cNvSpPr/>
          <p:nvPr/>
        </p:nvSpPr>
        <p:spPr>
          <a:xfrm>
            <a:off x="6858000" y="2184400"/>
            <a:ext cx="47625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2" name="Oval 161"/>
          <p:cNvSpPr/>
          <p:nvPr/>
        </p:nvSpPr>
        <p:spPr>
          <a:xfrm>
            <a:off x="6858000" y="22352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3" name="TextBox 162"/>
          <p:cNvSpPr txBox="1"/>
          <p:nvPr/>
        </p:nvSpPr>
        <p:spPr>
          <a:xfrm>
            <a:off x="6858000" y="2235200"/>
            <a:ext cx="228600" cy="228600"/>
          </a:xfrm>
          <a:prstGeom prst="rect">
            <a:avLst/>
          </a:prstGeom>
          <a:noFill/>
        </p:spPr>
        <p:txBody>
          <a:bodyPr wrap="square" lIns="0" rIns="0" tIns="0" bIns="0" anchor="ctr">
            <a:spAutoFit/>
          </a:bodyPr>
          <a:lstStyle/>
          <a:p>
            <a:pPr algn="ctr"/>
            <a:r>
              <a:rPr sz="850" b="1">
                <a:solidFill>
                  <a:srgbClr val="FFFFFF"/>
                </a:solidFill>
                <a:latin typeface="Arial"/>
              </a:rPr>
              <a:t>3</a:t>
            </a:r>
          </a:p>
        </p:txBody>
      </p:sp>
      <p:sp>
        <p:nvSpPr>
          <p:cNvPr id="164" name="TextBox 163"/>
          <p:cNvSpPr txBox="1"/>
          <p:nvPr/>
        </p:nvSpPr>
        <p:spPr>
          <a:xfrm>
            <a:off x="7188200" y="2247900"/>
            <a:ext cx="4445000" cy="177800"/>
          </a:xfrm>
          <a:prstGeom prst="rect">
            <a:avLst/>
          </a:prstGeom>
          <a:noFill/>
        </p:spPr>
        <p:txBody>
          <a:bodyPr wrap="square" lIns="0" rIns="0" tIns="0" bIns="0" anchor="t">
            <a:spAutoFit/>
          </a:bodyPr>
          <a:lstStyle/>
          <a:p>
            <a:pPr algn="l"/>
            <a:r>
              <a:rPr sz="1000" b="1">
                <a:solidFill>
                  <a:srgbClr val="80350E"/>
                </a:solidFill>
                <a:latin typeface="Arial"/>
              </a:rPr>
              <a:t>Subtitle = message</a:t>
            </a:r>
          </a:p>
        </p:txBody>
      </p:sp>
      <p:sp>
        <p:nvSpPr>
          <p:cNvPr id="165" name="TextBox 164"/>
          <p:cNvSpPr txBox="1"/>
          <p:nvPr/>
        </p:nvSpPr>
        <p:spPr>
          <a:xfrm>
            <a:off x="7188200" y="2438400"/>
            <a:ext cx="4445000" cy="3302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A full sentence with the takeaway. Arial 14 pt bold, Ink 26262A. Max two lines.</a:t>
            </a:r>
          </a:p>
        </p:txBody>
      </p:sp>
      <p:sp>
        <p:nvSpPr>
          <p:cNvPr id="166" name="Rectangle 165"/>
          <p:cNvSpPr/>
          <p:nvPr/>
        </p:nvSpPr>
        <p:spPr>
          <a:xfrm>
            <a:off x="6858000" y="2743200"/>
            <a:ext cx="47625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7" name="Oval 166"/>
          <p:cNvSpPr/>
          <p:nvPr/>
        </p:nvSpPr>
        <p:spPr>
          <a:xfrm>
            <a:off x="6858000" y="27940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8" name="TextBox 167"/>
          <p:cNvSpPr txBox="1"/>
          <p:nvPr/>
        </p:nvSpPr>
        <p:spPr>
          <a:xfrm>
            <a:off x="6858000" y="2794000"/>
            <a:ext cx="228600" cy="228600"/>
          </a:xfrm>
          <a:prstGeom prst="rect">
            <a:avLst/>
          </a:prstGeom>
          <a:noFill/>
        </p:spPr>
        <p:txBody>
          <a:bodyPr wrap="square" lIns="0" rIns="0" tIns="0" bIns="0" anchor="ctr">
            <a:spAutoFit/>
          </a:bodyPr>
          <a:lstStyle/>
          <a:p>
            <a:pPr algn="ctr"/>
            <a:r>
              <a:rPr sz="850" b="1">
                <a:solidFill>
                  <a:srgbClr val="FFFFFF"/>
                </a:solidFill>
                <a:latin typeface="Arial"/>
              </a:rPr>
              <a:t>4</a:t>
            </a:r>
          </a:p>
        </p:txBody>
      </p:sp>
      <p:sp>
        <p:nvSpPr>
          <p:cNvPr id="169" name="TextBox 168"/>
          <p:cNvSpPr txBox="1"/>
          <p:nvPr/>
        </p:nvSpPr>
        <p:spPr>
          <a:xfrm>
            <a:off x="7188200" y="2806700"/>
            <a:ext cx="4445000" cy="177800"/>
          </a:xfrm>
          <a:prstGeom prst="rect">
            <a:avLst/>
          </a:prstGeom>
          <a:noFill/>
        </p:spPr>
        <p:txBody>
          <a:bodyPr wrap="square" lIns="0" rIns="0" tIns="0" bIns="0" anchor="t">
            <a:spAutoFit/>
          </a:bodyPr>
          <a:lstStyle/>
          <a:p>
            <a:pPr algn="l"/>
            <a:r>
              <a:rPr sz="1000" b="1">
                <a:solidFill>
                  <a:srgbClr val="80350E"/>
                </a:solidFill>
                <a:latin typeface="Arial"/>
              </a:rPr>
              <a:t>Body zone</a:t>
            </a:r>
          </a:p>
        </p:txBody>
      </p:sp>
      <p:sp>
        <p:nvSpPr>
          <p:cNvPr id="170" name="TextBox 169"/>
          <p:cNvSpPr txBox="1"/>
          <p:nvPr/>
        </p:nvSpPr>
        <p:spPr>
          <a:xfrm>
            <a:off x="7188200" y="2997200"/>
            <a:ext cx="4445000" cy="3302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x 45–915 pt, y 75–505 pt. Nothing outside it except the logo and the footer.</a:t>
            </a:r>
          </a:p>
        </p:txBody>
      </p:sp>
      <p:sp>
        <p:nvSpPr>
          <p:cNvPr id="171" name="Rectangle 170"/>
          <p:cNvSpPr/>
          <p:nvPr/>
        </p:nvSpPr>
        <p:spPr>
          <a:xfrm>
            <a:off x="6858000" y="3302000"/>
            <a:ext cx="47625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2" name="Oval 171"/>
          <p:cNvSpPr/>
          <p:nvPr/>
        </p:nvSpPr>
        <p:spPr>
          <a:xfrm>
            <a:off x="6858000" y="33528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3" name="TextBox 172"/>
          <p:cNvSpPr txBox="1"/>
          <p:nvPr/>
        </p:nvSpPr>
        <p:spPr>
          <a:xfrm>
            <a:off x="6858000" y="3352800"/>
            <a:ext cx="228600" cy="228600"/>
          </a:xfrm>
          <a:prstGeom prst="rect">
            <a:avLst/>
          </a:prstGeom>
          <a:noFill/>
        </p:spPr>
        <p:txBody>
          <a:bodyPr wrap="square" lIns="0" rIns="0" tIns="0" bIns="0" anchor="ctr">
            <a:spAutoFit/>
          </a:bodyPr>
          <a:lstStyle/>
          <a:p>
            <a:pPr algn="ctr"/>
            <a:r>
              <a:rPr sz="850" b="1">
                <a:solidFill>
                  <a:srgbClr val="FFFFFF"/>
                </a:solidFill>
                <a:latin typeface="Arial"/>
              </a:rPr>
              <a:t>5</a:t>
            </a:r>
          </a:p>
        </p:txBody>
      </p:sp>
      <p:sp>
        <p:nvSpPr>
          <p:cNvPr id="174" name="TextBox 173"/>
          <p:cNvSpPr txBox="1"/>
          <p:nvPr/>
        </p:nvSpPr>
        <p:spPr>
          <a:xfrm>
            <a:off x="7188200" y="3365500"/>
            <a:ext cx="4445000" cy="177800"/>
          </a:xfrm>
          <a:prstGeom prst="rect">
            <a:avLst/>
          </a:prstGeom>
          <a:noFill/>
        </p:spPr>
        <p:txBody>
          <a:bodyPr wrap="square" lIns="0" rIns="0" tIns="0" bIns="0" anchor="t">
            <a:spAutoFit/>
          </a:bodyPr>
          <a:lstStyle/>
          <a:p>
            <a:pPr algn="l"/>
            <a:r>
              <a:rPr sz="1000" b="1">
                <a:solidFill>
                  <a:srgbClr val="80350E"/>
                </a:solidFill>
                <a:latin typeface="Arial"/>
              </a:rPr>
              <a:t>Source line</a:t>
            </a:r>
          </a:p>
        </p:txBody>
      </p:sp>
      <p:sp>
        <p:nvSpPr>
          <p:cNvPr id="175" name="TextBox 174"/>
          <p:cNvSpPr txBox="1"/>
          <p:nvPr/>
        </p:nvSpPr>
        <p:spPr>
          <a:xfrm>
            <a:off x="7188200" y="3556000"/>
            <a:ext cx="4445000" cy="3302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Arial 9 pt, Muted 6E7B84, at y 521 pt. Start with 'Source:'.</a:t>
            </a:r>
          </a:p>
        </p:txBody>
      </p:sp>
      <p:sp>
        <p:nvSpPr>
          <p:cNvPr id="176" name="Rectangle 175"/>
          <p:cNvSpPr/>
          <p:nvPr/>
        </p:nvSpPr>
        <p:spPr>
          <a:xfrm>
            <a:off x="6858000" y="3860800"/>
            <a:ext cx="47625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7" name="Oval 176"/>
          <p:cNvSpPr/>
          <p:nvPr/>
        </p:nvSpPr>
        <p:spPr>
          <a:xfrm>
            <a:off x="6858000" y="39116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8" name="TextBox 177"/>
          <p:cNvSpPr txBox="1"/>
          <p:nvPr/>
        </p:nvSpPr>
        <p:spPr>
          <a:xfrm>
            <a:off x="6858000" y="3911600"/>
            <a:ext cx="228600" cy="228600"/>
          </a:xfrm>
          <a:prstGeom prst="rect">
            <a:avLst/>
          </a:prstGeom>
          <a:noFill/>
        </p:spPr>
        <p:txBody>
          <a:bodyPr wrap="square" lIns="0" rIns="0" tIns="0" bIns="0" anchor="ctr">
            <a:spAutoFit/>
          </a:bodyPr>
          <a:lstStyle/>
          <a:p>
            <a:pPr algn="ctr"/>
            <a:r>
              <a:rPr sz="850" b="1">
                <a:solidFill>
                  <a:srgbClr val="FFFFFF"/>
                </a:solidFill>
                <a:latin typeface="Arial"/>
              </a:rPr>
              <a:t>6</a:t>
            </a:r>
          </a:p>
        </p:txBody>
      </p:sp>
      <p:sp>
        <p:nvSpPr>
          <p:cNvPr id="179" name="TextBox 178"/>
          <p:cNvSpPr txBox="1"/>
          <p:nvPr/>
        </p:nvSpPr>
        <p:spPr>
          <a:xfrm>
            <a:off x="7188200" y="3924300"/>
            <a:ext cx="4445000" cy="177800"/>
          </a:xfrm>
          <a:prstGeom prst="rect">
            <a:avLst/>
          </a:prstGeom>
          <a:noFill/>
        </p:spPr>
        <p:txBody>
          <a:bodyPr wrap="square" lIns="0" rIns="0" tIns="0" bIns="0" anchor="t">
            <a:spAutoFit/>
          </a:bodyPr>
          <a:lstStyle/>
          <a:p>
            <a:pPr algn="l"/>
            <a:r>
              <a:rPr sz="1000" b="1">
                <a:solidFill>
                  <a:srgbClr val="80350E"/>
                </a:solidFill>
                <a:latin typeface="Arial"/>
              </a:rPr>
              <a:t>Footer &amp; page</a:t>
            </a:r>
          </a:p>
        </p:txBody>
      </p:sp>
      <p:sp>
        <p:nvSpPr>
          <p:cNvPr id="180" name="TextBox 179"/>
          <p:cNvSpPr txBox="1"/>
          <p:nvPr/>
        </p:nvSpPr>
        <p:spPr>
          <a:xfrm>
            <a:off x="7188200" y="4114800"/>
            <a:ext cx="4445000" cy="3302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Copyright and page number come from the master. Never retype them.</a:t>
            </a:r>
          </a:p>
        </p:txBody>
      </p:sp>
      <p:sp>
        <p:nvSpPr>
          <p:cNvPr id="181" name="Rectangle 180"/>
          <p:cNvSpPr/>
          <p:nvPr/>
        </p:nvSpPr>
        <p:spPr>
          <a:xfrm>
            <a:off x="571500" y="4724400"/>
            <a:ext cx="5969000" cy="7366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2" name="TextBox 181"/>
          <p:cNvSpPr txBox="1"/>
          <p:nvPr/>
        </p:nvSpPr>
        <p:spPr>
          <a:xfrm>
            <a:off x="723900" y="4826000"/>
            <a:ext cx="5664200" cy="152400"/>
          </a:xfrm>
          <a:prstGeom prst="rect">
            <a:avLst/>
          </a:prstGeom>
          <a:noFill/>
        </p:spPr>
        <p:txBody>
          <a:bodyPr wrap="square" lIns="0" rIns="0" tIns="0" bIns="0" anchor="t">
            <a:spAutoFit/>
          </a:bodyPr>
          <a:lstStyle/>
          <a:p>
            <a:pPr algn="l"/>
            <a:r>
              <a:rPr sz="850" b="1">
                <a:solidFill>
                  <a:srgbClr val="E55200"/>
                </a:solidFill>
                <a:latin typeface="Arial"/>
              </a:rPr>
              <a:t>NOTE</a:t>
            </a:r>
          </a:p>
        </p:txBody>
      </p:sp>
      <p:sp>
        <p:nvSpPr>
          <p:cNvPr id="183" name="TextBox 182"/>
          <p:cNvSpPr txBox="1"/>
          <p:nvPr/>
        </p:nvSpPr>
        <p:spPr>
          <a:xfrm>
            <a:off x="723900" y="5016500"/>
            <a:ext cx="5664200" cy="381000"/>
          </a:xfrm>
          <a:prstGeom prst="rect">
            <a:avLst/>
          </a:prstGeom>
          <a:noFill/>
        </p:spPr>
        <p:txBody>
          <a:bodyPr wrap="square" lIns="0" rIns="0" tIns="0" bIns="0" anchor="t">
            <a:spAutoFit/>
          </a:bodyPr>
          <a:lstStyle/>
          <a:p>
            <a:pPr algn="l">
              <a:lnSpc>
                <a:spcPct val="110000"/>
              </a:lnSpc>
            </a:pPr>
            <a:r>
              <a:rPr sz="900" b="0">
                <a:solidFill>
                  <a:srgbClr val="26262A"/>
                </a:solidFill>
                <a:latin typeface="Arial"/>
              </a:rPr>
              <a:t>Start every content slide from layout '8_Custom Layout' (Home › Layout). The number box, logo, rule and footer then stay in exactly the same place on every page.</a:t>
            </a:r>
          </a:p>
        </p:txBody>
      </p:sp>
      <p:sp>
        <p:nvSpPr>
          <p:cNvPr id="184" name="Rectangle 183"/>
          <p:cNvSpPr/>
          <p:nvPr/>
        </p:nvSpPr>
        <p:spPr>
          <a:xfrm>
            <a:off x="571500" y="5613400"/>
            <a:ext cx="5969000" cy="736600"/>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5" name="TextBox 184"/>
          <p:cNvSpPr txBox="1"/>
          <p:nvPr/>
        </p:nvSpPr>
        <p:spPr>
          <a:xfrm>
            <a:off x="723900" y="5715000"/>
            <a:ext cx="5664200" cy="152400"/>
          </a:xfrm>
          <a:prstGeom prst="rect">
            <a:avLst/>
          </a:prstGeom>
          <a:noFill/>
        </p:spPr>
        <p:txBody>
          <a:bodyPr wrap="square" lIns="0" rIns="0" tIns="0" bIns="0" anchor="t">
            <a:spAutoFit/>
          </a:bodyPr>
          <a:lstStyle/>
          <a:p>
            <a:pPr algn="l"/>
            <a:r>
              <a:rPr sz="850" b="1">
                <a:solidFill>
                  <a:srgbClr val="F0A878"/>
                </a:solidFill>
                <a:latin typeface="Arial"/>
              </a:rPr>
              <a:t>KEY TAKEAWAY</a:t>
            </a:r>
          </a:p>
        </p:txBody>
      </p:sp>
      <p:sp>
        <p:nvSpPr>
          <p:cNvPr id="186" name="TextBox 185"/>
          <p:cNvSpPr txBox="1"/>
          <p:nvPr/>
        </p:nvSpPr>
        <p:spPr>
          <a:xfrm>
            <a:off x="723900" y="5905500"/>
            <a:ext cx="5664200" cy="381000"/>
          </a:xfrm>
          <a:prstGeom prst="rect">
            <a:avLst/>
          </a:prstGeom>
          <a:noFill/>
        </p:spPr>
        <p:txBody>
          <a:bodyPr wrap="square" lIns="0" rIns="0" tIns="0" bIns="0" anchor="t">
            <a:spAutoFit/>
          </a:bodyPr>
          <a:lstStyle/>
          <a:p>
            <a:pPr algn="l">
              <a:lnSpc>
                <a:spcPct val="110000"/>
              </a:lnSpc>
            </a:pPr>
            <a:r>
              <a:rPr sz="1000" b="1">
                <a:solidFill>
                  <a:srgbClr val="FFFFFF"/>
                </a:solidFill>
                <a:latin typeface="Arial"/>
              </a:rPr>
              <a:t>Read only the subtitles from first to last slide: they should tell the whole 6-month story on their own.</a:t>
            </a:r>
          </a:p>
        </p:txBody>
      </p:sp>
      <p:sp>
        <p:nvSpPr>
          <p:cNvPr id="187" name="Rectangle 186"/>
          <p:cNvSpPr/>
          <p:nvPr/>
        </p:nvSpPr>
        <p:spPr>
          <a:xfrm>
            <a:off x="6858000" y="4597400"/>
            <a:ext cx="4762500" cy="17526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8" name="TextBox 187"/>
          <p:cNvSpPr txBox="1"/>
          <p:nvPr/>
        </p:nvSpPr>
        <p:spPr>
          <a:xfrm>
            <a:off x="7035800" y="4724400"/>
            <a:ext cx="4445000" cy="152400"/>
          </a:xfrm>
          <a:prstGeom prst="rect">
            <a:avLst/>
          </a:prstGeom>
          <a:noFill/>
        </p:spPr>
        <p:txBody>
          <a:bodyPr wrap="square" lIns="0" rIns="0" tIns="0" bIns="0" anchor="t">
            <a:spAutoFit/>
          </a:bodyPr>
          <a:lstStyle/>
          <a:p>
            <a:pPr algn="l"/>
            <a:r>
              <a:rPr sz="850" b="1" spc="100">
                <a:solidFill>
                  <a:srgbClr val="6E7B84"/>
                </a:solidFill>
                <a:latin typeface="Arial"/>
              </a:rPr>
              <a:t>HEADER COPY TEST</a:t>
            </a:r>
          </a:p>
        </p:txBody>
      </p:sp>
      <p:sp>
        <p:nvSpPr>
          <p:cNvPr id="189" name="TextBox 188"/>
          <p:cNvSpPr txBox="1"/>
          <p:nvPr/>
        </p:nvSpPr>
        <p:spPr>
          <a:xfrm>
            <a:off x="7035800" y="4953000"/>
            <a:ext cx="4445000" cy="1333500"/>
          </a:xfrm>
          <a:prstGeom prst="rect">
            <a:avLst/>
          </a:prstGeom>
          <a:noFill/>
        </p:spPr>
        <p:txBody>
          <a:bodyPr wrap="square" lIns="0" rIns="0" tIns="0" bIns="0" anchor="t">
            <a:spAutoFit/>
          </a:bodyPr>
          <a:lstStyle/>
          <a:p>
            <a:pPr algn="l">
              <a:lnSpc>
                <a:spcPct val="160000"/>
              </a:lnSpc>
            </a:pPr>
            <a:r>
              <a:rPr sz="950" b="1">
                <a:solidFill>
                  <a:srgbClr val="E55200"/>
                </a:solidFill>
                <a:latin typeface="Arial"/>
              </a:rPr>
              <a:t>Weak  </a:t>
            </a:r>
            <a:r>
              <a:rPr sz="950" b="0">
                <a:solidFill>
                  <a:srgbClr val="26262A"/>
                </a:solidFill>
                <a:latin typeface="Arial"/>
              </a:rPr>
              <a:t>Supply Chain</a:t>
            </a:r>
          </a:p>
          <a:p>
            <a:pPr algn="l">
              <a:lnSpc>
                <a:spcPct val="160000"/>
              </a:lnSpc>
            </a:pPr>
            <a:r>
              <a:rPr sz="950" b="1">
                <a:solidFill>
                  <a:srgbClr val="80350E"/>
                </a:solidFill>
                <a:latin typeface="Arial"/>
              </a:rPr>
              <a:t>Better  </a:t>
            </a:r>
            <a:r>
              <a:rPr sz="950" b="0">
                <a:solidFill>
                  <a:srgbClr val="26262A"/>
                </a:solidFill>
                <a:latin typeface="Arial"/>
              </a:rPr>
              <a:t>Supply chain: from demand check to monitoring</a:t>
            </a:r>
          </a:p>
          <a:p>
            <a:pPr algn="l">
              <a:lnSpc>
                <a:spcPct val="160000"/>
              </a:lnSpc>
            </a:pPr>
            <a:r>
              <a:rPr sz="950" b="1">
                <a:solidFill>
                  <a:srgbClr val="26262A"/>
                </a:solidFill>
                <a:latin typeface="Arial"/>
              </a:rPr>
              <a:t>Best  </a:t>
            </a:r>
            <a:r>
              <a:rPr sz="950" b="0">
                <a:solidFill>
                  <a:srgbClr val="26262A"/>
                </a:solidFill>
                <a:latin typeface="Arial"/>
              </a:rPr>
              <a:t>Five-step supply chain keeps every PO on its agreed RFD date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GRID &amp; SPACING</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A 12-column grid with 12 pt gutters keeps every slide aligned</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0.3</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Triatra Template PPT 2026 V3; design references collected for this guide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TextBox 127"/>
          <p:cNvSpPr txBox="1"/>
          <p:nvPr/>
        </p:nvSpPr>
        <p:spPr>
          <a:xfrm>
            <a:off x="571500" y="1066800"/>
            <a:ext cx="11049000" cy="177800"/>
          </a:xfrm>
          <a:prstGeom prst="rect">
            <a:avLst/>
          </a:prstGeom>
          <a:noFill/>
        </p:spPr>
        <p:txBody>
          <a:bodyPr wrap="square" lIns="0" rIns="0" tIns="0" bIns="0" anchor="t">
            <a:spAutoFit/>
          </a:bodyPr>
          <a:lstStyle/>
          <a:p>
            <a:pPr algn="l"/>
            <a:r>
              <a:rPr sz="850" b="1">
                <a:solidFill>
                  <a:srgbClr val="80350E"/>
                </a:solidFill>
                <a:latin typeface="Arial"/>
              </a:rPr>
              <a:t>1 · 12-COLUMN GRID  (column 61.5 pt · gutter 12 pt · margins 45 pt)</a:t>
            </a:r>
          </a:p>
        </p:txBody>
      </p:sp>
      <p:sp>
        <p:nvSpPr>
          <p:cNvPr id="129" name="Rectangle 128"/>
          <p:cNvSpPr/>
          <p:nvPr/>
        </p:nvSpPr>
        <p:spPr>
          <a:xfrm>
            <a:off x="571500" y="1282700"/>
            <a:ext cx="1104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0" name="Rectangle 129"/>
          <p:cNvSpPr/>
          <p:nvPr/>
        </p:nvSpPr>
        <p:spPr>
          <a:xfrm>
            <a:off x="57150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1" name="TextBox 130"/>
          <p:cNvSpPr txBox="1"/>
          <p:nvPr/>
        </p:nvSpPr>
        <p:spPr>
          <a:xfrm>
            <a:off x="57150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1</a:t>
            </a:r>
          </a:p>
        </p:txBody>
      </p:sp>
      <p:sp>
        <p:nvSpPr>
          <p:cNvPr id="132" name="Rectangle 131"/>
          <p:cNvSpPr/>
          <p:nvPr/>
        </p:nvSpPr>
        <p:spPr>
          <a:xfrm>
            <a:off x="150495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3" name="TextBox 132"/>
          <p:cNvSpPr txBox="1"/>
          <p:nvPr/>
        </p:nvSpPr>
        <p:spPr>
          <a:xfrm>
            <a:off x="150495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2</a:t>
            </a:r>
          </a:p>
        </p:txBody>
      </p:sp>
      <p:sp>
        <p:nvSpPr>
          <p:cNvPr id="134" name="Rectangle 133"/>
          <p:cNvSpPr/>
          <p:nvPr/>
        </p:nvSpPr>
        <p:spPr>
          <a:xfrm>
            <a:off x="243840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5" name="TextBox 134"/>
          <p:cNvSpPr txBox="1"/>
          <p:nvPr/>
        </p:nvSpPr>
        <p:spPr>
          <a:xfrm>
            <a:off x="243840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3</a:t>
            </a:r>
          </a:p>
        </p:txBody>
      </p:sp>
      <p:sp>
        <p:nvSpPr>
          <p:cNvPr id="136" name="Rectangle 135"/>
          <p:cNvSpPr/>
          <p:nvPr/>
        </p:nvSpPr>
        <p:spPr>
          <a:xfrm>
            <a:off x="337185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7" name="TextBox 136"/>
          <p:cNvSpPr txBox="1"/>
          <p:nvPr/>
        </p:nvSpPr>
        <p:spPr>
          <a:xfrm>
            <a:off x="337185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4</a:t>
            </a:r>
          </a:p>
        </p:txBody>
      </p:sp>
      <p:sp>
        <p:nvSpPr>
          <p:cNvPr id="138" name="Rectangle 137"/>
          <p:cNvSpPr/>
          <p:nvPr/>
        </p:nvSpPr>
        <p:spPr>
          <a:xfrm>
            <a:off x="430530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9" name="TextBox 138"/>
          <p:cNvSpPr txBox="1"/>
          <p:nvPr/>
        </p:nvSpPr>
        <p:spPr>
          <a:xfrm>
            <a:off x="430530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5</a:t>
            </a:r>
          </a:p>
        </p:txBody>
      </p:sp>
      <p:sp>
        <p:nvSpPr>
          <p:cNvPr id="140" name="Rectangle 139"/>
          <p:cNvSpPr/>
          <p:nvPr/>
        </p:nvSpPr>
        <p:spPr>
          <a:xfrm>
            <a:off x="523875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1" name="TextBox 140"/>
          <p:cNvSpPr txBox="1"/>
          <p:nvPr/>
        </p:nvSpPr>
        <p:spPr>
          <a:xfrm>
            <a:off x="523875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6</a:t>
            </a:r>
          </a:p>
        </p:txBody>
      </p:sp>
      <p:sp>
        <p:nvSpPr>
          <p:cNvPr id="142" name="Rectangle 141"/>
          <p:cNvSpPr/>
          <p:nvPr/>
        </p:nvSpPr>
        <p:spPr>
          <a:xfrm>
            <a:off x="617220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3" name="TextBox 142"/>
          <p:cNvSpPr txBox="1"/>
          <p:nvPr/>
        </p:nvSpPr>
        <p:spPr>
          <a:xfrm>
            <a:off x="617220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7</a:t>
            </a:r>
          </a:p>
        </p:txBody>
      </p:sp>
      <p:sp>
        <p:nvSpPr>
          <p:cNvPr id="144" name="Rectangle 143"/>
          <p:cNvSpPr/>
          <p:nvPr/>
        </p:nvSpPr>
        <p:spPr>
          <a:xfrm>
            <a:off x="710565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5" name="TextBox 144"/>
          <p:cNvSpPr txBox="1"/>
          <p:nvPr/>
        </p:nvSpPr>
        <p:spPr>
          <a:xfrm>
            <a:off x="710565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8</a:t>
            </a:r>
          </a:p>
        </p:txBody>
      </p:sp>
      <p:sp>
        <p:nvSpPr>
          <p:cNvPr id="146" name="Rectangle 145"/>
          <p:cNvSpPr/>
          <p:nvPr/>
        </p:nvSpPr>
        <p:spPr>
          <a:xfrm>
            <a:off x="803910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7" name="TextBox 146"/>
          <p:cNvSpPr txBox="1"/>
          <p:nvPr/>
        </p:nvSpPr>
        <p:spPr>
          <a:xfrm>
            <a:off x="803910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9</a:t>
            </a:r>
          </a:p>
        </p:txBody>
      </p:sp>
      <p:sp>
        <p:nvSpPr>
          <p:cNvPr id="148" name="Rectangle 147"/>
          <p:cNvSpPr/>
          <p:nvPr/>
        </p:nvSpPr>
        <p:spPr>
          <a:xfrm>
            <a:off x="897255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9" name="TextBox 148"/>
          <p:cNvSpPr txBox="1"/>
          <p:nvPr/>
        </p:nvSpPr>
        <p:spPr>
          <a:xfrm>
            <a:off x="897255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10</a:t>
            </a:r>
          </a:p>
        </p:txBody>
      </p:sp>
      <p:sp>
        <p:nvSpPr>
          <p:cNvPr id="150" name="Rectangle 149"/>
          <p:cNvSpPr/>
          <p:nvPr/>
        </p:nvSpPr>
        <p:spPr>
          <a:xfrm>
            <a:off x="990600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1" name="TextBox 150"/>
          <p:cNvSpPr txBox="1"/>
          <p:nvPr/>
        </p:nvSpPr>
        <p:spPr>
          <a:xfrm>
            <a:off x="990600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11</a:t>
            </a:r>
          </a:p>
        </p:txBody>
      </p:sp>
      <p:sp>
        <p:nvSpPr>
          <p:cNvPr id="152" name="Rectangle 151"/>
          <p:cNvSpPr/>
          <p:nvPr/>
        </p:nvSpPr>
        <p:spPr>
          <a:xfrm>
            <a:off x="10839450" y="1397000"/>
            <a:ext cx="781050" cy="762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3" name="TextBox 152"/>
          <p:cNvSpPr txBox="1"/>
          <p:nvPr/>
        </p:nvSpPr>
        <p:spPr>
          <a:xfrm>
            <a:off x="10839450" y="1397000"/>
            <a:ext cx="781050" cy="762000"/>
          </a:xfrm>
          <a:prstGeom prst="rect">
            <a:avLst/>
          </a:prstGeom>
          <a:noFill/>
        </p:spPr>
        <p:txBody>
          <a:bodyPr wrap="square" lIns="0" rIns="0" tIns="0" bIns="0" anchor="ctr">
            <a:spAutoFit/>
          </a:bodyPr>
          <a:lstStyle/>
          <a:p>
            <a:pPr algn="ctr"/>
            <a:r>
              <a:rPr sz="1100" b="1">
                <a:solidFill>
                  <a:srgbClr val="F0A878"/>
                </a:solidFill>
                <a:latin typeface="Arial"/>
              </a:rPr>
              <a:t>12</a:t>
            </a:r>
          </a:p>
        </p:txBody>
      </p:sp>
      <p:sp>
        <p:nvSpPr>
          <p:cNvPr id="154" name="TextBox 153"/>
          <p:cNvSpPr txBox="1"/>
          <p:nvPr/>
        </p:nvSpPr>
        <p:spPr>
          <a:xfrm>
            <a:off x="571500" y="2336800"/>
            <a:ext cx="11049000" cy="177800"/>
          </a:xfrm>
          <a:prstGeom prst="rect">
            <a:avLst/>
          </a:prstGeom>
          <a:noFill/>
        </p:spPr>
        <p:txBody>
          <a:bodyPr wrap="square" lIns="0" rIns="0" tIns="0" bIns="0" anchor="t">
            <a:spAutoFit/>
          </a:bodyPr>
          <a:lstStyle/>
          <a:p>
            <a:pPr algn="l"/>
            <a:r>
              <a:rPr sz="850" b="1">
                <a:solidFill>
                  <a:srgbClr val="80350E"/>
                </a:solidFill>
                <a:latin typeface="Arial"/>
              </a:rPr>
              <a:t>2 · COMMON SPLITS</a:t>
            </a:r>
          </a:p>
        </p:txBody>
      </p:sp>
      <p:sp>
        <p:nvSpPr>
          <p:cNvPr id="155" name="Rectangle 154"/>
          <p:cNvSpPr/>
          <p:nvPr/>
        </p:nvSpPr>
        <p:spPr>
          <a:xfrm>
            <a:off x="571500" y="2552700"/>
            <a:ext cx="1104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6" name="Rectangle 155"/>
          <p:cNvSpPr/>
          <p:nvPr/>
        </p:nvSpPr>
        <p:spPr>
          <a:xfrm>
            <a:off x="571500" y="2667000"/>
            <a:ext cx="7734300"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7" name="TextBox 156"/>
          <p:cNvSpPr txBox="1"/>
          <p:nvPr/>
        </p:nvSpPr>
        <p:spPr>
          <a:xfrm>
            <a:off x="571500" y="2667000"/>
            <a:ext cx="7734300" cy="279400"/>
          </a:xfrm>
          <a:prstGeom prst="rect">
            <a:avLst/>
          </a:prstGeom>
          <a:noFill/>
        </p:spPr>
        <p:txBody>
          <a:bodyPr wrap="square" lIns="0" rIns="0" tIns="0" bIns="0" anchor="ctr">
            <a:spAutoFit/>
          </a:bodyPr>
          <a:lstStyle/>
          <a:p>
            <a:pPr algn="ctr"/>
            <a:r>
              <a:rPr sz="850" b="1">
                <a:solidFill>
                  <a:srgbClr val="6E7B84"/>
                </a:solidFill>
                <a:latin typeface="Arial"/>
              </a:rPr>
              <a:t>12 col</a:t>
            </a:r>
          </a:p>
        </p:txBody>
      </p:sp>
      <p:sp>
        <p:nvSpPr>
          <p:cNvPr id="158" name="TextBox 157"/>
          <p:cNvSpPr txBox="1"/>
          <p:nvPr/>
        </p:nvSpPr>
        <p:spPr>
          <a:xfrm>
            <a:off x="8559800" y="2717800"/>
            <a:ext cx="3048000" cy="203200"/>
          </a:xfrm>
          <a:prstGeom prst="rect">
            <a:avLst/>
          </a:prstGeom>
          <a:noFill/>
        </p:spPr>
        <p:txBody>
          <a:bodyPr wrap="square" lIns="0" rIns="0" tIns="0" bIns="0" anchor="t">
            <a:spAutoFit/>
          </a:bodyPr>
          <a:lstStyle/>
          <a:p>
            <a:pPr algn="l"/>
            <a:r>
              <a:rPr sz="900" b="0">
                <a:solidFill>
                  <a:srgbClr val="26262A"/>
                </a:solidFill>
                <a:latin typeface="Arial"/>
              </a:rPr>
              <a:t>Full width · chart, table, timeline</a:t>
            </a:r>
          </a:p>
        </p:txBody>
      </p:sp>
      <p:sp>
        <p:nvSpPr>
          <p:cNvPr id="159" name="Rectangle 158"/>
          <p:cNvSpPr/>
          <p:nvPr/>
        </p:nvSpPr>
        <p:spPr>
          <a:xfrm>
            <a:off x="571500" y="3048000"/>
            <a:ext cx="3813809"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0" name="TextBox 159"/>
          <p:cNvSpPr txBox="1"/>
          <p:nvPr/>
        </p:nvSpPr>
        <p:spPr>
          <a:xfrm>
            <a:off x="571500" y="3048000"/>
            <a:ext cx="3813809" cy="279400"/>
          </a:xfrm>
          <a:prstGeom prst="rect">
            <a:avLst/>
          </a:prstGeom>
          <a:noFill/>
        </p:spPr>
        <p:txBody>
          <a:bodyPr wrap="square" lIns="0" rIns="0" tIns="0" bIns="0" anchor="ctr">
            <a:spAutoFit/>
          </a:bodyPr>
          <a:lstStyle/>
          <a:p>
            <a:pPr algn="ctr"/>
            <a:r>
              <a:rPr sz="850" b="1">
                <a:solidFill>
                  <a:srgbClr val="6E7B84"/>
                </a:solidFill>
                <a:latin typeface="Arial"/>
              </a:rPr>
              <a:t>6 col</a:t>
            </a:r>
          </a:p>
        </p:txBody>
      </p:sp>
      <p:sp>
        <p:nvSpPr>
          <p:cNvPr id="161" name="Rectangle 160"/>
          <p:cNvSpPr/>
          <p:nvPr/>
        </p:nvSpPr>
        <p:spPr>
          <a:xfrm>
            <a:off x="4491989" y="3048000"/>
            <a:ext cx="3813809"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2" name="TextBox 161"/>
          <p:cNvSpPr txBox="1"/>
          <p:nvPr/>
        </p:nvSpPr>
        <p:spPr>
          <a:xfrm>
            <a:off x="4491989" y="3048000"/>
            <a:ext cx="3813809" cy="279400"/>
          </a:xfrm>
          <a:prstGeom prst="rect">
            <a:avLst/>
          </a:prstGeom>
          <a:noFill/>
        </p:spPr>
        <p:txBody>
          <a:bodyPr wrap="square" lIns="0" rIns="0" tIns="0" bIns="0" anchor="ctr">
            <a:spAutoFit/>
          </a:bodyPr>
          <a:lstStyle/>
          <a:p>
            <a:pPr algn="ctr"/>
            <a:r>
              <a:rPr sz="850" b="1">
                <a:solidFill>
                  <a:srgbClr val="6E7B84"/>
                </a:solidFill>
                <a:latin typeface="Arial"/>
              </a:rPr>
              <a:t>6 col</a:t>
            </a:r>
          </a:p>
        </p:txBody>
      </p:sp>
      <p:sp>
        <p:nvSpPr>
          <p:cNvPr id="163" name="TextBox 162"/>
          <p:cNvSpPr txBox="1"/>
          <p:nvPr/>
        </p:nvSpPr>
        <p:spPr>
          <a:xfrm>
            <a:off x="8559800" y="3098800"/>
            <a:ext cx="3048000" cy="203200"/>
          </a:xfrm>
          <a:prstGeom prst="rect">
            <a:avLst/>
          </a:prstGeom>
          <a:noFill/>
        </p:spPr>
        <p:txBody>
          <a:bodyPr wrap="square" lIns="0" rIns="0" tIns="0" bIns="0" anchor="t">
            <a:spAutoFit/>
          </a:bodyPr>
          <a:lstStyle/>
          <a:p>
            <a:pPr algn="l"/>
            <a:r>
              <a:rPr sz="900" b="0">
                <a:solidFill>
                  <a:srgbClr val="26262A"/>
                </a:solidFill>
                <a:latin typeface="Arial"/>
              </a:rPr>
              <a:t>Halves · before / after, two products</a:t>
            </a:r>
          </a:p>
        </p:txBody>
      </p:sp>
      <p:sp>
        <p:nvSpPr>
          <p:cNvPr id="164" name="Rectangle 163"/>
          <p:cNvSpPr/>
          <p:nvPr/>
        </p:nvSpPr>
        <p:spPr>
          <a:xfrm>
            <a:off x="571500" y="3429000"/>
            <a:ext cx="2506979"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5" name="TextBox 164"/>
          <p:cNvSpPr txBox="1"/>
          <p:nvPr/>
        </p:nvSpPr>
        <p:spPr>
          <a:xfrm>
            <a:off x="571500" y="3429000"/>
            <a:ext cx="2506979" cy="279400"/>
          </a:xfrm>
          <a:prstGeom prst="rect">
            <a:avLst/>
          </a:prstGeom>
          <a:noFill/>
        </p:spPr>
        <p:txBody>
          <a:bodyPr wrap="square" lIns="0" rIns="0" tIns="0" bIns="0" anchor="ctr">
            <a:spAutoFit/>
          </a:bodyPr>
          <a:lstStyle/>
          <a:p>
            <a:pPr algn="ctr"/>
            <a:r>
              <a:rPr sz="850" b="1">
                <a:solidFill>
                  <a:srgbClr val="6E7B84"/>
                </a:solidFill>
                <a:latin typeface="Arial"/>
              </a:rPr>
              <a:t>4 col</a:t>
            </a:r>
          </a:p>
        </p:txBody>
      </p:sp>
      <p:sp>
        <p:nvSpPr>
          <p:cNvPr id="166" name="Rectangle 165"/>
          <p:cNvSpPr/>
          <p:nvPr/>
        </p:nvSpPr>
        <p:spPr>
          <a:xfrm>
            <a:off x="3185160" y="3429000"/>
            <a:ext cx="5120640"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7" name="TextBox 166"/>
          <p:cNvSpPr txBox="1"/>
          <p:nvPr/>
        </p:nvSpPr>
        <p:spPr>
          <a:xfrm>
            <a:off x="3185160" y="3429000"/>
            <a:ext cx="5120640" cy="279400"/>
          </a:xfrm>
          <a:prstGeom prst="rect">
            <a:avLst/>
          </a:prstGeom>
          <a:noFill/>
        </p:spPr>
        <p:txBody>
          <a:bodyPr wrap="square" lIns="0" rIns="0" tIns="0" bIns="0" anchor="ctr">
            <a:spAutoFit/>
          </a:bodyPr>
          <a:lstStyle/>
          <a:p>
            <a:pPr algn="ctr"/>
            <a:r>
              <a:rPr sz="850" b="1">
                <a:solidFill>
                  <a:srgbClr val="6E7B84"/>
                </a:solidFill>
                <a:latin typeface="Arial"/>
              </a:rPr>
              <a:t>8 col</a:t>
            </a:r>
          </a:p>
        </p:txBody>
      </p:sp>
      <p:sp>
        <p:nvSpPr>
          <p:cNvPr id="168" name="TextBox 167"/>
          <p:cNvSpPr txBox="1"/>
          <p:nvPr/>
        </p:nvSpPr>
        <p:spPr>
          <a:xfrm>
            <a:off x="8559800" y="3479800"/>
            <a:ext cx="3048000" cy="203200"/>
          </a:xfrm>
          <a:prstGeom prst="rect">
            <a:avLst/>
          </a:prstGeom>
          <a:noFill/>
        </p:spPr>
        <p:txBody>
          <a:bodyPr wrap="square" lIns="0" rIns="0" tIns="0" bIns="0" anchor="t">
            <a:spAutoFit/>
          </a:bodyPr>
          <a:lstStyle/>
          <a:p>
            <a:pPr algn="l"/>
            <a:r>
              <a:rPr sz="900" b="0">
                <a:solidFill>
                  <a:srgbClr val="26262A"/>
                </a:solidFill>
                <a:latin typeface="Arial"/>
              </a:rPr>
              <a:t>One third + two thirds · photo + explanation</a:t>
            </a:r>
          </a:p>
        </p:txBody>
      </p:sp>
      <p:sp>
        <p:nvSpPr>
          <p:cNvPr id="169" name="Rectangle 168"/>
          <p:cNvSpPr/>
          <p:nvPr/>
        </p:nvSpPr>
        <p:spPr>
          <a:xfrm>
            <a:off x="571500" y="3810000"/>
            <a:ext cx="2506979"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0" name="TextBox 169"/>
          <p:cNvSpPr txBox="1"/>
          <p:nvPr/>
        </p:nvSpPr>
        <p:spPr>
          <a:xfrm>
            <a:off x="571500" y="3810000"/>
            <a:ext cx="2506979" cy="279400"/>
          </a:xfrm>
          <a:prstGeom prst="rect">
            <a:avLst/>
          </a:prstGeom>
          <a:noFill/>
        </p:spPr>
        <p:txBody>
          <a:bodyPr wrap="square" lIns="0" rIns="0" tIns="0" bIns="0" anchor="ctr">
            <a:spAutoFit/>
          </a:bodyPr>
          <a:lstStyle/>
          <a:p>
            <a:pPr algn="ctr"/>
            <a:r>
              <a:rPr sz="850" b="1">
                <a:solidFill>
                  <a:srgbClr val="6E7B84"/>
                </a:solidFill>
                <a:latin typeface="Arial"/>
              </a:rPr>
              <a:t>4 col</a:t>
            </a:r>
          </a:p>
        </p:txBody>
      </p:sp>
      <p:sp>
        <p:nvSpPr>
          <p:cNvPr id="171" name="Rectangle 170"/>
          <p:cNvSpPr/>
          <p:nvPr/>
        </p:nvSpPr>
        <p:spPr>
          <a:xfrm>
            <a:off x="3185160" y="3810000"/>
            <a:ext cx="2506979"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2" name="TextBox 171"/>
          <p:cNvSpPr txBox="1"/>
          <p:nvPr/>
        </p:nvSpPr>
        <p:spPr>
          <a:xfrm>
            <a:off x="3185160" y="3810000"/>
            <a:ext cx="2506979" cy="279400"/>
          </a:xfrm>
          <a:prstGeom prst="rect">
            <a:avLst/>
          </a:prstGeom>
          <a:noFill/>
        </p:spPr>
        <p:txBody>
          <a:bodyPr wrap="square" lIns="0" rIns="0" tIns="0" bIns="0" anchor="ctr">
            <a:spAutoFit/>
          </a:bodyPr>
          <a:lstStyle/>
          <a:p>
            <a:pPr algn="ctr"/>
            <a:r>
              <a:rPr sz="850" b="1">
                <a:solidFill>
                  <a:srgbClr val="6E7B84"/>
                </a:solidFill>
                <a:latin typeface="Arial"/>
              </a:rPr>
              <a:t>4 col</a:t>
            </a:r>
          </a:p>
        </p:txBody>
      </p:sp>
      <p:sp>
        <p:nvSpPr>
          <p:cNvPr id="173" name="Rectangle 172"/>
          <p:cNvSpPr/>
          <p:nvPr/>
        </p:nvSpPr>
        <p:spPr>
          <a:xfrm>
            <a:off x="5798820" y="3810000"/>
            <a:ext cx="2506979"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4" name="TextBox 173"/>
          <p:cNvSpPr txBox="1"/>
          <p:nvPr/>
        </p:nvSpPr>
        <p:spPr>
          <a:xfrm>
            <a:off x="5798820" y="3810000"/>
            <a:ext cx="2506979" cy="279400"/>
          </a:xfrm>
          <a:prstGeom prst="rect">
            <a:avLst/>
          </a:prstGeom>
          <a:noFill/>
        </p:spPr>
        <p:txBody>
          <a:bodyPr wrap="square" lIns="0" rIns="0" tIns="0" bIns="0" anchor="ctr">
            <a:spAutoFit/>
          </a:bodyPr>
          <a:lstStyle/>
          <a:p>
            <a:pPr algn="ctr"/>
            <a:r>
              <a:rPr sz="850" b="1">
                <a:solidFill>
                  <a:srgbClr val="6E7B84"/>
                </a:solidFill>
                <a:latin typeface="Arial"/>
              </a:rPr>
              <a:t>4 col</a:t>
            </a:r>
          </a:p>
        </p:txBody>
      </p:sp>
      <p:sp>
        <p:nvSpPr>
          <p:cNvPr id="175" name="TextBox 174"/>
          <p:cNvSpPr txBox="1"/>
          <p:nvPr/>
        </p:nvSpPr>
        <p:spPr>
          <a:xfrm>
            <a:off x="8559800" y="3860800"/>
            <a:ext cx="3048000" cy="203200"/>
          </a:xfrm>
          <a:prstGeom prst="rect">
            <a:avLst/>
          </a:prstGeom>
          <a:noFill/>
        </p:spPr>
        <p:txBody>
          <a:bodyPr wrap="square" lIns="0" rIns="0" tIns="0" bIns="0" anchor="t">
            <a:spAutoFit/>
          </a:bodyPr>
          <a:lstStyle/>
          <a:p>
            <a:pPr algn="l"/>
            <a:r>
              <a:rPr sz="900" b="0">
                <a:solidFill>
                  <a:srgbClr val="26262A"/>
                </a:solidFill>
                <a:latin typeface="Arial"/>
              </a:rPr>
              <a:t>Thirds · three pillars, three steps</a:t>
            </a:r>
          </a:p>
        </p:txBody>
      </p:sp>
      <p:sp>
        <p:nvSpPr>
          <p:cNvPr id="176" name="Rectangle 175"/>
          <p:cNvSpPr/>
          <p:nvPr/>
        </p:nvSpPr>
        <p:spPr>
          <a:xfrm>
            <a:off x="571500" y="4191000"/>
            <a:ext cx="1853564"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7" name="TextBox 176"/>
          <p:cNvSpPr txBox="1"/>
          <p:nvPr/>
        </p:nvSpPr>
        <p:spPr>
          <a:xfrm>
            <a:off x="571500" y="4191000"/>
            <a:ext cx="1853564" cy="279400"/>
          </a:xfrm>
          <a:prstGeom prst="rect">
            <a:avLst/>
          </a:prstGeom>
          <a:noFill/>
        </p:spPr>
        <p:txBody>
          <a:bodyPr wrap="square" lIns="0" rIns="0" tIns="0" bIns="0" anchor="ctr">
            <a:spAutoFit/>
          </a:bodyPr>
          <a:lstStyle/>
          <a:p>
            <a:pPr algn="ctr"/>
            <a:r>
              <a:rPr sz="850" b="1">
                <a:solidFill>
                  <a:srgbClr val="6E7B84"/>
                </a:solidFill>
                <a:latin typeface="Arial"/>
              </a:rPr>
              <a:t>3 col</a:t>
            </a:r>
          </a:p>
        </p:txBody>
      </p:sp>
      <p:sp>
        <p:nvSpPr>
          <p:cNvPr id="178" name="Rectangle 177"/>
          <p:cNvSpPr/>
          <p:nvPr/>
        </p:nvSpPr>
        <p:spPr>
          <a:xfrm>
            <a:off x="2531745" y="4191000"/>
            <a:ext cx="1853564"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9" name="TextBox 178"/>
          <p:cNvSpPr txBox="1"/>
          <p:nvPr/>
        </p:nvSpPr>
        <p:spPr>
          <a:xfrm>
            <a:off x="2531745" y="4191000"/>
            <a:ext cx="1853564" cy="279400"/>
          </a:xfrm>
          <a:prstGeom prst="rect">
            <a:avLst/>
          </a:prstGeom>
          <a:noFill/>
        </p:spPr>
        <p:txBody>
          <a:bodyPr wrap="square" lIns="0" rIns="0" tIns="0" bIns="0" anchor="ctr">
            <a:spAutoFit/>
          </a:bodyPr>
          <a:lstStyle/>
          <a:p>
            <a:pPr algn="ctr"/>
            <a:r>
              <a:rPr sz="850" b="1">
                <a:solidFill>
                  <a:srgbClr val="6E7B84"/>
                </a:solidFill>
                <a:latin typeface="Arial"/>
              </a:rPr>
              <a:t>3 col</a:t>
            </a:r>
          </a:p>
        </p:txBody>
      </p:sp>
      <p:sp>
        <p:nvSpPr>
          <p:cNvPr id="180" name="Rectangle 179"/>
          <p:cNvSpPr/>
          <p:nvPr/>
        </p:nvSpPr>
        <p:spPr>
          <a:xfrm>
            <a:off x="4491990" y="4191000"/>
            <a:ext cx="1853564"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1" name="TextBox 180"/>
          <p:cNvSpPr txBox="1"/>
          <p:nvPr/>
        </p:nvSpPr>
        <p:spPr>
          <a:xfrm>
            <a:off x="4491990" y="4191000"/>
            <a:ext cx="1853564" cy="279400"/>
          </a:xfrm>
          <a:prstGeom prst="rect">
            <a:avLst/>
          </a:prstGeom>
          <a:noFill/>
        </p:spPr>
        <p:txBody>
          <a:bodyPr wrap="square" lIns="0" rIns="0" tIns="0" bIns="0" anchor="ctr">
            <a:spAutoFit/>
          </a:bodyPr>
          <a:lstStyle/>
          <a:p>
            <a:pPr algn="ctr"/>
            <a:r>
              <a:rPr sz="850" b="1">
                <a:solidFill>
                  <a:srgbClr val="6E7B84"/>
                </a:solidFill>
                <a:latin typeface="Arial"/>
              </a:rPr>
              <a:t>3 col</a:t>
            </a:r>
          </a:p>
        </p:txBody>
      </p:sp>
      <p:sp>
        <p:nvSpPr>
          <p:cNvPr id="182" name="Rectangle 181"/>
          <p:cNvSpPr/>
          <p:nvPr/>
        </p:nvSpPr>
        <p:spPr>
          <a:xfrm>
            <a:off x="6452234" y="4191000"/>
            <a:ext cx="1853564" cy="279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3" name="TextBox 182"/>
          <p:cNvSpPr txBox="1"/>
          <p:nvPr/>
        </p:nvSpPr>
        <p:spPr>
          <a:xfrm>
            <a:off x="6452234" y="4191000"/>
            <a:ext cx="1853564" cy="279400"/>
          </a:xfrm>
          <a:prstGeom prst="rect">
            <a:avLst/>
          </a:prstGeom>
          <a:noFill/>
        </p:spPr>
        <p:txBody>
          <a:bodyPr wrap="square" lIns="0" rIns="0" tIns="0" bIns="0" anchor="ctr">
            <a:spAutoFit/>
          </a:bodyPr>
          <a:lstStyle/>
          <a:p>
            <a:pPr algn="ctr"/>
            <a:r>
              <a:rPr sz="850" b="1">
                <a:solidFill>
                  <a:srgbClr val="6E7B84"/>
                </a:solidFill>
                <a:latin typeface="Arial"/>
              </a:rPr>
              <a:t>3 col</a:t>
            </a:r>
          </a:p>
        </p:txBody>
      </p:sp>
      <p:sp>
        <p:nvSpPr>
          <p:cNvPr id="184" name="TextBox 183"/>
          <p:cNvSpPr txBox="1"/>
          <p:nvPr/>
        </p:nvSpPr>
        <p:spPr>
          <a:xfrm>
            <a:off x="8559800" y="4241800"/>
            <a:ext cx="3048000" cy="203200"/>
          </a:xfrm>
          <a:prstGeom prst="rect">
            <a:avLst/>
          </a:prstGeom>
          <a:noFill/>
        </p:spPr>
        <p:txBody>
          <a:bodyPr wrap="square" lIns="0" rIns="0" tIns="0" bIns="0" anchor="t">
            <a:spAutoFit/>
          </a:bodyPr>
          <a:lstStyle/>
          <a:p>
            <a:pPr algn="l"/>
            <a:r>
              <a:rPr sz="900" b="0">
                <a:solidFill>
                  <a:srgbClr val="26262A"/>
                </a:solidFill>
                <a:latin typeface="Arial"/>
              </a:rPr>
              <a:t>Quarters · KPI row, four cards</a:t>
            </a:r>
          </a:p>
        </p:txBody>
      </p:sp>
      <p:sp>
        <p:nvSpPr>
          <p:cNvPr id="185" name="TextBox 184"/>
          <p:cNvSpPr txBox="1"/>
          <p:nvPr/>
        </p:nvSpPr>
        <p:spPr>
          <a:xfrm>
            <a:off x="571500" y="4673600"/>
            <a:ext cx="11049000" cy="177800"/>
          </a:xfrm>
          <a:prstGeom prst="rect">
            <a:avLst/>
          </a:prstGeom>
          <a:noFill/>
        </p:spPr>
        <p:txBody>
          <a:bodyPr wrap="square" lIns="0" rIns="0" tIns="0" bIns="0" anchor="t">
            <a:spAutoFit/>
          </a:bodyPr>
          <a:lstStyle/>
          <a:p>
            <a:pPr algn="l"/>
            <a:r>
              <a:rPr sz="850" b="1">
                <a:solidFill>
                  <a:srgbClr val="80350E"/>
                </a:solidFill>
                <a:latin typeface="Arial"/>
              </a:rPr>
              <a:t>3 · SPACING SCALE  (use only these steps)</a:t>
            </a:r>
          </a:p>
        </p:txBody>
      </p:sp>
      <p:sp>
        <p:nvSpPr>
          <p:cNvPr id="186" name="Rectangle 185"/>
          <p:cNvSpPr/>
          <p:nvPr/>
        </p:nvSpPr>
        <p:spPr>
          <a:xfrm>
            <a:off x="571500" y="4889500"/>
            <a:ext cx="1104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7" name="Rectangle 186"/>
          <p:cNvSpPr/>
          <p:nvPr/>
        </p:nvSpPr>
        <p:spPr>
          <a:xfrm>
            <a:off x="571500" y="5435600"/>
            <a:ext cx="50800" cy="508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8" name="TextBox 187"/>
          <p:cNvSpPr txBox="1"/>
          <p:nvPr/>
        </p:nvSpPr>
        <p:spPr>
          <a:xfrm>
            <a:off x="1130300" y="5105400"/>
            <a:ext cx="1270000" cy="177800"/>
          </a:xfrm>
          <a:prstGeom prst="rect">
            <a:avLst/>
          </a:prstGeom>
          <a:noFill/>
        </p:spPr>
        <p:txBody>
          <a:bodyPr wrap="square" lIns="0" rIns="0" tIns="0" bIns="0" anchor="t">
            <a:spAutoFit/>
          </a:bodyPr>
          <a:lstStyle/>
          <a:p>
            <a:pPr algn="l"/>
            <a:r>
              <a:rPr sz="1200" b="1">
                <a:solidFill>
                  <a:srgbClr val="26262A"/>
                </a:solidFill>
                <a:latin typeface="Arial"/>
              </a:rPr>
              <a:t>4 pt</a:t>
            </a:r>
          </a:p>
        </p:txBody>
      </p:sp>
      <p:sp>
        <p:nvSpPr>
          <p:cNvPr id="189" name="TextBox 188"/>
          <p:cNvSpPr txBox="1"/>
          <p:nvPr/>
        </p:nvSpPr>
        <p:spPr>
          <a:xfrm>
            <a:off x="1130300" y="5308600"/>
            <a:ext cx="1270000" cy="177800"/>
          </a:xfrm>
          <a:prstGeom prst="rect">
            <a:avLst/>
          </a:prstGeom>
          <a:noFill/>
        </p:spPr>
        <p:txBody>
          <a:bodyPr wrap="square" lIns="0" rIns="0" tIns="0" bIns="0" anchor="t">
            <a:spAutoFit/>
          </a:bodyPr>
          <a:lstStyle/>
          <a:p>
            <a:pPr algn="l"/>
            <a:r>
              <a:rPr sz="850" b="0">
                <a:solidFill>
                  <a:srgbClr val="6E7B84"/>
                </a:solidFill>
                <a:latin typeface="Arial"/>
              </a:rPr>
              <a:t>Icon → label</a:t>
            </a:r>
          </a:p>
        </p:txBody>
      </p:sp>
      <p:sp>
        <p:nvSpPr>
          <p:cNvPr id="190" name="Rectangle 189"/>
          <p:cNvSpPr/>
          <p:nvPr/>
        </p:nvSpPr>
        <p:spPr>
          <a:xfrm>
            <a:off x="2413000" y="5384800"/>
            <a:ext cx="101600" cy="1016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1" name="TextBox 190"/>
          <p:cNvSpPr txBox="1"/>
          <p:nvPr/>
        </p:nvSpPr>
        <p:spPr>
          <a:xfrm>
            <a:off x="2971800" y="5105400"/>
            <a:ext cx="1270000" cy="177800"/>
          </a:xfrm>
          <a:prstGeom prst="rect">
            <a:avLst/>
          </a:prstGeom>
          <a:noFill/>
        </p:spPr>
        <p:txBody>
          <a:bodyPr wrap="square" lIns="0" rIns="0" tIns="0" bIns="0" anchor="t">
            <a:spAutoFit/>
          </a:bodyPr>
          <a:lstStyle/>
          <a:p>
            <a:pPr algn="l"/>
            <a:r>
              <a:rPr sz="1200" b="1">
                <a:solidFill>
                  <a:srgbClr val="26262A"/>
                </a:solidFill>
                <a:latin typeface="Arial"/>
              </a:rPr>
              <a:t>8 pt</a:t>
            </a:r>
          </a:p>
        </p:txBody>
      </p:sp>
      <p:sp>
        <p:nvSpPr>
          <p:cNvPr id="192" name="TextBox 191"/>
          <p:cNvSpPr txBox="1"/>
          <p:nvPr/>
        </p:nvSpPr>
        <p:spPr>
          <a:xfrm>
            <a:off x="2971800" y="5308600"/>
            <a:ext cx="1270000" cy="177800"/>
          </a:xfrm>
          <a:prstGeom prst="rect">
            <a:avLst/>
          </a:prstGeom>
          <a:noFill/>
        </p:spPr>
        <p:txBody>
          <a:bodyPr wrap="square" lIns="0" rIns="0" tIns="0" bIns="0" anchor="t">
            <a:spAutoFit/>
          </a:bodyPr>
          <a:lstStyle/>
          <a:p>
            <a:pPr algn="l"/>
            <a:r>
              <a:rPr sz="850" b="0">
                <a:solidFill>
                  <a:srgbClr val="6E7B84"/>
                </a:solidFill>
                <a:latin typeface="Arial"/>
              </a:rPr>
              <a:t>Inside a card</a:t>
            </a:r>
          </a:p>
        </p:txBody>
      </p:sp>
      <p:sp>
        <p:nvSpPr>
          <p:cNvPr id="193" name="Rectangle 192"/>
          <p:cNvSpPr/>
          <p:nvPr/>
        </p:nvSpPr>
        <p:spPr>
          <a:xfrm>
            <a:off x="4254500" y="5334000"/>
            <a:ext cx="152400" cy="1524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4" name="TextBox 193"/>
          <p:cNvSpPr txBox="1"/>
          <p:nvPr/>
        </p:nvSpPr>
        <p:spPr>
          <a:xfrm>
            <a:off x="4813300" y="5105400"/>
            <a:ext cx="1270000" cy="177800"/>
          </a:xfrm>
          <a:prstGeom prst="rect">
            <a:avLst/>
          </a:prstGeom>
          <a:noFill/>
        </p:spPr>
        <p:txBody>
          <a:bodyPr wrap="square" lIns="0" rIns="0" tIns="0" bIns="0" anchor="t">
            <a:spAutoFit/>
          </a:bodyPr>
          <a:lstStyle/>
          <a:p>
            <a:pPr algn="l"/>
            <a:r>
              <a:rPr sz="1200" b="1">
                <a:solidFill>
                  <a:srgbClr val="26262A"/>
                </a:solidFill>
                <a:latin typeface="Arial"/>
              </a:rPr>
              <a:t>12 pt</a:t>
            </a:r>
          </a:p>
        </p:txBody>
      </p:sp>
      <p:sp>
        <p:nvSpPr>
          <p:cNvPr id="195" name="TextBox 194"/>
          <p:cNvSpPr txBox="1"/>
          <p:nvPr/>
        </p:nvSpPr>
        <p:spPr>
          <a:xfrm>
            <a:off x="4813300" y="5308600"/>
            <a:ext cx="1270000" cy="177800"/>
          </a:xfrm>
          <a:prstGeom prst="rect">
            <a:avLst/>
          </a:prstGeom>
          <a:noFill/>
        </p:spPr>
        <p:txBody>
          <a:bodyPr wrap="square" lIns="0" rIns="0" tIns="0" bIns="0" anchor="t">
            <a:spAutoFit/>
          </a:bodyPr>
          <a:lstStyle/>
          <a:p>
            <a:pPr algn="l"/>
            <a:r>
              <a:rPr sz="850" b="0">
                <a:solidFill>
                  <a:srgbClr val="6E7B84"/>
                </a:solidFill>
                <a:latin typeface="Arial"/>
              </a:rPr>
              <a:t>Card → card (gutter)</a:t>
            </a:r>
          </a:p>
        </p:txBody>
      </p:sp>
      <p:sp>
        <p:nvSpPr>
          <p:cNvPr id="196" name="Rectangle 195"/>
          <p:cNvSpPr/>
          <p:nvPr/>
        </p:nvSpPr>
        <p:spPr>
          <a:xfrm>
            <a:off x="6096000" y="5283200"/>
            <a:ext cx="203200" cy="2032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7" name="TextBox 196"/>
          <p:cNvSpPr txBox="1"/>
          <p:nvPr/>
        </p:nvSpPr>
        <p:spPr>
          <a:xfrm>
            <a:off x="6654800" y="5105400"/>
            <a:ext cx="1270000" cy="177800"/>
          </a:xfrm>
          <a:prstGeom prst="rect">
            <a:avLst/>
          </a:prstGeom>
          <a:noFill/>
        </p:spPr>
        <p:txBody>
          <a:bodyPr wrap="square" lIns="0" rIns="0" tIns="0" bIns="0" anchor="t">
            <a:spAutoFit/>
          </a:bodyPr>
          <a:lstStyle/>
          <a:p>
            <a:pPr algn="l"/>
            <a:r>
              <a:rPr sz="1200" b="1">
                <a:solidFill>
                  <a:srgbClr val="26262A"/>
                </a:solidFill>
                <a:latin typeface="Arial"/>
              </a:rPr>
              <a:t>16 pt</a:t>
            </a:r>
          </a:p>
        </p:txBody>
      </p:sp>
      <p:sp>
        <p:nvSpPr>
          <p:cNvPr id="198" name="TextBox 197"/>
          <p:cNvSpPr txBox="1"/>
          <p:nvPr/>
        </p:nvSpPr>
        <p:spPr>
          <a:xfrm>
            <a:off x="6654800" y="5308600"/>
            <a:ext cx="1270000" cy="177800"/>
          </a:xfrm>
          <a:prstGeom prst="rect">
            <a:avLst/>
          </a:prstGeom>
          <a:noFill/>
        </p:spPr>
        <p:txBody>
          <a:bodyPr wrap="square" lIns="0" rIns="0" tIns="0" bIns="0" anchor="t">
            <a:spAutoFit/>
          </a:bodyPr>
          <a:lstStyle/>
          <a:p>
            <a:pPr algn="l"/>
            <a:r>
              <a:rPr sz="850" b="0">
                <a:solidFill>
                  <a:srgbClr val="6E7B84"/>
                </a:solidFill>
                <a:latin typeface="Arial"/>
              </a:rPr>
              <a:t>Card padding</a:t>
            </a:r>
          </a:p>
        </p:txBody>
      </p:sp>
      <p:sp>
        <p:nvSpPr>
          <p:cNvPr id="199" name="Rectangle 198"/>
          <p:cNvSpPr/>
          <p:nvPr/>
        </p:nvSpPr>
        <p:spPr>
          <a:xfrm>
            <a:off x="7937500" y="5181600"/>
            <a:ext cx="304800" cy="3048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0" name="TextBox 199"/>
          <p:cNvSpPr txBox="1"/>
          <p:nvPr/>
        </p:nvSpPr>
        <p:spPr>
          <a:xfrm>
            <a:off x="8496300" y="5105400"/>
            <a:ext cx="1270000" cy="177800"/>
          </a:xfrm>
          <a:prstGeom prst="rect">
            <a:avLst/>
          </a:prstGeom>
          <a:noFill/>
        </p:spPr>
        <p:txBody>
          <a:bodyPr wrap="square" lIns="0" rIns="0" tIns="0" bIns="0" anchor="t">
            <a:spAutoFit/>
          </a:bodyPr>
          <a:lstStyle/>
          <a:p>
            <a:pPr algn="l"/>
            <a:r>
              <a:rPr sz="1200" b="1">
                <a:solidFill>
                  <a:srgbClr val="26262A"/>
                </a:solidFill>
                <a:latin typeface="Arial"/>
              </a:rPr>
              <a:t>24 pt</a:t>
            </a:r>
          </a:p>
        </p:txBody>
      </p:sp>
      <p:sp>
        <p:nvSpPr>
          <p:cNvPr id="201" name="TextBox 200"/>
          <p:cNvSpPr txBox="1"/>
          <p:nvPr/>
        </p:nvSpPr>
        <p:spPr>
          <a:xfrm>
            <a:off x="8496300" y="5308600"/>
            <a:ext cx="1270000" cy="177800"/>
          </a:xfrm>
          <a:prstGeom prst="rect">
            <a:avLst/>
          </a:prstGeom>
          <a:noFill/>
        </p:spPr>
        <p:txBody>
          <a:bodyPr wrap="square" lIns="0" rIns="0" tIns="0" bIns="0" anchor="t">
            <a:spAutoFit/>
          </a:bodyPr>
          <a:lstStyle/>
          <a:p>
            <a:pPr algn="l"/>
            <a:r>
              <a:rPr sz="850" b="0">
                <a:solidFill>
                  <a:srgbClr val="6E7B84"/>
                </a:solidFill>
                <a:latin typeface="Arial"/>
              </a:rPr>
              <a:t>Group → group</a:t>
            </a:r>
          </a:p>
        </p:txBody>
      </p:sp>
      <p:sp>
        <p:nvSpPr>
          <p:cNvPr id="202" name="Rectangle 201"/>
          <p:cNvSpPr/>
          <p:nvPr/>
        </p:nvSpPr>
        <p:spPr>
          <a:xfrm>
            <a:off x="9779000" y="5029200"/>
            <a:ext cx="457200" cy="4572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3" name="TextBox 202"/>
          <p:cNvSpPr txBox="1"/>
          <p:nvPr/>
        </p:nvSpPr>
        <p:spPr>
          <a:xfrm>
            <a:off x="10337800" y="5105400"/>
            <a:ext cx="1270000" cy="177800"/>
          </a:xfrm>
          <a:prstGeom prst="rect">
            <a:avLst/>
          </a:prstGeom>
          <a:noFill/>
        </p:spPr>
        <p:txBody>
          <a:bodyPr wrap="square" lIns="0" rIns="0" tIns="0" bIns="0" anchor="t">
            <a:spAutoFit/>
          </a:bodyPr>
          <a:lstStyle/>
          <a:p>
            <a:pPr algn="l"/>
            <a:r>
              <a:rPr sz="1200" b="1">
                <a:solidFill>
                  <a:srgbClr val="26262A"/>
                </a:solidFill>
                <a:latin typeface="Arial"/>
              </a:rPr>
              <a:t>36 pt</a:t>
            </a:r>
          </a:p>
        </p:txBody>
      </p:sp>
      <p:sp>
        <p:nvSpPr>
          <p:cNvPr id="204" name="TextBox 203"/>
          <p:cNvSpPr txBox="1"/>
          <p:nvPr/>
        </p:nvSpPr>
        <p:spPr>
          <a:xfrm>
            <a:off x="10337800" y="5308600"/>
            <a:ext cx="1270000" cy="177800"/>
          </a:xfrm>
          <a:prstGeom prst="rect">
            <a:avLst/>
          </a:prstGeom>
          <a:noFill/>
        </p:spPr>
        <p:txBody>
          <a:bodyPr wrap="square" lIns="0" rIns="0" tIns="0" bIns="0" anchor="t">
            <a:spAutoFit/>
          </a:bodyPr>
          <a:lstStyle/>
          <a:p>
            <a:pPr algn="l"/>
            <a:r>
              <a:rPr sz="850" b="0">
                <a:solidFill>
                  <a:srgbClr val="6E7B84"/>
                </a:solidFill>
                <a:latin typeface="Arial"/>
              </a:rPr>
              <a:t>Section → section</a:t>
            </a:r>
          </a:p>
        </p:txBody>
      </p:sp>
      <p:sp>
        <p:nvSpPr>
          <p:cNvPr id="205" name="Rectangle 204"/>
          <p:cNvSpPr/>
          <p:nvPr/>
        </p:nvSpPr>
        <p:spPr>
          <a:xfrm>
            <a:off x="571500" y="5740400"/>
            <a:ext cx="11049000" cy="6096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6" name="TextBox 205"/>
          <p:cNvSpPr txBox="1"/>
          <p:nvPr/>
        </p:nvSpPr>
        <p:spPr>
          <a:xfrm>
            <a:off x="723900" y="5842000"/>
            <a:ext cx="10795000" cy="431800"/>
          </a:xfrm>
          <a:prstGeom prst="rect">
            <a:avLst/>
          </a:prstGeom>
          <a:noFill/>
        </p:spPr>
        <p:txBody>
          <a:bodyPr wrap="square" lIns="0" rIns="0" tIns="0" bIns="0" anchor="t">
            <a:spAutoFit/>
          </a:bodyPr>
          <a:lstStyle/>
          <a:p>
            <a:pPr algn="l">
              <a:lnSpc>
                <a:spcPct val="115000"/>
              </a:lnSpc>
            </a:pPr>
            <a:r>
              <a:rPr sz="950" b="1">
                <a:solidFill>
                  <a:srgbClr val="E55200"/>
                </a:solidFill>
                <a:latin typeface="Arial"/>
              </a:rPr>
              <a:t>Rule of thumb  </a:t>
            </a:r>
            <a:r>
              <a:rPr sz="950" b="0">
                <a:solidFill>
                  <a:srgbClr val="26262A"/>
                </a:solidFill>
                <a:latin typeface="Arial"/>
              </a:rPr>
              <a:t>Space between groups must be at least twice the space inside a group. If two boxes look related, bring them closer; if not, push them apart.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TYPOGRAPHY</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Arial only, nine sizes, emphasis with colour and weight</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0.4</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Triatra Template PPT 2026 V3; design references collected for this guide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TextBox 127"/>
          <p:cNvSpPr txBox="1"/>
          <p:nvPr/>
        </p:nvSpPr>
        <p:spPr>
          <a:xfrm>
            <a:off x="571500" y="1041400"/>
            <a:ext cx="11049000" cy="177800"/>
          </a:xfrm>
          <a:prstGeom prst="rect">
            <a:avLst/>
          </a:prstGeom>
          <a:noFill/>
        </p:spPr>
        <p:txBody>
          <a:bodyPr wrap="square" lIns="0" rIns="0" tIns="0" bIns="0" anchor="t">
            <a:spAutoFit/>
          </a:bodyPr>
          <a:lstStyle/>
          <a:p>
            <a:pPr algn="l"/>
            <a:r>
              <a:rPr sz="850" b="1">
                <a:solidFill>
                  <a:srgbClr val="80350E"/>
                </a:solidFill>
                <a:latin typeface="Arial"/>
              </a:rPr>
              <a:t>1 · TYPE SCALE — ARIAL</a:t>
            </a:r>
          </a:p>
        </p:txBody>
      </p:sp>
      <p:sp>
        <p:nvSpPr>
          <p:cNvPr id="129" name="Rectangle 128"/>
          <p:cNvSpPr/>
          <p:nvPr/>
        </p:nvSpPr>
        <p:spPr>
          <a:xfrm>
            <a:off x="571500" y="1257300"/>
            <a:ext cx="1104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0" name="TextBox 129"/>
          <p:cNvSpPr txBox="1"/>
          <p:nvPr/>
        </p:nvSpPr>
        <p:spPr>
          <a:xfrm>
            <a:off x="571500" y="1320800"/>
            <a:ext cx="1778000" cy="152400"/>
          </a:xfrm>
          <a:prstGeom prst="rect">
            <a:avLst/>
          </a:prstGeom>
          <a:noFill/>
        </p:spPr>
        <p:txBody>
          <a:bodyPr wrap="square" lIns="0" rIns="0" tIns="0" bIns="0" anchor="t">
            <a:spAutoFit/>
          </a:bodyPr>
          <a:lstStyle/>
          <a:p>
            <a:pPr algn="l"/>
            <a:r>
              <a:rPr sz="800" b="1" spc="100">
                <a:solidFill>
                  <a:srgbClr val="6E7B84"/>
                </a:solidFill>
                <a:latin typeface="Arial"/>
              </a:rPr>
              <a:t>ROLE</a:t>
            </a:r>
          </a:p>
        </p:txBody>
      </p:sp>
      <p:sp>
        <p:nvSpPr>
          <p:cNvPr id="131" name="TextBox 130"/>
          <p:cNvSpPr txBox="1"/>
          <p:nvPr/>
        </p:nvSpPr>
        <p:spPr>
          <a:xfrm>
            <a:off x="2540000" y="1320800"/>
            <a:ext cx="5080000" cy="152400"/>
          </a:xfrm>
          <a:prstGeom prst="rect">
            <a:avLst/>
          </a:prstGeom>
          <a:noFill/>
        </p:spPr>
        <p:txBody>
          <a:bodyPr wrap="square" lIns="0" rIns="0" tIns="0" bIns="0" anchor="t">
            <a:spAutoFit/>
          </a:bodyPr>
          <a:lstStyle/>
          <a:p>
            <a:pPr algn="l"/>
            <a:r>
              <a:rPr sz="800" b="1" spc="100">
                <a:solidFill>
                  <a:srgbClr val="6E7B84"/>
                </a:solidFill>
                <a:latin typeface="Arial"/>
              </a:rPr>
              <a:t>SAMPLE</a:t>
            </a:r>
          </a:p>
        </p:txBody>
      </p:sp>
      <p:sp>
        <p:nvSpPr>
          <p:cNvPr id="132" name="TextBox 131"/>
          <p:cNvSpPr txBox="1"/>
          <p:nvPr/>
        </p:nvSpPr>
        <p:spPr>
          <a:xfrm>
            <a:off x="8128000" y="1320800"/>
            <a:ext cx="3492500" cy="152400"/>
          </a:xfrm>
          <a:prstGeom prst="rect">
            <a:avLst/>
          </a:prstGeom>
          <a:noFill/>
        </p:spPr>
        <p:txBody>
          <a:bodyPr wrap="square" lIns="0" rIns="0" tIns="0" bIns="0" anchor="t">
            <a:spAutoFit/>
          </a:bodyPr>
          <a:lstStyle/>
          <a:p>
            <a:pPr algn="l"/>
            <a:r>
              <a:rPr sz="800" b="1" spc="100">
                <a:solidFill>
                  <a:srgbClr val="6E7B84"/>
                </a:solidFill>
                <a:latin typeface="Arial"/>
              </a:rPr>
              <a:t>SPEC</a:t>
            </a:r>
          </a:p>
        </p:txBody>
      </p:sp>
      <p:sp>
        <p:nvSpPr>
          <p:cNvPr id="133" name="TextBox 132"/>
          <p:cNvSpPr txBox="1"/>
          <p:nvPr/>
        </p:nvSpPr>
        <p:spPr>
          <a:xfrm>
            <a:off x="571500" y="1687830"/>
            <a:ext cx="1905000" cy="152400"/>
          </a:xfrm>
          <a:prstGeom prst="rect">
            <a:avLst/>
          </a:prstGeom>
          <a:noFill/>
        </p:spPr>
        <p:txBody>
          <a:bodyPr wrap="square" lIns="0" rIns="0" tIns="0" bIns="0" anchor="t">
            <a:spAutoFit/>
          </a:bodyPr>
          <a:lstStyle/>
          <a:p>
            <a:pPr algn="l"/>
            <a:r>
              <a:rPr sz="900" b="1">
                <a:solidFill>
                  <a:srgbClr val="26262A"/>
                </a:solidFill>
                <a:latin typeface="Arial"/>
              </a:rPr>
              <a:t>Cover title</a:t>
            </a:r>
          </a:p>
        </p:txBody>
      </p:sp>
      <p:sp>
        <p:nvSpPr>
          <p:cNvPr id="134" name="TextBox 133"/>
          <p:cNvSpPr txBox="1"/>
          <p:nvPr/>
        </p:nvSpPr>
        <p:spPr>
          <a:xfrm>
            <a:off x="2540000" y="1524000"/>
            <a:ext cx="5461000" cy="480060"/>
          </a:xfrm>
          <a:prstGeom prst="rect">
            <a:avLst/>
          </a:prstGeom>
          <a:noFill/>
        </p:spPr>
        <p:txBody>
          <a:bodyPr wrap="square" lIns="0" rIns="0" tIns="0" bIns="0" anchor="ctr">
            <a:spAutoFit/>
          </a:bodyPr>
          <a:lstStyle/>
          <a:p>
            <a:pPr algn="l"/>
            <a:r>
              <a:rPr sz="2800" b="1">
                <a:solidFill>
                  <a:srgbClr val="E55200"/>
                </a:solidFill>
                <a:latin typeface="Arial"/>
              </a:rPr>
              <a:t>Design Guidance</a:t>
            </a:r>
          </a:p>
        </p:txBody>
      </p:sp>
      <p:sp>
        <p:nvSpPr>
          <p:cNvPr id="135" name="TextBox 134"/>
          <p:cNvSpPr txBox="1"/>
          <p:nvPr/>
        </p:nvSpPr>
        <p:spPr>
          <a:xfrm>
            <a:off x="8128000" y="1687830"/>
            <a:ext cx="3492500" cy="152400"/>
          </a:xfrm>
          <a:prstGeom prst="rect">
            <a:avLst/>
          </a:prstGeom>
          <a:noFill/>
        </p:spPr>
        <p:txBody>
          <a:bodyPr wrap="square" lIns="0" rIns="0" tIns="0" bIns="0" anchor="t">
            <a:spAutoFit/>
          </a:bodyPr>
          <a:lstStyle/>
          <a:p>
            <a:pPr algn="l"/>
            <a:r>
              <a:rPr sz="850" b="0">
                <a:solidFill>
                  <a:srgbClr val="6E7B84"/>
                </a:solidFill>
                <a:latin typeface="Arial"/>
              </a:rPr>
              <a:t>28–32 pt · Bold · Orange</a:t>
            </a:r>
          </a:p>
        </p:txBody>
      </p:sp>
      <p:sp>
        <p:nvSpPr>
          <p:cNvPr id="136" name="Rectangle 135"/>
          <p:cNvSpPr/>
          <p:nvPr/>
        </p:nvSpPr>
        <p:spPr>
          <a:xfrm>
            <a:off x="571500" y="204216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7" name="TextBox 136"/>
          <p:cNvSpPr txBox="1"/>
          <p:nvPr/>
        </p:nvSpPr>
        <p:spPr>
          <a:xfrm>
            <a:off x="571500" y="2156460"/>
            <a:ext cx="1905000" cy="152400"/>
          </a:xfrm>
          <a:prstGeom prst="rect">
            <a:avLst/>
          </a:prstGeom>
          <a:noFill/>
        </p:spPr>
        <p:txBody>
          <a:bodyPr wrap="square" lIns="0" rIns="0" tIns="0" bIns="0" anchor="t">
            <a:spAutoFit/>
          </a:bodyPr>
          <a:lstStyle/>
          <a:p>
            <a:pPr algn="l"/>
            <a:r>
              <a:rPr sz="900" b="1">
                <a:solidFill>
                  <a:srgbClr val="26262A"/>
                </a:solidFill>
                <a:latin typeface="Arial"/>
              </a:rPr>
              <a:t>Major slide title</a:t>
            </a:r>
          </a:p>
        </p:txBody>
      </p:sp>
      <p:sp>
        <p:nvSpPr>
          <p:cNvPr id="138" name="TextBox 137"/>
          <p:cNvSpPr txBox="1"/>
          <p:nvPr/>
        </p:nvSpPr>
        <p:spPr>
          <a:xfrm>
            <a:off x="2540000" y="2092960"/>
            <a:ext cx="5461000" cy="279400"/>
          </a:xfrm>
          <a:prstGeom prst="rect">
            <a:avLst/>
          </a:prstGeom>
          <a:noFill/>
        </p:spPr>
        <p:txBody>
          <a:bodyPr wrap="square" lIns="0" rIns="0" tIns="0" bIns="0" anchor="ctr">
            <a:spAutoFit/>
          </a:bodyPr>
          <a:lstStyle/>
          <a:p>
            <a:pPr algn="l"/>
            <a:r>
              <a:rPr sz="1200" b="1">
                <a:solidFill>
                  <a:srgbClr val="E55200"/>
                </a:solidFill>
                <a:latin typeface="Arial"/>
              </a:rPr>
              <a:t>MAJOR SLIDE TITLE</a:t>
            </a:r>
          </a:p>
        </p:txBody>
      </p:sp>
      <p:sp>
        <p:nvSpPr>
          <p:cNvPr id="139" name="TextBox 138"/>
          <p:cNvSpPr txBox="1"/>
          <p:nvPr/>
        </p:nvSpPr>
        <p:spPr>
          <a:xfrm>
            <a:off x="8128000" y="2156460"/>
            <a:ext cx="3492500" cy="152400"/>
          </a:xfrm>
          <a:prstGeom prst="rect">
            <a:avLst/>
          </a:prstGeom>
          <a:noFill/>
        </p:spPr>
        <p:txBody>
          <a:bodyPr wrap="square" lIns="0" rIns="0" tIns="0" bIns="0" anchor="t">
            <a:spAutoFit/>
          </a:bodyPr>
          <a:lstStyle/>
          <a:p>
            <a:pPr algn="l"/>
            <a:r>
              <a:rPr sz="850" b="0">
                <a:solidFill>
                  <a:srgbClr val="6E7B84"/>
                </a:solidFill>
                <a:latin typeface="Arial"/>
              </a:rPr>
              <a:t>12 pt · Bold · CAPS · Orange</a:t>
            </a:r>
          </a:p>
        </p:txBody>
      </p:sp>
      <p:sp>
        <p:nvSpPr>
          <p:cNvPr id="140" name="Rectangle 139"/>
          <p:cNvSpPr/>
          <p:nvPr/>
        </p:nvSpPr>
        <p:spPr>
          <a:xfrm>
            <a:off x="571500" y="241046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1" name="TextBox 140"/>
          <p:cNvSpPr txBox="1"/>
          <p:nvPr/>
        </p:nvSpPr>
        <p:spPr>
          <a:xfrm>
            <a:off x="571500" y="2524760"/>
            <a:ext cx="1905000" cy="152400"/>
          </a:xfrm>
          <a:prstGeom prst="rect">
            <a:avLst/>
          </a:prstGeom>
          <a:noFill/>
        </p:spPr>
        <p:txBody>
          <a:bodyPr wrap="square" lIns="0" rIns="0" tIns="0" bIns="0" anchor="t">
            <a:spAutoFit/>
          </a:bodyPr>
          <a:lstStyle/>
          <a:p>
            <a:pPr algn="l"/>
            <a:r>
              <a:rPr sz="900" b="1">
                <a:solidFill>
                  <a:srgbClr val="26262A"/>
                </a:solidFill>
                <a:latin typeface="Arial"/>
              </a:rPr>
              <a:t>Subtitle / message</a:t>
            </a:r>
          </a:p>
        </p:txBody>
      </p:sp>
      <p:sp>
        <p:nvSpPr>
          <p:cNvPr id="142" name="TextBox 141"/>
          <p:cNvSpPr txBox="1"/>
          <p:nvPr/>
        </p:nvSpPr>
        <p:spPr>
          <a:xfrm>
            <a:off x="2540000" y="2461260"/>
            <a:ext cx="5461000" cy="279400"/>
          </a:xfrm>
          <a:prstGeom prst="rect">
            <a:avLst/>
          </a:prstGeom>
          <a:noFill/>
        </p:spPr>
        <p:txBody>
          <a:bodyPr wrap="square" lIns="0" rIns="0" tIns="0" bIns="0" anchor="ctr">
            <a:spAutoFit/>
          </a:bodyPr>
          <a:lstStyle/>
          <a:p>
            <a:pPr algn="l"/>
            <a:r>
              <a:rPr sz="1400" b="1">
                <a:solidFill>
                  <a:srgbClr val="26262A"/>
                </a:solidFill>
                <a:latin typeface="Arial"/>
              </a:rPr>
              <a:t>Five F.lli Ferrari cranes win on price</a:t>
            </a:r>
          </a:p>
        </p:txBody>
      </p:sp>
      <p:sp>
        <p:nvSpPr>
          <p:cNvPr id="143" name="TextBox 142"/>
          <p:cNvSpPr txBox="1"/>
          <p:nvPr/>
        </p:nvSpPr>
        <p:spPr>
          <a:xfrm>
            <a:off x="8128000" y="2524760"/>
            <a:ext cx="3492500" cy="152400"/>
          </a:xfrm>
          <a:prstGeom prst="rect">
            <a:avLst/>
          </a:prstGeom>
          <a:noFill/>
        </p:spPr>
        <p:txBody>
          <a:bodyPr wrap="square" lIns="0" rIns="0" tIns="0" bIns="0" anchor="t">
            <a:spAutoFit/>
          </a:bodyPr>
          <a:lstStyle/>
          <a:p>
            <a:pPr algn="l"/>
            <a:r>
              <a:rPr sz="850" b="0">
                <a:solidFill>
                  <a:srgbClr val="6E7B84"/>
                </a:solidFill>
                <a:latin typeface="Arial"/>
              </a:rPr>
              <a:t>14 pt · Bold · Ink</a:t>
            </a:r>
          </a:p>
        </p:txBody>
      </p:sp>
      <p:sp>
        <p:nvSpPr>
          <p:cNvPr id="144" name="Rectangle 143"/>
          <p:cNvSpPr/>
          <p:nvPr/>
        </p:nvSpPr>
        <p:spPr>
          <a:xfrm>
            <a:off x="571500" y="277876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5" name="TextBox 144"/>
          <p:cNvSpPr txBox="1"/>
          <p:nvPr/>
        </p:nvSpPr>
        <p:spPr>
          <a:xfrm>
            <a:off x="571500" y="2941955"/>
            <a:ext cx="1905000" cy="152400"/>
          </a:xfrm>
          <a:prstGeom prst="rect">
            <a:avLst/>
          </a:prstGeom>
          <a:noFill/>
        </p:spPr>
        <p:txBody>
          <a:bodyPr wrap="square" lIns="0" rIns="0" tIns="0" bIns="0" anchor="t">
            <a:spAutoFit/>
          </a:bodyPr>
          <a:lstStyle/>
          <a:p>
            <a:pPr algn="l"/>
            <a:r>
              <a:rPr sz="900" b="1">
                <a:solidFill>
                  <a:srgbClr val="26262A"/>
                </a:solidFill>
                <a:latin typeface="Arial"/>
              </a:rPr>
              <a:t>Key number</a:t>
            </a:r>
          </a:p>
        </p:txBody>
      </p:sp>
      <p:sp>
        <p:nvSpPr>
          <p:cNvPr id="146" name="TextBox 145"/>
          <p:cNvSpPr txBox="1"/>
          <p:nvPr/>
        </p:nvSpPr>
        <p:spPr>
          <a:xfrm>
            <a:off x="2540000" y="2829560"/>
            <a:ext cx="5461000" cy="377190"/>
          </a:xfrm>
          <a:prstGeom prst="rect">
            <a:avLst/>
          </a:prstGeom>
          <a:noFill/>
        </p:spPr>
        <p:txBody>
          <a:bodyPr wrap="square" lIns="0" rIns="0" tIns="0" bIns="0" anchor="ctr">
            <a:spAutoFit/>
          </a:bodyPr>
          <a:lstStyle/>
          <a:p>
            <a:pPr algn="l"/>
            <a:r>
              <a:rPr sz="2200" b="1">
                <a:solidFill>
                  <a:srgbClr val="E55200"/>
                </a:solidFill>
                <a:latin typeface="Arial"/>
              </a:rPr>
              <a:t>31 units</a:t>
            </a:r>
          </a:p>
        </p:txBody>
      </p:sp>
      <p:sp>
        <p:nvSpPr>
          <p:cNvPr id="147" name="TextBox 146"/>
          <p:cNvSpPr txBox="1"/>
          <p:nvPr/>
        </p:nvSpPr>
        <p:spPr>
          <a:xfrm>
            <a:off x="8128000" y="2941955"/>
            <a:ext cx="3492500" cy="152400"/>
          </a:xfrm>
          <a:prstGeom prst="rect">
            <a:avLst/>
          </a:prstGeom>
          <a:noFill/>
        </p:spPr>
        <p:txBody>
          <a:bodyPr wrap="square" lIns="0" rIns="0" tIns="0" bIns="0" anchor="t">
            <a:spAutoFit/>
          </a:bodyPr>
          <a:lstStyle/>
          <a:p>
            <a:pPr algn="l"/>
            <a:r>
              <a:rPr sz="850" b="0">
                <a:solidFill>
                  <a:srgbClr val="6E7B84"/>
                </a:solidFill>
                <a:latin typeface="Arial"/>
              </a:rPr>
              <a:t>20–28 pt · Bold · Orange</a:t>
            </a:r>
          </a:p>
        </p:txBody>
      </p:sp>
      <p:sp>
        <p:nvSpPr>
          <p:cNvPr id="148" name="Rectangle 147"/>
          <p:cNvSpPr/>
          <p:nvPr/>
        </p:nvSpPr>
        <p:spPr>
          <a:xfrm>
            <a:off x="571500" y="324485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9" name="TextBox 148"/>
          <p:cNvSpPr txBox="1"/>
          <p:nvPr/>
        </p:nvSpPr>
        <p:spPr>
          <a:xfrm>
            <a:off x="571500" y="3359150"/>
            <a:ext cx="1905000" cy="152400"/>
          </a:xfrm>
          <a:prstGeom prst="rect">
            <a:avLst/>
          </a:prstGeom>
          <a:noFill/>
        </p:spPr>
        <p:txBody>
          <a:bodyPr wrap="square" lIns="0" rIns="0" tIns="0" bIns="0" anchor="t">
            <a:spAutoFit/>
          </a:bodyPr>
          <a:lstStyle/>
          <a:p>
            <a:pPr algn="l"/>
            <a:r>
              <a:rPr sz="900" b="1">
                <a:solidFill>
                  <a:srgbClr val="26262A"/>
                </a:solidFill>
                <a:latin typeface="Arial"/>
              </a:rPr>
              <a:t>Section label</a:t>
            </a:r>
          </a:p>
        </p:txBody>
      </p:sp>
      <p:sp>
        <p:nvSpPr>
          <p:cNvPr id="150" name="TextBox 149"/>
          <p:cNvSpPr txBox="1"/>
          <p:nvPr/>
        </p:nvSpPr>
        <p:spPr>
          <a:xfrm>
            <a:off x="2540000" y="3295650"/>
            <a:ext cx="5461000" cy="279400"/>
          </a:xfrm>
          <a:prstGeom prst="rect">
            <a:avLst/>
          </a:prstGeom>
          <a:noFill/>
        </p:spPr>
        <p:txBody>
          <a:bodyPr wrap="square" lIns="0" rIns="0" tIns="0" bIns="0" anchor="ctr">
            <a:spAutoFit/>
          </a:bodyPr>
          <a:lstStyle/>
          <a:p>
            <a:pPr algn="l"/>
            <a:r>
              <a:rPr sz="850" b="1" spc="100">
                <a:solidFill>
                  <a:srgbClr val="80350E"/>
                </a:solidFill>
                <a:latin typeface="Arial"/>
              </a:rPr>
              <a:t>1 · COLOUR PALETTE</a:t>
            </a:r>
          </a:p>
        </p:txBody>
      </p:sp>
      <p:sp>
        <p:nvSpPr>
          <p:cNvPr id="151" name="TextBox 150"/>
          <p:cNvSpPr txBox="1"/>
          <p:nvPr/>
        </p:nvSpPr>
        <p:spPr>
          <a:xfrm>
            <a:off x="8128000" y="3359150"/>
            <a:ext cx="3492500" cy="152400"/>
          </a:xfrm>
          <a:prstGeom prst="rect">
            <a:avLst/>
          </a:prstGeom>
          <a:noFill/>
        </p:spPr>
        <p:txBody>
          <a:bodyPr wrap="square" lIns="0" rIns="0" tIns="0" bIns="0" anchor="t">
            <a:spAutoFit/>
          </a:bodyPr>
          <a:lstStyle/>
          <a:p>
            <a:pPr algn="l"/>
            <a:r>
              <a:rPr sz="850" b="0">
                <a:solidFill>
                  <a:srgbClr val="6E7B84"/>
                </a:solidFill>
                <a:latin typeface="Arial"/>
              </a:rPr>
              <a:t>8.5 pt · Bold · CAPS · Brown</a:t>
            </a:r>
          </a:p>
        </p:txBody>
      </p:sp>
      <p:sp>
        <p:nvSpPr>
          <p:cNvPr id="152" name="Rectangle 151"/>
          <p:cNvSpPr/>
          <p:nvPr/>
        </p:nvSpPr>
        <p:spPr>
          <a:xfrm>
            <a:off x="571500" y="361315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3" name="TextBox 152"/>
          <p:cNvSpPr txBox="1"/>
          <p:nvPr/>
        </p:nvSpPr>
        <p:spPr>
          <a:xfrm>
            <a:off x="571500" y="3727450"/>
            <a:ext cx="1905000" cy="152400"/>
          </a:xfrm>
          <a:prstGeom prst="rect">
            <a:avLst/>
          </a:prstGeom>
          <a:noFill/>
        </p:spPr>
        <p:txBody>
          <a:bodyPr wrap="square" lIns="0" rIns="0" tIns="0" bIns="0" anchor="t">
            <a:spAutoFit/>
          </a:bodyPr>
          <a:lstStyle/>
          <a:p>
            <a:pPr algn="l"/>
            <a:r>
              <a:rPr sz="900" b="1">
                <a:solidFill>
                  <a:srgbClr val="26262A"/>
                </a:solidFill>
                <a:latin typeface="Arial"/>
              </a:rPr>
              <a:t>Card title</a:t>
            </a:r>
          </a:p>
        </p:txBody>
      </p:sp>
      <p:sp>
        <p:nvSpPr>
          <p:cNvPr id="154" name="TextBox 153"/>
          <p:cNvSpPr txBox="1"/>
          <p:nvPr/>
        </p:nvSpPr>
        <p:spPr>
          <a:xfrm>
            <a:off x="2540000" y="3663950"/>
            <a:ext cx="5461000" cy="279400"/>
          </a:xfrm>
          <a:prstGeom prst="rect">
            <a:avLst/>
          </a:prstGeom>
          <a:noFill/>
        </p:spPr>
        <p:txBody>
          <a:bodyPr wrap="square" lIns="0" rIns="0" tIns="0" bIns="0" anchor="ctr">
            <a:spAutoFit/>
          </a:bodyPr>
          <a:lstStyle/>
          <a:p>
            <a:pPr algn="l"/>
            <a:r>
              <a:rPr sz="1000" b="1">
                <a:solidFill>
                  <a:srgbClr val="80350E"/>
                </a:solidFill>
                <a:latin typeface="Arial"/>
              </a:rPr>
              <a:t>Card title</a:t>
            </a:r>
          </a:p>
        </p:txBody>
      </p:sp>
      <p:sp>
        <p:nvSpPr>
          <p:cNvPr id="155" name="TextBox 154"/>
          <p:cNvSpPr txBox="1"/>
          <p:nvPr/>
        </p:nvSpPr>
        <p:spPr>
          <a:xfrm>
            <a:off x="8128000" y="3727450"/>
            <a:ext cx="3492500" cy="152400"/>
          </a:xfrm>
          <a:prstGeom prst="rect">
            <a:avLst/>
          </a:prstGeom>
          <a:noFill/>
        </p:spPr>
        <p:txBody>
          <a:bodyPr wrap="square" lIns="0" rIns="0" tIns="0" bIns="0" anchor="t">
            <a:spAutoFit/>
          </a:bodyPr>
          <a:lstStyle/>
          <a:p>
            <a:pPr algn="l"/>
            <a:r>
              <a:rPr sz="850" b="0">
                <a:solidFill>
                  <a:srgbClr val="6E7B84"/>
                </a:solidFill>
                <a:latin typeface="Arial"/>
              </a:rPr>
              <a:t>10 pt · Bold · Brown</a:t>
            </a:r>
          </a:p>
        </p:txBody>
      </p:sp>
      <p:sp>
        <p:nvSpPr>
          <p:cNvPr id="156" name="Rectangle 155"/>
          <p:cNvSpPr/>
          <p:nvPr/>
        </p:nvSpPr>
        <p:spPr>
          <a:xfrm>
            <a:off x="571500" y="398145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7" name="TextBox 156"/>
          <p:cNvSpPr txBox="1"/>
          <p:nvPr/>
        </p:nvSpPr>
        <p:spPr>
          <a:xfrm>
            <a:off x="571500" y="4095750"/>
            <a:ext cx="1905000" cy="152400"/>
          </a:xfrm>
          <a:prstGeom prst="rect">
            <a:avLst/>
          </a:prstGeom>
          <a:noFill/>
        </p:spPr>
        <p:txBody>
          <a:bodyPr wrap="square" lIns="0" rIns="0" tIns="0" bIns="0" anchor="t">
            <a:spAutoFit/>
          </a:bodyPr>
          <a:lstStyle/>
          <a:p>
            <a:pPr algn="l"/>
            <a:r>
              <a:rPr sz="900" b="1">
                <a:solidFill>
                  <a:srgbClr val="26262A"/>
                </a:solidFill>
                <a:latin typeface="Arial"/>
              </a:rPr>
              <a:t>Body</a:t>
            </a:r>
          </a:p>
        </p:txBody>
      </p:sp>
      <p:sp>
        <p:nvSpPr>
          <p:cNvPr id="158" name="TextBox 157"/>
          <p:cNvSpPr txBox="1"/>
          <p:nvPr/>
        </p:nvSpPr>
        <p:spPr>
          <a:xfrm>
            <a:off x="2540000" y="4032250"/>
            <a:ext cx="5461000" cy="279400"/>
          </a:xfrm>
          <a:prstGeom prst="rect">
            <a:avLst/>
          </a:prstGeom>
          <a:noFill/>
        </p:spPr>
        <p:txBody>
          <a:bodyPr wrap="square" lIns="0" rIns="0" tIns="0" bIns="0" anchor="ctr">
            <a:spAutoFit/>
          </a:bodyPr>
          <a:lstStyle/>
          <a:p>
            <a:pPr algn="l"/>
            <a:r>
              <a:rPr sz="1000" b="0">
                <a:solidFill>
                  <a:srgbClr val="26262A"/>
                </a:solidFill>
                <a:latin typeface="Arial"/>
              </a:rPr>
              <a:t>Body text explains, in two to four lines.</a:t>
            </a:r>
          </a:p>
        </p:txBody>
      </p:sp>
      <p:sp>
        <p:nvSpPr>
          <p:cNvPr id="159" name="TextBox 158"/>
          <p:cNvSpPr txBox="1"/>
          <p:nvPr/>
        </p:nvSpPr>
        <p:spPr>
          <a:xfrm>
            <a:off x="8128000" y="4095750"/>
            <a:ext cx="3492500" cy="152400"/>
          </a:xfrm>
          <a:prstGeom prst="rect">
            <a:avLst/>
          </a:prstGeom>
          <a:noFill/>
        </p:spPr>
        <p:txBody>
          <a:bodyPr wrap="square" lIns="0" rIns="0" tIns="0" bIns="0" anchor="t">
            <a:spAutoFit/>
          </a:bodyPr>
          <a:lstStyle/>
          <a:p>
            <a:pPr algn="l"/>
            <a:r>
              <a:rPr sz="850" b="0">
                <a:solidFill>
                  <a:srgbClr val="6E7B84"/>
                </a:solidFill>
                <a:latin typeface="Arial"/>
              </a:rPr>
              <a:t>10 pt · Regular · Ink · spacing 1.1</a:t>
            </a:r>
          </a:p>
        </p:txBody>
      </p:sp>
      <p:sp>
        <p:nvSpPr>
          <p:cNvPr id="160" name="Rectangle 159"/>
          <p:cNvSpPr/>
          <p:nvPr/>
        </p:nvSpPr>
        <p:spPr>
          <a:xfrm>
            <a:off x="571500" y="434975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1" name="TextBox 160"/>
          <p:cNvSpPr txBox="1"/>
          <p:nvPr/>
        </p:nvSpPr>
        <p:spPr>
          <a:xfrm>
            <a:off x="571500" y="4464050"/>
            <a:ext cx="1905000" cy="152400"/>
          </a:xfrm>
          <a:prstGeom prst="rect">
            <a:avLst/>
          </a:prstGeom>
          <a:noFill/>
        </p:spPr>
        <p:txBody>
          <a:bodyPr wrap="square" lIns="0" rIns="0" tIns="0" bIns="0" anchor="t">
            <a:spAutoFit/>
          </a:bodyPr>
          <a:lstStyle/>
          <a:p>
            <a:pPr algn="l"/>
            <a:r>
              <a:rPr sz="900" b="1">
                <a:solidFill>
                  <a:srgbClr val="26262A"/>
                </a:solidFill>
                <a:latin typeface="Arial"/>
              </a:rPr>
              <a:t>Detail / label</a:t>
            </a:r>
          </a:p>
        </p:txBody>
      </p:sp>
      <p:sp>
        <p:nvSpPr>
          <p:cNvPr id="162" name="TextBox 161"/>
          <p:cNvSpPr txBox="1"/>
          <p:nvPr/>
        </p:nvSpPr>
        <p:spPr>
          <a:xfrm>
            <a:off x="2540000" y="4400550"/>
            <a:ext cx="5461000" cy="279400"/>
          </a:xfrm>
          <a:prstGeom prst="rect">
            <a:avLst/>
          </a:prstGeom>
          <a:noFill/>
        </p:spPr>
        <p:txBody>
          <a:bodyPr wrap="square" lIns="0" rIns="0" tIns="0" bIns="0" anchor="ctr">
            <a:spAutoFit/>
          </a:bodyPr>
          <a:lstStyle/>
          <a:p>
            <a:pPr algn="l"/>
            <a:r>
              <a:rPr sz="850" b="0">
                <a:solidFill>
                  <a:srgbClr val="6E7B84"/>
                </a:solidFill>
                <a:latin typeface="Arial"/>
              </a:rPr>
              <a:t>Supporting detail, two lines max</a:t>
            </a:r>
          </a:p>
        </p:txBody>
      </p:sp>
      <p:sp>
        <p:nvSpPr>
          <p:cNvPr id="163" name="TextBox 162"/>
          <p:cNvSpPr txBox="1"/>
          <p:nvPr/>
        </p:nvSpPr>
        <p:spPr>
          <a:xfrm>
            <a:off x="8128000" y="4464050"/>
            <a:ext cx="3492500" cy="152400"/>
          </a:xfrm>
          <a:prstGeom prst="rect">
            <a:avLst/>
          </a:prstGeom>
          <a:noFill/>
        </p:spPr>
        <p:txBody>
          <a:bodyPr wrap="square" lIns="0" rIns="0" tIns="0" bIns="0" anchor="t">
            <a:spAutoFit/>
          </a:bodyPr>
          <a:lstStyle/>
          <a:p>
            <a:pPr algn="l"/>
            <a:r>
              <a:rPr sz="850" b="0">
                <a:solidFill>
                  <a:srgbClr val="6E7B84"/>
                </a:solidFill>
                <a:latin typeface="Arial"/>
              </a:rPr>
              <a:t>8.5 pt · Regular · Muted</a:t>
            </a:r>
          </a:p>
        </p:txBody>
      </p:sp>
      <p:sp>
        <p:nvSpPr>
          <p:cNvPr id="164" name="Rectangle 163"/>
          <p:cNvSpPr/>
          <p:nvPr/>
        </p:nvSpPr>
        <p:spPr>
          <a:xfrm>
            <a:off x="571500" y="471805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5" name="TextBox 164"/>
          <p:cNvSpPr txBox="1"/>
          <p:nvPr/>
        </p:nvSpPr>
        <p:spPr>
          <a:xfrm>
            <a:off x="571500" y="4832350"/>
            <a:ext cx="1905000" cy="152400"/>
          </a:xfrm>
          <a:prstGeom prst="rect">
            <a:avLst/>
          </a:prstGeom>
          <a:noFill/>
        </p:spPr>
        <p:txBody>
          <a:bodyPr wrap="square" lIns="0" rIns="0" tIns="0" bIns="0" anchor="t">
            <a:spAutoFit/>
          </a:bodyPr>
          <a:lstStyle/>
          <a:p>
            <a:pPr algn="l"/>
            <a:r>
              <a:rPr sz="900" b="1">
                <a:solidFill>
                  <a:srgbClr val="26262A"/>
                </a:solidFill>
                <a:latin typeface="Arial"/>
              </a:rPr>
              <a:t>Source</a:t>
            </a:r>
          </a:p>
        </p:txBody>
      </p:sp>
      <p:sp>
        <p:nvSpPr>
          <p:cNvPr id="166" name="TextBox 165"/>
          <p:cNvSpPr txBox="1"/>
          <p:nvPr/>
        </p:nvSpPr>
        <p:spPr>
          <a:xfrm>
            <a:off x="2540000" y="4768850"/>
            <a:ext cx="5461000" cy="279400"/>
          </a:xfrm>
          <a:prstGeom prst="rect">
            <a:avLst/>
          </a:prstGeom>
          <a:noFill/>
        </p:spPr>
        <p:txBody>
          <a:bodyPr wrap="square" lIns="0" rIns="0" tIns="0" bIns="0" anchor="ctr">
            <a:spAutoFit/>
          </a:bodyPr>
          <a:lstStyle/>
          <a:p>
            <a:pPr algn="l"/>
            <a:r>
              <a:rPr sz="900" b="0">
                <a:solidFill>
                  <a:srgbClr val="6E7B84"/>
                </a:solidFill>
                <a:latin typeface="Arial"/>
              </a:rPr>
              <a:t>Source: Internal resources</a:t>
            </a:r>
          </a:p>
        </p:txBody>
      </p:sp>
      <p:sp>
        <p:nvSpPr>
          <p:cNvPr id="167" name="TextBox 166"/>
          <p:cNvSpPr txBox="1"/>
          <p:nvPr/>
        </p:nvSpPr>
        <p:spPr>
          <a:xfrm>
            <a:off x="8128000" y="4832350"/>
            <a:ext cx="3492500" cy="152400"/>
          </a:xfrm>
          <a:prstGeom prst="rect">
            <a:avLst/>
          </a:prstGeom>
          <a:noFill/>
        </p:spPr>
        <p:txBody>
          <a:bodyPr wrap="square" lIns="0" rIns="0" tIns="0" bIns="0" anchor="t">
            <a:spAutoFit/>
          </a:bodyPr>
          <a:lstStyle/>
          <a:p>
            <a:pPr algn="l"/>
            <a:r>
              <a:rPr sz="850" b="0">
                <a:solidFill>
                  <a:srgbClr val="6E7B84"/>
                </a:solidFill>
                <a:latin typeface="Arial"/>
              </a:rPr>
              <a:t>9 pt · Regular · Muted · y 521 pt</a:t>
            </a:r>
          </a:p>
        </p:txBody>
      </p:sp>
      <p:sp>
        <p:nvSpPr>
          <p:cNvPr id="168" name="Rectangle 167"/>
          <p:cNvSpPr/>
          <p:nvPr/>
        </p:nvSpPr>
        <p:spPr>
          <a:xfrm>
            <a:off x="571500" y="508635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9" name="Rectangle 168"/>
          <p:cNvSpPr/>
          <p:nvPr/>
        </p:nvSpPr>
        <p:spPr>
          <a:xfrm>
            <a:off x="571500" y="5765800"/>
            <a:ext cx="3581400" cy="6096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0" name="TextBox 169"/>
          <p:cNvSpPr txBox="1"/>
          <p:nvPr/>
        </p:nvSpPr>
        <p:spPr>
          <a:xfrm>
            <a:off x="698500" y="5854700"/>
            <a:ext cx="3327400" cy="152400"/>
          </a:xfrm>
          <a:prstGeom prst="rect">
            <a:avLst/>
          </a:prstGeom>
          <a:noFill/>
        </p:spPr>
        <p:txBody>
          <a:bodyPr wrap="square" lIns="0" rIns="0" tIns="0" bIns="0" anchor="t">
            <a:spAutoFit/>
          </a:bodyPr>
          <a:lstStyle/>
          <a:p>
            <a:pPr algn="l"/>
            <a:r>
              <a:rPr sz="850" b="1">
                <a:solidFill>
                  <a:srgbClr val="E55200"/>
                </a:solidFill>
                <a:latin typeface="Arial"/>
              </a:rPr>
              <a:t>EMPHASIS</a:t>
            </a:r>
          </a:p>
        </p:txBody>
      </p:sp>
      <p:sp>
        <p:nvSpPr>
          <p:cNvPr id="171" name="TextBox 170"/>
          <p:cNvSpPr txBox="1"/>
          <p:nvPr/>
        </p:nvSpPr>
        <p:spPr>
          <a:xfrm>
            <a:off x="698500" y="6032500"/>
            <a:ext cx="3327400" cy="330200"/>
          </a:xfrm>
          <a:prstGeom prst="rect">
            <a:avLst/>
          </a:prstGeom>
          <a:noFill/>
        </p:spPr>
        <p:txBody>
          <a:bodyPr wrap="square" lIns="0" rIns="0" tIns="0" bIns="0" anchor="t">
            <a:spAutoFit/>
          </a:bodyPr>
          <a:lstStyle/>
          <a:p>
            <a:pPr algn="l">
              <a:lnSpc>
                <a:spcPct val="110000"/>
              </a:lnSpc>
            </a:pPr>
            <a:r>
              <a:rPr sz="900" b="0">
                <a:solidFill>
                  <a:srgbClr val="26262A"/>
                </a:solidFill>
                <a:latin typeface="Arial"/>
              </a:rPr>
              <a:t>Orange or Bold only. Never underline, italic, shadow or WordArt.</a:t>
            </a:r>
          </a:p>
        </p:txBody>
      </p:sp>
      <p:sp>
        <p:nvSpPr>
          <p:cNvPr id="172" name="Rectangle 171"/>
          <p:cNvSpPr/>
          <p:nvPr/>
        </p:nvSpPr>
        <p:spPr>
          <a:xfrm>
            <a:off x="4305300" y="5765800"/>
            <a:ext cx="3581400" cy="6096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3" name="TextBox 172"/>
          <p:cNvSpPr txBox="1"/>
          <p:nvPr/>
        </p:nvSpPr>
        <p:spPr>
          <a:xfrm>
            <a:off x="4432300" y="5854700"/>
            <a:ext cx="3327400" cy="152400"/>
          </a:xfrm>
          <a:prstGeom prst="rect">
            <a:avLst/>
          </a:prstGeom>
          <a:noFill/>
        </p:spPr>
        <p:txBody>
          <a:bodyPr wrap="square" lIns="0" rIns="0" tIns="0" bIns="0" anchor="t">
            <a:spAutoFit/>
          </a:bodyPr>
          <a:lstStyle/>
          <a:p>
            <a:pPr algn="l"/>
            <a:r>
              <a:rPr sz="850" b="1">
                <a:solidFill>
                  <a:srgbClr val="E55200"/>
                </a:solidFill>
                <a:latin typeface="Arial"/>
              </a:rPr>
              <a:t>HIERARCHY</a:t>
            </a:r>
          </a:p>
        </p:txBody>
      </p:sp>
      <p:sp>
        <p:nvSpPr>
          <p:cNvPr id="174" name="TextBox 173"/>
          <p:cNvSpPr txBox="1"/>
          <p:nvPr/>
        </p:nvSpPr>
        <p:spPr>
          <a:xfrm>
            <a:off x="4432300" y="6032500"/>
            <a:ext cx="3327400" cy="330200"/>
          </a:xfrm>
          <a:prstGeom prst="rect">
            <a:avLst/>
          </a:prstGeom>
          <a:noFill/>
        </p:spPr>
        <p:txBody>
          <a:bodyPr wrap="square" lIns="0" rIns="0" tIns="0" bIns="0" anchor="t">
            <a:spAutoFit/>
          </a:bodyPr>
          <a:lstStyle/>
          <a:p>
            <a:pPr algn="l">
              <a:lnSpc>
                <a:spcPct val="110000"/>
              </a:lnSpc>
            </a:pPr>
            <a:r>
              <a:rPr sz="900" b="0">
                <a:solidFill>
                  <a:srgbClr val="26262A"/>
                </a:solidFill>
                <a:latin typeface="Arial"/>
              </a:rPr>
              <a:t>Max two sizes inside one box. Bigger means more important, not more text.</a:t>
            </a:r>
          </a:p>
        </p:txBody>
      </p:sp>
      <p:sp>
        <p:nvSpPr>
          <p:cNvPr id="175" name="Rectangle 174"/>
          <p:cNvSpPr/>
          <p:nvPr/>
        </p:nvSpPr>
        <p:spPr>
          <a:xfrm>
            <a:off x="8039100" y="5765800"/>
            <a:ext cx="3581400" cy="6096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6" name="TextBox 175"/>
          <p:cNvSpPr txBox="1"/>
          <p:nvPr/>
        </p:nvSpPr>
        <p:spPr>
          <a:xfrm>
            <a:off x="8166100" y="5854700"/>
            <a:ext cx="3327400" cy="152400"/>
          </a:xfrm>
          <a:prstGeom prst="rect">
            <a:avLst/>
          </a:prstGeom>
          <a:noFill/>
        </p:spPr>
        <p:txBody>
          <a:bodyPr wrap="square" lIns="0" rIns="0" tIns="0" bIns="0" anchor="t">
            <a:spAutoFit/>
          </a:bodyPr>
          <a:lstStyle/>
          <a:p>
            <a:pPr algn="l"/>
            <a:r>
              <a:rPr sz="850" b="1">
                <a:solidFill>
                  <a:srgbClr val="E55200"/>
                </a:solidFill>
                <a:latin typeface="Arial"/>
              </a:rPr>
              <a:t>ALIGNMENT</a:t>
            </a:r>
          </a:p>
        </p:txBody>
      </p:sp>
      <p:sp>
        <p:nvSpPr>
          <p:cNvPr id="177" name="TextBox 176"/>
          <p:cNvSpPr txBox="1"/>
          <p:nvPr/>
        </p:nvSpPr>
        <p:spPr>
          <a:xfrm>
            <a:off x="8166100" y="6032500"/>
            <a:ext cx="3327400" cy="330200"/>
          </a:xfrm>
          <a:prstGeom prst="rect">
            <a:avLst/>
          </a:prstGeom>
          <a:noFill/>
        </p:spPr>
        <p:txBody>
          <a:bodyPr wrap="square" lIns="0" rIns="0" tIns="0" bIns="0" anchor="t">
            <a:spAutoFit/>
          </a:bodyPr>
          <a:lstStyle/>
          <a:p>
            <a:pPr algn="l">
              <a:lnSpc>
                <a:spcPct val="110000"/>
              </a:lnSpc>
            </a:pPr>
            <a:r>
              <a:rPr sz="900" b="0">
                <a:solidFill>
                  <a:srgbClr val="26262A"/>
                </a:solidFill>
                <a:latin typeface="Arial"/>
              </a:rPr>
              <a:t>Left-align text. Centre only key numbers and single-line labels.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COLOUR IN USE</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Mostly white and ink, orange only where the eye must land</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0.6</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Triatra Template PPT 2026 V3; design references collected for this guide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TextBox 127"/>
          <p:cNvSpPr txBox="1"/>
          <p:nvPr/>
        </p:nvSpPr>
        <p:spPr>
          <a:xfrm>
            <a:off x="571500" y="1066800"/>
            <a:ext cx="11049000" cy="177800"/>
          </a:xfrm>
          <a:prstGeom prst="rect">
            <a:avLst/>
          </a:prstGeom>
          <a:noFill/>
        </p:spPr>
        <p:txBody>
          <a:bodyPr wrap="square" lIns="0" rIns="0" tIns="0" bIns="0" anchor="t">
            <a:spAutoFit/>
          </a:bodyPr>
          <a:lstStyle/>
          <a:p>
            <a:pPr algn="l"/>
            <a:r>
              <a:rPr sz="850" b="1">
                <a:solidFill>
                  <a:srgbClr val="80350E"/>
                </a:solidFill>
                <a:latin typeface="Arial"/>
              </a:rPr>
              <a:t>1 · PROPORTION ON A CONTENT SLIDE</a:t>
            </a:r>
          </a:p>
        </p:txBody>
      </p:sp>
      <p:sp>
        <p:nvSpPr>
          <p:cNvPr id="129" name="Rectangle 128"/>
          <p:cNvSpPr/>
          <p:nvPr/>
        </p:nvSpPr>
        <p:spPr>
          <a:xfrm>
            <a:off x="571500" y="1282700"/>
            <a:ext cx="1104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0" name="Rectangle 129"/>
          <p:cNvSpPr/>
          <p:nvPr/>
        </p:nvSpPr>
        <p:spPr>
          <a:xfrm>
            <a:off x="571500" y="1397000"/>
            <a:ext cx="6629400" cy="3810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1" name="TextBox 130"/>
          <p:cNvSpPr txBox="1"/>
          <p:nvPr/>
        </p:nvSpPr>
        <p:spPr>
          <a:xfrm>
            <a:off x="673100" y="1397000"/>
            <a:ext cx="6502400" cy="381000"/>
          </a:xfrm>
          <a:prstGeom prst="rect">
            <a:avLst/>
          </a:prstGeom>
          <a:noFill/>
        </p:spPr>
        <p:txBody>
          <a:bodyPr wrap="square" lIns="0" rIns="0" tIns="0" bIns="0" anchor="ctr">
            <a:spAutoFit/>
          </a:bodyPr>
          <a:lstStyle/>
          <a:p>
            <a:pPr algn="l"/>
            <a:r>
              <a:rPr sz="850" b="1">
                <a:solidFill>
                  <a:srgbClr val="6E7B84"/>
                </a:solidFill>
                <a:latin typeface="Arial"/>
              </a:rPr>
              <a:t>60% White / Wash — background, cards</a:t>
            </a:r>
          </a:p>
        </p:txBody>
      </p:sp>
      <p:sp>
        <p:nvSpPr>
          <p:cNvPr id="132" name="Rectangle 131"/>
          <p:cNvSpPr/>
          <p:nvPr/>
        </p:nvSpPr>
        <p:spPr>
          <a:xfrm>
            <a:off x="7200900" y="1397000"/>
            <a:ext cx="2762250" cy="3810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3" name="TextBox 132"/>
          <p:cNvSpPr txBox="1"/>
          <p:nvPr/>
        </p:nvSpPr>
        <p:spPr>
          <a:xfrm>
            <a:off x="7302500" y="1397000"/>
            <a:ext cx="2635250" cy="381000"/>
          </a:xfrm>
          <a:prstGeom prst="rect">
            <a:avLst/>
          </a:prstGeom>
          <a:noFill/>
        </p:spPr>
        <p:txBody>
          <a:bodyPr wrap="square" lIns="0" rIns="0" tIns="0" bIns="0" anchor="ctr">
            <a:spAutoFit/>
          </a:bodyPr>
          <a:lstStyle/>
          <a:p>
            <a:pPr algn="l"/>
            <a:r>
              <a:rPr sz="850" b="1">
                <a:solidFill>
                  <a:srgbClr val="FFFFFF"/>
                </a:solidFill>
                <a:latin typeface="Arial"/>
              </a:rPr>
              <a:t>25% Ink / Muted — text</a:t>
            </a:r>
          </a:p>
        </p:txBody>
      </p:sp>
      <p:sp>
        <p:nvSpPr>
          <p:cNvPr id="134" name="Rectangle 133"/>
          <p:cNvSpPr/>
          <p:nvPr/>
        </p:nvSpPr>
        <p:spPr>
          <a:xfrm>
            <a:off x="9963150" y="1397000"/>
            <a:ext cx="1104900" cy="3810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5" name="TextBox 134"/>
          <p:cNvSpPr txBox="1"/>
          <p:nvPr/>
        </p:nvSpPr>
        <p:spPr>
          <a:xfrm>
            <a:off x="10064750" y="1397000"/>
            <a:ext cx="977900" cy="381000"/>
          </a:xfrm>
          <a:prstGeom prst="rect">
            <a:avLst/>
          </a:prstGeom>
          <a:noFill/>
        </p:spPr>
        <p:txBody>
          <a:bodyPr wrap="square" lIns="0" rIns="0" tIns="0" bIns="0" anchor="ctr">
            <a:spAutoFit/>
          </a:bodyPr>
          <a:lstStyle/>
          <a:p>
            <a:pPr algn="l"/>
            <a:r>
              <a:rPr sz="850" b="1">
                <a:solidFill>
                  <a:srgbClr val="FFFFFF"/>
                </a:solidFill>
                <a:latin typeface="Arial"/>
              </a:rPr>
              <a:t>10% Orange</a:t>
            </a:r>
          </a:p>
        </p:txBody>
      </p:sp>
      <p:sp>
        <p:nvSpPr>
          <p:cNvPr id="136" name="Rectangle 135"/>
          <p:cNvSpPr/>
          <p:nvPr/>
        </p:nvSpPr>
        <p:spPr>
          <a:xfrm>
            <a:off x="11068050" y="1397000"/>
            <a:ext cx="552450" cy="381000"/>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7" name="TextBox 136"/>
          <p:cNvSpPr txBox="1"/>
          <p:nvPr/>
        </p:nvSpPr>
        <p:spPr>
          <a:xfrm>
            <a:off x="11169650" y="1397000"/>
            <a:ext cx="425450" cy="381000"/>
          </a:xfrm>
          <a:prstGeom prst="rect">
            <a:avLst/>
          </a:prstGeom>
          <a:noFill/>
        </p:spPr>
        <p:txBody>
          <a:bodyPr wrap="square" lIns="0" rIns="0" tIns="0" bIns="0" anchor="ctr">
            <a:spAutoFit/>
          </a:bodyPr>
          <a:lstStyle/>
          <a:p>
            <a:pPr algn="l"/>
            <a:r>
              <a:rPr sz="850" b="1">
                <a:solidFill>
                  <a:srgbClr val="FFFFFF"/>
                </a:solidFill>
                <a:latin typeface="Arial"/>
              </a:rPr>
              <a:t>5%</a:t>
            </a:r>
          </a:p>
        </p:txBody>
      </p:sp>
      <p:sp>
        <p:nvSpPr>
          <p:cNvPr id="138" name="TextBox 137"/>
          <p:cNvSpPr txBox="1"/>
          <p:nvPr/>
        </p:nvSpPr>
        <p:spPr>
          <a:xfrm>
            <a:off x="571500" y="1854200"/>
            <a:ext cx="11049000" cy="177800"/>
          </a:xfrm>
          <a:prstGeom prst="rect">
            <a:avLst/>
          </a:prstGeom>
          <a:noFill/>
        </p:spPr>
        <p:txBody>
          <a:bodyPr wrap="square" lIns="0" rIns="0" tIns="0" bIns="0" anchor="t">
            <a:spAutoFit/>
          </a:bodyPr>
          <a:lstStyle/>
          <a:p>
            <a:pPr algn="l"/>
            <a:r>
              <a:rPr sz="850" b="0">
                <a:solidFill>
                  <a:srgbClr val="6E7B84"/>
                </a:solidFill>
                <a:latin typeface="Arial"/>
              </a:rPr>
              <a:t>Brown, Sand and Peach are accents for takeaways, phases and chart series. Orange full-bleed is reserved for the cover, dividers, appendix and closing.</a:t>
            </a:r>
          </a:p>
        </p:txBody>
      </p:sp>
      <p:sp>
        <p:nvSpPr>
          <p:cNvPr id="139" name="TextBox 138"/>
          <p:cNvSpPr txBox="1"/>
          <p:nvPr/>
        </p:nvSpPr>
        <p:spPr>
          <a:xfrm>
            <a:off x="571500" y="2209800"/>
            <a:ext cx="11049000" cy="177800"/>
          </a:xfrm>
          <a:prstGeom prst="rect">
            <a:avLst/>
          </a:prstGeom>
          <a:noFill/>
        </p:spPr>
        <p:txBody>
          <a:bodyPr wrap="square" lIns="0" rIns="0" tIns="0" bIns="0" anchor="t">
            <a:spAutoFit/>
          </a:bodyPr>
          <a:lstStyle/>
          <a:p>
            <a:pPr algn="l"/>
            <a:r>
              <a:rPr sz="850" b="1">
                <a:solidFill>
                  <a:srgbClr val="80350E"/>
                </a:solidFill>
                <a:latin typeface="Arial"/>
              </a:rPr>
              <a:t>2 · CHART SERIES ORDER</a:t>
            </a:r>
          </a:p>
        </p:txBody>
      </p:sp>
      <p:sp>
        <p:nvSpPr>
          <p:cNvPr id="140" name="Rectangle 139"/>
          <p:cNvSpPr/>
          <p:nvPr/>
        </p:nvSpPr>
        <p:spPr>
          <a:xfrm>
            <a:off x="571500" y="2425700"/>
            <a:ext cx="1104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1" name="Rectangle 140"/>
          <p:cNvSpPr/>
          <p:nvPr/>
        </p:nvSpPr>
        <p:spPr>
          <a:xfrm>
            <a:off x="571500" y="2540000"/>
            <a:ext cx="330200" cy="2286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2" name="TextBox 141"/>
          <p:cNvSpPr txBox="1"/>
          <p:nvPr/>
        </p:nvSpPr>
        <p:spPr>
          <a:xfrm>
            <a:off x="977900" y="2565400"/>
            <a:ext cx="1422400" cy="177800"/>
          </a:xfrm>
          <a:prstGeom prst="rect">
            <a:avLst/>
          </a:prstGeom>
          <a:noFill/>
        </p:spPr>
        <p:txBody>
          <a:bodyPr wrap="square" lIns="0" rIns="0" tIns="0" bIns="0" anchor="t">
            <a:spAutoFit/>
          </a:bodyPr>
          <a:lstStyle/>
          <a:p>
            <a:pPr algn="l"/>
            <a:r>
              <a:rPr sz="850" b="1">
                <a:solidFill>
                  <a:srgbClr val="26262A"/>
                </a:solidFill>
                <a:latin typeface="Arial"/>
              </a:rPr>
              <a:t>1 · Focus / Triatra</a:t>
            </a:r>
          </a:p>
        </p:txBody>
      </p:sp>
      <p:sp>
        <p:nvSpPr>
          <p:cNvPr id="143" name="Rectangle 142"/>
          <p:cNvSpPr/>
          <p:nvPr/>
        </p:nvSpPr>
        <p:spPr>
          <a:xfrm>
            <a:off x="2438400" y="2540000"/>
            <a:ext cx="330200" cy="228600"/>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4" name="TextBox 143"/>
          <p:cNvSpPr txBox="1"/>
          <p:nvPr/>
        </p:nvSpPr>
        <p:spPr>
          <a:xfrm>
            <a:off x="2844800" y="2565400"/>
            <a:ext cx="1422400" cy="177800"/>
          </a:xfrm>
          <a:prstGeom prst="rect">
            <a:avLst/>
          </a:prstGeom>
          <a:noFill/>
        </p:spPr>
        <p:txBody>
          <a:bodyPr wrap="square" lIns="0" rIns="0" tIns="0" bIns="0" anchor="t">
            <a:spAutoFit/>
          </a:bodyPr>
          <a:lstStyle/>
          <a:p>
            <a:pPr algn="l"/>
            <a:r>
              <a:rPr sz="850" b="1">
                <a:solidFill>
                  <a:srgbClr val="26262A"/>
                </a:solidFill>
                <a:latin typeface="Arial"/>
              </a:rPr>
              <a:t>2 · Second series</a:t>
            </a:r>
          </a:p>
        </p:txBody>
      </p:sp>
      <p:sp>
        <p:nvSpPr>
          <p:cNvPr id="145" name="Rectangle 144"/>
          <p:cNvSpPr/>
          <p:nvPr/>
        </p:nvSpPr>
        <p:spPr>
          <a:xfrm>
            <a:off x="4305300" y="2540000"/>
            <a:ext cx="330200" cy="228600"/>
          </a:xfrm>
          <a:prstGeom prst="rect">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6" name="TextBox 145"/>
          <p:cNvSpPr txBox="1"/>
          <p:nvPr/>
        </p:nvSpPr>
        <p:spPr>
          <a:xfrm>
            <a:off x="4711700" y="2565400"/>
            <a:ext cx="1422400" cy="177800"/>
          </a:xfrm>
          <a:prstGeom prst="rect">
            <a:avLst/>
          </a:prstGeom>
          <a:noFill/>
        </p:spPr>
        <p:txBody>
          <a:bodyPr wrap="square" lIns="0" rIns="0" tIns="0" bIns="0" anchor="t">
            <a:spAutoFit/>
          </a:bodyPr>
          <a:lstStyle/>
          <a:p>
            <a:pPr algn="l"/>
            <a:r>
              <a:rPr sz="850" b="1">
                <a:solidFill>
                  <a:srgbClr val="26262A"/>
                </a:solidFill>
                <a:latin typeface="Arial"/>
              </a:rPr>
              <a:t>3 · Third</a:t>
            </a:r>
          </a:p>
        </p:txBody>
      </p:sp>
      <p:sp>
        <p:nvSpPr>
          <p:cNvPr id="147" name="Rectangle 146"/>
          <p:cNvSpPr/>
          <p:nvPr/>
        </p:nvSpPr>
        <p:spPr>
          <a:xfrm>
            <a:off x="6172200" y="2540000"/>
            <a:ext cx="330200" cy="228600"/>
          </a:xfrm>
          <a:prstGeom prst="rect">
            <a:avLst/>
          </a:prstGeom>
          <a:solidFill>
            <a:srgbClr val="F0A878"/>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8" name="TextBox 147"/>
          <p:cNvSpPr txBox="1"/>
          <p:nvPr/>
        </p:nvSpPr>
        <p:spPr>
          <a:xfrm>
            <a:off x="6578600" y="2565400"/>
            <a:ext cx="1422400" cy="177800"/>
          </a:xfrm>
          <a:prstGeom prst="rect">
            <a:avLst/>
          </a:prstGeom>
          <a:noFill/>
        </p:spPr>
        <p:txBody>
          <a:bodyPr wrap="square" lIns="0" rIns="0" tIns="0" bIns="0" anchor="t">
            <a:spAutoFit/>
          </a:bodyPr>
          <a:lstStyle/>
          <a:p>
            <a:pPr algn="l"/>
            <a:r>
              <a:rPr sz="850" b="1">
                <a:solidFill>
                  <a:srgbClr val="26262A"/>
                </a:solidFill>
                <a:latin typeface="Arial"/>
              </a:rPr>
              <a:t>4 · Fourth</a:t>
            </a:r>
          </a:p>
        </p:txBody>
      </p:sp>
      <p:sp>
        <p:nvSpPr>
          <p:cNvPr id="149" name="Rectangle 148"/>
          <p:cNvSpPr/>
          <p:nvPr/>
        </p:nvSpPr>
        <p:spPr>
          <a:xfrm>
            <a:off x="8039100" y="2540000"/>
            <a:ext cx="330200" cy="2286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0" name="TextBox 149"/>
          <p:cNvSpPr txBox="1"/>
          <p:nvPr/>
        </p:nvSpPr>
        <p:spPr>
          <a:xfrm>
            <a:off x="8445500" y="2565400"/>
            <a:ext cx="1422400" cy="177800"/>
          </a:xfrm>
          <a:prstGeom prst="rect">
            <a:avLst/>
          </a:prstGeom>
          <a:noFill/>
        </p:spPr>
        <p:txBody>
          <a:bodyPr wrap="square" lIns="0" rIns="0" tIns="0" bIns="0" anchor="t">
            <a:spAutoFit/>
          </a:bodyPr>
          <a:lstStyle/>
          <a:p>
            <a:pPr algn="l"/>
            <a:r>
              <a:rPr sz="850" b="1">
                <a:solidFill>
                  <a:srgbClr val="26262A"/>
                </a:solidFill>
                <a:latin typeface="Arial"/>
              </a:rPr>
              <a:t>5 · Others / benchmark</a:t>
            </a:r>
          </a:p>
        </p:txBody>
      </p:sp>
      <p:sp>
        <p:nvSpPr>
          <p:cNvPr id="151" name="Rectangle 150"/>
          <p:cNvSpPr/>
          <p:nvPr/>
        </p:nvSpPr>
        <p:spPr>
          <a:xfrm>
            <a:off x="9906000" y="2540000"/>
            <a:ext cx="330200" cy="228600"/>
          </a:xfrm>
          <a:prstGeom prst="rect">
            <a:avLst/>
          </a:prstGeom>
          <a:solidFill>
            <a:srgbClr val="6E7B8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2" name="TextBox 151"/>
          <p:cNvSpPr txBox="1"/>
          <p:nvPr/>
        </p:nvSpPr>
        <p:spPr>
          <a:xfrm>
            <a:off x="10312400" y="2565400"/>
            <a:ext cx="1422400" cy="177800"/>
          </a:xfrm>
          <a:prstGeom prst="rect">
            <a:avLst/>
          </a:prstGeom>
          <a:noFill/>
        </p:spPr>
        <p:txBody>
          <a:bodyPr wrap="square" lIns="0" rIns="0" tIns="0" bIns="0" anchor="t">
            <a:spAutoFit/>
          </a:bodyPr>
          <a:lstStyle/>
          <a:p>
            <a:pPr algn="l"/>
            <a:r>
              <a:rPr sz="850" b="1">
                <a:solidFill>
                  <a:srgbClr val="26262A"/>
                </a:solidFill>
                <a:latin typeface="Arial"/>
              </a:rPr>
              <a:t>6 · Total / reference</a:t>
            </a:r>
          </a:p>
        </p:txBody>
      </p:sp>
      <p:sp>
        <p:nvSpPr>
          <p:cNvPr id="153" name="TextBox 152"/>
          <p:cNvSpPr txBox="1"/>
          <p:nvPr/>
        </p:nvSpPr>
        <p:spPr>
          <a:xfrm>
            <a:off x="571500" y="2844800"/>
            <a:ext cx="11049000" cy="177800"/>
          </a:xfrm>
          <a:prstGeom prst="rect">
            <a:avLst/>
          </a:prstGeom>
          <a:noFill/>
        </p:spPr>
        <p:txBody>
          <a:bodyPr wrap="square" lIns="0" rIns="0" tIns="0" bIns="0" anchor="t">
            <a:spAutoFit/>
          </a:bodyPr>
          <a:lstStyle/>
          <a:p>
            <a:pPr algn="l"/>
            <a:r>
              <a:rPr sz="850" b="0">
                <a:solidFill>
                  <a:srgbClr val="6E7B84"/>
                </a:solidFill>
                <a:latin typeface="Arial"/>
              </a:rPr>
              <a:t>Competitors and 'others' always in Grey so the focus series stays readable, even when printed in black and white.</a:t>
            </a:r>
          </a:p>
        </p:txBody>
      </p:sp>
      <p:sp>
        <p:nvSpPr>
          <p:cNvPr id="154" name="TextBox 153"/>
          <p:cNvSpPr txBox="1"/>
          <p:nvPr/>
        </p:nvSpPr>
        <p:spPr>
          <a:xfrm>
            <a:off x="571500" y="3200400"/>
            <a:ext cx="11049000" cy="177800"/>
          </a:xfrm>
          <a:prstGeom prst="rect">
            <a:avLst/>
          </a:prstGeom>
          <a:noFill/>
        </p:spPr>
        <p:txBody>
          <a:bodyPr wrap="square" lIns="0" rIns="0" tIns="0" bIns="0" anchor="t">
            <a:spAutoFit/>
          </a:bodyPr>
          <a:lstStyle/>
          <a:p>
            <a:pPr algn="l"/>
            <a:r>
              <a:rPr sz="850" b="1">
                <a:solidFill>
                  <a:srgbClr val="80350E"/>
                </a:solidFill>
                <a:latin typeface="Arial"/>
              </a:rPr>
              <a:t>3 · DO AND DON'T</a:t>
            </a:r>
          </a:p>
        </p:txBody>
      </p:sp>
      <p:sp>
        <p:nvSpPr>
          <p:cNvPr id="155" name="Rectangle 154"/>
          <p:cNvSpPr/>
          <p:nvPr/>
        </p:nvSpPr>
        <p:spPr>
          <a:xfrm>
            <a:off x="571500" y="3416300"/>
            <a:ext cx="1104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6" name="TextBox 155"/>
          <p:cNvSpPr txBox="1"/>
          <p:nvPr/>
        </p:nvSpPr>
        <p:spPr>
          <a:xfrm>
            <a:off x="571500" y="3556000"/>
            <a:ext cx="762000" cy="152400"/>
          </a:xfrm>
          <a:prstGeom prst="rect">
            <a:avLst/>
          </a:prstGeom>
          <a:noFill/>
        </p:spPr>
        <p:txBody>
          <a:bodyPr wrap="square" lIns="0" rIns="0" tIns="0" bIns="0" anchor="t">
            <a:spAutoFit/>
          </a:bodyPr>
          <a:lstStyle/>
          <a:p>
            <a:pPr algn="l"/>
            <a:r>
              <a:rPr sz="850" b="1" spc="100">
                <a:solidFill>
                  <a:srgbClr val="80350E"/>
                </a:solidFill>
                <a:latin typeface="Arial"/>
              </a:rPr>
              <a:t>DO</a:t>
            </a:r>
          </a:p>
        </p:txBody>
      </p:sp>
      <p:sp>
        <p:nvSpPr>
          <p:cNvPr id="157" name="Rectangle 156"/>
          <p:cNvSpPr/>
          <p:nvPr/>
        </p:nvSpPr>
        <p:spPr>
          <a:xfrm>
            <a:off x="571500" y="3759200"/>
            <a:ext cx="3581400" cy="66040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8" name="TextBox 157"/>
          <p:cNvSpPr txBox="1"/>
          <p:nvPr/>
        </p:nvSpPr>
        <p:spPr>
          <a:xfrm>
            <a:off x="571500" y="3759200"/>
            <a:ext cx="3581400" cy="660400"/>
          </a:xfrm>
          <a:prstGeom prst="rect">
            <a:avLst/>
          </a:prstGeom>
          <a:noFill/>
        </p:spPr>
        <p:txBody>
          <a:bodyPr wrap="square" lIns="0" rIns="0" tIns="0" bIns="0" anchor="ctr">
            <a:spAutoFit/>
          </a:bodyPr>
          <a:lstStyle/>
          <a:p>
            <a:pPr algn="ctr"/>
            <a:r>
              <a:rPr sz="1600" b="1">
                <a:solidFill>
                  <a:srgbClr val="E55200"/>
                </a:solidFill>
                <a:latin typeface="Arial"/>
              </a:rPr>
              <a:t>Rp 1.240 jt</a:t>
            </a:r>
          </a:p>
        </p:txBody>
      </p:sp>
      <p:sp>
        <p:nvSpPr>
          <p:cNvPr id="159" name="TextBox 158"/>
          <p:cNvSpPr txBox="1"/>
          <p:nvPr/>
        </p:nvSpPr>
        <p:spPr>
          <a:xfrm>
            <a:off x="571500" y="4470400"/>
            <a:ext cx="3581400" cy="304800"/>
          </a:xfrm>
          <a:prstGeom prst="rect">
            <a:avLst/>
          </a:prstGeom>
          <a:noFill/>
        </p:spPr>
        <p:txBody>
          <a:bodyPr wrap="square" lIns="0" rIns="0" tIns="0" bIns="0" anchor="t">
            <a:spAutoFit/>
          </a:bodyPr>
          <a:lstStyle/>
          <a:p>
            <a:pPr algn="l"/>
            <a:r>
              <a:rPr sz="850" b="0">
                <a:solidFill>
                  <a:srgbClr val="26262A"/>
                </a:solidFill>
                <a:latin typeface="Arial"/>
              </a:rPr>
              <a:t>Orange number on white</a:t>
            </a:r>
          </a:p>
        </p:txBody>
      </p:sp>
      <p:sp>
        <p:nvSpPr>
          <p:cNvPr id="160" name="TextBox 159"/>
          <p:cNvSpPr txBox="1"/>
          <p:nvPr/>
        </p:nvSpPr>
        <p:spPr>
          <a:xfrm>
            <a:off x="571500" y="4953000"/>
            <a:ext cx="762000" cy="152400"/>
          </a:xfrm>
          <a:prstGeom prst="rect">
            <a:avLst/>
          </a:prstGeom>
          <a:noFill/>
        </p:spPr>
        <p:txBody>
          <a:bodyPr wrap="square" lIns="0" rIns="0" tIns="0" bIns="0" anchor="t">
            <a:spAutoFit/>
          </a:bodyPr>
          <a:lstStyle/>
          <a:p>
            <a:pPr algn="l"/>
            <a:r>
              <a:rPr sz="850" b="1" spc="100">
                <a:solidFill>
                  <a:srgbClr val="E55200"/>
                </a:solidFill>
                <a:latin typeface="Arial"/>
              </a:rPr>
              <a:t>DON'T</a:t>
            </a:r>
          </a:p>
        </p:txBody>
      </p:sp>
      <p:sp>
        <p:nvSpPr>
          <p:cNvPr id="161" name="Rectangle 160"/>
          <p:cNvSpPr/>
          <p:nvPr/>
        </p:nvSpPr>
        <p:spPr>
          <a:xfrm>
            <a:off x="571500" y="5156200"/>
            <a:ext cx="3581400" cy="660400"/>
          </a:xfrm>
          <a:prstGeom prst="rect">
            <a:avLst/>
          </a:prstGeom>
          <a:solidFill>
            <a:srgbClr val="F0A878"/>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2" name="TextBox 161"/>
          <p:cNvSpPr txBox="1"/>
          <p:nvPr/>
        </p:nvSpPr>
        <p:spPr>
          <a:xfrm>
            <a:off x="571500" y="5156200"/>
            <a:ext cx="3581400" cy="660400"/>
          </a:xfrm>
          <a:prstGeom prst="rect">
            <a:avLst/>
          </a:prstGeom>
          <a:noFill/>
        </p:spPr>
        <p:txBody>
          <a:bodyPr wrap="square" lIns="0" rIns="0" tIns="0" bIns="0" anchor="ctr">
            <a:spAutoFit/>
          </a:bodyPr>
          <a:lstStyle/>
          <a:p>
            <a:pPr algn="ctr"/>
            <a:r>
              <a:rPr sz="1600" b="1">
                <a:solidFill>
                  <a:srgbClr val="E55200"/>
                </a:solidFill>
                <a:latin typeface="Arial"/>
              </a:rPr>
              <a:t>Rp 1.240 jt</a:t>
            </a:r>
          </a:p>
        </p:txBody>
      </p:sp>
      <p:sp>
        <p:nvSpPr>
          <p:cNvPr id="163" name="TextBox 162"/>
          <p:cNvSpPr txBox="1"/>
          <p:nvPr/>
        </p:nvSpPr>
        <p:spPr>
          <a:xfrm>
            <a:off x="571500" y="5867400"/>
            <a:ext cx="3581400" cy="304800"/>
          </a:xfrm>
          <a:prstGeom prst="rect">
            <a:avLst/>
          </a:prstGeom>
          <a:noFill/>
        </p:spPr>
        <p:txBody>
          <a:bodyPr wrap="square" lIns="0" rIns="0" tIns="0" bIns="0" anchor="t">
            <a:spAutoFit/>
          </a:bodyPr>
          <a:lstStyle/>
          <a:p>
            <a:pPr algn="l"/>
            <a:r>
              <a:rPr sz="850" b="0">
                <a:solidFill>
                  <a:srgbClr val="6E7B84"/>
                </a:solidFill>
                <a:latin typeface="Arial"/>
              </a:rPr>
              <a:t>Orange on peach — too low contrast</a:t>
            </a:r>
          </a:p>
        </p:txBody>
      </p:sp>
      <p:sp>
        <p:nvSpPr>
          <p:cNvPr id="164" name="TextBox 163"/>
          <p:cNvSpPr txBox="1"/>
          <p:nvPr/>
        </p:nvSpPr>
        <p:spPr>
          <a:xfrm>
            <a:off x="4305300" y="3556000"/>
            <a:ext cx="762000" cy="152400"/>
          </a:xfrm>
          <a:prstGeom prst="rect">
            <a:avLst/>
          </a:prstGeom>
          <a:noFill/>
        </p:spPr>
        <p:txBody>
          <a:bodyPr wrap="square" lIns="0" rIns="0" tIns="0" bIns="0" anchor="t">
            <a:spAutoFit/>
          </a:bodyPr>
          <a:lstStyle/>
          <a:p>
            <a:pPr algn="l"/>
            <a:r>
              <a:rPr sz="850" b="1" spc="100">
                <a:solidFill>
                  <a:srgbClr val="80350E"/>
                </a:solidFill>
                <a:latin typeface="Arial"/>
              </a:rPr>
              <a:t>DO</a:t>
            </a:r>
          </a:p>
        </p:txBody>
      </p:sp>
      <p:sp>
        <p:nvSpPr>
          <p:cNvPr id="165" name="Rectangle 164"/>
          <p:cNvSpPr/>
          <p:nvPr/>
        </p:nvSpPr>
        <p:spPr>
          <a:xfrm>
            <a:off x="4305300" y="3759200"/>
            <a:ext cx="3581400" cy="660400"/>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6" name="TextBox 165"/>
          <p:cNvSpPr txBox="1"/>
          <p:nvPr/>
        </p:nvSpPr>
        <p:spPr>
          <a:xfrm>
            <a:off x="4305300" y="3759200"/>
            <a:ext cx="3581400" cy="660400"/>
          </a:xfrm>
          <a:prstGeom prst="rect">
            <a:avLst/>
          </a:prstGeom>
          <a:noFill/>
        </p:spPr>
        <p:txBody>
          <a:bodyPr wrap="square" lIns="0" rIns="0" tIns="0" bIns="0" anchor="ctr">
            <a:spAutoFit/>
          </a:bodyPr>
          <a:lstStyle/>
          <a:p>
            <a:pPr algn="ctr"/>
            <a:r>
              <a:rPr sz="1600" b="1">
                <a:solidFill>
                  <a:srgbClr val="FFFFFF"/>
                </a:solidFill>
                <a:latin typeface="Arial"/>
              </a:rPr>
              <a:t>Key takeaway</a:t>
            </a:r>
          </a:p>
        </p:txBody>
      </p:sp>
      <p:sp>
        <p:nvSpPr>
          <p:cNvPr id="167" name="TextBox 166"/>
          <p:cNvSpPr txBox="1"/>
          <p:nvPr/>
        </p:nvSpPr>
        <p:spPr>
          <a:xfrm>
            <a:off x="4305300" y="4470400"/>
            <a:ext cx="3581400" cy="304800"/>
          </a:xfrm>
          <a:prstGeom prst="rect">
            <a:avLst/>
          </a:prstGeom>
          <a:noFill/>
        </p:spPr>
        <p:txBody>
          <a:bodyPr wrap="square" lIns="0" rIns="0" tIns="0" bIns="0" anchor="t">
            <a:spAutoFit/>
          </a:bodyPr>
          <a:lstStyle/>
          <a:p>
            <a:pPr algn="l"/>
            <a:r>
              <a:rPr sz="850" b="0">
                <a:solidFill>
                  <a:srgbClr val="26262A"/>
                </a:solidFill>
                <a:latin typeface="Arial"/>
              </a:rPr>
              <a:t>White text on Brown or Orange</a:t>
            </a:r>
          </a:p>
        </p:txBody>
      </p:sp>
      <p:sp>
        <p:nvSpPr>
          <p:cNvPr id="168" name="TextBox 167"/>
          <p:cNvSpPr txBox="1"/>
          <p:nvPr/>
        </p:nvSpPr>
        <p:spPr>
          <a:xfrm>
            <a:off x="4305300" y="4953000"/>
            <a:ext cx="762000" cy="152400"/>
          </a:xfrm>
          <a:prstGeom prst="rect">
            <a:avLst/>
          </a:prstGeom>
          <a:noFill/>
        </p:spPr>
        <p:txBody>
          <a:bodyPr wrap="square" lIns="0" rIns="0" tIns="0" bIns="0" anchor="t">
            <a:spAutoFit/>
          </a:bodyPr>
          <a:lstStyle/>
          <a:p>
            <a:pPr algn="l"/>
            <a:r>
              <a:rPr sz="850" b="1" spc="100">
                <a:solidFill>
                  <a:srgbClr val="E55200"/>
                </a:solidFill>
                <a:latin typeface="Arial"/>
              </a:rPr>
              <a:t>DON'T</a:t>
            </a:r>
          </a:p>
        </p:txBody>
      </p:sp>
      <p:sp>
        <p:nvSpPr>
          <p:cNvPr id="169" name="Rectangle 168"/>
          <p:cNvSpPr/>
          <p:nvPr/>
        </p:nvSpPr>
        <p:spPr>
          <a:xfrm>
            <a:off x="4305300" y="5156200"/>
            <a:ext cx="3581400" cy="6604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0" name="TextBox 169"/>
          <p:cNvSpPr txBox="1"/>
          <p:nvPr/>
        </p:nvSpPr>
        <p:spPr>
          <a:xfrm>
            <a:off x="4305300" y="5156200"/>
            <a:ext cx="3581400" cy="660400"/>
          </a:xfrm>
          <a:prstGeom prst="rect">
            <a:avLst/>
          </a:prstGeom>
          <a:noFill/>
        </p:spPr>
        <p:txBody>
          <a:bodyPr wrap="square" lIns="0" rIns="0" tIns="0" bIns="0" anchor="ctr">
            <a:spAutoFit/>
          </a:bodyPr>
          <a:lstStyle/>
          <a:p>
            <a:pPr algn="ctr"/>
            <a:r>
              <a:rPr sz="1600" b="1">
                <a:solidFill>
                  <a:srgbClr val="B8BEC4"/>
                </a:solidFill>
                <a:latin typeface="Arial"/>
              </a:rPr>
              <a:t>Key takeaway</a:t>
            </a:r>
          </a:p>
        </p:txBody>
      </p:sp>
      <p:sp>
        <p:nvSpPr>
          <p:cNvPr id="171" name="TextBox 170"/>
          <p:cNvSpPr txBox="1"/>
          <p:nvPr/>
        </p:nvSpPr>
        <p:spPr>
          <a:xfrm>
            <a:off x="4305300" y="5867400"/>
            <a:ext cx="3581400" cy="304800"/>
          </a:xfrm>
          <a:prstGeom prst="rect">
            <a:avLst/>
          </a:prstGeom>
          <a:noFill/>
        </p:spPr>
        <p:txBody>
          <a:bodyPr wrap="square" lIns="0" rIns="0" tIns="0" bIns="0" anchor="t">
            <a:spAutoFit/>
          </a:bodyPr>
          <a:lstStyle/>
          <a:p>
            <a:pPr algn="l"/>
            <a:r>
              <a:rPr sz="850" b="0">
                <a:solidFill>
                  <a:srgbClr val="6E7B84"/>
                </a:solidFill>
                <a:latin typeface="Arial"/>
              </a:rPr>
              <a:t>Grey text on Orange</a:t>
            </a:r>
          </a:p>
        </p:txBody>
      </p:sp>
      <p:sp>
        <p:nvSpPr>
          <p:cNvPr id="172" name="TextBox 171"/>
          <p:cNvSpPr txBox="1"/>
          <p:nvPr/>
        </p:nvSpPr>
        <p:spPr>
          <a:xfrm>
            <a:off x="8039100" y="3556000"/>
            <a:ext cx="762000" cy="152400"/>
          </a:xfrm>
          <a:prstGeom prst="rect">
            <a:avLst/>
          </a:prstGeom>
          <a:noFill/>
        </p:spPr>
        <p:txBody>
          <a:bodyPr wrap="square" lIns="0" rIns="0" tIns="0" bIns="0" anchor="t">
            <a:spAutoFit/>
          </a:bodyPr>
          <a:lstStyle/>
          <a:p>
            <a:pPr algn="l"/>
            <a:r>
              <a:rPr sz="850" b="1" spc="100">
                <a:solidFill>
                  <a:srgbClr val="80350E"/>
                </a:solidFill>
                <a:latin typeface="Arial"/>
              </a:rPr>
              <a:t>DO</a:t>
            </a:r>
          </a:p>
        </p:txBody>
      </p:sp>
      <p:sp>
        <p:nvSpPr>
          <p:cNvPr id="173" name="Rectangle 172"/>
          <p:cNvSpPr/>
          <p:nvPr/>
        </p:nvSpPr>
        <p:spPr>
          <a:xfrm>
            <a:off x="8039100" y="3759200"/>
            <a:ext cx="3581400" cy="660400"/>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4" name="TextBox 173"/>
          <p:cNvSpPr txBox="1"/>
          <p:nvPr/>
        </p:nvSpPr>
        <p:spPr>
          <a:xfrm>
            <a:off x="8039100" y="3759200"/>
            <a:ext cx="3581400" cy="660400"/>
          </a:xfrm>
          <a:prstGeom prst="rect">
            <a:avLst/>
          </a:prstGeom>
          <a:noFill/>
        </p:spPr>
        <p:txBody>
          <a:bodyPr wrap="square" lIns="0" rIns="0" tIns="0" bIns="0" anchor="ctr">
            <a:spAutoFit/>
          </a:bodyPr>
          <a:lstStyle/>
          <a:p>
            <a:pPr algn="ctr"/>
            <a:r>
              <a:rPr sz="1600" b="1">
                <a:solidFill>
                  <a:srgbClr val="26262A"/>
                </a:solidFill>
                <a:latin typeface="Arial"/>
              </a:rPr>
              <a:t>Neutral card</a:t>
            </a:r>
          </a:p>
        </p:txBody>
      </p:sp>
      <p:sp>
        <p:nvSpPr>
          <p:cNvPr id="175" name="TextBox 174"/>
          <p:cNvSpPr txBox="1"/>
          <p:nvPr/>
        </p:nvSpPr>
        <p:spPr>
          <a:xfrm>
            <a:off x="8039100" y="4470400"/>
            <a:ext cx="3581400" cy="304800"/>
          </a:xfrm>
          <a:prstGeom prst="rect">
            <a:avLst/>
          </a:prstGeom>
          <a:noFill/>
        </p:spPr>
        <p:txBody>
          <a:bodyPr wrap="square" lIns="0" rIns="0" tIns="0" bIns="0" anchor="t">
            <a:spAutoFit/>
          </a:bodyPr>
          <a:lstStyle/>
          <a:p>
            <a:pPr algn="l"/>
            <a:r>
              <a:rPr sz="850" b="0">
                <a:solidFill>
                  <a:srgbClr val="26262A"/>
                </a:solidFill>
                <a:latin typeface="Arial"/>
              </a:rPr>
              <a:t>Neutral card, one accent</a:t>
            </a:r>
          </a:p>
        </p:txBody>
      </p:sp>
      <p:sp>
        <p:nvSpPr>
          <p:cNvPr id="176" name="TextBox 175"/>
          <p:cNvSpPr txBox="1"/>
          <p:nvPr/>
        </p:nvSpPr>
        <p:spPr>
          <a:xfrm>
            <a:off x="8039100" y="4953000"/>
            <a:ext cx="762000" cy="152400"/>
          </a:xfrm>
          <a:prstGeom prst="rect">
            <a:avLst/>
          </a:prstGeom>
          <a:noFill/>
        </p:spPr>
        <p:txBody>
          <a:bodyPr wrap="square" lIns="0" rIns="0" tIns="0" bIns="0" anchor="t">
            <a:spAutoFit/>
          </a:bodyPr>
          <a:lstStyle/>
          <a:p>
            <a:pPr algn="l"/>
            <a:r>
              <a:rPr sz="850" b="1" spc="100">
                <a:solidFill>
                  <a:srgbClr val="E55200"/>
                </a:solidFill>
                <a:latin typeface="Arial"/>
              </a:rPr>
              <a:t>DON'T</a:t>
            </a:r>
          </a:p>
        </p:txBody>
      </p:sp>
      <p:sp>
        <p:nvSpPr>
          <p:cNvPr id="177" name="Rectangle 176"/>
          <p:cNvSpPr/>
          <p:nvPr/>
        </p:nvSpPr>
        <p:spPr>
          <a:xfrm>
            <a:off x="8039100" y="5156200"/>
            <a:ext cx="3581400" cy="6604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8" name="TextBox 177"/>
          <p:cNvSpPr txBox="1"/>
          <p:nvPr/>
        </p:nvSpPr>
        <p:spPr>
          <a:xfrm>
            <a:off x="8039100" y="5156200"/>
            <a:ext cx="3581400" cy="660400"/>
          </a:xfrm>
          <a:prstGeom prst="rect">
            <a:avLst/>
          </a:prstGeom>
          <a:noFill/>
        </p:spPr>
        <p:txBody>
          <a:bodyPr wrap="square" lIns="0" rIns="0" tIns="0" bIns="0" anchor="ctr">
            <a:spAutoFit/>
          </a:bodyPr>
          <a:lstStyle/>
          <a:p>
            <a:pPr algn="ctr"/>
            <a:r>
              <a:rPr sz="1600" b="1">
                <a:solidFill>
                  <a:srgbClr val="FFFFFF"/>
                </a:solidFill>
                <a:latin typeface="Arial"/>
              </a:rPr>
              <a:t>Orange card</a:t>
            </a:r>
          </a:p>
        </p:txBody>
      </p:sp>
      <p:sp>
        <p:nvSpPr>
          <p:cNvPr id="179" name="TextBox 178"/>
          <p:cNvSpPr txBox="1"/>
          <p:nvPr/>
        </p:nvSpPr>
        <p:spPr>
          <a:xfrm>
            <a:off x="8039100" y="5867400"/>
            <a:ext cx="3581400" cy="304800"/>
          </a:xfrm>
          <a:prstGeom prst="rect">
            <a:avLst/>
          </a:prstGeom>
          <a:noFill/>
        </p:spPr>
        <p:txBody>
          <a:bodyPr wrap="square" lIns="0" rIns="0" tIns="0" bIns="0" anchor="t">
            <a:spAutoFit/>
          </a:bodyPr>
          <a:lstStyle/>
          <a:p>
            <a:pPr algn="l"/>
            <a:r>
              <a:rPr sz="850" b="0">
                <a:solidFill>
                  <a:srgbClr val="6E7B84"/>
                </a:solidFill>
                <a:latin typeface="Arial"/>
              </a:rPr>
              <a:t>Every card in Orange — nothing stands 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COMPONENTS</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Eight reusable blocks beyond the basic boxes — copy them from here</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0.7</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Triatra Template PPT 2026 V3; design references collected for this guide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Rectangle 127"/>
          <p:cNvSpPr/>
          <p:nvPr/>
        </p:nvSpPr>
        <p:spPr>
          <a:xfrm>
            <a:off x="571500" y="1066800"/>
            <a:ext cx="2641600" cy="254000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29" name="TextBox 128"/>
          <p:cNvSpPr txBox="1"/>
          <p:nvPr/>
        </p:nvSpPr>
        <p:spPr>
          <a:xfrm>
            <a:off x="723900" y="1193800"/>
            <a:ext cx="2336800" cy="152400"/>
          </a:xfrm>
          <a:prstGeom prst="rect">
            <a:avLst/>
          </a:prstGeom>
          <a:noFill/>
        </p:spPr>
        <p:txBody>
          <a:bodyPr wrap="square" lIns="0" rIns="0" tIns="0" bIns="0" anchor="t">
            <a:spAutoFit/>
          </a:bodyPr>
          <a:lstStyle/>
          <a:p>
            <a:pPr algn="l"/>
            <a:r>
              <a:rPr sz="800" b="1" spc="100">
                <a:solidFill>
                  <a:srgbClr val="6E7B84"/>
                </a:solidFill>
                <a:latin typeface="Arial"/>
              </a:rPr>
              <a:t>SECTION INTRO</a:t>
            </a:r>
          </a:p>
        </p:txBody>
      </p:sp>
      <p:sp>
        <p:nvSpPr>
          <p:cNvPr id="130" name="Rectangle 129"/>
          <p:cNvSpPr/>
          <p:nvPr/>
        </p:nvSpPr>
        <p:spPr>
          <a:xfrm>
            <a:off x="723900" y="13970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1" name="Rectangle 130"/>
          <p:cNvSpPr/>
          <p:nvPr/>
        </p:nvSpPr>
        <p:spPr>
          <a:xfrm>
            <a:off x="3365500" y="1066800"/>
            <a:ext cx="2641600" cy="254000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2" name="TextBox 131"/>
          <p:cNvSpPr txBox="1"/>
          <p:nvPr/>
        </p:nvSpPr>
        <p:spPr>
          <a:xfrm>
            <a:off x="3517900" y="1193800"/>
            <a:ext cx="2336800" cy="152400"/>
          </a:xfrm>
          <a:prstGeom prst="rect">
            <a:avLst/>
          </a:prstGeom>
          <a:noFill/>
        </p:spPr>
        <p:txBody>
          <a:bodyPr wrap="square" lIns="0" rIns="0" tIns="0" bIns="0" anchor="t">
            <a:spAutoFit/>
          </a:bodyPr>
          <a:lstStyle/>
          <a:p>
            <a:pPr algn="l"/>
            <a:r>
              <a:rPr sz="800" b="1" spc="100">
                <a:solidFill>
                  <a:srgbClr val="6E7B84"/>
                </a:solidFill>
                <a:latin typeface="Arial"/>
              </a:rPr>
              <a:t>STAT ROW</a:t>
            </a:r>
          </a:p>
        </p:txBody>
      </p:sp>
      <p:sp>
        <p:nvSpPr>
          <p:cNvPr id="133" name="Rectangle 132"/>
          <p:cNvSpPr/>
          <p:nvPr/>
        </p:nvSpPr>
        <p:spPr>
          <a:xfrm>
            <a:off x="3517900" y="13970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4" name="Rectangle 133"/>
          <p:cNvSpPr/>
          <p:nvPr/>
        </p:nvSpPr>
        <p:spPr>
          <a:xfrm>
            <a:off x="6159500" y="1066800"/>
            <a:ext cx="2641600" cy="254000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5" name="TextBox 134"/>
          <p:cNvSpPr txBox="1"/>
          <p:nvPr/>
        </p:nvSpPr>
        <p:spPr>
          <a:xfrm>
            <a:off x="6311900" y="1193800"/>
            <a:ext cx="2336800" cy="152400"/>
          </a:xfrm>
          <a:prstGeom prst="rect">
            <a:avLst/>
          </a:prstGeom>
          <a:noFill/>
        </p:spPr>
        <p:txBody>
          <a:bodyPr wrap="square" lIns="0" rIns="0" tIns="0" bIns="0" anchor="t">
            <a:spAutoFit/>
          </a:bodyPr>
          <a:lstStyle/>
          <a:p>
            <a:pPr algn="l"/>
            <a:r>
              <a:rPr sz="800" b="1" spc="100">
                <a:solidFill>
                  <a:srgbClr val="6E7B84"/>
                </a:solidFill>
                <a:latin typeface="Arial"/>
              </a:rPr>
              <a:t>WHY COLUMNS</a:t>
            </a:r>
          </a:p>
        </p:txBody>
      </p:sp>
      <p:sp>
        <p:nvSpPr>
          <p:cNvPr id="136" name="Rectangle 135"/>
          <p:cNvSpPr/>
          <p:nvPr/>
        </p:nvSpPr>
        <p:spPr>
          <a:xfrm>
            <a:off x="6311900" y="13970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7" name="Rectangle 136"/>
          <p:cNvSpPr/>
          <p:nvPr/>
        </p:nvSpPr>
        <p:spPr>
          <a:xfrm>
            <a:off x="8953500" y="1066800"/>
            <a:ext cx="2641600" cy="254000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8" name="TextBox 137"/>
          <p:cNvSpPr txBox="1"/>
          <p:nvPr/>
        </p:nvSpPr>
        <p:spPr>
          <a:xfrm>
            <a:off x="9105900" y="1193800"/>
            <a:ext cx="2336800" cy="152400"/>
          </a:xfrm>
          <a:prstGeom prst="rect">
            <a:avLst/>
          </a:prstGeom>
          <a:noFill/>
        </p:spPr>
        <p:txBody>
          <a:bodyPr wrap="square" lIns="0" rIns="0" tIns="0" bIns="0" anchor="t">
            <a:spAutoFit/>
          </a:bodyPr>
          <a:lstStyle/>
          <a:p>
            <a:pPr algn="l"/>
            <a:r>
              <a:rPr sz="800" b="1" spc="100">
                <a:solidFill>
                  <a:srgbClr val="6E7B84"/>
                </a:solidFill>
                <a:latin typeface="Arial"/>
              </a:rPr>
              <a:t>NUMBERED LIST</a:t>
            </a:r>
          </a:p>
        </p:txBody>
      </p:sp>
      <p:sp>
        <p:nvSpPr>
          <p:cNvPr id="139" name="Rectangle 138"/>
          <p:cNvSpPr/>
          <p:nvPr/>
        </p:nvSpPr>
        <p:spPr>
          <a:xfrm>
            <a:off x="9105900" y="13970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0" name="Rectangle 139"/>
          <p:cNvSpPr/>
          <p:nvPr/>
        </p:nvSpPr>
        <p:spPr>
          <a:xfrm>
            <a:off x="571500" y="3759200"/>
            <a:ext cx="2641600" cy="254000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1" name="TextBox 140"/>
          <p:cNvSpPr txBox="1"/>
          <p:nvPr/>
        </p:nvSpPr>
        <p:spPr>
          <a:xfrm>
            <a:off x="723900" y="3886200"/>
            <a:ext cx="2336800" cy="152400"/>
          </a:xfrm>
          <a:prstGeom prst="rect">
            <a:avLst/>
          </a:prstGeom>
          <a:noFill/>
        </p:spPr>
        <p:txBody>
          <a:bodyPr wrap="square" lIns="0" rIns="0" tIns="0" bIns="0" anchor="t">
            <a:spAutoFit/>
          </a:bodyPr>
          <a:lstStyle/>
          <a:p>
            <a:pPr algn="l"/>
            <a:r>
              <a:rPr sz="800" b="1" spc="100">
                <a:solidFill>
                  <a:srgbClr val="6E7B84"/>
                </a:solidFill>
                <a:latin typeface="Arial"/>
              </a:rPr>
              <a:t>STATUS CHIPS</a:t>
            </a:r>
          </a:p>
        </p:txBody>
      </p:sp>
      <p:sp>
        <p:nvSpPr>
          <p:cNvPr id="142" name="Rectangle 141"/>
          <p:cNvSpPr/>
          <p:nvPr/>
        </p:nvSpPr>
        <p:spPr>
          <a:xfrm>
            <a:off x="723900" y="40894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3" name="Rectangle 142"/>
          <p:cNvSpPr/>
          <p:nvPr/>
        </p:nvSpPr>
        <p:spPr>
          <a:xfrm>
            <a:off x="3365500" y="3759200"/>
            <a:ext cx="2641600" cy="254000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4" name="TextBox 143"/>
          <p:cNvSpPr txBox="1"/>
          <p:nvPr/>
        </p:nvSpPr>
        <p:spPr>
          <a:xfrm>
            <a:off x="3517900" y="3886200"/>
            <a:ext cx="2336800" cy="152400"/>
          </a:xfrm>
          <a:prstGeom prst="rect">
            <a:avLst/>
          </a:prstGeom>
          <a:noFill/>
        </p:spPr>
        <p:txBody>
          <a:bodyPr wrap="square" lIns="0" rIns="0" tIns="0" bIns="0" anchor="t">
            <a:spAutoFit/>
          </a:bodyPr>
          <a:lstStyle/>
          <a:p>
            <a:pPr algn="l"/>
            <a:r>
              <a:rPr sz="800" b="1" spc="100">
                <a:solidFill>
                  <a:srgbClr val="6E7B84"/>
                </a:solidFill>
                <a:latin typeface="Arial"/>
              </a:rPr>
              <a:t>CALL-TO-ACTION TAGS</a:t>
            </a:r>
          </a:p>
        </p:txBody>
      </p:sp>
      <p:sp>
        <p:nvSpPr>
          <p:cNvPr id="145" name="Rectangle 144"/>
          <p:cNvSpPr/>
          <p:nvPr/>
        </p:nvSpPr>
        <p:spPr>
          <a:xfrm>
            <a:off x="3517900" y="40894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6" name="Rectangle 145"/>
          <p:cNvSpPr/>
          <p:nvPr/>
        </p:nvSpPr>
        <p:spPr>
          <a:xfrm>
            <a:off x="6159500" y="3759200"/>
            <a:ext cx="2641600" cy="254000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7" name="TextBox 146"/>
          <p:cNvSpPr txBox="1"/>
          <p:nvPr/>
        </p:nvSpPr>
        <p:spPr>
          <a:xfrm>
            <a:off x="6311900" y="3886200"/>
            <a:ext cx="2336800" cy="152400"/>
          </a:xfrm>
          <a:prstGeom prst="rect">
            <a:avLst/>
          </a:prstGeom>
          <a:noFill/>
        </p:spPr>
        <p:txBody>
          <a:bodyPr wrap="square" lIns="0" rIns="0" tIns="0" bIns="0" anchor="t">
            <a:spAutoFit/>
          </a:bodyPr>
          <a:lstStyle/>
          <a:p>
            <a:pPr algn="l"/>
            <a:r>
              <a:rPr sz="800" b="1" spc="100">
                <a:solidFill>
                  <a:srgbClr val="6E7B84"/>
                </a:solidFill>
                <a:latin typeface="Arial"/>
              </a:rPr>
              <a:t>ICON LIST</a:t>
            </a:r>
          </a:p>
        </p:txBody>
      </p:sp>
      <p:sp>
        <p:nvSpPr>
          <p:cNvPr id="148" name="Rectangle 147"/>
          <p:cNvSpPr/>
          <p:nvPr/>
        </p:nvSpPr>
        <p:spPr>
          <a:xfrm>
            <a:off x="6311900" y="40894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9" name="Rectangle 148"/>
          <p:cNvSpPr/>
          <p:nvPr/>
        </p:nvSpPr>
        <p:spPr>
          <a:xfrm>
            <a:off x="8953500" y="3759200"/>
            <a:ext cx="2641600" cy="254000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0" name="TextBox 149"/>
          <p:cNvSpPr txBox="1"/>
          <p:nvPr/>
        </p:nvSpPr>
        <p:spPr>
          <a:xfrm>
            <a:off x="9105900" y="3886200"/>
            <a:ext cx="2336800" cy="152400"/>
          </a:xfrm>
          <a:prstGeom prst="rect">
            <a:avLst/>
          </a:prstGeom>
          <a:noFill/>
        </p:spPr>
        <p:txBody>
          <a:bodyPr wrap="square" lIns="0" rIns="0" tIns="0" bIns="0" anchor="t">
            <a:spAutoFit/>
          </a:bodyPr>
          <a:lstStyle/>
          <a:p>
            <a:pPr algn="l"/>
            <a:r>
              <a:rPr sz="800" b="1" spc="100">
                <a:solidFill>
                  <a:srgbClr val="6E7B84"/>
                </a:solidFill>
                <a:latin typeface="Arial"/>
              </a:rPr>
              <a:t>LOGO STRIP</a:t>
            </a:r>
          </a:p>
        </p:txBody>
      </p:sp>
      <p:sp>
        <p:nvSpPr>
          <p:cNvPr id="151" name="Rectangle 150"/>
          <p:cNvSpPr/>
          <p:nvPr/>
        </p:nvSpPr>
        <p:spPr>
          <a:xfrm>
            <a:off x="9105900" y="40894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2" name="TextBox 151"/>
          <p:cNvSpPr txBox="1"/>
          <p:nvPr/>
        </p:nvSpPr>
        <p:spPr>
          <a:xfrm>
            <a:off x="723900" y="1651000"/>
            <a:ext cx="2336800" cy="152400"/>
          </a:xfrm>
          <a:prstGeom prst="rect">
            <a:avLst/>
          </a:prstGeom>
          <a:noFill/>
        </p:spPr>
        <p:txBody>
          <a:bodyPr wrap="square" lIns="0" rIns="0" tIns="0" bIns="0" anchor="t">
            <a:spAutoFit/>
          </a:bodyPr>
          <a:lstStyle/>
          <a:p>
            <a:pPr algn="ctr"/>
            <a:r>
              <a:rPr sz="800" b="1" spc="200">
                <a:solidFill>
                  <a:srgbClr val="6E7B84"/>
                </a:solidFill>
                <a:latin typeface="Arial"/>
              </a:rPr>
              <a:t>SUPPLY CHAIN</a:t>
            </a:r>
          </a:p>
        </p:txBody>
      </p:sp>
      <p:sp>
        <p:nvSpPr>
          <p:cNvPr id="153" name="TextBox 152"/>
          <p:cNvSpPr txBox="1"/>
          <p:nvPr/>
        </p:nvSpPr>
        <p:spPr>
          <a:xfrm>
            <a:off x="723900" y="1854200"/>
            <a:ext cx="2336800" cy="558800"/>
          </a:xfrm>
          <a:prstGeom prst="rect">
            <a:avLst/>
          </a:prstGeom>
          <a:noFill/>
        </p:spPr>
        <p:txBody>
          <a:bodyPr wrap="square" lIns="0" rIns="0" tIns="0" bIns="0" anchor="t">
            <a:spAutoFit/>
          </a:bodyPr>
          <a:lstStyle/>
          <a:p>
            <a:pPr algn="ctr"/>
            <a:r>
              <a:rPr sz="1400" b="1">
                <a:solidFill>
                  <a:srgbClr val="26262A"/>
                </a:solidFill>
                <a:latin typeface="Arial"/>
              </a:rPr>
              <a:t>From demand to </a:t>
            </a:r>
            <a:r>
              <a:rPr sz="1400" b="1">
                <a:solidFill>
                  <a:srgbClr val="E55200"/>
                </a:solidFill>
                <a:latin typeface="Arial"/>
              </a:rPr>
              <a:t>delivery</a:t>
            </a:r>
            <a:r>
              <a:rPr sz="1400" b="1">
                <a:solidFill>
                  <a:srgbClr val="26262A"/>
                </a:solidFill>
                <a:latin typeface="Arial"/>
              </a:rPr>
              <a:t>.</a:t>
            </a:r>
          </a:p>
        </p:txBody>
      </p:sp>
      <p:sp>
        <p:nvSpPr>
          <p:cNvPr id="154" name="TextBox 153"/>
          <p:cNvSpPr txBox="1"/>
          <p:nvPr/>
        </p:nvSpPr>
        <p:spPr>
          <a:xfrm>
            <a:off x="723900" y="2565400"/>
            <a:ext cx="2336800" cy="508000"/>
          </a:xfrm>
          <a:prstGeom prst="rect">
            <a:avLst/>
          </a:prstGeom>
          <a:noFill/>
        </p:spPr>
        <p:txBody>
          <a:bodyPr wrap="square" lIns="0" rIns="0" tIns="0" bIns="0" anchor="t">
            <a:spAutoFit/>
          </a:bodyPr>
          <a:lstStyle/>
          <a:p>
            <a:pPr algn="ctr">
              <a:lnSpc>
                <a:spcPct val="110000"/>
              </a:lnSpc>
            </a:pPr>
            <a:r>
              <a:rPr sz="850" b="0">
                <a:solidFill>
                  <a:srgbClr val="6E7B84"/>
                </a:solidFill>
                <a:latin typeface="Arial"/>
              </a:rPr>
              <a:t>Kicker + headline open a section or a dense slide. One orange word only.</a:t>
            </a:r>
          </a:p>
        </p:txBody>
      </p:sp>
      <p:sp>
        <p:nvSpPr>
          <p:cNvPr id="155" name="TextBox 154"/>
          <p:cNvSpPr txBox="1"/>
          <p:nvPr/>
        </p:nvSpPr>
        <p:spPr>
          <a:xfrm>
            <a:off x="3543300" y="1727200"/>
            <a:ext cx="736600" cy="381000"/>
          </a:xfrm>
          <a:prstGeom prst="rect">
            <a:avLst/>
          </a:prstGeom>
          <a:noFill/>
        </p:spPr>
        <p:txBody>
          <a:bodyPr wrap="square" lIns="0" rIns="0" tIns="0" bIns="0" anchor="t">
            <a:spAutoFit/>
          </a:bodyPr>
          <a:lstStyle/>
          <a:p>
            <a:pPr algn="l"/>
            <a:r>
              <a:rPr sz="2000" b="1">
                <a:solidFill>
                  <a:srgbClr val="E55200"/>
                </a:solidFill>
                <a:latin typeface="Arial"/>
              </a:rPr>
              <a:t>67</a:t>
            </a:r>
          </a:p>
        </p:txBody>
      </p:sp>
      <p:sp>
        <p:nvSpPr>
          <p:cNvPr id="156" name="TextBox 155"/>
          <p:cNvSpPr txBox="1"/>
          <p:nvPr/>
        </p:nvSpPr>
        <p:spPr>
          <a:xfrm>
            <a:off x="3543300" y="2133600"/>
            <a:ext cx="736600" cy="254000"/>
          </a:xfrm>
          <a:prstGeom prst="rect">
            <a:avLst/>
          </a:prstGeom>
          <a:noFill/>
        </p:spPr>
        <p:txBody>
          <a:bodyPr wrap="square" lIns="0" rIns="0" tIns="0" bIns="0" anchor="t">
            <a:spAutoFit/>
          </a:bodyPr>
          <a:lstStyle/>
          <a:p>
            <a:pPr algn="l"/>
            <a:r>
              <a:rPr sz="850" b="1">
                <a:solidFill>
                  <a:srgbClr val="26262A"/>
                </a:solidFill>
                <a:latin typeface="Arial"/>
              </a:rPr>
              <a:t>units / yr</a:t>
            </a:r>
          </a:p>
        </p:txBody>
      </p:sp>
      <p:cxnSp>
        <p:nvCxnSpPr>
          <p:cNvPr id="157" name="Connector 156"/>
          <p:cNvCxnSpPr/>
          <p:nvPr/>
        </p:nvCxnSpPr>
        <p:spPr>
          <a:xfrm>
            <a:off x="4279900" y="1727200"/>
            <a:ext cx="0" cy="660400"/>
          </a:xfrm>
          <a:prstGeom prst="line">
            <a:avLst/>
          </a:prstGeom>
          <a:ln w="9525">
            <a:solidFill>
              <a:srgbClr val="C9D0D7"/>
            </a:solidFill>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4356100" y="1727200"/>
            <a:ext cx="736600" cy="381000"/>
          </a:xfrm>
          <a:prstGeom prst="rect">
            <a:avLst/>
          </a:prstGeom>
          <a:noFill/>
        </p:spPr>
        <p:txBody>
          <a:bodyPr wrap="square" lIns="0" rIns="0" tIns="0" bIns="0" anchor="t">
            <a:spAutoFit/>
          </a:bodyPr>
          <a:lstStyle/>
          <a:p>
            <a:pPr algn="l"/>
            <a:r>
              <a:rPr sz="2000" b="1">
                <a:solidFill>
                  <a:srgbClr val="E55200"/>
                </a:solidFill>
                <a:latin typeface="Arial"/>
              </a:rPr>
              <a:t>41%</a:t>
            </a:r>
          </a:p>
        </p:txBody>
      </p:sp>
      <p:sp>
        <p:nvSpPr>
          <p:cNvPr id="159" name="TextBox 158"/>
          <p:cNvSpPr txBox="1"/>
          <p:nvPr/>
        </p:nvSpPr>
        <p:spPr>
          <a:xfrm>
            <a:off x="4356100" y="2133600"/>
            <a:ext cx="736600" cy="254000"/>
          </a:xfrm>
          <a:prstGeom prst="rect">
            <a:avLst/>
          </a:prstGeom>
          <a:noFill/>
        </p:spPr>
        <p:txBody>
          <a:bodyPr wrap="square" lIns="0" rIns="0" tIns="0" bIns="0" anchor="t">
            <a:spAutoFit/>
          </a:bodyPr>
          <a:lstStyle/>
          <a:p>
            <a:pPr algn="l"/>
            <a:r>
              <a:rPr sz="850" b="1">
                <a:solidFill>
                  <a:srgbClr val="26262A"/>
                </a:solidFill>
                <a:latin typeface="Arial"/>
              </a:rPr>
              <a:t>of units</a:t>
            </a:r>
          </a:p>
        </p:txBody>
      </p:sp>
      <p:cxnSp>
        <p:nvCxnSpPr>
          <p:cNvPr id="160" name="Connector 159"/>
          <p:cNvCxnSpPr/>
          <p:nvPr/>
        </p:nvCxnSpPr>
        <p:spPr>
          <a:xfrm>
            <a:off x="5092700" y="1727200"/>
            <a:ext cx="0" cy="660400"/>
          </a:xfrm>
          <a:prstGeom prst="line">
            <a:avLst/>
          </a:prstGeom>
          <a:ln w="9525">
            <a:solidFill>
              <a:srgbClr val="C9D0D7"/>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5168900" y="1727200"/>
            <a:ext cx="736600" cy="381000"/>
          </a:xfrm>
          <a:prstGeom prst="rect">
            <a:avLst/>
          </a:prstGeom>
          <a:noFill/>
        </p:spPr>
        <p:txBody>
          <a:bodyPr wrap="square" lIns="0" rIns="0" tIns="0" bIns="0" anchor="t">
            <a:spAutoFit/>
          </a:bodyPr>
          <a:lstStyle/>
          <a:p>
            <a:pPr algn="l"/>
            <a:r>
              <a:rPr sz="2000" b="1">
                <a:solidFill>
                  <a:srgbClr val="E55200"/>
                </a:solidFill>
                <a:latin typeface="Arial"/>
              </a:rPr>
              <a:t>64%</a:t>
            </a:r>
          </a:p>
        </p:txBody>
      </p:sp>
      <p:sp>
        <p:nvSpPr>
          <p:cNvPr id="162" name="TextBox 161"/>
          <p:cNvSpPr txBox="1"/>
          <p:nvPr/>
        </p:nvSpPr>
        <p:spPr>
          <a:xfrm>
            <a:off x="5168900" y="2133600"/>
            <a:ext cx="736600" cy="254000"/>
          </a:xfrm>
          <a:prstGeom prst="rect">
            <a:avLst/>
          </a:prstGeom>
          <a:noFill/>
        </p:spPr>
        <p:txBody>
          <a:bodyPr wrap="square" lIns="0" rIns="0" tIns="0" bIns="0" anchor="t">
            <a:spAutoFit/>
          </a:bodyPr>
          <a:lstStyle/>
          <a:p>
            <a:pPr algn="l"/>
            <a:r>
              <a:rPr sz="850" b="1">
                <a:solidFill>
                  <a:srgbClr val="26262A"/>
                </a:solidFill>
                <a:latin typeface="Arial"/>
              </a:rPr>
              <a:t>of value</a:t>
            </a:r>
          </a:p>
        </p:txBody>
      </p:sp>
      <p:sp>
        <p:nvSpPr>
          <p:cNvPr id="163" name="TextBox 162"/>
          <p:cNvSpPr txBox="1"/>
          <p:nvPr/>
        </p:nvSpPr>
        <p:spPr>
          <a:xfrm>
            <a:off x="3517900" y="2667000"/>
            <a:ext cx="2336800" cy="762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Three to four numbers, label under each, hairline dividers. Numbers come from the source line.</a:t>
            </a:r>
          </a:p>
        </p:txBody>
      </p:sp>
      <p:cxnSp>
        <p:nvCxnSpPr>
          <p:cNvPr id="164" name="Connector 163"/>
          <p:cNvCxnSpPr/>
          <p:nvPr/>
        </p:nvCxnSpPr>
        <p:spPr>
          <a:xfrm>
            <a:off x="6261100" y="2032000"/>
            <a:ext cx="2438400" cy="0"/>
          </a:xfrm>
          <a:prstGeom prst="line">
            <a:avLst/>
          </a:prstGeom>
          <a:ln w="12700">
            <a:solidFill>
              <a:srgbClr val="E4E8EB"/>
            </a:solidFill>
          </a:ln>
        </p:spPr>
        <p:style>
          <a:lnRef idx="2">
            <a:schemeClr val="accent1"/>
          </a:lnRef>
          <a:fillRef idx="0">
            <a:schemeClr val="accent1"/>
          </a:fillRef>
          <a:effectRef idx="1">
            <a:schemeClr val="accent1"/>
          </a:effectRef>
          <a:fontRef idx="minor">
            <a:schemeClr val="tx1"/>
          </a:fontRef>
        </p:style>
      </p:cxnSp>
      <p:sp>
        <p:nvSpPr>
          <p:cNvPr id="165" name="TextBox 164"/>
          <p:cNvSpPr txBox="1"/>
          <p:nvPr/>
        </p:nvSpPr>
        <p:spPr>
          <a:xfrm>
            <a:off x="6337300" y="1701800"/>
            <a:ext cx="762000" cy="177800"/>
          </a:xfrm>
          <a:prstGeom prst="rect">
            <a:avLst/>
          </a:prstGeom>
          <a:noFill/>
        </p:spPr>
        <p:txBody>
          <a:bodyPr wrap="square" lIns="0" rIns="0" tIns="0" bIns="0" anchor="t">
            <a:spAutoFit/>
          </a:bodyPr>
          <a:lstStyle/>
          <a:p>
            <a:pPr algn="l"/>
            <a:r>
              <a:rPr sz="900" b="1">
                <a:solidFill>
                  <a:srgbClr val="26262A"/>
                </a:solidFill>
                <a:latin typeface="Arial"/>
              </a:rPr>
              <a:t>Plan</a:t>
            </a:r>
          </a:p>
        </p:txBody>
      </p:sp>
      <p:sp>
        <p:nvSpPr>
          <p:cNvPr id="166" name="Oval 165"/>
          <p:cNvSpPr/>
          <p:nvPr/>
        </p:nvSpPr>
        <p:spPr>
          <a:xfrm>
            <a:off x="6337300" y="1993900"/>
            <a:ext cx="76200" cy="762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7" name="TextBox 166"/>
          <p:cNvSpPr txBox="1"/>
          <p:nvPr/>
        </p:nvSpPr>
        <p:spPr>
          <a:xfrm>
            <a:off x="6337300" y="2159000"/>
            <a:ext cx="711200" cy="431800"/>
          </a:xfrm>
          <a:prstGeom prst="rect">
            <a:avLst/>
          </a:prstGeom>
          <a:noFill/>
        </p:spPr>
        <p:txBody>
          <a:bodyPr wrap="square" lIns="0" rIns="0" tIns="0" bIns="0" anchor="t">
            <a:spAutoFit/>
          </a:bodyPr>
          <a:lstStyle/>
          <a:p>
            <a:pPr algn="l">
              <a:lnSpc>
                <a:spcPct val="110000"/>
              </a:lnSpc>
            </a:pPr>
            <a:r>
              <a:rPr sz="800" b="0">
                <a:solidFill>
                  <a:srgbClr val="6E7B84"/>
                </a:solidFill>
                <a:latin typeface="Arial"/>
              </a:rPr>
              <a:t>Short line of proof</a:t>
            </a:r>
          </a:p>
        </p:txBody>
      </p:sp>
      <p:sp>
        <p:nvSpPr>
          <p:cNvPr id="168" name="TextBox 167"/>
          <p:cNvSpPr txBox="1"/>
          <p:nvPr/>
        </p:nvSpPr>
        <p:spPr>
          <a:xfrm>
            <a:off x="7150100" y="1701800"/>
            <a:ext cx="762000" cy="177800"/>
          </a:xfrm>
          <a:prstGeom prst="rect">
            <a:avLst/>
          </a:prstGeom>
          <a:noFill/>
        </p:spPr>
        <p:txBody>
          <a:bodyPr wrap="square" lIns="0" rIns="0" tIns="0" bIns="0" anchor="t">
            <a:spAutoFit/>
          </a:bodyPr>
          <a:lstStyle/>
          <a:p>
            <a:pPr algn="l"/>
            <a:r>
              <a:rPr sz="900" b="1">
                <a:solidFill>
                  <a:srgbClr val="26262A"/>
                </a:solidFill>
                <a:latin typeface="Arial"/>
              </a:rPr>
              <a:t>Execute</a:t>
            </a:r>
          </a:p>
        </p:txBody>
      </p:sp>
      <p:sp>
        <p:nvSpPr>
          <p:cNvPr id="169" name="Oval 168"/>
          <p:cNvSpPr/>
          <p:nvPr/>
        </p:nvSpPr>
        <p:spPr>
          <a:xfrm>
            <a:off x="7150100" y="1993900"/>
            <a:ext cx="76200" cy="762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0" name="TextBox 169"/>
          <p:cNvSpPr txBox="1"/>
          <p:nvPr/>
        </p:nvSpPr>
        <p:spPr>
          <a:xfrm>
            <a:off x="7150100" y="2159000"/>
            <a:ext cx="711200" cy="431800"/>
          </a:xfrm>
          <a:prstGeom prst="rect">
            <a:avLst/>
          </a:prstGeom>
          <a:noFill/>
        </p:spPr>
        <p:txBody>
          <a:bodyPr wrap="square" lIns="0" rIns="0" tIns="0" bIns="0" anchor="t">
            <a:spAutoFit/>
          </a:bodyPr>
          <a:lstStyle/>
          <a:p>
            <a:pPr algn="l">
              <a:lnSpc>
                <a:spcPct val="110000"/>
              </a:lnSpc>
            </a:pPr>
            <a:r>
              <a:rPr sz="800" b="0">
                <a:solidFill>
                  <a:srgbClr val="6E7B84"/>
                </a:solidFill>
                <a:latin typeface="Arial"/>
              </a:rPr>
              <a:t>Short line of proof</a:t>
            </a:r>
          </a:p>
        </p:txBody>
      </p:sp>
      <p:sp>
        <p:nvSpPr>
          <p:cNvPr id="171" name="TextBox 170"/>
          <p:cNvSpPr txBox="1"/>
          <p:nvPr/>
        </p:nvSpPr>
        <p:spPr>
          <a:xfrm>
            <a:off x="7962900" y="1701800"/>
            <a:ext cx="762000" cy="177800"/>
          </a:xfrm>
          <a:prstGeom prst="rect">
            <a:avLst/>
          </a:prstGeom>
          <a:noFill/>
        </p:spPr>
        <p:txBody>
          <a:bodyPr wrap="square" lIns="0" rIns="0" tIns="0" bIns="0" anchor="t">
            <a:spAutoFit/>
          </a:bodyPr>
          <a:lstStyle/>
          <a:p>
            <a:pPr algn="l"/>
            <a:r>
              <a:rPr sz="900" b="1">
                <a:solidFill>
                  <a:srgbClr val="26262A"/>
                </a:solidFill>
                <a:latin typeface="Arial"/>
              </a:rPr>
              <a:t>Monitor</a:t>
            </a:r>
          </a:p>
        </p:txBody>
      </p:sp>
      <p:sp>
        <p:nvSpPr>
          <p:cNvPr id="172" name="Oval 171"/>
          <p:cNvSpPr/>
          <p:nvPr/>
        </p:nvSpPr>
        <p:spPr>
          <a:xfrm>
            <a:off x="7962900" y="1993900"/>
            <a:ext cx="76200" cy="762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3" name="TextBox 172"/>
          <p:cNvSpPr txBox="1"/>
          <p:nvPr/>
        </p:nvSpPr>
        <p:spPr>
          <a:xfrm>
            <a:off x="7962900" y="2159000"/>
            <a:ext cx="711200" cy="431800"/>
          </a:xfrm>
          <a:prstGeom prst="rect">
            <a:avLst/>
          </a:prstGeom>
          <a:noFill/>
        </p:spPr>
        <p:txBody>
          <a:bodyPr wrap="square" lIns="0" rIns="0" tIns="0" bIns="0" anchor="t">
            <a:spAutoFit/>
          </a:bodyPr>
          <a:lstStyle/>
          <a:p>
            <a:pPr algn="l">
              <a:lnSpc>
                <a:spcPct val="110000"/>
              </a:lnSpc>
            </a:pPr>
            <a:r>
              <a:rPr sz="800" b="0">
                <a:solidFill>
                  <a:srgbClr val="6E7B84"/>
                </a:solidFill>
                <a:latin typeface="Arial"/>
              </a:rPr>
              <a:t>Short line of proof</a:t>
            </a:r>
          </a:p>
        </p:txBody>
      </p:sp>
      <p:sp>
        <p:nvSpPr>
          <p:cNvPr id="174" name="TextBox 173"/>
          <p:cNvSpPr txBox="1"/>
          <p:nvPr/>
        </p:nvSpPr>
        <p:spPr>
          <a:xfrm>
            <a:off x="6311900" y="2743200"/>
            <a:ext cx="2336800" cy="7112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Title above, dot on one thin line, text below. Use for 3 pillars or a simple process.</a:t>
            </a:r>
          </a:p>
        </p:txBody>
      </p:sp>
      <p:sp>
        <p:nvSpPr>
          <p:cNvPr id="175" name="TextBox 174"/>
          <p:cNvSpPr txBox="1"/>
          <p:nvPr/>
        </p:nvSpPr>
        <p:spPr>
          <a:xfrm>
            <a:off x="9105900" y="1524000"/>
            <a:ext cx="381000" cy="203200"/>
          </a:xfrm>
          <a:prstGeom prst="rect">
            <a:avLst/>
          </a:prstGeom>
          <a:noFill/>
        </p:spPr>
        <p:txBody>
          <a:bodyPr wrap="square" lIns="0" rIns="0" tIns="0" bIns="0" anchor="t">
            <a:spAutoFit/>
          </a:bodyPr>
          <a:lstStyle/>
          <a:p>
            <a:pPr algn="l"/>
            <a:r>
              <a:rPr sz="1200" b="1">
                <a:solidFill>
                  <a:srgbClr val="E55200"/>
                </a:solidFill>
                <a:latin typeface="Arial"/>
              </a:rPr>
              <a:t>A1</a:t>
            </a:r>
          </a:p>
        </p:txBody>
      </p:sp>
      <p:sp>
        <p:nvSpPr>
          <p:cNvPr id="176" name="TextBox 175"/>
          <p:cNvSpPr txBox="1"/>
          <p:nvPr/>
        </p:nvSpPr>
        <p:spPr>
          <a:xfrm>
            <a:off x="9512300" y="1524000"/>
            <a:ext cx="1905000" cy="177800"/>
          </a:xfrm>
          <a:prstGeom prst="rect">
            <a:avLst/>
          </a:prstGeom>
          <a:noFill/>
        </p:spPr>
        <p:txBody>
          <a:bodyPr wrap="square" lIns="0" rIns="0" tIns="0" bIns="0" anchor="t">
            <a:spAutoFit/>
          </a:bodyPr>
          <a:lstStyle/>
          <a:p>
            <a:pPr algn="l"/>
            <a:r>
              <a:rPr sz="950" b="1">
                <a:solidFill>
                  <a:srgbClr val="26262A"/>
                </a:solidFill>
                <a:latin typeface="Arial"/>
              </a:rPr>
              <a:t>Market size</a:t>
            </a:r>
          </a:p>
        </p:txBody>
      </p:sp>
      <p:sp>
        <p:nvSpPr>
          <p:cNvPr id="177" name="TextBox 176"/>
          <p:cNvSpPr txBox="1"/>
          <p:nvPr/>
        </p:nvSpPr>
        <p:spPr>
          <a:xfrm>
            <a:off x="9512300" y="1701800"/>
            <a:ext cx="1905000" cy="152400"/>
          </a:xfrm>
          <a:prstGeom prst="rect">
            <a:avLst/>
          </a:prstGeom>
          <a:noFill/>
        </p:spPr>
        <p:txBody>
          <a:bodyPr wrap="square" lIns="0" rIns="0" tIns="0" bIns="0" anchor="t">
            <a:spAutoFit/>
          </a:bodyPr>
          <a:lstStyle/>
          <a:p>
            <a:pPr algn="l"/>
            <a:r>
              <a:rPr sz="800" b="0">
                <a:solidFill>
                  <a:srgbClr val="6E7B84"/>
                </a:solidFill>
                <a:latin typeface="Arial"/>
              </a:rPr>
              <a:t>Units and value by class</a:t>
            </a:r>
          </a:p>
        </p:txBody>
      </p:sp>
      <p:sp>
        <p:nvSpPr>
          <p:cNvPr id="178" name="Rectangle 177"/>
          <p:cNvSpPr/>
          <p:nvPr/>
        </p:nvSpPr>
        <p:spPr>
          <a:xfrm>
            <a:off x="9105900" y="18923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9" name="TextBox 178"/>
          <p:cNvSpPr txBox="1"/>
          <p:nvPr/>
        </p:nvSpPr>
        <p:spPr>
          <a:xfrm>
            <a:off x="9105900" y="1955800"/>
            <a:ext cx="381000" cy="203200"/>
          </a:xfrm>
          <a:prstGeom prst="rect">
            <a:avLst/>
          </a:prstGeom>
          <a:noFill/>
        </p:spPr>
        <p:txBody>
          <a:bodyPr wrap="square" lIns="0" rIns="0" tIns="0" bIns="0" anchor="t">
            <a:spAutoFit/>
          </a:bodyPr>
          <a:lstStyle/>
          <a:p>
            <a:pPr algn="l"/>
            <a:r>
              <a:rPr sz="1200" b="1">
                <a:solidFill>
                  <a:srgbClr val="E55200"/>
                </a:solidFill>
                <a:latin typeface="Arial"/>
              </a:rPr>
              <a:t>A2</a:t>
            </a:r>
          </a:p>
        </p:txBody>
      </p:sp>
      <p:sp>
        <p:nvSpPr>
          <p:cNvPr id="180" name="TextBox 179"/>
          <p:cNvSpPr txBox="1"/>
          <p:nvPr/>
        </p:nvSpPr>
        <p:spPr>
          <a:xfrm>
            <a:off x="9512300" y="1955800"/>
            <a:ext cx="1905000" cy="177800"/>
          </a:xfrm>
          <a:prstGeom prst="rect">
            <a:avLst/>
          </a:prstGeom>
          <a:noFill/>
        </p:spPr>
        <p:txBody>
          <a:bodyPr wrap="square" lIns="0" rIns="0" tIns="0" bIns="0" anchor="t">
            <a:spAutoFit/>
          </a:bodyPr>
          <a:lstStyle/>
          <a:p>
            <a:pPr algn="l"/>
            <a:r>
              <a:rPr sz="950" b="1">
                <a:solidFill>
                  <a:srgbClr val="26262A"/>
                </a:solidFill>
                <a:latin typeface="Arial"/>
              </a:rPr>
              <a:t>Price check</a:t>
            </a:r>
          </a:p>
        </p:txBody>
      </p:sp>
      <p:sp>
        <p:nvSpPr>
          <p:cNvPr id="181" name="TextBox 180"/>
          <p:cNvSpPr txBox="1"/>
          <p:nvPr/>
        </p:nvSpPr>
        <p:spPr>
          <a:xfrm>
            <a:off x="9512300" y="2133600"/>
            <a:ext cx="1905000" cy="152400"/>
          </a:xfrm>
          <a:prstGeom prst="rect">
            <a:avLst/>
          </a:prstGeom>
          <a:noFill/>
        </p:spPr>
        <p:txBody>
          <a:bodyPr wrap="square" lIns="0" rIns="0" tIns="0" bIns="0" anchor="t">
            <a:spAutoFit/>
          </a:bodyPr>
          <a:lstStyle/>
          <a:p>
            <a:pPr algn="l"/>
            <a:r>
              <a:rPr sz="800" b="0">
                <a:solidFill>
                  <a:srgbClr val="6E7B84"/>
                </a:solidFill>
                <a:latin typeface="Arial"/>
              </a:rPr>
              <a:t>Head to head by tm class</a:t>
            </a:r>
          </a:p>
        </p:txBody>
      </p:sp>
      <p:sp>
        <p:nvSpPr>
          <p:cNvPr id="182" name="Rectangle 181"/>
          <p:cNvSpPr/>
          <p:nvPr/>
        </p:nvSpPr>
        <p:spPr>
          <a:xfrm>
            <a:off x="9105900" y="23241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3" name="TextBox 182"/>
          <p:cNvSpPr txBox="1"/>
          <p:nvPr/>
        </p:nvSpPr>
        <p:spPr>
          <a:xfrm>
            <a:off x="9105900" y="2387600"/>
            <a:ext cx="381000" cy="203200"/>
          </a:xfrm>
          <a:prstGeom prst="rect">
            <a:avLst/>
          </a:prstGeom>
          <a:noFill/>
        </p:spPr>
        <p:txBody>
          <a:bodyPr wrap="square" lIns="0" rIns="0" tIns="0" bIns="0" anchor="t">
            <a:spAutoFit/>
          </a:bodyPr>
          <a:lstStyle/>
          <a:p>
            <a:pPr algn="l"/>
            <a:r>
              <a:rPr sz="1200" b="1">
                <a:solidFill>
                  <a:srgbClr val="E55200"/>
                </a:solidFill>
                <a:latin typeface="Arial"/>
              </a:rPr>
              <a:t>A3</a:t>
            </a:r>
          </a:p>
        </p:txBody>
      </p:sp>
      <p:sp>
        <p:nvSpPr>
          <p:cNvPr id="184" name="TextBox 183"/>
          <p:cNvSpPr txBox="1"/>
          <p:nvPr/>
        </p:nvSpPr>
        <p:spPr>
          <a:xfrm>
            <a:off x="9512300" y="2387600"/>
            <a:ext cx="1905000" cy="177800"/>
          </a:xfrm>
          <a:prstGeom prst="rect">
            <a:avLst/>
          </a:prstGeom>
          <a:noFill/>
        </p:spPr>
        <p:txBody>
          <a:bodyPr wrap="square" lIns="0" rIns="0" tIns="0" bIns="0" anchor="t">
            <a:spAutoFit/>
          </a:bodyPr>
          <a:lstStyle/>
          <a:p>
            <a:pPr algn="l"/>
            <a:r>
              <a:rPr sz="950" b="1">
                <a:solidFill>
                  <a:srgbClr val="26262A"/>
                </a:solidFill>
                <a:latin typeface="Arial"/>
              </a:rPr>
              <a:t>Advantage</a:t>
            </a:r>
          </a:p>
        </p:txBody>
      </p:sp>
      <p:sp>
        <p:nvSpPr>
          <p:cNvPr id="185" name="TextBox 184"/>
          <p:cNvSpPr txBox="1"/>
          <p:nvPr/>
        </p:nvSpPr>
        <p:spPr>
          <a:xfrm>
            <a:off x="9512300" y="2565400"/>
            <a:ext cx="1905000" cy="152400"/>
          </a:xfrm>
          <a:prstGeom prst="rect">
            <a:avLst/>
          </a:prstGeom>
          <a:noFill/>
        </p:spPr>
        <p:txBody>
          <a:bodyPr wrap="square" lIns="0" rIns="0" tIns="0" bIns="0" anchor="t">
            <a:spAutoFit/>
          </a:bodyPr>
          <a:lstStyle/>
          <a:p>
            <a:pPr algn="l"/>
            <a:r>
              <a:rPr sz="800" b="0">
                <a:solidFill>
                  <a:srgbClr val="6E7B84"/>
                </a:solidFill>
                <a:latin typeface="Arial"/>
              </a:rPr>
              <a:t>Five cranes that win</a:t>
            </a:r>
          </a:p>
        </p:txBody>
      </p:sp>
      <p:sp>
        <p:nvSpPr>
          <p:cNvPr id="186" name="Rectangle 185"/>
          <p:cNvSpPr/>
          <p:nvPr/>
        </p:nvSpPr>
        <p:spPr>
          <a:xfrm>
            <a:off x="9105900" y="2755900"/>
            <a:ext cx="23368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7" name="TextBox 186"/>
          <p:cNvSpPr txBox="1"/>
          <p:nvPr/>
        </p:nvSpPr>
        <p:spPr>
          <a:xfrm>
            <a:off x="9105900" y="2870200"/>
            <a:ext cx="2336800" cy="635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Agenda, appendix list, step list. Code in Orange, title Ink, detail Muted.</a:t>
            </a:r>
          </a:p>
        </p:txBody>
      </p:sp>
      <p:sp>
        <p:nvSpPr>
          <p:cNvPr id="188" name="Rounded Rectangle 187"/>
          <p:cNvSpPr/>
          <p:nvPr/>
        </p:nvSpPr>
        <p:spPr>
          <a:xfrm>
            <a:off x="723900" y="4292600"/>
            <a:ext cx="1092200" cy="254000"/>
          </a:xfrm>
          <a:prstGeom prst="roundRect">
            <a:avLst>
              <a:gd name="adj" fmla="val 5000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9" name="TextBox 188"/>
          <p:cNvSpPr txBox="1"/>
          <p:nvPr/>
        </p:nvSpPr>
        <p:spPr>
          <a:xfrm>
            <a:off x="723900" y="4292600"/>
            <a:ext cx="1092200" cy="254000"/>
          </a:xfrm>
          <a:prstGeom prst="rect">
            <a:avLst/>
          </a:prstGeom>
          <a:noFill/>
        </p:spPr>
        <p:txBody>
          <a:bodyPr wrap="square" lIns="0" rIns="0" tIns="0" bIns="0" anchor="ctr">
            <a:spAutoFit/>
          </a:bodyPr>
          <a:lstStyle/>
          <a:p>
            <a:pPr algn="ctr"/>
            <a:r>
              <a:rPr sz="850" b="1">
                <a:solidFill>
                  <a:srgbClr val="FFFFFF"/>
                </a:solidFill>
                <a:latin typeface="Arial"/>
              </a:rPr>
              <a:t>Done</a:t>
            </a:r>
          </a:p>
        </p:txBody>
      </p:sp>
      <p:sp>
        <p:nvSpPr>
          <p:cNvPr id="190" name="Rounded Rectangle 189"/>
          <p:cNvSpPr/>
          <p:nvPr/>
        </p:nvSpPr>
        <p:spPr>
          <a:xfrm>
            <a:off x="1917700" y="4292600"/>
            <a:ext cx="1092200" cy="254000"/>
          </a:xfrm>
          <a:prstGeom prst="roundRect">
            <a:avLst>
              <a:gd name="adj" fmla="val 50000"/>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1" name="TextBox 190"/>
          <p:cNvSpPr txBox="1"/>
          <p:nvPr/>
        </p:nvSpPr>
        <p:spPr>
          <a:xfrm>
            <a:off x="1917700" y="4292600"/>
            <a:ext cx="1092200" cy="254000"/>
          </a:xfrm>
          <a:prstGeom prst="rect">
            <a:avLst/>
          </a:prstGeom>
          <a:noFill/>
        </p:spPr>
        <p:txBody>
          <a:bodyPr wrap="square" lIns="0" rIns="0" tIns="0" bIns="0" anchor="ctr">
            <a:spAutoFit/>
          </a:bodyPr>
          <a:lstStyle/>
          <a:p>
            <a:pPr algn="ctr"/>
            <a:r>
              <a:rPr sz="850" b="1">
                <a:solidFill>
                  <a:srgbClr val="FFFFFF"/>
                </a:solidFill>
                <a:latin typeface="Arial"/>
              </a:rPr>
              <a:t>On going</a:t>
            </a:r>
          </a:p>
        </p:txBody>
      </p:sp>
      <p:sp>
        <p:nvSpPr>
          <p:cNvPr id="192" name="Rounded Rectangle 191"/>
          <p:cNvSpPr/>
          <p:nvPr/>
        </p:nvSpPr>
        <p:spPr>
          <a:xfrm>
            <a:off x="723900" y="4673600"/>
            <a:ext cx="1092200" cy="254000"/>
          </a:xfrm>
          <a:prstGeom prst="roundRect">
            <a:avLst>
              <a:gd name="adj" fmla="val 50000"/>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3" name="TextBox 192"/>
          <p:cNvSpPr txBox="1"/>
          <p:nvPr/>
        </p:nvSpPr>
        <p:spPr>
          <a:xfrm>
            <a:off x="723900" y="4673600"/>
            <a:ext cx="1092200" cy="254000"/>
          </a:xfrm>
          <a:prstGeom prst="rect">
            <a:avLst/>
          </a:prstGeom>
          <a:noFill/>
        </p:spPr>
        <p:txBody>
          <a:bodyPr wrap="square" lIns="0" rIns="0" tIns="0" bIns="0" anchor="ctr">
            <a:spAutoFit/>
          </a:bodyPr>
          <a:lstStyle/>
          <a:p>
            <a:pPr algn="ctr"/>
            <a:r>
              <a:rPr sz="850" b="1">
                <a:solidFill>
                  <a:srgbClr val="6E7B84"/>
                </a:solidFill>
                <a:latin typeface="Arial"/>
              </a:rPr>
              <a:t>Not started</a:t>
            </a:r>
          </a:p>
        </p:txBody>
      </p:sp>
      <p:sp>
        <p:nvSpPr>
          <p:cNvPr id="194" name="Rounded Rectangle 193"/>
          <p:cNvSpPr/>
          <p:nvPr/>
        </p:nvSpPr>
        <p:spPr>
          <a:xfrm>
            <a:off x="1917700" y="4673600"/>
            <a:ext cx="1092200" cy="254000"/>
          </a:xfrm>
          <a:prstGeom prst="roundRect">
            <a:avLst>
              <a:gd name="adj" fmla="val 50000"/>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5" name="TextBox 194"/>
          <p:cNvSpPr txBox="1"/>
          <p:nvPr/>
        </p:nvSpPr>
        <p:spPr>
          <a:xfrm>
            <a:off x="1917700" y="4673600"/>
            <a:ext cx="1092200" cy="254000"/>
          </a:xfrm>
          <a:prstGeom prst="rect">
            <a:avLst/>
          </a:prstGeom>
          <a:noFill/>
        </p:spPr>
        <p:txBody>
          <a:bodyPr wrap="square" lIns="0" rIns="0" tIns="0" bIns="0" anchor="ctr">
            <a:spAutoFit/>
          </a:bodyPr>
          <a:lstStyle/>
          <a:p>
            <a:pPr algn="ctr"/>
            <a:r>
              <a:rPr sz="850" b="1">
                <a:solidFill>
                  <a:srgbClr val="FFFFFF"/>
                </a:solidFill>
                <a:latin typeface="Arial"/>
              </a:rPr>
              <a:t>At risk</a:t>
            </a:r>
          </a:p>
        </p:txBody>
      </p:sp>
      <p:sp>
        <p:nvSpPr>
          <p:cNvPr id="196" name="TextBox 195"/>
          <p:cNvSpPr txBox="1"/>
          <p:nvPr/>
        </p:nvSpPr>
        <p:spPr>
          <a:xfrm>
            <a:off x="723900" y="5181600"/>
            <a:ext cx="2336800" cy="889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Pill chips for status in tables and timelines. Same four words and colours everywhere in the deck.</a:t>
            </a:r>
          </a:p>
        </p:txBody>
      </p:sp>
      <p:sp>
        <p:nvSpPr>
          <p:cNvPr id="197" name="Rectangle 196"/>
          <p:cNvSpPr/>
          <p:nvPr/>
        </p:nvSpPr>
        <p:spPr>
          <a:xfrm>
            <a:off x="3517900" y="4318000"/>
            <a:ext cx="1092200" cy="304800"/>
          </a:xfrm>
          <a:prstGeom prst="rect">
            <a:avLst/>
          </a:prstGeom>
          <a:noFill/>
          <a:ln w="12700">
            <a:solidFill>
              <a:srgbClr val="E55200"/>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8" name="TextBox 197"/>
          <p:cNvSpPr txBox="1"/>
          <p:nvPr/>
        </p:nvSpPr>
        <p:spPr>
          <a:xfrm>
            <a:off x="3517900" y="4318000"/>
            <a:ext cx="1092200" cy="304800"/>
          </a:xfrm>
          <a:prstGeom prst="rect">
            <a:avLst/>
          </a:prstGeom>
          <a:noFill/>
        </p:spPr>
        <p:txBody>
          <a:bodyPr wrap="square" lIns="0" rIns="0" tIns="0" bIns="0" anchor="ctr">
            <a:spAutoFit/>
          </a:bodyPr>
          <a:lstStyle/>
          <a:p>
            <a:pPr algn="ctr"/>
            <a:r>
              <a:rPr sz="800" b="1" spc="100">
                <a:solidFill>
                  <a:srgbClr val="E55200"/>
                </a:solidFill>
                <a:latin typeface="Arial"/>
              </a:rPr>
              <a:t>SEE APPENDIX</a:t>
            </a:r>
          </a:p>
        </p:txBody>
      </p:sp>
      <p:sp>
        <p:nvSpPr>
          <p:cNvPr id="199" name="Rectangle 198"/>
          <p:cNvSpPr/>
          <p:nvPr/>
        </p:nvSpPr>
        <p:spPr>
          <a:xfrm>
            <a:off x="4737100" y="4318000"/>
            <a:ext cx="1092200" cy="3048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0" name="TextBox 199"/>
          <p:cNvSpPr txBox="1"/>
          <p:nvPr/>
        </p:nvSpPr>
        <p:spPr>
          <a:xfrm>
            <a:off x="4737100" y="4318000"/>
            <a:ext cx="1092200" cy="304800"/>
          </a:xfrm>
          <a:prstGeom prst="rect">
            <a:avLst/>
          </a:prstGeom>
          <a:noFill/>
        </p:spPr>
        <p:txBody>
          <a:bodyPr wrap="square" lIns="0" rIns="0" tIns="0" bIns="0" anchor="ctr">
            <a:spAutoFit/>
          </a:bodyPr>
          <a:lstStyle/>
          <a:p>
            <a:pPr algn="ctr"/>
            <a:r>
              <a:rPr sz="800" b="1" spc="100">
                <a:solidFill>
                  <a:srgbClr val="FFFFFF"/>
                </a:solidFill>
                <a:latin typeface="Arial"/>
              </a:rPr>
              <a:t>DECISION</a:t>
            </a:r>
          </a:p>
        </p:txBody>
      </p:sp>
      <p:sp>
        <p:nvSpPr>
          <p:cNvPr id="201" name="TextBox 200"/>
          <p:cNvSpPr txBox="1"/>
          <p:nvPr/>
        </p:nvSpPr>
        <p:spPr>
          <a:xfrm>
            <a:off x="3517900" y="4800600"/>
            <a:ext cx="2336800" cy="1270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Outline tag points to more detail; filled tag marks the one thing you ask the reviewer to decide. Max one filled tag per slide.</a:t>
            </a:r>
          </a:p>
        </p:txBody>
      </p:sp>
      <p:sp>
        <p:nvSpPr>
          <p:cNvPr id="202" name="Oval 201"/>
          <p:cNvSpPr/>
          <p:nvPr/>
        </p:nvSpPr>
        <p:spPr>
          <a:xfrm>
            <a:off x="6311900" y="4267200"/>
            <a:ext cx="228600" cy="228600"/>
          </a:xfrm>
          <a:prstGeom prst="ellipse">
            <a:avLst/>
          </a:prstGeom>
          <a:solidFill>
            <a:srgbClr val="F7F8FA"/>
          </a:solidFill>
          <a:ln w="635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3" name="TextBox 202"/>
          <p:cNvSpPr txBox="1"/>
          <p:nvPr/>
        </p:nvSpPr>
        <p:spPr>
          <a:xfrm>
            <a:off x="6311900" y="4267200"/>
            <a:ext cx="228600" cy="228600"/>
          </a:xfrm>
          <a:prstGeom prst="rect">
            <a:avLst/>
          </a:prstGeom>
          <a:noFill/>
        </p:spPr>
        <p:txBody>
          <a:bodyPr wrap="square" lIns="0" rIns="0" tIns="0" bIns="0" anchor="ctr">
            <a:spAutoFit/>
          </a:bodyPr>
          <a:lstStyle/>
          <a:p>
            <a:pPr algn="ctr"/>
            <a:r>
              <a:rPr sz="1000" b="1">
                <a:solidFill>
                  <a:srgbClr val="E55200"/>
                </a:solidFill>
                <a:latin typeface="Arial"/>
              </a:rPr>
              <a:t>›</a:t>
            </a:r>
          </a:p>
        </p:txBody>
      </p:sp>
      <p:sp>
        <p:nvSpPr>
          <p:cNvPr id="204" name="TextBox 203"/>
          <p:cNvSpPr txBox="1"/>
          <p:nvPr/>
        </p:nvSpPr>
        <p:spPr>
          <a:xfrm>
            <a:off x="6642100" y="4305300"/>
            <a:ext cx="1905000" cy="177800"/>
          </a:xfrm>
          <a:prstGeom prst="rect">
            <a:avLst/>
          </a:prstGeom>
          <a:noFill/>
        </p:spPr>
        <p:txBody>
          <a:bodyPr wrap="square" lIns="0" rIns="0" tIns="0" bIns="0" anchor="t">
            <a:spAutoFit/>
          </a:bodyPr>
          <a:lstStyle/>
          <a:p>
            <a:pPr algn="l"/>
            <a:r>
              <a:rPr sz="900" b="0">
                <a:solidFill>
                  <a:srgbClr val="26262A"/>
                </a:solidFill>
                <a:latin typeface="Arial"/>
              </a:rPr>
              <a:t>Weekly market update</a:t>
            </a:r>
          </a:p>
        </p:txBody>
      </p:sp>
      <p:sp>
        <p:nvSpPr>
          <p:cNvPr id="205" name="Oval 204"/>
          <p:cNvSpPr/>
          <p:nvPr/>
        </p:nvSpPr>
        <p:spPr>
          <a:xfrm>
            <a:off x="6311900" y="4597400"/>
            <a:ext cx="228600" cy="228600"/>
          </a:xfrm>
          <a:prstGeom prst="ellipse">
            <a:avLst/>
          </a:prstGeom>
          <a:solidFill>
            <a:srgbClr val="F7F8FA"/>
          </a:solidFill>
          <a:ln w="635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6" name="TextBox 205"/>
          <p:cNvSpPr txBox="1"/>
          <p:nvPr/>
        </p:nvSpPr>
        <p:spPr>
          <a:xfrm>
            <a:off x="6311900" y="4597400"/>
            <a:ext cx="228600" cy="228600"/>
          </a:xfrm>
          <a:prstGeom prst="rect">
            <a:avLst/>
          </a:prstGeom>
          <a:noFill/>
        </p:spPr>
        <p:txBody>
          <a:bodyPr wrap="square" lIns="0" rIns="0" tIns="0" bIns="0" anchor="ctr">
            <a:spAutoFit/>
          </a:bodyPr>
          <a:lstStyle/>
          <a:p>
            <a:pPr algn="ctr"/>
            <a:r>
              <a:rPr sz="1000" b="1">
                <a:solidFill>
                  <a:srgbClr val="E55200"/>
                </a:solidFill>
                <a:latin typeface="Arial"/>
              </a:rPr>
              <a:t>›</a:t>
            </a:r>
          </a:p>
        </p:txBody>
      </p:sp>
      <p:sp>
        <p:nvSpPr>
          <p:cNvPr id="207" name="TextBox 206"/>
          <p:cNvSpPr txBox="1"/>
          <p:nvPr/>
        </p:nvSpPr>
        <p:spPr>
          <a:xfrm>
            <a:off x="6642100" y="4635500"/>
            <a:ext cx="1905000" cy="177800"/>
          </a:xfrm>
          <a:prstGeom prst="rect">
            <a:avLst/>
          </a:prstGeom>
          <a:noFill/>
        </p:spPr>
        <p:txBody>
          <a:bodyPr wrap="square" lIns="0" rIns="0" tIns="0" bIns="0" anchor="t">
            <a:spAutoFit/>
          </a:bodyPr>
          <a:lstStyle/>
          <a:p>
            <a:pPr algn="l"/>
            <a:r>
              <a:rPr sz="900" b="0">
                <a:solidFill>
                  <a:srgbClr val="26262A"/>
                </a:solidFill>
                <a:latin typeface="Arial"/>
              </a:rPr>
              <a:t>Price simulation tool</a:t>
            </a:r>
          </a:p>
        </p:txBody>
      </p:sp>
      <p:sp>
        <p:nvSpPr>
          <p:cNvPr id="208" name="Oval 207"/>
          <p:cNvSpPr/>
          <p:nvPr/>
        </p:nvSpPr>
        <p:spPr>
          <a:xfrm>
            <a:off x="6311900" y="4927600"/>
            <a:ext cx="228600" cy="228600"/>
          </a:xfrm>
          <a:prstGeom prst="ellipse">
            <a:avLst/>
          </a:prstGeom>
          <a:solidFill>
            <a:srgbClr val="F7F8FA"/>
          </a:solidFill>
          <a:ln w="635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9" name="TextBox 208"/>
          <p:cNvSpPr txBox="1"/>
          <p:nvPr/>
        </p:nvSpPr>
        <p:spPr>
          <a:xfrm>
            <a:off x="6311900" y="4927600"/>
            <a:ext cx="228600" cy="228600"/>
          </a:xfrm>
          <a:prstGeom prst="rect">
            <a:avLst/>
          </a:prstGeom>
          <a:noFill/>
        </p:spPr>
        <p:txBody>
          <a:bodyPr wrap="square" lIns="0" rIns="0" tIns="0" bIns="0" anchor="ctr">
            <a:spAutoFit/>
          </a:bodyPr>
          <a:lstStyle/>
          <a:p>
            <a:pPr algn="ctr"/>
            <a:r>
              <a:rPr sz="1000" b="1">
                <a:solidFill>
                  <a:srgbClr val="E55200"/>
                </a:solidFill>
                <a:latin typeface="Arial"/>
              </a:rPr>
              <a:t>›</a:t>
            </a:r>
          </a:p>
        </p:txBody>
      </p:sp>
      <p:sp>
        <p:nvSpPr>
          <p:cNvPr id="210" name="TextBox 209"/>
          <p:cNvSpPr txBox="1"/>
          <p:nvPr/>
        </p:nvSpPr>
        <p:spPr>
          <a:xfrm>
            <a:off x="6642100" y="4965700"/>
            <a:ext cx="1905000" cy="177800"/>
          </a:xfrm>
          <a:prstGeom prst="rect">
            <a:avLst/>
          </a:prstGeom>
          <a:noFill/>
        </p:spPr>
        <p:txBody>
          <a:bodyPr wrap="square" lIns="0" rIns="0" tIns="0" bIns="0" anchor="t">
            <a:spAutoFit/>
          </a:bodyPr>
          <a:lstStyle/>
          <a:p>
            <a:pPr algn="l"/>
            <a:r>
              <a:rPr sz="900" b="0">
                <a:solidFill>
                  <a:srgbClr val="26262A"/>
                </a:solidFill>
                <a:latin typeface="Arial"/>
              </a:rPr>
              <a:t>Site visit photos</a:t>
            </a:r>
          </a:p>
        </p:txBody>
      </p:sp>
      <p:sp>
        <p:nvSpPr>
          <p:cNvPr id="211" name="TextBox 210"/>
          <p:cNvSpPr txBox="1"/>
          <p:nvPr/>
        </p:nvSpPr>
        <p:spPr>
          <a:xfrm>
            <a:off x="6311900" y="5334000"/>
            <a:ext cx="2336800" cy="762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Replaces plain bullets when each line is a deliverable or a resource.</a:t>
            </a:r>
          </a:p>
        </p:txBody>
      </p:sp>
      <p:sp>
        <p:nvSpPr>
          <p:cNvPr id="212" name="Rectangle 211"/>
          <p:cNvSpPr/>
          <p:nvPr/>
        </p:nvSpPr>
        <p:spPr>
          <a:xfrm>
            <a:off x="9105900" y="4267200"/>
            <a:ext cx="711200" cy="3302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3" name="TextBox 212"/>
          <p:cNvSpPr txBox="1"/>
          <p:nvPr/>
        </p:nvSpPr>
        <p:spPr>
          <a:xfrm>
            <a:off x="9105900" y="4267200"/>
            <a:ext cx="711200" cy="330200"/>
          </a:xfrm>
          <a:prstGeom prst="rect">
            <a:avLst/>
          </a:prstGeom>
          <a:noFill/>
        </p:spPr>
        <p:txBody>
          <a:bodyPr wrap="square" lIns="0" rIns="0" tIns="0" bIns="0" anchor="ctr">
            <a:spAutoFit/>
          </a:bodyPr>
          <a:lstStyle/>
          <a:p>
            <a:pPr algn="ctr"/>
            <a:r>
              <a:rPr sz="700" b="1">
                <a:solidFill>
                  <a:srgbClr val="B8BEC4"/>
                </a:solidFill>
                <a:latin typeface="Arial"/>
              </a:rPr>
              <a:t>LOGO</a:t>
            </a:r>
          </a:p>
        </p:txBody>
      </p:sp>
      <p:sp>
        <p:nvSpPr>
          <p:cNvPr id="214" name="Rectangle 213"/>
          <p:cNvSpPr/>
          <p:nvPr/>
        </p:nvSpPr>
        <p:spPr>
          <a:xfrm>
            <a:off x="9893300" y="4267200"/>
            <a:ext cx="711200" cy="3302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5" name="TextBox 214"/>
          <p:cNvSpPr txBox="1"/>
          <p:nvPr/>
        </p:nvSpPr>
        <p:spPr>
          <a:xfrm>
            <a:off x="9893300" y="4267200"/>
            <a:ext cx="711200" cy="330200"/>
          </a:xfrm>
          <a:prstGeom prst="rect">
            <a:avLst/>
          </a:prstGeom>
          <a:noFill/>
        </p:spPr>
        <p:txBody>
          <a:bodyPr wrap="square" lIns="0" rIns="0" tIns="0" bIns="0" anchor="ctr">
            <a:spAutoFit/>
          </a:bodyPr>
          <a:lstStyle/>
          <a:p>
            <a:pPr algn="ctr"/>
            <a:r>
              <a:rPr sz="700" b="1">
                <a:solidFill>
                  <a:srgbClr val="B8BEC4"/>
                </a:solidFill>
                <a:latin typeface="Arial"/>
              </a:rPr>
              <a:t>LOGO</a:t>
            </a:r>
          </a:p>
        </p:txBody>
      </p:sp>
      <p:sp>
        <p:nvSpPr>
          <p:cNvPr id="216" name="Rectangle 215"/>
          <p:cNvSpPr/>
          <p:nvPr/>
        </p:nvSpPr>
        <p:spPr>
          <a:xfrm>
            <a:off x="10680700" y="4267200"/>
            <a:ext cx="711200" cy="3302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7" name="TextBox 216"/>
          <p:cNvSpPr txBox="1"/>
          <p:nvPr/>
        </p:nvSpPr>
        <p:spPr>
          <a:xfrm>
            <a:off x="10680700" y="4267200"/>
            <a:ext cx="711200" cy="330200"/>
          </a:xfrm>
          <a:prstGeom prst="rect">
            <a:avLst/>
          </a:prstGeom>
          <a:noFill/>
        </p:spPr>
        <p:txBody>
          <a:bodyPr wrap="square" lIns="0" rIns="0" tIns="0" bIns="0" anchor="ctr">
            <a:spAutoFit/>
          </a:bodyPr>
          <a:lstStyle/>
          <a:p>
            <a:pPr algn="ctr"/>
            <a:r>
              <a:rPr sz="700" b="1">
                <a:solidFill>
                  <a:srgbClr val="B8BEC4"/>
                </a:solidFill>
                <a:latin typeface="Arial"/>
              </a:rPr>
              <a:t>LOGO</a:t>
            </a:r>
          </a:p>
        </p:txBody>
      </p:sp>
      <p:sp>
        <p:nvSpPr>
          <p:cNvPr id="218" name="Rectangle 217"/>
          <p:cNvSpPr/>
          <p:nvPr/>
        </p:nvSpPr>
        <p:spPr>
          <a:xfrm>
            <a:off x="9105900" y="4699000"/>
            <a:ext cx="711200" cy="3302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9" name="TextBox 218"/>
          <p:cNvSpPr txBox="1"/>
          <p:nvPr/>
        </p:nvSpPr>
        <p:spPr>
          <a:xfrm>
            <a:off x="9105900" y="4699000"/>
            <a:ext cx="711200" cy="330200"/>
          </a:xfrm>
          <a:prstGeom prst="rect">
            <a:avLst/>
          </a:prstGeom>
          <a:noFill/>
        </p:spPr>
        <p:txBody>
          <a:bodyPr wrap="square" lIns="0" rIns="0" tIns="0" bIns="0" anchor="ctr">
            <a:spAutoFit/>
          </a:bodyPr>
          <a:lstStyle/>
          <a:p>
            <a:pPr algn="ctr"/>
            <a:r>
              <a:rPr sz="700" b="1">
                <a:solidFill>
                  <a:srgbClr val="B8BEC4"/>
                </a:solidFill>
                <a:latin typeface="Arial"/>
              </a:rPr>
              <a:t>LOGO</a:t>
            </a:r>
          </a:p>
        </p:txBody>
      </p:sp>
      <p:sp>
        <p:nvSpPr>
          <p:cNvPr id="220" name="Rectangle 219"/>
          <p:cNvSpPr/>
          <p:nvPr/>
        </p:nvSpPr>
        <p:spPr>
          <a:xfrm>
            <a:off x="9893300" y="4699000"/>
            <a:ext cx="711200" cy="3302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1" name="TextBox 220"/>
          <p:cNvSpPr txBox="1"/>
          <p:nvPr/>
        </p:nvSpPr>
        <p:spPr>
          <a:xfrm>
            <a:off x="9893300" y="4699000"/>
            <a:ext cx="711200" cy="330200"/>
          </a:xfrm>
          <a:prstGeom prst="rect">
            <a:avLst/>
          </a:prstGeom>
          <a:noFill/>
        </p:spPr>
        <p:txBody>
          <a:bodyPr wrap="square" lIns="0" rIns="0" tIns="0" bIns="0" anchor="ctr">
            <a:spAutoFit/>
          </a:bodyPr>
          <a:lstStyle/>
          <a:p>
            <a:pPr algn="ctr"/>
            <a:r>
              <a:rPr sz="700" b="1">
                <a:solidFill>
                  <a:srgbClr val="B8BEC4"/>
                </a:solidFill>
                <a:latin typeface="Arial"/>
              </a:rPr>
              <a:t>LOGO</a:t>
            </a:r>
          </a:p>
        </p:txBody>
      </p:sp>
      <p:sp>
        <p:nvSpPr>
          <p:cNvPr id="222" name="Rectangle 221"/>
          <p:cNvSpPr/>
          <p:nvPr/>
        </p:nvSpPr>
        <p:spPr>
          <a:xfrm>
            <a:off x="10680700" y="4699000"/>
            <a:ext cx="711200" cy="3302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3" name="TextBox 222"/>
          <p:cNvSpPr txBox="1"/>
          <p:nvPr/>
        </p:nvSpPr>
        <p:spPr>
          <a:xfrm>
            <a:off x="10680700" y="4699000"/>
            <a:ext cx="711200" cy="330200"/>
          </a:xfrm>
          <a:prstGeom prst="rect">
            <a:avLst/>
          </a:prstGeom>
          <a:noFill/>
        </p:spPr>
        <p:txBody>
          <a:bodyPr wrap="square" lIns="0" rIns="0" tIns="0" bIns="0" anchor="ctr">
            <a:spAutoFit/>
          </a:bodyPr>
          <a:lstStyle/>
          <a:p>
            <a:pPr algn="ctr"/>
            <a:r>
              <a:rPr sz="700" b="1">
                <a:solidFill>
                  <a:srgbClr val="B8BEC4"/>
                </a:solidFill>
                <a:latin typeface="Arial"/>
              </a:rPr>
              <a:t>LOGO</a:t>
            </a:r>
          </a:p>
        </p:txBody>
      </p:sp>
      <p:sp>
        <p:nvSpPr>
          <p:cNvPr id="224" name="TextBox 223"/>
          <p:cNvSpPr txBox="1"/>
          <p:nvPr/>
        </p:nvSpPr>
        <p:spPr>
          <a:xfrm>
            <a:off x="9105900" y="5257800"/>
            <a:ext cx="2336800" cy="889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Partners, brands or competitors. Same box size, logos in original colours, aligned on one baseline.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CHARTS &amp; TABLES</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Highlight one series, label directly, cite the source</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0.8</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chart values are the example Medium-class units (2023–2026) from the F.lli Ferrari market study</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TextBox 127"/>
          <p:cNvSpPr txBox="1"/>
          <p:nvPr/>
        </p:nvSpPr>
        <p:spPr>
          <a:xfrm>
            <a:off x="571500" y="1066800"/>
            <a:ext cx="6096000" cy="177800"/>
          </a:xfrm>
          <a:prstGeom prst="rect">
            <a:avLst/>
          </a:prstGeom>
          <a:noFill/>
        </p:spPr>
        <p:txBody>
          <a:bodyPr wrap="square" lIns="0" rIns="0" tIns="0" bIns="0" anchor="t">
            <a:spAutoFit/>
          </a:bodyPr>
          <a:lstStyle/>
          <a:p>
            <a:pPr algn="l"/>
            <a:r>
              <a:rPr sz="850" b="1">
                <a:solidFill>
                  <a:srgbClr val="80350E"/>
                </a:solidFill>
                <a:latin typeface="Arial"/>
              </a:rPr>
              <a:t>1 · CHART — NATIVE, EDITABLE</a:t>
            </a:r>
          </a:p>
        </p:txBody>
      </p:sp>
      <p:sp>
        <p:nvSpPr>
          <p:cNvPr id="129" name="Rectangle 128"/>
          <p:cNvSpPr/>
          <p:nvPr/>
        </p:nvSpPr>
        <p:spPr>
          <a:xfrm>
            <a:off x="571500" y="1282700"/>
            <a:ext cx="6096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graphicFrame>
        <p:nvGraphicFramePr>
          <p:cNvPr id="130" name="Chart 129"/>
          <p:cNvGraphicFramePr>
            <a:graphicFrameLocks noGrp="1"/>
          </p:cNvGraphicFramePr>
          <p:nvPr/>
        </p:nvGraphicFramePr>
        <p:xfrm>
          <a:off x="571500" y="1371600"/>
          <a:ext cx="6096000" cy="2794000"/>
        </p:xfrm>
        <a:graphic>
          <a:graphicData uri="http://schemas.openxmlformats.org/drawingml/2006/chart">
            <c:chart xmlns:c="http://schemas.openxmlformats.org/drawingml/2006/chart" r:id="rId2"/>
          </a:graphicData>
        </a:graphic>
      </p:graphicFrame>
      <p:sp>
        <p:nvSpPr>
          <p:cNvPr id="131" name="TextBox 130"/>
          <p:cNvSpPr txBox="1"/>
          <p:nvPr/>
        </p:nvSpPr>
        <p:spPr>
          <a:xfrm>
            <a:off x="571500" y="4191000"/>
            <a:ext cx="6096000" cy="152400"/>
          </a:xfrm>
          <a:prstGeom prst="rect">
            <a:avLst/>
          </a:prstGeom>
          <a:noFill/>
        </p:spPr>
        <p:txBody>
          <a:bodyPr wrap="square" lIns="0" rIns="0" tIns="0" bIns="0" anchor="t">
            <a:spAutoFit/>
          </a:bodyPr>
          <a:lstStyle/>
          <a:p>
            <a:pPr algn="l"/>
            <a:r>
              <a:rPr sz="850" b="0">
                <a:solidFill>
                  <a:srgbClr val="6E7B84"/>
                </a:solidFill>
                <a:latin typeface="Arial"/>
              </a:rPr>
              <a:t>Units per year. *2026 = Jan–14 Aug.</a:t>
            </a:r>
          </a:p>
        </p:txBody>
      </p:sp>
      <p:sp>
        <p:nvSpPr>
          <p:cNvPr id="132" name="TextBox 131"/>
          <p:cNvSpPr txBox="1"/>
          <p:nvPr/>
        </p:nvSpPr>
        <p:spPr>
          <a:xfrm>
            <a:off x="571500" y="4470400"/>
            <a:ext cx="6096000" cy="177800"/>
          </a:xfrm>
          <a:prstGeom prst="rect">
            <a:avLst/>
          </a:prstGeom>
          <a:noFill/>
        </p:spPr>
        <p:txBody>
          <a:bodyPr wrap="square" lIns="0" rIns="0" tIns="0" bIns="0" anchor="t">
            <a:spAutoFit/>
          </a:bodyPr>
          <a:lstStyle/>
          <a:p>
            <a:pPr algn="l"/>
            <a:r>
              <a:rPr sz="850" b="1">
                <a:solidFill>
                  <a:srgbClr val="80350E"/>
                </a:solidFill>
                <a:latin typeface="Arial"/>
              </a:rPr>
              <a:t>2 · TABLE</a:t>
            </a:r>
          </a:p>
        </p:txBody>
      </p:sp>
      <p:sp>
        <p:nvSpPr>
          <p:cNvPr id="133" name="Rectangle 132"/>
          <p:cNvSpPr/>
          <p:nvPr/>
        </p:nvSpPr>
        <p:spPr>
          <a:xfrm>
            <a:off x="571500" y="4686300"/>
            <a:ext cx="6096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graphicFrame>
        <p:nvGraphicFramePr>
          <p:cNvPr id="134" name="Table 133"/>
          <p:cNvGraphicFramePr>
            <a:graphicFrameLocks noGrp="1"/>
          </p:cNvGraphicFramePr>
          <p:nvPr/>
        </p:nvGraphicFramePr>
        <p:xfrm>
          <a:off x="571500" y="4775200"/>
          <a:ext cx="6096000" cy="1524000"/>
        </p:xfrm>
        <a:graphic>
          <a:graphicData uri="http://schemas.openxmlformats.org/drawingml/2006/table">
            <a:tbl>
              <a:tblPr firstRow="0" bandRow="0">
                <a:tableStyleId>{5C22544A-7EE6-4342-B048-85BDC9FD1C3A}</a:tableStyleId>
              </a:tblPr>
              <a:tblGrid>
                <a:gridCol w="1524000"/>
                <a:gridCol w="1524000"/>
                <a:gridCol w="1524000"/>
                <a:gridCol w="1524000"/>
              </a:tblGrid>
              <a:tr h="304800">
                <a:tc>
                  <a:txBody>
                    <a:bodyPr/>
                    <a:lstStyle/>
                    <a:p>
                      <a:pPr algn="l"/>
                      <a:r>
                        <a:rPr sz="850" b="1">
                          <a:solidFill>
                            <a:srgbClr val="6E7B84"/>
                          </a:solidFill>
                          <a:latin typeface="Arial"/>
                        </a:rPr>
                        <a:t>Class</a:t>
                      </a:r>
                    </a:p>
                  </a:txBody>
                  <a:tcPr marL="76200" marR="76200" marT="38100" marB="38100">
                    <a:lnL w="9525">
                      <a:noFill/>
                    </a:lnL>
                    <a:lnR w="9525">
                      <a:noFill/>
                    </a:lnR>
                    <a:lnT w="9525">
                      <a:noFill/>
                    </a:lnT>
                    <a:lnB w="15240">
                      <a:solidFill>
                        <a:srgbClr val="26262A"/>
                      </a:solidFill>
                    </a:lnB>
                    <a:noFill/>
                  </a:tcPr>
                </a:tc>
                <a:tc>
                  <a:txBody>
                    <a:bodyPr/>
                    <a:lstStyle/>
                    <a:p>
                      <a:pPr algn="r"/>
                      <a:r>
                        <a:rPr sz="850" b="1">
                          <a:solidFill>
                            <a:srgbClr val="6E7B84"/>
                          </a:solidFill>
                          <a:latin typeface="Arial"/>
                        </a:rPr>
                        <a:t>Units</a:t>
                      </a:r>
                    </a:p>
                  </a:txBody>
                  <a:tcPr marL="76200" marR="76200" marT="38100" marB="38100">
                    <a:lnL w="9525">
                      <a:noFill/>
                    </a:lnL>
                    <a:lnR w="9525">
                      <a:noFill/>
                    </a:lnR>
                    <a:lnT w="9525">
                      <a:noFill/>
                    </a:lnT>
                    <a:lnB w="15240">
                      <a:solidFill>
                        <a:srgbClr val="26262A"/>
                      </a:solidFill>
                    </a:lnB>
                    <a:noFill/>
                  </a:tcPr>
                </a:tc>
                <a:tc>
                  <a:txBody>
                    <a:bodyPr/>
                    <a:lstStyle/>
                    <a:p>
                      <a:pPr algn="r"/>
                      <a:r>
                        <a:rPr sz="850" b="1">
                          <a:solidFill>
                            <a:srgbClr val="6E7B84"/>
                          </a:solidFill>
                          <a:latin typeface="Arial"/>
                        </a:rPr>
                        <a:t>Import value</a:t>
                      </a:r>
                    </a:p>
                  </a:txBody>
                  <a:tcPr marL="76200" marR="76200" marT="38100" marB="38100">
                    <a:lnL w="9525">
                      <a:noFill/>
                    </a:lnL>
                    <a:lnR w="9525">
                      <a:noFill/>
                    </a:lnR>
                    <a:lnT w="9525">
                      <a:noFill/>
                    </a:lnT>
                    <a:lnB w="15240">
                      <a:solidFill>
                        <a:srgbClr val="26262A"/>
                      </a:solidFill>
                    </a:lnB>
                    <a:noFill/>
                  </a:tcPr>
                </a:tc>
                <a:tc>
                  <a:txBody>
                    <a:bodyPr/>
                    <a:lstStyle/>
                    <a:p>
                      <a:pPr algn="r"/>
                      <a:r>
                        <a:rPr sz="850" b="1">
                          <a:solidFill>
                            <a:srgbClr val="6E7B84"/>
                          </a:solidFill>
                          <a:latin typeface="Arial"/>
                        </a:rPr>
                        <a:t>Share</a:t>
                      </a:r>
                    </a:p>
                  </a:txBody>
                  <a:tcPr marL="76200" marR="76200" marT="38100" marB="38100">
                    <a:lnL w="9525">
                      <a:noFill/>
                    </a:lnL>
                    <a:lnR w="9525">
                      <a:noFill/>
                    </a:lnR>
                    <a:lnT w="9525">
                      <a:noFill/>
                    </a:lnT>
                    <a:lnB w="15240">
                      <a:solidFill>
                        <a:srgbClr val="26262A"/>
                      </a:solidFill>
                    </a:lnB>
                    <a:noFill/>
                  </a:tcPr>
                </a:tc>
              </a:tr>
              <a:tr h="304800">
                <a:tc>
                  <a:txBody>
                    <a:bodyPr/>
                    <a:lstStyle/>
                    <a:p>
                      <a:pPr algn="l"/>
                      <a:r>
                        <a:rPr sz="950" b="0">
                          <a:solidFill>
                            <a:srgbClr val="26262A"/>
                          </a:solidFill>
                          <a:latin typeface="Arial"/>
                        </a:rPr>
                        <a:t>Light</a:t>
                      </a:r>
                    </a:p>
                  </a:txBody>
                  <a:tcPr marL="76200" marR="76200" marT="38100" marB="38100">
                    <a:lnL w="9525">
                      <a:noFill/>
                    </a:lnL>
                    <a:lnR w="9525">
                      <a:noFill/>
                    </a:lnR>
                    <a:lnT w="9525">
                      <a:noFill/>
                    </a:lnT>
                    <a:lnB w="9525">
                      <a:solidFill>
                        <a:srgbClr val="E4E8EB"/>
                      </a:solidFill>
                    </a:lnB>
                    <a:noFill/>
                  </a:tcPr>
                </a:tc>
                <a:tc>
                  <a:txBody>
                    <a:bodyPr/>
                    <a:lstStyle/>
                    <a:p>
                      <a:pPr algn="r"/>
                      <a:r>
                        <a:rPr sz="950" b="0">
                          <a:solidFill>
                            <a:srgbClr val="26262A"/>
                          </a:solidFill>
                          <a:latin typeface="Arial"/>
                        </a:rPr>
                        <a:t>177</a:t>
                      </a:r>
                    </a:p>
                  </a:txBody>
                  <a:tcPr marL="76200" marR="76200" marT="38100" marB="38100">
                    <a:lnL w="9525">
                      <a:noFill/>
                    </a:lnL>
                    <a:lnR w="9525">
                      <a:noFill/>
                    </a:lnR>
                    <a:lnT w="9525">
                      <a:noFill/>
                    </a:lnT>
                    <a:lnB w="9525">
                      <a:solidFill>
                        <a:srgbClr val="E4E8EB"/>
                      </a:solidFill>
                    </a:lnB>
                    <a:noFill/>
                  </a:tcPr>
                </a:tc>
                <a:tc>
                  <a:txBody>
                    <a:bodyPr/>
                    <a:lstStyle/>
                    <a:p>
                      <a:pPr algn="r"/>
                      <a:r>
                        <a:rPr sz="950" b="0">
                          <a:solidFill>
                            <a:srgbClr val="26262A"/>
                          </a:solidFill>
                          <a:latin typeface="Arial"/>
                        </a:rPr>
                        <a:t>Rp 40.118 jt</a:t>
                      </a:r>
                    </a:p>
                  </a:txBody>
                  <a:tcPr marL="76200" marR="76200" marT="38100" marB="38100">
                    <a:lnL w="9525">
                      <a:noFill/>
                    </a:lnL>
                    <a:lnR w="9525">
                      <a:noFill/>
                    </a:lnR>
                    <a:lnT w="9525">
                      <a:noFill/>
                    </a:lnT>
                    <a:lnB w="9525">
                      <a:solidFill>
                        <a:srgbClr val="E4E8EB"/>
                      </a:solidFill>
                    </a:lnB>
                    <a:noFill/>
                  </a:tcPr>
                </a:tc>
                <a:tc>
                  <a:txBody>
                    <a:bodyPr/>
                    <a:lstStyle/>
                    <a:p>
                      <a:pPr algn="r"/>
                      <a:r>
                        <a:rPr sz="950" b="0">
                          <a:solidFill>
                            <a:srgbClr val="26262A"/>
                          </a:solidFill>
                          <a:latin typeface="Arial"/>
                        </a:rPr>
                        <a:t>12%</a:t>
                      </a:r>
                    </a:p>
                  </a:txBody>
                  <a:tcPr marL="76200" marR="76200" marT="38100" marB="38100">
                    <a:lnL w="9525">
                      <a:noFill/>
                    </a:lnL>
                    <a:lnR w="9525">
                      <a:noFill/>
                    </a:lnR>
                    <a:lnT w="9525">
                      <a:noFill/>
                    </a:lnT>
                    <a:lnB w="9525">
                      <a:solidFill>
                        <a:srgbClr val="E4E8EB"/>
                      </a:solidFill>
                    </a:lnB>
                    <a:noFill/>
                  </a:tcPr>
                </a:tc>
              </a:tr>
              <a:tr h="304800">
                <a:tc>
                  <a:txBody>
                    <a:bodyPr/>
                    <a:lstStyle/>
                    <a:p>
                      <a:pPr algn="l"/>
                      <a:r>
                        <a:rPr sz="950" b="0">
                          <a:solidFill>
                            <a:srgbClr val="26262A"/>
                          </a:solidFill>
                          <a:latin typeface="Arial"/>
                        </a:rPr>
                        <a:t>Small</a:t>
                      </a:r>
                    </a:p>
                  </a:txBody>
                  <a:tcPr marL="76200" marR="76200" marT="38100" marB="38100">
                    <a:lnL w="9525">
                      <a:noFill/>
                    </a:lnL>
                    <a:lnR w="9525">
                      <a:noFill/>
                    </a:lnR>
                    <a:lnT w="9525">
                      <a:noFill/>
                    </a:lnT>
                    <a:lnB w="9525">
                      <a:solidFill>
                        <a:srgbClr val="E4E8EB"/>
                      </a:solidFill>
                    </a:lnB>
                    <a:noFill/>
                  </a:tcPr>
                </a:tc>
                <a:tc>
                  <a:txBody>
                    <a:bodyPr/>
                    <a:lstStyle/>
                    <a:p>
                      <a:pPr algn="r"/>
                      <a:r>
                        <a:rPr sz="950" b="0">
                          <a:solidFill>
                            <a:srgbClr val="26262A"/>
                          </a:solidFill>
                          <a:latin typeface="Arial"/>
                        </a:rPr>
                        <a:t>200</a:t>
                      </a:r>
                    </a:p>
                  </a:txBody>
                  <a:tcPr marL="76200" marR="76200" marT="38100" marB="38100">
                    <a:lnL w="9525">
                      <a:noFill/>
                    </a:lnL>
                    <a:lnR w="9525">
                      <a:noFill/>
                    </a:lnR>
                    <a:lnT w="9525">
                      <a:noFill/>
                    </a:lnT>
                    <a:lnB w="9525">
                      <a:solidFill>
                        <a:srgbClr val="E4E8EB"/>
                      </a:solidFill>
                    </a:lnB>
                    <a:noFill/>
                  </a:tcPr>
                </a:tc>
                <a:tc>
                  <a:txBody>
                    <a:bodyPr/>
                    <a:lstStyle/>
                    <a:p>
                      <a:pPr algn="r"/>
                      <a:r>
                        <a:rPr sz="950" b="0">
                          <a:solidFill>
                            <a:srgbClr val="26262A"/>
                          </a:solidFill>
                          <a:latin typeface="Arial"/>
                        </a:rPr>
                        <a:t>Rp 77.241 jt</a:t>
                      </a:r>
                    </a:p>
                  </a:txBody>
                  <a:tcPr marL="76200" marR="76200" marT="38100" marB="38100">
                    <a:lnL w="9525">
                      <a:noFill/>
                    </a:lnL>
                    <a:lnR w="9525">
                      <a:noFill/>
                    </a:lnR>
                    <a:lnT w="9525">
                      <a:noFill/>
                    </a:lnT>
                    <a:lnB w="9525">
                      <a:solidFill>
                        <a:srgbClr val="E4E8EB"/>
                      </a:solidFill>
                    </a:lnB>
                    <a:noFill/>
                  </a:tcPr>
                </a:tc>
                <a:tc>
                  <a:txBody>
                    <a:bodyPr/>
                    <a:lstStyle/>
                    <a:p>
                      <a:pPr algn="r"/>
                      <a:r>
                        <a:rPr sz="950" b="0">
                          <a:solidFill>
                            <a:srgbClr val="26262A"/>
                          </a:solidFill>
                          <a:latin typeface="Arial"/>
                        </a:rPr>
                        <a:t>24%</a:t>
                      </a:r>
                    </a:p>
                  </a:txBody>
                  <a:tcPr marL="76200" marR="76200" marT="38100" marB="38100">
                    <a:lnL w="9525">
                      <a:noFill/>
                    </a:lnL>
                    <a:lnR w="9525">
                      <a:noFill/>
                    </a:lnR>
                    <a:lnT w="9525">
                      <a:noFill/>
                    </a:lnT>
                    <a:lnB w="9525">
                      <a:solidFill>
                        <a:srgbClr val="E4E8EB"/>
                      </a:solidFill>
                    </a:lnB>
                    <a:noFill/>
                  </a:tcPr>
                </a:tc>
              </a:tr>
              <a:tr h="304800">
                <a:tc>
                  <a:txBody>
                    <a:bodyPr/>
                    <a:lstStyle/>
                    <a:p>
                      <a:pPr algn="l"/>
                      <a:r>
                        <a:rPr sz="950" b="1">
                          <a:solidFill>
                            <a:srgbClr val="E55200"/>
                          </a:solidFill>
                          <a:latin typeface="Arial"/>
                        </a:rPr>
                        <a:t>Medium</a:t>
                      </a:r>
                    </a:p>
                  </a:txBody>
                  <a:tcPr marL="76200" marR="76200" marT="38100" marB="38100">
                    <a:lnL w="9525">
                      <a:noFill/>
                    </a:lnL>
                    <a:lnR w="9525">
                      <a:noFill/>
                    </a:lnR>
                    <a:lnT w="9525">
                      <a:noFill/>
                    </a:lnT>
                    <a:lnB w="15240">
                      <a:solidFill>
                        <a:srgbClr val="26262A"/>
                      </a:solidFill>
                    </a:lnB>
                    <a:noFill/>
                  </a:tcPr>
                </a:tc>
                <a:tc>
                  <a:txBody>
                    <a:bodyPr/>
                    <a:lstStyle/>
                    <a:p>
                      <a:pPr algn="r"/>
                      <a:r>
                        <a:rPr sz="950" b="1">
                          <a:solidFill>
                            <a:srgbClr val="E55200"/>
                          </a:solidFill>
                          <a:latin typeface="Arial"/>
                        </a:rPr>
                        <a:t>196</a:t>
                      </a:r>
                    </a:p>
                  </a:txBody>
                  <a:tcPr marL="76200" marR="76200" marT="38100" marB="38100">
                    <a:lnL w="9525">
                      <a:noFill/>
                    </a:lnL>
                    <a:lnR w="9525">
                      <a:noFill/>
                    </a:lnR>
                    <a:lnT w="9525">
                      <a:noFill/>
                    </a:lnT>
                    <a:lnB w="15240">
                      <a:solidFill>
                        <a:srgbClr val="26262A"/>
                      </a:solidFill>
                    </a:lnB>
                    <a:noFill/>
                  </a:tcPr>
                </a:tc>
                <a:tc>
                  <a:txBody>
                    <a:bodyPr/>
                    <a:lstStyle/>
                    <a:p>
                      <a:pPr algn="r"/>
                      <a:r>
                        <a:rPr sz="950" b="1">
                          <a:solidFill>
                            <a:srgbClr val="E55200"/>
                          </a:solidFill>
                          <a:latin typeface="Arial"/>
                        </a:rPr>
                        <a:t>Rp 118.328 jt</a:t>
                      </a:r>
                    </a:p>
                  </a:txBody>
                  <a:tcPr marL="76200" marR="76200" marT="38100" marB="38100">
                    <a:lnL w="9525">
                      <a:noFill/>
                    </a:lnL>
                    <a:lnR w="9525">
                      <a:noFill/>
                    </a:lnR>
                    <a:lnT w="9525">
                      <a:noFill/>
                    </a:lnT>
                    <a:lnB w="15240">
                      <a:solidFill>
                        <a:srgbClr val="26262A"/>
                      </a:solidFill>
                    </a:lnB>
                    <a:noFill/>
                  </a:tcPr>
                </a:tc>
                <a:tc>
                  <a:txBody>
                    <a:bodyPr/>
                    <a:lstStyle/>
                    <a:p>
                      <a:pPr algn="r"/>
                      <a:r>
                        <a:rPr sz="950" b="1">
                          <a:solidFill>
                            <a:srgbClr val="E55200"/>
                          </a:solidFill>
                          <a:latin typeface="Arial"/>
                        </a:rPr>
                        <a:t>36%</a:t>
                      </a:r>
                    </a:p>
                  </a:txBody>
                  <a:tcPr marL="76200" marR="76200" marT="38100" marB="38100">
                    <a:lnL w="9525">
                      <a:noFill/>
                    </a:lnL>
                    <a:lnR w="9525">
                      <a:noFill/>
                    </a:lnR>
                    <a:lnT w="9525">
                      <a:noFill/>
                    </a:lnT>
                    <a:lnB w="15240">
                      <a:solidFill>
                        <a:srgbClr val="26262A"/>
                      </a:solidFill>
                    </a:lnB>
                    <a:noFill/>
                  </a:tcPr>
                </a:tc>
              </a:tr>
              <a:tr h="304800">
                <a:tc>
                  <a:txBody>
                    <a:bodyPr/>
                    <a:lstStyle/>
                    <a:p>
                      <a:pPr algn="l"/>
                      <a:r>
                        <a:rPr sz="950" b="1">
                          <a:solidFill>
                            <a:srgbClr val="26262A"/>
                          </a:solidFill>
                          <a:latin typeface="Arial"/>
                        </a:rPr>
                        <a:t>Total</a:t>
                      </a:r>
                    </a:p>
                  </a:txBody>
                  <a:tcPr marL="76200" marR="76200" marT="38100" marB="38100">
                    <a:lnL w="9525">
                      <a:noFill/>
                    </a:lnL>
                    <a:lnR w="9525">
                      <a:noFill/>
                    </a:lnR>
                    <a:lnT w="9525">
                      <a:noFill/>
                    </a:lnT>
                    <a:lnB w="9525">
                      <a:solidFill>
                        <a:srgbClr val="E4E8EB"/>
                      </a:solidFill>
                    </a:lnB>
                    <a:noFill/>
                  </a:tcPr>
                </a:tc>
                <a:tc>
                  <a:txBody>
                    <a:bodyPr/>
                    <a:lstStyle/>
                    <a:p>
                      <a:pPr algn="r"/>
                      <a:r>
                        <a:rPr sz="950" b="1">
                          <a:solidFill>
                            <a:srgbClr val="26262A"/>
                          </a:solidFill>
                          <a:latin typeface="Arial"/>
                        </a:rPr>
                        <a:t>638</a:t>
                      </a:r>
                    </a:p>
                  </a:txBody>
                  <a:tcPr marL="76200" marR="76200" marT="38100" marB="38100">
                    <a:lnL w="9525">
                      <a:noFill/>
                    </a:lnL>
                    <a:lnR w="9525">
                      <a:noFill/>
                    </a:lnR>
                    <a:lnT w="9525">
                      <a:noFill/>
                    </a:lnT>
                    <a:lnB w="9525">
                      <a:solidFill>
                        <a:srgbClr val="E4E8EB"/>
                      </a:solidFill>
                    </a:lnB>
                    <a:noFill/>
                  </a:tcPr>
                </a:tc>
                <a:tc>
                  <a:txBody>
                    <a:bodyPr/>
                    <a:lstStyle/>
                    <a:p>
                      <a:pPr algn="r"/>
                      <a:r>
                        <a:rPr sz="950" b="1">
                          <a:solidFill>
                            <a:srgbClr val="26262A"/>
                          </a:solidFill>
                          <a:latin typeface="Arial"/>
                        </a:rPr>
                        <a:t>Rp 326.841 jt</a:t>
                      </a:r>
                    </a:p>
                  </a:txBody>
                  <a:tcPr marL="76200" marR="76200" marT="38100" marB="38100">
                    <a:lnL w="9525">
                      <a:noFill/>
                    </a:lnL>
                    <a:lnR w="9525">
                      <a:noFill/>
                    </a:lnR>
                    <a:lnT w="9525">
                      <a:noFill/>
                    </a:lnT>
                    <a:lnB w="9525">
                      <a:solidFill>
                        <a:srgbClr val="E4E8EB"/>
                      </a:solidFill>
                    </a:lnB>
                    <a:noFill/>
                  </a:tcPr>
                </a:tc>
                <a:tc>
                  <a:txBody>
                    <a:bodyPr/>
                    <a:lstStyle/>
                    <a:p>
                      <a:pPr algn="r"/>
                      <a:r>
                        <a:rPr sz="950" b="1">
                          <a:solidFill>
                            <a:srgbClr val="26262A"/>
                          </a:solidFill>
                          <a:latin typeface="Arial"/>
                        </a:rPr>
                        <a:t>100%</a:t>
                      </a:r>
                    </a:p>
                  </a:txBody>
                  <a:tcPr marL="76200" marR="76200" marT="38100" marB="38100">
                    <a:lnL w="9525">
                      <a:noFill/>
                    </a:lnL>
                    <a:lnR w="9525">
                      <a:noFill/>
                    </a:lnR>
                    <a:lnT w="9525">
                      <a:noFill/>
                    </a:lnT>
                    <a:lnB w="9525">
                      <a:solidFill>
                        <a:srgbClr val="E4E8EB"/>
                      </a:solidFill>
                    </a:lnB>
                    <a:noFill/>
                  </a:tcPr>
                </a:tc>
              </a:tr>
            </a:tbl>
          </a:graphicData>
        </a:graphic>
      </p:graphicFrame>
      <p:sp>
        <p:nvSpPr>
          <p:cNvPr id="135" name="Oval 134"/>
          <p:cNvSpPr/>
          <p:nvPr/>
        </p:nvSpPr>
        <p:spPr>
          <a:xfrm>
            <a:off x="7061200" y="11176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6" name="TextBox 135"/>
          <p:cNvSpPr txBox="1"/>
          <p:nvPr/>
        </p:nvSpPr>
        <p:spPr>
          <a:xfrm>
            <a:off x="7061200" y="1117600"/>
            <a:ext cx="228600" cy="228600"/>
          </a:xfrm>
          <a:prstGeom prst="rect">
            <a:avLst/>
          </a:prstGeom>
          <a:noFill/>
        </p:spPr>
        <p:txBody>
          <a:bodyPr wrap="square" lIns="0" rIns="0" tIns="0" bIns="0" anchor="ctr">
            <a:spAutoFit/>
          </a:bodyPr>
          <a:lstStyle/>
          <a:p>
            <a:pPr algn="ctr"/>
            <a:r>
              <a:rPr sz="850" b="1">
                <a:solidFill>
                  <a:srgbClr val="FFFFFF"/>
                </a:solidFill>
                <a:latin typeface="Arial"/>
              </a:rPr>
              <a:t>1</a:t>
            </a:r>
          </a:p>
        </p:txBody>
      </p:sp>
      <p:sp>
        <p:nvSpPr>
          <p:cNvPr id="137" name="TextBox 136"/>
          <p:cNvSpPr txBox="1"/>
          <p:nvPr/>
        </p:nvSpPr>
        <p:spPr>
          <a:xfrm>
            <a:off x="7416800" y="1130300"/>
            <a:ext cx="4191000" cy="177800"/>
          </a:xfrm>
          <a:prstGeom prst="rect">
            <a:avLst/>
          </a:prstGeom>
          <a:noFill/>
        </p:spPr>
        <p:txBody>
          <a:bodyPr wrap="square" lIns="0" rIns="0" tIns="0" bIns="0" anchor="t">
            <a:spAutoFit/>
          </a:bodyPr>
          <a:lstStyle/>
          <a:p>
            <a:pPr algn="l"/>
            <a:r>
              <a:rPr sz="1000" b="1">
                <a:solidFill>
                  <a:srgbClr val="80350E"/>
                </a:solidFill>
                <a:latin typeface="Arial"/>
              </a:rPr>
              <a:t>Title = insight</a:t>
            </a:r>
          </a:p>
        </p:txBody>
      </p:sp>
      <p:sp>
        <p:nvSpPr>
          <p:cNvPr id="138" name="TextBox 137"/>
          <p:cNvSpPr txBox="1"/>
          <p:nvPr/>
        </p:nvSpPr>
        <p:spPr>
          <a:xfrm>
            <a:off x="7416800" y="1333500"/>
            <a:ext cx="4191000" cy="5080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The subtitle says what the chart shows. Units and period go in a small note under the chart.</a:t>
            </a:r>
          </a:p>
        </p:txBody>
      </p:sp>
      <p:sp>
        <p:nvSpPr>
          <p:cNvPr id="139" name="Rectangle 138"/>
          <p:cNvSpPr/>
          <p:nvPr/>
        </p:nvSpPr>
        <p:spPr>
          <a:xfrm>
            <a:off x="7061200" y="1879600"/>
            <a:ext cx="45593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0" name="Oval 139"/>
          <p:cNvSpPr/>
          <p:nvPr/>
        </p:nvSpPr>
        <p:spPr>
          <a:xfrm>
            <a:off x="7061200" y="19812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1" name="TextBox 140"/>
          <p:cNvSpPr txBox="1"/>
          <p:nvPr/>
        </p:nvSpPr>
        <p:spPr>
          <a:xfrm>
            <a:off x="7061200" y="1981200"/>
            <a:ext cx="228600" cy="228600"/>
          </a:xfrm>
          <a:prstGeom prst="rect">
            <a:avLst/>
          </a:prstGeom>
          <a:noFill/>
        </p:spPr>
        <p:txBody>
          <a:bodyPr wrap="square" lIns="0" rIns="0" tIns="0" bIns="0" anchor="ctr">
            <a:spAutoFit/>
          </a:bodyPr>
          <a:lstStyle/>
          <a:p>
            <a:pPr algn="ctr"/>
            <a:r>
              <a:rPr sz="850" b="1">
                <a:solidFill>
                  <a:srgbClr val="FFFFFF"/>
                </a:solidFill>
                <a:latin typeface="Arial"/>
              </a:rPr>
              <a:t>2</a:t>
            </a:r>
          </a:p>
        </p:txBody>
      </p:sp>
      <p:sp>
        <p:nvSpPr>
          <p:cNvPr id="142" name="TextBox 141"/>
          <p:cNvSpPr txBox="1"/>
          <p:nvPr/>
        </p:nvSpPr>
        <p:spPr>
          <a:xfrm>
            <a:off x="7416800" y="1993900"/>
            <a:ext cx="4191000" cy="177800"/>
          </a:xfrm>
          <a:prstGeom prst="rect">
            <a:avLst/>
          </a:prstGeom>
          <a:noFill/>
        </p:spPr>
        <p:txBody>
          <a:bodyPr wrap="square" lIns="0" rIns="0" tIns="0" bIns="0" anchor="t">
            <a:spAutoFit/>
          </a:bodyPr>
          <a:lstStyle/>
          <a:p>
            <a:pPr algn="l"/>
            <a:r>
              <a:rPr sz="1000" b="1">
                <a:solidFill>
                  <a:srgbClr val="80350E"/>
                </a:solidFill>
                <a:latin typeface="Arial"/>
              </a:rPr>
              <a:t>One highlight</a:t>
            </a:r>
          </a:p>
        </p:txBody>
      </p:sp>
      <p:sp>
        <p:nvSpPr>
          <p:cNvPr id="143" name="TextBox 142"/>
          <p:cNvSpPr txBox="1"/>
          <p:nvPr/>
        </p:nvSpPr>
        <p:spPr>
          <a:xfrm>
            <a:off x="7416800" y="2197100"/>
            <a:ext cx="4191000" cy="5080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Focus series in Orange, every other series Grey. Never a rainbow of categories.</a:t>
            </a:r>
          </a:p>
        </p:txBody>
      </p:sp>
      <p:sp>
        <p:nvSpPr>
          <p:cNvPr id="144" name="Rectangle 143"/>
          <p:cNvSpPr/>
          <p:nvPr/>
        </p:nvSpPr>
        <p:spPr>
          <a:xfrm>
            <a:off x="7061200" y="2743200"/>
            <a:ext cx="45593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5" name="Oval 144"/>
          <p:cNvSpPr/>
          <p:nvPr/>
        </p:nvSpPr>
        <p:spPr>
          <a:xfrm>
            <a:off x="7061200" y="28448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6" name="TextBox 145"/>
          <p:cNvSpPr txBox="1"/>
          <p:nvPr/>
        </p:nvSpPr>
        <p:spPr>
          <a:xfrm>
            <a:off x="7061200" y="2844800"/>
            <a:ext cx="228600" cy="228600"/>
          </a:xfrm>
          <a:prstGeom prst="rect">
            <a:avLst/>
          </a:prstGeom>
          <a:noFill/>
        </p:spPr>
        <p:txBody>
          <a:bodyPr wrap="square" lIns="0" rIns="0" tIns="0" bIns="0" anchor="ctr">
            <a:spAutoFit/>
          </a:bodyPr>
          <a:lstStyle/>
          <a:p>
            <a:pPr algn="ctr"/>
            <a:r>
              <a:rPr sz="850" b="1">
                <a:solidFill>
                  <a:srgbClr val="FFFFFF"/>
                </a:solidFill>
                <a:latin typeface="Arial"/>
              </a:rPr>
              <a:t>3</a:t>
            </a:r>
          </a:p>
        </p:txBody>
      </p:sp>
      <p:sp>
        <p:nvSpPr>
          <p:cNvPr id="147" name="TextBox 146"/>
          <p:cNvSpPr txBox="1"/>
          <p:nvPr/>
        </p:nvSpPr>
        <p:spPr>
          <a:xfrm>
            <a:off x="7416800" y="2857500"/>
            <a:ext cx="4191000" cy="177800"/>
          </a:xfrm>
          <a:prstGeom prst="rect">
            <a:avLst/>
          </a:prstGeom>
          <a:noFill/>
        </p:spPr>
        <p:txBody>
          <a:bodyPr wrap="square" lIns="0" rIns="0" tIns="0" bIns="0" anchor="t">
            <a:spAutoFit/>
          </a:bodyPr>
          <a:lstStyle/>
          <a:p>
            <a:pPr algn="l"/>
            <a:r>
              <a:rPr sz="1000" b="1">
                <a:solidFill>
                  <a:srgbClr val="80350E"/>
                </a:solidFill>
                <a:latin typeface="Arial"/>
              </a:rPr>
              <a:t>Label directly</a:t>
            </a:r>
          </a:p>
        </p:txBody>
      </p:sp>
      <p:sp>
        <p:nvSpPr>
          <p:cNvPr id="148" name="TextBox 147"/>
          <p:cNvSpPr txBox="1"/>
          <p:nvPr/>
        </p:nvSpPr>
        <p:spPr>
          <a:xfrm>
            <a:off x="7416800" y="3060700"/>
            <a:ext cx="4191000" cy="5080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Data labels on bars, no gridlines, hide the value axis when labels are shown.</a:t>
            </a:r>
          </a:p>
        </p:txBody>
      </p:sp>
      <p:sp>
        <p:nvSpPr>
          <p:cNvPr id="149" name="Rectangle 148"/>
          <p:cNvSpPr/>
          <p:nvPr/>
        </p:nvSpPr>
        <p:spPr>
          <a:xfrm>
            <a:off x="7061200" y="3606800"/>
            <a:ext cx="45593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0" name="Oval 149"/>
          <p:cNvSpPr/>
          <p:nvPr/>
        </p:nvSpPr>
        <p:spPr>
          <a:xfrm>
            <a:off x="7061200" y="37084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1" name="TextBox 150"/>
          <p:cNvSpPr txBox="1"/>
          <p:nvPr/>
        </p:nvSpPr>
        <p:spPr>
          <a:xfrm>
            <a:off x="7061200" y="3708400"/>
            <a:ext cx="228600" cy="228600"/>
          </a:xfrm>
          <a:prstGeom prst="rect">
            <a:avLst/>
          </a:prstGeom>
          <a:noFill/>
        </p:spPr>
        <p:txBody>
          <a:bodyPr wrap="square" lIns="0" rIns="0" tIns="0" bIns="0" anchor="ctr">
            <a:spAutoFit/>
          </a:bodyPr>
          <a:lstStyle/>
          <a:p>
            <a:pPr algn="ctr"/>
            <a:r>
              <a:rPr sz="850" b="1">
                <a:solidFill>
                  <a:srgbClr val="FFFFFF"/>
                </a:solidFill>
                <a:latin typeface="Arial"/>
              </a:rPr>
              <a:t>4</a:t>
            </a:r>
          </a:p>
        </p:txBody>
      </p:sp>
      <p:sp>
        <p:nvSpPr>
          <p:cNvPr id="152" name="TextBox 151"/>
          <p:cNvSpPr txBox="1"/>
          <p:nvPr/>
        </p:nvSpPr>
        <p:spPr>
          <a:xfrm>
            <a:off x="7416800" y="3721100"/>
            <a:ext cx="4191000" cy="177800"/>
          </a:xfrm>
          <a:prstGeom prst="rect">
            <a:avLst/>
          </a:prstGeom>
          <a:noFill/>
        </p:spPr>
        <p:txBody>
          <a:bodyPr wrap="square" lIns="0" rIns="0" tIns="0" bIns="0" anchor="t">
            <a:spAutoFit/>
          </a:bodyPr>
          <a:lstStyle/>
          <a:p>
            <a:pPr algn="l"/>
            <a:r>
              <a:rPr sz="1000" b="1">
                <a:solidFill>
                  <a:srgbClr val="80350E"/>
                </a:solidFill>
                <a:latin typeface="Arial"/>
              </a:rPr>
              <a:t>Start at zero</a:t>
            </a:r>
          </a:p>
        </p:txBody>
      </p:sp>
      <p:sp>
        <p:nvSpPr>
          <p:cNvPr id="153" name="TextBox 152"/>
          <p:cNvSpPr txBox="1"/>
          <p:nvPr/>
        </p:nvSpPr>
        <p:spPr>
          <a:xfrm>
            <a:off x="7416800" y="3924300"/>
            <a:ext cx="4191000" cy="5080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Bar axes always start at 0. No 3D, no shadows, no pie with more than 4 slices.</a:t>
            </a:r>
          </a:p>
        </p:txBody>
      </p:sp>
      <p:sp>
        <p:nvSpPr>
          <p:cNvPr id="154" name="Rectangle 153"/>
          <p:cNvSpPr/>
          <p:nvPr/>
        </p:nvSpPr>
        <p:spPr>
          <a:xfrm>
            <a:off x="7061200" y="4470400"/>
            <a:ext cx="45593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5" name="Oval 154"/>
          <p:cNvSpPr/>
          <p:nvPr/>
        </p:nvSpPr>
        <p:spPr>
          <a:xfrm>
            <a:off x="7061200" y="45720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6" name="TextBox 155"/>
          <p:cNvSpPr txBox="1"/>
          <p:nvPr/>
        </p:nvSpPr>
        <p:spPr>
          <a:xfrm>
            <a:off x="7061200" y="4572000"/>
            <a:ext cx="228600" cy="228600"/>
          </a:xfrm>
          <a:prstGeom prst="rect">
            <a:avLst/>
          </a:prstGeom>
          <a:noFill/>
        </p:spPr>
        <p:txBody>
          <a:bodyPr wrap="square" lIns="0" rIns="0" tIns="0" bIns="0" anchor="ctr">
            <a:spAutoFit/>
          </a:bodyPr>
          <a:lstStyle/>
          <a:p>
            <a:pPr algn="ctr"/>
            <a:r>
              <a:rPr sz="850" b="1">
                <a:solidFill>
                  <a:srgbClr val="FFFFFF"/>
                </a:solidFill>
                <a:latin typeface="Arial"/>
              </a:rPr>
              <a:t>5</a:t>
            </a:r>
          </a:p>
        </p:txBody>
      </p:sp>
      <p:sp>
        <p:nvSpPr>
          <p:cNvPr id="157" name="TextBox 156"/>
          <p:cNvSpPr txBox="1"/>
          <p:nvPr/>
        </p:nvSpPr>
        <p:spPr>
          <a:xfrm>
            <a:off x="7416800" y="4584700"/>
            <a:ext cx="4191000" cy="177800"/>
          </a:xfrm>
          <a:prstGeom prst="rect">
            <a:avLst/>
          </a:prstGeom>
          <a:noFill/>
        </p:spPr>
        <p:txBody>
          <a:bodyPr wrap="square" lIns="0" rIns="0" tIns="0" bIns="0" anchor="t">
            <a:spAutoFit/>
          </a:bodyPr>
          <a:lstStyle/>
          <a:p>
            <a:pPr algn="l"/>
            <a:r>
              <a:rPr sz="1000" b="1">
                <a:solidFill>
                  <a:srgbClr val="80350E"/>
                </a:solidFill>
                <a:latin typeface="Arial"/>
              </a:rPr>
              <a:t>Tables</a:t>
            </a:r>
          </a:p>
        </p:txBody>
      </p:sp>
      <p:sp>
        <p:nvSpPr>
          <p:cNvPr id="158" name="TextBox 157"/>
          <p:cNvSpPr txBox="1"/>
          <p:nvPr/>
        </p:nvSpPr>
        <p:spPr>
          <a:xfrm>
            <a:off x="7416800" y="4787900"/>
            <a:ext cx="4191000" cy="5080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Ink rule under header and before total, hairlines between rows, numbers right-aligned, totals bold.</a:t>
            </a:r>
          </a:p>
        </p:txBody>
      </p:sp>
      <p:sp>
        <p:nvSpPr>
          <p:cNvPr id="159" name="Rectangle 158"/>
          <p:cNvSpPr/>
          <p:nvPr/>
        </p:nvSpPr>
        <p:spPr>
          <a:xfrm>
            <a:off x="7061200" y="5334000"/>
            <a:ext cx="45593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0" name="Oval 159"/>
          <p:cNvSpPr/>
          <p:nvPr/>
        </p:nvSpPr>
        <p:spPr>
          <a:xfrm>
            <a:off x="7061200" y="5435600"/>
            <a:ext cx="228600" cy="228600"/>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1" name="TextBox 160"/>
          <p:cNvSpPr txBox="1"/>
          <p:nvPr/>
        </p:nvSpPr>
        <p:spPr>
          <a:xfrm>
            <a:off x="7061200" y="5435600"/>
            <a:ext cx="228600" cy="228600"/>
          </a:xfrm>
          <a:prstGeom prst="rect">
            <a:avLst/>
          </a:prstGeom>
          <a:noFill/>
        </p:spPr>
        <p:txBody>
          <a:bodyPr wrap="square" lIns="0" rIns="0" tIns="0" bIns="0" anchor="ctr">
            <a:spAutoFit/>
          </a:bodyPr>
          <a:lstStyle/>
          <a:p>
            <a:pPr algn="ctr"/>
            <a:r>
              <a:rPr sz="850" b="1">
                <a:solidFill>
                  <a:srgbClr val="FFFFFF"/>
                </a:solidFill>
                <a:latin typeface="Arial"/>
              </a:rPr>
              <a:t>6</a:t>
            </a:r>
          </a:p>
        </p:txBody>
      </p:sp>
      <p:sp>
        <p:nvSpPr>
          <p:cNvPr id="162" name="TextBox 161"/>
          <p:cNvSpPr txBox="1"/>
          <p:nvPr/>
        </p:nvSpPr>
        <p:spPr>
          <a:xfrm>
            <a:off x="7416800" y="5448300"/>
            <a:ext cx="4191000" cy="177800"/>
          </a:xfrm>
          <a:prstGeom prst="rect">
            <a:avLst/>
          </a:prstGeom>
          <a:noFill/>
        </p:spPr>
        <p:txBody>
          <a:bodyPr wrap="square" lIns="0" rIns="0" tIns="0" bIns="0" anchor="t">
            <a:spAutoFit/>
          </a:bodyPr>
          <a:lstStyle/>
          <a:p>
            <a:pPr algn="l"/>
            <a:r>
              <a:rPr sz="1000" b="1">
                <a:solidFill>
                  <a:srgbClr val="80350E"/>
                </a:solidFill>
                <a:latin typeface="Arial"/>
              </a:rPr>
              <a:t>Native only</a:t>
            </a:r>
          </a:p>
        </p:txBody>
      </p:sp>
      <p:sp>
        <p:nvSpPr>
          <p:cNvPr id="163" name="TextBox 162"/>
          <p:cNvSpPr txBox="1"/>
          <p:nvPr/>
        </p:nvSpPr>
        <p:spPr>
          <a:xfrm>
            <a:off x="7416800" y="5651500"/>
            <a:ext cx="4191000" cy="5080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Insert charts and tables from PowerPoint/Excel, never as screenshots, so they stay editable.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IMAGERY &amp; EVIDENCE</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Photos prove the work: crop with purpose, caption, cite</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a:ea typeface="+mn-ea"/>
                <a:cs typeface="+mn-cs"/>
              </a:rPr>
              <a:t>0.10</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product cutout, site photo and CRM screenshot from this review deck</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TextBox 127"/>
          <p:cNvSpPr txBox="1"/>
          <p:nvPr/>
        </p:nvSpPr>
        <p:spPr>
          <a:xfrm>
            <a:off x="571500" y="1066800"/>
            <a:ext cx="3581400" cy="177800"/>
          </a:xfrm>
          <a:prstGeom prst="rect">
            <a:avLst/>
          </a:prstGeom>
          <a:noFill/>
        </p:spPr>
        <p:txBody>
          <a:bodyPr wrap="square" lIns="0" rIns="0" tIns="0" bIns="0" anchor="t">
            <a:spAutoFit/>
          </a:bodyPr>
          <a:lstStyle/>
          <a:p>
            <a:pPr algn="l"/>
            <a:r>
              <a:rPr sz="850" b="1">
                <a:solidFill>
                  <a:srgbClr val="80350E"/>
                </a:solidFill>
                <a:latin typeface="Arial"/>
              </a:rPr>
              <a:t>1 · PRODUCT CUTOUT</a:t>
            </a:r>
          </a:p>
        </p:txBody>
      </p:sp>
      <p:sp>
        <p:nvSpPr>
          <p:cNvPr id="129" name="Rectangle 128"/>
          <p:cNvSpPr/>
          <p:nvPr/>
        </p:nvSpPr>
        <p:spPr>
          <a:xfrm>
            <a:off x="571500" y="1282700"/>
            <a:ext cx="35814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0" name="Rectangle 129"/>
          <p:cNvSpPr/>
          <p:nvPr/>
        </p:nvSpPr>
        <p:spPr>
          <a:xfrm>
            <a:off x="571500" y="1397000"/>
            <a:ext cx="3581400" cy="2413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pic>
        <p:nvPicPr>
          <p:cNvPr id="131" name="Picture 130" descr="image.png"/>
          <p:cNvPicPr>
            <a:picLocks noChangeAspect="1"/>
          </p:cNvPicPr>
          <p:nvPr/>
        </p:nvPicPr>
        <p:blipFill>
          <a:blip r:embed="rId2"/>
          <a:stretch>
            <a:fillRect/>
          </a:stretch>
        </p:blipFill>
        <p:spPr>
          <a:xfrm>
            <a:off x="749300" y="1813901"/>
            <a:ext cx="3225799" cy="1579197"/>
          </a:xfrm>
          <a:prstGeom prst="rect">
            <a:avLst/>
          </a:prstGeom>
        </p:spPr>
      </p:pic>
      <p:sp>
        <p:nvSpPr>
          <p:cNvPr id="132" name="TextBox 131"/>
          <p:cNvSpPr txBox="1"/>
          <p:nvPr/>
        </p:nvSpPr>
        <p:spPr>
          <a:xfrm>
            <a:off x="571500" y="4089400"/>
            <a:ext cx="3581400" cy="5080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Background removed, placed on Wash, same baseline and height for all units in a row.</a:t>
            </a:r>
          </a:p>
        </p:txBody>
      </p:sp>
      <p:sp>
        <p:nvSpPr>
          <p:cNvPr id="133" name="TextBox 132"/>
          <p:cNvSpPr txBox="1"/>
          <p:nvPr/>
        </p:nvSpPr>
        <p:spPr>
          <a:xfrm>
            <a:off x="4305300" y="1066800"/>
            <a:ext cx="3581400" cy="177800"/>
          </a:xfrm>
          <a:prstGeom prst="rect">
            <a:avLst/>
          </a:prstGeom>
          <a:noFill/>
        </p:spPr>
        <p:txBody>
          <a:bodyPr wrap="square" lIns="0" rIns="0" tIns="0" bIns="0" anchor="t">
            <a:spAutoFit/>
          </a:bodyPr>
          <a:lstStyle/>
          <a:p>
            <a:pPr algn="l"/>
            <a:r>
              <a:rPr sz="850" b="1">
                <a:solidFill>
                  <a:srgbClr val="80350E"/>
                </a:solidFill>
                <a:latin typeface="Arial"/>
              </a:rPr>
              <a:t>2 · FIELD PHOTO</a:t>
            </a:r>
          </a:p>
        </p:txBody>
      </p:sp>
      <p:sp>
        <p:nvSpPr>
          <p:cNvPr id="134" name="Rectangle 133"/>
          <p:cNvSpPr/>
          <p:nvPr/>
        </p:nvSpPr>
        <p:spPr>
          <a:xfrm>
            <a:off x="4305300" y="1282700"/>
            <a:ext cx="35814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pic>
        <p:nvPicPr>
          <p:cNvPr id="135" name="Picture 134" descr="image.jpg"/>
          <p:cNvPicPr>
            <a:picLocks noChangeAspect="1"/>
          </p:cNvPicPr>
          <p:nvPr/>
        </p:nvPicPr>
        <p:blipFill>
          <a:blip r:embed="rId3"/>
          <a:srcRect t="24655" b="24655"/>
          <a:stretch>
            <a:fillRect/>
          </a:stretch>
        </p:blipFill>
        <p:spPr>
          <a:xfrm>
            <a:off x="4305300" y="1397000"/>
            <a:ext cx="3581400" cy="2413000"/>
          </a:xfrm>
          <a:prstGeom prst="rect">
            <a:avLst/>
          </a:prstGeom>
        </p:spPr>
      </p:pic>
      <p:sp>
        <p:nvSpPr>
          <p:cNvPr id="136" name="Rectangle 135"/>
          <p:cNvSpPr/>
          <p:nvPr/>
        </p:nvSpPr>
        <p:spPr>
          <a:xfrm>
            <a:off x="4305300" y="3505200"/>
            <a:ext cx="3581400" cy="304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7" name="TextBox 136"/>
          <p:cNvSpPr txBox="1"/>
          <p:nvPr/>
        </p:nvSpPr>
        <p:spPr>
          <a:xfrm>
            <a:off x="4432300" y="3505200"/>
            <a:ext cx="3327400" cy="304800"/>
          </a:xfrm>
          <a:prstGeom prst="rect">
            <a:avLst/>
          </a:prstGeom>
          <a:noFill/>
        </p:spPr>
        <p:txBody>
          <a:bodyPr wrap="square" lIns="0" rIns="0" tIns="0" bIns="0" anchor="ctr">
            <a:spAutoFit/>
          </a:bodyPr>
          <a:lstStyle/>
          <a:p>
            <a:pPr algn="l"/>
            <a:r>
              <a:rPr sz="850" b="1">
                <a:solidFill>
                  <a:srgbClr val="FFFFFF"/>
                </a:solidFill>
                <a:latin typeface="Arial"/>
              </a:rPr>
              <a:t>Monitoring · plant visit · 2026</a:t>
            </a:r>
          </a:p>
        </p:txBody>
      </p:sp>
      <p:sp>
        <p:nvSpPr>
          <p:cNvPr id="138" name="TextBox 137"/>
          <p:cNvSpPr txBox="1"/>
          <p:nvPr/>
        </p:nvSpPr>
        <p:spPr>
          <a:xfrm>
            <a:off x="4305300" y="4089400"/>
            <a:ext cx="3581400" cy="5080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Crop to the action (people, unit, plant). Caption bar: what, where, when.</a:t>
            </a:r>
          </a:p>
        </p:txBody>
      </p:sp>
      <p:sp>
        <p:nvSpPr>
          <p:cNvPr id="139" name="TextBox 138"/>
          <p:cNvSpPr txBox="1"/>
          <p:nvPr/>
        </p:nvSpPr>
        <p:spPr>
          <a:xfrm>
            <a:off x="8039100" y="1066800"/>
            <a:ext cx="3581400" cy="177800"/>
          </a:xfrm>
          <a:prstGeom prst="rect">
            <a:avLst/>
          </a:prstGeom>
          <a:noFill/>
        </p:spPr>
        <p:txBody>
          <a:bodyPr wrap="square" lIns="0" rIns="0" tIns="0" bIns="0" anchor="t">
            <a:spAutoFit/>
          </a:bodyPr>
          <a:lstStyle/>
          <a:p>
            <a:pPr algn="l"/>
            <a:r>
              <a:rPr sz="850" b="1">
                <a:solidFill>
                  <a:srgbClr val="80350E"/>
                </a:solidFill>
                <a:latin typeface="Arial"/>
              </a:rPr>
              <a:t>3 · EVIDENCE SCREENSHOT</a:t>
            </a:r>
          </a:p>
        </p:txBody>
      </p:sp>
      <p:sp>
        <p:nvSpPr>
          <p:cNvPr id="140" name="Rectangle 139"/>
          <p:cNvSpPr/>
          <p:nvPr/>
        </p:nvSpPr>
        <p:spPr>
          <a:xfrm>
            <a:off x="8039100" y="1282700"/>
            <a:ext cx="35814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pic>
        <p:nvPicPr>
          <p:cNvPr id="141" name="Picture 140" descr="image.png"/>
          <p:cNvPicPr>
            <a:picLocks noChangeAspect="1"/>
          </p:cNvPicPr>
          <p:nvPr/>
        </p:nvPicPr>
        <p:blipFill>
          <a:blip r:embed="rId4"/>
          <a:srcRect l="12895" r="12895"/>
          <a:stretch>
            <a:fillRect/>
          </a:stretch>
        </p:blipFill>
        <p:spPr>
          <a:xfrm>
            <a:off x="8039100" y="1397000"/>
            <a:ext cx="3581400" cy="2413000"/>
          </a:xfrm>
          <a:prstGeom prst="rect">
            <a:avLst/>
          </a:prstGeom>
          <a:ln w="9525">
            <a:solidFill>
              <a:srgbClr val="C9D0D7"/>
            </a:solidFill>
          </a:ln>
        </p:spPr>
      </p:pic>
      <p:sp>
        <p:nvSpPr>
          <p:cNvPr id="142" name="TextBox 141"/>
          <p:cNvSpPr txBox="1"/>
          <p:nvPr/>
        </p:nvSpPr>
        <p:spPr>
          <a:xfrm>
            <a:off x="8039100" y="3860800"/>
            <a:ext cx="3581400" cy="152400"/>
          </a:xfrm>
          <a:prstGeom prst="rect">
            <a:avLst/>
          </a:prstGeom>
          <a:noFill/>
        </p:spPr>
        <p:txBody>
          <a:bodyPr wrap="square" lIns="0" rIns="0" tIns="0" bIns="0" anchor="t">
            <a:spAutoFit/>
          </a:bodyPr>
          <a:lstStyle/>
          <a:p>
            <a:pPr algn="l"/>
            <a:r>
              <a:rPr sz="800" b="0">
                <a:solidFill>
                  <a:srgbClr val="6E7B84"/>
                </a:solidFill>
                <a:latin typeface="Arial"/>
              </a:rPr>
              <a:t>Source: CRM, Triatra</a:t>
            </a:r>
          </a:p>
        </p:txBody>
      </p:sp>
      <p:sp>
        <p:nvSpPr>
          <p:cNvPr id="143" name="TextBox 142"/>
          <p:cNvSpPr txBox="1"/>
          <p:nvPr/>
        </p:nvSpPr>
        <p:spPr>
          <a:xfrm>
            <a:off x="8039100" y="4089400"/>
            <a:ext cx="3581400" cy="5080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Crop to the part that proves the point, 0.75 pt Border frame, source under it.</a:t>
            </a:r>
          </a:p>
        </p:txBody>
      </p:sp>
      <p:sp>
        <p:nvSpPr>
          <p:cNvPr id="144" name="TextBox 143"/>
          <p:cNvSpPr txBox="1"/>
          <p:nvPr/>
        </p:nvSpPr>
        <p:spPr>
          <a:xfrm>
            <a:off x="571500" y="4724400"/>
            <a:ext cx="11049000" cy="177800"/>
          </a:xfrm>
          <a:prstGeom prst="rect">
            <a:avLst/>
          </a:prstGeom>
          <a:noFill/>
        </p:spPr>
        <p:txBody>
          <a:bodyPr wrap="square" lIns="0" rIns="0" tIns="0" bIns="0" anchor="t">
            <a:spAutoFit/>
          </a:bodyPr>
          <a:lstStyle/>
          <a:p>
            <a:pPr algn="l"/>
            <a:r>
              <a:rPr sz="850" b="1">
                <a:solidFill>
                  <a:srgbClr val="80350E"/>
                </a:solidFill>
                <a:latin typeface="Arial"/>
              </a:rPr>
              <a:t>4 · AVOID</a:t>
            </a:r>
          </a:p>
        </p:txBody>
      </p:sp>
      <p:sp>
        <p:nvSpPr>
          <p:cNvPr id="145" name="Rectangle 144"/>
          <p:cNvSpPr/>
          <p:nvPr/>
        </p:nvSpPr>
        <p:spPr>
          <a:xfrm>
            <a:off x="571500" y="4940300"/>
            <a:ext cx="1104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6" name="Rectangle 145"/>
          <p:cNvSpPr/>
          <p:nvPr/>
        </p:nvSpPr>
        <p:spPr>
          <a:xfrm>
            <a:off x="571500" y="5054600"/>
            <a:ext cx="2641600" cy="1270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7" name="TextBox 146"/>
          <p:cNvSpPr txBox="1"/>
          <p:nvPr/>
        </p:nvSpPr>
        <p:spPr>
          <a:xfrm>
            <a:off x="723900" y="5181600"/>
            <a:ext cx="2336800" cy="177800"/>
          </a:xfrm>
          <a:prstGeom prst="rect">
            <a:avLst/>
          </a:prstGeom>
          <a:noFill/>
        </p:spPr>
        <p:txBody>
          <a:bodyPr wrap="square" lIns="0" rIns="0" tIns="0" bIns="0" anchor="t">
            <a:spAutoFit/>
          </a:bodyPr>
          <a:lstStyle/>
          <a:p>
            <a:pPr algn="l"/>
            <a:r>
              <a:rPr sz="1000" b="1">
                <a:solidFill>
                  <a:srgbClr val="E55200"/>
                </a:solidFill>
                <a:latin typeface="Arial"/>
              </a:rPr>
              <a:t>Stretched images</a:t>
            </a:r>
          </a:p>
        </p:txBody>
      </p:sp>
      <p:sp>
        <p:nvSpPr>
          <p:cNvPr id="148" name="TextBox 147"/>
          <p:cNvSpPr txBox="1"/>
          <p:nvPr/>
        </p:nvSpPr>
        <p:spPr>
          <a:xfrm>
            <a:off x="723900" y="5410200"/>
            <a:ext cx="2336800" cy="8128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Lock the aspect ratio; crop instead of squeezing.</a:t>
            </a:r>
          </a:p>
        </p:txBody>
      </p:sp>
      <p:sp>
        <p:nvSpPr>
          <p:cNvPr id="149" name="Rectangle 148"/>
          <p:cNvSpPr/>
          <p:nvPr/>
        </p:nvSpPr>
        <p:spPr>
          <a:xfrm>
            <a:off x="3365500" y="5054600"/>
            <a:ext cx="2641600" cy="1270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0" name="TextBox 149"/>
          <p:cNvSpPr txBox="1"/>
          <p:nvPr/>
        </p:nvSpPr>
        <p:spPr>
          <a:xfrm>
            <a:off x="3517900" y="5181600"/>
            <a:ext cx="2336800" cy="177800"/>
          </a:xfrm>
          <a:prstGeom prst="rect">
            <a:avLst/>
          </a:prstGeom>
          <a:noFill/>
        </p:spPr>
        <p:txBody>
          <a:bodyPr wrap="square" lIns="0" rIns="0" tIns="0" bIns="0" anchor="t">
            <a:spAutoFit/>
          </a:bodyPr>
          <a:lstStyle/>
          <a:p>
            <a:pPr algn="l"/>
            <a:r>
              <a:rPr sz="1000" b="1">
                <a:solidFill>
                  <a:srgbClr val="E55200"/>
                </a:solidFill>
                <a:latin typeface="Arial"/>
              </a:rPr>
              <a:t>Low resolution</a:t>
            </a:r>
          </a:p>
        </p:txBody>
      </p:sp>
      <p:sp>
        <p:nvSpPr>
          <p:cNvPr id="151" name="TextBox 150"/>
          <p:cNvSpPr txBox="1"/>
          <p:nvPr/>
        </p:nvSpPr>
        <p:spPr>
          <a:xfrm>
            <a:off x="3517900" y="5410200"/>
            <a:ext cx="2336800" cy="8128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Use originals. Below ~150 dpi at the printed size looks blurry.</a:t>
            </a:r>
          </a:p>
        </p:txBody>
      </p:sp>
      <p:sp>
        <p:nvSpPr>
          <p:cNvPr id="152" name="Rectangle 151"/>
          <p:cNvSpPr/>
          <p:nvPr/>
        </p:nvSpPr>
        <p:spPr>
          <a:xfrm>
            <a:off x="6159500" y="5054600"/>
            <a:ext cx="2641600" cy="1270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3" name="TextBox 152"/>
          <p:cNvSpPr txBox="1"/>
          <p:nvPr/>
        </p:nvSpPr>
        <p:spPr>
          <a:xfrm>
            <a:off x="6311900" y="5181600"/>
            <a:ext cx="2336800" cy="177800"/>
          </a:xfrm>
          <a:prstGeom prst="rect">
            <a:avLst/>
          </a:prstGeom>
          <a:noFill/>
        </p:spPr>
        <p:txBody>
          <a:bodyPr wrap="square" lIns="0" rIns="0" tIns="0" bIns="0" anchor="t">
            <a:spAutoFit/>
          </a:bodyPr>
          <a:lstStyle/>
          <a:p>
            <a:pPr algn="l"/>
            <a:r>
              <a:rPr sz="1000" b="1">
                <a:solidFill>
                  <a:srgbClr val="E55200"/>
                </a:solidFill>
                <a:latin typeface="Arial"/>
              </a:rPr>
              <a:t>Mixed styles</a:t>
            </a:r>
          </a:p>
        </p:txBody>
      </p:sp>
      <p:sp>
        <p:nvSpPr>
          <p:cNvPr id="154" name="TextBox 153"/>
          <p:cNvSpPr txBox="1"/>
          <p:nvPr/>
        </p:nvSpPr>
        <p:spPr>
          <a:xfrm>
            <a:off x="6311900" y="5410200"/>
            <a:ext cx="2336800" cy="8128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One corner style per slide: all square or all rounded.</a:t>
            </a:r>
          </a:p>
        </p:txBody>
      </p:sp>
      <p:sp>
        <p:nvSpPr>
          <p:cNvPr id="155" name="Rectangle 154"/>
          <p:cNvSpPr/>
          <p:nvPr/>
        </p:nvSpPr>
        <p:spPr>
          <a:xfrm>
            <a:off x="8953500" y="5054600"/>
            <a:ext cx="2641600" cy="12700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6" name="TextBox 155"/>
          <p:cNvSpPr txBox="1"/>
          <p:nvPr/>
        </p:nvSpPr>
        <p:spPr>
          <a:xfrm>
            <a:off x="9105900" y="5181600"/>
            <a:ext cx="2336800" cy="177800"/>
          </a:xfrm>
          <a:prstGeom prst="rect">
            <a:avLst/>
          </a:prstGeom>
          <a:noFill/>
        </p:spPr>
        <p:txBody>
          <a:bodyPr wrap="square" lIns="0" rIns="0" tIns="0" bIns="0" anchor="t">
            <a:spAutoFit/>
          </a:bodyPr>
          <a:lstStyle/>
          <a:p>
            <a:pPr algn="l"/>
            <a:r>
              <a:rPr sz="1000" b="1">
                <a:solidFill>
                  <a:srgbClr val="E55200"/>
                </a:solidFill>
                <a:latin typeface="Arial"/>
              </a:rPr>
              <a:t>Decoration only</a:t>
            </a:r>
          </a:p>
        </p:txBody>
      </p:sp>
      <p:sp>
        <p:nvSpPr>
          <p:cNvPr id="157" name="TextBox 156"/>
          <p:cNvSpPr txBox="1"/>
          <p:nvPr/>
        </p:nvSpPr>
        <p:spPr>
          <a:xfrm>
            <a:off x="9105900" y="5410200"/>
            <a:ext cx="2336800" cy="8128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Every photo must show the unit, the place or the result.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PAGE TYPES</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Eight page types cover the whole 6-month review</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a:ea typeface="+mn-ea"/>
                <a:cs typeface="+mn-cs"/>
              </a:rPr>
              <a:t>0.11</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Triatra Template PPT 2026 V3; design references collected for this guide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Rectangle 127"/>
          <p:cNvSpPr/>
          <p:nvPr/>
        </p:nvSpPr>
        <p:spPr>
          <a:xfrm>
            <a:off x="571500" y="1092200"/>
            <a:ext cx="2540000" cy="142875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29" name="Rectangle 128"/>
          <p:cNvSpPr/>
          <p:nvPr/>
        </p:nvSpPr>
        <p:spPr>
          <a:xfrm>
            <a:off x="1765300" y="1092200"/>
            <a:ext cx="1346200" cy="142875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0" name="Rectangle 129"/>
          <p:cNvSpPr/>
          <p:nvPr/>
        </p:nvSpPr>
        <p:spPr>
          <a:xfrm>
            <a:off x="698500" y="1600200"/>
            <a:ext cx="762000" cy="1016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1" name="Rectangle 130"/>
          <p:cNvSpPr/>
          <p:nvPr/>
        </p:nvSpPr>
        <p:spPr>
          <a:xfrm>
            <a:off x="698500" y="1778000"/>
            <a:ext cx="508000" cy="381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2" name="Rectangle 131"/>
          <p:cNvSpPr/>
          <p:nvPr/>
        </p:nvSpPr>
        <p:spPr>
          <a:xfrm>
            <a:off x="698500" y="2159000"/>
            <a:ext cx="889000" cy="508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3" name="TextBox 132"/>
          <p:cNvSpPr txBox="1"/>
          <p:nvPr/>
        </p:nvSpPr>
        <p:spPr>
          <a:xfrm>
            <a:off x="571500" y="2622550"/>
            <a:ext cx="2540000" cy="177800"/>
          </a:xfrm>
          <a:prstGeom prst="rect">
            <a:avLst/>
          </a:prstGeom>
          <a:noFill/>
        </p:spPr>
        <p:txBody>
          <a:bodyPr wrap="square" lIns="0" rIns="0" tIns="0" bIns="0" anchor="t">
            <a:spAutoFit/>
          </a:bodyPr>
          <a:lstStyle/>
          <a:p>
            <a:pPr algn="l"/>
            <a:r>
              <a:rPr sz="1000" b="1">
                <a:solidFill>
                  <a:srgbClr val="26262A"/>
                </a:solidFill>
                <a:latin typeface="Arial"/>
              </a:rPr>
              <a:t>01  Cover</a:t>
            </a:r>
          </a:p>
        </p:txBody>
      </p:sp>
      <p:sp>
        <p:nvSpPr>
          <p:cNvPr id="134" name="TextBox 133"/>
          <p:cNvSpPr txBox="1"/>
          <p:nvPr/>
        </p:nvSpPr>
        <p:spPr>
          <a:xfrm>
            <a:off x="571500" y="2825750"/>
            <a:ext cx="2540000" cy="508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Template title slide; title, prepared for, date</a:t>
            </a:r>
          </a:p>
        </p:txBody>
      </p:sp>
      <p:sp>
        <p:nvSpPr>
          <p:cNvPr id="135" name="Rectangle 134"/>
          <p:cNvSpPr/>
          <p:nvPr/>
        </p:nvSpPr>
        <p:spPr>
          <a:xfrm>
            <a:off x="3407410" y="1092200"/>
            <a:ext cx="2540000" cy="142875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6" name="Rectangle 135"/>
          <p:cNvSpPr/>
          <p:nvPr/>
        </p:nvSpPr>
        <p:spPr>
          <a:xfrm>
            <a:off x="3470910" y="1168400"/>
            <a:ext cx="152400" cy="889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7" name="Rectangle 136"/>
          <p:cNvSpPr/>
          <p:nvPr/>
        </p:nvSpPr>
        <p:spPr>
          <a:xfrm>
            <a:off x="3686810" y="1155700"/>
            <a:ext cx="762000" cy="4445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8" name="Rectangle 137"/>
          <p:cNvSpPr/>
          <p:nvPr/>
        </p:nvSpPr>
        <p:spPr>
          <a:xfrm>
            <a:off x="3686810" y="1231900"/>
            <a:ext cx="1270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9" name="Rectangle 138"/>
          <p:cNvSpPr/>
          <p:nvPr/>
        </p:nvSpPr>
        <p:spPr>
          <a:xfrm>
            <a:off x="3407410" y="1333500"/>
            <a:ext cx="2540000" cy="762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0" name="Rectangle 139"/>
          <p:cNvSpPr/>
          <p:nvPr/>
        </p:nvSpPr>
        <p:spPr>
          <a:xfrm>
            <a:off x="3661410" y="1447800"/>
            <a:ext cx="101600" cy="762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1" name="Rectangle 140"/>
          <p:cNvSpPr/>
          <p:nvPr/>
        </p:nvSpPr>
        <p:spPr>
          <a:xfrm>
            <a:off x="3839210" y="1460500"/>
            <a:ext cx="1143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2" name="Rectangle 141"/>
          <p:cNvSpPr/>
          <p:nvPr/>
        </p:nvSpPr>
        <p:spPr>
          <a:xfrm>
            <a:off x="3661410" y="1562100"/>
            <a:ext cx="2032000" cy="635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3" name="Rectangle 142"/>
          <p:cNvSpPr/>
          <p:nvPr/>
        </p:nvSpPr>
        <p:spPr>
          <a:xfrm>
            <a:off x="3661410" y="1612900"/>
            <a:ext cx="101600" cy="762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4" name="Rectangle 143"/>
          <p:cNvSpPr/>
          <p:nvPr/>
        </p:nvSpPr>
        <p:spPr>
          <a:xfrm>
            <a:off x="3839210" y="1625600"/>
            <a:ext cx="1143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5" name="Rectangle 144"/>
          <p:cNvSpPr/>
          <p:nvPr/>
        </p:nvSpPr>
        <p:spPr>
          <a:xfrm>
            <a:off x="3661410" y="1727200"/>
            <a:ext cx="2032000" cy="635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6" name="Rectangle 145"/>
          <p:cNvSpPr/>
          <p:nvPr/>
        </p:nvSpPr>
        <p:spPr>
          <a:xfrm>
            <a:off x="3661410" y="1778000"/>
            <a:ext cx="101600" cy="762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7" name="Rectangle 146"/>
          <p:cNvSpPr/>
          <p:nvPr/>
        </p:nvSpPr>
        <p:spPr>
          <a:xfrm>
            <a:off x="3839210" y="1790700"/>
            <a:ext cx="1143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8" name="Rectangle 147"/>
          <p:cNvSpPr/>
          <p:nvPr/>
        </p:nvSpPr>
        <p:spPr>
          <a:xfrm>
            <a:off x="3661410" y="1892300"/>
            <a:ext cx="2032000" cy="635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9" name="Rectangle 148"/>
          <p:cNvSpPr/>
          <p:nvPr/>
        </p:nvSpPr>
        <p:spPr>
          <a:xfrm>
            <a:off x="3661410" y="1943100"/>
            <a:ext cx="101600" cy="762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0" name="Rectangle 149"/>
          <p:cNvSpPr/>
          <p:nvPr/>
        </p:nvSpPr>
        <p:spPr>
          <a:xfrm>
            <a:off x="3839210" y="1955800"/>
            <a:ext cx="1143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1" name="Rectangle 150"/>
          <p:cNvSpPr/>
          <p:nvPr/>
        </p:nvSpPr>
        <p:spPr>
          <a:xfrm>
            <a:off x="3661410" y="2057400"/>
            <a:ext cx="2032000" cy="635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2" name="Rectangle 151"/>
          <p:cNvSpPr/>
          <p:nvPr/>
        </p:nvSpPr>
        <p:spPr>
          <a:xfrm>
            <a:off x="3661410" y="2108200"/>
            <a:ext cx="101600" cy="762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3" name="Rectangle 152"/>
          <p:cNvSpPr/>
          <p:nvPr/>
        </p:nvSpPr>
        <p:spPr>
          <a:xfrm>
            <a:off x="3839210" y="2120900"/>
            <a:ext cx="1143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4" name="Rectangle 153"/>
          <p:cNvSpPr/>
          <p:nvPr/>
        </p:nvSpPr>
        <p:spPr>
          <a:xfrm>
            <a:off x="3661410" y="2222500"/>
            <a:ext cx="2032000" cy="635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5" name="Rectangle 154"/>
          <p:cNvSpPr/>
          <p:nvPr/>
        </p:nvSpPr>
        <p:spPr>
          <a:xfrm>
            <a:off x="3661410" y="2273300"/>
            <a:ext cx="101600" cy="762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6" name="Rectangle 155"/>
          <p:cNvSpPr/>
          <p:nvPr/>
        </p:nvSpPr>
        <p:spPr>
          <a:xfrm>
            <a:off x="3839210" y="2286000"/>
            <a:ext cx="1143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7" name="Rectangle 156"/>
          <p:cNvSpPr/>
          <p:nvPr/>
        </p:nvSpPr>
        <p:spPr>
          <a:xfrm>
            <a:off x="3661410" y="2387600"/>
            <a:ext cx="2032000" cy="635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8" name="TextBox 157"/>
          <p:cNvSpPr txBox="1"/>
          <p:nvPr/>
        </p:nvSpPr>
        <p:spPr>
          <a:xfrm>
            <a:off x="3407410" y="2622550"/>
            <a:ext cx="2540000" cy="177800"/>
          </a:xfrm>
          <a:prstGeom prst="rect">
            <a:avLst/>
          </a:prstGeom>
          <a:noFill/>
        </p:spPr>
        <p:txBody>
          <a:bodyPr wrap="square" lIns="0" rIns="0" tIns="0" bIns="0" anchor="t">
            <a:spAutoFit/>
          </a:bodyPr>
          <a:lstStyle/>
          <a:p>
            <a:pPr algn="l"/>
            <a:r>
              <a:rPr sz="1000" b="1">
                <a:solidFill>
                  <a:srgbClr val="26262A"/>
                </a:solidFill>
                <a:latin typeface="Arial"/>
              </a:rPr>
              <a:t>02  Agenda</a:t>
            </a:r>
          </a:p>
        </p:txBody>
      </p:sp>
      <p:sp>
        <p:nvSpPr>
          <p:cNvPr id="159" name="TextBox 158"/>
          <p:cNvSpPr txBox="1"/>
          <p:nvPr/>
        </p:nvSpPr>
        <p:spPr>
          <a:xfrm>
            <a:off x="3407410" y="2825750"/>
            <a:ext cx="2540000" cy="508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Numbered list, one line per section</a:t>
            </a:r>
          </a:p>
        </p:txBody>
      </p:sp>
      <p:sp>
        <p:nvSpPr>
          <p:cNvPr id="160" name="Rectangle 159"/>
          <p:cNvSpPr/>
          <p:nvPr/>
        </p:nvSpPr>
        <p:spPr>
          <a:xfrm>
            <a:off x="6243320" y="1092200"/>
            <a:ext cx="2540000" cy="142875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1" name="Rectangle 160"/>
          <p:cNvSpPr/>
          <p:nvPr/>
        </p:nvSpPr>
        <p:spPr>
          <a:xfrm>
            <a:off x="6243320" y="1092200"/>
            <a:ext cx="812800" cy="142875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2" name="Rectangle 161"/>
          <p:cNvSpPr/>
          <p:nvPr/>
        </p:nvSpPr>
        <p:spPr>
          <a:xfrm>
            <a:off x="6370320" y="1727200"/>
            <a:ext cx="508000" cy="114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3" name="Rectangle 162"/>
          <p:cNvSpPr/>
          <p:nvPr/>
        </p:nvSpPr>
        <p:spPr>
          <a:xfrm>
            <a:off x="7284720" y="1473200"/>
            <a:ext cx="635000" cy="50800"/>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4" name="Rectangle 163"/>
          <p:cNvSpPr/>
          <p:nvPr/>
        </p:nvSpPr>
        <p:spPr>
          <a:xfrm>
            <a:off x="7284720" y="1625600"/>
            <a:ext cx="1270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5" name="Rectangle 164"/>
          <p:cNvSpPr/>
          <p:nvPr/>
        </p:nvSpPr>
        <p:spPr>
          <a:xfrm>
            <a:off x="7284720" y="1778000"/>
            <a:ext cx="1270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6" name="Rectangle 165"/>
          <p:cNvSpPr/>
          <p:nvPr/>
        </p:nvSpPr>
        <p:spPr>
          <a:xfrm>
            <a:off x="7284720" y="1930400"/>
            <a:ext cx="1270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7" name="Rectangle 166"/>
          <p:cNvSpPr/>
          <p:nvPr/>
        </p:nvSpPr>
        <p:spPr>
          <a:xfrm>
            <a:off x="7284720" y="2082800"/>
            <a:ext cx="1270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8" name="TextBox 167"/>
          <p:cNvSpPr txBox="1"/>
          <p:nvPr/>
        </p:nvSpPr>
        <p:spPr>
          <a:xfrm>
            <a:off x="6243320" y="2622550"/>
            <a:ext cx="2540000" cy="177800"/>
          </a:xfrm>
          <a:prstGeom prst="rect">
            <a:avLst/>
          </a:prstGeom>
          <a:noFill/>
        </p:spPr>
        <p:txBody>
          <a:bodyPr wrap="square" lIns="0" rIns="0" tIns="0" bIns="0" anchor="t">
            <a:spAutoFit/>
          </a:bodyPr>
          <a:lstStyle/>
          <a:p>
            <a:pPr algn="l"/>
            <a:r>
              <a:rPr sz="1000" b="1">
                <a:solidFill>
                  <a:srgbClr val="26262A"/>
                </a:solidFill>
                <a:latin typeface="Arial"/>
              </a:rPr>
              <a:t>03  Section divider</a:t>
            </a:r>
          </a:p>
        </p:txBody>
      </p:sp>
      <p:sp>
        <p:nvSpPr>
          <p:cNvPr id="169" name="TextBox 168"/>
          <p:cNvSpPr txBox="1"/>
          <p:nvPr/>
        </p:nvSpPr>
        <p:spPr>
          <a:xfrm>
            <a:off x="6243320" y="2825750"/>
            <a:ext cx="2540000" cy="508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Orange panel left, section number + list</a:t>
            </a:r>
          </a:p>
        </p:txBody>
      </p:sp>
      <p:sp>
        <p:nvSpPr>
          <p:cNvPr id="170" name="Rectangle 169"/>
          <p:cNvSpPr/>
          <p:nvPr/>
        </p:nvSpPr>
        <p:spPr>
          <a:xfrm>
            <a:off x="9079230" y="1092200"/>
            <a:ext cx="2540000" cy="142875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1" name="Rectangle 170"/>
          <p:cNvSpPr/>
          <p:nvPr/>
        </p:nvSpPr>
        <p:spPr>
          <a:xfrm>
            <a:off x="9142730" y="1168400"/>
            <a:ext cx="152400" cy="889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2" name="Rectangle 171"/>
          <p:cNvSpPr/>
          <p:nvPr/>
        </p:nvSpPr>
        <p:spPr>
          <a:xfrm>
            <a:off x="9358630" y="1155700"/>
            <a:ext cx="762000" cy="4445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3" name="Rectangle 172"/>
          <p:cNvSpPr/>
          <p:nvPr/>
        </p:nvSpPr>
        <p:spPr>
          <a:xfrm>
            <a:off x="9358630" y="1231900"/>
            <a:ext cx="1270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4" name="Rectangle 173"/>
          <p:cNvSpPr/>
          <p:nvPr/>
        </p:nvSpPr>
        <p:spPr>
          <a:xfrm>
            <a:off x="9079230" y="1333500"/>
            <a:ext cx="2540000" cy="762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5" name="Rectangle 174"/>
          <p:cNvSpPr/>
          <p:nvPr/>
        </p:nvSpPr>
        <p:spPr>
          <a:xfrm>
            <a:off x="9206230" y="1473200"/>
            <a:ext cx="6985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6" name="Rectangle 175"/>
          <p:cNvSpPr/>
          <p:nvPr/>
        </p:nvSpPr>
        <p:spPr>
          <a:xfrm>
            <a:off x="9206230" y="1600200"/>
            <a:ext cx="698500" cy="508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7" name="Rectangle 176"/>
          <p:cNvSpPr/>
          <p:nvPr/>
        </p:nvSpPr>
        <p:spPr>
          <a:xfrm>
            <a:off x="9206230" y="1727200"/>
            <a:ext cx="698500" cy="508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8" name="Rectangle 177"/>
          <p:cNvSpPr/>
          <p:nvPr/>
        </p:nvSpPr>
        <p:spPr>
          <a:xfrm>
            <a:off x="9206230" y="1854200"/>
            <a:ext cx="698500" cy="508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9" name="Rectangle 178"/>
          <p:cNvSpPr/>
          <p:nvPr/>
        </p:nvSpPr>
        <p:spPr>
          <a:xfrm>
            <a:off x="9206230" y="1981200"/>
            <a:ext cx="698500" cy="508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0" name="Rectangle 179"/>
          <p:cNvSpPr/>
          <p:nvPr/>
        </p:nvSpPr>
        <p:spPr>
          <a:xfrm>
            <a:off x="10044430" y="1447800"/>
            <a:ext cx="1447800" cy="914400"/>
          </a:xfrm>
          <a:prstGeom prst="rect">
            <a:avLst/>
          </a:prstGeom>
          <a:solidFill>
            <a:srgbClr val="F7F8FA"/>
          </a:solidFill>
          <a:ln w="635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1" name="TextBox 180"/>
          <p:cNvSpPr txBox="1"/>
          <p:nvPr/>
        </p:nvSpPr>
        <p:spPr>
          <a:xfrm>
            <a:off x="9079230" y="2622550"/>
            <a:ext cx="2540000" cy="177800"/>
          </a:xfrm>
          <a:prstGeom prst="rect">
            <a:avLst/>
          </a:prstGeom>
          <a:noFill/>
        </p:spPr>
        <p:txBody>
          <a:bodyPr wrap="square" lIns="0" rIns="0" tIns="0" bIns="0" anchor="t">
            <a:spAutoFit/>
          </a:bodyPr>
          <a:lstStyle/>
          <a:p>
            <a:pPr algn="l"/>
            <a:r>
              <a:rPr sz="1000" b="1">
                <a:solidFill>
                  <a:srgbClr val="26262A"/>
                </a:solidFill>
                <a:latin typeface="Arial"/>
              </a:rPr>
              <a:t>04  Content · 2 columns</a:t>
            </a:r>
          </a:p>
        </p:txBody>
      </p:sp>
      <p:sp>
        <p:nvSpPr>
          <p:cNvPr id="182" name="TextBox 181"/>
          <p:cNvSpPr txBox="1"/>
          <p:nvPr/>
        </p:nvSpPr>
        <p:spPr>
          <a:xfrm>
            <a:off x="9079230" y="2825750"/>
            <a:ext cx="2540000" cy="508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Message left, evidence right (4 + 8)</a:t>
            </a:r>
          </a:p>
        </p:txBody>
      </p:sp>
      <p:sp>
        <p:nvSpPr>
          <p:cNvPr id="183" name="Rectangle 182"/>
          <p:cNvSpPr/>
          <p:nvPr/>
        </p:nvSpPr>
        <p:spPr>
          <a:xfrm>
            <a:off x="571500" y="3759200"/>
            <a:ext cx="2540000" cy="142875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4" name="Rectangle 183"/>
          <p:cNvSpPr/>
          <p:nvPr/>
        </p:nvSpPr>
        <p:spPr>
          <a:xfrm>
            <a:off x="635000" y="3835400"/>
            <a:ext cx="152400" cy="889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5" name="Rectangle 184"/>
          <p:cNvSpPr/>
          <p:nvPr/>
        </p:nvSpPr>
        <p:spPr>
          <a:xfrm>
            <a:off x="850900" y="3822700"/>
            <a:ext cx="762000" cy="4445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6" name="Rectangle 185"/>
          <p:cNvSpPr/>
          <p:nvPr/>
        </p:nvSpPr>
        <p:spPr>
          <a:xfrm>
            <a:off x="850900" y="3898900"/>
            <a:ext cx="1270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7" name="Rectangle 186"/>
          <p:cNvSpPr/>
          <p:nvPr/>
        </p:nvSpPr>
        <p:spPr>
          <a:xfrm>
            <a:off x="571500" y="4000500"/>
            <a:ext cx="2540000" cy="762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8" name="Rectangle 187"/>
          <p:cNvSpPr/>
          <p:nvPr/>
        </p:nvSpPr>
        <p:spPr>
          <a:xfrm>
            <a:off x="698500" y="4102100"/>
            <a:ext cx="508000" cy="3048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9" name="Rectangle 188"/>
          <p:cNvSpPr/>
          <p:nvPr/>
        </p:nvSpPr>
        <p:spPr>
          <a:xfrm>
            <a:off x="749300" y="4152900"/>
            <a:ext cx="228600" cy="1016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0" name="Rectangle 189"/>
          <p:cNvSpPr/>
          <p:nvPr/>
        </p:nvSpPr>
        <p:spPr>
          <a:xfrm>
            <a:off x="1282700" y="4102100"/>
            <a:ext cx="508000" cy="3048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1" name="Rectangle 190"/>
          <p:cNvSpPr/>
          <p:nvPr/>
        </p:nvSpPr>
        <p:spPr>
          <a:xfrm>
            <a:off x="1333500" y="4152900"/>
            <a:ext cx="228600" cy="1016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2" name="Rectangle 191"/>
          <p:cNvSpPr/>
          <p:nvPr/>
        </p:nvSpPr>
        <p:spPr>
          <a:xfrm>
            <a:off x="1866900" y="4102100"/>
            <a:ext cx="508000" cy="3048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3" name="Rectangle 192"/>
          <p:cNvSpPr/>
          <p:nvPr/>
        </p:nvSpPr>
        <p:spPr>
          <a:xfrm>
            <a:off x="1917700" y="4152900"/>
            <a:ext cx="228600" cy="1016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4" name="Rectangle 193"/>
          <p:cNvSpPr/>
          <p:nvPr/>
        </p:nvSpPr>
        <p:spPr>
          <a:xfrm>
            <a:off x="2451100" y="4102100"/>
            <a:ext cx="508000" cy="3048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5" name="Rectangle 194"/>
          <p:cNvSpPr/>
          <p:nvPr/>
        </p:nvSpPr>
        <p:spPr>
          <a:xfrm>
            <a:off x="2501900" y="4152900"/>
            <a:ext cx="228600" cy="1016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6" name="Rectangle 195"/>
          <p:cNvSpPr/>
          <p:nvPr/>
        </p:nvSpPr>
        <p:spPr>
          <a:xfrm>
            <a:off x="825500" y="4673600"/>
            <a:ext cx="228600" cy="3810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7" name="Rectangle 196"/>
          <p:cNvSpPr/>
          <p:nvPr/>
        </p:nvSpPr>
        <p:spPr>
          <a:xfrm>
            <a:off x="1257300" y="4775200"/>
            <a:ext cx="228600" cy="2794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8" name="Rectangle 197"/>
          <p:cNvSpPr/>
          <p:nvPr/>
        </p:nvSpPr>
        <p:spPr>
          <a:xfrm>
            <a:off x="1689100" y="4572000"/>
            <a:ext cx="228600" cy="4826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9" name="Rectangle 198"/>
          <p:cNvSpPr/>
          <p:nvPr/>
        </p:nvSpPr>
        <p:spPr>
          <a:xfrm>
            <a:off x="2120900" y="4851400"/>
            <a:ext cx="228600" cy="2032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0" name="Rectangle 199"/>
          <p:cNvSpPr/>
          <p:nvPr/>
        </p:nvSpPr>
        <p:spPr>
          <a:xfrm>
            <a:off x="2552700" y="4724400"/>
            <a:ext cx="228600" cy="3302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1" name="TextBox 200"/>
          <p:cNvSpPr txBox="1"/>
          <p:nvPr/>
        </p:nvSpPr>
        <p:spPr>
          <a:xfrm>
            <a:off x="571500" y="5289550"/>
            <a:ext cx="2540000" cy="177800"/>
          </a:xfrm>
          <a:prstGeom prst="rect">
            <a:avLst/>
          </a:prstGeom>
          <a:noFill/>
        </p:spPr>
        <p:txBody>
          <a:bodyPr wrap="square" lIns="0" rIns="0" tIns="0" bIns="0" anchor="t">
            <a:spAutoFit/>
          </a:bodyPr>
          <a:lstStyle/>
          <a:p>
            <a:pPr algn="l"/>
            <a:r>
              <a:rPr sz="1000" b="1">
                <a:solidFill>
                  <a:srgbClr val="26262A"/>
                </a:solidFill>
                <a:latin typeface="Arial"/>
              </a:rPr>
              <a:t>05  KPI dashboard</a:t>
            </a:r>
          </a:p>
        </p:txBody>
      </p:sp>
      <p:sp>
        <p:nvSpPr>
          <p:cNvPr id="202" name="TextBox 201"/>
          <p:cNvSpPr txBox="1"/>
          <p:nvPr/>
        </p:nvSpPr>
        <p:spPr>
          <a:xfrm>
            <a:off x="571500" y="5492750"/>
            <a:ext cx="2540000" cy="508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Stat row on top, chart or table below</a:t>
            </a:r>
          </a:p>
        </p:txBody>
      </p:sp>
      <p:sp>
        <p:nvSpPr>
          <p:cNvPr id="203" name="Rectangle 202"/>
          <p:cNvSpPr/>
          <p:nvPr/>
        </p:nvSpPr>
        <p:spPr>
          <a:xfrm>
            <a:off x="3407410" y="3759200"/>
            <a:ext cx="2540000" cy="142875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4" name="Rectangle 203"/>
          <p:cNvSpPr/>
          <p:nvPr/>
        </p:nvSpPr>
        <p:spPr>
          <a:xfrm>
            <a:off x="3470910" y="3835400"/>
            <a:ext cx="152400" cy="889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5" name="Rectangle 204"/>
          <p:cNvSpPr/>
          <p:nvPr/>
        </p:nvSpPr>
        <p:spPr>
          <a:xfrm>
            <a:off x="3686810" y="3822700"/>
            <a:ext cx="762000" cy="4445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6" name="Rectangle 205"/>
          <p:cNvSpPr/>
          <p:nvPr/>
        </p:nvSpPr>
        <p:spPr>
          <a:xfrm>
            <a:off x="3686810" y="3898900"/>
            <a:ext cx="1270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7" name="Rectangle 206"/>
          <p:cNvSpPr/>
          <p:nvPr/>
        </p:nvSpPr>
        <p:spPr>
          <a:xfrm>
            <a:off x="3407410" y="4000500"/>
            <a:ext cx="2540000" cy="762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8" name="Rectangle 207"/>
          <p:cNvSpPr/>
          <p:nvPr/>
        </p:nvSpPr>
        <p:spPr>
          <a:xfrm>
            <a:off x="3534410" y="4140200"/>
            <a:ext cx="508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09" name="Rectangle 208"/>
          <p:cNvSpPr/>
          <p:nvPr/>
        </p:nvSpPr>
        <p:spPr>
          <a:xfrm>
            <a:off x="4144010" y="4114800"/>
            <a:ext cx="571500" cy="101600"/>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0" name="Rectangle 209"/>
          <p:cNvSpPr/>
          <p:nvPr/>
        </p:nvSpPr>
        <p:spPr>
          <a:xfrm>
            <a:off x="3534410" y="4330700"/>
            <a:ext cx="508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1" name="Rectangle 210"/>
          <p:cNvSpPr/>
          <p:nvPr/>
        </p:nvSpPr>
        <p:spPr>
          <a:xfrm>
            <a:off x="4461510" y="4305300"/>
            <a:ext cx="571500" cy="101600"/>
          </a:xfrm>
          <a:prstGeom prst="rect">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2" name="Rectangle 211"/>
          <p:cNvSpPr/>
          <p:nvPr/>
        </p:nvSpPr>
        <p:spPr>
          <a:xfrm>
            <a:off x="3534410" y="4521200"/>
            <a:ext cx="508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3" name="Rectangle 212"/>
          <p:cNvSpPr/>
          <p:nvPr/>
        </p:nvSpPr>
        <p:spPr>
          <a:xfrm>
            <a:off x="4779010" y="4495800"/>
            <a:ext cx="571500" cy="101600"/>
          </a:xfrm>
          <a:prstGeom prst="rect">
            <a:avLst/>
          </a:prstGeom>
          <a:solidFill>
            <a:srgbClr val="F0A878"/>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4" name="Rectangle 213"/>
          <p:cNvSpPr/>
          <p:nvPr/>
        </p:nvSpPr>
        <p:spPr>
          <a:xfrm>
            <a:off x="3534410" y="4711700"/>
            <a:ext cx="508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5" name="Rectangle 214"/>
          <p:cNvSpPr/>
          <p:nvPr/>
        </p:nvSpPr>
        <p:spPr>
          <a:xfrm>
            <a:off x="5096510" y="4686300"/>
            <a:ext cx="571500" cy="1016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6" name="Rectangle 215"/>
          <p:cNvSpPr/>
          <p:nvPr/>
        </p:nvSpPr>
        <p:spPr>
          <a:xfrm>
            <a:off x="3534410" y="4902200"/>
            <a:ext cx="508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7" name="Rectangle 216"/>
          <p:cNvSpPr/>
          <p:nvPr/>
        </p:nvSpPr>
        <p:spPr>
          <a:xfrm>
            <a:off x="5414010" y="4876800"/>
            <a:ext cx="571500" cy="1016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18" name="TextBox 217"/>
          <p:cNvSpPr txBox="1"/>
          <p:nvPr/>
        </p:nvSpPr>
        <p:spPr>
          <a:xfrm>
            <a:off x="3407410" y="5289550"/>
            <a:ext cx="2540000" cy="177800"/>
          </a:xfrm>
          <a:prstGeom prst="rect">
            <a:avLst/>
          </a:prstGeom>
          <a:noFill/>
        </p:spPr>
        <p:txBody>
          <a:bodyPr wrap="square" lIns="0" rIns="0" tIns="0" bIns="0" anchor="t">
            <a:spAutoFit/>
          </a:bodyPr>
          <a:lstStyle/>
          <a:p>
            <a:pPr algn="l"/>
            <a:r>
              <a:rPr sz="1000" b="1">
                <a:solidFill>
                  <a:srgbClr val="26262A"/>
                </a:solidFill>
                <a:latin typeface="Arial"/>
              </a:rPr>
              <a:t>06  Process / timeline</a:t>
            </a:r>
          </a:p>
        </p:txBody>
      </p:sp>
      <p:sp>
        <p:nvSpPr>
          <p:cNvPr id="219" name="TextBox 218"/>
          <p:cNvSpPr txBox="1"/>
          <p:nvPr/>
        </p:nvSpPr>
        <p:spPr>
          <a:xfrm>
            <a:off x="3407410" y="5492750"/>
            <a:ext cx="2540000" cy="508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Steps or timeframe table, status chips</a:t>
            </a:r>
          </a:p>
        </p:txBody>
      </p:sp>
      <p:sp>
        <p:nvSpPr>
          <p:cNvPr id="220" name="Rectangle 219"/>
          <p:cNvSpPr/>
          <p:nvPr/>
        </p:nvSpPr>
        <p:spPr>
          <a:xfrm>
            <a:off x="6243320" y="3759200"/>
            <a:ext cx="2540000" cy="142875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1" name="Rectangle 220"/>
          <p:cNvSpPr/>
          <p:nvPr/>
        </p:nvSpPr>
        <p:spPr>
          <a:xfrm>
            <a:off x="6306820" y="3835400"/>
            <a:ext cx="152400" cy="889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2" name="Rectangle 221"/>
          <p:cNvSpPr/>
          <p:nvPr/>
        </p:nvSpPr>
        <p:spPr>
          <a:xfrm>
            <a:off x="6522720" y="3822700"/>
            <a:ext cx="762000" cy="4445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3" name="Rectangle 222"/>
          <p:cNvSpPr/>
          <p:nvPr/>
        </p:nvSpPr>
        <p:spPr>
          <a:xfrm>
            <a:off x="6522720" y="3898900"/>
            <a:ext cx="1270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4" name="Rectangle 223"/>
          <p:cNvSpPr/>
          <p:nvPr/>
        </p:nvSpPr>
        <p:spPr>
          <a:xfrm>
            <a:off x="6243320" y="4000500"/>
            <a:ext cx="2540000" cy="762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5" name="Rectangle 224"/>
          <p:cNvSpPr/>
          <p:nvPr/>
        </p:nvSpPr>
        <p:spPr>
          <a:xfrm>
            <a:off x="6370320" y="4114800"/>
            <a:ext cx="508000" cy="7366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6" name="Rectangle 225"/>
          <p:cNvSpPr/>
          <p:nvPr/>
        </p:nvSpPr>
        <p:spPr>
          <a:xfrm>
            <a:off x="6370320" y="4902200"/>
            <a:ext cx="4318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7" name="Rectangle 226"/>
          <p:cNvSpPr/>
          <p:nvPr/>
        </p:nvSpPr>
        <p:spPr>
          <a:xfrm>
            <a:off x="6954520" y="4114800"/>
            <a:ext cx="508000" cy="7366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8" name="Rectangle 227"/>
          <p:cNvSpPr/>
          <p:nvPr/>
        </p:nvSpPr>
        <p:spPr>
          <a:xfrm>
            <a:off x="6954520" y="4902200"/>
            <a:ext cx="4318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29" name="Rectangle 228"/>
          <p:cNvSpPr/>
          <p:nvPr/>
        </p:nvSpPr>
        <p:spPr>
          <a:xfrm>
            <a:off x="7538720" y="4114800"/>
            <a:ext cx="508000" cy="7366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30" name="Rectangle 229"/>
          <p:cNvSpPr/>
          <p:nvPr/>
        </p:nvSpPr>
        <p:spPr>
          <a:xfrm>
            <a:off x="7538720" y="4902200"/>
            <a:ext cx="4318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31" name="Rectangle 230"/>
          <p:cNvSpPr/>
          <p:nvPr/>
        </p:nvSpPr>
        <p:spPr>
          <a:xfrm>
            <a:off x="8122920" y="4114800"/>
            <a:ext cx="508000" cy="736600"/>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32" name="Rectangle 231"/>
          <p:cNvSpPr/>
          <p:nvPr/>
        </p:nvSpPr>
        <p:spPr>
          <a:xfrm>
            <a:off x="8122920" y="4902200"/>
            <a:ext cx="4318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33" name="TextBox 232"/>
          <p:cNvSpPr txBox="1"/>
          <p:nvPr/>
        </p:nvSpPr>
        <p:spPr>
          <a:xfrm>
            <a:off x="6243320" y="5289550"/>
            <a:ext cx="2540000" cy="177800"/>
          </a:xfrm>
          <a:prstGeom prst="rect">
            <a:avLst/>
          </a:prstGeom>
          <a:noFill/>
        </p:spPr>
        <p:txBody>
          <a:bodyPr wrap="square" lIns="0" rIns="0" tIns="0" bIns="0" anchor="t">
            <a:spAutoFit/>
          </a:bodyPr>
          <a:lstStyle/>
          <a:p>
            <a:pPr algn="l"/>
            <a:r>
              <a:rPr sz="1000" b="1">
                <a:solidFill>
                  <a:srgbClr val="26262A"/>
                </a:solidFill>
                <a:latin typeface="Arial"/>
              </a:rPr>
              <a:t>07  Evidence gallery</a:t>
            </a:r>
          </a:p>
        </p:txBody>
      </p:sp>
      <p:sp>
        <p:nvSpPr>
          <p:cNvPr id="234" name="TextBox 233"/>
          <p:cNvSpPr txBox="1"/>
          <p:nvPr/>
        </p:nvSpPr>
        <p:spPr>
          <a:xfrm>
            <a:off x="6243320" y="5492750"/>
            <a:ext cx="2540000" cy="508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3–4 photos or screenshots with captions</a:t>
            </a:r>
          </a:p>
        </p:txBody>
      </p:sp>
      <p:sp>
        <p:nvSpPr>
          <p:cNvPr id="235" name="Rectangle 234"/>
          <p:cNvSpPr/>
          <p:nvPr/>
        </p:nvSpPr>
        <p:spPr>
          <a:xfrm>
            <a:off x="9079230" y="3759200"/>
            <a:ext cx="2540000" cy="1428750"/>
          </a:xfrm>
          <a:prstGeom prst="rect">
            <a:avLst/>
          </a:prstGeom>
          <a:solidFill>
            <a:srgbClr val="FFFFFF"/>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36" name="Rectangle 235"/>
          <p:cNvSpPr/>
          <p:nvPr/>
        </p:nvSpPr>
        <p:spPr>
          <a:xfrm>
            <a:off x="9079230" y="3759200"/>
            <a:ext cx="812800" cy="142875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37" name="Rectangle 236"/>
          <p:cNvSpPr/>
          <p:nvPr/>
        </p:nvSpPr>
        <p:spPr>
          <a:xfrm>
            <a:off x="10044430" y="4140200"/>
            <a:ext cx="152400" cy="889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38" name="Rectangle 237"/>
          <p:cNvSpPr/>
          <p:nvPr/>
        </p:nvSpPr>
        <p:spPr>
          <a:xfrm>
            <a:off x="10273030" y="4152900"/>
            <a:ext cx="1143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39" name="Rectangle 238"/>
          <p:cNvSpPr/>
          <p:nvPr/>
        </p:nvSpPr>
        <p:spPr>
          <a:xfrm>
            <a:off x="10044430" y="4305300"/>
            <a:ext cx="1397000" cy="635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40" name="Rectangle 239"/>
          <p:cNvSpPr/>
          <p:nvPr/>
        </p:nvSpPr>
        <p:spPr>
          <a:xfrm>
            <a:off x="10044430" y="4419600"/>
            <a:ext cx="152400" cy="889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41" name="Rectangle 240"/>
          <p:cNvSpPr/>
          <p:nvPr/>
        </p:nvSpPr>
        <p:spPr>
          <a:xfrm>
            <a:off x="10273030" y="4432300"/>
            <a:ext cx="1143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42" name="Rectangle 241"/>
          <p:cNvSpPr/>
          <p:nvPr/>
        </p:nvSpPr>
        <p:spPr>
          <a:xfrm>
            <a:off x="10044430" y="4584700"/>
            <a:ext cx="1397000" cy="635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43" name="Rectangle 242"/>
          <p:cNvSpPr/>
          <p:nvPr/>
        </p:nvSpPr>
        <p:spPr>
          <a:xfrm>
            <a:off x="10044430" y="4699000"/>
            <a:ext cx="152400" cy="889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44" name="Rectangle 243"/>
          <p:cNvSpPr/>
          <p:nvPr/>
        </p:nvSpPr>
        <p:spPr>
          <a:xfrm>
            <a:off x="10273030" y="4711700"/>
            <a:ext cx="1143000" cy="50800"/>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45" name="Rectangle 244"/>
          <p:cNvSpPr/>
          <p:nvPr/>
        </p:nvSpPr>
        <p:spPr>
          <a:xfrm>
            <a:off x="10044430" y="4864100"/>
            <a:ext cx="1397000" cy="635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246" name="TextBox 245"/>
          <p:cNvSpPr txBox="1"/>
          <p:nvPr/>
        </p:nvSpPr>
        <p:spPr>
          <a:xfrm>
            <a:off x="9079230" y="5289550"/>
            <a:ext cx="2540000" cy="177800"/>
          </a:xfrm>
          <a:prstGeom prst="rect">
            <a:avLst/>
          </a:prstGeom>
          <a:noFill/>
        </p:spPr>
        <p:txBody>
          <a:bodyPr wrap="square" lIns="0" rIns="0" tIns="0" bIns="0" anchor="t">
            <a:spAutoFit/>
          </a:bodyPr>
          <a:lstStyle/>
          <a:p>
            <a:pPr algn="l"/>
            <a:r>
              <a:rPr sz="1000" b="1">
                <a:solidFill>
                  <a:srgbClr val="26262A"/>
                </a:solidFill>
                <a:latin typeface="Arial"/>
              </a:rPr>
              <a:t>08  Appendix · Thank you</a:t>
            </a:r>
          </a:p>
        </p:txBody>
      </p:sp>
      <p:sp>
        <p:nvSpPr>
          <p:cNvPr id="247" name="TextBox 246"/>
          <p:cNvSpPr txBox="1"/>
          <p:nvPr/>
        </p:nvSpPr>
        <p:spPr>
          <a:xfrm>
            <a:off x="9079230" y="5492750"/>
            <a:ext cx="2540000" cy="5080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List of appendices, closing slide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STORYLINE</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Recommended flow for the 6-month review: who I am, where I work, what I did, what is next</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a:ea typeface="+mn-ea"/>
                <a:cs typeface="+mn-cs"/>
              </a:rPr>
              <a:t>0.12</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Triatra Template PPT 2026 V3; design references collected for this guide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Pentagon 127"/>
          <p:cNvSpPr/>
          <p:nvPr/>
        </p:nvSpPr>
        <p:spPr>
          <a:xfrm>
            <a:off x="571500" y="1168400"/>
            <a:ext cx="1457325" cy="381000"/>
          </a:xfrm>
          <a:prstGeom prst="homePlat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29" name="TextBox 128"/>
          <p:cNvSpPr txBox="1"/>
          <p:nvPr/>
        </p:nvSpPr>
        <p:spPr>
          <a:xfrm>
            <a:off x="673100" y="1168400"/>
            <a:ext cx="1152525" cy="381000"/>
          </a:xfrm>
          <a:prstGeom prst="rect">
            <a:avLst/>
          </a:prstGeom>
          <a:noFill/>
        </p:spPr>
        <p:txBody>
          <a:bodyPr wrap="square" lIns="0" rIns="0" tIns="0" bIns="0" anchor="ctr">
            <a:spAutoFit/>
          </a:bodyPr>
          <a:lstStyle/>
          <a:p>
            <a:pPr algn="l"/>
            <a:r>
              <a:rPr sz="850" b="1">
                <a:solidFill>
                  <a:srgbClr val="FFFFFF"/>
                </a:solidFill>
                <a:latin typeface="Arial"/>
              </a:rPr>
              <a:t>00  Personal</a:t>
            </a:r>
          </a:p>
        </p:txBody>
      </p:sp>
      <p:sp>
        <p:nvSpPr>
          <p:cNvPr id="130" name="TextBox 129"/>
          <p:cNvSpPr txBox="1"/>
          <p:nvPr/>
        </p:nvSpPr>
        <p:spPr>
          <a:xfrm>
            <a:off x="622300" y="1676400"/>
            <a:ext cx="1279525" cy="508000"/>
          </a:xfrm>
          <a:prstGeom prst="rect">
            <a:avLst/>
          </a:prstGeom>
          <a:noFill/>
        </p:spPr>
        <p:txBody>
          <a:bodyPr wrap="square" lIns="0" rIns="0" tIns="0" bIns="0" anchor="t">
            <a:spAutoFit/>
          </a:bodyPr>
          <a:lstStyle/>
          <a:p>
            <a:pPr algn="l">
              <a:lnSpc>
                <a:spcPct val="110000"/>
              </a:lnSpc>
            </a:pPr>
            <a:r>
              <a:rPr sz="850" b="0">
                <a:solidFill>
                  <a:srgbClr val="26262A"/>
                </a:solidFill>
                <a:latin typeface="Arial"/>
              </a:rPr>
              <a:t>About me, onboarding</a:t>
            </a:r>
          </a:p>
        </p:txBody>
      </p:sp>
      <p:sp>
        <p:nvSpPr>
          <p:cNvPr id="131" name="TextBox 130"/>
          <p:cNvSpPr txBox="1"/>
          <p:nvPr/>
        </p:nvSpPr>
        <p:spPr>
          <a:xfrm>
            <a:off x="622300" y="2235200"/>
            <a:ext cx="1279525" cy="330200"/>
          </a:xfrm>
          <a:prstGeom prst="rect">
            <a:avLst/>
          </a:prstGeom>
          <a:noFill/>
        </p:spPr>
        <p:txBody>
          <a:bodyPr wrap="square" lIns="0" rIns="0" tIns="0" bIns="0" anchor="t">
            <a:spAutoFit/>
          </a:bodyPr>
          <a:lstStyle/>
          <a:p>
            <a:pPr algn="l"/>
            <a:r>
              <a:rPr sz="2000" b="1">
                <a:solidFill>
                  <a:srgbClr val="E55200"/>
                </a:solidFill>
                <a:latin typeface="Arial"/>
              </a:rPr>
              <a:t>2</a:t>
            </a:r>
          </a:p>
        </p:txBody>
      </p:sp>
      <p:sp>
        <p:nvSpPr>
          <p:cNvPr id="132" name="TextBox 131"/>
          <p:cNvSpPr txBox="1"/>
          <p:nvPr/>
        </p:nvSpPr>
        <p:spPr>
          <a:xfrm>
            <a:off x="622300" y="2565400"/>
            <a:ext cx="1279525" cy="152400"/>
          </a:xfrm>
          <a:prstGeom prst="rect">
            <a:avLst/>
          </a:prstGeom>
          <a:noFill/>
        </p:spPr>
        <p:txBody>
          <a:bodyPr wrap="square" lIns="0" rIns="0" tIns="0" bIns="0" anchor="t">
            <a:spAutoFit/>
          </a:bodyPr>
          <a:lstStyle/>
          <a:p>
            <a:pPr algn="l"/>
            <a:r>
              <a:rPr sz="800" b="0">
                <a:solidFill>
                  <a:srgbClr val="6E7B84"/>
                </a:solidFill>
                <a:latin typeface="Arial"/>
              </a:rPr>
              <a:t>slides</a:t>
            </a:r>
          </a:p>
        </p:txBody>
      </p:sp>
      <p:sp>
        <p:nvSpPr>
          <p:cNvPr id="133" name="Chevron 132"/>
          <p:cNvSpPr/>
          <p:nvPr/>
        </p:nvSpPr>
        <p:spPr>
          <a:xfrm>
            <a:off x="1952625" y="1168400"/>
            <a:ext cx="1457325" cy="381000"/>
          </a:xfrm>
          <a:prstGeom prst="chevron">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4" name="TextBox 133"/>
          <p:cNvSpPr txBox="1"/>
          <p:nvPr/>
        </p:nvSpPr>
        <p:spPr>
          <a:xfrm>
            <a:off x="2181225" y="1168400"/>
            <a:ext cx="1152525" cy="381000"/>
          </a:xfrm>
          <a:prstGeom prst="rect">
            <a:avLst/>
          </a:prstGeom>
          <a:noFill/>
        </p:spPr>
        <p:txBody>
          <a:bodyPr wrap="square" lIns="0" rIns="0" tIns="0" bIns="0" anchor="ctr">
            <a:spAutoFit/>
          </a:bodyPr>
          <a:lstStyle/>
          <a:p>
            <a:pPr algn="l"/>
            <a:r>
              <a:rPr sz="850" b="1">
                <a:solidFill>
                  <a:srgbClr val="FFFFFF"/>
                </a:solidFill>
                <a:latin typeface="Arial"/>
              </a:rPr>
              <a:t>01  Company</a:t>
            </a:r>
          </a:p>
        </p:txBody>
      </p:sp>
      <p:sp>
        <p:nvSpPr>
          <p:cNvPr id="135" name="TextBox 134"/>
          <p:cNvSpPr txBox="1"/>
          <p:nvPr/>
        </p:nvSpPr>
        <p:spPr>
          <a:xfrm>
            <a:off x="2003425" y="1676400"/>
            <a:ext cx="1279525" cy="508000"/>
          </a:xfrm>
          <a:prstGeom prst="rect">
            <a:avLst/>
          </a:prstGeom>
          <a:noFill/>
        </p:spPr>
        <p:txBody>
          <a:bodyPr wrap="square" lIns="0" rIns="0" tIns="0" bIns="0" anchor="t">
            <a:spAutoFit/>
          </a:bodyPr>
          <a:lstStyle/>
          <a:p>
            <a:pPr algn="l">
              <a:lnSpc>
                <a:spcPct val="110000"/>
              </a:lnSpc>
            </a:pPr>
            <a:r>
              <a:rPr sz="850" b="0">
                <a:solidFill>
                  <a:srgbClr val="26262A"/>
                </a:solidFill>
                <a:latin typeface="Arial"/>
              </a:rPr>
              <a:t>Group, business lines, industries</a:t>
            </a:r>
          </a:p>
        </p:txBody>
      </p:sp>
      <p:sp>
        <p:nvSpPr>
          <p:cNvPr id="136" name="TextBox 135"/>
          <p:cNvSpPr txBox="1"/>
          <p:nvPr/>
        </p:nvSpPr>
        <p:spPr>
          <a:xfrm>
            <a:off x="2003425" y="2235200"/>
            <a:ext cx="1279525" cy="330200"/>
          </a:xfrm>
          <a:prstGeom prst="rect">
            <a:avLst/>
          </a:prstGeom>
          <a:noFill/>
        </p:spPr>
        <p:txBody>
          <a:bodyPr wrap="square" lIns="0" rIns="0" tIns="0" bIns="0" anchor="t">
            <a:spAutoFit/>
          </a:bodyPr>
          <a:lstStyle/>
          <a:p>
            <a:pPr algn="l"/>
            <a:r>
              <a:rPr sz="2000" b="1">
                <a:solidFill>
                  <a:srgbClr val="E55200"/>
                </a:solidFill>
                <a:latin typeface="Arial"/>
              </a:rPr>
              <a:t>2</a:t>
            </a:r>
          </a:p>
        </p:txBody>
      </p:sp>
      <p:sp>
        <p:nvSpPr>
          <p:cNvPr id="137" name="TextBox 136"/>
          <p:cNvSpPr txBox="1"/>
          <p:nvPr/>
        </p:nvSpPr>
        <p:spPr>
          <a:xfrm>
            <a:off x="2003425" y="2565400"/>
            <a:ext cx="1279525" cy="152400"/>
          </a:xfrm>
          <a:prstGeom prst="rect">
            <a:avLst/>
          </a:prstGeom>
          <a:noFill/>
        </p:spPr>
        <p:txBody>
          <a:bodyPr wrap="square" lIns="0" rIns="0" tIns="0" bIns="0" anchor="t">
            <a:spAutoFit/>
          </a:bodyPr>
          <a:lstStyle/>
          <a:p>
            <a:pPr algn="l"/>
            <a:r>
              <a:rPr sz="800" b="0">
                <a:solidFill>
                  <a:srgbClr val="6E7B84"/>
                </a:solidFill>
                <a:latin typeface="Arial"/>
              </a:rPr>
              <a:t>slides</a:t>
            </a:r>
          </a:p>
        </p:txBody>
      </p:sp>
      <p:sp>
        <p:nvSpPr>
          <p:cNvPr id="138" name="Chevron 137"/>
          <p:cNvSpPr/>
          <p:nvPr/>
        </p:nvSpPr>
        <p:spPr>
          <a:xfrm>
            <a:off x="3333750" y="1168400"/>
            <a:ext cx="1457325" cy="381000"/>
          </a:xfrm>
          <a:prstGeom prst="chevron">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9" name="TextBox 138"/>
          <p:cNvSpPr txBox="1"/>
          <p:nvPr/>
        </p:nvSpPr>
        <p:spPr>
          <a:xfrm>
            <a:off x="3562350" y="1168400"/>
            <a:ext cx="1152525" cy="381000"/>
          </a:xfrm>
          <a:prstGeom prst="rect">
            <a:avLst/>
          </a:prstGeom>
          <a:noFill/>
        </p:spPr>
        <p:txBody>
          <a:bodyPr wrap="square" lIns="0" rIns="0" tIns="0" bIns="0" anchor="ctr">
            <a:spAutoFit/>
          </a:bodyPr>
          <a:lstStyle/>
          <a:p>
            <a:pPr algn="l"/>
            <a:r>
              <a:rPr sz="850" b="1">
                <a:solidFill>
                  <a:srgbClr val="FFFFFF"/>
                </a:solidFill>
                <a:latin typeface="Arial"/>
              </a:rPr>
              <a:t>02  Site</a:t>
            </a:r>
          </a:p>
        </p:txBody>
      </p:sp>
      <p:sp>
        <p:nvSpPr>
          <p:cNvPr id="140" name="TextBox 139"/>
          <p:cNvSpPr txBox="1"/>
          <p:nvPr/>
        </p:nvSpPr>
        <p:spPr>
          <a:xfrm>
            <a:off x="3384550" y="1676400"/>
            <a:ext cx="1279525" cy="508000"/>
          </a:xfrm>
          <a:prstGeom prst="rect">
            <a:avLst/>
          </a:prstGeom>
          <a:noFill/>
        </p:spPr>
        <p:txBody>
          <a:bodyPr wrap="square" lIns="0" rIns="0" tIns="0" bIns="0" anchor="t">
            <a:spAutoFit/>
          </a:bodyPr>
          <a:lstStyle/>
          <a:p>
            <a:pPr algn="l">
              <a:lnSpc>
                <a:spcPct val="110000"/>
              </a:lnSpc>
            </a:pPr>
            <a:r>
              <a:rPr sz="850" b="0">
                <a:solidFill>
                  <a:srgbClr val="26262A"/>
                </a:solidFill>
                <a:latin typeface="Arial"/>
              </a:rPr>
              <a:t>Operations map</a:t>
            </a:r>
          </a:p>
        </p:txBody>
      </p:sp>
      <p:sp>
        <p:nvSpPr>
          <p:cNvPr id="141" name="TextBox 140"/>
          <p:cNvSpPr txBox="1"/>
          <p:nvPr/>
        </p:nvSpPr>
        <p:spPr>
          <a:xfrm>
            <a:off x="3384550" y="2235200"/>
            <a:ext cx="1279525" cy="330200"/>
          </a:xfrm>
          <a:prstGeom prst="rect">
            <a:avLst/>
          </a:prstGeom>
          <a:noFill/>
        </p:spPr>
        <p:txBody>
          <a:bodyPr wrap="square" lIns="0" rIns="0" tIns="0" bIns="0" anchor="t">
            <a:spAutoFit/>
          </a:bodyPr>
          <a:lstStyle/>
          <a:p>
            <a:pPr algn="l"/>
            <a:r>
              <a:rPr sz="2000" b="1">
                <a:solidFill>
                  <a:srgbClr val="E55200"/>
                </a:solidFill>
                <a:latin typeface="Arial"/>
              </a:rPr>
              <a:t>1</a:t>
            </a:r>
          </a:p>
        </p:txBody>
      </p:sp>
      <p:sp>
        <p:nvSpPr>
          <p:cNvPr id="142" name="TextBox 141"/>
          <p:cNvSpPr txBox="1"/>
          <p:nvPr/>
        </p:nvSpPr>
        <p:spPr>
          <a:xfrm>
            <a:off x="3384550" y="2565400"/>
            <a:ext cx="1279525" cy="152400"/>
          </a:xfrm>
          <a:prstGeom prst="rect">
            <a:avLst/>
          </a:prstGeom>
          <a:noFill/>
        </p:spPr>
        <p:txBody>
          <a:bodyPr wrap="square" lIns="0" rIns="0" tIns="0" bIns="0" anchor="t">
            <a:spAutoFit/>
          </a:bodyPr>
          <a:lstStyle/>
          <a:p>
            <a:pPr algn="l"/>
            <a:r>
              <a:rPr sz="800" b="0">
                <a:solidFill>
                  <a:srgbClr val="6E7B84"/>
                </a:solidFill>
                <a:latin typeface="Arial"/>
              </a:rPr>
              <a:t>slides</a:t>
            </a:r>
          </a:p>
        </p:txBody>
      </p:sp>
      <p:sp>
        <p:nvSpPr>
          <p:cNvPr id="143" name="Chevron 142"/>
          <p:cNvSpPr/>
          <p:nvPr/>
        </p:nvSpPr>
        <p:spPr>
          <a:xfrm>
            <a:off x="4714875" y="1168400"/>
            <a:ext cx="1457325" cy="381000"/>
          </a:xfrm>
          <a:prstGeom prst="chevron">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4" name="TextBox 143"/>
          <p:cNvSpPr txBox="1"/>
          <p:nvPr/>
        </p:nvSpPr>
        <p:spPr>
          <a:xfrm>
            <a:off x="4943475" y="1168400"/>
            <a:ext cx="1152525" cy="381000"/>
          </a:xfrm>
          <a:prstGeom prst="rect">
            <a:avLst/>
          </a:prstGeom>
          <a:noFill/>
        </p:spPr>
        <p:txBody>
          <a:bodyPr wrap="square" lIns="0" rIns="0" tIns="0" bIns="0" anchor="ctr">
            <a:spAutoFit/>
          </a:bodyPr>
          <a:lstStyle/>
          <a:p>
            <a:pPr algn="l"/>
            <a:r>
              <a:rPr sz="850" b="1">
                <a:solidFill>
                  <a:srgbClr val="FFFFFF"/>
                </a:solidFill>
                <a:latin typeface="Arial"/>
              </a:rPr>
              <a:t>03  Organization</a:t>
            </a:r>
          </a:p>
        </p:txBody>
      </p:sp>
      <p:sp>
        <p:nvSpPr>
          <p:cNvPr id="145" name="TextBox 144"/>
          <p:cNvSpPr txBox="1"/>
          <p:nvPr/>
        </p:nvSpPr>
        <p:spPr>
          <a:xfrm>
            <a:off x="4765675" y="1676400"/>
            <a:ext cx="1279525" cy="508000"/>
          </a:xfrm>
          <a:prstGeom prst="rect">
            <a:avLst/>
          </a:prstGeom>
          <a:noFill/>
        </p:spPr>
        <p:txBody>
          <a:bodyPr wrap="square" lIns="0" rIns="0" tIns="0" bIns="0" anchor="t">
            <a:spAutoFit/>
          </a:bodyPr>
          <a:lstStyle/>
          <a:p>
            <a:pPr algn="l">
              <a:lnSpc>
                <a:spcPct val="110000"/>
              </a:lnSpc>
            </a:pPr>
            <a:r>
              <a:rPr sz="850" b="0">
                <a:solidFill>
                  <a:srgbClr val="26262A"/>
                </a:solidFill>
                <a:latin typeface="Arial"/>
              </a:rPr>
              <a:t>Structure, my position</a:t>
            </a:r>
          </a:p>
        </p:txBody>
      </p:sp>
      <p:sp>
        <p:nvSpPr>
          <p:cNvPr id="146" name="TextBox 145"/>
          <p:cNvSpPr txBox="1"/>
          <p:nvPr/>
        </p:nvSpPr>
        <p:spPr>
          <a:xfrm>
            <a:off x="4765675" y="2235200"/>
            <a:ext cx="1279525" cy="330200"/>
          </a:xfrm>
          <a:prstGeom prst="rect">
            <a:avLst/>
          </a:prstGeom>
          <a:noFill/>
        </p:spPr>
        <p:txBody>
          <a:bodyPr wrap="square" lIns="0" rIns="0" tIns="0" bIns="0" anchor="t">
            <a:spAutoFit/>
          </a:bodyPr>
          <a:lstStyle/>
          <a:p>
            <a:pPr algn="l"/>
            <a:r>
              <a:rPr sz="2000" b="1">
                <a:solidFill>
                  <a:srgbClr val="E55200"/>
                </a:solidFill>
                <a:latin typeface="Arial"/>
              </a:rPr>
              <a:t>1</a:t>
            </a:r>
          </a:p>
        </p:txBody>
      </p:sp>
      <p:sp>
        <p:nvSpPr>
          <p:cNvPr id="147" name="TextBox 146"/>
          <p:cNvSpPr txBox="1"/>
          <p:nvPr/>
        </p:nvSpPr>
        <p:spPr>
          <a:xfrm>
            <a:off x="4765675" y="2565400"/>
            <a:ext cx="1279525" cy="152400"/>
          </a:xfrm>
          <a:prstGeom prst="rect">
            <a:avLst/>
          </a:prstGeom>
          <a:noFill/>
        </p:spPr>
        <p:txBody>
          <a:bodyPr wrap="square" lIns="0" rIns="0" tIns="0" bIns="0" anchor="t">
            <a:spAutoFit/>
          </a:bodyPr>
          <a:lstStyle/>
          <a:p>
            <a:pPr algn="l"/>
            <a:r>
              <a:rPr sz="800" b="0">
                <a:solidFill>
                  <a:srgbClr val="6E7B84"/>
                </a:solidFill>
                <a:latin typeface="Arial"/>
              </a:rPr>
              <a:t>slides</a:t>
            </a:r>
          </a:p>
        </p:txBody>
      </p:sp>
      <p:sp>
        <p:nvSpPr>
          <p:cNvPr id="148" name="Chevron 147"/>
          <p:cNvSpPr/>
          <p:nvPr/>
        </p:nvSpPr>
        <p:spPr>
          <a:xfrm>
            <a:off x="6096000" y="1168400"/>
            <a:ext cx="1457325" cy="381000"/>
          </a:xfrm>
          <a:prstGeom prst="chevron">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9" name="TextBox 148"/>
          <p:cNvSpPr txBox="1"/>
          <p:nvPr/>
        </p:nvSpPr>
        <p:spPr>
          <a:xfrm>
            <a:off x="6324600" y="1168400"/>
            <a:ext cx="1152525" cy="381000"/>
          </a:xfrm>
          <a:prstGeom prst="rect">
            <a:avLst/>
          </a:prstGeom>
          <a:noFill/>
        </p:spPr>
        <p:txBody>
          <a:bodyPr wrap="square" lIns="0" rIns="0" tIns="0" bIns="0" anchor="ctr">
            <a:spAutoFit/>
          </a:bodyPr>
          <a:lstStyle/>
          <a:p>
            <a:pPr algn="l"/>
            <a:r>
              <a:rPr sz="850" b="1">
                <a:solidFill>
                  <a:srgbClr val="FFFFFF"/>
                </a:solidFill>
                <a:latin typeface="Arial"/>
              </a:rPr>
              <a:t>04  Roles</a:t>
            </a:r>
          </a:p>
        </p:txBody>
      </p:sp>
      <p:sp>
        <p:nvSpPr>
          <p:cNvPr id="150" name="TextBox 149"/>
          <p:cNvSpPr txBox="1"/>
          <p:nvPr/>
        </p:nvSpPr>
        <p:spPr>
          <a:xfrm>
            <a:off x="6146800" y="1676400"/>
            <a:ext cx="1279525" cy="508000"/>
          </a:xfrm>
          <a:prstGeom prst="rect">
            <a:avLst/>
          </a:prstGeom>
          <a:noFill/>
        </p:spPr>
        <p:txBody>
          <a:bodyPr wrap="square" lIns="0" rIns="0" tIns="0" bIns="0" anchor="t">
            <a:spAutoFit/>
          </a:bodyPr>
          <a:lstStyle/>
          <a:p>
            <a:pPr algn="l">
              <a:lnSpc>
                <a:spcPct val="110000"/>
              </a:lnSpc>
            </a:pPr>
            <a:r>
              <a:rPr sz="850" b="0">
                <a:solidFill>
                  <a:srgbClr val="26262A"/>
                </a:solidFill>
                <a:latin typeface="Arial"/>
              </a:rPr>
              <a:t>Products, strategic vs supply chain</a:t>
            </a:r>
          </a:p>
        </p:txBody>
      </p:sp>
      <p:sp>
        <p:nvSpPr>
          <p:cNvPr id="151" name="TextBox 150"/>
          <p:cNvSpPr txBox="1"/>
          <p:nvPr/>
        </p:nvSpPr>
        <p:spPr>
          <a:xfrm>
            <a:off x="6146800" y="2235200"/>
            <a:ext cx="1279525" cy="330200"/>
          </a:xfrm>
          <a:prstGeom prst="rect">
            <a:avLst/>
          </a:prstGeom>
          <a:noFill/>
        </p:spPr>
        <p:txBody>
          <a:bodyPr wrap="square" lIns="0" rIns="0" tIns="0" bIns="0" anchor="t">
            <a:spAutoFit/>
          </a:bodyPr>
          <a:lstStyle/>
          <a:p>
            <a:pPr algn="l"/>
            <a:r>
              <a:rPr sz="2000" b="1">
                <a:solidFill>
                  <a:srgbClr val="E55200"/>
                </a:solidFill>
                <a:latin typeface="Arial"/>
              </a:rPr>
              <a:t>2</a:t>
            </a:r>
          </a:p>
        </p:txBody>
      </p:sp>
      <p:sp>
        <p:nvSpPr>
          <p:cNvPr id="152" name="TextBox 151"/>
          <p:cNvSpPr txBox="1"/>
          <p:nvPr/>
        </p:nvSpPr>
        <p:spPr>
          <a:xfrm>
            <a:off x="6146800" y="2565400"/>
            <a:ext cx="1279525" cy="152400"/>
          </a:xfrm>
          <a:prstGeom prst="rect">
            <a:avLst/>
          </a:prstGeom>
          <a:noFill/>
        </p:spPr>
        <p:txBody>
          <a:bodyPr wrap="square" lIns="0" rIns="0" tIns="0" bIns="0" anchor="t">
            <a:spAutoFit/>
          </a:bodyPr>
          <a:lstStyle/>
          <a:p>
            <a:pPr algn="l"/>
            <a:r>
              <a:rPr sz="800" b="0">
                <a:solidFill>
                  <a:srgbClr val="6E7B84"/>
                </a:solidFill>
                <a:latin typeface="Arial"/>
              </a:rPr>
              <a:t>slides</a:t>
            </a:r>
          </a:p>
        </p:txBody>
      </p:sp>
      <p:sp>
        <p:nvSpPr>
          <p:cNvPr id="153" name="Chevron 152"/>
          <p:cNvSpPr/>
          <p:nvPr/>
        </p:nvSpPr>
        <p:spPr>
          <a:xfrm>
            <a:off x="7477125" y="1168400"/>
            <a:ext cx="1457325" cy="381000"/>
          </a:xfrm>
          <a:prstGeom prst="chevron">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4" name="TextBox 153"/>
          <p:cNvSpPr txBox="1"/>
          <p:nvPr/>
        </p:nvSpPr>
        <p:spPr>
          <a:xfrm>
            <a:off x="7705725" y="1168400"/>
            <a:ext cx="1152525" cy="381000"/>
          </a:xfrm>
          <a:prstGeom prst="rect">
            <a:avLst/>
          </a:prstGeom>
          <a:noFill/>
        </p:spPr>
        <p:txBody>
          <a:bodyPr wrap="square" lIns="0" rIns="0" tIns="0" bIns="0" anchor="ctr">
            <a:spAutoFit/>
          </a:bodyPr>
          <a:lstStyle/>
          <a:p>
            <a:pPr algn="l"/>
            <a:r>
              <a:rPr sz="850" b="1">
                <a:solidFill>
                  <a:srgbClr val="FFFFFF"/>
                </a:solidFill>
                <a:latin typeface="Arial"/>
              </a:rPr>
              <a:t>05  Execution</a:t>
            </a:r>
          </a:p>
        </p:txBody>
      </p:sp>
      <p:sp>
        <p:nvSpPr>
          <p:cNvPr id="155" name="TextBox 154"/>
          <p:cNvSpPr txBox="1"/>
          <p:nvPr/>
        </p:nvSpPr>
        <p:spPr>
          <a:xfrm>
            <a:off x="7527925" y="1676400"/>
            <a:ext cx="1279525" cy="508000"/>
          </a:xfrm>
          <a:prstGeom prst="rect">
            <a:avLst/>
          </a:prstGeom>
          <a:noFill/>
        </p:spPr>
        <p:txBody>
          <a:bodyPr wrap="square" lIns="0" rIns="0" tIns="0" bIns="0" anchor="t">
            <a:spAutoFit/>
          </a:bodyPr>
          <a:lstStyle/>
          <a:p>
            <a:pPr algn="l">
              <a:lnSpc>
                <a:spcPct val="110000"/>
              </a:lnSpc>
            </a:pPr>
            <a:r>
              <a:rPr sz="850" b="0">
                <a:solidFill>
                  <a:srgbClr val="26262A"/>
                </a:solidFill>
                <a:latin typeface="Arial"/>
              </a:rPr>
              <a:t>Strategic + supply chain with evidence</a:t>
            </a:r>
          </a:p>
        </p:txBody>
      </p:sp>
      <p:sp>
        <p:nvSpPr>
          <p:cNvPr id="156" name="TextBox 155"/>
          <p:cNvSpPr txBox="1"/>
          <p:nvPr/>
        </p:nvSpPr>
        <p:spPr>
          <a:xfrm>
            <a:off x="7527925" y="2235200"/>
            <a:ext cx="1279525" cy="330200"/>
          </a:xfrm>
          <a:prstGeom prst="rect">
            <a:avLst/>
          </a:prstGeom>
          <a:noFill/>
        </p:spPr>
        <p:txBody>
          <a:bodyPr wrap="square" lIns="0" rIns="0" tIns="0" bIns="0" anchor="t">
            <a:spAutoFit/>
          </a:bodyPr>
          <a:lstStyle/>
          <a:p>
            <a:pPr algn="l"/>
            <a:r>
              <a:rPr sz="2000" b="1">
                <a:solidFill>
                  <a:srgbClr val="E55200"/>
                </a:solidFill>
                <a:latin typeface="Arial"/>
              </a:rPr>
              <a:t>3–4</a:t>
            </a:r>
          </a:p>
        </p:txBody>
      </p:sp>
      <p:sp>
        <p:nvSpPr>
          <p:cNvPr id="157" name="TextBox 156"/>
          <p:cNvSpPr txBox="1"/>
          <p:nvPr/>
        </p:nvSpPr>
        <p:spPr>
          <a:xfrm>
            <a:off x="7527925" y="2565400"/>
            <a:ext cx="1279525" cy="152400"/>
          </a:xfrm>
          <a:prstGeom prst="rect">
            <a:avLst/>
          </a:prstGeom>
          <a:noFill/>
        </p:spPr>
        <p:txBody>
          <a:bodyPr wrap="square" lIns="0" rIns="0" tIns="0" bIns="0" anchor="t">
            <a:spAutoFit/>
          </a:bodyPr>
          <a:lstStyle/>
          <a:p>
            <a:pPr algn="l"/>
            <a:r>
              <a:rPr sz="800" b="0">
                <a:solidFill>
                  <a:srgbClr val="6E7B84"/>
                </a:solidFill>
                <a:latin typeface="Arial"/>
              </a:rPr>
              <a:t>slides</a:t>
            </a:r>
          </a:p>
        </p:txBody>
      </p:sp>
      <p:sp>
        <p:nvSpPr>
          <p:cNvPr id="158" name="Chevron 157"/>
          <p:cNvSpPr/>
          <p:nvPr/>
        </p:nvSpPr>
        <p:spPr>
          <a:xfrm>
            <a:off x="8858250" y="1168400"/>
            <a:ext cx="1457325" cy="381000"/>
          </a:xfrm>
          <a:prstGeom prst="chevron">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9" name="TextBox 158"/>
          <p:cNvSpPr txBox="1"/>
          <p:nvPr/>
        </p:nvSpPr>
        <p:spPr>
          <a:xfrm>
            <a:off x="9086850" y="1168400"/>
            <a:ext cx="1152525" cy="381000"/>
          </a:xfrm>
          <a:prstGeom prst="rect">
            <a:avLst/>
          </a:prstGeom>
          <a:noFill/>
        </p:spPr>
        <p:txBody>
          <a:bodyPr wrap="square" lIns="0" rIns="0" tIns="0" bIns="0" anchor="ctr">
            <a:spAutoFit/>
          </a:bodyPr>
          <a:lstStyle/>
          <a:p>
            <a:pPr algn="l"/>
            <a:r>
              <a:rPr sz="850" b="1">
                <a:solidFill>
                  <a:srgbClr val="FFFFFF"/>
                </a:solidFill>
                <a:latin typeface="Arial"/>
              </a:rPr>
              <a:t>06  Project</a:t>
            </a:r>
          </a:p>
        </p:txBody>
      </p:sp>
      <p:sp>
        <p:nvSpPr>
          <p:cNvPr id="160" name="TextBox 159"/>
          <p:cNvSpPr txBox="1"/>
          <p:nvPr/>
        </p:nvSpPr>
        <p:spPr>
          <a:xfrm>
            <a:off x="8909050" y="1676400"/>
            <a:ext cx="1279525" cy="508000"/>
          </a:xfrm>
          <a:prstGeom prst="rect">
            <a:avLst/>
          </a:prstGeom>
          <a:noFill/>
        </p:spPr>
        <p:txBody>
          <a:bodyPr wrap="square" lIns="0" rIns="0" tIns="0" bIns="0" anchor="t">
            <a:spAutoFit/>
          </a:bodyPr>
          <a:lstStyle/>
          <a:p>
            <a:pPr algn="l">
              <a:lnSpc>
                <a:spcPct val="110000"/>
              </a:lnSpc>
            </a:pPr>
            <a:r>
              <a:rPr sz="850" b="0">
                <a:solidFill>
                  <a:srgbClr val="26262A"/>
                </a:solidFill>
                <a:latin typeface="Arial"/>
              </a:rPr>
              <a:t>Problem, analysis, result</a:t>
            </a:r>
          </a:p>
        </p:txBody>
      </p:sp>
      <p:sp>
        <p:nvSpPr>
          <p:cNvPr id="161" name="TextBox 160"/>
          <p:cNvSpPr txBox="1"/>
          <p:nvPr/>
        </p:nvSpPr>
        <p:spPr>
          <a:xfrm>
            <a:off x="8909050" y="2235200"/>
            <a:ext cx="1279525" cy="330200"/>
          </a:xfrm>
          <a:prstGeom prst="rect">
            <a:avLst/>
          </a:prstGeom>
          <a:noFill/>
        </p:spPr>
        <p:txBody>
          <a:bodyPr wrap="square" lIns="0" rIns="0" tIns="0" bIns="0" anchor="t">
            <a:spAutoFit/>
          </a:bodyPr>
          <a:lstStyle/>
          <a:p>
            <a:pPr algn="l"/>
            <a:r>
              <a:rPr sz="2000" b="1">
                <a:solidFill>
                  <a:srgbClr val="E55200"/>
                </a:solidFill>
                <a:latin typeface="Arial"/>
              </a:rPr>
              <a:t>6–8</a:t>
            </a:r>
          </a:p>
        </p:txBody>
      </p:sp>
      <p:sp>
        <p:nvSpPr>
          <p:cNvPr id="162" name="TextBox 161"/>
          <p:cNvSpPr txBox="1"/>
          <p:nvPr/>
        </p:nvSpPr>
        <p:spPr>
          <a:xfrm>
            <a:off x="8909050" y="2565400"/>
            <a:ext cx="1279525" cy="152400"/>
          </a:xfrm>
          <a:prstGeom prst="rect">
            <a:avLst/>
          </a:prstGeom>
          <a:noFill/>
        </p:spPr>
        <p:txBody>
          <a:bodyPr wrap="square" lIns="0" rIns="0" tIns="0" bIns="0" anchor="t">
            <a:spAutoFit/>
          </a:bodyPr>
          <a:lstStyle/>
          <a:p>
            <a:pPr algn="l"/>
            <a:r>
              <a:rPr sz="800" b="0">
                <a:solidFill>
                  <a:srgbClr val="6E7B84"/>
                </a:solidFill>
                <a:latin typeface="Arial"/>
              </a:rPr>
              <a:t>slides</a:t>
            </a:r>
          </a:p>
        </p:txBody>
      </p:sp>
      <p:sp>
        <p:nvSpPr>
          <p:cNvPr id="163" name="Chevron 162"/>
          <p:cNvSpPr/>
          <p:nvPr/>
        </p:nvSpPr>
        <p:spPr>
          <a:xfrm>
            <a:off x="10239375" y="1168400"/>
            <a:ext cx="1457325" cy="381000"/>
          </a:xfrm>
          <a:prstGeom prst="chevron">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4" name="TextBox 163"/>
          <p:cNvSpPr txBox="1"/>
          <p:nvPr/>
        </p:nvSpPr>
        <p:spPr>
          <a:xfrm>
            <a:off x="10467975" y="1168400"/>
            <a:ext cx="1152525" cy="381000"/>
          </a:xfrm>
          <a:prstGeom prst="rect">
            <a:avLst/>
          </a:prstGeom>
          <a:noFill/>
        </p:spPr>
        <p:txBody>
          <a:bodyPr wrap="square" lIns="0" rIns="0" tIns="0" bIns="0" anchor="ctr">
            <a:spAutoFit/>
          </a:bodyPr>
          <a:lstStyle/>
          <a:p>
            <a:pPr algn="l"/>
            <a:r>
              <a:rPr sz="850" b="1">
                <a:solidFill>
                  <a:srgbClr val="FFFFFF"/>
                </a:solidFill>
                <a:latin typeface="Arial"/>
              </a:rPr>
              <a:t>07  Next 6 months</a:t>
            </a:r>
          </a:p>
        </p:txBody>
      </p:sp>
      <p:sp>
        <p:nvSpPr>
          <p:cNvPr id="165" name="TextBox 164"/>
          <p:cNvSpPr txBox="1"/>
          <p:nvPr/>
        </p:nvSpPr>
        <p:spPr>
          <a:xfrm>
            <a:off x="10290175" y="1676400"/>
            <a:ext cx="1279525" cy="508000"/>
          </a:xfrm>
          <a:prstGeom prst="rect">
            <a:avLst/>
          </a:prstGeom>
          <a:noFill/>
        </p:spPr>
        <p:txBody>
          <a:bodyPr wrap="square" lIns="0" rIns="0" tIns="0" bIns="0" anchor="t">
            <a:spAutoFit/>
          </a:bodyPr>
          <a:lstStyle/>
          <a:p>
            <a:pPr algn="l">
              <a:lnSpc>
                <a:spcPct val="110000"/>
              </a:lnSpc>
            </a:pPr>
            <a:r>
              <a:rPr sz="850" b="0">
                <a:solidFill>
                  <a:srgbClr val="26262A"/>
                </a:solidFill>
                <a:latin typeface="Arial"/>
              </a:rPr>
              <a:t>Learnings, plan, support needed</a:t>
            </a:r>
          </a:p>
        </p:txBody>
      </p:sp>
      <p:sp>
        <p:nvSpPr>
          <p:cNvPr id="166" name="TextBox 165"/>
          <p:cNvSpPr txBox="1"/>
          <p:nvPr/>
        </p:nvSpPr>
        <p:spPr>
          <a:xfrm>
            <a:off x="10290175" y="2235200"/>
            <a:ext cx="1279525" cy="330200"/>
          </a:xfrm>
          <a:prstGeom prst="rect">
            <a:avLst/>
          </a:prstGeom>
          <a:noFill/>
        </p:spPr>
        <p:txBody>
          <a:bodyPr wrap="square" lIns="0" rIns="0" tIns="0" bIns="0" anchor="t">
            <a:spAutoFit/>
          </a:bodyPr>
          <a:lstStyle/>
          <a:p>
            <a:pPr algn="l"/>
            <a:r>
              <a:rPr sz="2000" b="1">
                <a:solidFill>
                  <a:srgbClr val="E55200"/>
                </a:solidFill>
                <a:latin typeface="Arial"/>
              </a:rPr>
              <a:t>2</a:t>
            </a:r>
          </a:p>
        </p:txBody>
      </p:sp>
      <p:sp>
        <p:nvSpPr>
          <p:cNvPr id="167" name="TextBox 166"/>
          <p:cNvSpPr txBox="1"/>
          <p:nvPr/>
        </p:nvSpPr>
        <p:spPr>
          <a:xfrm>
            <a:off x="10290175" y="2565400"/>
            <a:ext cx="1279525" cy="152400"/>
          </a:xfrm>
          <a:prstGeom prst="rect">
            <a:avLst/>
          </a:prstGeom>
          <a:noFill/>
        </p:spPr>
        <p:txBody>
          <a:bodyPr wrap="square" lIns="0" rIns="0" tIns="0" bIns="0" anchor="t">
            <a:spAutoFit/>
          </a:bodyPr>
          <a:lstStyle/>
          <a:p>
            <a:pPr algn="l"/>
            <a:r>
              <a:rPr sz="800" b="0">
                <a:solidFill>
                  <a:srgbClr val="6E7B84"/>
                </a:solidFill>
                <a:latin typeface="Arial"/>
              </a:rPr>
              <a:t>slides</a:t>
            </a:r>
          </a:p>
        </p:txBody>
      </p:sp>
      <p:sp>
        <p:nvSpPr>
          <p:cNvPr id="168" name="Rectangle 167"/>
          <p:cNvSpPr/>
          <p:nvPr/>
        </p:nvSpPr>
        <p:spPr>
          <a:xfrm>
            <a:off x="571500" y="2819400"/>
            <a:ext cx="1104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9" name="TextBox 168"/>
          <p:cNvSpPr txBox="1"/>
          <p:nvPr/>
        </p:nvSpPr>
        <p:spPr>
          <a:xfrm>
            <a:off x="571500" y="2997200"/>
            <a:ext cx="5334000" cy="177800"/>
          </a:xfrm>
          <a:prstGeom prst="rect">
            <a:avLst/>
          </a:prstGeom>
          <a:noFill/>
        </p:spPr>
        <p:txBody>
          <a:bodyPr wrap="square" lIns="0" rIns="0" tIns="0" bIns="0" anchor="t">
            <a:spAutoFit/>
          </a:bodyPr>
          <a:lstStyle/>
          <a:p>
            <a:pPr algn="l"/>
            <a:r>
              <a:rPr sz="850" b="1">
                <a:solidFill>
                  <a:srgbClr val="80350E"/>
                </a:solidFill>
                <a:latin typeface="Arial"/>
              </a:rPr>
              <a:t>WHAT EACH PART MUST ANSWER</a:t>
            </a:r>
          </a:p>
        </p:txBody>
      </p:sp>
      <p:sp>
        <p:nvSpPr>
          <p:cNvPr id="170" name="Rectangle 169"/>
          <p:cNvSpPr/>
          <p:nvPr/>
        </p:nvSpPr>
        <p:spPr>
          <a:xfrm>
            <a:off x="571500" y="3213100"/>
            <a:ext cx="5334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1" name="TextBox 170"/>
          <p:cNvSpPr txBox="1"/>
          <p:nvPr/>
        </p:nvSpPr>
        <p:spPr>
          <a:xfrm>
            <a:off x="571500" y="3327400"/>
            <a:ext cx="203200" cy="203200"/>
          </a:xfrm>
          <a:prstGeom prst="rect">
            <a:avLst/>
          </a:prstGeom>
          <a:noFill/>
        </p:spPr>
        <p:txBody>
          <a:bodyPr wrap="square" lIns="0" rIns="0" tIns="0" bIns="0" anchor="t">
            <a:spAutoFit/>
          </a:bodyPr>
          <a:lstStyle/>
          <a:p>
            <a:pPr algn="l"/>
            <a:r>
              <a:rPr sz="1300" b="1">
                <a:solidFill>
                  <a:srgbClr val="E55200"/>
                </a:solidFill>
                <a:latin typeface="Arial"/>
              </a:rPr>
              <a:t>1</a:t>
            </a:r>
          </a:p>
        </p:txBody>
      </p:sp>
      <p:sp>
        <p:nvSpPr>
          <p:cNvPr id="172" name="TextBox 171"/>
          <p:cNvSpPr txBox="1"/>
          <p:nvPr/>
        </p:nvSpPr>
        <p:spPr>
          <a:xfrm>
            <a:off x="876300" y="3327400"/>
            <a:ext cx="4953000" cy="177800"/>
          </a:xfrm>
          <a:prstGeom prst="rect">
            <a:avLst/>
          </a:prstGeom>
          <a:noFill/>
        </p:spPr>
        <p:txBody>
          <a:bodyPr wrap="square" lIns="0" rIns="0" tIns="0" bIns="0" anchor="t">
            <a:spAutoFit/>
          </a:bodyPr>
          <a:lstStyle/>
          <a:p>
            <a:pPr algn="l"/>
            <a:r>
              <a:rPr sz="1000" b="1">
                <a:solidFill>
                  <a:srgbClr val="80350E"/>
                </a:solidFill>
                <a:latin typeface="Arial"/>
              </a:rPr>
              <a:t>Personal &amp; Company</a:t>
            </a:r>
          </a:p>
        </p:txBody>
      </p:sp>
      <p:sp>
        <p:nvSpPr>
          <p:cNvPr id="173" name="TextBox 172"/>
          <p:cNvSpPr txBox="1"/>
          <p:nvPr/>
        </p:nvSpPr>
        <p:spPr>
          <a:xfrm>
            <a:off x="876300" y="3530600"/>
            <a:ext cx="4953000" cy="3810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Do I understand the company I joined and where my products fit?</a:t>
            </a:r>
          </a:p>
        </p:txBody>
      </p:sp>
      <p:sp>
        <p:nvSpPr>
          <p:cNvPr id="174" name="TextBox 173"/>
          <p:cNvSpPr txBox="1"/>
          <p:nvPr/>
        </p:nvSpPr>
        <p:spPr>
          <a:xfrm>
            <a:off x="571500" y="4064000"/>
            <a:ext cx="203200" cy="203200"/>
          </a:xfrm>
          <a:prstGeom prst="rect">
            <a:avLst/>
          </a:prstGeom>
          <a:noFill/>
        </p:spPr>
        <p:txBody>
          <a:bodyPr wrap="square" lIns="0" rIns="0" tIns="0" bIns="0" anchor="t">
            <a:spAutoFit/>
          </a:bodyPr>
          <a:lstStyle/>
          <a:p>
            <a:pPr algn="l"/>
            <a:r>
              <a:rPr sz="1300" b="1">
                <a:solidFill>
                  <a:srgbClr val="E55200"/>
                </a:solidFill>
                <a:latin typeface="Arial"/>
              </a:rPr>
              <a:t>2</a:t>
            </a:r>
          </a:p>
        </p:txBody>
      </p:sp>
      <p:sp>
        <p:nvSpPr>
          <p:cNvPr id="175" name="TextBox 174"/>
          <p:cNvSpPr txBox="1"/>
          <p:nvPr/>
        </p:nvSpPr>
        <p:spPr>
          <a:xfrm>
            <a:off x="876300" y="4064000"/>
            <a:ext cx="4953000" cy="177800"/>
          </a:xfrm>
          <a:prstGeom prst="rect">
            <a:avLst/>
          </a:prstGeom>
          <a:noFill/>
        </p:spPr>
        <p:txBody>
          <a:bodyPr wrap="square" lIns="0" rIns="0" tIns="0" bIns="0" anchor="t">
            <a:spAutoFit/>
          </a:bodyPr>
          <a:lstStyle/>
          <a:p>
            <a:pPr algn="l"/>
            <a:r>
              <a:rPr sz="1000" b="1">
                <a:solidFill>
                  <a:srgbClr val="80350E"/>
                </a:solidFill>
                <a:latin typeface="Arial"/>
              </a:rPr>
              <a:t>Roles &amp; Execution</a:t>
            </a:r>
          </a:p>
        </p:txBody>
      </p:sp>
      <p:sp>
        <p:nvSpPr>
          <p:cNvPr id="176" name="TextBox 175"/>
          <p:cNvSpPr txBox="1"/>
          <p:nvPr/>
        </p:nvSpPr>
        <p:spPr>
          <a:xfrm>
            <a:off x="876300" y="4267200"/>
            <a:ext cx="4953000" cy="3810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What did I do every month, and what is the evidence?</a:t>
            </a:r>
          </a:p>
        </p:txBody>
      </p:sp>
      <p:sp>
        <p:nvSpPr>
          <p:cNvPr id="177" name="TextBox 176"/>
          <p:cNvSpPr txBox="1"/>
          <p:nvPr/>
        </p:nvSpPr>
        <p:spPr>
          <a:xfrm>
            <a:off x="571500" y="4800600"/>
            <a:ext cx="203200" cy="203200"/>
          </a:xfrm>
          <a:prstGeom prst="rect">
            <a:avLst/>
          </a:prstGeom>
          <a:noFill/>
        </p:spPr>
        <p:txBody>
          <a:bodyPr wrap="square" lIns="0" rIns="0" tIns="0" bIns="0" anchor="t">
            <a:spAutoFit/>
          </a:bodyPr>
          <a:lstStyle/>
          <a:p>
            <a:pPr algn="l"/>
            <a:r>
              <a:rPr sz="1300" b="1">
                <a:solidFill>
                  <a:srgbClr val="E55200"/>
                </a:solidFill>
                <a:latin typeface="Arial"/>
              </a:rPr>
              <a:t>3</a:t>
            </a:r>
          </a:p>
        </p:txBody>
      </p:sp>
      <p:sp>
        <p:nvSpPr>
          <p:cNvPr id="178" name="TextBox 177"/>
          <p:cNvSpPr txBox="1"/>
          <p:nvPr/>
        </p:nvSpPr>
        <p:spPr>
          <a:xfrm>
            <a:off x="876300" y="4800600"/>
            <a:ext cx="4953000" cy="177800"/>
          </a:xfrm>
          <a:prstGeom prst="rect">
            <a:avLst/>
          </a:prstGeom>
          <a:noFill/>
        </p:spPr>
        <p:txBody>
          <a:bodyPr wrap="square" lIns="0" rIns="0" tIns="0" bIns="0" anchor="t">
            <a:spAutoFit/>
          </a:bodyPr>
          <a:lstStyle/>
          <a:p>
            <a:pPr algn="l"/>
            <a:r>
              <a:rPr sz="1000" b="1">
                <a:solidFill>
                  <a:srgbClr val="80350E"/>
                </a:solidFill>
                <a:latin typeface="Arial"/>
              </a:rPr>
              <a:t>Project</a:t>
            </a:r>
          </a:p>
        </p:txBody>
      </p:sp>
      <p:sp>
        <p:nvSpPr>
          <p:cNvPr id="179" name="TextBox 178"/>
          <p:cNvSpPr txBox="1"/>
          <p:nvPr/>
        </p:nvSpPr>
        <p:spPr>
          <a:xfrm>
            <a:off x="876300" y="5003800"/>
            <a:ext cx="4953000" cy="3810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What problem did I solve, with which data, and what changed?</a:t>
            </a:r>
          </a:p>
        </p:txBody>
      </p:sp>
      <p:sp>
        <p:nvSpPr>
          <p:cNvPr id="180" name="TextBox 179"/>
          <p:cNvSpPr txBox="1"/>
          <p:nvPr/>
        </p:nvSpPr>
        <p:spPr>
          <a:xfrm>
            <a:off x="571500" y="5537200"/>
            <a:ext cx="203200" cy="203200"/>
          </a:xfrm>
          <a:prstGeom prst="rect">
            <a:avLst/>
          </a:prstGeom>
          <a:noFill/>
        </p:spPr>
        <p:txBody>
          <a:bodyPr wrap="square" lIns="0" rIns="0" tIns="0" bIns="0" anchor="t">
            <a:spAutoFit/>
          </a:bodyPr>
          <a:lstStyle/>
          <a:p>
            <a:pPr algn="l"/>
            <a:r>
              <a:rPr sz="1300" b="1">
                <a:solidFill>
                  <a:srgbClr val="E55200"/>
                </a:solidFill>
                <a:latin typeface="Arial"/>
              </a:rPr>
              <a:t>4</a:t>
            </a:r>
          </a:p>
        </p:txBody>
      </p:sp>
      <p:sp>
        <p:nvSpPr>
          <p:cNvPr id="181" name="TextBox 180"/>
          <p:cNvSpPr txBox="1"/>
          <p:nvPr/>
        </p:nvSpPr>
        <p:spPr>
          <a:xfrm>
            <a:off x="876300" y="5537200"/>
            <a:ext cx="4953000" cy="177800"/>
          </a:xfrm>
          <a:prstGeom prst="rect">
            <a:avLst/>
          </a:prstGeom>
          <a:noFill/>
        </p:spPr>
        <p:txBody>
          <a:bodyPr wrap="square" lIns="0" rIns="0" tIns="0" bIns="0" anchor="t">
            <a:spAutoFit/>
          </a:bodyPr>
          <a:lstStyle/>
          <a:p>
            <a:pPr algn="l"/>
            <a:r>
              <a:rPr sz="1000" b="1">
                <a:solidFill>
                  <a:srgbClr val="80350E"/>
                </a:solidFill>
                <a:latin typeface="Arial"/>
              </a:rPr>
              <a:t>Next 6 months</a:t>
            </a:r>
          </a:p>
        </p:txBody>
      </p:sp>
      <p:sp>
        <p:nvSpPr>
          <p:cNvPr id="182" name="TextBox 181"/>
          <p:cNvSpPr txBox="1"/>
          <p:nvPr/>
        </p:nvSpPr>
        <p:spPr>
          <a:xfrm>
            <a:off x="876300" y="5740400"/>
            <a:ext cx="4953000" cy="3810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What will I deliver next, and what support do I need?</a:t>
            </a:r>
          </a:p>
        </p:txBody>
      </p:sp>
      <p:sp>
        <p:nvSpPr>
          <p:cNvPr id="183" name="Rectangle 182"/>
          <p:cNvSpPr/>
          <p:nvPr/>
        </p:nvSpPr>
        <p:spPr>
          <a:xfrm>
            <a:off x="6223000" y="2997200"/>
            <a:ext cx="5397500" cy="1625600"/>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4" name="TextBox 183"/>
          <p:cNvSpPr txBox="1"/>
          <p:nvPr/>
        </p:nvSpPr>
        <p:spPr>
          <a:xfrm>
            <a:off x="6426200" y="3149600"/>
            <a:ext cx="5016500" cy="152400"/>
          </a:xfrm>
          <a:prstGeom prst="rect">
            <a:avLst/>
          </a:prstGeom>
          <a:noFill/>
        </p:spPr>
        <p:txBody>
          <a:bodyPr wrap="square" lIns="0" rIns="0" tIns="0" bIns="0" anchor="t">
            <a:spAutoFit/>
          </a:bodyPr>
          <a:lstStyle/>
          <a:p>
            <a:pPr algn="l"/>
            <a:r>
              <a:rPr sz="850" b="1">
                <a:solidFill>
                  <a:srgbClr val="F0A878"/>
                </a:solidFill>
                <a:latin typeface="Arial"/>
              </a:rPr>
              <a:t>KEY TAKEAWAY</a:t>
            </a:r>
          </a:p>
        </p:txBody>
      </p:sp>
      <p:sp>
        <p:nvSpPr>
          <p:cNvPr id="185" name="TextBox 184"/>
          <p:cNvSpPr txBox="1"/>
          <p:nvPr/>
        </p:nvSpPr>
        <p:spPr>
          <a:xfrm>
            <a:off x="6426200" y="3378200"/>
            <a:ext cx="5016500" cy="1143000"/>
          </a:xfrm>
          <a:prstGeom prst="rect">
            <a:avLst/>
          </a:prstGeom>
          <a:noFill/>
        </p:spPr>
        <p:txBody>
          <a:bodyPr wrap="square" lIns="0" rIns="0" tIns="0" bIns="0" anchor="t">
            <a:spAutoFit/>
          </a:bodyPr>
          <a:lstStyle/>
          <a:p>
            <a:pPr algn="l">
              <a:lnSpc>
                <a:spcPct val="115000"/>
              </a:lnSpc>
            </a:pPr>
            <a:r>
              <a:rPr sz="1200" b="1">
                <a:solidFill>
                  <a:srgbClr val="FFFFFF"/>
                </a:solidFill>
                <a:latin typeface="Arial"/>
              </a:rPr>
              <a:t>Spend most slides on Execution and Project: that is where reviewers judge the six months. Company and organization slides only set the context.</a:t>
            </a:r>
          </a:p>
        </p:txBody>
      </p:sp>
      <p:sp>
        <p:nvSpPr>
          <p:cNvPr id="186" name="Rectangle 185"/>
          <p:cNvSpPr/>
          <p:nvPr/>
        </p:nvSpPr>
        <p:spPr>
          <a:xfrm>
            <a:off x="6223000" y="4775200"/>
            <a:ext cx="2603500" cy="15748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7" name="TextBox 186"/>
          <p:cNvSpPr txBox="1"/>
          <p:nvPr/>
        </p:nvSpPr>
        <p:spPr>
          <a:xfrm>
            <a:off x="6375400" y="4902200"/>
            <a:ext cx="2286000" cy="152400"/>
          </a:xfrm>
          <a:prstGeom prst="rect">
            <a:avLst/>
          </a:prstGeom>
          <a:noFill/>
        </p:spPr>
        <p:txBody>
          <a:bodyPr wrap="square" lIns="0" rIns="0" tIns="0" bIns="0" anchor="t">
            <a:spAutoFit/>
          </a:bodyPr>
          <a:lstStyle/>
          <a:p>
            <a:pPr algn="l"/>
            <a:r>
              <a:rPr sz="850" b="1">
                <a:solidFill>
                  <a:srgbClr val="E55200"/>
                </a:solidFill>
                <a:latin typeface="Arial"/>
              </a:rPr>
              <a:t>NOTE</a:t>
            </a:r>
          </a:p>
        </p:txBody>
      </p:sp>
      <p:sp>
        <p:nvSpPr>
          <p:cNvPr id="188" name="TextBox 187"/>
          <p:cNvSpPr txBox="1"/>
          <p:nvPr/>
        </p:nvSpPr>
        <p:spPr>
          <a:xfrm>
            <a:off x="6375400" y="5105400"/>
            <a:ext cx="2311400" cy="11684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Target 25–30 main slides for a 30-minute slot, about one minute per slide. Move detail to the appendix.</a:t>
            </a:r>
          </a:p>
        </p:txBody>
      </p:sp>
      <p:sp>
        <p:nvSpPr>
          <p:cNvPr id="189" name="Rectangle 188"/>
          <p:cNvSpPr/>
          <p:nvPr/>
        </p:nvSpPr>
        <p:spPr>
          <a:xfrm>
            <a:off x="9017000" y="4775200"/>
            <a:ext cx="2603500" cy="1574800"/>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0" name="TextBox 189"/>
          <p:cNvSpPr txBox="1"/>
          <p:nvPr/>
        </p:nvSpPr>
        <p:spPr>
          <a:xfrm>
            <a:off x="9169400" y="4902200"/>
            <a:ext cx="2286000" cy="152400"/>
          </a:xfrm>
          <a:prstGeom prst="rect">
            <a:avLst/>
          </a:prstGeom>
          <a:noFill/>
        </p:spPr>
        <p:txBody>
          <a:bodyPr wrap="square" lIns="0" rIns="0" tIns="0" bIns="0" anchor="t">
            <a:spAutoFit/>
          </a:bodyPr>
          <a:lstStyle/>
          <a:p>
            <a:pPr algn="l"/>
            <a:r>
              <a:rPr sz="850" b="1">
                <a:solidFill>
                  <a:srgbClr val="FFFFFF"/>
                </a:solidFill>
                <a:latin typeface="Arial"/>
              </a:rPr>
              <a:t>ASK</a:t>
            </a:r>
          </a:p>
        </p:txBody>
      </p:sp>
      <p:sp>
        <p:nvSpPr>
          <p:cNvPr id="191" name="TextBox 190"/>
          <p:cNvSpPr txBox="1"/>
          <p:nvPr/>
        </p:nvSpPr>
        <p:spPr>
          <a:xfrm>
            <a:off x="9169400" y="5105400"/>
            <a:ext cx="2311400" cy="1168400"/>
          </a:xfrm>
          <a:prstGeom prst="rect">
            <a:avLst/>
          </a:prstGeom>
          <a:noFill/>
        </p:spPr>
        <p:txBody>
          <a:bodyPr wrap="square" lIns="0" rIns="0" tIns="0" bIns="0" anchor="t">
            <a:spAutoFit/>
          </a:bodyPr>
          <a:lstStyle/>
          <a:p>
            <a:pPr algn="l">
              <a:lnSpc>
                <a:spcPct val="112000"/>
              </a:lnSpc>
            </a:pPr>
            <a:r>
              <a:rPr sz="900" b="0">
                <a:solidFill>
                  <a:srgbClr val="FFFFFF"/>
                </a:solidFill>
                <a:latin typeface="Arial"/>
              </a:rPr>
              <a:t>End with one clear request: the decision, approval or support you need from the reviewers.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WRITING &amp; NUMBERS</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Short sentences, real numbers, one format for every figure</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a:ea typeface="+mn-ea"/>
                <a:cs typeface="+mn-cs"/>
              </a:rPr>
              <a:t>0.13</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Triatra Template PPT 2026 V3; design references collected for this guide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TextBox 127"/>
          <p:cNvSpPr txBox="1"/>
          <p:nvPr/>
        </p:nvSpPr>
        <p:spPr>
          <a:xfrm>
            <a:off x="571500" y="1066800"/>
            <a:ext cx="5969000" cy="177800"/>
          </a:xfrm>
          <a:prstGeom prst="rect">
            <a:avLst/>
          </a:prstGeom>
          <a:noFill/>
        </p:spPr>
        <p:txBody>
          <a:bodyPr wrap="square" lIns="0" rIns="0" tIns="0" bIns="0" anchor="t">
            <a:spAutoFit/>
          </a:bodyPr>
          <a:lstStyle/>
          <a:p>
            <a:pPr algn="l"/>
            <a:r>
              <a:rPr sz="850" b="1">
                <a:solidFill>
                  <a:srgbClr val="80350E"/>
                </a:solidFill>
                <a:latin typeface="Arial"/>
              </a:rPr>
              <a:t>1 · HEADLINES: TOPIC → MESSAGE</a:t>
            </a:r>
          </a:p>
        </p:txBody>
      </p:sp>
      <p:sp>
        <p:nvSpPr>
          <p:cNvPr id="129" name="Rectangle 128"/>
          <p:cNvSpPr/>
          <p:nvPr/>
        </p:nvSpPr>
        <p:spPr>
          <a:xfrm>
            <a:off x="571500" y="1282700"/>
            <a:ext cx="596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0" name="TextBox 129"/>
          <p:cNvSpPr txBox="1"/>
          <p:nvPr/>
        </p:nvSpPr>
        <p:spPr>
          <a:xfrm>
            <a:off x="571500" y="1371600"/>
            <a:ext cx="1905000" cy="152400"/>
          </a:xfrm>
          <a:prstGeom prst="rect">
            <a:avLst/>
          </a:prstGeom>
          <a:noFill/>
        </p:spPr>
        <p:txBody>
          <a:bodyPr wrap="square" lIns="0" rIns="0" tIns="0" bIns="0" anchor="t">
            <a:spAutoFit/>
          </a:bodyPr>
          <a:lstStyle/>
          <a:p>
            <a:pPr algn="l"/>
            <a:r>
              <a:rPr sz="850" b="1" spc="100">
                <a:solidFill>
                  <a:srgbClr val="E55200"/>
                </a:solidFill>
                <a:latin typeface="Arial"/>
              </a:rPr>
              <a:t>AVOID</a:t>
            </a:r>
          </a:p>
        </p:txBody>
      </p:sp>
      <p:sp>
        <p:nvSpPr>
          <p:cNvPr id="131" name="TextBox 130"/>
          <p:cNvSpPr txBox="1"/>
          <p:nvPr/>
        </p:nvSpPr>
        <p:spPr>
          <a:xfrm>
            <a:off x="2603500" y="1371600"/>
            <a:ext cx="3937000" cy="152400"/>
          </a:xfrm>
          <a:prstGeom prst="rect">
            <a:avLst/>
          </a:prstGeom>
          <a:noFill/>
        </p:spPr>
        <p:txBody>
          <a:bodyPr wrap="square" lIns="0" rIns="0" tIns="0" bIns="0" anchor="t">
            <a:spAutoFit/>
          </a:bodyPr>
          <a:lstStyle/>
          <a:p>
            <a:pPr algn="l"/>
            <a:r>
              <a:rPr sz="850" b="1" spc="100">
                <a:solidFill>
                  <a:srgbClr val="80350E"/>
                </a:solidFill>
                <a:latin typeface="Arial"/>
              </a:rPr>
              <a:t>USE</a:t>
            </a:r>
          </a:p>
        </p:txBody>
      </p:sp>
      <p:sp>
        <p:nvSpPr>
          <p:cNvPr id="132" name="Rectangle 131"/>
          <p:cNvSpPr/>
          <p:nvPr/>
        </p:nvSpPr>
        <p:spPr>
          <a:xfrm>
            <a:off x="571500" y="1600200"/>
            <a:ext cx="1905000" cy="4572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3" name="TextBox 132"/>
          <p:cNvSpPr txBox="1"/>
          <p:nvPr/>
        </p:nvSpPr>
        <p:spPr>
          <a:xfrm>
            <a:off x="673100" y="1600200"/>
            <a:ext cx="1727200" cy="457200"/>
          </a:xfrm>
          <a:prstGeom prst="rect">
            <a:avLst/>
          </a:prstGeom>
          <a:noFill/>
        </p:spPr>
        <p:txBody>
          <a:bodyPr wrap="square" lIns="0" rIns="0" tIns="0" bIns="0" anchor="ctr">
            <a:spAutoFit/>
          </a:bodyPr>
          <a:lstStyle/>
          <a:p>
            <a:pPr algn="l"/>
            <a:r>
              <a:rPr sz="950" b="1">
                <a:solidFill>
                  <a:srgbClr val="6E7B84"/>
                </a:solidFill>
                <a:latin typeface="Arial"/>
              </a:rPr>
              <a:t>Market Overview</a:t>
            </a:r>
          </a:p>
        </p:txBody>
      </p:sp>
      <p:sp>
        <p:nvSpPr>
          <p:cNvPr id="134" name="TextBox 133"/>
          <p:cNvSpPr txBox="1"/>
          <p:nvPr/>
        </p:nvSpPr>
        <p:spPr>
          <a:xfrm>
            <a:off x="2095500" y="1600200"/>
            <a:ext cx="381000" cy="457200"/>
          </a:xfrm>
          <a:prstGeom prst="rect">
            <a:avLst/>
          </a:prstGeom>
          <a:noFill/>
        </p:spPr>
        <p:txBody>
          <a:bodyPr wrap="square" lIns="0" rIns="0" tIns="0" bIns="0" anchor="ctr">
            <a:spAutoFit/>
          </a:bodyPr>
          <a:lstStyle/>
          <a:p>
            <a:pPr algn="ctr"/>
            <a:r>
              <a:rPr sz="1400" b="1">
                <a:solidFill>
                  <a:srgbClr val="E55200"/>
                </a:solidFill>
                <a:latin typeface="Arial"/>
              </a:rPr>
              <a:t>→</a:t>
            </a:r>
          </a:p>
        </p:txBody>
      </p:sp>
      <p:sp>
        <p:nvSpPr>
          <p:cNvPr id="135" name="Rectangle 134"/>
          <p:cNvSpPr/>
          <p:nvPr/>
        </p:nvSpPr>
        <p:spPr>
          <a:xfrm>
            <a:off x="2603500" y="1600200"/>
            <a:ext cx="3937000" cy="457200"/>
          </a:xfrm>
          <a:prstGeom prst="rect">
            <a:avLst/>
          </a:prstGeom>
          <a:solidFill>
            <a:srgbClr val="F7F8FA"/>
          </a:solidFill>
          <a:ln w="635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6" name="TextBox 135"/>
          <p:cNvSpPr txBox="1"/>
          <p:nvPr/>
        </p:nvSpPr>
        <p:spPr>
          <a:xfrm>
            <a:off x="2705100" y="1600200"/>
            <a:ext cx="3759200" cy="457200"/>
          </a:xfrm>
          <a:prstGeom prst="rect">
            <a:avLst/>
          </a:prstGeom>
          <a:noFill/>
        </p:spPr>
        <p:txBody>
          <a:bodyPr wrap="square" lIns="0" rIns="0" tIns="0" bIns="0" anchor="ctr">
            <a:spAutoFit/>
          </a:bodyPr>
          <a:lstStyle/>
          <a:p>
            <a:pPr algn="l">
              <a:lnSpc>
                <a:spcPct val="105000"/>
              </a:lnSpc>
            </a:pPr>
            <a:r>
              <a:rPr sz="950" b="1">
                <a:solidFill>
                  <a:srgbClr val="26262A"/>
                </a:solidFill>
                <a:latin typeface="Arial"/>
              </a:rPr>
              <a:t>Medium and Heavy cranes are 41% of units but 64% of import value</a:t>
            </a:r>
          </a:p>
        </p:txBody>
      </p:sp>
      <p:sp>
        <p:nvSpPr>
          <p:cNvPr id="137" name="Rectangle 136"/>
          <p:cNvSpPr/>
          <p:nvPr/>
        </p:nvSpPr>
        <p:spPr>
          <a:xfrm>
            <a:off x="571500" y="2159000"/>
            <a:ext cx="1905000" cy="4572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8" name="TextBox 137"/>
          <p:cNvSpPr txBox="1"/>
          <p:nvPr/>
        </p:nvSpPr>
        <p:spPr>
          <a:xfrm>
            <a:off x="673100" y="2159000"/>
            <a:ext cx="1727200" cy="457200"/>
          </a:xfrm>
          <a:prstGeom prst="rect">
            <a:avLst/>
          </a:prstGeom>
          <a:noFill/>
        </p:spPr>
        <p:txBody>
          <a:bodyPr wrap="square" lIns="0" rIns="0" tIns="0" bIns="0" anchor="ctr">
            <a:spAutoFit/>
          </a:bodyPr>
          <a:lstStyle/>
          <a:p>
            <a:pPr algn="l"/>
            <a:r>
              <a:rPr sz="950" b="1">
                <a:solidFill>
                  <a:srgbClr val="6E7B84"/>
                </a:solidFill>
                <a:latin typeface="Arial"/>
              </a:rPr>
              <a:t>Price Comparison</a:t>
            </a:r>
          </a:p>
        </p:txBody>
      </p:sp>
      <p:sp>
        <p:nvSpPr>
          <p:cNvPr id="139" name="TextBox 138"/>
          <p:cNvSpPr txBox="1"/>
          <p:nvPr/>
        </p:nvSpPr>
        <p:spPr>
          <a:xfrm>
            <a:off x="2095500" y="2159000"/>
            <a:ext cx="381000" cy="457200"/>
          </a:xfrm>
          <a:prstGeom prst="rect">
            <a:avLst/>
          </a:prstGeom>
          <a:noFill/>
        </p:spPr>
        <p:txBody>
          <a:bodyPr wrap="square" lIns="0" rIns="0" tIns="0" bIns="0" anchor="ctr">
            <a:spAutoFit/>
          </a:bodyPr>
          <a:lstStyle/>
          <a:p>
            <a:pPr algn="ctr"/>
            <a:r>
              <a:rPr sz="1400" b="1">
                <a:solidFill>
                  <a:srgbClr val="E55200"/>
                </a:solidFill>
                <a:latin typeface="Arial"/>
              </a:rPr>
              <a:t>→</a:t>
            </a:r>
          </a:p>
        </p:txBody>
      </p:sp>
      <p:sp>
        <p:nvSpPr>
          <p:cNvPr id="140" name="Rectangle 139"/>
          <p:cNvSpPr/>
          <p:nvPr/>
        </p:nvSpPr>
        <p:spPr>
          <a:xfrm>
            <a:off x="2603500" y="2159000"/>
            <a:ext cx="3937000" cy="457200"/>
          </a:xfrm>
          <a:prstGeom prst="rect">
            <a:avLst/>
          </a:prstGeom>
          <a:solidFill>
            <a:srgbClr val="F7F8FA"/>
          </a:solidFill>
          <a:ln w="635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1" name="TextBox 140"/>
          <p:cNvSpPr txBox="1"/>
          <p:nvPr/>
        </p:nvSpPr>
        <p:spPr>
          <a:xfrm>
            <a:off x="2705100" y="2159000"/>
            <a:ext cx="3759200" cy="457200"/>
          </a:xfrm>
          <a:prstGeom prst="rect">
            <a:avLst/>
          </a:prstGeom>
          <a:noFill/>
        </p:spPr>
        <p:txBody>
          <a:bodyPr wrap="square" lIns="0" rIns="0" tIns="0" bIns="0" anchor="ctr">
            <a:spAutoFit/>
          </a:bodyPr>
          <a:lstStyle/>
          <a:p>
            <a:pPr algn="l">
              <a:lnSpc>
                <a:spcPct val="105000"/>
              </a:lnSpc>
            </a:pPr>
            <a:r>
              <a:rPr sz="950" b="1">
                <a:solidFill>
                  <a:srgbClr val="26262A"/>
                </a:solidFill>
                <a:latin typeface="Arial"/>
              </a:rPr>
              <a:t>F.lli Ferrari is cheaper head to head in five tm classes</a:t>
            </a:r>
          </a:p>
        </p:txBody>
      </p:sp>
      <p:sp>
        <p:nvSpPr>
          <p:cNvPr id="142" name="Rectangle 141"/>
          <p:cNvSpPr/>
          <p:nvPr/>
        </p:nvSpPr>
        <p:spPr>
          <a:xfrm>
            <a:off x="571500" y="2717800"/>
            <a:ext cx="1905000" cy="4572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3" name="TextBox 142"/>
          <p:cNvSpPr txBox="1"/>
          <p:nvPr/>
        </p:nvSpPr>
        <p:spPr>
          <a:xfrm>
            <a:off x="673100" y="2717800"/>
            <a:ext cx="1727200" cy="457200"/>
          </a:xfrm>
          <a:prstGeom prst="rect">
            <a:avLst/>
          </a:prstGeom>
          <a:noFill/>
        </p:spPr>
        <p:txBody>
          <a:bodyPr wrap="square" lIns="0" rIns="0" tIns="0" bIns="0" anchor="ctr">
            <a:spAutoFit/>
          </a:bodyPr>
          <a:lstStyle/>
          <a:p>
            <a:pPr algn="l"/>
            <a:r>
              <a:rPr sz="950" b="1">
                <a:solidFill>
                  <a:srgbClr val="6E7B84"/>
                </a:solidFill>
                <a:latin typeface="Arial"/>
              </a:rPr>
              <a:t>Monitoring</a:t>
            </a:r>
          </a:p>
        </p:txBody>
      </p:sp>
      <p:sp>
        <p:nvSpPr>
          <p:cNvPr id="144" name="TextBox 143"/>
          <p:cNvSpPr txBox="1"/>
          <p:nvPr/>
        </p:nvSpPr>
        <p:spPr>
          <a:xfrm>
            <a:off x="2095500" y="2717800"/>
            <a:ext cx="381000" cy="457200"/>
          </a:xfrm>
          <a:prstGeom prst="rect">
            <a:avLst/>
          </a:prstGeom>
          <a:noFill/>
        </p:spPr>
        <p:txBody>
          <a:bodyPr wrap="square" lIns="0" rIns="0" tIns="0" bIns="0" anchor="ctr">
            <a:spAutoFit/>
          </a:bodyPr>
          <a:lstStyle/>
          <a:p>
            <a:pPr algn="ctr"/>
            <a:r>
              <a:rPr sz="1400" b="1">
                <a:solidFill>
                  <a:srgbClr val="E55200"/>
                </a:solidFill>
                <a:latin typeface="Arial"/>
              </a:rPr>
              <a:t>→</a:t>
            </a:r>
          </a:p>
        </p:txBody>
      </p:sp>
      <p:sp>
        <p:nvSpPr>
          <p:cNvPr id="145" name="Rectangle 144"/>
          <p:cNvSpPr/>
          <p:nvPr/>
        </p:nvSpPr>
        <p:spPr>
          <a:xfrm>
            <a:off x="2603500" y="2717800"/>
            <a:ext cx="3937000" cy="457200"/>
          </a:xfrm>
          <a:prstGeom prst="rect">
            <a:avLst/>
          </a:prstGeom>
          <a:solidFill>
            <a:srgbClr val="F7F8FA"/>
          </a:solidFill>
          <a:ln w="635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6" name="TextBox 145"/>
          <p:cNvSpPr txBox="1"/>
          <p:nvPr/>
        </p:nvSpPr>
        <p:spPr>
          <a:xfrm>
            <a:off x="2705100" y="2717800"/>
            <a:ext cx="3759200" cy="457200"/>
          </a:xfrm>
          <a:prstGeom prst="rect">
            <a:avLst/>
          </a:prstGeom>
          <a:noFill/>
        </p:spPr>
        <p:txBody>
          <a:bodyPr wrap="square" lIns="0" rIns="0" tIns="0" bIns="0" anchor="ctr">
            <a:spAutoFit/>
          </a:bodyPr>
          <a:lstStyle/>
          <a:p>
            <a:pPr algn="l">
              <a:lnSpc>
                <a:spcPct val="105000"/>
              </a:lnSpc>
            </a:pPr>
            <a:r>
              <a:rPr sz="950" b="1">
                <a:solidFill>
                  <a:srgbClr val="26262A"/>
                </a:solidFill>
                <a:latin typeface="Arial"/>
              </a:rPr>
              <a:t>Regular plant follow-up keeps each PO on its agreed RFD date</a:t>
            </a:r>
          </a:p>
        </p:txBody>
      </p:sp>
      <p:sp>
        <p:nvSpPr>
          <p:cNvPr id="147" name="Rectangle 146"/>
          <p:cNvSpPr/>
          <p:nvPr/>
        </p:nvSpPr>
        <p:spPr>
          <a:xfrm>
            <a:off x="571500" y="3276600"/>
            <a:ext cx="1905000" cy="4572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8" name="TextBox 147"/>
          <p:cNvSpPr txBox="1"/>
          <p:nvPr/>
        </p:nvSpPr>
        <p:spPr>
          <a:xfrm>
            <a:off x="673100" y="3276600"/>
            <a:ext cx="1727200" cy="457200"/>
          </a:xfrm>
          <a:prstGeom prst="rect">
            <a:avLst/>
          </a:prstGeom>
          <a:noFill/>
        </p:spPr>
        <p:txBody>
          <a:bodyPr wrap="square" lIns="0" rIns="0" tIns="0" bIns="0" anchor="ctr">
            <a:spAutoFit/>
          </a:bodyPr>
          <a:lstStyle/>
          <a:p>
            <a:pPr algn="l"/>
            <a:r>
              <a:rPr sz="950" b="1">
                <a:solidFill>
                  <a:srgbClr val="6E7B84"/>
                </a:solidFill>
                <a:latin typeface="Arial"/>
              </a:rPr>
              <a:t>Work Challenges</a:t>
            </a:r>
          </a:p>
        </p:txBody>
      </p:sp>
      <p:sp>
        <p:nvSpPr>
          <p:cNvPr id="149" name="TextBox 148"/>
          <p:cNvSpPr txBox="1"/>
          <p:nvPr/>
        </p:nvSpPr>
        <p:spPr>
          <a:xfrm>
            <a:off x="2095500" y="3276600"/>
            <a:ext cx="381000" cy="457200"/>
          </a:xfrm>
          <a:prstGeom prst="rect">
            <a:avLst/>
          </a:prstGeom>
          <a:noFill/>
        </p:spPr>
        <p:txBody>
          <a:bodyPr wrap="square" lIns="0" rIns="0" tIns="0" bIns="0" anchor="ctr">
            <a:spAutoFit/>
          </a:bodyPr>
          <a:lstStyle/>
          <a:p>
            <a:pPr algn="ctr"/>
            <a:r>
              <a:rPr sz="1400" b="1">
                <a:solidFill>
                  <a:srgbClr val="E55200"/>
                </a:solidFill>
                <a:latin typeface="Arial"/>
              </a:rPr>
              <a:t>→</a:t>
            </a:r>
          </a:p>
        </p:txBody>
      </p:sp>
      <p:sp>
        <p:nvSpPr>
          <p:cNvPr id="150" name="Rectangle 149"/>
          <p:cNvSpPr/>
          <p:nvPr/>
        </p:nvSpPr>
        <p:spPr>
          <a:xfrm>
            <a:off x="2603500" y="3276600"/>
            <a:ext cx="3937000" cy="457200"/>
          </a:xfrm>
          <a:prstGeom prst="rect">
            <a:avLst/>
          </a:prstGeom>
          <a:solidFill>
            <a:srgbClr val="F7F8FA"/>
          </a:solidFill>
          <a:ln w="635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1" name="TextBox 150"/>
          <p:cNvSpPr txBox="1"/>
          <p:nvPr/>
        </p:nvSpPr>
        <p:spPr>
          <a:xfrm>
            <a:off x="2705100" y="3276600"/>
            <a:ext cx="3759200" cy="457200"/>
          </a:xfrm>
          <a:prstGeom prst="rect">
            <a:avLst/>
          </a:prstGeom>
          <a:noFill/>
        </p:spPr>
        <p:txBody>
          <a:bodyPr wrap="square" lIns="0" rIns="0" tIns="0" bIns="0" anchor="ctr">
            <a:spAutoFit/>
          </a:bodyPr>
          <a:lstStyle/>
          <a:p>
            <a:pPr algn="l">
              <a:lnSpc>
                <a:spcPct val="105000"/>
              </a:lnSpc>
            </a:pPr>
            <a:r>
              <a:rPr sz="950" b="1">
                <a:solidFill>
                  <a:srgbClr val="26262A"/>
                </a:solidFill>
                <a:latin typeface="Arial"/>
              </a:rPr>
              <a:t>Last-minute quote requests are the main risk to lead time</a:t>
            </a:r>
          </a:p>
        </p:txBody>
      </p:sp>
      <p:sp>
        <p:nvSpPr>
          <p:cNvPr id="152" name="TextBox 151"/>
          <p:cNvSpPr txBox="1"/>
          <p:nvPr/>
        </p:nvSpPr>
        <p:spPr>
          <a:xfrm>
            <a:off x="571500" y="3962400"/>
            <a:ext cx="5969000" cy="177800"/>
          </a:xfrm>
          <a:prstGeom prst="rect">
            <a:avLst/>
          </a:prstGeom>
          <a:noFill/>
        </p:spPr>
        <p:txBody>
          <a:bodyPr wrap="square" lIns="0" rIns="0" tIns="0" bIns="0" anchor="t">
            <a:spAutoFit/>
          </a:bodyPr>
          <a:lstStyle/>
          <a:p>
            <a:pPr algn="l"/>
            <a:r>
              <a:rPr sz="850" b="1">
                <a:solidFill>
                  <a:srgbClr val="80350E"/>
                </a:solidFill>
                <a:latin typeface="Arial"/>
              </a:rPr>
              <a:t>2 · TEXT RULES</a:t>
            </a:r>
          </a:p>
        </p:txBody>
      </p:sp>
      <p:sp>
        <p:nvSpPr>
          <p:cNvPr id="153" name="Rectangle 152"/>
          <p:cNvSpPr/>
          <p:nvPr/>
        </p:nvSpPr>
        <p:spPr>
          <a:xfrm>
            <a:off x="571500" y="4178300"/>
            <a:ext cx="596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4" name="Oval 153"/>
          <p:cNvSpPr/>
          <p:nvPr/>
        </p:nvSpPr>
        <p:spPr>
          <a:xfrm>
            <a:off x="571500" y="4343400"/>
            <a:ext cx="76200" cy="762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5" name="TextBox 154"/>
          <p:cNvSpPr txBox="1"/>
          <p:nvPr/>
        </p:nvSpPr>
        <p:spPr>
          <a:xfrm>
            <a:off x="774700" y="4292600"/>
            <a:ext cx="5778500" cy="3556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Max 6 bullets per box, ideally one line each; no full stops on fragments.</a:t>
            </a:r>
          </a:p>
        </p:txBody>
      </p:sp>
      <p:sp>
        <p:nvSpPr>
          <p:cNvPr id="156" name="Oval 155"/>
          <p:cNvSpPr/>
          <p:nvPr/>
        </p:nvSpPr>
        <p:spPr>
          <a:xfrm>
            <a:off x="571500" y="4749800"/>
            <a:ext cx="76200" cy="762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7" name="TextBox 156"/>
          <p:cNvSpPr txBox="1"/>
          <p:nvPr/>
        </p:nvSpPr>
        <p:spPr>
          <a:xfrm>
            <a:off x="774700" y="4699000"/>
            <a:ext cx="5778500" cy="3556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Max ~40 words per box. If more is needed, it belongs in the appendix.</a:t>
            </a:r>
          </a:p>
        </p:txBody>
      </p:sp>
      <p:sp>
        <p:nvSpPr>
          <p:cNvPr id="158" name="Oval 157"/>
          <p:cNvSpPr/>
          <p:nvPr/>
        </p:nvSpPr>
        <p:spPr>
          <a:xfrm>
            <a:off x="571500" y="5156200"/>
            <a:ext cx="76200" cy="762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9" name="TextBox 158"/>
          <p:cNvSpPr txBox="1"/>
          <p:nvPr/>
        </p:nvSpPr>
        <p:spPr>
          <a:xfrm>
            <a:off x="774700" y="5105400"/>
            <a:ext cx="5778500" cy="3556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Define an abbreviation once: Request for Delivery (RFD).</a:t>
            </a:r>
          </a:p>
        </p:txBody>
      </p:sp>
      <p:sp>
        <p:nvSpPr>
          <p:cNvPr id="160" name="Oval 159"/>
          <p:cNvSpPr/>
          <p:nvPr/>
        </p:nvSpPr>
        <p:spPr>
          <a:xfrm>
            <a:off x="571500" y="5562600"/>
            <a:ext cx="76200" cy="762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1" name="TextBox 160"/>
          <p:cNvSpPr txBox="1"/>
          <p:nvPr/>
        </p:nvSpPr>
        <p:spPr>
          <a:xfrm>
            <a:off x="774700" y="5511800"/>
            <a:ext cx="5778500" cy="3556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One language per deck (English); keep product and form names as in the system.</a:t>
            </a:r>
          </a:p>
        </p:txBody>
      </p:sp>
      <p:sp>
        <p:nvSpPr>
          <p:cNvPr id="162" name="Oval 161"/>
          <p:cNvSpPr/>
          <p:nvPr/>
        </p:nvSpPr>
        <p:spPr>
          <a:xfrm>
            <a:off x="571500" y="5969000"/>
            <a:ext cx="76200" cy="76200"/>
          </a:xfrm>
          <a:prstGeom prst="ellipse">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3" name="TextBox 162"/>
          <p:cNvSpPr txBox="1"/>
          <p:nvPr/>
        </p:nvSpPr>
        <p:spPr>
          <a:xfrm>
            <a:off x="774700" y="5918200"/>
            <a:ext cx="5778500" cy="3556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Names: full name + role on first mention, short name after.</a:t>
            </a:r>
          </a:p>
        </p:txBody>
      </p:sp>
      <p:sp>
        <p:nvSpPr>
          <p:cNvPr id="164" name="TextBox 163"/>
          <p:cNvSpPr txBox="1"/>
          <p:nvPr/>
        </p:nvSpPr>
        <p:spPr>
          <a:xfrm>
            <a:off x="6921500" y="1066800"/>
            <a:ext cx="4699000" cy="177800"/>
          </a:xfrm>
          <a:prstGeom prst="rect">
            <a:avLst/>
          </a:prstGeom>
          <a:noFill/>
        </p:spPr>
        <p:txBody>
          <a:bodyPr wrap="square" lIns="0" rIns="0" tIns="0" bIns="0" anchor="t">
            <a:spAutoFit/>
          </a:bodyPr>
          <a:lstStyle/>
          <a:p>
            <a:pPr algn="l"/>
            <a:r>
              <a:rPr sz="850" b="1">
                <a:solidFill>
                  <a:srgbClr val="80350E"/>
                </a:solidFill>
                <a:latin typeface="Arial"/>
              </a:rPr>
              <a:t>3 · NUMBER FORMATS</a:t>
            </a:r>
          </a:p>
        </p:txBody>
      </p:sp>
      <p:sp>
        <p:nvSpPr>
          <p:cNvPr id="165" name="Rectangle 164"/>
          <p:cNvSpPr/>
          <p:nvPr/>
        </p:nvSpPr>
        <p:spPr>
          <a:xfrm>
            <a:off x="6921500" y="1282700"/>
            <a:ext cx="469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6" name="TextBox 165"/>
          <p:cNvSpPr txBox="1"/>
          <p:nvPr/>
        </p:nvSpPr>
        <p:spPr>
          <a:xfrm>
            <a:off x="6921500" y="1473200"/>
            <a:ext cx="1905000" cy="177800"/>
          </a:xfrm>
          <a:prstGeom prst="rect">
            <a:avLst/>
          </a:prstGeom>
          <a:noFill/>
        </p:spPr>
        <p:txBody>
          <a:bodyPr wrap="square" lIns="0" rIns="0" tIns="0" bIns="0" anchor="t">
            <a:spAutoFit/>
          </a:bodyPr>
          <a:lstStyle/>
          <a:p>
            <a:pPr algn="l"/>
            <a:r>
              <a:rPr sz="900" b="1">
                <a:solidFill>
                  <a:srgbClr val="6E7B84"/>
                </a:solidFill>
                <a:latin typeface="Arial"/>
              </a:rPr>
              <a:t>Currency, table</a:t>
            </a:r>
          </a:p>
        </p:txBody>
      </p:sp>
      <p:sp>
        <p:nvSpPr>
          <p:cNvPr id="167" name="TextBox 166"/>
          <p:cNvSpPr txBox="1"/>
          <p:nvPr/>
        </p:nvSpPr>
        <p:spPr>
          <a:xfrm>
            <a:off x="8890000" y="1447800"/>
            <a:ext cx="2730500" cy="228600"/>
          </a:xfrm>
          <a:prstGeom prst="rect">
            <a:avLst/>
          </a:prstGeom>
          <a:noFill/>
        </p:spPr>
        <p:txBody>
          <a:bodyPr wrap="square" lIns="0" rIns="0" tIns="0" bIns="0" anchor="t">
            <a:spAutoFit/>
          </a:bodyPr>
          <a:lstStyle/>
          <a:p>
            <a:pPr algn="l"/>
            <a:r>
              <a:rPr sz="1100" b="1">
                <a:solidFill>
                  <a:srgbClr val="26262A"/>
                </a:solidFill>
                <a:latin typeface="Arial"/>
              </a:rPr>
              <a:t>Rp 1.240.000.000</a:t>
            </a:r>
          </a:p>
        </p:txBody>
      </p:sp>
      <p:sp>
        <p:nvSpPr>
          <p:cNvPr id="168" name="Rectangle 167"/>
          <p:cNvSpPr/>
          <p:nvPr/>
        </p:nvSpPr>
        <p:spPr>
          <a:xfrm>
            <a:off x="6921500" y="1752600"/>
            <a:ext cx="469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9" name="TextBox 168"/>
          <p:cNvSpPr txBox="1"/>
          <p:nvPr/>
        </p:nvSpPr>
        <p:spPr>
          <a:xfrm>
            <a:off x="6921500" y="1892300"/>
            <a:ext cx="1905000" cy="177800"/>
          </a:xfrm>
          <a:prstGeom prst="rect">
            <a:avLst/>
          </a:prstGeom>
          <a:noFill/>
        </p:spPr>
        <p:txBody>
          <a:bodyPr wrap="square" lIns="0" rIns="0" tIns="0" bIns="0" anchor="t">
            <a:spAutoFit/>
          </a:bodyPr>
          <a:lstStyle/>
          <a:p>
            <a:pPr algn="l"/>
            <a:r>
              <a:rPr sz="900" b="1">
                <a:solidFill>
                  <a:srgbClr val="6E7B84"/>
                </a:solidFill>
                <a:latin typeface="Arial"/>
              </a:rPr>
              <a:t>Currency, text</a:t>
            </a:r>
          </a:p>
        </p:txBody>
      </p:sp>
      <p:sp>
        <p:nvSpPr>
          <p:cNvPr id="170" name="TextBox 169"/>
          <p:cNvSpPr txBox="1"/>
          <p:nvPr/>
        </p:nvSpPr>
        <p:spPr>
          <a:xfrm>
            <a:off x="8890000" y="1866900"/>
            <a:ext cx="2730500" cy="228600"/>
          </a:xfrm>
          <a:prstGeom prst="rect">
            <a:avLst/>
          </a:prstGeom>
          <a:noFill/>
        </p:spPr>
        <p:txBody>
          <a:bodyPr wrap="square" lIns="0" rIns="0" tIns="0" bIns="0" anchor="t">
            <a:spAutoFit/>
          </a:bodyPr>
          <a:lstStyle/>
          <a:p>
            <a:pPr algn="l"/>
            <a:r>
              <a:rPr sz="1100" b="1">
                <a:solidFill>
                  <a:srgbClr val="26262A"/>
                </a:solidFill>
                <a:latin typeface="Arial"/>
              </a:rPr>
              <a:t>Rp 1,24 M · Rp 650 jt</a:t>
            </a:r>
          </a:p>
        </p:txBody>
      </p:sp>
      <p:sp>
        <p:nvSpPr>
          <p:cNvPr id="171" name="Rectangle 170"/>
          <p:cNvSpPr/>
          <p:nvPr/>
        </p:nvSpPr>
        <p:spPr>
          <a:xfrm>
            <a:off x="6921500" y="2171700"/>
            <a:ext cx="469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2" name="TextBox 171"/>
          <p:cNvSpPr txBox="1"/>
          <p:nvPr/>
        </p:nvSpPr>
        <p:spPr>
          <a:xfrm>
            <a:off x="6921500" y="2311400"/>
            <a:ext cx="1905000" cy="177800"/>
          </a:xfrm>
          <a:prstGeom prst="rect">
            <a:avLst/>
          </a:prstGeom>
          <a:noFill/>
        </p:spPr>
        <p:txBody>
          <a:bodyPr wrap="square" lIns="0" rIns="0" tIns="0" bIns="0" anchor="t">
            <a:spAutoFit/>
          </a:bodyPr>
          <a:lstStyle/>
          <a:p>
            <a:pPr algn="l"/>
            <a:r>
              <a:rPr sz="900" b="1">
                <a:solidFill>
                  <a:srgbClr val="6E7B84"/>
                </a:solidFill>
                <a:latin typeface="Arial"/>
              </a:rPr>
              <a:t>Unit / capacity</a:t>
            </a:r>
          </a:p>
        </p:txBody>
      </p:sp>
      <p:sp>
        <p:nvSpPr>
          <p:cNvPr id="173" name="TextBox 172"/>
          <p:cNvSpPr txBox="1"/>
          <p:nvPr/>
        </p:nvSpPr>
        <p:spPr>
          <a:xfrm>
            <a:off x="8890000" y="2286000"/>
            <a:ext cx="2730500" cy="228600"/>
          </a:xfrm>
          <a:prstGeom prst="rect">
            <a:avLst/>
          </a:prstGeom>
          <a:noFill/>
        </p:spPr>
        <p:txBody>
          <a:bodyPr wrap="square" lIns="0" rIns="0" tIns="0" bIns="0" anchor="t">
            <a:spAutoFit/>
          </a:bodyPr>
          <a:lstStyle/>
          <a:p>
            <a:pPr algn="l"/>
            <a:r>
              <a:rPr sz="1100" b="1">
                <a:solidFill>
                  <a:srgbClr val="26262A"/>
                </a:solidFill>
                <a:latin typeface="Arial"/>
              </a:rPr>
              <a:t>25–35 tm · 30,4 tm</a:t>
            </a:r>
          </a:p>
        </p:txBody>
      </p:sp>
      <p:sp>
        <p:nvSpPr>
          <p:cNvPr id="174" name="Rectangle 173"/>
          <p:cNvSpPr/>
          <p:nvPr/>
        </p:nvSpPr>
        <p:spPr>
          <a:xfrm>
            <a:off x="6921500" y="2590800"/>
            <a:ext cx="469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5" name="TextBox 174"/>
          <p:cNvSpPr txBox="1"/>
          <p:nvPr/>
        </p:nvSpPr>
        <p:spPr>
          <a:xfrm>
            <a:off x="6921500" y="2730500"/>
            <a:ext cx="1905000" cy="177800"/>
          </a:xfrm>
          <a:prstGeom prst="rect">
            <a:avLst/>
          </a:prstGeom>
          <a:noFill/>
        </p:spPr>
        <p:txBody>
          <a:bodyPr wrap="square" lIns="0" rIns="0" tIns="0" bIns="0" anchor="t">
            <a:spAutoFit/>
          </a:bodyPr>
          <a:lstStyle/>
          <a:p>
            <a:pPr algn="l"/>
            <a:r>
              <a:rPr sz="900" b="1">
                <a:solidFill>
                  <a:srgbClr val="6E7B84"/>
                </a:solidFill>
                <a:latin typeface="Arial"/>
              </a:rPr>
              <a:t>Count</a:t>
            </a:r>
          </a:p>
        </p:txBody>
      </p:sp>
      <p:sp>
        <p:nvSpPr>
          <p:cNvPr id="176" name="TextBox 175"/>
          <p:cNvSpPr txBox="1"/>
          <p:nvPr/>
        </p:nvSpPr>
        <p:spPr>
          <a:xfrm>
            <a:off x="8890000" y="2705100"/>
            <a:ext cx="2730500" cy="228600"/>
          </a:xfrm>
          <a:prstGeom prst="rect">
            <a:avLst/>
          </a:prstGeom>
          <a:noFill/>
        </p:spPr>
        <p:txBody>
          <a:bodyPr wrap="square" lIns="0" rIns="0" tIns="0" bIns="0" anchor="t">
            <a:spAutoFit/>
          </a:bodyPr>
          <a:lstStyle/>
          <a:p>
            <a:pPr algn="l"/>
            <a:r>
              <a:rPr sz="1100" b="1">
                <a:solidFill>
                  <a:srgbClr val="26262A"/>
                </a:solidFill>
                <a:latin typeface="Arial"/>
              </a:rPr>
              <a:t>31 units · 1 unit</a:t>
            </a:r>
          </a:p>
        </p:txBody>
      </p:sp>
      <p:sp>
        <p:nvSpPr>
          <p:cNvPr id="177" name="Rectangle 176"/>
          <p:cNvSpPr/>
          <p:nvPr/>
        </p:nvSpPr>
        <p:spPr>
          <a:xfrm>
            <a:off x="6921500" y="3009900"/>
            <a:ext cx="469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8" name="TextBox 177"/>
          <p:cNvSpPr txBox="1"/>
          <p:nvPr/>
        </p:nvSpPr>
        <p:spPr>
          <a:xfrm>
            <a:off x="6921500" y="3149600"/>
            <a:ext cx="1905000" cy="177800"/>
          </a:xfrm>
          <a:prstGeom prst="rect">
            <a:avLst/>
          </a:prstGeom>
          <a:noFill/>
        </p:spPr>
        <p:txBody>
          <a:bodyPr wrap="square" lIns="0" rIns="0" tIns="0" bIns="0" anchor="t">
            <a:spAutoFit/>
          </a:bodyPr>
          <a:lstStyle/>
          <a:p>
            <a:pPr algn="l"/>
            <a:r>
              <a:rPr sz="900" b="1">
                <a:solidFill>
                  <a:srgbClr val="6E7B84"/>
                </a:solidFill>
                <a:latin typeface="Arial"/>
              </a:rPr>
              <a:t>Percent</a:t>
            </a:r>
          </a:p>
        </p:txBody>
      </p:sp>
      <p:sp>
        <p:nvSpPr>
          <p:cNvPr id="179" name="TextBox 178"/>
          <p:cNvSpPr txBox="1"/>
          <p:nvPr/>
        </p:nvSpPr>
        <p:spPr>
          <a:xfrm>
            <a:off x="8890000" y="3124200"/>
            <a:ext cx="2730500" cy="228600"/>
          </a:xfrm>
          <a:prstGeom prst="rect">
            <a:avLst/>
          </a:prstGeom>
          <a:noFill/>
        </p:spPr>
        <p:txBody>
          <a:bodyPr wrap="square" lIns="0" rIns="0" tIns="0" bIns="0" anchor="t">
            <a:spAutoFit/>
          </a:bodyPr>
          <a:lstStyle/>
          <a:p>
            <a:pPr algn="l"/>
            <a:r>
              <a:rPr sz="1100" b="1">
                <a:solidFill>
                  <a:srgbClr val="26262A"/>
                </a:solidFill>
                <a:latin typeface="Arial"/>
              </a:rPr>
              <a:t>41% · +23% · −14%</a:t>
            </a:r>
          </a:p>
        </p:txBody>
      </p:sp>
      <p:sp>
        <p:nvSpPr>
          <p:cNvPr id="180" name="Rectangle 179"/>
          <p:cNvSpPr/>
          <p:nvPr/>
        </p:nvSpPr>
        <p:spPr>
          <a:xfrm>
            <a:off x="6921500" y="3429000"/>
            <a:ext cx="469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1" name="TextBox 180"/>
          <p:cNvSpPr txBox="1"/>
          <p:nvPr/>
        </p:nvSpPr>
        <p:spPr>
          <a:xfrm>
            <a:off x="6921500" y="3568700"/>
            <a:ext cx="1905000" cy="177800"/>
          </a:xfrm>
          <a:prstGeom prst="rect">
            <a:avLst/>
          </a:prstGeom>
          <a:noFill/>
        </p:spPr>
        <p:txBody>
          <a:bodyPr wrap="square" lIns="0" rIns="0" tIns="0" bIns="0" anchor="t">
            <a:spAutoFit/>
          </a:bodyPr>
          <a:lstStyle/>
          <a:p>
            <a:pPr algn="l"/>
            <a:r>
              <a:rPr sz="900" b="1">
                <a:solidFill>
                  <a:srgbClr val="6E7B84"/>
                </a:solidFill>
                <a:latin typeface="Arial"/>
              </a:rPr>
              <a:t>Date</a:t>
            </a:r>
          </a:p>
        </p:txBody>
      </p:sp>
      <p:sp>
        <p:nvSpPr>
          <p:cNvPr id="182" name="TextBox 181"/>
          <p:cNvSpPr txBox="1"/>
          <p:nvPr/>
        </p:nvSpPr>
        <p:spPr>
          <a:xfrm>
            <a:off x="8890000" y="3543300"/>
            <a:ext cx="2730500" cy="228600"/>
          </a:xfrm>
          <a:prstGeom prst="rect">
            <a:avLst/>
          </a:prstGeom>
          <a:noFill/>
        </p:spPr>
        <p:txBody>
          <a:bodyPr wrap="square" lIns="0" rIns="0" tIns="0" bIns="0" anchor="t">
            <a:spAutoFit/>
          </a:bodyPr>
          <a:lstStyle/>
          <a:p>
            <a:pPr algn="l"/>
            <a:r>
              <a:rPr sz="1100" b="1">
                <a:solidFill>
                  <a:srgbClr val="26262A"/>
                </a:solidFill>
                <a:latin typeface="Arial"/>
              </a:rPr>
              <a:t>14 Aug 2026</a:t>
            </a:r>
          </a:p>
        </p:txBody>
      </p:sp>
      <p:sp>
        <p:nvSpPr>
          <p:cNvPr id="183" name="Rectangle 182"/>
          <p:cNvSpPr/>
          <p:nvPr/>
        </p:nvSpPr>
        <p:spPr>
          <a:xfrm>
            <a:off x="6921500" y="3848100"/>
            <a:ext cx="469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4" name="TextBox 183"/>
          <p:cNvSpPr txBox="1"/>
          <p:nvPr/>
        </p:nvSpPr>
        <p:spPr>
          <a:xfrm>
            <a:off x="6921500" y="3987800"/>
            <a:ext cx="1905000" cy="177800"/>
          </a:xfrm>
          <a:prstGeom prst="rect">
            <a:avLst/>
          </a:prstGeom>
          <a:noFill/>
        </p:spPr>
        <p:txBody>
          <a:bodyPr wrap="square" lIns="0" rIns="0" tIns="0" bIns="0" anchor="t">
            <a:spAutoFit/>
          </a:bodyPr>
          <a:lstStyle/>
          <a:p>
            <a:pPr algn="l"/>
            <a:r>
              <a:rPr sz="900" b="1">
                <a:solidFill>
                  <a:srgbClr val="6E7B84"/>
                </a:solidFill>
                <a:latin typeface="Arial"/>
              </a:rPr>
              <a:t>Period</a:t>
            </a:r>
          </a:p>
        </p:txBody>
      </p:sp>
      <p:sp>
        <p:nvSpPr>
          <p:cNvPr id="185" name="TextBox 184"/>
          <p:cNvSpPr txBox="1"/>
          <p:nvPr/>
        </p:nvSpPr>
        <p:spPr>
          <a:xfrm>
            <a:off x="8890000" y="3962400"/>
            <a:ext cx="2730500" cy="228600"/>
          </a:xfrm>
          <a:prstGeom prst="rect">
            <a:avLst/>
          </a:prstGeom>
          <a:noFill/>
        </p:spPr>
        <p:txBody>
          <a:bodyPr wrap="square" lIns="0" rIns="0" tIns="0" bIns="0" anchor="t">
            <a:spAutoFit/>
          </a:bodyPr>
          <a:lstStyle/>
          <a:p>
            <a:pPr algn="l"/>
            <a:r>
              <a:rPr sz="1100" b="1">
                <a:solidFill>
                  <a:srgbClr val="26262A"/>
                </a:solidFill>
                <a:latin typeface="Arial"/>
              </a:rPr>
              <a:t>Jan 2023 – Aug 2026</a:t>
            </a:r>
          </a:p>
        </p:txBody>
      </p:sp>
      <p:sp>
        <p:nvSpPr>
          <p:cNvPr id="186" name="Rectangle 185"/>
          <p:cNvSpPr/>
          <p:nvPr/>
        </p:nvSpPr>
        <p:spPr>
          <a:xfrm>
            <a:off x="6921500" y="4267200"/>
            <a:ext cx="469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7" name="TextBox 186"/>
          <p:cNvSpPr txBox="1"/>
          <p:nvPr/>
        </p:nvSpPr>
        <p:spPr>
          <a:xfrm>
            <a:off x="6921500" y="4406900"/>
            <a:ext cx="1905000" cy="177800"/>
          </a:xfrm>
          <a:prstGeom prst="rect">
            <a:avLst/>
          </a:prstGeom>
          <a:noFill/>
        </p:spPr>
        <p:txBody>
          <a:bodyPr wrap="square" lIns="0" rIns="0" tIns="0" bIns="0" anchor="t">
            <a:spAutoFit/>
          </a:bodyPr>
          <a:lstStyle/>
          <a:p>
            <a:pPr algn="l"/>
            <a:r>
              <a:rPr sz="900" b="1">
                <a:solidFill>
                  <a:srgbClr val="6E7B84"/>
                </a:solidFill>
                <a:latin typeface="Arial"/>
              </a:rPr>
              <a:t>Quarter / month</a:t>
            </a:r>
          </a:p>
        </p:txBody>
      </p:sp>
      <p:sp>
        <p:nvSpPr>
          <p:cNvPr id="188" name="TextBox 187"/>
          <p:cNvSpPr txBox="1"/>
          <p:nvPr/>
        </p:nvSpPr>
        <p:spPr>
          <a:xfrm>
            <a:off x="8890000" y="4381500"/>
            <a:ext cx="2730500" cy="228600"/>
          </a:xfrm>
          <a:prstGeom prst="rect">
            <a:avLst/>
          </a:prstGeom>
          <a:noFill/>
        </p:spPr>
        <p:txBody>
          <a:bodyPr wrap="square" lIns="0" rIns="0" tIns="0" bIns="0" anchor="t">
            <a:spAutoFit/>
          </a:bodyPr>
          <a:lstStyle/>
          <a:p>
            <a:pPr algn="l"/>
            <a:r>
              <a:rPr sz="1100" b="1">
                <a:solidFill>
                  <a:srgbClr val="26262A"/>
                </a:solidFill>
                <a:latin typeface="Arial"/>
              </a:rPr>
              <a:t>Q3 2026 · Oct 2026</a:t>
            </a:r>
          </a:p>
        </p:txBody>
      </p:sp>
      <p:sp>
        <p:nvSpPr>
          <p:cNvPr id="189" name="Rectangle 188"/>
          <p:cNvSpPr/>
          <p:nvPr/>
        </p:nvSpPr>
        <p:spPr>
          <a:xfrm>
            <a:off x="6921500" y="4686300"/>
            <a:ext cx="469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0" name="TextBox 189"/>
          <p:cNvSpPr txBox="1"/>
          <p:nvPr/>
        </p:nvSpPr>
        <p:spPr>
          <a:xfrm>
            <a:off x="6921500" y="4826000"/>
            <a:ext cx="1905000" cy="177800"/>
          </a:xfrm>
          <a:prstGeom prst="rect">
            <a:avLst/>
          </a:prstGeom>
          <a:noFill/>
        </p:spPr>
        <p:txBody>
          <a:bodyPr wrap="square" lIns="0" rIns="0" tIns="0" bIns="0" anchor="t">
            <a:spAutoFit/>
          </a:bodyPr>
          <a:lstStyle/>
          <a:p>
            <a:pPr algn="l"/>
            <a:r>
              <a:rPr sz="900" b="1">
                <a:solidFill>
                  <a:srgbClr val="6E7B84"/>
                </a:solidFill>
                <a:latin typeface="Arial"/>
              </a:rPr>
              <a:t>Estimate</a:t>
            </a:r>
          </a:p>
        </p:txBody>
      </p:sp>
      <p:sp>
        <p:nvSpPr>
          <p:cNvPr id="191" name="TextBox 190"/>
          <p:cNvSpPr txBox="1"/>
          <p:nvPr/>
        </p:nvSpPr>
        <p:spPr>
          <a:xfrm>
            <a:off x="8890000" y="4800600"/>
            <a:ext cx="2730500" cy="228600"/>
          </a:xfrm>
          <a:prstGeom prst="rect">
            <a:avLst/>
          </a:prstGeom>
          <a:noFill/>
        </p:spPr>
        <p:txBody>
          <a:bodyPr wrap="square" lIns="0" rIns="0" tIns="0" bIns="0" anchor="t">
            <a:spAutoFit/>
          </a:bodyPr>
          <a:lstStyle/>
          <a:p>
            <a:pPr algn="l"/>
            <a:r>
              <a:rPr sz="1100" b="1">
                <a:solidFill>
                  <a:srgbClr val="26262A"/>
                </a:solidFill>
                <a:latin typeface="Arial"/>
              </a:rPr>
              <a:t>7441C* — *estimate, note it</a:t>
            </a:r>
          </a:p>
        </p:txBody>
      </p:sp>
      <p:sp>
        <p:nvSpPr>
          <p:cNvPr id="192" name="Rectangle 191"/>
          <p:cNvSpPr/>
          <p:nvPr/>
        </p:nvSpPr>
        <p:spPr>
          <a:xfrm>
            <a:off x="6921500" y="5105400"/>
            <a:ext cx="46990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3" name="Rectangle 192"/>
          <p:cNvSpPr/>
          <p:nvPr/>
        </p:nvSpPr>
        <p:spPr>
          <a:xfrm>
            <a:off x="6921500" y="5232400"/>
            <a:ext cx="4699000" cy="1117600"/>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4" name="TextBox 193"/>
          <p:cNvSpPr txBox="1"/>
          <p:nvPr/>
        </p:nvSpPr>
        <p:spPr>
          <a:xfrm>
            <a:off x="7073900" y="5359400"/>
            <a:ext cx="4394200" cy="152400"/>
          </a:xfrm>
          <a:prstGeom prst="rect">
            <a:avLst/>
          </a:prstGeom>
          <a:noFill/>
        </p:spPr>
        <p:txBody>
          <a:bodyPr wrap="square" lIns="0" rIns="0" tIns="0" bIns="0" anchor="t">
            <a:spAutoFit/>
          </a:bodyPr>
          <a:lstStyle/>
          <a:p>
            <a:pPr algn="l"/>
            <a:r>
              <a:rPr sz="850" b="1">
                <a:solidFill>
                  <a:srgbClr val="E55200"/>
                </a:solidFill>
                <a:latin typeface="Arial"/>
              </a:rPr>
              <a:t>NOTE</a:t>
            </a:r>
          </a:p>
        </p:txBody>
      </p:sp>
      <p:sp>
        <p:nvSpPr>
          <p:cNvPr id="195" name="TextBox 194"/>
          <p:cNvSpPr txBox="1"/>
          <p:nvPr/>
        </p:nvSpPr>
        <p:spPr>
          <a:xfrm>
            <a:off x="7073900" y="5562600"/>
            <a:ext cx="4394200" cy="736600"/>
          </a:xfrm>
          <a:prstGeom prst="rect">
            <a:avLst/>
          </a:prstGeom>
          <a:noFill/>
        </p:spPr>
        <p:txBody>
          <a:bodyPr wrap="square" lIns="0" rIns="0" tIns="0" bIns="0" anchor="t">
            <a:spAutoFit/>
          </a:bodyPr>
          <a:lstStyle/>
          <a:p>
            <a:pPr algn="l">
              <a:lnSpc>
                <a:spcPct val="112000"/>
              </a:lnSpc>
            </a:pPr>
            <a:r>
              <a:rPr sz="900" b="0">
                <a:solidFill>
                  <a:srgbClr val="26262A"/>
                </a:solidFill>
                <a:latin typeface="Arial"/>
              </a:rPr>
              <a:t>Use the en dash (–) for ranges and the minus sign (−) for drops. Round only in text; tables keep the full figure so totals add up.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DESIGN GUIDANCE — PRE-SEND CHECKLIST</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Fifteen checks before the deck goes to the reviewers</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Arial"/>
                <a:ea typeface="+mn-ea"/>
                <a:cs typeface="+mn-cs"/>
              </a:rPr>
              <a:t>0.14</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Triatra Template PPT 2026 V3; design references collected for this guide</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
        <p:nvSpPr>
          <p:cNvPr id="128" name="TextBox 127"/>
          <p:cNvSpPr txBox="1"/>
          <p:nvPr/>
        </p:nvSpPr>
        <p:spPr>
          <a:xfrm>
            <a:off x="571500" y="1066800"/>
            <a:ext cx="3581400" cy="177800"/>
          </a:xfrm>
          <a:prstGeom prst="rect">
            <a:avLst/>
          </a:prstGeom>
          <a:noFill/>
        </p:spPr>
        <p:txBody>
          <a:bodyPr wrap="square" lIns="0" rIns="0" tIns="0" bIns="0" anchor="t">
            <a:spAutoFit/>
          </a:bodyPr>
          <a:lstStyle/>
          <a:p>
            <a:pPr algn="l"/>
            <a:r>
              <a:rPr sz="850" b="1">
                <a:solidFill>
                  <a:srgbClr val="80350E"/>
                </a:solidFill>
                <a:latin typeface="Arial"/>
              </a:rPr>
              <a:t>1 · STORY</a:t>
            </a:r>
          </a:p>
        </p:txBody>
      </p:sp>
      <p:sp>
        <p:nvSpPr>
          <p:cNvPr id="129" name="Rectangle 128"/>
          <p:cNvSpPr/>
          <p:nvPr/>
        </p:nvSpPr>
        <p:spPr>
          <a:xfrm>
            <a:off x="571500" y="1282700"/>
            <a:ext cx="35814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0" name="Rectangle 129"/>
          <p:cNvSpPr/>
          <p:nvPr/>
        </p:nvSpPr>
        <p:spPr>
          <a:xfrm>
            <a:off x="571500" y="1447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1" name="TextBox 130"/>
          <p:cNvSpPr txBox="1"/>
          <p:nvPr/>
        </p:nvSpPr>
        <p:spPr>
          <a:xfrm>
            <a:off x="850900" y="1422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Subtitles alone tell the 6-month story</a:t>
            </a:r>
          </a:p>
        </p:txBody>
      </p:sp>
      <p:sp>
        <p:nvSpPr>
          <p:cNvPr id="132" name="Rectangle 131"/>
          <p:cNvSpPr/>
          <p:nvPr/>
        </p:nvSpPr>
        <p:spPr>
          <a:xfrm>
            <a:off x="571500" y="1854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3" name="Rectangle 132"/>
          <p:cNvSpPr/>
          <p:nvPr/>
        </p:nvSpPr>
        <p:spPr>
          <a:xfrm>
            <a:off x="571500" y="1955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4" name="TextBox 133"/>
          <p:cNvSpPr txBox="1"/>
          <p:nvPr/>
        </p:nvSpPr>
        <p:spPr>
          <a:xfrm>
            <a:off x="850900" y="1930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One message per slide</a:t>
            </a:r>
          </a:p>
        </p:txBody>
      </p:sp>
      <p:sp>
        <p:nvSpPr>
          <p:cNvPr id="135" name="Rectangle 134"/>
          <p:cNvSpPr/>
          <p:nvPr/>
        </p:nvSpPr>
        <p:spPr>
          <a:xfrm>
            <a:off x="571500" y="2362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6" name="Rectangle 135"/>
          <p:cNvSpPr/>
          <p:nvPr/>
        </p:nvSpPr>
        <p:spPr>
          <a:xfrm>
            <a:off x="571500" y="2463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7" name="TextBox 136"/>
          <p:cNvSpPr txBox="1"/>
          <p:nvPr/>
        </p:nvSpPr>
        <p:spPr>
          <a:xfrm>
            <a:off x="850900" y="2438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Agenda matches the section dividers</a:t>
            </a:r>
          </a:p>
        </p:txBody>
      </p:sp>
      <p:sp>
        <p:nvSpPr>
          <p:cNvPr id="138" name="Rectangle 137"/>
          <p:cNvSpPr/>
          <p:nvPr/>
        </p:nvSpPr>
        <p:spPr>
          <a:xfrm>
            <a:off x="571500" y="2870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39" name="Rectangle 138"/>
          <p:cNvSpPr/>
          <p:nvPr/>
        </p:nvSpPr>
        <p:spPr>
          <a:xfrm>
            <a:off x="571500" y="2971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0" name="TextBox 139"/>
          <p:cNvSpPr txBox="1"/>
          <p:nvPr/>
        </p:nvSpPr>
        <p:spPr>
          <a:xfrm>
            <a:off x="850900" y="2946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Last slide states the ask / next step</a:t>
            </a:r>
          </a:p>
        </p:txBody>
      </p:sp>
      <p:sp>
        <p:nvSpPr>
          <p:cNvPr id="141" name="Rectangle 140"/>
          <p:cNvSpPr/>
          <p:nvPr/>
        </p:nvSpPr>
        <p:spPr>
          <a:xfrm>
            <a:off x="571500" y="3378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2" name="Rectangle 141"/>
          <p:cNvSpPr/>
          <p:nvPr/>
        </p:nvSpPr>
        <p:spPr>
          <a:xfrm>
            <a:off x="571500" y="3479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3" name="TextBox 142"/>
          <p:cNvSpPr txBox="1"/>
          <p:nvPr/>
        </p:nvSpPr>
        <p:spPr>
          <a:xfrm>
            <a:off x="850900" y="3454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Appendix holds the detail, not the main deck</a:t>
            </a:r>
          </a:p>
        </p:txBody>
      </p:sp>
      <p:sp>
        <p:nvSpPr>
          <p:cNvPr id="144" name="Rectangle 143"/>
          <p:cNvSpPr/>
          <p:nvPr/>
        </p:nvSpPr>
        <p:spPr>
          <a:xfrm>
            <a:off x="571500" y="3886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5" name="TextBox 144"/>
          <p:cNvSpPr txBox="1"/>
          <p:nvPr/>
        </p:nvSpPr>
        <p:spPr>
          <a:xfrm>
            <a:off x="4305300" y="1066800"/>
            <a:ext cx="3581400" cy="177800"/>
          </a:xfrm>
          <a:prstGeom prst="rect">
            <a:avLst/>
          </a:prstGeom>
          <a:noFill/>
        </p:spPr>
        <p:txBody>
          <a:bodyPr wrap="square" lIns="0" rIns="0" tIns="0" bIns="0" anchor="t">
            <a:spAutoFit/>
          </a:bodyPr>
          <a:lstStyle/>
          <a:p>
            <a:pPr algn="l"/>
            <a:r>
              <a:rPr sz="850" b="1">
                <a:solidFill>
                  <a:srgbClr val="80350E"/>
                </a:solidFill>
                <a:latin typeface="Arial"/>
              </a:rPr>
              <a:t>2 · DESIGN</a:t>
            </a:r>
          </a:p>
        </p:txBody>
      </p:sp>
      <p:sp>
        <p:nvSpPr>
          <p:cNvPr id="146" name="Rectangle 145"/>
          <p:cNvSpPr/>
          <p:nvPr/>
        </p:nvSpPr>
        <p:spPr>
          <a:xfrm>
            <a:off x="4305300" y="1282700"/>
            <a:ext cx="35814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7" name="Rectangle 146"/>
          <p:cNvSpPr/>
          <p:nvPr/>
        </p:nvSpPr>
        <p:spPr>
          <a:xfrm>
            <a:off x="4305300" y="1447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48" name="TextBox 147"/>
          <p:cNvSpPr txBox="1"/>
          <p:nvPr/>
        </p:nvSpPr>
        <p:spPr>
          <a:xfrm>
            <a:off x="4584700" y="1422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Every content slide uses '8_Custom Layout'</a:t>
            </a:r>
          </a:p>
        </p:txBody>
      </p:sp>
      <p:sp>
        <p:nvSpPr>
          <p:cNvPr id="149" name="Rectangle 148"/>
          <p:cNvSpPr/>
          <p:nvPr/>
        </p:nvSpPr>
        <p:spPr>
          <a:xfrm>
            <a:off x="4305300" y="1854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0" name="Rectangle 149"/>
          <p:cNvSpPr/>
          <p:nvPr/>
        </p:nvSpPr>
        <p:spPr>
          <a:xfrm>
            <a:off x="4305300" y="1955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1" name="TextBox 150"/>
          <p:cNvSpPr txBox="1"/>
          <p:nvPr/>
        </p:nvSpPr>
        <p:spPr>
          <a:xfrm>
            <a:off x="4584700" y="1930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Arial only; sizes from the type scale</a:t>
            </a:r>
          </a:p>
        </p:txBody>
      </p:sp>
      <p:sp>
        <p:nvSpPr>
          <p:cNvPr id="152" name="Rectangle 151"/>
          <p:cNvSpPr/>
          <p:nvPr/>
        </p:nvSpPr>
        <p:spPr>
          <a:xfrm>
            <a:off x="4305300" y="2362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3" name="Rectangle 152"/>
          <p:cNvSpPr/>
          <p:nvPr/>
        </p:nvSpPr>
        <p:spPr>
          <a:xfrm>
            <a:off x="4305300" y="2463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4" name="TextBox 153"/>
          <p:cNvSpPr txBox="1"/>
          <p:nvPr/>
        </p:nvSpPr>
        <p:spPr>
          <a:xfrm>
            <a:off x="4584700" y="2438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Colours only from the palette</a:t>
            </a:r>
          </a:p>
        </p:txBody>
      </p:sp>
      <p:sp>
        <p:nvSpPr>
          <p:cNvPr id="155" name="Rectangle 154"/>
          <p:cNvSpPr/>
          <p:nvPr/>
        </p:nvSpPr>
        <p:spPr>
          <a:xfrm>
            <a:off x="4305300" y="2870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6" name="Rectangle 155"/>
          <p:cNvSpPr/>
          <p:nvPr/>
        </p:nvSpPr>
        <p:spPr>
          <a:xfrm>
            <a:off x="4305300" y="2971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7" name="TextBox 156"/>
          <p:cNvSpPr txBox="1"/>
          <p:nvPr/>
        </p:nvSpPr>
        <p:spPr>
          <a:xfrm>
            <a:off x="4584700" y="2946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Body stays inside x 45–915, y 75–505 pt</a:t>
            </a:r>
          </a:p>
        </p:txBody>
      </p:sp>
      <p:sp>
        <p:nvSpPr>
          <p:cNvPr id="158" name="Rectangle 157"/>
          <p:cNvSpPr/>
          <p:nvPr/>
        </p:nvSpPr>
        <p:spPr>
          <a:xfrm>
            <a:off x="4305300" y="3378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59" name="Rectangle 158"/>
          <p:cNvSpPr/>
          <p:nvPr/>
        </p:nvSpPr>
        <p:spPr>
          <a:xfrm>
            <a:off x="4305300" y="3479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0" name="TextBox 159"/>
          <p:cNvSpPr txBox="1"/>
          <p:nvPr/>
        </p:nvSpPr>
        <p:spPr>
          <a:xfrm>
            <a:off x="4584700" y="3454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Photos sharp, cropped, not stretched</a:t>
            </a:r>
          </a:p>
        </p:txBody>
      </p:sp>
      <p:sp>
        <p:nvSpPr>
          <p:cNvPr id="161" name="Rectangle 160"/>
          <p:cNvSpPr/>
          <p:nvPr/>
        </p:nvSpPr>
        <p:spPr>
          <a:xfrm>
            <a:off x="4305300" y="3886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2" name="TextBox 161"/>
          <p:cNvSpPr txBox="1"/>
          <p:nvPr/>
        </p:nvSpPr>
        <p:spPr>
          <a:xfrm>
            <a:off x="8039100" y="1066800"/>
            <a:ext cx="3581400" cy="177800"/>
          </a:xfrm>
          <a:prstGeom prst="rect">
            <a:avLst/>
          </a:prstGeom>
          <a:noFill/>
        </p:spPr>
        <p:txBody>
          <a:bodyPr wrap="square" lIns="0" rIns="0" tIns="0" bIns="0" anchor="t">
            <a:spAutoFit/>
          </a:bodyPr>
          <a:lstStyle/>
          <a:p>
            <a:pPr algn="l"/>
            <a:r>
              <a:rPr sz="850" b="1">
                <a:solidFill>
                  <a:srgbClr val="80350E"/>
                </a:solidFill>
                <a:latin typeface="Arial"/>
              </a:rPr>
              <a:t>3 · DATA</a:t>
            </a:r>
          </a:p>
        </p:txBody>
      </p:sp>
      <p:sp>
        <p:nvSpPr>
          <p:cNvPr id="163" name="Rectangle 162"/>
          <p:cNvSpPr/>
          <p:nvPr/>
        </p:nvSpPr>
        <p:spPr>
          <a:xfrm>
            <a:off x="8039100" y="1282700"/>
            <a:ext cx="35814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4" name="Rectangle 163"/>
          <p:cNvSpPr/>
          <p:nvPr/>
        </p:nvSpPr>
        <p:spPr>
          <a:xfrm>
            <a:off x="8039100" y="1447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5" name="TextBox 164"/>
          <p:cNvSpPr txBox="1"/>
          <p:nvPr/>
        </p:nvSpPr>
        <p:spPr>
          <a:xfrm>
            <a:off x="8318500" y="1422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Every chart and table has a source line</a:t>
            </a:r>
          </a:p>
        </p:txBody>
      </p:sp>
      <p:sp>
        <p:nvSpPr>
          <p:cNvPr id="166" name="Rectangle 165"/>
          <p:cNvSpPr/>
          <p:nvPr/>
        </p:nvSpPr>
        <p:spPr>
          <a:xfrm>
            <a:off x="8039100" y="1854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7" name="Rectangle 166"/>
          <p:cNvSpPr/>
          <p:nvPr/>
        </p:nvSpPr>
        <p:spPr>
          <a:xfrm>
            <a:off x="8039100" y="1955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68" name="TextBox 167"/>
          <p:cNvSpPr txBox="1"/>
          <p:nvPr/>
        </p:nvSpPr>
        <p:spPr>
          <a:xfrm>
            <a:off x="8318500" y="1930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Numbers match between slides and appendix</a:t>
            </a:r>
          </a:p>
        </p:txBody>
      </p:sp>
      <p:sp>
        <p:nvSpPr>
          <p:cNvPr id="169" name="Rectangle 168"/>
          <p:cNvSpPr/>
          <p:nvPr/>
        </p:nvSpPr>
        <p:spPr>
          <a:xfrm>
            <a:off x="8039100" y="2362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0" name="Rectangle 169"/>
          <p:cNvSpPr/>
          <p:nvPr/>
        </p:nvSpPr>
        <p:spPr>
          <a:xfrm>
            <a:off x="8039100" y="2463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1" name="TextBox 170"/>
          <p:cNvSpPr txBox="1"/>
          <p:nvPr/>
        </p:nvSpPr>
        <p:spPr>
          <a:xfrm>
            <a:off x="8318500" y="2438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Formats follow the number rules</a:t>
            </a:r>
          </a:p>
        </p:txBody>
      </p:sp>
      <p:sp>
        <p:nvSpPr>
          <p:cNvPr id="172" name="Rectangle 171"/>
          <p:cNvSpPr/>
          <p:nvPr/>
        </p:nvSpPr>
        <p:spPr>
          <a:xfrm>
            <a:off x="8039100" y="2870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3" name="Rectangle 172"/>
          <p:cNvSpPr/>
          <p:nvPr/>
        </p:nvSpPr>
        <p:spPr>
          <a:xfrm>
            <a:off x="8039100" y="2971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4" name="TextBox 173"/>
          <p:cNvSpPr txBox="1"/>
          <p:nvPr/>
        </p:nvSpPr>
        <p:spPr>
          <a:xfrm>
            <a:off x="8318500" y="2946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Charts and tables are native, not pictures</a:t>
            </a:r>
          </a:p>
        </p:txBody>
      </p:sp>
      <p:sp>
        <p:nvSpPr>
          <p:cNvPr id="175" name="Rectangle 174"/>
          <p:cNvSpPr/>
          <p:nvPr/>
        </p:nvSpPr>
        <p:spPr>
          <a:xfrm>
            <a:off x="8039100" y="3378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6" name="Rectangle 175"/>
          <p:cNvSpPr/>
          <p:nvPr/>
        </p:nvSpPr>
        <p:spPr>
          <a:xfrm>
            <a:off x="8039100" y="3479800"/>
            <a:ext cx="165100" cy="165100"/>
          </a:xfrm>
          <a:prstGeom prst="rect">
            <a:avLst/>
          </a:prstGeom>
          <a:solidFill>
            <a:srgbClr val="FFFFFF"/>
          </a:solidFill>
          <a:ln w="12700">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7" name="TextBox 176"/>
          <p:cNvSpPr txBox="1"/>
          <p:nvPr/>
        </p:nvSpPr>
        <p:spPr>
          <a:xfrm>
            <a:off x="8318500" y="3454400"/>
            <a:ext cx="3238500" cy="406400"/>
          </a:xfrm>
          <a:prstGeom prst="rect">
            <a:avLst/>
          </a:prstGeom>
          <a:noFill/>
        </p:spPr>
        <p:txBody>
          <a:bodyPr wrap="square" lIns="0" rIns="0" tIns="0" bIns="0" anchor="t">
            <a:spAutoFit/>
          </a:bodyPr>
          <a:lstStyle/>
          <a:p>
            <a:pPr algn="l">
              <a:lnSpc>
                <a:spcPct val="110000"/>
              </a:lnSpc>
            </a:pPr>
            <a:r>
              <a:rPr sz="950" b="0">
                <a:solidFill>
                  <a:srgbClr val="26262A"/>
                </a:solidFill>
                <a:latin typeface="Arial"/>
              </a:rPr>
              <a:t>Spelling and names checked</a:t>
            </a:r>
          </a:p>
        </p:txBody>
      </p:sp>
      <p:sp>
        <p:nvSpPr>
          <p:cNvPr id="178" name="Rectangle 177"/>
          <p:cNvSpPr/>
          <p:nvPr/>
        </p:nvSpPr>
        <p:spPr>
          <a:xfrm>
            <a:off x="8039100" y="3886200"/>
            <a:ext cx="3581400" cy="9525"/>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79" name="TextBox 178"/>
          <p:cNvSpPr txBox="1"/>
          <p:nvPr/>
        </p:nvSpPr>
        <p:spPr>
          <a:xfrm>
            <a:off x="571500" y="4191000"/>
            <a:ext cx="11049000" cy="177800"/>
          </a:xfrm>
          <a:prstGeom prst="rect">
            <a:avLst/>
          </a:prstGeom>
          <a:noFill/>
        </p:spPr>
        <p:txBody>
          <a:bodyPr wrap="square" lIns="0" rIns="0" tIns="0" bIns="0" anchor="t">
            <a:spAutoFit/>
          </a:bodyPr>
          <a:lstStyle/>
          <a:p>
            <a:pPr algn="l"/>
            <a:r>
              <a:rPr sz="850" b="1">
                <a:solidFill>
                  <a:srgbClr val="80350E"/>
                </a:solidFill>
                <a:latin typeface="Arial"/>
              </a:rPr>
              <a:t>4 · FILE NAMING &amp; VERSIONS</a:t>
            </a:r>
          </a:p>
        </p:txBody>
      </p:sp>
      <p:sp>
        <p:nvSpPr>
          <p:cNvPr id="180" name="Rectangle 179"/>
          <p:cNvSpPr/>
          <p:nvPr/>
        </p:nvSpPr>
        <p:spPr>
          <a:xfrm>
            <a:off x="571500" y="4406900"/>
            <a:ext cx="11049000" cy="12700"/>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1" name="Rectangle 180"/>
          <p:cNvSpPr/>
          <p:nvPr/>
        </p:nvSpPr>
        <p:spPr>
          <a:xfrm>
            <a:off x="571500" y="4521200"/>
            <a:ext cx="11049000" cy="558800"/>
          </a:xfrm>
          <a:prstGeom prst="rect">
            <a:avLst/>
          </a:prstGeom>
          <a:solidFill>
            <a:srgbClr val="F7F8FA"/>
          </a:solidFill>
          <a:ln w="6350">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82" name="TextBox 181"/>
          <p:cNvSpPr txBox="1"/>
          <p:nvPr/>
        </p:nvSpPr>
        <p:spPr>
          <a:xfrm>
            <a:off x="749300" y="4521200"/>
            <a:ext cx="10668000" cy="558800"/>
          </a:xfrm>
          <a:prstGeom prst="rect">
            <a:avLst/>
          </a:prstGeom>
          <a:noFill/>
        </p:spPr>
        <p:txBody>
          <a:bodyPr wrap="square" lIns="0" rIns="0" tIns="0" bIns="0" anchor="ctr">
            <a:spAutoFit/>
          </a:bodyPr>
          <a:lstStyle/>
          <a:p>
            <a:pPr algn="l"/>
            <a:r>
              <a:rPr sz="1500" b="1">
                <a:solidFill>
                  <a:srgbClr val="26262A"/>
                </a:solidFill>
                <a:latin typeface="Arial"/>
              </a:rPr>
              <a:t>NEDP_6M_Review_</a:t>
            </a:r>
            <a:r>
              <a:rPr sz="1500" b="1">
                <a:solidFill>
                  <a:srgbClr val="E55200"/>
                </a:solidFill>
                <a:latin typeface="Arial"/>
              </a:rPr>
              <a:t>TiberiasSimu</a:t>
            </a:r>
            <a:r>
              <a:rPr sz="1500" b="1">
                <a:solidFill>
                  <a:srgbClr val="80350E"/>
                </a:solidFill>
                <a:latin typeface="Arial"/>
              </a:rPr>
              <a:t>_v03</a:t>
            </a:r>
            <a:r>
              <a:rPr sz="1500" b="1">
                <a:solidFill>
                  <a:srgbClr val="A35F35"/>
                </a:solidFill>
                <a:latin typeface="Arial"/>
              </a:rPr>
              <a:t>_2026-10-13</a:t>
            </a:r>
            <a:r>
              <a:rPr sz="1500" b="1">
                <a:solidFill>
                  <a:srgbClr val="6E7B84"/>
                </a:solidFill>
                <a:latin typeface="Arial"/>
              </a:rPr>
              <a:t>.pptx</a:t>
            </a:r>
          </a:p>
        </p:txBody>
      </p:sp>
      <p:sp>
        <p:nvSpPr>
          <p:cNvPr id="183" name="TextBox 182"/>
          <p:cNvSpPr txBox="1"/>
          <p:nvPr/>
        </p:nvSpPr>
        <p:spPr>
          <a:xfrm>
            <a:off x="571500" y="5207000"/>
            <a:ext cx="2641600" cy="177800"/>
          </a:xfrm>
          <a:prstGeom prst="rect">
            <a:avLst/>
          </a:prstGeom>
          <a:noFill/>
        </p:spPr>
        <p:txBody>
          <a:bodyPr wrap="square" lIns="0" rIns="0" tIns="0" bIns="0" anchor="t">
            <a:spAutoFit/>
          </a:bodyPr>
          <a:lstStyle/>
          <a:p>
            <a:pPr algn="l"/>
            <a:r>
              <a:rPr sz="950" b="1">
                <a:solidFill>
                  <a:srgbClr val="80350E"/>
                </a:solidFill>
                <a:latin typeface="Arial"/>
              </a:rPr>
              <a:t>Program + topic</a:t>
            </a:r>
          </a:p>
        </p:txBody>
      </p:sp>
      <p:sp>
        <p:nvSpPr>
          <p:cNvPr id="184" name="TextBox 183"/>
          <p:cNvSpPr txBox="1"/>
          <p:nvPr/>
        </p:nvSpPr>
        <p:spPr>
          <a:xfrm>
            <a:off x="571500" y="5410200"/>
            <a:ext cx="2641600" cy="3556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Same prefix for every file of the review</a:t>
            </a:r>
          </a:p>
        </p:txBody>
      </p:sp>
      <p:sp>
        <p:nvSpPr>
          <p:cNvPr id="185" name="TextBox 184"/>
          <p:cNvSpPr txBox="1"/>
          <p:nvPr/>
        </p:nvSpPr>
        <p:spPr>
          <a:xfrm>
            <a:off x="3365500" y="5207000"/>
            <a:ext cx="2641600" cy="177800"/>
          </a:xfrm>
          <a:prstGeom prst="rect">
            <a:avLst/>
          </a:prstGeom>
          <a:noFill/>
        </p:spPr>
        <p:txBody>
          <a:bodyPr wrap="square" lIns="0" rIns="0" tIns="0" bIns="0" anchor="t">
            <a:spAutoFit/>
          </a:bodyPr>
          <a:lstStyle/>
          <a:p>
            <a:pPr algn="l"/>
            <a:r>
              <a:rPr sz="950" b="1">
                <a:solidFill>
                  <a:srgbClr val="80350E"/>
                </a:solidFill>
                <a:latin typeface="Arial"/>
              </a:rPr>
              <a:t>Owner</a:t>
            </a:r>
          </a:p>
        </p:txBody>
      </p:sp>
      <p:sp>
        <p:nvSpPr>
          <p:cNvPr id="186" name="TextBox 185"/>
          <p:cNvSpPr txBox="1"/>
          <p:nvPr/>
        </p:nvSpPr>
        <p:spPr>
          <a:xfrm>
            <a:off x="3365500" y="5410200"/>
            <a:ext cx="2641600" cy="3556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Who presents the deck</a:t>
            </a:r>
          </a:p>
        </p:txBody>
      </p:sp>
      <p:sp>
        <p:nvSpPr>
          <p:cNvPr id="187" name="TextBox 186"/>
          <p:cNvSpPr txBox="1"/>
          <p:nvPr/>
        </p:nvSpPr>
        <p:spPr>
          <a:xfrm>
            <a:off x="6159500" y="5207000"/>
            <a:ext cx="2641600" cy="177800"/>
          </a:xfrm>
          <a:prstGeom prst="rect">
            <a:avLst/>
          </a:prstGeom>
          <a:noFill/>
        </p:spPr>
        <p:txBody>
          <a:bodyPr wrap="square" lIns="0" rIns="0" tIns="0" bIns="0" anchor="t">
            <a:spAutoFit/>
          </a:bodyPr>
          <a:lstStyle/>
          <a:p>
            <a:pPr algn="l"/>
            <a:r>
              <a:rPr sz="950" b="1">
                <a:solidFill>
                  <a:srgbClr val="80350E"/>
                </a:solidFill>
                <a:latin typeface="Arial"/>
              </a:rPr>
              <a:t>Version</a:t>
            </a:r>
          </a:p>
        </p:txBody>
      </p:sp>
      <p:sp>
        <p:nvSpPr>
          <p:cNvPr id="188" name="TextBox 187"/>
          <p:cNvSpPr txBox="1"/>
          <p:nvPr/>
        </p:nvSpPr>
        <p:spPr>
          <a:xfrm>
            <a:off x="6159500" y="5410200"/>
            <a:ext cx="2641600" cy="3556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v01, v02 … raise it on every sent copy</a:t>
            </a:r>
          </a:p>
        </p:txBody>
      </p:sp>
      <p:sp>
        <p:nvSpPr>
          <p:cNvPr id="189" name="TextBox 188"/>
          <p:cNvSpPr txBox="1"/>
          <p:nvPr/>
        </p:nvSpPr>
        <p:spPr>
          <a:xfrm>
            <a:off x="8953500" y="5207000"/>
            <a:ext cx="2641600" cy="177800"/>
          </a:xfrm>
          <a:prstGeom prst="rect">
            <a:avLst/>
          </a:prstGeom>
          <a:noFill/>
        </p:spPr>
        <p:txBody>
          <a:bodyPr wrap="square" lIns="0" rIns="0" tIns="0" bIns="0" anchor="t">
            <a:spAutoFit/>
          </a:bodyPr>
          <a:lstStyle/>
          <a:p>
            <a:pPr algn="l"/>
            <a:r>
              <a:rPr sz="950" b="1">
                <a:solidFill>
                  <a:srgbClr val="80350E"/>
                </a:solidFill>
                <a:latin typeface="Arial"/>
              </a:rPr>
              <a:t>Date</a:t>
            </a:r>
          </a:p>
        </p:txBody>
      </p:sp>
      <p:sp>
        <p:nvSpPr>
          <p:cNvPr id="190" name="TextBox 189"/>
          <p:cNvSpPr txBox="1"/>
          <p:nvPr/>
        </p:nvSpPr>
        <p:spPr>
          <a:xfrm>
            <a:off x="8953500" y="5410200"/>
            <a:ext cx="2641600" cy="355600"/>
          </a:xfrm>
          <a:prstGeom prst="rect">
            <a:avLst/>
          </a:prstGeom>
          <a:noFill/>
        </p:spPr>
        <p:txBody>
          <a:bodyPr wrap="square" lIns="0" rIns="0" tIns="0" bIns="0" anchor="t">
            <a:spAutoFit/>
          </a:bodyPr>
          <a:lstStyle/>
          <a:p>
            <a:pPr algn="l">
              <a:lnSpc>
                <a:spcPct val="110000"/>
              </a:lnSpc>
            </a:pPr>
            <a:r>
              <a:rPr sz="850" b="0">
                <a:solidFill>
                  <a:srgbClr val="6E7B84"/>
                </a:solidFill>
                <a:latin typeface="Arial"/>
              </a:rPr>
              <a:t>ISO date, so files sort by time</a:t>
            </a:r>
          </a:p>
        </p:txBody>
      </p:sp>
      <p:sp>
        <p:nvSpPr>
          <p:cNvPr id="191" name="Rectangle 190"/>
          <p:cNvSpPr/>
          <p:nvPr/>
        </p:nvSpPr>
        <p:spPr>
          <a:xfrm>
            <a:off x="571500" y="5842000"/>
            <a:ext cx="11049000" cy="508000"/>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a:lstStyle/>
          <a:p>
            <a:pPr algn="ctr"/>
          </a:p>
        </p:txBody>
      </p:sp>
      <p:sp>
        <p:nvSpPr>
          <p:cNvPr id="192" name="TextBox 191"/>
          <p:cNvSpPr txBox="1"/>
          <p:nvPr/>
        </p:nvSpPr>
        <p:spPr>
          <a:xfrm>
            <a:off x="749300" y="5842000"/>
            <a:ext cx="10668000" cy="508000"/>
          </a:xfrm>
          <a:prstGeom prst="rect">
            <a:avLst/>
          </a:prstGeom>
          <a:noFill/>
        </p:spPr>
        <p:txBody>
          <a:bodyPr wrap="square" lIns="0" rIns="0" tIns="0" bIns="0" anchor="ctr">
            <a:spAutoFit/>
          </a:bodyPr>
          <a:lstStyle/>
          <a:p>
            <a:pPr algn="l"/>
            <a:r>
              <a:rPr sz="850" b="1">
                <a:solidFill>
                  <a:srgbClr val="F0A878"/>
                </a:solidFill>
                <a:latin typeface="Arial"/>
              </a:rPr>
              <a:t>KEY TAKEAWAY  </a:t>
            </a:r>
            <a:r>
              <a:rPr sz="1100" b="1">
                <a:solidFill>
                  <a:srgbClr val="FFFFFF"/>
                </a:solidFill>
                <a:latin typeface="Arial"/>
              </a:rPr>
              <a:t>Send a PDF to read and the PPTX to edit; keep the PPTX file version on the cover up to date.</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713</Words>
  <Application>Microsoft Office PowerPoint</Application>
  <PresentationFormat>Widescreen</PresentationFormat>
  <Paragraphs>186</Paragraphs>
  <Slides>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Work Sans</vt:lpstr>
      <vt:lpstr>Work Sans Medium</vt:lpstr>
      <vt:lpstr>1_Office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Yusa Wijaya</dc:creator>
  <cp:lastModifiedBy>TIBERIAS KRISGAHARU SIMU - TRIATRA</cp:lastModifiedBy>
  <cp:revision>5</cp:revision>
  <dcterms:created xsi:type="dcterms:W3CDTF">2026-10-07T02:33:24Z</dcterms:created>
  <dcterms:modified xsi:type="dcterms:W3CDTF">2026-10-13T01:53:57Z</dcterms:modified>
</cp:coreProperties>
</file>