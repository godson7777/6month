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4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22.jpg"/><Relationship Id="rId10" Type="http://schemas.openxmlformats.org/officeDocument/2006/relationships/image" Target="../media/image23.jpg"/><Relationship Id="rId11" Type="http://schemas.openxmlformats.org/officeDocument/2006/relationships/image" Target="../media/image2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1000"/>
            <a:ext cx="579686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75" y="2590800"/>
            <a:ext cx="174440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83E7AE"/>
                </a:solidFill>
                <a:latin typeface="Arial"/>
              </a:rPr>
              <a:t>PART </a:t>
            </a:r>
            <a:r>
              <a:rPr sz="900" b="1" i="0">
                <a:solidFill>
                  <a:srgbClr val="83E7AE"/>
                </a:solidFill>
                <a:latin typeface="Arial"/>
              </a:rPr>
              <a:t>01 </a:t>
            </a:r>
            <a:r>
              <a:rPr sz="900" b="1" i="0">
                <a:solidFill>
                  <a:srgbClr val="83E7AE"/>
                </a:solidFill>
                <a:latin typeface="Arial"/>
              </a:rPr>
              <a:t>· </a:t>
            </a:r>
            <a:r>
              <a:rPr sz="900" b="1" i="0">
                <a:solidFill>
                  <a:srgbClr val="83E7AE"/>
                </a:solidFill>
                <a:latin typeface="Arial"/>
              </a:rPr>
              <a:t>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75" y="2857500"/>
            <a:ext cx="7956753" cy="561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3900" b="0" i="0">
                <a:solidFill>
                  <a:srgbClr val="FFFFFF"/>
                </a:solidFill>
                <a:latin typeface="Georgia"/>
              </a:rPr>
              <a:t>Who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I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am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3900" b="0" i="1">
                <a:solidFill>
                  <a:srgbClr val="83E7AE"/>
                </a:solidFill>
                <a:latin typeface="Georgia"/>
              </a:rPr>
              <a:t>what </a:t>
            </a:r>
            <a:r>
              <a:rPr sz="3900" b="0" i="1">
                <a:solidFill>
                  <a:srgbClr val="83E7AE"/>
                </a:solidFill>
                <a:latin typeface="Georgia"/>
              </a:rPr>
              <a:t>I </a:t>
            </a:r>
            <a:r>
              <a:rPr sz="3900" b="0" i="1">
                <a:solidFill>
                  <a:srgbClr val="83E7AE"/>
                </a:solidFill>
                <a:latin typeface="Georgia"/>
              </a:rPr>
              <a:t>bring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to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Triatra.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3535561"/>
            <a:ext cx="2292144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200" b="0" i="0">
                <a:solidFill>
                  <a:srgbClr val="C1C8CD"/>
                </a:solidFill>
                <a:latin typeface="Arial"/>
              </a:rPr>
              <a:t>About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me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·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Onboarding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75" y="6486525"/>
            <a:ext cx="1620411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7D868C"/>
                </a:solidFill>
                <a:latin typeface="Arial"/>
              </a:rPr>
              <a:t>NEDP </a:t>
            </a:r>
            <a:r>
              <a:rPr sz="675" b="1" i="0">
                <a:solidFill>
                  <a:srgbClr val="7D868C"/>
                </a:solidFill>
                <a:latin typeface="Arial"/>
              </a:rPr>
              <a:t>MID </a:t>
            </a:r>
            <a:r>
              <a:rPr sz="675" b="1" i="0">
                <a:solidFill>
                  <a:srgbClr val="7D868C"/>
                </a:solidFill>
                <a:latin typeface="Arial"/>
              </a:rPr>
              <a:t>YEAR </a:t>
            </a:r>
            <a:r>
              <a:rPr sz="675" b="1" i="0">
                <a:solidFill>
                  <a:srgbClr val="7D868C"/>
                </a:solidFill>
                <a:latin typeface="Arial"/>
              </a:rPr>
              <a:t>REVIEW </a:t>
            </a:r>
            <a:r>
              <a:rPr sz="675" b="1" i="0">
                <a:solidFill>
                  <a:srgbClr val="7D868C"/>
                </a:solidFill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3965" y="6486525"/>
            <a:ext cx="38674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7D868C"/>
                </a:solidFill>
                <a:latin typeface="Arial"/>
              </a:rPr>
              <a:t>01 </a:t>
            </a:r>
            <a:r>
              <a:rPr sz="675" b="1" i="0">
                <a:solidFill>
                  <a:srgbClr val="7D868C"/>
                </a:solidFill>
                <a:latin typeface="Arial"/>
              </a:rPr>
              <a:t>/ </a:t>
            </a:r>
            <a:r>
              <a:rPr sz="675" b="1" i="0">
                <a:solidFill>
                  <a:srgbClr val="7D868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024" y="1819275"/>
            <a:ext cx="467325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235" y="3283744"/>
            <a:ext cx="606903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886" y="4138390"/>
            <a:ext cx="609600" cy="1290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7613" y="4779169"/>
            <a:ext cx="28614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9806" y="5915025"/>
            <a:ext cx="341761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4327" y="1438275"/>
            <a:ext cx="3108424" cy="5010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771525"/>
            <a:ext cx="186320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PERSONAL </a:t>
            </a:r>
            <a:r>
              <a:rPr sz="825" b="1" i="0">
                <a:solidFill>
                  <a:srgbClr val="697177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962025"/>
            <a:ext cx="8526259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A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management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graduate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now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running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Small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Suppeq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and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Truck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Others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1524000"/>
            <a:ext cx="69232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1957983"/>
            <a:ext cx="2725189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1" i="0">
                <a:solidFill>
                  <a:srgbClr val="11181C"/>
                </a:solidFill>
                <a:latin typeface="Arial"/>
              </a:rPr>
              <a:t>Tiberias </a:t>
            </a:r>
            <a:r>
              <a:rPr sz="1650" b="1" i="0">
                <a:solidFill>
                  <a:srgbClr val="11181C"/>
                </a:solidFill>
                <a:latin typeface="Arial"/>
              </a:rPr>
              <a:t>Krisgaharu </a:t>
            </a:r>
            <a:r>
              <a:rPr sz="1650" b="1" i="0">
                <a:solidFill>
                  <a:srgbClr val="11181C"/>
                </a:solidFill>
                <a:latin typeface="Arial"/>
              </a:rPr>
              <a:t>Simu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2553891"/>
            <a:ext cx="2148111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200" b="1" i="0">
                <a:solidFill>
                  <a:srgbClr val="076932"/>
                </a:solidFill>
                <a:latin typeface="Arial"/>
              </a:rPr>
              <a:t>PT </a:t>
            </a:r>
            <a:r>
              <a:rPr sz="1200" b="1" i="0">
                <a:solidFill>
                  <a:srgbClr val="076932"/>
                </a:solidFill>
                <a:latin typeface="Arial"/>
              </a:rPr>
              <a:t>Triatra </a:t>
            </a:r>
            <a:r>
              <a:rPr sz="1200" b="1" i="0">
                <a:solidFill>
                  <a:srgbClr val="076932"/>
                </a:solidFill>
                <a:latin typeface="Arial"/>
              </a:rPr>
              <a:t>Sinergia </a:t>
            </a:r>
            <a:r>
              <a:rPr sz="1200" b="1" i="0">
                <a:solidFill>
                  <a:srgbClr val="076932"/>
                </a:solidFill>
                <a:latin typeface="Arial"/>
              </a:rPr>
              <a:t>Pratama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3235523"/>
            <a:ext cx="58851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3340298"/>
            <a:ext cx="1876610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1181C"/>
                </a:solidFill>
                <a:latin typeface="Arial"/>
              </a:rPr>
              <a:t>Marketing </a:t>
            </a:r>
            <a:r>
              <a:rPr sz="975" b="0" i="0">
                <a:solidFill>
                  <a:srgbClr val="11181C"/>
                </a:solidFill>
                <a:latin typeface="Arial"/>
              </a:rPr>
              <a:t>Strategic </a:t>
            </a:r>
            <a:r>
              <a:rPr sz="975" b="0" i="0">
                <a:solidFill>
                  <a:srgbClr val="11181C"/>
                </a:solidFill>
                <a:latin typeface="Arial"/>
              </a:rPr>
              <a:t>2 </a:t>
            </a:r>
            <a:r>
              <a:rPr sz="975" b="0" i="0">
                <a:solidFill>
                  <a:srgbClr val="11181C"/>
                </a:solidFill>
                <a:latin typeface="Arial"/>
              </a:rPr>
              <a:t>Associate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3936206"/>
            <a:ext cx="55128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DIVISION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4040981"/>
            <a:ext cx="156282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1181C"/>
                </a:solidFill>
                <a:latin typeface="Arial"/>
              </a:rPr>
              <a:t>Marketing </a:t>
            </a:r>
            <a:r>
              <a:rPr sz="975" b="0" i="0">
                <a:solidFill>
                  <a:srgbClr val="11181C"/>
                </a:solidFill>
                <a:latin typeface="Arial"/>
              </a:rPr>
              <a:t>Unit </a:t>
            </a:r>
            <a:r>
              <a:rPr sz="975" b="0" i="0">
                <a:solidFill>
                  <a:srgbClr val="11181C"/>
                </a:solidFill>
                <a:latin typeface="Arial"/>
              </a:rPr>
              <a:t>&amp; </a:t>
            </a:r>
            <a:r>
              <a:rPr sz="975" b="0" i="0">
                <a:solidFill>
                  <a:srgbClr val="11181C"/>
                </a:solidFill>
                <a:latin typeface="Arial"/>
              </a:rPr>
              <a:t>Strategic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4636889"/>
            <a:ext cx="66850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4741664"/>
            <a:ext cx="172326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1181C"/>
                </a:solidFill>
                <a:latin typeface="Arial"/>
              </a:rPr>
              <a:t>Small </a:t>
            </a:r>
            <a:r>
              <a:rPr sz="975" b="0" i="0">
                <a:solidFill>
                  <a:srgbClr val="11181C"/>
                </a:solidFill>
                <a:latin typeface="Arial"/>
              </a:rPr>
              <a:t>Suppeq </a:t>
            </a:r>
            <a:r>
              <a:rPr sz="975" b="0" i="0">
                <a:solidFill>
                  <a:srgbClr val="11181C"/>
                </a:solidFill>
                <a:latin typeface="Arial"/>
              </a:rPr>
              <a:t>· </a:t>
            </a:r>
            <a:r>
              <a:rPr sz="975" b="0" i="0">
                <a:solidFill>
                  <a:srgbClr val="11181C"/>
                </a:solidFill>
                <a:latin typeface="Arial"/>
              </a:rPr>
              <a:t>Truck </a:t>
            </a:r>
            <a:r>
              <a:rPr sz="975" b="0" i="0">
                <a:solidFill>
                  <a:srgbClr val="11181C"/>
                </a:solidFill>
                <a:latin typeface="Arial"/>
              </a:rPr>
              <a:t>Others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" y="5337572"/>
            <a:ext cx="135742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PLACE, </a:t>
            </a:r>
            <a:r>
              <a:rPr sz="712" b="0" i="0">
                <a:solidFill>
                  <a:srgbClr val="697177"/>
                </a:solidFill>
                <a:latin typeface="Arial"/>
              </a:rPr>
              <a:t>DATE </a:t>
            </a:r>
            <a:r>
              <a:rPr sz="712" b="0" i="0">
                <a:solidFill>
                  <a:srgbClr val="697177"/>
                </a:solidFill>
                <a:latin typeface="Arial"/>
              </a:rPr>
              <a:t>OF </a:t>
            </a:r>
            <a:r>
              <a:rPr sz="712" b="0" i="0">
                <a:solidFill>
                  <a:srgbClr val="697177"/>
                </a:solidFill>
                <a:latin typeface="Arial"/>
              </a:rPr>
              <a:t>BIRTH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" y="5442347"/>
            <a:ext cx="1329821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1181C"/>
                </a:solidFill>
                <a:latin typeface="Arial"/>
              </a:rPr>
              <a:t>Kupang, </a:t>
            </a:r>
            <a:r>
              <a:rPr sz="975" b="0" i="0">
                <a:solidFill>
                  <a:srgbClr val="11181C"/>
                </a:solidFill>
                <a:latin typeface="Arial"/>
              </a:rPr>
              <a:t>22 </a:t>
            </a:r>
            <a:r>
              <a:rPr sz="975" b="0" i="0">
                <a:solidFill>
                  <a:srgbClr val="11181C"/>
                </a:solidFill>
                <a:latin typeface="Arial"/>
              </a:rPr>
              <a:t>April </a:t>
            </a:r>
            <a:r>
              <a:rPr sz="975" b="0" i="0">
                <a:solidFill>
                  <a:srgbClr val="11181C"/>
                </a:solidFill>
                <a:latin typeface="Arial"/>
              </a:rPr>
              <a:t>2001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50" y="6038255"/>
            <a:ext cx="43675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6143030"/>
            <a:ext cx="98701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1181C"/>
                </a:solidFill>
                <a:latin typeface="Arial"/>
              </a:rPr>
              <a:t>0822 </a:t>
            </a:r>
            <a:r>
              <a:rPr sz="975" b="0" i="0">
                <a:solidFill>
                  <a:srgbClr val="11181C"/>
                </a:solidFill>
                <a:latin typeface="Arial"/>
              </a:rPr>
              <a:t>7222 </a:t>
            </a:r>
            <a:r>
              <a:rPr sz="975" b="0" i="0">
                <a:solidFill>
                  <a:srgbClr val="11181C"/>
                </a:solidFill>
                <a:latin typeface="Arial"/>
              </a:rPr>
              <a:t>2463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8736" y="1524000"/>
            <a:ext cx="64814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1" i="0">
                <a:solidFill>
                  <a:srgbClr val="11181C"/>
                </a:solidFill>
                <a:latin typeface="Arial"/>
              </a:rPr>
              <a:t>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7886" y="1895475"/>
            <a:ext cx="269631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Universitas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Sanata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Dharma,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Yogyakarta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7886" y="2047875"/>
            <a:ext cx="285281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Bachelor </a:t>
            </a:r>
            <a:r>
              <a:rPr sz="900" b="0" i="0">
                <a:solidFill>
                  <a:srgbClr val="4D555C"/>
                </a:solidFill>
                <a:latin typeface="Arial"/>
              </a:rPr>
              <a:t>(S1) </a:t>
            </a:r>
            <a:r>
              <a:rPr sz="900" b="0" i="0">
                <a:solidFill>
                  <a:srgbClr val="4D555C"/>
                </a:solidFill>
                <a:latin typeface="Arial"/>
              </a:rPr>
              <a:t>· </a:t>
            </a:r>
            <a:r>
              <a:rPr sz="900" b="0" i="0">
                <a:solidFill>
                  <a:srgbClr val="4D555C"/>
                </a:solidFill>
                <a:latin typeface="Arial"/>
              </a:rPr>
              <a:t>Management </a:t>
            </a:r>
            <a:r>
              <a:rPr sz="900" b="0" i="0">
                <a:solidFill>
                  <a:srgbClr val="4D555C"/>
                </a:solidFill>
                <a:latin typeface="Arial"/>
              </a:rPr>
              <a:t>· </a:t>
            </a:r>
            <a:r>
              <a:rPr sz="900" b="0" i="0">
                <a:solidFill>
                  <a:srgbClr val="4D555C"/>
                </a:solidFill>
                <a:latin typeface="Arial"/>
              </a:rPr>
              <a:t>Faculty </a:t>
            </a:r>
            <a:r>
              <a:rPr sz="900" b="0" i="0">
                <a:solidFill>
                  <a:srgbClr val="4D555C"/>
                </a:solidFill>
                <a:latin typeface="Arial"/>
              </a:rPr>
              <a:t>of </a:t>
            </a:r>
            <a:r>
              <a:rPr sz="900" b="0" i="0">
                <a:solidFill>
                  <a:srgbClr val="4D555C"/>
                </a:solidFill>
                <a:latin typeface="Arial"/>
              </a:rPr>
              <a:t>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8736" y="2774156"/>
            <a:ext cx="105989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1" i="0">
                <a:solidFill>
                  <a:srgbClr val="11181C"/>
                </a:solidFill>
                <a:latin typeface="Arial"/>
              </a:rPr>
              <a:t>Work </a:t>
            </a:r>
            <a:r>
              <a:rPr sz="937" b="1" i="0">
                <a:solidFill>
                  <a:srgbClr val="11181C"/>
                </a:solidFill>
                <a:latin typeface="Arial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7886" y="3302794"/>
            <a:ext cx="188434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PT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Triatra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Sinergia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Pratama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7886" y="3455194"/>
            <a:ext cx="173525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Marketing </a:t>
            </a:r>
            <a:r>
              <a:rPr sz="900" b="0" i="0">
                <a:solidFill>
                  <a:srgbClr val="4D555C"/>
                </a:solidFill>
                <a:latin typeface="Arial"/>
              </a:rPr>
              <a:t>Strategic </a:t>
            </a:r>
            <a:r>
              <a:rPr sz="900" b="0" i="0">
                <a:solidFill>
                  <a:srgbClr val="4D555C"/>
                </a:solidFill>
                <a:latin typeface="Arial"/>
              </a:rPr>
              <a:t>2 </a:t>
            </a:r>
            <a:r>
              <a:rPr sz="900" b="0" i="0">
                <a:solidFill>
                  <a:srgbClr val="4D555C"/>
                </a:solidFill>
                <a:latin typeface="Arial"/>
              </a:rPr>
              <a:t>Associate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2375" y="3378994"/>
            <a:ext cx="80180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0ECE8"/>
                </a:solidFill>
                <a:latin typeface="Arial"/>
              </a:rPr>
              <a:t>2026 </a:t>
            </a:r>
            <a:r>
              <a:rPr sz="900" b="1" i="0">
                <a:solidFill>
                  <a:srgbClr val="F0ECE8"/>
                </a:solidFill>
                <a:latin typeface="Arial"/>
              </a:rPr>
              <a:t>– </a:t>
            </a:r>
            <a:r>
              <a:rPr sz="900" b="1" i="0">
                <a:solidFill>
                  <a:srgbClr val="F0ECE8"/>
                </a:solidFill>
                <a:latin typeface="Arial"/>
              </a:rPr>
              <a:t>now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7886" y="4050506"/>
            <a:ext cx="49370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Outlier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7886" y="4202906"/>
            <a:ext cx="147953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Team </a:t>
            </a:r>
            <a:r>
              <a:rPr sz="900" b="0" i="0">
                <a:solidFill>
                  <a:srgbClr val="4D555C"/>
                </a:solidFill>
                <a:latin typeface="Arial"/>
              </a:rPr>
              <a:t>Lead </a:t>
            </a:r>
            <a:r>
              <a:rPr sz="900" b="0" i="0">
                <a:solidFill>
                  <a:srgbClr val="4D555C"/>
                </a:solidFill>
                <a:latin typeface="Arial"/>
              </a:rPr>
              <a:t>Data </a:t>
            </a:r>
            <a:r>
              <a:rPr sz="900" b="0" i="0">
                <a:solidFill>
                  <a:srgbClr val="4D555C"/>
                </a:solidFill>
                <a:latin typeface="Arial"/>
              </a:rPr>
              <a:t>Annotator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9839" y="4126706"/>
            <a:ext cx="85749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076932"/>
                </a:solidFill>
                <a:latin typeface="Arial"/>
              </a:rPr>
              <a:t>2023 </a:t>
            </a:r>
            <a:r>
              <a:rPr sz="900" b="1" i="0">
                <a:solidFill>
                  <a:srgbClr val="076932"/>
                </a:solidFill>
                <a:latin typeface="Arial"/>
              </a:rPr>
              <a:t>– </a:t>
            </a:r>
            <a:r>
              <a:rPr sz="900" b="1" i="0">
                <a:solidFill>
                  <a:srgbClr val="076932"/>
                </a:solidFill>
                <a:latin typeface="Arial"/>
              </a:rP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7886" y="4798219"/>
            <a:ext cx="149120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Krishma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International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7886" y="4950619"/>
            <a:ext cx="123690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Marketing </a:t>
            </a:r>
            <a:r>
              <a:rPr sz="900" b="0" i="0">
                <a:solidFill>
                  <a:srgbClr val="4D555C"/>
                </a:solidFill>
                <a:latin typeface="Arial"/>
              </a:rPr>
              <a:t>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9839" y="4874419"/>
            <a:ext cx="85749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076932"/>
                </a:solidFill>
                <a:latin typeface="Arial"/>
              </a:rPr>
              <a:t>2021 </a:t>
            </a:r>
            <a:r>
              <a:rPr sz="900" b="1" i="0">
                <a:solidFill>
                  <a:srgbClr val="076932"/>
                </a:solidFill>
                <a:latin typeface="Arial"/>
              </a:rPr>
              <a:t>– </a:t>
            </a:r>
            <a:r>
              <a:rPr sz="900" b="1" i="0">
                <a:solidFill>
                  <a:srgbClr val="076932"/>
                </a:solidFill>
                <a:latin typeface="Arial"/>
              </a:rPr>
              <a:t>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8736" y="5619750"/>
            <a:ext cx="80953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1" i="0">
                <a:solidFill>
                  <a:srgbClr val="11181C"/>
                </a:solidFill>
                <a:latin typeface="Arial"/>
              </a:rPr>
              <a:t>Organization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7886" y="5934075"/>
            <a:ext cx="232416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HMJM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Universitas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Sanata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Dharma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7886" y="6086475"/>
            <a:ext cx="55002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President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9839" y="6010275"/>
            <a:ext cx="85749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076932"/>
                </a:solidFill>
                <a:latin typeface="Arial"/>
              </a:rPr>
              <a:t>2021 </a:t>
            </a:r>
            <a:r>
              <a:rPr sz="900" b="1" i="0">
                <a:solidFill>
                  <a:srgbClr val="076932"/>
                </a:solidFill>
                <a:latin typeface="Arial"/>
              </a:rPr>
              <a:t>– </a:t>
            </a:r>
            <a:r>
              <a:rPr sz="900" b="1" i="0">
                <a:solidFill>
                  <a:srgbClr val="076932"/>
                </a:solidFill>
                <a:latin typeface="Arial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02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85975"/>
            <a:ext cx="1596926" cy="3267075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9876" y="2085975"/>
            <a:ext cx="1597075" cy="3267075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350" y="2085975"/>
            <a:ext cx="1596926" cy="3267075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426" y="2085975"/>
            <a:ext cx="1597075" cy="3267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42350" y="300038"/>
            <a:ext cx="280122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ONBOARDING </a:t>
            </a:r>
            <a:r>
              <a:rPr sz="712" b="0" i="0">
                <a:solidFill>
                  <a:srgbClr val="697177"/>
                </a:solidFill>
                <a:latin typeface="Arial"/>
              </a:rPr>
              <a:t>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790575"/>
            <a:ext cx="174062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ONBOARDING </a:t>
            </a:r>
            <a:r>
              <a:rPr sz="825" b="1" i="0">
                <a:solidFill>
                  <a:srgbClr val="697177"/>
                </a:solidFill>
                <a:latin typeface="Arial"/>
              </a:rPr>
              <a:t>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942975"/>
            <a:ext cx="6544505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Two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programs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built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my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base;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AHEMCE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comes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781175"/>
            <a:ext cx="174803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350" b="0" i="0">
                <a:solidFill>
                  <a:srgbClr val="1B1B1B"/>
                </a:solidFill>
                <a:latin typeface="Georgia"/>
              </a:rPr>
              <a:t>Basic </a:t>
            </a:r>
            <a:r>
              <a:rPr sz="1350" b="0" i="0">
                <a:solidFill>
                  <a:srgbClr val="1B1B1B"/>
                </a:solidFill>
                <a:latin typeface="Georgia"/>
              </a:rPr>
              <a:t>Technical </a:t>
            </a:r>
            <a:r>
              <a:rPr sz="1350" b="0" i="0">
                <a:solidFill>
                  <a:srgbClr val="1B1B1B"/>
                </a:solidFill>
                <a:latin typeface="Georgia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1527" y="1833562"/>
            <a:ext cx="341153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076932"/>
                </a:solidFill>
                <a:latin typeface="Arial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5467350"/>
            <a:ext cx="82389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Engine </a:t>
            </a:r>
            <a:r>
              <a:rPr sz="937" b="0" i="0">
                <a:solidFill>
                  <a:srgbClr val="4D555C"/>
                </a:solidFill>
                <a:latin typeface="Arial"/>
              </a:rPr>
              <a:t>basics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5657850"/>
            <a:ext cx="98496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Electrical </a:t>
            </a:r>
            <a:r>
              <a:rPr sz="937" b="0" i="0">
                <a:solidFill>
                  <a:srgbClr val="4D555C"/>
                </a:solidFill>
                <a:latin typeface="Arial"/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5848350"/>
            <a:ext cx="160274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Axle, </a:t>
            </a:r>
            <a:r>
              <a:rPr sz="937" b="0" i="0">
                <a:solidFill>
                  <a:srgbClr val="4D555C"/>
                </a:solidFill>
                <a:latin typeface="Arial"/>
              </a:rPr>
              <a:t>wheel </a:t>
            </a:r>
            <a:r>
              <a:rPr sz="937" b="0" i="0">
                <a:solidFill>
                  <a:srgbClr val="4D555C"/>
                </a:solidFill>
                <a:latin typeface="Arial"/>
              </a:rPr>
              <a:t>and </a:t>
            </a:r>
            <a:r>
              <a:rPr sz="937" b="0" i="0">
                <a:solidFill>
                  <a:srgbClr val="4D555C"/>
                </a:solidFill>
                <a:latin typeface="Arial"/>
              </a:rPr>
              <a:t>suspension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6038850"/>
            <a:ext cx="167972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Final </a:t>
            </a:r>
            <a:r>
              <a:rPr sz="937" b="0" i="0">
                <a:solidFill>
                  <a:srgbClr val="4D555C"/>
                </a:solidFill>
                <a:latin typeface="Arial"/>
              </a:rPr>
              <a:t>drive </a:t>
            </a:r>
            <a:r>
              <a:rPr sz="937" b="0" i="0">
                <a:solidFill>
                  <a:srgbClr val="4D555C"/>
                </a:solidFill>
                <a:latin typeface="Arial"/>
              </a:rPr>
              <a:t>and </a:t>
            </a:r>
            <a:r>
              <a:rPr sz="937" b="0" i="0">
                <a:solidFill>
                  <a:srgbClr val="4D555C"/>
                </a:solidFill>
                <a:latin typeface="Arial"/>
              </a:rPr>
              <a:t>undercarriage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275" y="1781175"/>
            <a:ext cx="1501777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350" b="0" i="0">
                <a:solidFill>
                  <a:srgbClr val="1B1B1B"/>
                </a:solidFill>
                <a:latin typeface="Georgia"/>
              </a:rPr>
              <a:t>B-One </a:t>
            </a:r>
            <a:r>
              <a:rPr sz="1350" b="0" i="0">
                <a:solidFill>
                  <a:srgbClr val="1B1B1B"/>
                </a:solidFill>
                <a:latin typeface="Georgia"/>
              </a:rPr>
              <a:t>· </a:t>
            </a:r>
            <a:r>
              <a:rPr sz="1350" b="0" i="0">
                <a:solidFill>
                  <a:srgbClr val="1B1B1B"/>
                </a:solidFill>
                <a:latin typeface="Georgia"/>
              </a:rPr>
              <a:t>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6077" y="1833562"/>
            <a:ext cx="341153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076932"/>
                </a:solidFill>
                <a:latin typeface="Arial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3225" y="5467350"/>
            <a:ext cx="124479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8 </a:t>
            </a:r>
            <a:r>
              <a:rPr sz="937" b="0" i="0">
                <a:solidFill>
                  <a:srgbClr val="4D555C"/>
                </a:solidFill>
                <a:latin typeface="Arial"/>
              </a:rPr>
              <a:t>Astra </a:t>
            </a:r>
            <a:r>
              <a:rPr sz="937" b="0" i="0">
                <a:solidFill>
                  <a:srgbClr val="4D555C"/>
                </a:solidFill>
                <a:latin typeface="Arial"/>
              </a:rPr>
              <a:t>competencies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3225" y="5657850"/>
            <a:ext cx="59924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AI </a:t>
            </a:r>
            <a:r>
              <a:rPr sz="937" b="0" i="0">
                <a:solidFill>
                  <a:srgbClr val="4D555C"/>
                </a:solidFill>
                <a:latin typeface="Arial"/>
              </a:rPr>
              <a:t>at </a:t>
            </a:r>
            <a:r>
              <a:rPr sz="937" b="0" i="0">
                <a:solidFill>
                  <a:srgbClr val="4D555C"/>
                </a:solidFill>
                <a:latin typeface="Arial"/>
              </a:rPr>
              <a:t>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3225" y="5848350"/>
            <a:ext cx="61328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Teamwork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3225" y="6038850"/>
            <a:ext cx="118862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Corporate </a:t>
            </a:r>
            <a:r>
              <a:rPr sz="937" b="0" i="0">
                <a:solidFill>
                  <a:srgbClr val="4D555C"/>
                </a:solidFill>
                <a:latin typeface="Arial"/>
              </a:rPr>
              <a:t>bootcamp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6351" y="1790700"/>
            <a:ext cx="805434" cy="2095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350" b="0" i="0">
                <a:solidFill>
                  <a:srgbClr val="1B1B1B"/>
                </a:solidFill>
                <a:latin typeface="Georgia"/>
              </a:rPr>
              <a:t>AHEMCE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0301" y="1843088"/>
            <a:ext cx="32096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076932"/>
                </a:solidFill>
                <a:latin typeface="Arial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4901" y="3443288"/>
            <a:ext cx="3275290" cy="266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800" b="0" i="0">
                <a:solidFill>
                  <a:srgbClr val="4D555C"/>
                </a:solidFill>
                <a:latin typeface="Georgia"/>
              </a:rPr>
              <a:t>Astra </a:t>
            </a:r>
            <a:r>
              <a:rPr sz="1800" b="0" i="0">
                <a:solidFill>
                  <a:srgbClr val="4D555C"/>
                </a:solidFill>
                <a:latin typeface="Georgia"/>
              </a:rPr>
              <a:t>Heavy </a:t>
            </a:r>
            <a:r>
              <a:rPr sz="1800" b="0" i="0">
                <a:solidFill>
                  <a:srgbClr val="4D555C"/>
                </a:solidFill>
                <a:latin typeface="Georgia"/>
              </a:rPr>
              <a:t>Equipment, </a:t>
            </a:r>
            <a:r>
              <a:rPr sz="1800" b="0" i="0">
                <a:solidFill>
                  <a:srgbClr val="4D555C"/>
                </a:solidFill>
                <a:latin typeface="Georgia"/>
              </a:rPr>
              <a:t>Mining,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4901" y="3729038"/>
            <a:ext cx="2456527" cy="2667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800" b="0" i="0">
                <a:solidFill>
                  <a:srgbClr val="4D555C"/>
                </a:solidFill>
                <a:latin typeface="Georgia"/>
              </a:rPr>
              <a:t>Construction </a:t>
            </a:r>
            <a:r>
              <a:rPr sz="1800" b="0" i="0">
                <a:solidFill>
                  <a:srgbClr val="4D555C"/>
                </a:solidFill>
                <a:latin typeface="Georgia"/>
              </a:rPr>
              <a:t>and </a:t>
            </a:r>
            <a:r>
              <a:rPr sz="1800" b="0" i="0">
                <a:solidFill>
                  <a:srgbClr val="4D555C"/>
                </a:solidFill>
                <a:latin typeface="Georgia"/>
              </a:rPr>
              <a:t>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7301" y="5457825"/>
            <a:ext cx="102030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937" b="0" i="0">
                <a:solidFill>
                  <a:srgbClr val="4D555C"/>
                </a:solidFill>
                <a:latin typeface="Arial"/>
              </a:rPr>
              <a:t>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7301" y="5648325"/>
            <a:ext cx="40993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Mining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7301" y="5838825"/>
            <a:ext cx="68364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Contracting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7301" y="6029325"/>
            <a:ext cx="43801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37" b="0" i="0">
                <a:solidFill>
                  <a:srgbClr val="4D555C"/>
                </a:solidFill>
                <a:latin typeface="Arial"/>
              </a:rPr>
              <a:t>Energy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03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2" y="2546747"/>
            <a:ext cx="1035397" cy="380851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3345210"/>
            <a:ext cx="1181100" cy="231725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18" y="3994547"/>
            <a:ext cx="544264" cy="380851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38" y="5292923"/>
            <a:ext cx="776436" cy="438001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0331" y="5292923"/>
            <a:ext cx="885974" cy="438001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9670" y="5292923"/>
            <a:ext cx="803821" cy="438001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7260" y="2843659"/>
            <a:ext cx="838200" cy="204936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3668" y="2822525"/>
            <a:ext cx="838200" cy="2473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771525"/>
            <a:ext cx="141059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COMPANY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962025"/>
            <a:ext cx="8655936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Triatra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sells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PATRIA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and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ULTRA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to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four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industries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for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the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UTPE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476375"/>
            <a:ext cx="4843561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076932"/>
                </a:solidFill>
                <a:latin typeface="Arial"/>
              </a:rPr>
              <a:t>01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Triatra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part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of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the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UTPE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Group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AHEMCE,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focusing </a:t>
            </a:r>
            <a:r>
              <a:rPr sz="862" b="0" i="0">
                <a:solidFill>
                  <a:srgbClr val="4D555C"/>
                </a:solidFill>
                <a:latin typeface="Arial"/>
              </a:rPr>
              <a:t>on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Distributorship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Trading.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7450" y="1476375"/>
            <a:ext cx="357676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076932"/>
                </a:solidFill>
                <a:latin typeface="Arial"/>
              </a:rPr>
              <a:t>02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Starting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2025,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Triatra </a:t>
            </a:r>
            <a:r>
              <a:rPr sz="862" b="0" i="0">
                <a:solidFill>
                  <a:srgbClr val="4D555C"/>
                </a:solidFill>
                <a:latin typeface="Arial"/>
              </a:rPr>
              <a:t>develops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 </a:t>
            </a:r>
            <a:r>
              <a:rPr sz="862" b="0" i="0">
                <a:solidFill>
                  <a:srgbClr val="4D555C"/>
                </a:solidFill>
                <a:latin typeface="Arial"/>
              </a:rPr>
              <a:t>new </a:t>
            </a:r>
            <a:r>
              <a:rPr sz="862" b="0" i="0">
                <a:solidFill>
                  <a:srgbClr val="4D555C"/>
                </a:solidFill>
                <a:latin typeface="Arial"/>
              </a:rPr>
              <a:t>business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line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Marine.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1895475"/>
            <a:ext cx="217429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CORPORATE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ENTITY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2066925"/>
            <a:ext cx="532566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PT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Triatra </a:t>
            </a:r>
            <a:r>
              <a:rPr sz="787" b="0" i="0">
                <a:solidFill>
                  <a:srgbClr val="4D555C"/>
                </a:solidFill>
                <a:latin typeface="Arial"/>
              </a:rPr>
              <a:t>Sinergia </a:t>
            </a:r>
            <a:r>
              <a:rPr sz="787" b="0" i="0">
                <a:solidFill>
                  <a:srgbClr val="4D555C"/>
                </a:solidFill>
                <a:latin typeface="Arial"/>
              </a:rPr>
              <a:t>Pratama </a:t>
            </a:r>
            <a:r>
              <a:rPr sz="787" b="0" i="0">
                <a:solidFill>
                  <a:srgbClr val="4D555C"/>
                </a:solidFill>
                <a:latin typeface="Arial"/>
              </a:rPr>
              <a:t>is </a:t>
            </a:r>
            <a:r>
              <a:rPr sz="787" b="0" i="0">
                <a:solidFill>
                  <a:srgbClr val="4D555C"/>
                </a:solidFill>
                <a:latin typeface="Arial"/>
              </a:rPr>
              <a:t>one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of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the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entities </a:t>
            </a:r>
            <a:r>
              <a:rPr sz="787" b="0" i="0">
                <a:solidFill>
                  <a:srgbClr val="4D555C"/>
                </a:solidFill>
                <a:latin typeface="Arial"/>
              </a:rPr>
              <a:t>within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the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UTPE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Group, </a:t>
            </a:r>
            <a:r>
              <a:rPr sz="787" b="0" i="0">
                <a:solidFill>
                  <a:srgbClr val="4D555C"/>
                </a:solidFill>
                <a:latin typeface="Arial"/>
              </a:rPr>
              <a:t>part </a:t>
            </a:r>
            <a:r>
              <a:rPr sz="787" b="0" i="0">
                <a:solidFill>
                  <a:srgbClr val="4D555C"/>
                </a:solidFill>
                <a:latin typeface="Arial"/>
              </a:rPr>
              <a:t>of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the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UT </a:t>
            </a:r>
            <a:r>
              <a:rPr sz="787" b="0" i="0">
                <a:solidFill>
                  <a:srgbClr val="4D555C"/>
                </a:solidFill>
                <a:latin typeface="Arial"/>
              </a:rPr>
              <a:t>Group </a:t>
            </a:r>
            <a:r>
              <a:rPr sz="787" b="0" i="0">
                <a:solidFill>
                  <a:srgbClr val="4D555C"/>
                </a:solidFill>
                <a:latin typeface="Arial"/>
              </a:rPr>
              <a:t>and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the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AHEMCE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2206823"/>
            <a:ext cx="204967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business </a:t>
            </a:r>
            <a:r>
              <a:rPr sz="787" b="0" i="0">
                <a:solidFill>
                  <a:srgbClr val="4D555C"/>
                </a:solidFill>
                <a:latin typeface="Arial"/>
              </a:rPr>
              <a:t>line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of </a:t>
            </a:r>
            <a:r>
              <a:rPr sz="787" b="0" i="0">
                <a:solidFill>
                  <a:srgbClr val="4D555C"/>
                </a:solidFill>
                <a:latin typeface="Arial"/>
              </a:rPr>
              <a:t>PT </a:t>
            </a:r>
            <a:r>
              <a:rPr sz="787" b="0" i="0">
                <a:solidFill>
                  <a:srgbClr val="4D555C"/>
                </a:solidFill>
                <a:latin typeface="Arial"/>
              </a:rPr>
              <a:t>Astra </a:t>
            </a:r>
            <a:r>
              <a:rPr sz="787" b="0" i="0">
                <a:solidFill>
                  <a:srgbClr val="4D555C"/>
                </a:solidFill>
                <a:latin typeface="Arial"/>
              </a:rPr>
              <a:t>International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Tbk.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2150" y="2588419"/>
            <a:ext cx="110864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Astra </a:t>
            </a:r>
            <a:r>
              <a:rPr sz="900" b="1" i="0">
                <a:solidFill>
                  <a:srgbClr val="11181C"/>
                </a:solidFill>
                <a:latin typeface="Arial"/>
              </a:rPr>
              <a:t>International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2150" y="2736949"/>
            <a:ext cx="277819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Astra </a:t>
            </a:r>
            <a:r>
              <a:rPr sz="787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787" b="0" i="0">
                <a:solidFill>
                  <a:srgbClr val="4D555C"/>
                </a:solidFill>
                <a:latin typeface="Arial"/>
              </a:rPr>
              <a:t>Equipment, </a:t>
            </a:r>
            <a:r>
              <a:rPr sz="787" b="0" i="0">
                <a:solidFill>
                  <a:srgbClr val="4D555C"/>
                </a:solidFill>
                <a:latin typeface="Arial"/>
              </a:rPr>
              <a:t>Mining, </a:t>
            </a:r>
            <a:r>
              <a:rPr sz="787" b="0" i="0">
                <a:solidFill>
                  <a:srgbClr val="4D555C"/>
                </a:solidFill>
                <a:latin typeface="Arial"/>
              </a:rPr>
              <a:t>Construction, </a:t>
            </a:r>
            <a:r>
              <a:rPr sz="787" b="0" i="0">
                <a:solidFill>
                  <a:srgbClr val="4D555C"/>
                </a:solidFill>
                <a:latin typeface="Arial"/>
              </a:rPr>
              <a:t>and </a:t>
            </a:r>
            <a:r>
              <a:rPr sz="787" b="0" i="0">
                <a:solidFill>
                  <a:srgbClr val="4D555C"/>
                </a:solidFill>
                <a:latin typeface="Arial"/>
              </a:rPr>
              <a:t>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2150" y="3312319"/>
            <a:ext cx="92690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United </a:t>
            </a:r>
            <a:r>
              <a:rPr sz="900" b="1" i="0">
                <a:solidFill>
                  <a:srgbClr val="11181C"/>
                </a:solidFill>
                <a:latin typeface="Arial"/>
              </a:rPr>
              <a:t>Tractors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2150" y="3460849"/>
            <a:ext cx="115171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Construction </a:t>
            </a:r>
            <a:r>
              <a:rPr sz="787" b="0" i="0">
                <a:solidFill>
                  <a:srgbClr val="4D555C"/>
                </a:solidFill>
                <a:latin typeface="Arial"/>
              </a:rPr>
              <a:t>Machinery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2150" y="4036219"/>
            <a:ext cx="361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2150" y="4184749"/>
            <a:ext cx="147022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Engineering </a:t>
            </a:r>
            <a:r>
              <a:rPr sz="787" b="0" i="0">
                <a:solidFill>
                  <a:srgbClr val="4D555C"/>
                </a:solidFill>
                <a:latin typeface="Arial"/>
              </a:rPr>
              <a:t>Solution </a:t>
            </a:r>
            <a:r>
              <a:rPr sz="787" b="0" i="0">
                <a:solidFill>
                  <a:srgbClr val="4D555C"/>
                </a:solidFill>
                <a:latin typeface="Arial"/>
              </a:rPr>
              <a:t>&amp; </a:t>
            </a:r>
            <a:r>
              <a:rPr sz="787" b="0" i="0">
                <a:solidFill>
                  <a:srgbClr val="4D555C"/>
                </a:solidFill>
                <a:latin typeface="Arial"/>
              </a:rPr>
              <a:t>Marine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338" y="5826323"/>
            <a:ext cx="124479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FF5A1F"/>
                </a:solidFill>
                <a:latin typeface="Arial"/>
              </a:rPr>
              <a:t>Distributorship </a:t>
            </a:r>
            <a:r>
              <a:rPr sz="750" b="0" i="0">
                <a:solidFill>
                  <a:srgbClr val="FF5A1F"/>
                </a:solidFill>
                <a:latin typeface="Arial"/>
              </a:rPr>
              <a:t>and </a:t>
            </a:r>
            <a:r>
              <a:rPr sz="750" b="0" i="0">
                <a:solidFill>
                  <a:srgbClr val="FF5A1F"/>
                </a:solidFill>
                <a:latin typeface="Arial"/>
              </a:rPr>
              <a:t>Trading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8865" y="5826323"/>
            <a:ext cx="108750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4D555C"/>
                </a:solidFill>
                <a:latin typeface="Arial"/>
              </a:rPr>
              <a:t>Ship </a:t>
            </a:r>
            <a:r>
              <a:rPr sz="750" b="0" i="0">
                <a:solidFill>
                  <a:srgbClr val="4D555C"/>
                </a:solidFill>
                <a:latin typeface="Arial"/>
              </a:rPr>
              <a:t>Owner </a:t>
            </a:r>
            <a:r>
              <a:rPr sz="750" b="0" i="0">
                <a:solidFill>
                  <a:srgbClr val="4D555C"/>
                </a:solidFill>
                <a:latin typeface="Arial"/>
              </a:rPr>
              <a:t>&amp; </a:t>
            </a:r>
            <a:r>
              <a:rPr sz="750" b="0" i="0">
                <a:solidFill>
                  <a:srgbClr val="4D555C"/>
                </a:solidFill>
                <a:latin typeface="Arial"/>
              </a:rPr>
              <a:t>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7808" y="5826323"/>
            <a:ext cx="114950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4D555C"/>
                </a:solidFill>
                <a:latin typeface="Arial"/>
              </a:rPr>
              <a:t>Ship </a:t>
            </a:r>
            <a:r>
              <a:rPr sz="750" b="0" i="0">
                <a:solidFill>
                  <a:srgbClr val="4D555C"/>
                </a:solidFill>
                <a:latin typeface="Arial"/>
              </a:rPr>
              <a:t>Building </a:t>
            </a:r>
            <a:r>
              <a:rPr sz="750" b="0" i="0">
                <a:solidFill>
                  <a:srgbClr val="4D555C"/>
                </a:solidFill>
                <a:latin typeface="Arial"/>
              </a:rPr>
              <a:t>and </a:t>
            </a:r>
            <a:r>
              <a:rPr sz="750" b="0" i="0">
                <a:solidFill>
                  <a:srgbClr val="4D555C"/>
                </a:solidFill>
                <a:latin typeface="Arial"/>
              </a:rPr>
              <a:t>Repair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6760" y="1895475"/>
            <a:ext cx="21695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PT </a:t>
            </a:r>
            <a:r>
              <a:rPr sz="712" b="1" i="0">
                <a:solidFill>
                  <a:srgbClr val="697177"/>
                </a:solidFill>
                <a:latin typeface="Arial"/>
              </a:rPr>
              <a:t>TRIATRA </a:t>
            </a:r>
            <a:r>
              <a:rPr sz="712" b="1" i="0">
                <a:solidFill>
                  <a:srgbClr val="697177"/>
                </a:solidFill>
                <a:latin typeface="Arial"/>
              </a:rPr>
              <a:t>SINERGIA </a:t>
            </a:r>
            <a:r>
              <a:rPr sz="712" b="1" i="0">
                <a:solidFill>
                  <a:srgbClr val="697177"/>
                </a:solidFill>
                <a:latin typeface="Arial"/>
              </a:rPr>
              <a:t>PRATAMA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0585" y="2171700"/>
            <a:ext cx="571485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Distributor </a:t>
            </a:r>
            <a:r>
              <a:rPr sz="825" b="0" i="0">
                <a:solidFill>
                  <a:srgbClr val="4D555C"/>
                </a:solidFill>
                <a:latin typeface="Arial"/>
              </a:rPr>
              <a:t>of </a:t>
            </a:r>
            <a:r>
              <a:rPr sz="825" b="1" i="0">
                <a:solidFill>
                  <a:srgbClr val="11181C"/>
                </a:solidFill>
                <a:latin typeface="Arial"/>
              </a:rPr>
              <a:t>PATRIA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25" b="1" i="0">
                <a:solidFill>
                  <a:srgbClr val="11181C"/>
                </a:solidFill>
                <a:latin typeface="Arial"/>
              </a:rPr>
              <a:t>ULTRA </a:t>
            </a:r>
            <a:r>
              <a:rPr sz="825" b="0" i="0">
                <a:solidFill>
                  <a:srgbClr val="4D555C"/>
                </a:solidFill>
                <a:latin typeface="Arial"/>
              </a:rPr>
              <a:t>products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for </a:t>
            </a:r>
            <a:r>
              <a:rPr sz="825" b="0" i="0">
                <a:solidFill>
                  <a:srgbClr val="4D555C"/>
                </a:solidFill>
                <a:latin typeface="Arial"/>
              </a:rPr>
              <a:t>mining,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construction,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agriculture,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forestry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25" b="0" i="0">
                <a:solidFill>
                  <a:srgbClr val="4D555C"/>
                </a:solidFill>
                <a:latin typeface="Arial"/>
              </a:rPr>
              <a:t>maritime. </a:t>
            </a:r>
            <a:r>
              <a:rPr sz="825" b="0" i="0">
                <a:solidFill>
                  <a:srgbClr val="4D555C"/>
                </a:solidFill>
                <a:latin typeface="Arial"/>
              </a:rPr>
              <a:t>Triatra </a:t>
            </a:r>
            <a:r>
              <a:rPr sz="825" b="0" i="0">
                <a:solidFill>
                  <a:srgbClr val="4D555C"/>
                </a:solidFill>
                <a:latin typeface="Arial"/>
              </a:rPr>
              <a:t>offers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0585" y="2323505"/>
            <a:ext cx="558802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both </a:t>
            </a:r>
            <a:r>
              <a:rPr sz="825" b="0" i="0">
                <a:solidFill>
                  <a:srgbClr val="4D555C"/>
                </a:solidFill>
                <a:latin typeface="Arial"/>
              </a:rPr>
              <a:t>equipment </a:t>
            </a:r>
            <a:r>
              <a:rPr sz="825" b="0" i="0">
                <a:solidFill>
                  <a:srgbClr val="4D555C"/>
                </a:solidFill>
                <a:latin typeface="Arial"/>
              </a:rPr>
              <a:t>units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full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after-sales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support,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from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spare </a:t>
            </a:r>
            <a:r>
              <a:rPr sz="825" b="0" i="0">
                <a:solidFill>
                  <a:srgbClr val="4D555C"/>
                </a:solidFill>
                <a:latin typeface="Arial"/>
              </a:rPr>
              <a:t>parts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25" b="0" i="0">
                <a:solidFill>
                  <a:srgbClr val="4D555C"/>
                </a:solidFill>
                <a:latin typeface="Arial"/>
              </a:rPr>
              <a:t>remanufacturing </a:t>
            </a:r>
            <a:r>
              <a:rPr sz="825" b="0" i="0">
                <a:solidFill>
                  <a:srgbClr val="4D555C"/>
                </a:solidFill>
                <a:latin typeface="Arial"/>
              </a:rPr>
              <a:t>to </a:t>
            </a:r>
            <a:r>
              <a:rPr sz="825" b="0" i="0">
                <a:solidFill>
                  <a:srgbClr val="4D555C"/>
                </a:solidFill>
                <a:latin typeface="Arial"/>
              </a:rPr>
              <a:t>maintenance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services.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7385" y="2732484"/>
            <a:ext cx="2736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7385" y="2881015"/>
            <a:ext cx="159974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International </a:t>
            </a:r>
            <a:r>
              <a:rPr sz="787" b="0" i="0">
                <a:solidFill>
                  <a:srgbClr val="4D555C"/>
                </a:solidFill>
                <a:latin typeface="Arial"/>
              </a:rPr>
              <a:t>&amp; </a:t>
            </a:r>
            <a:r>
              <a:rPr sz="787" b="0" i="0">
                <a:solidFill>
                  <a:srgbClr val="4D555C"/>
                </a:solidFill>
                <a:latin typeface="Arial"/>
              </a:rPr>
              <a:t>domestic </a:t>
            </a:r>
            <a:r>
              <a:rPr sz="787" b="0" i="0">
                <a:solidFill>
                  <a:srgbClr val="4D555C"/>
                </a:solidFill>
                <a:latin typeface="Arial"/>
              </a:rPr>
              <a:t>trader </a:t>
            </a:r>
            <a:r>
              <a:rPr sz="787" b="0" i="0">
                <a:solidFill>
                  <a:srgbClr val="4D555C"/>
                </a:solidFill>
                <a:latin typeface="Arial"/>
              </a:rPr>
              <a:t>of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7385" y="3010942"/>
            <a:ext cx="57431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UTPE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3793" y="2732484"/>
            <a:ext cx="166758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Part, </a:t>
            </a:r>
            <a:r>
              <a:rPr sz="900" b="1" i="0">
                <a:solidFill>
                  <a:srgbClr val="11181C"/>
                </a:solidFill>
                <a:latin typeface="Arial"/>
              </a:rPr>
              <a:t>Component </a:t>
            </a:r>
            <a:r>
              <a:rPr sz="900" b="1" i="0">
                <a:solidFill>
                  <a:srgbClr val="11181C"/>
                </a:solidFill>
                <a:latin typeface="Arial"/>
              </a:rPr>
              <a:t>&amp; </a:t>
            </a:r>
            <a:r>
              <a:rPr sz="900" b="1" i="0">
                <a:solidFill>
                  <a:srgbClr val="11181C"/>
                </a:solidFill>
                <a:latin typeface="Arial"/>
              </a:rPr>
              <a:t>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3793" y="2881015"/>
            <a:ext cx="128154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After-sales </a:t>
            </a:r>
            <a:r>
              <a:rPr sz="787" b="0" i="0">
                <a:solidFill>
                  <a:srgbClr val="4D555C"/>
                </a:solidFill>
                <a:latin typeface="Arial"/>
              </a:rPr>
              <a:t>maintenance </a:t>
            </a:r>
            <a:r>
              <a:rPr sz="787" b="0" i="0">
                <a:solidFill>
                  <a:srgbClr val="4D555C"/>
                </a:solidFill>
                <a:latin typeface="Arial"/>
              </a:rPr>
              <a:t>&amp;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3793" y="3010942"/>
            <a:ext cx="80417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4D555C"/>
                </a:solidFill>
                <a:latin typeface="Arial"/>
              </a:rPr>
              <a:t>remanufacturing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6760" y="3340894"/>
            <a:ext cx="145997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INDUSTRY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0585" y="4680347"/>
            <a:ext cx="206585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125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734" y="4699397"/>
            <a:ext cx="130363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Coal </a:t>
            </a:r>
            <a:r>
              <a:rPr sz="900" b="1" i="0">
                <a:solidFill>
                  <a:srgbClr val="FFFFFF"/>
                </a:solidFill>
                <a:latin typeface="Arial"/>
              </a:rPr>
              <a:t>&amp; </a:t>
            </a:r>
            <a:r>
              <a:rPr sz="900" b="1" i="0">
                <a:solidFill>
                  <a:srgbClr val="FFFFFF"/>
                </a:solidFill>
                <a:latin typeface="Arial"/>
              </a:rPr>
              <a:t>Mineral </a:t>
            </a:r>
            <a:r>
              <a:rPr sz="900" b="1" i="0">
                <a:solidFill>
                  <a:srgbClr val="FFFFFF"/>
                </a:solidFill>
                <a:latin typeface="Arial"/>
              </a:rPr>
              <a:t>Mining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6993" y="4680347"/>
            <a:ext cx="206585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125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141" y="4699397"/>
            <a:ext cx="79202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Construction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0585" y="6181725"/>
            <a:ext cx="206585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125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734" y="6200775"/>
            <a:ext cx="1433941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Forestry </a:t>
            </a:r>
            <a:r>
              <a:rPr sz="900" b="1" i="0">
                <a:solidFill>
                  <a:srgbClr val="FFFFFF"/>
                </a:solidFill>
                <a:latin typeface="Arial"/>
              </a:rPr>
              <a:t>&amp; </a:t>
            </a:r>
            <a:r>
              <a:rPr sz="900" b="1" i="0">
                <a:solidFill>
                  <a:srgbClr val="FFFFFF"/>
                </a:solidFill>
                <a:latin typeface="Arial"/>
              </a:rPr>
              <a:t>Agroindustry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6993" y="6181725"/>
            <a:ext cx="206585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125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141" y="6200775"/>
            <a:ext cx="53645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FFFF"/>
                </a:solidFill>
                <a:latin typeface="Arial"/>
              </a:rPr>
              <a:t>Maritime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04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714500"/>
            <a:ext cx="9334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771525"/>
            <a:ext cx="125062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SITE </a:t>
            </a:r>
            <a:r>
              <a:rPr sz="825" b="1" i="0">
                <a:solidFill>
                  <a:srgbClr val="697177"/>
                </a:solidFill>
                <a:latin typeface="Arial"/>
              </a:rPr>
              <a:t>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962025"/>
            <a:ext cx="6933536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Triatra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serves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customers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from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16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points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across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Indonesia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1476375"/>
            <a:ext cx="62674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Triatra </a:t>
            </a:r>
            <a:r>
              <a:rPr sz="900" b="0" i="0">
                <a:solidFill>
                  <a:srgbClr val="4D555C"/>
                </a:solidFill>
                <a:latin typeface="Arial"/>
              </a:rPr>
              <a:t>covers </a:t>
            </a:r>
            <a:r>
              <a:rPr sz="900" b="0" i="0">
                <a:solidFill>
                  <a:srgbClr val="4D555C"/>
                </a:solidFill>
                <a:latin typeface="Arial"/>
              </a:rPr>
              <a:t>many </a:t>
            </a:r>
            <a:r>
              <a:rPr sz="900" b="0" i="0">
                <a:solidFill>
                  <a:srgbClr val="4D555C"/>
                </a:solidFill>
                <a:latin typeface="Arial"/>
              </a:rPr>
              <a:t>areas </a:t>
            </a:r>
            <a:r>
              <a:rPr sz="900" b="0" i="0">
                <a:solidFill>
                  <a:srgbClr val="4D555C"/>
                </a:solidFill>
                <a:latin typeface="Arial"/>
              </a:rPr>
              <a:t>in </a:t>
            </a:r>
            <a:r>
              <a:rPr sz="900" b="0" i="0">
                <a:solidFill>
                  <a:srgbClr val="4D555C"/>
                </a:solidFill>
                <a:latin typeface="Arial"/>
              </a:rPr>
              <a:t>Indonesia, </a:t>
            </a:r>
            <a:r>
              <a:rPr sz="900" b="0" i="0">
                <a:solidFill>
                  <a:srgbClr val="4D555C"/>
                </a:solidFill>
                <a:latin typeface="Arial"/>
              </a:rPr>
              <a:t>with </a:t>
            </a:r>
            <a:r>
              <a:rPr sz="900" b="0" i="0">
                <a:solidFill>
                  <a:srgbClr val="4D555C"/>
                </a:solidFill>
                <a:latin typeface="Arial"/>
              </a:rPr>
              <a:t>the </a:t>
            </a:r>
            <a:r>
              <a:rPr sz="900" b="0" i="0">
                <a:solidFill>
                  <a:srgbClr val="4D555C"/>
                </a:solidFill>
                <a:latin typeface="Arial"/>
              </a:rPr>
              <a:t>Head </a:t>
            </a:r>
            <a:r>
              <a:rPr sz="900" b="0" i="0">
                <a:solidFill>
                  <a:srgbClr val="4D555C"/>
                </a:solidFill>
                <a:latin typeface="Arial"/>
              </a:rPr>
              <a:t>Office </a:t>
            </a:r>
            <a:r>
              <a:rPr sz="900" b="0" i="0">
                <a:solidFill>
                  <a:srgbClr val="4D555C"/>
                </a:solidFill>
                <a:latin typeface="Arial"/>
              </a:rPr>
              <a:t>in </a:t>
            </a:r>
            <a:r>
              <a:rPr sz="900" b="0" i="0">
                <a:solidFill>
                  <a:srgbClr val="4D555C"/>
                </a:solidFill>
                <a:latin typeface="Arial"/>
              </a:rPr>
              <a:t>Jakarta, </a:t>
            </a:r>
            <a:r>
              <a:rPr sz="900" b="0" i="0">
                <a:solidFill>
                  <a:srgbClr val="4D555C"/>
                </a:solidFill>
                <a:latin typeface="Arial"/>
              </a:rPr>
              <a:t>5 </a:t>
            </a:r>
            <a:r>
              <a:rPr sz="900" b="0" i="0">
                <a:solidFill>
                  <a:srgbClr val="4D555C"/>
                </a:solidFill>
                <a:latin typeface="Arial"/>
              </a:rPr>
              <a:t>Site </a:t>
            </a:r>
            <a:r>
              <a:rPr sz="900" b="0" i="0">
                <a:solidFill>
                  <a:srgbClr val="4D555C"/>
                </a:solidFill>
                <a:latin typeface="Arial"/>
              </a:rPr>
              <a:t>Operations </a:t>
            </a:r>
            <a:r>
              <a:rPr sz="900" b="0" i="0">
                <a:solidFill>
                  <a:srgbClr val="4D555C"/>
                </a:solidFill>
                <a:latin typeface="Arial"/>
              </a:rPr>
              <a:t>and </a:t>
            </a:r>
            <a:r>
              <a:rPr sz="900" b="0" i="0">
                <a:solidFill>
                  <a:srgbClr val="4D555C"/>
                </a:solidFill>
                <a:latin typeface="Arial"/>
              </a:rPr>
              <a:t>Site </a:t>
            </a:r>
            <a:r>
              <a:rPr sz="900" b="0" i="0">
                <a:solidFill>
                  <a:srgbClr val="4D555C"/>
                </a:solidFill>
                <a:latin typeface="Arial"/>
              </a:rPr>
              <a:t>Representatives.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4676775"/>
            <a:ext cx="57116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Head </a:t>
            </a:r>
            <a:r>
              <a:rPr sz="712" b="1" i="0">
                <a:solidFill>
                  <a:srgbClr val="11181C"/>
                </a:solidFill>
                <a:latin typeface="Arial"/>
              </a:rPr>
              <a:t>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4794349"/>
            <a:ext cx="204493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Raya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Bekasi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22,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Cakung,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Jakarta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13910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5136356"/>
            <a:ext cx="37412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Jakarta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5253930"/>
            <a:ext cx="204493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Raya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Bekasi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22,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Cakung,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Jakarta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13910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5595938"/>
            <a:ext cx="66518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Tanjung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Enim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5713512"/>
            <a:ext cx="238821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Lingga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Raya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10,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Muara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Enim,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Sumatera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Selatan,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31711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6055519"/>
            <a:ext cx="52856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Pekanbaru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6173093"/>
            <a:ext cx="228267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Soekarno </a:t>
            </a:r>
            <a:r>
              <a:rPr sz="622" b="0" i="0">
                <a:solidFill>
                  <a:srgbClr val="4D555C"/>
                </a:solidFill>
                <a:latin typeface="Arial"/>
              </a:rPr>
              <a:t>Hatta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3,5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No.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151,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Pekanbaru,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Riau,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28291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438" y="4676775"/>
            <a:ext cx="61391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Banjarmasin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438" y="4794349"/>
            <a:ext cx="255417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Ahmad </a:t>
            </a:r>
            <a:r>
              <a:rPr sz="622" b="0" i="0">
                <a:solidFill>
                  <a:srgbClr val="4D555C"/>
                </a:solidFill>
                <a:latin typeface="Arial"/>
              </a:rPr>
              <a:t>Yani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13,5 </a:t>
            </a:r>
            <a:r>
              <a:rPr sz="622" b="0" i="0">
                <a:solidFill>
                  <a:srgbClr val="4D555C"/>
                </a:solidFill>
                <a:latin typeface="Arial"/>
              </a:rPr>
              <a:t>Gambut,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Banjarmasin,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Selatan,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438" y="4897041"/>
            <a:ext cx="27110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70652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438" y="5136356"/>
            <a:ext cx="67765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Sungai </a:t>
            </a:r>
            <a:r>
              <a:rPr sz="712" b="1" i="0">
                <a:solidFill>
                  <a:srgbClr val="11181C"/>
                </a:solidFill>
                <a:latin typeface="Arial"/>
              </a:rPr>
              <a:t>Danau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438" y="5253930"/>
            <a:ext cx="236502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Ds.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Karang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Indah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RT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12/RW </a:t>
            </a:r>
            <a:r>
              <a:rPr sz="622" b="0" i="0">
                <a:solidFill>
                  <a:srgbClr val="4D555C"/>
                </a:solidFill>
                <a:latin typeface="Arial"/>
              </a:rPr>
              <a:t>03,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Kec.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Angsana,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Tanah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Bambu,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438" y="5356622"/>
            <a:ext cx="76473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Selatan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438" y="5595938"/>
            <a:ext cx="84976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Tanjung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Tabalong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438" y="5713512"/>
            <a:ext cx="240367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A.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Yani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7,5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Maburai,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Kec.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Murung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Pudak,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Kab.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Tabalong,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0438" y="5816203"/>
            <a:ext cx="76473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Selatan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438" y="6055519"/>
            <a:ext cx="5978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Batu </a:t>
            </a:r>
            <a:r>
              <a:rPr sz="712" b="1" i="0">
                <a:solidFill>
                  <a:srgbClr val="11181C"/>
                </a:solidFill>
                <a:latin typeface="Arial"/>
              </a:rPr>
              <a:t>Kajang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0438" y="6173093"/>
            <a:ext cx="2375913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Negara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140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Batukajang,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Kec.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Batu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Sopang,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Kab.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Paser,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438" y="6275784"/>
            <a:ext cx="68995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225" y="4676775"/>
            <a:ext cx="63868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Muara </a:t>
            </a:r>
            <a:r>
              <a:rPr sz="712" b="1" i="0">
                <a:solidFill>
                  <a:srgbClr val="11181C"/>
                </a:solidFill>
                <a:latin typeface="Arial"/>
              </a:rPr>
              <a:t>Teweh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4794349"/>
            <a:ext cx="249817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Ahmad </a:t>
            </a:r>
            <a:r>
              <a:rPr sz="622" b="0" i="0">
                <a:solidFill>
                  <a:srgbClr val="4D555C"/>
                </a:solidFill>
                <a:latin typeface="Arial"/>
              </a:rPr>
              <a:t>Yani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No.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85,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Melayu,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Kab.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Barito </a:t>
            </a:r>
            <a:r>
              <a:rPr sz="622" b="0" i="0">
                <a:solidFill>
                  <a:srgbClr val="4D555C"/>
                </a:solidFill>
                <a:latin typeface="Arial"/>
              </a:rPr>
              <a:t>Utara,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2225" y="4897041"/>
            <a:ext cx="3130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Tengah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225" y="5136356"/>
            <a:ext cx="5498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Balikpapan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225" y="5253930"/>
            <a:ext cx="259298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Jenderal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Sudirman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No.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844,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Balikpapan,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76114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2225" y="5595938"/>
            <a:ext cx="30471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Melak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2225" y="5713512"/>
            <a:ext cx="2613181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D/A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PT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Tambang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Raya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Usaha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Tama,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Hauling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Road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Trubaindo,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Muara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225" y="5816203"/>
            <a:ext cx="139781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Lawa,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Kutai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Barat,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Kalimantan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2225" y="6055519"/>
            <a:ext cx="37207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Tabang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6173093"/>
            <a:ext cx="234609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Site </a:t>
            </a:r>
            <a:r>
              <a:rPr sz="622" b="0" i="0">
                <a:solidFill>
                  <a:srgbClr val="4D555C"/>
                </a:solidFill>
                <a:latin typeface="Arial"/>
              </a:rPr>
              <a:t>Indonesia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Pratama,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Workshop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Buma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Km </a:t>
            </a:r>
            <a:r>
              <a:rPr sz="622" b="0" i="0">
                <a:solidFill>
                  <a:srgbClr val="4D555C"/>
                </a:solidFill>
                <a:latin typeface="Arial"/>
              </a:rPr>
              <a:t>6,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Hauling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Road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2225" y="6275784"/>
            <a:ext cx="946154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Baratabang,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Kec.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Muara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012" y="4676775"/>
            <a:ext cx="72371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Tanjung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Redeb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012" y="4794349"/>
            <a:ext cx="212618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Gunung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Panjang </a:t>
            </a:r>
            <a:r>
              <a:rPr sz="622" b="0" i="0">
                <a:solidFill>
                  <a:srgbClr val="4D555C"/>
                </a:solidFill>
                <a:latin typeface="Arial"/>
              </a:rPr>
              <a:t>RT.04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No.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101B,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Kab.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Berau,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77311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012" y="5136356"/>
            <a:ext cx="44322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Sangatta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012" y="5253930"/>
            <a:ext cx="2546291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HDRS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Tango </a:t>
            </a:r>
            <a:r>
              <a:rPr sz="622" b="0" i="0">
                <a:solidFill>
                  <a:srgbClr val="4D555C"/>
                </a:solidFill>
                <a:latin typeface="Arial"/>
              </a:rPr>
              <a:t>Delta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KPC,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Mine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Site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Sangatta,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Kutai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Timur,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75683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012" y="5595938"/>
            <a:ext cx="48597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Sumbawa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012" y="5713512"/>
            <a:ext cx="251552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Memco </a:t>
            </a:r>
            <a:r>
              <a:rPr sz="622" b="0" i="0">
                <a:solidFill>
                  <a:srgbClr val="4D555C"/>
                </a:solidFill>
                <a:latin typeface="Arial"/>
              </a:rPr>
              <a:t>Area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Tongo,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Sekongkang,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West </a:t>
            </a:r>
            <a:r>
              <a:rPr sz="622" b="0" i="0">
                <a:solidFill>
                  <a:srgbClr val="4D555C"/>
                </a:solidFill>
                <a:latin typeface="Arial"/>
              </a:rPr>
              <a:t>Sumbawa,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Nusa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Tenggara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44012" y="5816203"/>
            <a:ext cx="51784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Barat,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84457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012" y="6055519"/>
            <a:ext cx="34036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Timika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012" y="6173093"/>
            <a:ext cx="2186604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22" b="0" i="0">
                <a:solidFill>
                  <a:srgbClr val="4D555C"/>
                </a:solidFill>
                <a:latin typeface="Arial"/>
              </a:rPr>
              <a:t>Jl.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Kuala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Tembaga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E-4 </a:t>
            </a:r>
            <a:r>
              <a:rPr sz="622" b="0" i="0">
                <a:solidFill>
                  <a:srgbClr val="4D555C"/>
                </a:solidFill>
                <a:latin typeface="Arial"/>
              </a:rPr>
              <a:t>LIP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Kuala </a:t>
            </a:r>
            <a:r>
              <a:rPr sz="622" b="0" i="0">
                <a:solidFill>
                  <a:srgbClr val="4D555C"/>
                </a:solidFill>
                <a:latin typeface="Arial"/>
              </a:rPr>
              <a:t>Kencana,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Timika, </a:t>
            </a:r>
            <a:r>
              <a:rPr sz="622" b="0" i="0">
                <a:solidFill>
                  <a:srgbClr val="4D555C"/>
                </a:solidFill>
                <a:latin typeface="Arial"/>
              </a:rPr>
              <a:t>99920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05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771525"/>
            <a:ext cx="112978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962025"/>
            <a:ext cx="7331875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I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work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in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Marketing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Strategic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2,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under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Ignatius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Indrawan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2394" y="1485900"/>
            <a:ext cx="110659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Ceisar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Centiaga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1666875"/>
            <a:ext cx="1350645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DIRECTOR </a:t>
            </a:r>
            <a:r>
              <a:rPr sz="825" b="0" i="0">
                <a:solidFill>
                  <a:srgbClr val="CE2C31"/>
                </a:solidFill>
                <a:latin typeface="Arial"/>
              </a:rPr>
              <a:t>IN </a:t>
            </a:r>
            <a:r>
              <a:rPr sz="825" b="0" i="0">
                <a:solidFill>
                  <a:srgbClr val="CE2C31"/>
                </a:solidFill>
                <a:latin typeface="Arial"/>
              </a:rPr>
              <a:t>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1175" y="2133600"/>
            <a:ext cx="108813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Ricardo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Tanada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9779" y="2314575"/>
            <a:ext cx="2045095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MKT </a:t>
            </a:r>
            <a:r>
              <a:rPr sz="825" b="0" i="0">
                <a:solidFill>
                  <a:srgbClr val="CE2C31"/>
                </a:solidFill>
                <a:latin typeface="Arial"/>
              </a:rPr>
              <a:t>UNIT </a:t>
            </a:r>
            <a:r>
              <a:rPr sz="825" b="0" i="0">
                <a:solidFill>
                  <a:srgbClr val="CE2C31"/>
                </a:solidFill>
                <a:latin typeface="Arial"/>
              </a:rPr>
              <a:t>&amp; </a:t>
            </a:r>
            <a:r>
              <a:rPr sz="825" b="0" i="0">
                <a:solidFill>
                  <a:srgbClr val="CE2C31"/>
                </a:solidFill>
                <a:latin typeface="Arial"/>
              </a:rPr>
              <a:t>STRATEGIC </a:t>
            </a:r>
            <a:r>
              <a:rPr sz="825" b="0" i="0">
                <a:solidFill>
                  <a:srgbClr val="CE2C31"/>
                </a:solidFill>
                <a:latin typeface="Arial"/>
              </a:rPr>
              <a:t>DIV </a:t>
            </a:r>
            <a:r>
              <a:rPr sz="825" b="0" i="0">
                <a:solidFill>
                  <a:srgbClr val="CE2C31"/>
                </a:solidFill>
                <a:latin typeface="Arial"/>
              </a:rPr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1410" y="2962275"/>
            <a:ext cx="107740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Kresnanto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A.W.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179" y="3143250"/>
            <a:ext cx="145934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MKT </a:t>
            </a:r>
            <a:r>
              <a:rPr sz="825" b="0" i="0">
                <a:solidFill>
                  <a:srgbClr val="CE2C31"/>
                </a:solidFill>
                <a:latin typeface="Arial"/>
              </a:rPr>
              <a:t>STRATEGIC </a:t>
            </a:r>
            <a:r>
              <a:rPr sz="825" b="0" i="0">
                <a:solidFill>
                  <a:srgbClr val="CE2C31"/>
                </a:solidFill>
                <a:latin typeface="Arial"/>
              </a:rPr>
              <a:t>1 </a:t>
            </a:r>
            <a:r>
              <a:rPr sz="825" b="0" i="0">
                <a:solidFill>
                  <a:srgbClr val="CE2C31"/>
                </a:solidFill>
                <a:latin typeface="Arial"/>
              </a:rPr>
              <a:t>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3572619"/>
            <a:ext cx="72939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Satrio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F.R.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3763119"/>
            <a:ext cx="159406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Big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Suppeq,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Big </a:t>
            </a:r>
            <a:r>
              <a:rPr sz="825" b="0" i="0">
                <a:solidFill>
                  <a:srgbClr val="4D555C"/>
                </a:solidFill>
                <a:latin typeface="Arial"/>
              </a:rPr>
              <a:t>Vessel,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Bucket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4191744"/>
            <a:ext cx="92580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M.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Fawwaz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J.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4382244"/>
            <a:ext cx="242276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Cabin,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Forestry,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Agro,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Forklift,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Towerlamp,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Pump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2888" y="2962275"/>
            <a:ext cx="130016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Ricardo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Tanada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729" y="3143250"/>
            <a:ext cx="145934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MKT </a:t>
            </a:r>
            <a:r>
              <a:rPr sz="825" b="0" i="0">
                <a:solidFill>
                  <a:srgbClr val="CE2C31"/>
                </a:solidFill>
                <a:latin typeface="Arial"/>
              </a:rPr>
              <a:t>STRATEGIC </a:t>
            </a:r>
            <a:r>
              <a:rPr sz="825" b="0" i="0">
                <a:solidFill>
                  <a:srgbClr val="CE2C31"/>
                </a:solidFill>
                <a:latin typeface="Arial"/>
              </a:rPr>
              <a:t>2 </a:t>
            </a:r>
            <a:r>
              <a:rPr sz="825" b="0" i="0">
                <a:solidFill>
                  <a:srgbClr val="CE2C31"/>
                </a:solidFill>
                <a:latin typeface="Arial"/>
              </a:rPr>
              <a:t>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9756" y="3581400"/>
            <a:ext cx="141264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Ignatius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Indrawan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2317" y="3762375"/>
            <a:ext cx="877214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DEPUTY </a:t>
            </a:r>
            <a:r>
              <a:rPr sz="825" b="0" i="0">
                <a:solidFill>
                  <a:srgbClr val="CE2C31"/>
                </a:solidFill>
                <a:latin typeface="Arial"/>
              </a:rPr>
              <a:t>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91744"/>
            <a:ext cx="98622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Ervin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Bahar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382244"/>
            <a:ext cx="204446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Medium </a:t>
            </a:r>
            <a:r>
              <a:rPr sz="825" b="0" i="0">
                <a:solidFill>
                  <a:srgbClr val="4D555C"/>
                </a:solidFill>
                <a:latin typeface="Arial"/>
              </a:rPr>
              <a:t>Vessel,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Man </a:t>
            </a:r>
            <a:r>
              <a:rPr sz="825" b="0" i="0">
                <a:solidFill>
                  <a:srgbClr val="4D555C"/>
                </a:solidFill>
                <a:latin typeface="Arial"/>
              </a:rPr>
              <a:t>Hauler,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Bus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Scania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810869"/>
            <a:ext cx="89188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FF5A1F"/>
                </a:solidFill>
                <a:latin typeface="Arial"/>
              </a:rPr>
              <a:t>Tiberias </a:t>
            </a:r>
            <a:r>
              <a:rPr sz="1050" b="1" i="0">
                <a:solidFill>
                  <a:srgbClr val="FF5A1F"/>
                </a:solidFill>
                <a:latin typeface="Arial"/>
              </a:rPr>
              <a:t>K.S.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8666" y="4868019"/>
            <a:ext cx="29224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076932"/>
                </a:solidFill>
                <a:latin typeface="Arial"/>
              </a:rPr>
              <a:t>◄ </a:t>
            </a:r>
            <a:r>
              <a:rPr sz="675" b="1" i="0">
                <a:solidFill>
                  <a:srgbClr val="076932"/>
                </a:solidFill>
                <a:latin typeface="Arial"/>
              </a:rPr>
              <a:t>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01369"/>
            <a:ext cx="142700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FF5A1F"/>
                </a:solidFill>
                <a:latin typeface="Arial"/>
              </a:rPr>
              <a:t>Small </a:t>
            </a:r>
            <a:r>
              <a:rPr sz="825" b="0" i="0">
                <a:solidFill>
                  <a:srgbClr val="FF5A1F"/>
                </a:solidFill>
                <a:latin typeface="Arial"/>
              </a:rPr>
              <a:t>Suppeq, </a:t>
            </a:r>
            <a:r>
              <a:rPr sz="825" b="0" i="0">
                <a:solidFill>
                  <a:srgbClr val="FF5A1F"/>
                </a:solidFill>
                <a:latin typeface="Arial"/>
              </a:rPr>
              <a:t>Truck </a:t>
            </a:r>
            <a:r>
              <a:rPr sz="825" b="0" i="0">
                <a:solidFill>
                  <a:srgbClr val="FF5A1F"/>
                </a:solidFill>
                <a:latin typeface="Arial"/>
              </a:rPr>
              <a:t>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429994"/>
            <a:ext cx="47808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620494"/>
            <a:ext cx="21801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Mining </a:t>
            </a:r>
            <a:r>
              <a:rPr sz="825" b="0" i="0">
                <a:solidFill>
                  <a:srgbClr val="4D555C"/>
                </a:solidFill>
                <a:latin typeface="Arial"/>
              </a:rPr>
              <a:t>/ </a:t>
            </a:r>
            <a:r>
              <a:rPr sz="825" b="0" i="0">
                <a:solidFill>
                  <a:srgbClr val="4D555C"/>
                </a:solidFill>
                <a:latin typeface="Arial"/>
              </a:rPr>
              <a:t>Non-mining </a:t>
            </a:r>
            <a:r>
              <a:rPr sz="825" b="0" i="0">
                <a:solidFill>
                  <a:srgbClr val="4D555C"/>
                </a:solidFill>
                <a:latin typeface="Arial"/>
              </a:rPr>
              <a:t>Trailer,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Overseas </a:t>
            </a:r>
            <a:r>
              <a:rPr sz="825" b="0" i="0">
                <a:solidFill>
                  <a:srgbClr val="4D555C"/>
                </a:solidFill>
                <a:latin typeface="Arial"/>
              </a:rPr>
              <a:t>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3248" y="6019800"/>
            <a:ext cx="123579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697177"/>
                </a:solidFill>
                <a:latin typeface="Arial"/>
              </a:rPr>
              <a:t>Nandu </a:t>
            </a:r>
            <a:r>
              <a:rPr sz="825" b="0" i="0">
                <a:solidFill>
                  <a:srgbClr val="697177"/>
                </a:solidFill>
                <a:latin typeface="Arial"/>
              </a:rPr>
              <a:t>Narpati </a:t>
            </a:r>
            <a:r>
              <a:rPr sz="825" b="0" i="0">
                <a:solidFill>
                  <a:srgbClr val="697177"/>
                </a:solidFill>
                <a:latin typeface="Arial"/>
              </a:rPr>
              <a:t>— </a:t>
            </a:r>
            <a:r>
              <a:rPr sz="825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8506" y="2962275"/>
            <a:ext cx="94157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Ugik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Praseno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279" y="3143250"/>
            <a:ext cx="1459340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MKT </a:t>
            </a:r>
            <a:r>
              <a:rPr sz="825" b="0" i="0">
                <a:solidFill>
                  <a:srgbClr val="CE2C31"/>
                </a:solidFill>
                <a:latin typeface="Arial"/>
              </a:rPr>
              <a:t>STRATEGIC </a:t>
            </a:r>
            <a:r>
              <a:rPr sz="825" b="0" i="0">
                <a:solidFill>
                  <a:srgbClr val="CE2C31"/>
                </a:solidFill>
                <a:latin typeface="Arial"/>
              </a:rPr>
              <a:t>3 </a:t>
            </a:r>
            <a:r>
              <a:rPr sz="825" b="0" i="0">
                <a:solidFill>
                  <a:srgbClr val="CE2C31"/>
                </a:solidFill>
                <a:latin typeface="Arial"/>
              </a:rPr>
              <a:t>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3572619"/>
            <a:ext cx="54876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5550" y="3763119"/>
            <a:ext cx="127271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Mineral </a:t>
            </a:r>
            <a:r>
              <a:rPr sz="825" b="0" i="0">
                <a:solidFill>
                  <a:srgbClr val="4D555C"/>
                </a:solidFill>
                <a:latin typeface="Arial"/>
              </a:rPr>
              <a:t>Processing,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EPC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5550" y="4191744"/>
            <a:ext cx="808116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Yuda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Prana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5550" y="4382244"/>
            <a:ext cx="146407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Maritime,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Renewable </a:t>
            </a:r>
            <a:r>
              <a:rPr sz="825" b="0" i="0">
                <a:solidFill>
                  <a:srgbClr val="4D555C"/>
                </a:solidFill>
                <a:latin typeface="Arial"/>
              </a:rPr>
              <a:t>Energy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5550" y="4810869"/>
            <a:ext cx="46231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5550" y="5001369"/>
            <a:ext cx="110612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Ultra </a:t>
            </a:r>
            <a:r>
              <a:rPr sz="825" b="0" i="0">
                <a:solidFill>
                  <a:srgbClr val="4D555C"/>
                </a:solidFill>
                <a:latin typeface="Arial"/>
              </a:rPr>
              <a:t>Product </a:t>
            </a:r>
            <a:r>
              <a:rPr sz="825" b="0" i="0">
                <a:solidFill>
                  <a:srgbClr val="4D555C"/>
                </a:solidFill>
                <a:latin typeface="Arial"/>
              </a:rPr>
              <a:t>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5550" y="5429994"/>
            <a:ext cx="47019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5550" y="5620494"/>
            <a:ext cx="8098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Automation, </a:t>
            </a:r>
            <a:r>
              <a:rPr sz="825" b="0" i="0">
                <a:solidFill>
                  <a:srgbClr val="4D555C"/>
                </a:solidFill>
                <a:latin typeface="Arial"/>
              </a:rPr>
              <a:t>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3993" y="2962275"/>
            <a:ext cx="181303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Marketing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Communication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3495" y="3143250"/>
            <a:ext cx="669289" cy="1428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CE2C31"/>
                </a:solidFill>
                <a:latin typeface="Arial"/>
              </a:rPr>
              <a:t>MARCOMM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2100" y="3657600"/>
            <a:ext cx="1164018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Karina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Audina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2100" y="4276725"/>
            <a:ext cx="956882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Adinda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Siti </a:t>
            </a:r>
            <a:r>
              <a:rPr sz="1050" b="1" i="0">
                <a:solidFill>
                  <a:srgbClr val="11181C"/>
                </a:solidFill>
                <a:latin typeface="Arial"/>
              </a:rPr>
              <a:t>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2100" y="4810869"/>
            <a:ext cx="509480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1181C"/>
                </a:solidFill>
                <a:latin typeface="Arial"/>
              </a:rPr>
              <a:t>Rahma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2100" y="5001369"/>
            <a:ext cx="90229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0" i="0">
                <a:solidFill>
                  <a:srgbClr val="4D555C"/>
                </a:solidFill>
                <a:latin typeface="Arial"/>
              </a:rPr>
              <a:t>Graphic </a:t>
            </a:r>
            <a:r>
              <a:rPr sz="825" b="0" i="0">
                <a:solidFill>
                  <a:srgbClr val="4D555C"/>
                </a:solidFill>
                <a:latin typeface="Arial"/>
              </a:rPr>
              <a:t>Designer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06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81500"/>
            <a:ext cx="1771650" cy="19812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0" y="4381500"/>
            <a:ext cx="1771650" cy="198120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4381500"/>
            <a:ext cx="1771650" cy="198120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4381500"/>
            <a:ext cx="1771650" cy="198120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0" y="4381500"/>
            <a:ext cx="1771650" cy="198120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6950" y="4381500"/>
            <a:ext cx="1771650" cy="1981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1481" y="300038"/>
            <a:ext cx="386214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ROLES </a:t>
            </a:r>
            <a:r>
              <a:rPr sz="712" b="0" i="0">
                <a:solidFill>
                  <a:srgbClr val="697177"/>
                </a:solidFill>
                <a:latin typeface="Arial"/>
              </a:rPr>
              <a:t>&amp;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RESPONSIBILITY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SUPPLY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790575"/>
            <a:ext cx="314687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ROLES </a:t>
            </a:r>
            <a:r>
              <a:rPr sz="825" b="1" i="0">
                <a:solidFill>
                  <a:srgbClr val="697177"/>
                </a:solidFill>
                <a:latin typeface="Arial"/>
              </a:rPr>
              <a:t>&amp; </a:t>
            </a:r>
            <a:r>
              <a:rPr sz="825" b="1" i="0">
                <a:solidFill>
                  <a:srgbClr val="697177"/>
                </a:solidFill>
                <a:latin typeface="Arial"/>
              </a:rPr>
              <a:t>RESPONSIBILITY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SUPPLY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942975"/>
            <a:ext cx="8025536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I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take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every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order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from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inquiry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to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delivery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for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two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product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" y="1381125"/>
            <a:ext cx="475963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4D555C"/>
                </a:solidFill>
                <a:latin typeface="Arial"/>
              </a:rPr>
              <a:t>BC </a:t>
            </a:r>
            <a:r>
              <a:rPr sz="975" b="0" i="0">
                <a:solidFill>
                  <a:srgbClr val="4D555C"/>
                </a:solidFill>
                <a:latin typeface="Arial"/>
              </a:rPr>
              <a:t>= </a:t>
            </a:r>
            <a:r>
              <a:rPr sz="975" b="0" i="0">
                <a:solidFill>
                  <a:srgbClr val="4D555C"/>
                </a:solidFill>
                <a:latin typeface="Arial"/>
              </a:rPr>
              <a:t>Business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Consultant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·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=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Application </a:t>
            </a:r>
            <a:r>
              <a:rPr sz="975" b="0" i="0">
                <a:solidFill>
                  <a:srgbClr val="4D555C"/>
                </a:solidFill>
                <a:latin typeface="Arial"/>
              </a:rPr>
              <a:t>Engineering </a:t>
            </a:r>
            <a:r>
              <a:rPr sz="975" b="0" i="0">
                <a:solidFill>
                  <a:srgbClr val="4D555C"/>
                </a:solidFill>
                <a:latin typeface="Arial"/>
              </a:rPr>
              <a:t>·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MKT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=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Marketing </a:t>
            </a:r>
            <a:r>
              <a:rPr sz="975" b="0" i="0">
                <a:solidFill>
                  <a:srgbClr val="4D555C"/>
                </a:solidFill>
                <a:latin typeface="Arial"/>
              </a:rPr>
              <a:t>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17430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076932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" y="2028825"/>
            <a:ext cx="492600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12" b="1" i="0">
                <a:solidFill>
                  <a:srgbClr val="1B1B1B"/>
                </a:solidFill>
                <a:latin typeface="Arial"/>
              </a:rPr>
              <a:t>Inquiry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2209800"/>
            <a:ext cx="72939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697177"/>
                </a:solidFill>
                <a:latin typeface="Arial"/>
              </a:rPr>
              <a:t>BC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AE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419350"/>
            <a:ext cx="134196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Spec,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buying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reason,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2583656"/>
            <a:ext cx="13741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Target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price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lead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747962"/>
            <a:ext cx="98054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Expected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7045" y="26955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8045" y="17430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076932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8045" y="2028825"/>
            <a:ext cx="7806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12" b="1" i="0">
                <a:solidFill>
                  <a:srgbClr val="1B1B1B"/>
                </a:solidFill>
                <a:latin typeface="Arial"/>
              </a:rPr>
              <a:t>Preliminary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8045" y="2209800"/>
            <a:ext cx="72939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697177"/>
                </a:solidFill>
                <a:latin typeface="Arial"/>
              </a:rPr>
              <a:t>BC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AE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1395" y="2419350"/>
            <a:ext cx="123216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Repeat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or </a:t>
            </a:r>
            <a:r>
              <a:rPr sz="862" b="0" i="0">
                <a:solidFill>
                  <a:srgbClr val="4D555C"/>
                </a:solidFill>
                <a:latin typeface="Arial"/>
              </a:rPr>
              <a:t>new </a:t>
            </a:r>
            <a:r>
              <a:rPr sz="862" b="0" i="0">
                <a:solidFill>
                  <a:srgbClr val="4D555C"/>
                </a:solidFill>
                <a:latin typeface="Arial"/>
              </a:rPr>
              <a:t>drawing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1395" y="2583656"/>
            <a:ext cx="68364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Unit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1395" y="2747962"/>
            <a:ext cx="153522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Critical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parts: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price,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lead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6914" y="26955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7914" y="17430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076932"/>
                </a:solidFill>
                <a:latin typeface="Georgia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7914" y="2028825"/>
            <a:ext cx="68175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12" b="1" i="0">
                <a:solidFill>
                  <a:srgbClr val="1B1B1B"/>
                </a:solidFill>
                <a:latin typeface="Arial"/>
              </a:rPr>
              <a:t>Quotation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7914" y="2209800"/>
            <a:ext cx="1216551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Triatra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UTPE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1264" y="2419350"/>
            <a:ext cx="116764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Quote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request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51264" y="2583656"/>
            <a:ext cx="105137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Check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standard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GP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1264" y="2747962"/>
            <a:ext cx="149199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Track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SLA; </a:t>
            </a:r>
            <a:r>
              <a:rPr sz="862" b="0" i="0">
                <a:solidFill>
                  <a:srgbClr val="4D555C"/>
                </a:solidFill>
                <a:latin typeface="Arial"/>
              </a:rPr>
              <a:t>log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PCR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6784" y="26955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784" y="17430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076932"/>
                </a:solidFill>
                <a:latin typeface="Georgia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7784" y="2028825"/>
            <a:ext cx="125725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12" b="1" i="0">
                <a:solidFill>
                  <a:srgbClr val="1B1B1B"/>
                </a:solidFill>
                <a:latin typeface="Arial"/>
              </a:rPr>
              <a:t>Negotiation </a:t>
            </a:r>
            <a:r>
              <a:rPr sz="1012" b="1" i="0">
                <a:solidFill>
                  <a:srgbClr val="1B1B1B"/>
                </a:solidFill>
                <a:latin typeface="Arial"/>
              </a:rPr>
              <a:t>&amp; </a:t>
            </a:r>
            <a:r>
              <a:rPr sz="1012" b="1" i="0">
                <a:solidFill>
                  <a:srgbClr val="1B1B1B"/>
                </a:solidFill>
                <a:latin typeface="Arial"/>
              </a:rPr>
              <a:t>CPO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784" y="2209800"/>
            <a:ext cx="145870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697177"/>
                </a:solidFill>
                <a:latin typeface="Arial"/>
              </a:rPr>
              <a:t>BC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Triatra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UTPE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1134" y="2419350"/>
            <a:ext cx="110296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PO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/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PJB </a:t>
            </a:r>
            <a:r>
              <a:rPr sz="862" b="0" i="0">
                <a:solidFill>
                  <a:srgbClr val="4D555C"/>
                </a:solidFill>
                <a:latin typeface="Arial"/>
              </a:rPr>
              <a:t>vs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drawing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41134" y="2583656"/>
            <a:ext cx="125125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PN,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QFD,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painting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style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1134" y="2747962"/>
            <a:ext cx="158065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CPO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and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Interco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6653" y="26955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7653" y="1743075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076932"/>
                </a:solidFill>
                <a:latin typeface="Georgia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7653" y="2028825"/>
            <a:ext cx="75747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12" b="1" i="0">
                <a:solidFill>
                  <a:srgbClr val="1B1B1B"/>
                </a:solidFill>
                <a:latin typeface="Arial"/>
              </a:rPr>
              <a:t>Production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7653" y="2209800"/>
            <a:ext cx="145870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697177"/>
                </a:solidFill>
                <a:latin typeface="Arial"/>
              </a:rPr>
              <a:t>BC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Triatra </a:t>
            </a:r>
            <a:r>
              <a:rPr sz="675" b="1" i="0">
                <a:solidFill>
                  <a:srgbClr val="697177"/>
                </a:solidFill>
                <a:latin typeface="Arial"/>
              </a:rPr>
              <a:t>· </a:t>
            </a:r>
            <a:r>
              <a:rPr sz="675" b="1" i="0">
                <a:solidFill>
                  <a:srgbClr val="697177"/>
                </a:solidFill>
                <a:latin typeface="Arial"/>
              </a:rPr>
              <a:t>MKT </a:t>
            </a:r>
            <a:r>
              <a:rPr sz="675" b="1" i="0">
                <a:solidFill>
                  <a:srgbClr val="697177"/>
                </a:solidFill>
                <a:latin typeface="Arial"/>
              </a:rPr>
              <a:t>UTPE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1003" y="2419350"/>
            <a:ext cx="72213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Build </a:t>
            </a:r>
            <a:r>
              <a:rPr sz="862" b="0" i="0">
                <a:solidFill>
                  <a:srgbClr val="4D555C"/>
                </a:solidFill>
                <a:latin typeface="Arial"/>
              </a:rPr>
              <a:t>vs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QFD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1003" y="2583656"/>
            <a:ext cx="112678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Weekly </a:t>
            </a:r>
            <a:r>
              <a:rPr sz="862" b="0" i="0">
                <a:solidFill>
                  <a:srgbClr val="4D555C"/>
                </a:solidFill>
                <a:latin typeface="Arial"/>
              </a:rPr>
              <a:t>update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to </a:t>
            </a:r>
            <a:r>
              <a:rPr sz="862" b="0" i="0">
                <a:solidFill>
                  <a:srgbClr val="4D555C"/>
                </a:solidFill>
                <a:latin typeface="Arial"/>
              </a:rPr>
              <a:t>BC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1003" y="2747962"/>
            <a:ext cx="131373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Escalate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issues;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run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FAT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875" y="4162425"/>
            <a:ext cx="10267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SMALL </a:t>
            </a:r>
            <a:r>
              <a:rPr sz="750" b="1" i="0">
                <a:solidFill>
                  <a:srgbClr val="697177"/>
                </a:solidFill>
                <a:latin typeface="Arial"/>
              </a:rPr>
              <a:t>SUPPEQ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075" y="6181725"/>
            <a:ext cx="56895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Fuel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7925" y="6181725"/>
            <a:ext cx="64499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Water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5775" y="6181725"/>
            <a:ext cx="60587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Lube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1725" y="4162425"/>
            <a:ext cx="103418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TRUCK </a:t>
            </a:r>
            <a:r>
              <a:rPr sz="750" b="1" i="0">
                <a:solidFill>
                  <a:srgbClr val="697177"/>
                </a:solidFill>
                <a:latin typeface="Arial"/>
              </a:rPr>
              <a:t>OTHERS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7925" y="6181725"/>
            <a:ext cx="65540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Crane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5775" y="6181725"/>
            <a:ext cx="63079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Mixer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3625" y="6181725"/>
            <a:ext cx="87752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FFFFFF"/>
                </a:solidFill>
                <a:latin typeface="Arial"/>
              </a:rPr>
              <a:t>Stemming </a:t>
            </a:r>
            <a:r>
              <a:rPr sz="825" b="1" i="0">
                <a:solidFill>
                  <a:srgbClr val="FFFFFF"/>
                </a:solidFill>
                <a:latin typeface="Arial"/>
              </a:rPr>
              <a:t>truck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07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7883" y="300038"/>
            <a:ext cx="308156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STRATEGIC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4C </a:t>
            </a:r>
            <a:r>
              <a:rPr sz="712" b="0" i="0">
                <a:solidFill>
                  <a:srgbClr val="697177"/>
                </a:solidFill>
                <a:latin typeface="Arial"/>
              </a:rPr>
              <a:t>→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STP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→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790575"/>
            <a:ext cx="211245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STRATEGIC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4C </a:t>
            </a:r>
            <a:r>
              <a:rPr sz="825" b="1" i="0">
                <a:solidFill>
                  <a:srgbClr val="697177"/>
                </a:solidFill>
                <a:latin typeface="Arial"/>
              </a:rPr>
              <a:t>→ </a:t>
            </a:r>
            <a:r>
              <a:rPr sz="825" b="1" i="0">
                <a:solidFill>
                  <a:srgbClr val="697177"/>
                </a:solidFill>
                <a:latin typeface="Arial"/>
              </a:rPr>
              <a:t>STP </a:t>
            </a:r>
            <a:r>
              <a:rPr sz="825" b="1" i="0">
                <a:solidFill>
                  <a:srgbClr val="697177"/>
                </a:solidFill>
                <a:latin typeface="Arial"/>
              </a:rPr>
              <a:t>→ </a:t>
            </a:r>
            <a:r>
              <a:rPr sz="825" b="1" i="0">
                <a:solidFill>
                  <a:srgbClr val="697177"/>
                </a:solidFill>
                <a:latin typeface="Arial"/>
              </a:rPr>
              <a:t>4P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942975"/>
            <a:ext cx="9469178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Sell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two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challenger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brands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to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take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share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from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Sany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Palfinger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and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Palfinger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1771650"/>
            <a:ext cx="55081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1943100"/>
            <a:ext cx="289130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HYVA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stopped </a:t>
            </a:r>
            <a:r>
              <a:rPr sz="900" b="0" i="0">
                <a:solidFill>
                  <a:srgbClr val="11181C"/>
                </a:solidFill>
                <a:latin typeface="Arial"/>
              </a:rPr>
              <a:t>making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cranes. </a:t>
            </a:r>
            <a:r>
              <a:rPr sz="900" b="0" i="0">
                <a:solidFill>
                  <a:srgbClr val="11181C"/>
                </a:solidFill>
                <a:latin typeface="Arial"/>
              </a:rPr>
              <a:t>Medium </a:t>
            </a:r>
            <a:r>
              <a:rPr sz="900" b="0" i="0">
                <a:solidFill>
                  <a:srgbClr val="11181C"/>
                </a:solidFill>
                <a:latin typeface="Arial"/>
              </a:rPr>
              <a:t>&amp; </a:t>
            </a:r>
            <a:r>
              <a:rPr sz="900" b="0" i="0">
                <a:solidFill>
                  <a:srgbClr val="11181C"/>
                </a:solidFill>
                <a:latin typeface="Arial"/>
              </a:rPr>
              <a:t>Heavy </a:t>
            </a:r>
            <a:r>
              <a:rPr sz="900" b="0" i="0">
                <a:solidFill>
                  <a:srgbClr val="11181C"/>
                </a:solidFill>
                <a:latin typeface="Arial"/>
              </a:rPr>
              <a:t>hold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03090"/>
            <a:ext cx="167468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B1B1B"/>
                </a:solidFill>
                <a:latin typeface="Arial"/>
              </a:rPr>
              <a:t>64% </a:t>
            </a:r>
            <a:r>
              <a:rPr sz="900" b="1" i="0">
                <a:solidFill>
                  <a:srgbClr val="1B1B1B"/>
                </a:solidFill>
                <a:latin typeface="Arial"/>
              </a:rPr>
              <a:t>of </a:t>
            </a:r>
            <a:r>
              <a:rPr sz="900" b="1" i="0">
                <a:solidFill>
                  <a:srgbClr val="1B1B1B"/>
                </a:solidFill>
                <a:latin typeface="Arial"/>
              </a:rPr>
              <a:t>value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on </a:t>
            </a:r>
            <a:r>
              <a:rPr sz="900" b="0" i="0">
                <a:solidFill>
                  <a:srgbClr val="11181C"/>
                </a:solidFill>
                <a:latin typeface="Arial"/>
              </a:rPr>
              <a:t>41%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of </a:t>
            </a:r>
            <a:r>
              <a:rPr sz="900" b="0" i="0">
                <a:solidFill>
                  <a:srgbClr val="11181C"/>
                </a:solidFill>
                <a:latin typeface="Arial"/>
              </a:rPr>
              <a:t>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971800"/>
            <a:ext cx="83745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143250"/>
            <a:ext cx="255701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2025 </a:t>
            </a:r>
            <a:r>
              <a:rPr sz="900" b="0" i="0">
                <a:solidFill>
                  <a:srgbClr val="11181C"/>
                </a:solidFill>
                <a:latin typeface="Arial"/>
              </a:rPr>
              <a:t>leaders: </a:t>
            </a:r>
            <a:r>
              <a:rPr sz="900" b="1" i="0">
                <a:solidFill>
                  <a:srgbClr val="1B1B1B"/>
                </a:solidFill>
                <a:latin typeface="Arial"/>
              </a:rPr>
              <a:t>Sany </a:t>
            </a:r>
            <a:r>
              <a:rPr sz="900" b="1" i="0">
                <a:solidFill>
                  <a:srgbClr val="1B1B1B"/>
                </a:solidFill>
                <a:latin typeface="Arial"/>
              </a:rPr>
              <a:t>Palfinger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47%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of </a:t>
            </a:r>
            <a:r>
              <a:rPr sz="900" b="0" i="0">
                <a:solidFill>
                  <a:srgbClr val="11181C"/>
                </a:solidFill>
                <a:latin typeface="Arial"/>
              </a:rPr>
              <a:t>Medium,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3303240"/>
            <a:ext cx="136926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B1B1B"/>
                </a:solidFill>
                <a:latin typeface="Arial"/>
              </a:rPr>
              <a:t>Palfinger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62%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of </a:t>
            </a:r>
            <a:r>
              <a:rPr sz="900" b="0" i="0">
                <a:solidFill>
                  <a:srgbClr val="11181C"/>
                </a:solidFill>
                <a:latin typeface="Arial"/>
              </a:rPr>
              <a:t>Heavy.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4171950"/>
            <a:ext cx="7145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4343400"/>
            <a:ext cx="309528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Medium </a:t>
            </a:r>
            <a:r>
              <a:rPr sz="900" b="0" i="0">
                <a:solidFill>
                  <a:srgbClr val="11181C"/>
                </a:solidFill>
                <a:latin typeface="Arial"/>
              </a:rPr>
              <a:t>buyers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pick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on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price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(China </a:t>
            </a:r>
            <a:r>
              <a:rPr sz="900" b="0" i="0">
                <a:solidFill>
                  <a:srgbClr val="11181C"/>
                </a:solidFill>
                <a:latin typeface="Arial"/>
              </a:rPr>
              <a:t>73%). </a:t>
            </a:r>
            <a:r>
              <a:rPr sz="900" b="0" i="0">
                <a:solidFill>
                  <a:srgbClr val="11181C"/>
                </a:solidFill>
                <a:latin typeface="Arial"/>
              </a:rPr>
              <a:t>Heavy </a:t>
            </a:r>
            <a:r>
              <a:rPr sz="900" b="0" i="0">
                <a:solidFill>
                  <a:srgbClr val="11181C"/>
                </a:solidFill>
                <a:latin typeface="Arial"/>
              </a:rPr>
              <a:t>buyers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" y="4503390"/>
            <a:ext cx="162072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pick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on </a:t>
            </a:r>
            <a:r>
              <a:rPr sz="900" b="0" i="0">
                <a:solidFill>
                  <a:srgbClr val="11181C"/>
                </a:solidFill>
                <a:latin typeface="Arial"/>
              </a:rPr>
              <a:t>quality </a:t>
            </a:r>
            <a:r>
              <a:rPr sz="900" b="0" i="0">
                <a:solidFill>
                  <a:srgbClr val="11181C"/>
                </a:solidFill>
                <a:latin typeface="Arial"/>
              </a:rPr>
              <a:t>(Europe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85%).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5372100"/>
            <a:ext cx="6344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5543550"/>
            <a:ext cx="278592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Partner </a:t>
            </a:r>
            <a:r>
              <a:rPr sz="900" b="1" i="0">
                <a:solidFill>
                  <a:srgbClr val="1B1B1B"/>
                </a:solidFill>
                <a:latin typeface="Arial"/>
              </a:rPr>
              <a:t>F.lli </a:t>
            </a:r>
            <a:r>
              <a:rPr sz="900" b="1" i="0">
                <a:solidFill>
                  <a:srgbClr val="1B1B1B"/>
                </a:solidFill>
                <a:latin typeface="Arial"/>
              </a:rPr>
              <a:t>Ferrari </a:t>
            </a:r>
            <a:r>
              <a:rPr sz="900" b="0" i="0">
                <a:solidFill>
                  <a:srgbClr val="11181C"/>
                </a:solidFill>
                <a:latin typeface="Arial"/>
              </a:rPr>
              <a:t>and </a:t>
            </a:r>
            <a:r>
              <a:rPr sz="900" b="1" i="0">
                <a:solidFill>
                  <a:srgbClr val="1B1B1B"/>
                </a:solidFill>
                <a:latin typeface="Arial"/>
              </a:rPr>
              <a:t>XCMG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to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serve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both </a:t>
            </a:r>
            <a:r>
              <a:rPr sz="900" b="0" i="0">
                <a:solidFill>
                  <a:srgbClr val="11181C"/>
                </a:solidFill>
                <a:latin typeface="Arial"/>
              </a:rPr>
              <a:t>buyer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" y="5703540"/>
            <a:ext cx="361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types.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6713" y="3867150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7238" y="1771650"/>
            <a:ext cx="27315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STP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7238" y="1943100"/>
            <a:ext cx="129069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B1B1B"/>
                </a:solidFill>
                <a:latin typeface="Arial"/>
              </a:rPr>
              <a:t>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2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classes, </a:t>
            </a:r>
            <a:r>
              <a:rPr sz="900" b="0" i="0">
                <a:solidFill>
                  <a:srgbClr val="11181C"/>
                </a:solidFill>
                <a:latin typeface="Arial"/>
              </a:rPr>
              <a:t>10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tm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7238" y="2103090"/>
            <a:ext cx="107330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B1B1B"/>
                </a:solidFill>
                <a:latin typeface="Arial"/>
              </a:rPr>
              <a:t>T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Top </a:t>
            </a:r>
            <a:r>
              <a:rPr sz="900" b="0" i="0">
                <a:solidFill>
                  <a:srgbClr val="11181C"/>
                </a:solidFill>
                <a:latin typeface="Arial"/>
              </a:rPr>
              <a:t>1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of </a:t>
            </a:r>
            <a:r>
              <a:rPr sz="900" b="0" i="0">
                <a:solidFill>
                  <a:srgbClr val="11181C"/>
                </a:solidFill>
                <a:latin typeface="Arial"/>
              </a:rPr>
              <a:t>each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238" y="2263080"/>
            <a:ext cx="390095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B1B1B"/>
                </a:solidFill>
                <a:latin typeface="Arial"/>
              </a:rPr>
              <a:t>P </a:t>
            </a:r>
            <a:r>
              <a:rPr sz="900" b="0" i="0">
                <a:solidFill>
                  <a:srgbClr val="11181C"/>
                </a:solidFill>
                <a:latin typeface="Arial"/>
              </a:rPr>
              <a:t>XCMG: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same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capacity, </a:t>
            </a:r>
            <a:r>
              <a:rPr sz="900" b="0" i="0">
                <a:solidFill>
                  <a:srgbClr val="11181C"/>
                </a:solidFill>
                <a:latin typeface="Arial"/>
              </a:rPr>
              <a:t>lower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price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·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Ferrari: </a:t>
            </a:r>
            <a:r>
              <a:rPr sz="900" b="0" i="0">
                <a:solidFill>
                  <a:srgbClr val="11181C"/>
                </a:solidFill>
                <a:latin typeface="Arial"/>
              </a:rPr>
              <a:t>European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features,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faster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238" y="2423071"/>
            <a:ext cx="45568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1038" y="2783086"/>
            <a:ext cx="15515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9470" y="2783086"/>
            <a:ext cx="29098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Top </a:t>
            </a:r>
            <a:r>
              <a:rPr sz="637" b="1" i="0">
                <a:solidFill>
                  <a:srgbClr val="697177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8337" y="2783086"/>
            <a:ext cx="542294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Challenger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3246" y="2783086"/>
            <a:ext cx="428393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vs </a:t>
            </a:r>
            <a:r>
              <a:rPr sz="637" b="1" i="0">
                <a:solidFill>
                  <a:srgbClr val="697177"/>
                </a:solidFill>
                <a:latin typeface="Arial"/>
              </a:rPr>
              <a:t>Top </a:t>
            </a:r>
            <a:r>
              <a:rPr sz="637" b="1" i="0">
                <a:solidFill>
                  <a:srgbClr val="697177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1038" y="2973586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25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470" y="2973586"/>
            <a:ext cx="8573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Amco </a:t>
            </a:r>
            <a:r>
              <a:rPr sz="787" b="0" i="0">
                <a:solidFill>
                  <a:srgbClr val="1B1B1B"/>
                </a:solidFill>
                <a:latin typeface="Arial"/>
              </a:rPr>
              <a:t>Veba </a:t>
            </a:r>
            <a:r>
              <a:rPr sz="787" b="0" i="0">
                <a:solidFill>
                  <a:srgbClr val="1B1B1B"/>
                </a:solidFill>
                <a:latin typeface="Arial"/>
              </a:rPr>
              <a:t>V825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8337" y="2973586"/>
            <a:ext cx="70999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268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1485" y="2959298"/>
            <a:ext cx="37759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076932"/>
                </a:solidFill>
                <a:latin typeface="Arial"/>
              </a:rPr>
              <a:t>−23%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1038" y="3192661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30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9470" y="3192661"/>
            <a:ext cx="12640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Sany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SPK32080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8337" y="3192661"/>
            <a:ext cx="86885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SQZ325.4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0392" y="3178373"/>
            <a:ext cx="30455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F0ECE8"/>
                </a:solidFill>
                <a:latin typeface="Arial"/>
              </a:rPr>
              <a:t>+4%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1038" y="3411736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35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9470" y="3411736"/>
            <a:ext cx="12640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Sany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SPK36080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8337" y="3411736"/>
            <a:ext cx="86885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SQZ365.4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0392" y="3397448"/>
            <a:ext cx="30455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076932"/>
                </a:solidFill>
                <a:latin typeface="Arial"/>
              </a:rPr>
              <a:t>−9%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1038" y="3616523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40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9470" y="3616523"/>
            <a:ext cx="12640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Sany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SPK42502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8337" y="3616523"/>
            <a:ext cx="70999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746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4879" y="3621286"/>
            <a:ext cx="3633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CE2C31"/>
                </a:solidFill>
                <a:latin typeface="Arial"/>
              </a:rPr>
              <a:t>+48%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1038" y="3821311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45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9470" y="3821311"/>
            <a:ext cx="8573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Amco </a:t>
            </a:r>
            <a:r>
              <a:rPr sz="787" b="0" i="0">
                <a:solidFill>
                  <a:srgbClr val="1B1B1B"/>
                </a:solidFill>
                <a:latin typeface="Arial"/>
              </a:rPr>
              <a:t>Veba </a:t>
            </a:r>
            <a:r>
              <a:rPr sz="787" b="0" i="0">
                <a:solidFill>
                  <a:srgbClr val="1B1B1B"/>
                </a:solidFill>
                <a:latin typeface="Arial"/>
              </a:rPr>
              <a:t>V950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8337" y="3821311"/>
            <a:ext cx="99853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FBR450R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31485" y="3807023"/>
            <a:ext cx="37759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076932"/>
                </a:solidFill>
                <a:latin typeface="Arial"/>
              </a:rPr>
              <a:t>−32%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1038" y="4026098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50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9470" y="4026098"/>
            <a:ext cx="95167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PK </a:t>
            </a:r>
            <a:r>
              <a:rPr sz="787" b="0" i="0">
                <a:solidFill>
                  <a:srgbClr val="1B1B1B"/>
                </a:solidFill>
                <a:latin typeface="Arial"/>
              </a:rPr>
              <a:t>53002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8337" y="4026098"/>
            <a:ext cx="92201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9601CR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4879" y="4030861"/>
            <a:ext cx="3633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CE2C31"/>
                </a:solidFill>
                <a:latin typeface="Arial"/>
              </a:rPr>
              <a:t>+85%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1038" y="4230886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60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69470" y="4230886"/>
            <a:ext cx="126403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Sany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SPK61502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8337" y="4230886"/>
            <a:ext cx="69216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9661C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7267" y="4216598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21038" y="4435673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70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9470" y="4435673"/>
            <a:ext cx="123437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PK </a:t>
            </a:r>
            <a:r>
              <a:rPr sz="787" b="0" i="0">
                <a:solidFill>
                  <a:srgbClr val="1B1B1B"/>
                </a:solidFill>
                <a:latin typeface="Arial"/>
              </a:rPr>
              <a:t>76002 </a:t>
            </a:r>
            <a:r>
              <a:rPr sz="787" b="0" i="0">
                <a:solidFill>
                  <a:srgbClr val="1B1B1B"/>
                </a:solidFill>
                <a:latin typeface="Arial"/>
              </a:rPr>
              <a:t>EH </a:t>
            </a:r>
            <a:r>
              <a:rPr sz="787" b="0" i="0">
                <a:solidFill>
                  <a:srgbClr val="1B1B1B"/>
                </a:solidFill>
                <a:latin typeface="Arial"/>
              </a:rP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8337" y="4435673"/>
            <a:ext cx="63316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990R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44879" y="4440436"/>
            <a:ext cx="3633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CE2C31"/>
                </a:solidFill>
                <a:latin typeface="Arial"/>
              </a:rPr>
              <a:t>+79%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1038" y="4640461"/>
            <a:ext cx="39195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80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– </a:t>
            </a:r>
            <a:r>
              <a:rPr sz="787" b="0" i="0">
                <a:solidFill>
                  <a:srgbClr val="1B1B1B"/>
                </a:solidFill>
                <a:latin typeface="Arial"/>
              </a:rPr>
              <a:t>85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9470" y="4640461"/>
            <a:ext cx="123437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PK </a:t>
            </a:r>
            <a:r>
              <a:rPr sz="787" b="0" i="0">
                <a:solidFill>
                  <a:srgbClr val="1B1B1B"/>
                </a:solidFill>
                <a:latin typeface="Arial"/>
              </a:rPr>
              <a:t>88002 </a:t>
            </a:r>
            <a:r>
              <a:rPr sz="787" b="0" i="0">
                <a:solidFill>
                  <a:srgbClr val="1B1B1B"/>
                </a:solidFill>
                <a:latin typeface="Arial"/>
              </a:rPr>
              <a:t>EH </a:t>
            </a:r>
            <a:r>
              <a:rPr sz="787" b="0" i="0">
                <a:solidFill>
                  <a:srgbClr val="1B1B1B"/>
                </a:solidFill>
                <a:latin typeface="Arial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8337" y="4640461"/>
            <a:ext cx="107867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TBC </a:t>
            </a:r>
            <a:r>
              <a:rPr sz="787" b="0" i="0">
                <a:solidFill>
                  <a:srgbClr val="1B1B1B"/>
                </a:solidFill>
                <a:latin typeface="Arial"/>
              </a:rPr>
              <a:t>(price </a:t>
            </a:r>
            <a:r>
              <a:rPr sz="787" b="0" i="0">
                <a:solidFill>
                  <a:srgbClr val="1B1B1B"/>
                </a:solidFill>
                <a:latin typeface="Arial"/>
              </a:rPr>
              <a:t>list)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7267" y="4626173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6538" y="3867150"/>
            <a:ext cx="260223" cy="2571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650" b="0" i="0">
                <a:solidFill>
                  <a:srgbClr val="22C96A"/>
                </a:solidFill>
                <a:latin typeface="Arial"/>
              </a:rP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47063" y="1771650"/>
            <a:ext cx="62543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PRODUCT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47063" y="1943100"/>
            <a:ext cx="3028399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One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challenger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model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per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tier;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show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features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the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leader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7063" y="2103090"/>
            <a:ext cx="34793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lacks.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47063" y="2971800"/>
            <a:ext cx="41214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47063" y="3143250"/>
            <a:ext cx="309860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XCMG: </a:t>
            </a:r>
            <a:r>
              <a:rPr sz="900" b="0" i="0">
                <a:solidFill>
                  <a:srgbClr val="11181C"/>
                </a:solidFill>
                <a:latin typeface="Arial"/>
              </a:rPr>
              <a:t>get </a:t>
            </a:r>
            <a:r>
              <a:rPr sz="900" b="0" i="0">
                <a:solidFill>
                  <a:srgbClr val="11181C"/>
                </a:solidFill>
                <a:latin typeface="Arial"/>
              </a:rPr>
              <a:t>a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special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price.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Ferrari: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cut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price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where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gap </a:t>
            </a:r>
            <a:r>
              <a:rPr sz="900" b="0" i="0">
                <a:solidFill>
                  <a:srgbClr val="11181C"/>
                </a:solidFill>
                <a:latin typeface="Arial"/>
              </a:rPr>
              <a:t>&gt;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7063" y="3303240"/>
            <a:ext cx="31433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30%.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47063" y="4171950"/>
            <a:ext cx="44401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PLACE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47063" y="4343400"/>
            <a:ext cx="290345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Ferrari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stocks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units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in </a:t>
            </a:r>
            <a:r>
              <a:rPr sz="900" b="0" i="0">
                <a:solidFill>
                  <a:srgbClr val="11181C"/>
                </a:solidFill>
                <a:latin typeface="Arial"/>
              </a:rPr>
              <a:t>China </a:t>
            </a:r>
            <a:r>
              <a:rPr sz="900" b="0" i="0">
                <a:solidFill>
                  <a:srgbClr val="11181C"/>
                </a:solidFill>
                <a:latin typeface="Arial"/>
              </a:rPr>
              <a:t>(~14 </a:t>
            </a:r>
            <a:r>
              <a:rPr sz="900" b="0" i="0">
                <a:solidFill>
                  <a:srgbClr val="11181C"/>
                </a:solidFill>
                <a:latin typeface="Arial"/>
              </a:rPr>
              <a:t>weeks) </a:t>
            </a:r>
            <a:r>
              <a:rPr sz="900" b="0" i="0">
                <a:solidFill>
                  <a:srgbClr val="11181C"/>
                </a:solidFill>
                <a:latin typeface="Arial"/>
              </a:rPr>
              <a:t>and </a:t>
            </a:r>
            <a:r>
              <a:rPr sz="900" b="0" i="0">
                <a:solidFill>
                  <a:srgbClr val="11181C"/>
                </a:solidFill>
                <a:latin typeface="Arial"/>
              </a:rPr>
              <a:t>parts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in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7063" y="4503390"/>
            <a:ext cx="54986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Malaysia.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7063" y="5372100"/>
            <a:ext cx="77498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PROMOTION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47063" y="5543550"/>
            <a:ext cx="278923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Crane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+ </a:t>
            </a:r>
            <a:r>
              <a:rPr sz="900" b="0" i="0">
                <a:solidFill>
                  <a:srgbClr val="11181C"/>
                </a:solidFill>
                <a:latin typeface="Arial"/>
              </a:rPr>
              <a:t>flatdeck </a:t>
            </a:r>
            <a:r>
              <a:rPr sz="900" b="0" i="0">
                <a:solidFill>
                  <a:srgbClr val="11181C"/>
                </a:solidFill>
                <a:latin typeface="Arial"/>
              </a:rPr>
              <a:t>+ </a:t>
            </a:r>
            <a:r>
              <a:rPr sz="900" b="0" i="0">
                <a:solidFill>
                  <a:srgbClr val="11181C"/>
                </a:solidFill>
                <a:latin typeface="Arial"/>
              </a:rPr>
              <a:t>install </a:t>
            </a:r>
            <a:r>
              <a:rPr sz="900" b="0" i="0">
                <a:solidFill>
                  <a:srgbClr val="11181C"/>
                </a:solidFill>
                <a:latin typeface="Arial"/>
              </a:rPr>
              <a:t>bundle </a:t>
            </a:r>
            <a:r>
              <a:rPr sz="900" b="0" i="0">
                <a:solidFill>
                  <a:srgbClr val="11181C"/>
                </a:solidFill>
                <a:latin typeface="Arial"/>
              </a:rPr>
              <a:t>(+2-yr </a:t>
            </a:r>
            <a:r>
              <a:rPr sz="900" b="0" i="0">
                <a:solidFill>
                  <a:srgbClr val="11181C"/>
                </a:solidFill>
                <a:latin typeface="Arial"/>
              </a:rPr>
              <a:t>warranty </a:t>
            </a:r>
            <a:r>
              <a:rPr sz="900" b="0" i="0">
                <a:solidFill>
                  <a:srgbClr val="11181C"/>
                </a:solidFill>
                <a:latin typeface="Arial"/>
              </a:rPr>
              <a:t>on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47063" y="5703540"/>
            <a:ext cx="231375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1181C"/>
                </a:solidFill>
                <a:latin typeface="Arial"/>
              </a:rPr>
              <a:t>Ferrari). </a:t>
            </a:r>
            <a:r>
              <a:rPr sz="900" b="0" i="0">
                <a:solidFill>
                  <a:srgbClr val="11181C"/>
                </a:solidFill>
                <a:latin typeface="Arial"/>
              </a:rPr>
              <a:t>Exhibitions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with </a:t>
            </a:r>
            <a:r>
              <a:rPr sz="900" b="0" i="0">
                <a:solidFill>
                  <a:srgbClr val="11181C"/>
                </a:solidFill>
                <a:latin typeface="Arial"/>
              </a:rPr>
              <a:t>Marcom </a:t>
            </a:r>
            <a:r>
              <a:rPr sz="900" b="0" i="0">
                <a:solidFill>
                  <a:srgbClr val="11181C"/>
                </a:solidFill>
                <a:latin typeface="Arial"/>
              </a:rPr>
              <a:t>sales </a:t>
            </a:r>
            <a:r>
              <a:rPr sz="900" b="0" i="0">
                <a:solidFill>
                  <a:srgbClr val="11181C"/>
                </a:solidFill>
                <a:latin typeface="Arial"/>
              </a:rPr>
              <a:t>kit.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08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65295" y="300038"/>
            <a:ext cx="256490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PROJECT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790575"/>
            <a:ext cx="143946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PROJECT </a:t>
            </a:r>
            <a:r>
              <a:rPr sz="825" b="1" i="0">
                <a:solidFill>
                  <a:srgbClr val="697177"/>
                </a:solidFill>
                <a:latin typeface="Arial"/>
              </a:rPr>
              <a:t>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942975"/>
            <a:ext cx="8347993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Sell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the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first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Ferrari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and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XCMG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challenger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cranes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by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March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1771650"/>
            <a:ext cx="90308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1943100"/>
            <a:ext cx="504628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B1B1B"/>
                </a:solidFill>
                <a:latin typeface="Arial"/>
              </a:rPr>
              <a:t>HYVA </a:t>
            </a:r>
            <a:r>
              <a:rPr sz="900" b="0" i="0">
                <a:solidFill>
                  <a:srgbClr val="1B1B1B"/>
                </a:solidFill>
                <a:latin typeface="Arial"/>
              </a:rPr>
              <a:t>no </a:t>
            </a:r>
            <a:r>
              <a:rPr sz="900" b="0" i="0">
                <a:solidFill>
                  <a:srgbClr val="1B1B1B"/>
                </a:solidFill>
                <a:latin typeface="Arial"/>
              </a:rPr>
              <a:t>longer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makes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cranes, </a:t>
            </a:r>
            <a:r>
              <a:rPr sz="900" b="0" i="0">
                <a:solidFill>
                  <a:srgbClr val="1B1B1B"/>
                </a:solidFill>
                <a:latin typeface="Arial"/>
              </a:rPr>
              <a:t>so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Triatra </a:t>
            </a:r>
            <a:r>
              <a:rPr sz="900" b="0" i="0">
                <a:solidFill>
                  <a:srgbClr val="1B1B1B"/>
                </a:solidFill>
                <a:latin typeface="Arial"/>
              </a:rPr>
              <a:t>has </a:t>
            </a:r>
            <a:r>
              <a:rPr sz="900" b="0" i="0">
                <a:solidFill>
                  <a:srgbClr val="1B1B1B"/>
                </a:solidFill>
                <a:latin typeface="Arial"/>
              </a:rPr>
              <a:t>no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900" b="0" i="0">
                <a:solidFill>
                  <a:srgbClr val="1B1B1B"/>
                </a:solidFill>
                <a:latin typeface="Arial"/>
              </a:rPr>
              <a:t>brand. </a:t>
            </a:r>
            <a:r>
              <a:rPr sz="900" b="0" i="0">
                <a:solidFill>
                  <a:srgbClr val="1B1B1B"/>
                </a:solidFill>
                <a:latin typeface="Arial"/>
              </a:rPr>
              <a:t>Medium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Heavy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cranes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are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108746"/>
            <a:ext cx="30959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B1B1B"/>
                </a:solidFill>
                <a:latin typeface="Arial"/>
              </a:rPr>
              <a:t>64% </a:t>
            </a:r>
            <a:r>
              <a:rPr sz="900" b="0" i="0">
                <a:solidFill>
                  <a:srgbClr val="1B1B1B"/>
                </a:solidFill>
                <a:latin typeface="Arial"/>
              </a:rPr>
              <a:t>of </a:t>
            </a:r>
            <a:r>
              <a:rPr sz="900" b="0" i="0">
                <a:solidFill>
                  <a:srgbClr val="1B1B1B"/>
                </a:solidFill>
                <a:latin typeface="Arial"/>
              </a:rPr>
              <a:t>import </a:t>
            </a:r>
            <a:r>
              <a:rPr sz="900" b="0" i="0">
                <a:solidFill>
                  <a:srgbClr val="1B1B1B"/>
                </a:solidFill>
                <a:latin typeface="Arial"/>
              </a:rPr>
              <a:t>value, </a:t>
            </a:r>
            <a:r>
              <a:rPr sz="900" b="0" i="0">
                <a:solidFill>
                  <a:srgbClr val="1B1B1B"/>
                </a:solidFill>
                <a:latin typeface="Arial"/>
              </a:rPr>
              <a:t>led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by </a:t>
            </a:r>
            <a:r>
              <a:rPr sz="900" b="0" i="0">
                <a:solidFill>
                  <a:srgbClr val="1B1B1B"/>
                </a:solidFill>
                <a:latin typeface="Arial"/>
              </a:rPr>
              <a:t>Sany </a:t>
            </a:r>
            <a:r>
              <a:rPr sz="900" b="0" i="0">
                <a:solidFill>
                  <a:srgbClr val="1B1B1B"/>
                </a:solidFill>
                <a:latin typeface="Arial"/>
              </a:rPr>
              <a:t>Palfinger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Palfinger.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2579191"/>
            <a:ext cx="37980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2750641"/>
            <a:ext cx="491202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B1B1B"/>
                </a:solidFill>
                <a:latin typeface="Arial"/>
              </a:rPr>
              <a:t>Put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cheaper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or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faster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challenger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against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the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Top </a:t>
            </a:r>
            <a:r>
              <a:rPr sz="900" b="0" i="0">
                <a:solidFill>
                  <a:srgbClr val="1B1B1B"/>
                </a:solidFill>
                <a:latin typeface="Arial"/>
              </a:rPr>
              <a:t>1 </a:t>
            </a:r>
            <a:r>
              <a:rPr sz="900" b="0" i="0">
                <a:solidFill>
                  <a:srgbClr val="1B1B1B"/>
                </a:solidFill>
                <a:latin typeface="Arial"/>
              </a:rPr>
              <a:t>in </a:t>
            </a:r>
            <a:r>
              <a:rPr sz="900" b="0" i="0">
                <a:solidFill>
                  <a:srgbClr val="1B1B1B"/>
                </a:solidFill>
                <a:latin typeface="Arial"/>
              </a:rPr>
              <a:t>each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tm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tier,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close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the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first </a:t>
            </a:r>
            <a:r>
              <a:rPr sz="900" b="0" i="0">
                <a:solidFill>
                  <a:srgbClr val="1B1B1B"/>
                </a:solidFill>
                <a:latin typeface="Arial"/>
              </a:rPr>
              <a:t>sale.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" y="3221087"/>
            <a:ext cx="45473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392537"/>
            <a:ext cx="507988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B1B1B"/>
                </a:solidFill>
                <a:latin typeface="Arial"/>
              </a:rPr>
              <a:t>Medium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Heavy </a:t>
            </a:r>
            <a:r>
              <a:rPr sz="900" b="0" i="0">
                <a:solidFill>
                  <a:srgbClr val="1B1B1B"/>
                </a:solidFill>
                <a:latin typeface="Arial"/>
              </a:rPr>
              <a:t>(&gt; </a:t>
            </a:r>
            <a:r>
              <a:rPr sz="900" b="0" i="0">
                <a:solidFill>
                  <a:srgbClr val="1B1B1B"/>
                </a:solidFill>
                <a:latin typeface="Arial"/>
              </a:rPr>
              <a:t>25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tm) </a:t>
            </a:r>
            <a:r>
              <a:rPr sz="900" b="0" i="0">
                <a:solidFill>
                  <a:srgbClr val="1B1B1B"/>
                </a:solidFill>
                <a:latin typeface="Arial"/>
              </a:rPr>
              <a:t>· </a:t>
            </a:r>
            <a:r>
              <a:rPr sz="900" b="0" i="0">
                <a:solidFill>
                  <a:srgbClr val="1B1B1B"/>
                </a:solidFill>
                <a:latin typeface="Arial"/>
              </a:rPr>
              <a:t>4C </a:t>
            </a:r>
            <a:r>
              <a:rPr sz="900" b="0" i="0">
                <a:solidFill>
                  <a:srgbClr val="1B1B1B"/>
                </a:solidFill>
                <a:latin typeface="Arial"/>
              </a:rPr>
              <a:t>→ </a:t>
            </a:r>
            <a:r>
              <a:rPr sz="900" b="0" i="0">
                <a:solidFill>
                  <a:srgbClr val="1B1B1B"/>
                </a:solidFill>
                <a:latin typeface="Arial"/>
              </a:rPr>
              <a:t>STP </a:t>
            </a:r>
            <a:r>
              <a:rPr sz="900" b="0" i="0">
                <a:solidFill>
                  <a:srgbClr val="1B1B1B"/>
                </a:solidFill>
                <a:latin typeface="Arial"/>
              </a:rPr>
              <a:t>→ </a:t>
            </a:r>
            <a:r>
              <a:rPr sz="900" b="0" i="0">
                <a:solidFill>
                  <a:srgbClr val="1B1B1B"/>
                </a:solidFill>
                <a:latin typeface="Arial"/>
              </a:rPr>
              <a:t>4P </a:t>
            </a:r>
            <a:r>
              <a:rPr sz="900" b="0" i="0">
                <a:solidFill>
                  <a:srgbClr val="1B1B1B"/>
                </a:solidFill>
                <a:latin typeface="Arial"/>
              </a:rPr>
              <a:t>·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F.lli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Ferrari, </a:t>
            </a:r>
            <a:r>
              <a:rPr sz="900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900" b="0" i="0">
                <a:solidFill>
                  <a:srgbClr val="1B1B1B"/>
                </a:solidFill>
                <a:latin typeface="Arial"/>
              </a:rPr>
              <a:t>(Fassi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for </a:t>
            </a:r>
            <a:r>
              <a:rPr sz="900" b="0" i="0">
                <a:solidFill>
                  <a:srgbClr val="1B1B1B"/>
                </a:solidFill>
                <a:latin typeface="Arial"/>
              </a:rPr>
              <a:t>Petrosea </a:t>
            </a:r>
            <a:r>
              <a:rPr sz="900" b="0" i="0">
                <a:solidFill>
                  <a:srgbClr val="1B1B1B"/>
                </a:solidFill>
                <a:latin typeface="Arial"/>
              </a:rPr>
              <a:t>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3862983"/>
            <a:ext cx="24649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043958"/>
            <a:ext cx="118279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4C, </a:t>
            </a:r>
            <a:r>
              <a:rPr sz="862" b="0" i="0">
                <a:solidFill>
                  <a:srgbClr val="1B1B1B"/>
                </a:solidFill>
                <a:latin typeface="Arial"/>
              </a:rPr>
              <a:t>STP, </a:t>
            </a:r>
            <a:r>
              <a:rPr sz="862" b="0" i="0">
                <a:solidFill>
                  <a:srgbClr val="1B1B1B"/>
                </a:solidFill>
                <a:latin typeface="Arial"/>
              </a:rPr>
              <a:t>4P </a:t>
            </a:r>
            <a:r>
              <a:rPr sz="862" b="0" i="0">
                <a:solidFill>
                  <a:srgbClr val="1B1B1B"/>
                </a:solidFill>
                <a:latin typeface="Arial"/>
              </a:rP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208264"/>
            <a:ext cx="168351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862" b="0" i="0">
                <a:solidFill>
                  <a:srgbClr val="1B1B1B"/>
                </a:solidFill>
                <a:latin typeface="Arial"/>
              </a:rPr>
              <a:t>and </a:t>
            </a:r>
            <a:r>
              <a:rPr sz="862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862" b="0" i="0">
                <a:solidFill>
                  <a:srgbClr val="1B1B1B"/>
                </a:solidFill>
                <a:latin typeface="Arial"/>
              </a:rPr>
              <a:t>terms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372570"/>
            <a:ext cx="79975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kit </a:t>
            </a:r>
            <a:r>
              <a:rPr sz="862" b="0" i="0">
                <a:solidFill>
                  <a:srgbClr val="1B1B1B"/>
                </a:solidFill>
                <a:latin typeface="Arial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536877"/>
            <a:ext cx="85149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Quotations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701183"/>
            <a:ext cx="72860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First </a:t>
            </a:r>
            <a:r>
              <a:rPr sz="862" b="0" i="0">
                <a:solidFill>
                  <a:srgbClr val="1B1B1B"/>
                </a:solidFill>
                <a:latin typeface="Arial"/>
              </a:rPr>
              <a:t>unit </a:t>
            </a:r>
            <a:r>
              <a:rPr sz="862" b="0" i="0">
                <a:solidFill>
                  <a:srgbClr val="1B1B1B"/>
                </a:solidFill>
                <a:latin typeface="Arial"/>
              </a:rPr>
              <a:t>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9706" y="3862983"/>
            <a:ext cx="52225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9706" y="4043958"/>
            <a:ext cx="1160231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500" b="0" i="0">
                <a:solidFill>
                  <a:srgbClr val="1B1B1B"/>
                </a:solidFill>
                <a:latin typeface="Georgia"/>
              </a:rPr>
              <a:t>First </a:t>
            </a:r>
            <a:r>
              <a:rPr sz="1500" b="0" i="0">
                <a:solidFill>
                  <a:srgbClr val="1B1B1B"/>
                </a:solidFill>
                <a:latin typeface="Georgia"/>
              </a:rPr>
              <a:t>unit </a:t>
            </a:r>
            <a:r>
              <a:rPr sz="1500" b="0" i="0">
                <a:solidFill>
                  <a:srgbClr val="1B1B1B"/>
                </a:solidFill>
                <a:latin typeface="Georgia"/>
              </a:rPr>
              <a:t>sold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9706" y="4291608"/>
            <a:ext cx="82894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500" b="0" i="0">
                <a:solidFill>
                  <a:srgbClr val="076932"/>
                </a:solidFill>
                <a:latin typeface="Georgia"/>
              </a:rPr>
              <a:t>Mar </a:t>
            </a:r>
            <a:r>
              <a:rPr sz="1500" b="0" i="0">
                <a:solidFill>
                  <a:srgbClr val="076932"/>
                </a:solidFill>
                <a:latin typeface="Georgia"/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3359" y="1771650"/>
            <a:ext cx="145981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TIMELINE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2026 </a:t>
            </a:r>
            <a:r>
              <a:rPr sz="712" b="1" i="0">
                <a:solidFill>
                  <a:srgbClr val="697177"/>
                </a:solidFill>
                <a:latin typeface="Arial"/>
              </a:rPr>
              <a:t>–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1934" y="1962150"/>
            <a:ext cx="34825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7215" y="1962150"/>
            <a:ext cx="19081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Jun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7224" y="1962150"/>
            <a:ext cx="16209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165" y="1962150"/>
            <a:ext cx="205008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Aug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0665" y="1962150"/>
            <a:ext cx="19554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Sep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1688" y="1962150"/>
            <a:ext cx="18118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Oct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0506" y="1962150"/>
            <a:ext cx="20027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Nov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1351" y="1962150"/>
            <a:ext cx="19554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Dec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3712" y="1962150"/>
            <a:ext cx="18607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Jan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65954" y="1962150"/>
            <a:ext cx="19081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Feb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4148" y="1962150"/>
            <a:ext cx="19081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Mar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1934" y="2114550"/>
            <a:ext cx="88052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Market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study </a:t>
            </a:r>
            <a:r>
              <a:rPr sz="787" b="0" i="0">
                <a:solidFill>
                  <a:srgbClr val="1B1B1B"/>
                </a:solidFill>
                <a:latin typeface="Arial"/>
              </a:rPr>
              <a:t>(4C)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1934" y="2276475"/>
            <a:ext cx="130331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STP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and </a:t>
            </a:r>
            <a:r>
              <a:rPr sz="787" b="0" i="0">
                <a:solidFill>
                  <a:srgbClr val="1B1B1B"/>
                </a:solidFill>
                <a:latin typeface="Arial"/>
              </a:rPr>
              <a:t>challenger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choice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1934" y="2438400"/>
            <a:ext cx="160542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87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87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and </a:t>
            </a:r>
            <a:r>
              <a:rPr sz="787" b="0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1934" y="2600325"/>
            <a:ext cx="106904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787" b="0" i="0">
                <a:solidFill>
                  <a:srgbClr val="1B1B1B"/>
                </a:solidFill>
                <a:latin typeface="Arial"/>
              </a:rPr>
              <a:t>kit </a:t>
            </a:r>
            <a:r>
              <a:rPr sz="787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87" b="0" i="0">
                <a:solidFill>
                  <a:srgbClr val="1B1B1B"/>
                </a:solidFill>
                <a:latin typeface="Arial"/>
              </a:rPr>
              <a:t>Marcom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51934" y="2762250"/>
            <a:ext cx="143457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87" b="0" i="0">
                <a:solidFill>
                  <a:srgbClr val="1B1B1B"/>
                </a:solidFill>
                <a:latin typeface="Arial"/>
              </a:rPr>
              <a:t>and </a:t>
            </a:r>
            <a:r>
              <a:rPr sz="787" b="0" i="0">
                <a:solidFill>
                  <a:srgbClr val="1B1B1B"/>
                </a:solidFill>
                <a:latin typeface="Arial"/>
              </a:rPr>
              <a:t>customer </a:t>
            </a:r>
            <a:r>
              <a:rPr sz="787" b="0" i="0">
                <a:solidFill>
                  <a:srgbClr val="1B1B1B"/>
                </a:solidFill>
                <a:latin typeface="Arial"/>
              </a:rPr>
              <a:t>visits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1934" y="2924175"/>
            <a:ext cx="157592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87" b="0" i="0">
                <a:solidFill>
                  <a:srgbClr val="1B1B1B"/>
                </a:solidFill>
                <a:latin typeface="Arial"/>
              </a:rPr>
              <a:t>Quotation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→ </a:t>
            </a:r>
            <a:r>
              <a:rPr sz="787" b="0" i="0">
                <a:solidFill>
                  <a:srgbClr val="1B1B1B"/>
                </a:solidFill>
                <a:latin typeface="Arial"/>
              </a:rPr>
              <a:t>PO </a:t>
            </a:r>
            <a:r>
              <a:rPr sz="787" b="0" i="0">
                <a:solidFill>
                  <a:srgbClr val="1B1B1B"/>
                </a:solidFill>
                <a:latin typeface="Arial"/>
              </a:rPr>
              <a:t>→ </a:t>
            </a:r>
            <a:r>
              <a:rPr sz="787" b="0" i="0">
                <a:solidFill>
                  <a:srgbClr val="1B1B1B"/>
                </a:solidFill>
                <a:latin typeface="Arial"/>
              </a:rPr>
              <a:t>first </a:t>
            </a:r>
            <a:r>
              <a:rPr sz="787" b="0" i="0">
                <a:solidFill>
                  <a:srgbClr val="1B1B1B"/>
                </a:solidFill>
                <a:latin typeface="Arial"/>
              </a:rPr>
              <a:t>unit </a:t>
            </a:r>
            <a:r>
              <a:rPr sz="787" b="0" i="0">
                <a:solidFill>
                  <a:srgbClr val="1B1B1B"/>
                </a:solidFill>
                <a:latin typeface="Arial"/>
              </a:rPr>
              <a:t>sold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23359" y="3381375"/>
            <a:ext cx="3745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3359" y="3567112"/>
            <a:ext cx="98685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697177"/>
                </a:solidFill>
                <a:latin typeface="Arial"/>
              </a:rPr>
              <a:t>Executive </a:t>
            </a:r>
            <a:r>
              <a:rPr sz="862" b="0" i="0">
                <a:solidFill>
                  <a:srgbClr val="697177"/>
                </a:solidFill>
                <a:latin typeface="Arial"/>
              </a:rPr>
              <a:t>sponsor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1609" y="3567112"/>
            <a:ext cx="84929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Ricardo </a:t>
            </a:r>
            <a:r>
              <a:rPr sz="862" b="0" i="0">
                <a:solidFill>
                  <a:srgbClr val="1B1B1B"/>
                </a:solidFill>
                <a:latin typeface="Arial"/>
              </a:rPr>
              <a:t>Tanada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3359" y="3738562"/>
            <a:ext cx="42539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697177"/>
                </a:solidFill>
                <a:latin typeface="Arial"/>
              </a:rPr>
              <a:t>Advisor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1609" y="3738562"/>
            <a:ext cx="186919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Ricardo </a:t>
            </a:r>
            <a:r>
              <a:rPr sz="862" b="0" i="0">
                <a:solidFill>
                  <a:srgbClr val="1B1B1B"/>
                </a:solidFill>
                <a:latin typeface="Arial"/>
              </a:rPr>
              <a:t>Tanada </a:t>
            </a:r>
            <a:r>
              <a:rPr sz="862" b="0" i="0">
                <a:solidFill>
                  <a:srgbClr val="1B1B1B"/>
                </a:solidFill>
                <a:latin typeface="Arial"/>
              </a:rPr>
              <a:t>· </a:t>
            </a:r>
            <a:r>
              <a:rPr sz="862" b="0" i="0">
                <a:solidFill>
                  <a:srgbClr val="1B1B1B"/>
                </a:solidFill>
                <a:latin typeface="Arial"/>
              </a:rPr>
              <a:t>Ignatius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Indrawan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23359" y="3910012"/>
            <a:ext cx="644837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697177"/>
                </a:solidFill>
                <a:latin typeface="Arial"/>
              </a:rPr>
              <a:t>Coordinator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61609" y="3910012"/>
            <a:ext cx="95483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Ignatius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Indrawan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3359" y="4081462"/>
            <a:ext cx="651305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697177"/>
                </a:solidFill>
                <a:latin typeface="Arial"/>
              </a:rPr>
              <a:t>Project </a:t>
            </a:r>
            <a:r>
              <a:rPr sz="862" b="0" i="0">
                <a:solidFill>
                  <a:srgbClr val="697177"/>
                </a:solidFill>
                <a:latin typeface="Arial"/>
              </a:rPr>
              <a:t>lead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1609" y="4081462"/>
            <a:ext cx="133739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Tiberias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Krisgaharu </a:t>
            </a:r>
            <a:r>
              <a:rPr sz="862" b="0" i="0">
                <a:solidFill>
                  <a:srgbClr val="1B1B1B"/>
                </a:solidFill>
                <a:latin typeface="Arial"/>
              </a:rPr>
              <a:t>Simu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23359" y="4252912"/>
            <a:ext cx="83824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697177"/>
                </a:solidFill>
                <a:latin typeface="Arial"/>
              </a:rPr>
              <a:t>Team </a:t>
            </a:r>
            <a:r>
              <a:rPr sz="862" b="0" i="0">
                <a:solidFill>
                  <a:srgbClr val="697177"/>
                </a:solidFill>
                <a:latin typeface="Arial"/>
              </a:rPr>
              <a:t>members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61609" y="4252912"/>
            <a:ext cx="367804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1B1B1B"/>
                </a:solidFill>
                <a:latin typeface="Arial"/>
              </a:rPr>
              <a:t>Marketing </a:t>
            </a:r>
            <a:r>
              <a:rPr sz="862" b="0" i="0">
                <a:solidFill>
                  <a:srgbClr val="1B1B1B"/>
                </a:solidFill>
                <a:latin typeface="Arial"/>
              </a:rPr>
              <a:t>Unit </a:t>
            </a:r>
            <a:r>
              <a:rPr sz="862" b="0" i="0">
                <a:solidFill>
                  <a:srgbClr val="1B1B1B"/>
                </a:solidFill>
                <a:latin typeface="Arial"/>
              </a:rPr>
              <a:t>· </a:t>
            </a:r>
            <a:r>
              <a:rPr sz="862" b="0" i="0">
                <a:solidFill>
                  <a:srgbClr val="1B1B1B"/>
                </a:solidFill>
                <a:latin typeface="Arial"/>
              </a:rPr>
              <a:t>Application </a:t>
            </a:r>
            <a:r>
              <a:rPr sz="862" b="0" i="0">
                <a:solidFill>
                  <a:srgbClr val="1B1B1B"/>
                </a:solidFill>
                <a:latin typeface="Arial"/>
              </a:rPr>
              <a:t>Engineering </a:t>
            </a:r>
            <a:r>
              <a:rPr sz="862" b="0" i="0">
                <a:solidFill>
                  <a:srgbClr val="1B1B1B"/>
                </a:solidFill>
                <a:latin typeface="Arial"/>
              </a:rPr>
              <a:t>· </a:t>
            </a:r>
            <a:r>
              <a:rPr sz="862" b="0" i="0">
                <a:solidFill>
                  <a:srgbClr val="1B1B1B"/>
                </a:solidFill>
                <a:latin typeface="Arial"/>
              </a:rPr>
              <a:t>UTPE </a:t>
            </a:r>
            <a:r>
              <a:rPr sz="862" b="0" i="0">
                <a:solidFill>
                  <a:srgbClr val="1B1B1B"/>
                </a:solidFill>
                <a:latin typeface="Arial"/>
              </a:rPr>
              <a:t>· </a:t>
            </a:r>
            <a:r>
              <a:rPr sz="862" b="0" i="0">
                <a:solidFill>
                  <a:srgbClr val="1B1B1B"/>
                </a:solidFill>
                <a:latin typeface="Arial"/>
              </a:rPr>
              <a:t>Business </a:t>
            </a:r>
            <a:r>
              <a:rPr sz="862" b="0" i="0">
                <a:solidFill>
                  <a:srgbClr val="1B1B1B"/>
                </a:solidFill>
                <a:latin typeface="Arial"/>
              </a:rPr>
              <a:t>Consultant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3359" y="4714875"/>
            <a:ext cx="11543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SUPPORT </a:t>
            </a:r>
            <a:r>
              <a:rPr sz="712" b="1" i="0">
                <a:solidFill>
                  <a:srgbClr val="697177"/>
                </a:solidFill>
                <a:latin typeface="Arial"/>
              </a:rPr>
              <a:t>NEEDED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23359" y="4886325"/>
            <a:ext cx="35994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1B1B1B"/>
                </a:solidFill>
                <a:latin typeface="Arial"/>
              </a:rPr>
              <a:t>Marcom </a:t>
            </a:r>
            <a:r>
              <a:rPr sz="900" b="0" i="0">
                <a:solidFill>
                  <a:srgbClr val="1B1B1B"/>
                </a:solidFill>
                <a:latin typeface="Arial"/>
              </a:rPr>
              <a:t>(sales </a:t>
            </a:r>
            <a:r>
              <a:rPr sz="900" b="0" i="0">
                <a:solidFill>
                  <a:srgbClr val="1B1B1B"/>
                </a:solidFill>
                <a:latin typeface="Arial"/>
              </a:rPr>
              <a:t>kit) </a:t>
            </a:r>
            <a:r>
              <a:rPr sz="900" b="0" i="0">
                <a:solidFill>
                  <a:srgbClr val="1B1B1B"/>
                </a:solidFill>
                <a:latin typeface="Arial"/>
              </a:rPr>
              <a:t>·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F.lli </a:t>
            </a:r>
            <a:r>
              <a:rPr sz="90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900" b="0" i="0">
                <a:solidFill>
                  <a:srgbClr val="1B1B1B"/>
                </a:solidFill>
                <a:latin typeface="Arial"/>
              </a:rPr>
              <a:t>(price </a:t>
            </a:r>
            <a:r>
              <a:rPr sz="900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00" b="0" i="0">
                <a:solidFill>
                  <a:srgbClr val="1B1B1B"/>
                </a:solidFill>
                <a:latin typeface="Arial"/>
              </a:rPr>
              <a:t>stock </a:t>
            </a:r>
            <a:r>
              <a:rPr sz="900" b="0" i="0">
                <a:solidFill>
                  <a:srgbClr val="1B1B1B"/>
                </a:solidFill>
                <a:latin typeface="Arial"/>
              </a:rPr>
              <a:t>terms)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09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771525"/>
            <a:ext cx="164770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STUDY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MARKET </a:t>
            </a:r>
            <a:r>
              <a:rPr sz="825" b="1" i="0">
                <a:solidFill>
                  <a:srgbClr val="697177"/>
                </a:solidFill>
                <a:latin typeface="Arial"/>
              </a:rPr>
              <a:t>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962025"/>
            <a:ext cx="7668214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Focus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on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Medium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and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Heavy: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64%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of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value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from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41%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of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419225"/>
            <a:ext cx="358954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UNITS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IMPORTED </a:t>
            </a:r>
            <a:r>
              <a:rPr sz="712" b="1" i="0">
                <a:solidFill>
                  <a:srgbClr val="697177"/>
                </a:solidFill>
                <a:latin typeface="Arial"/>
              </a:rPr>
              <a:t>PER </a:t>
            </a:r>
            <a:r>
              <a:rPr sz="712" b="1" i="0">
                <a:solidFill>
                  <a:srgbClr val="697177"/>
                </a:solidFill>
                <a:latin typeface="Arial"/>
              </a:rPr>
              <a:t>YEAR </a:t>
            </a:r>
            <a:r>
              <a:rPr sz="712" b="1" i="0">
                <a:solidFill>
                  <a:srgbClr val="697177"/>
                </a:solidFill>
                <a:latin typeface="Arial"/>
              </a:rPr>
              <a:t>BY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CLASS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2023 </a:t>
            </a:r>
            <a:r>
              <a:rPr sz="712" b="1" i="0">
                <a:solidFill>
                  <a:srgbClr val="697177"/>
                </a:solidFill>
                <a:latin typeface="Arial"/>
              </a:rPr>
              <a:t>–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2026*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1685925"/>
            <a:ext cx="6025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Light </a:t>
            </a:r>
            <a:r>
              <a:rPr sz="712" b="0" i="0">
                <a:solidFill>
                  <a:srgbClr val="697177"/>
                </a:solidFill>
                <a:latin typeface="Arial"/>
              </a:rPr>
              <a:t>(≤ </a:t>
            </a:r>
            <a:r>
              <a:rPr sz="712" b="0" i="0">
                <a:solidFill>
                  <a:srgbClr val="697177"/>
                </a:solidFill>
                <a:latin typeface="Arial"/>
              </a:rPr>
              <a:t>8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182" y="1685925"/>
            <a:ext cx="7151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Small </a:t>
            </a:r>
            <a:r>
              <a:rPr sz="712" b="0" i="0">
                <a:solidFill>
                  <a:srgbClr val="697177"/>
                </a:solidFill>
                <a:latin typeface="Arial"/>
              </a:rPr>
              <a:t>(8–25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177" y="1685925"/>
            <a:ext cx="86979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Medium </a:t>
            </a:r>
            <a:r>
              <a:rPr sz="712" b="0" i="0">
                <a:solidFill>
                  <a:srgbClr val="697177"/>
                </a:solidFill>
                <a:latin typeface="Arial"/>
              </a:rPr>
              <a:t>(25–45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024" y="1685925"/>
            <a:ext cx="72308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Heavy </a:t>
            </a:r>
            <a:r>
              <a:rPr sz="712" b="0" i="0">
                <a:solidFill>
                  <a:srgbClr val="697177"/>
                </a:solidFill>
                <a:latin typeface="Arial"/>
              </a:rPr>
              <a:t>(&gt;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45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4676775"/>
            <a:ext cx="358638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TOTAL </a:t>
            </a:r>
            <a:r>
              <a:rPr sz="712" b="1" i="0">
                <a:solidFill>
                  <a:srgbClr val="697177"/>
                </a:solidFill>
                <a:latin typeface="Arial"/>
              </a:rPr>
              <a:t>UNITS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&amp; </a:t>
            </a:r>
            <a:r>
              <a:rPr sz="712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12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2023 </a:t>
            </a:r>
            <a:r>
              <a:rPr sz="712" b="1" i="0">
                <a:solidFill>
                  <a:srgbClr val="697177"/>
                </a:solidFill>
                <a:latin typeface="Arial"/>
              </a:rPr>
              <a:t>– </a:t>
            </a:r>
            <a:r>
              <a:rPr sz="712" b="1" i="0">
                <a:solidFill>
                  <a:srgbClr val="697177"/>
                </a:solidFill>
                <a:latin typeface="Arial"/>
              </a:rPr>
              <a:t>14 </a:t>
            </a:r>
            <a:r>
              <a:rPr sz="712" b="1" i="0">
                <a:solidFill>
                  <a:srgbClr val="697177"/>
                </a:solidFill>
                <a:latin typeface="Arial"/>
              </a:rPr>
              <a:t>AUG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905375"/>
            <a:ext cx="41072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345" y="4905375"/>
            <a:ext cx="99221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LIFTING </a:t>
            </a:r>
            <a:r>
              <a:rPr sz="750" b="1" i="0">
                <a:solidFill>
                  <a:srgbClr val="697177"/>
                </a:solidFill>
                <a:latin typeface="Arial"/>
              </a:rPr>
              <a:t>MOMENT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9111" y="4905375"/>
            <a:ext cx="3712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2777" y="4905375"/>
            <a:ext cx="117174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50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50" b="1" i="0">
                <a:solidFill>
                  <a:srgbClr val="697177"/>
                </a:solidFill>
                <a:latin typeface="Arial"/>
              </a:rPr>
              <a:t>(IDR)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6089" y="4905375"/>
            <a:ext cx="421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5133975"/>
            <a:ext cx="30092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9345" y="5133975"/>
            <a:ext cx="37396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≤ </a:t>
            </a:r>
            <a:r>
              <a:rPr sz="900" b="0" i="0">
                <a:solidFill>
                  <a:srgbClr val="4D555C"/>
                </a:solidFill>
                <a:latin typeface="Arial"/>
              </a:rPr>
              <a:t>8 </a:t>
            </a:r>
            <a:r>
              <a:rPr sz="900" b="0" i="0">
                <a:solidFill>
                  <a:srgbClr val="4D555C"/>
                </a:solidFill>
                <a:latin typeface="Arial"/>
              </a:rPr>
              <a:t>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9111" y="5133975"/>
            <a:ext cx="240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177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2777" y="5133975"/>
            <a:ext cx="105989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40.118.000.000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6089" y="5133975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5410200"/>
            <a:ext cx="34115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345" y="5410200"/>
            <a:ext cx="543241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8 </a:t>
            </a:r>
            <a:r>
              <a:rPr sz="900" b="0" i="0">
                <a:solidFill>
                  <a:srgbClr val="4D555C"/>
                </a:solidFill>
                <a:latin typeface="Arial"/>
              </a:rPr>
              <a:t>– </a:t>
            </a:r>
            <a:r>
              <a:rPr sz="900" b="0" i="0">
                <a:solidFill>
                  <a:srgbClr val="4D555C"/>
                </a:solidFill>
                <a:latin typeface="Arial"/>
              </a:rPr>
              <a:t>25 </a:t>
            </a:r>
            <a:r>
              <a:rPr sz="900" b="0" i="0">
                <a:solidFill>
                  <a:srgbClr val="4D555C"/>
                </a:solidFill>
                <a:latin typeface="Arial"/>
              </a:rPr>
              <a:t>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9111" y="5410200"/>
            <a:ext cx="240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2777" y="5410200"/>
            <a:ext cx="106889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77.241.000.000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6089" y="5410200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75" y="5686425"/>
            <a:ext cx="49591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9345" y="5686425"/>
            <a:ext cx="62417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25 </a:t>
            </a:r>
            <a:r>
              <a:rPr sz="900" b="1" i="0">
                <a:solidFill>
                  <a:srgbClr val="FF5A1F"/>
                </a:solidFill>
                <a:latin typeface="Arial"/>
              </a:rPr>
              <a:t>– </a:t>
            </a:r>
            <a:r>
              <a:rPr sz="900" b="1" i="0">
                <a:solidFill>
                  <a:srgbClr val="FF5A1F"/>
                </a:solidFill>
                <a:latin typeface="Arial"/>
              </a:rPr>
              <a:t>45 </a:t>
            </a:r>
            <a:r>
              <a:rPr sz="900" b="1" i="0">
                <a:solidFill>
                  <a:srgbClr val="FF5A1F"/>
                </a:solidFill>
                <a:latin typeface="Arial"/>
              </a:rPr>
              <a:t>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9111" y="5686425"/>
            <a:ext cx="240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196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2777" y="5686425"/>
            <a:ext cx="113625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Rp </a:t>
            </a:r>
            <a:r>
              <a:rPr sz="900" b="1" i="0">
                <a:solidFill>
                  <a:srgbClr val="FF5A1F"/>
                </a:solidFill>
                <a:latin typeface="Arial"/>
              </a:rPr>
              <a:t>118.328.000.000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6089" y="5686425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36%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75" y="5962650"/>
            <a:ext cx="39526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Heavy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9345" y="5962650"/>
            <a:ext cx="45915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&gt; </a:t>
            </a:r>
            <a:r>
              <a:rPr sz="900" b="1" i="0">
                <a:solidFill>
                  <a:srgbClr val="1D5FD0"/>
                </a:solidFill>
                <a:latin typeface="Arial"/>
              </a:rPr>
              <a:t>45 </a:t>
            </a:r>
            <a:r>
              <a:rPr sz="900" b="1" i="0">
                <a:solidFill>
                  <a:srgbClr val="1D5FD0"/>
                </a:solidFill>
                <a:latin typeface="Arial"/>
              </a:rPr>
              <a:t>tm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9111" y="5962650"/>
            <a:ext cx="1729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2777" y="5962650"/>
            <a:ext cx="107551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Rp </a:t>
            </a:r>
            <a:r>
              <a:rPr sz="900" b="1" i="0">
                <a:solidFill>
                  <a:srgbClr val="1D5FD0"/>
                </a:solidFill>
                <a:latin typeface="Arial"/>
              </a:rPr>
              <a:t>91.154.000.000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6089" y="5962650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28%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775" y="6238875"/>
            <a:ext cx="31859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9111" y="6238875"/>
            <a:ext cx="24034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638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2777" y="6238875"/>
            <a:ext cx="1142878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Rp </a:t>
            </a:r>
            <a:r>
              <a:rPr sz="900" b="1" i="0">
                <a:solidFill>
                  <a:srgbClr val="11181C"/>
                </a:solidFill>
                <a:latin typeface="Arial"/>
              </a:rPr>
              <a:t>326.841.000.000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6089" y="6238875"/>
            <a:ext cx="34809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1181C"/>
                </a:solidFill>
                <a:latin typeface="Arial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1892" y="1419225"/>
            <a:ext cx="179694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AVERAGE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UNITS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PER </a:t>
            </a:r>
            <a:r>
              <a:rPr sz="712" b="1" i="0">
                <a:solidFill>
                  <a:srgbClr val="697177"/>
                </a:solidFill>
                <a:latin typeface="Arial"/>
              </a:rPr>
              <a:t>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5717" y="1704975"/>
            <a:ext cx="375071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1" i="0">
                <a:solidFill>
                  <a:srgbClr val="11181C"/>
                </a:solidFill>
                <a:latin typeface="Arial"/>
              </a:rPr>
              <a:t>67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5717" y="2066925"/>
            <a:ext cx="173210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Medium </a:t>
            </a:r>
            <a:r>
              <a:rPr sz="862" b="0" i="0">
                <a:solidFill>
                  <a:srgbClr val="4D555C"/>
                </a:solidFill>
                <a:latin typeface="Arial"/>
              </a:rPr>
              <a:t>+ </a:t>
            </a:r>
            <a:r>
              <a:rPr sz="862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target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classes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4484" y="1704975"/>
            <a:ext cx="543556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1" i="0">
                <a:solidFill>
                  <a:srgbClr val="11181C"/>
                </a:solidFill>
                <a:latin typeface="Arial"/>
              </a:rPr>
              <a:t>104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4484" y="2066925"/>
            <a:ext cx="134512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Light </a:t>
            </a:r>
            <a:r>
              <a:rPr sz="862" b="0" i="0">
                <a:solidFill>
                  <a:srgbClr val="4D555C"/>
                </a:solidFill>
                <a:latin typeface="Arial"/>
              </a:rPr>
              <a:t>+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Small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non-target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1892" y="2418755"/>
            <a:ext cx="83667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KEY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78117" y="2714030"/>
            <a:ext cx="310601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1181C"/>
                </a:solidFill>
                <a:latin typeface="Arial"/>
              </a:rPr>
              <a:t>Medium </a:t>
            </a:r>
            <a:r>
              <a:rPr sz="975" b="1" i="0">
                <a:solidFill>
                  <a:srgbClr val="11181C"/>
                </a:solidFill>
                <a:latin typeface="Arial"/>
              </a:rPr>
              <a:t>+ </a:t>
            </a:r>
            <a:r>
              <a:rPr sz="975" b="1" i="0">
                <a:solidFill>
                  <a:srgbClr val="11181C"/>
                </a:solidFill>
                <a:latin typeface="Arial"/>
              </a:rPr>
              <a:t>Heavy: </a:t>
            </a:r>
            <a:r>
              <a:rPr sz="975" b="0" i="0">
                <a:solidFill>
                  <a:srgbClr val="4D555C"/>
                </a:solidFill>
                <a:latin typeface="Arial"/>
              </a:rPr>
              <a:t>41%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of </a:t>
            </a:r>
            <a:r>
              <a:rPr sz="975" b="0" i="0">
                <a:solidFill>
                  <a:srgbClr val="4D555C"/>
                </a:solidFill>
                <a:latin typeface="Arial"/>
              </a:rPr>
              <a:t>units, </a:t>
            </a:r>
            <a:r>
              <a:rPr sz="975" b="0" i="0">
                <a:solidFill>
                  <a:srgbClr val="4D555C"/>
                </a:solidFill>
                <a:latin typeface="Arial"/>
              </a:rPr>
              <a:t>64%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of </a:t>
            </a:r>
            <a:r>
              <a:rPr sz="975" b="0" i="0">
                <a:solidFill>
                  <a:srgbClr val="4D555C"/>
                </a:solidFill>
                <a:latin typeface="Arial"/>
              </a:rPr>
              <a:t>import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8117" y="2931616"/>
            <a:ext cx="328570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1181C"/>
                </a:solidFill>
                <a:latin typeface="Arial"/>
              </a:rPr>
              <a:t>Value </a:t>
            </a:r>
            <a:r>
              <a:rPr sz="975" b="1" i="0">
                <a:solidFill>
                  <a:srgbClr val="11181C"/>
                </a:solidFill>
                <a:latin typeface="Arial"/>
              </a:rPr>
              <a:t>per </a:t>
            </a:r>
            <a:r>
              <a:rPr sz="975" b="1" i="0">
                <a:solidFill>
                  <a:srgbClr val="11181C"/>
                </a:solidFill>
                <a:latin typeface="Arial"/>
              </a:rPr>
              <a:t>unit: </a:t>
            </a:r>
            <a:r>
              <a:rPr sz="975" b="0" i="0">
                <a:solidFill>
                  <a:srgbClr val="4D555C"/>
                </a:solidFill>
                <a:latin typeface="Arial"/>
              </a:rPr>
              <a:t>Rp </a:t>
            </a:r>
            <a:r>
              <a:rPr sz="975" b="0" i="0">
                <a:solidFill>
                  <a:srgbClr val="4D555C"/>
                </a:solidFill>
                <a:latin typeface="Arial"/>
              </a:rPr>
              <a:t>803 </a:t>
            </a:r>
            <a:r>
              <a:rPr sz="975" b="0" i="0">
                <a:solidFill>
                  <a:srgbClr val="4D555C"/>
                </a:solidFill>
                <a:latin typeface="Arial"/>
              </a:rPr>
              <a:t>Jt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vs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Rp </a:t>
            </a:r>
            <a:r>
              <a:rPr sz="975" b="0" i="0">
                <a:solidFill>
                  <a:srgbClr val="4D555C"/>
                </a:solidFill>
                <a:latin typeface="Arial"/>
              </a:rPr>
              <a:t>311 </a:t>
            </a:r>
            <a:r>
              <a:rPr sz="975" b="0" i="0">
                <a:solidFill>
                  <a:srgbClr val="4D555C"/>
                </a:solidFill>
                <a:latin typeface="Arial"/>
              </a:rPr>
              <a:t>Jt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for </a:t>
            </a:r>
            <a:r>
              <a:rPr sz="975" b="0" i="0">
                <a:solidFill>
                  <a:srgbClr val="4D555C"/>
                </a:solidFill>
                <a:latin typeface="Arial"/>
              </a:rPr>
              <a:t>Light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+ </a:t>
            </a:r>
            <a:r>
              <a:rPr sz="975" b="0" i="0">
                <a:solidFill>
                  <a:srgbClr val="4D555C"/>
                </a:solidFill>
                <a:latin typeface="Arial"/>
              </a:rPr>
              <a:t>Small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78117" y="3149203"/>
            <a:ext cx="4334161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1181C"/>
                </a:solidFill>
                <a:latin typeface="Arial"/>
              </a:rPr>
              <a:t>Use: </a:t>
            </a:r>
            <a:r>
              <a:rPr sz="975" b="0" i="0">
                <a:solidFill>
                  <a:srgbClr val="4D555C"/>
                </a:solidFill>
                <a:latin typeface="Arial"/>
              </a:rPr>
              <a:t>88%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of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Medium </a:t>
            </a:r>
            <a:r>
              <a:rPr sz="975" b="0" i="0">
                <a:solidFill>
                  <a:srgbClr val="4D555C"/>
                </a:solidFill>
                <a:latin typeface="Arial"/>
              </a:rPr>
              <a:t>&amp; </a:t>
            </a:r>
            <a:r>
              <a:rPr sz="975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975" b="0" i="0">
                <a:solidFill>
                  <a:srgbClr val="4D555C"/>
                </a:solidFill>
                <a:latin typeface="Arial"/>
              </a:rPr>
              <a:t>cranes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need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truck </a:t>
            </a:r>
            <a:r>
              <a:rPr sz="975" b="0" i="0">
                <a:solidFill>
                  <a:srgbClr val="4D555C"/>
                </a:solidFill>
                <a:latin typeface="Arial"/>
              </a:rPr>
              <a:t>GVW </a:t>
            </a:r>
            <a:r>
              <a:rPr sz="975" b="0" i="0">
                <a:solidFill>
                  <a:srgbClr val="4D555C"/>
                </a:solidFill>
                <a:latin typeface="Arial"/>
              </a:rPr>
              <a:t>≥ </a:t>
            </a:r>
            <a:r>
              <a:rPr sz="975" b="0" i="0">
                <a:solidFill>
                  <a:srgbClr val="4D555C"/>
                </a:solidFill>
                <a:latin typeface="Arial"/>
              </a:rPr>
              <a:t>24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—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mining,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8117" y="3328690"/>
            <a:ext cx="167231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4D555C"/>
                </a:solidFill>
                <a:latin typeface="Arial"/>
              </a:rPr>
              <a:t>construction, </a:t>
            </a:r>
            <a:r>
              <a:rPr sz="975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975" b="0" i="0">
                <a:solidFill>
                  <a:srgbClr val="4D555C"/>
                </a:solidFill>
                <a:latin typeface="Arial"/>
              </a:rPr>
              <a:t>logistics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8117" y="3546277"/>
            <a:ext cx="4722087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1181C"/>
                </a:solidFill>
                <a:latin typeface="Arial"/>
              </a:rPr>
              <a:t>2026 </a:t>
            </a:r>
            <a:r>
              <a:rPr sz="975" b="1" i="0">
                <a:solidFill>
                  <a:srgbClr val="11181C"/>
                </a:solidFill>
                <a:latin typeface="Arial"/>
              </a:rPr>
              <a:t>is </a:t>
            </a:r>
            <a:r>
              <a:rPr sz="975" b="1" i="0">
                <a:solidFill>
                  <a:srgbClr val="11181C"/>
                </a:solidFill>
                <a:latin typeface="Arial"/>
              </a:rPr>
              <a:t>partial: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only </a:t>
            </a:r>
            <a:r>
              <a:rPr sz="975" b="0" i="0">
                <a:solidFill>
                  <a:srgbClr val="4D555C"/>
                </a:solidFill>
                <a:latin typeface="Arial"/>
              </a:rPr>
              <a:t>12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Medium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and </a:t>
            </a:r>
            <a:r>
              <a:rPr sz="975" b="0" i="0">
                <a:solidFill>
                  <a:srgbClr val="4D555C"/>
                </a:solidFill>
                <a:latin typeface="Arial"/>
              </a:rPr>
              <a:t>1 </a:t>
            </a:r>
            <a:r>
              <a:rPr sz="975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975" b="0" i="0">
                <a:solidFill>
                  <a:srgbClr val="4D555C"/>
                </a:solidFill>
                <a:latin typeface="Arial"/>
              </a:rPr>
              <a:t>unit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to </a:t>
            </a:r>
            <a:r>
              <a:rPr sz="975" b="0" i="0">
                <a:solidFill>
                  <a:srgbClr val="4D555C"/>
                </a:solidFill>
                <a:latin typeface="Arial"/>
              </a:rPr>
              <a:t>14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Aug; </a:t>
            </a:r>
            <a:r>
              <a:rPr sz="975" b="0" i="0">
                <a:solidFill>
                  <a:srgbClr val="4D555C"/>
                </a:solidFill>
                <a:latin typeface="Arial"/>
              </a:rPr>
              <a:t>import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records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may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8117" y="3725763"/>
            <a:ext cx="85544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4D555C"/>
                </a:solidFill>
                <a:latin typeface="Arial"/>
              </a:rPr>
              <a:t>be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incomplete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1892" y="4095750"/>
            <a:ext cx="500778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*2026 </a:t>
            </a:r>
            <a:r>
              <a:rPr sz="712" b="0" i="0">
                <a:solidFill>
                  <a:srgbClr val="697177"/>
                </a:solidFill>
                <a:latin typeface="Arial"/>
              </a:rPr>
              <a:t>annualised </a:t>
            </a:r>
            <a:r>
              <a:rPr sz="712" b="0" i="0">
                <a:solidFill>
                  <a:srgbClr val="697177"/>
                </a:solidFill>
                <a:latin typeface="Arial"/>
              </a:rPr>
              <a:t>(Jan </a:t>
            </a:r>
            <a:r>
              <a:rPr sz="712" b="0" i="0">
                <a:solidFill>
                  <a:srgbClr val="697177"/>
                </a:solidFill>
                <a:latin typeface="Arial"/>
              </a:rPr>
              <a:t>– </a:t>
            </a:r>
            <a:r>
              <a:rPr sz="712" b="0" i="0">
                <a:solidFill>
                  <a:srgbClr val="697177"/>
                </a:solidFill>
                <a:latin typeface="Arial"/>
              </a:rPr>
              <a:t>14 </a:t>
            </a:r>
            <a:r>
              <a:rPr sz="712" b="0" i="0">
                <a:solidFill>
                  <a:srgbClr val="697177"/>
                </a:solidFill>
                <a:latin typeface="Arial"/>
              </a:rPr>
              <a:t>Aug </a:t>
            </a:r>
            <a:r>
              <a:rPr sz="712" b="0" i="0">
                <a:solidFill>
                  <a:srgbClr val="697177"/>
                </a:solidFill>
                <a:latin typeface="Arial"/>
              </a:rPr>
              <a:t>× </a:t>
            </a:r>
            <a:r>
              <a:rPr sz="712" b="0" i="0">
                <a:solidFill>
                  <a:srgbClr val="697177"/>
                </a:solidFill>
                <a:latin typeface="Arial"/>
              </a:rPr>
              <a:t>1.61).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Source: </a:t>
            </a:r>
            <a:r>
              <a:rPr sz="712" b="0" i="0">
                <a:solidFill>
                  <a:srgbClr val="697177"/>
                </a:solidFill>
                <a:latin typeface="Arial"/>
              </a:rPr>
              <a:t>Indonesia </a:t>
            </a:r>
            <a:r>
              <a:rPr sz="712" b="0" i="0">
                <a:solidFill>
                  <a:srgbClr val="697177"/>
                </a:solidFill>
                <a:latin typeface="Arial"/>
              </a:rPr>
              <a:t>import </a:t>
            </a:r>
            <a:r>
              <a:rPr sz="712" b="0" i="0">
                <a:solidFill>
                  <a:srgbClr val="697177"/>
                </a:solidFill>
                <a:latin typeface="Arial"/>
              </a:rPr>
              <a:t>records </a:t>
            </a:r>
            <a:r>
              <a:rPr sz="712" b="0" i="0">
                <a:solidFill>
                  <a:srgbClr val="697177"/>
                </a:solidFill>
                <a:latin typeface="Arial"/>
              </a:rPr>
              <a:t>HS </a:t>
            </a:r>
            <a:r>
              <a:rPr sz="712" b="0" i="0">
                <a:solidFill>
                  <a:srgbClr val="697177"/>
                </a:solidFill>
                <a:latin typeface="Arial"/>
              </a:rPr>
              <a:t>84269100 </a:t>
            </a:r>
            <a:r>
              <a:rPr sz="712" b="0" i="0">
                <a:solidFill>
                  <a:srgbClr val="697177"/>
                </a:solidFill>
                <a:latin typeface="Arial"/>
              </a:rPr>
              <a:t>+ </a:t>
            </a:r>
            <a:r>
              <a:rPr sz="712" b="0" i="0">
                <a:solidFill>
                  <a:srgbClr val="697177"/>
                </a:solidFill>
                <a:latin typeface="Arial"/>
              </a:rPr>
              <a:t>84264900;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truck-mounted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1892" y="4217789"/>
            <a:ext cx="305316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0" i="0">
                <a:solidFill>
                  <a:srgbClr val="697177"/>
                </a:solidFill>
                <a:latin typeface="Arial"/>
              </a:rPr>
              <a:t>knuckle </a:t>
            </a:r>
            <a:r>
              <a:rPr sz="712" b="0" i="0">
                <a:solidFill>
                  <a:srgbClr val="697177"/>
                </a:solidFill>
                <a:latin typeface="Arial"/>
              </a:rPr>
              <a:t>boom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cranes;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Zoomlion </a:t>
            </a:r>
            <a:r>
              <a:rPr sz="712" b="0" i="0">
                <a:solidFill>
                  <a:srgbClr val="697177"/>
                </a:solidFill>
                <a:latin typeface="Arial"/>
              </a:rPr>
              <a:t>&amp;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Hyva </a:t>
            </a:r>
            <a:r>
              <a:rPr sz="712" b="0" i="0">
                <a:solidFill>
                  <a:srgbClr val="697177"/>
                </a:solidFill>
                <a:latin typeface="Arial"/>
              </a:rPr>
              <a:t>excluded;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USD </a:t>
            </a:r>
            <a:r>
              <a:rPr sz="712" b="0" i="0">
                <a:solidFill>
                  <a:srgbClr val="697177"/>
                </a:solidFill>
                <a:latin typeface="Arial"/>
              </a:rPr>
              <a:t>1 </a:t>
            </a:r>
            <a:r>
              <a:rPr sz="712" b="0" i="0">
                <a:solidFill>
                  <a:srgbClr val="697177"/>
                </a:solidFill>
                <a:latin typeface="Arial"/>
              </a:rPr>
              <a:t>= </a:t>
            </a:r>
            <a:r>
              <a:rPr sz="712" b="0" i="0">
                <a:solidFill>
                  <a:srgbClr val="697177"/>
                </a:solidFill>
                <a:latin typeface="Arial"/>
              </a:rPr>
              <a:t>Rp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17.803.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10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2654" y="285750"/>
            <a:ext cx="540246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357188"/>
            <a:ext cx="1267033" cy="1047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00" b="1" i="0">
                <a:solidFill>
                  <a:srgbClr val="889096"/>
                </a:solidFill>
                <a:latin typeface="Arial"/>
              </a:rPr>
              <a:t>[ </a:t>
            </a:r>
            <a:r>
              <a:rPr sz="600" b="1" i="0">
                <a:solidFill>
                  <a:srgbClr val="889096"/>
                </a:solidFill>
                <a:latin typeface="Arial"/>
              </a:rPr>
              <a:t>INTERNAL </a:t>
            </a:r>
            <a:r>
              <a:rPr sz="600" b="1" i="0">
                <a:solidFill>
                  <a:srgbClr val="889096"/>
                </a:solidFill>
                <a:latin typeface="Arial"/>
              </a:rPr>
              <a:t>USE </a:t>
            </a:r>
            <a:r>
              <a:rPr sz="600" b="1" i="0">
                <a:solidFill>
                  <a:srgbClr val="889096"/>
                </a:solidFill>
                <a:latin typeface="Arial"/>
              </a:rPr>
              <a:t>ONLY </a:t>
            </a:r>
            <a:r>
              <a:rPr sz="600" b="1" i="0">
                <a:solidFill>
                  <a:srgbClr val="889096"/>
                </a:solidFill>
                <a:latin typeface="Arial"/>
              </a:rP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771525"/>
            <a:ext cx="227684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STUDY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825" b="1" i="0">
                <a:solidFill>
                  <a:srgbClr val="697177"/>
                </a:solidFill>
                <a:latin typeface="Arial"/>
              </a:rPr>
              <a:t>LEADERS </a:t>
            </a:r>
            <a:r>
              <a:rPr sz="825" b="1" i="0">
                <a:solidFill>
                  <a:srgbClr val="697177"/>
                </a:solidFill>
                <a:latin typeface="Arial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962025"/>
            <a:ext cx="8252549" cy="3333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250" b="0" i="0">
                <a:solidFill>
                  <a:srgbClr val="11181C"/>
                </a:solidFill>
                <a:latin typeface="Georgia"/>
              </a:rPr>
              <a:t>Two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leaders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to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beat: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Sany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Palfinger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in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Medium, </a:t>
            </a:r>
            <a:r>
              <a:rPr sz="2250" b="0" i="1">
                <a:solidFill>
                  <a:srgbClr val="076932"/>
                </a:solidFill>
                <a:latin typeface="Georgia"/>
              </a:rPr>
              <a:t>Palfinger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in </a:t>
            </a:r>
            <a:r>
              <a:rPr sz="2250" b="0" i="0">
                <a:solidFill>
                  <a:srgbClr val="11181C"/>
                </a:solidFill>
                <a:latin typeface="Georgia"/>
              </a:rPr>
              <a:t>Heavy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1457325"/>
            <a:ext cx="139434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1" i="0">
                <a:solidFill>
                  <a:srgbClr val="111111"/>
                </a:solidFill>
                <a:latin typeface="Arial"/>
              </a:rPr>
              <a:t>MEDIUM </a:t>
            </a:r>
            <a:r>
              <a:rPr sz="862" b="1" i="0">
                <a:solidFill>
                  <a:srgbClr val="111111"/>
                </a:solidFill>
                <a:latin typeface="Arial"/>
              </a:rPr>
              <a:t>· </a:t>
            </a:r>
            <a:r>
              <a:rPr sz="862" b="1" i="0">
                <a:solidFill>
                  <a:srgbClr val="111111"/>
                </a:solidFill>
                <a:latin typeface="Arial"/>
              </a:rPr>
              <a:t>25 </a:t>
            </a:r>
            <a:r>
              <a:rPr sz="862" b="1" i="0">
                <a:solidFill>
                  <a:srgbClr val="111111"/>
                </a:solidFill>
                <a:latin typeface="Arial"/>
              </a:rPr>
              <a:t>– </a:t>
            </a:r>
            <a:r>
              <a:rPr sz="862" b="1" i="0">
                <a:solidFill>
                  <a:srgbClr val="111111"/>
                </a:solidFill>
                <a:latin typeface="Arial"/>
              </a:rPr>
              <a:t>45 </a:t>
            </a:r>
            <a:r>
              <a:rPr sz="862" b="1" i="0">
                <a:solidFill>
                  <a:srgbClr val="111111"/>
                </a:solidFill>
                <a:latin typeface="Arial"/>
              </a:rPr>
              <a:t>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1666875"/>
            <a:ext cx="281921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UNITS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&amp; </a:t>
            </a:r>
            <a:r>
              <a:rPr sz="712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12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BY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712" b="1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2181225"/>
            <a:ext cx="76110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Amco </a:t>
            </a:r>
            <a:r>
              <a:rPr sz="1050" b="0" i="0">
                <a:solidFill>
                  <a:srgbClr val="11181C"/>
                </a:solidFill>
                <a:latin typeface="Arial"/>
              </a:rPr>
              <a:t>Veba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3475" y="2200275"/>
            <a:ext cx="67701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5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2,7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3019425"/>
            <a:ext cx="5960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Palfinger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3475" y="3038475"/>
            <a:ext cx="67701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5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4,9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3857625"/>
            <a:ext cx="46215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XCMG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475" y="3876675"/>
            <a:ext cx="74154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14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7,2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695825"/>
            <a:ext cx="95751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Sany </a:t>
            </a:r>
            <a:r>
              <a:rPr sz="1050" b="0" i="0">
                <a:solidFill>
                  <a:srgbClr val="11181C"/>
                </a:solidFill>
                <a:latin typeface="Arial"/>
              </a:rPr>
              <a:t>Palfinger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3475" y="4714875"/>
            <a:ext cx="80622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30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13,2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5286375"/>
            <a:ext cx="10041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004" y="5286375"/>
            <a:ext cx="4329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3695" y="5286375"/>
            <a:ext cx="3712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7601" y="5286375"/>
            <a:ext cx="117174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50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50" b="1" i="0">
                <a:solidFill>
                  <a:srgbClr val="697177"/>
                </a:solidFill>
                <a:latin typeface="Arial"/>
              </a:rPr>
              <a:t>(IDR)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896" y="5286375"/>
            <a:ext cx="421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" y="5514975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004" y="5514975"/>
            <a:ext cx="879896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Sany </a:t>
            </a:r>
            <a:r>
              <a:rPr sz="900" b="1" i="0">
                <a:solidFill>
                  <a:srgbClr val="FF5A1F"/>
                </a:solidFill>
                <a:latin typeface="Arial"/>
              </a:rPr>
              <a:t>Palfinger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3695" y="5514975"/>
            <a:ext cx="1729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7601" y="5514975"/>
            <a:ext cx="107551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Rp </a:t>
            </a:r>
            <a:r>
              <a:rPr sz="900" b="1" i="0">
                <a:solidFill>
                  <a:srgbClr val="FF5A1F"/>
                </a:solidFill>
                <a:latin typeface="Arial"/>
              </a:rPr>
              <a:t>13.226.000.000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3896" y="5514975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FF5A1F"/>
                </a:solidFill>
                <a:latin typeface="Arial"/>
              </a:rPr>
              <a:t>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" y="5791200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004" y="5791200"/>
            <a:ext cx="40157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XCMG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3695" y="5791200"/>
            <a:ext cx="1729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7601" y="5791200"/>
            <a:ext cx="100152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7.197.000.000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3896" y="5791200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775" y="6067425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004" y="6067425"/>
            <a:ext cx="51642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Palfinger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3695" y="6067425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7601" y="6067425"/>
            <a:ext cx="100152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4.869.000.000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3896" y="6067425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17%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575" y="6334125"/>
            <a:ext cx="212918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Total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Medium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2025: </a:t>
            </a:r>
            <a:r>
              <a:rPr sz="862" b="0" i="0">
                <a:solidFill>
                  <a:srgbClr val="4D555C"/>
                </a:solidFill>
                <a:latin typeface="Arial"/>
              </a:rPr>
              <a:t>54 </a:t>
            </a:r>
            <a:r>
              <a:rPr sz="862" b="0" i="0">
                <a:solidFill>
                  <a:srgbClr val="4D555C"/>
                </a:solidFill>
                <a:latin typeface="Arial"/>
              </a:rPr>
              <a:t>units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28,0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6025" y="1457325"/>
            <a:ext cx="1108171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1" i="0">
                <a:solidFill>
                  <a:srgbClr val="111111"/>
                </a:solidFill>
                <a:latin typeface="Arial"/>
              </a:rPr>
              <a:t>HEAVY </a:t>
            </a:r>
            <a:r>
              <a:rPr sz="862" b="1" i="0">
                <a:solidFill>
                  <a:srgbClr val="111111"/>
                </a:solidFill>
                <a:latin typeface="Arial"/>
              </a:rPr>
              <a:t>· </a:t>
            </a:r>
            <a:r>
              <a:rPr sz="862" b="1" i="0">
                <a:solidFill>
                  <a:srgbClr val="111111"/>
                </a:solidFill>
                <a:latin typeface="Arial"/>
              </a:rPr>
              <a:t>&gt; </a:t>
            </a:r>
            <a:r>
              <a:rPr sz="862" b="1" i="0">
                <a:solidFill>
                  <a:srgbClr val="111111"/>
                </a:solidFill>
                <a:latin typeface="Arial"/>
              </a:rPr>
              <a:t>45 </a:t>
            </a:r>
            <a:r>
              <a:rPr sz="862" b="1" i="0">
                <a:solidFill>
                  <a:srgbClr val="111111"/>
                </a:solidFill>
                <a:latin typeface="Arial"/>
              </a:rPr>
              <a:t>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725" y="1666875"/>
            <a:ext cx="281921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697177"/>
                </a:solidFill>
                <a:latin typeface="Arial"/>
              </a:rPr>
              <a:t>UNITS </a:t>
            </a:r>
            <a:r>
              <a:rPr sz="712" b="1" i="0">
                <a:solidFill>
                  <a:srgbClr val="697177"/>
                </a:solidFill>
                <a:latin typeface="Arial"/>
              </a:rPr>
              <a:t>&amp; </a:t>
            </a:r>
            <a:r>
              <a:rPr sz="712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12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12" b="1" i="0">
                <a:solidFill>
                  <a:srgbClr val="697177"/>
                </a:solidFill>
                <a:latin typeface="Arial"/>
              </a:rPr>
              <a:t>BY </a:t>
            </a:r>
            <a:r>
              <a:rPr sz="712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712" b="1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1" i="0">
                <a:solidFill>
                  <a:srgbClr val="697177"/>
                </a:solidFill>
                <a:latin typeface="Arial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725" y="2194322"/>
            <a:ext cx="46215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XCMG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5625" y="2213372"/>
            <a:ext cx="67701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4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4,6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725" y="3058864"/>
            <a:ext cx="76110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Amco </a:t>
            </a:r>
            <a:r>
              <a:rPr sz="1050" b="0" i="0">
                <a:solidFill>
                  <a:srgbClr val="11181C"/>
                </a:solidFill>
                <a:latin typeface="Arial"/>
              </a:rPr>
              <a:t>Veba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5625" y="3077914"/>
            <a:ext cx="73302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7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11,1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725" y="3923407"/>
            <a:ext cx="5960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1181C"/>
                </a:solidFill>
                <a:latin typeface="Arial"/>
              </a:rPr>
              <a:t>Palfinger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5625" y="3942457"/>
            <a:ext cx="806223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22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29,7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7925" y="4527352"/>
            <a:ext cx="10041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#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9967" y="4527352"/>
            <a:ext cx="4329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BRAND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43255" y="4527352"/>
            <a:ext cx="3712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8507" y="4527352"/>
            <a:ext cx="117174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IMPORT </a:t>
            </a:r>
            <a:r>
              <a:rPr sz="750" b="1" i="0">
                <a:solidFill>
                  <a:srgbClr val="697177"/>
                </a:solidFill>
                <a:latin typeface="Arial"/>
              </a:rPr>
              <a:t>VALUE </a:t>
            </a:r>
            <a:r>
              <a:rPr sz="750" b="1" i="0">
                <a:solidFill>
                  <a:srgbClr val="697177"/>
                </a:solidFill>
                <a:latin typeface="Arial"/>
              </a:rPr>
              <a:t>(IDR)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29342" y="4527352"/>
            <a:ext cx="42192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SHARE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7925" y="4755952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9967" y="4755952"/>
            <a:ext cx="55665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Palfinger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43255" y="4755952"/>
            <a:ext cx="17298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68507" y="4755952"/>
            <a:ext cx="107551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Rp </a:t>
            </a:r>
            <a:r>
              <a:rPr sz="900" b="1" i="0">
                <a:solidFill>
                  <a:srgbClr val="1D5FD0"/>
                </a:solidFill>
                <a:latin typeface="Arial"/>
              </a:rPr>
              <a:t>29.738.000.000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9342" y="4755952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1D5FD0"/>
                </a:solidFill>
                <a:latin typeface="Arial"/>
              </a:rPr>
              <a:t>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7925" y="5032177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39967" y="5032177"/>
            <a:ext cx="657773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Amco </a:t>
            </a:r>
            <a:r>
              <a:rPr sz="900" b="0" i="0">
                <a:solidFill>
                  <a:srgbClr val="4D555C"/>
                </a:solidFill>
                <a:latin typeface="Arial"/>
              </a:rPr>
              <a:t>Veba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43255" y="5032177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8507" y="5032177"/>
            <a:ext cx="105989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11.065.000.000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9342" y="5032177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23%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7925" y="5308402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9967" y="5308402"/>
            <a:ext cx="401574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XCMG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43255" y="5308402"/>
            <a:ext cx="10562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68507" y="5308402"/>
            <a:ext cx="100152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Rp </a:t>
            </a:r>
            <a:r>
              <a:rPr sz="900" b="0" i="0">
                <a:solidFill>
                  <a:srgbClr val="4D555C"/>
                </a:solidFill>
                <a:latin typeface="Arial"/>
              </a:rPr>
              <a:t>4.647.000.000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9342" y="5308402"/>
            <a:ext cx="280732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0" i="0">
                <a:solidFill>
                  <a:srgbClr val="4D555C"/>
                </a:solidFill>
                <a:latin typeface="Arial"/>
              </a:rPr>
              <a:t>10%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81725" y="5575102"/>
            <a:ext cx="4787399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62" b="0" i="0">
                <a:solidFill>
                  <a:srgbClr val="4D555C"/>
                </a:solidFill>
                <a:latin typeface="Arial"/>
              </a:rPr>
              <a:t>Total </a:t>
            </a:r>
            <a:r>
              <a:rPr sz="862" b="0" i="0">
                <a:solidFill>
                  <a:srgbClr val="4D555C"/>
                </a:solidFill>
                <a:latin typeface="Arial"/>
              </a:rPr>
              <a:t>Heavy </a:t>
            </a:r>
            <a:r>
              <a:rPr sz="862" b="0" i="0">
                <a:solidFill>
                  <a:srgbClr val="4D555C"/>
                </a:solidFill>
                <a:latin typeface="Arial"/>
              </a:rPr>
              <a:t>2025: </a:t>
            </a:r>
            <a:r>
              <a:rPr sz="862" b="0" i="0">
                <a:solidFill>
                  <a:srgbClr val="4D555C"/>
                </a:solidFill>
                <a:latin typeface="Arial"/>
              </a:rPr>
              <a:t>35 </a:t>
            </a:r>
            <a:r>
              <a:rPr sz="862" b="0" i="0">
                <a:solidFill>
                  <a:srgbClr val="4D555C"/>
                </a:solidFill>
                <a:latin typeface="Arial"/>
              </a:rPr>
              <a:t>units </a:t>
            </a:r>
            <a:r>
              <a:rPr sz="862" b="0" i="0">
                <a:solidFill>
                  <a:srgbClr val="4D555C"/>
                </a:solidFill>
                <a:latin typeface="Arial"/>
              </a:rPr>
              <a:t>· </a:t>
            </a:r>
            <a:r>
              <a:rPr sz="862" b="0" i="0">
                <a:solidFill>
                  <a:srgbClr val="4D555C"/>
                </a:solidFill>
                <a:latin typeface="Arial"/>
              </a:rPr>
              <a:t>Rp </a:t>
            </a:r>
            <a:r>
              <a:rPr sz="862" b="0" i="0">
                <a:solidFill>
                  <a:srgbClr val="4D555C"/>
                </a:solidFill>
                <a:latin typeface="Arial"/>
              </a:rPr>
              <a:t>48,0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M.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Sany </a:t>
            </a:r>
            <a:r>
              <a:rPr sz="862" b="0" i="0">
                <a:solidFill>
                  <a:srgbClr val="4D555C"/>
                </a:solidFill>
                <a:latin typeface="Arial"/>
              </a:rPr>
              <a:t>Palfinger </a:t>
            </a:r>
            <a:r>
              <a:rPr sz="862" b="0" i="0">
                <a:solidFill>
                  <a:srgbClr val="4D555C"/>
                </a:solidFill>
                <a:latin typeface="Arial"/>
              </a:rPr>
              <a:t>= </a:t>
            </a:r>
            <a:r>
              <a:rPr sz="862" b="0" i="0">
                <a:solidFill>
                  <a:srgbClr val="4D555C"/>
                </a:solidFill>
                <a:latin typeface="Arial"/>
              </a:rPr>
              <a:t>Sany–Palfinger </a:t>
            </a:r>
            <a:r>
              <a:rPr sz="862" b="0" i="0">
                <a:solidFill>
                  <a:srgbClr val="4D555C"/>
                </a:solidFill>
                <a:latin typeface="Arial"/>
              </a:rPr>
              <a:t>JV, </a:t>
            </a:r>
            <a:r>
              <a:rPr sz="862" b="0" i="0">
                <a:solidFill>
                  <a:srgbClr val="4D555C"/>
                </a:solidFill>
                <a:latin typeface="Arial"/>
              </a:rPr>
              <a:t>made </a:t>
            </a:r>
            <a:r>
              <a:rPr sz="862" b="0" i="0">
                <a:solidFill>
                  <a:srgbClr val="4D555C"/>
                </a:solidFill>
                <a:latin typeface="Arial"/>
              </a:rPr>
              <a:t>in </a:t>
            </a:r>
            <a:r>
              <a:rPr sz="862" b="0" i="0">
                <a:solidFill>
                  <a:srgbClr val="4D555C"/>
                </a:solidFill>
                <a:latin typeface="Arial"/>
              </a:rPr>
              <a:t>China.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7950" y="5918002"/>
            <a:ext cx="317574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4D555C"/>
                </a:solidFill>
                <a:latin typeface="Arial"/>
              </a:rPr>
              <a:t>Both </a:t>
            </a:r>
            <a:r>
              <a:rPr sz="975" b="0" i="0">
                <a:solidFill>
                  <a:srgbClr val="4D555C"/>
                </a:solidFill>
                <a:latin typeface="Arial"/>
              </a:rPr>
              <a:t>leaders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are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well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ahead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of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the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next </a:t>
            </a:r>
            <a:r>
              <a:rPr sz="975" b="0" i="0">
                <a:solidFill>
                  <a:srgbClr val="4D555C"/>
                </a:solidFill>
                <a:latin typeface="Arial"/>
              </a:rPr>
              <a:t>brand </a:t>
            </a:r>
            <a:r>
              <a:rPr sz="975" b="0" i="0">
                <a:solidFill>
                  <a:srgbClr val="4D555C"/>
                </a:solidFill>
                <a:latin typeface="Arial"/>
              </a:rPr>
              <a:t>in </a:t>
            </a:r>
            <a:r>
              <a:rPr sz="975" b="0" i="0">
                <a:solidFill>
                  <a:srgbClr val="4D555C"/>
                </a:solidFill>
                <a:latin typeface="Arial"/>
              </a:rPr>
              <a:t>value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57950" y="6135588"/>
            <a:ext cx="3997821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4D555C"/>
                </a:solidFill>
                <a:latin typeface="Arial"/>
              </a:rPr>
              <a:t>Scope: </a:t>
            </a:r>
            <a:r>
              <a:rPr sz="975" b="0" i="0">
                <a:solidFill>
                  <a:srgbClr val="4D555C"/>
                </a:solidFill>
                <a:latin typeface="Arial"/>
              </a:rPr>
              <a:t>2025 </a:t>
            </a:r>
            <a:r>
              <a:rPr sz="975" b="0" i="0">
                <a:solidFill>
                  <a:srgbClr val="4D555C"/>
                </a:solidFill>
                <a:latin typeface="Arial"/>
              </a:rPr>
              <a:t>only, </a:t>
            </a:r>
            <a:r>
              <a:rPr sz="975" b="0" i="0">
                <a:solidFill>
                  <a:srgbClr val="4D555C"/>
                </a:solidFill>
                <a:latin typeface="Arial"/>
              </a:rPr>
              <a:t>so </a:t>
            </a:r>
            <a:r>
              <a:rPr sz="975" b="0" i="0">
                <a:solidFill>
                  <a:srgbClr val="4D555C"/>
                </a:solidFill>
                <a:latin typeface="Arial"/>
              </a:rPr>
              <a:t>figures </a:t>
            </a:r>
            <a:r>
              <a:rPr sz="975" b="0" i="0">
                <a:solidFill>
                  <a:srgbClr val="4D555C"/>
                </a:solidFill>
                <a:latin typeface="Arial"/>
              </a:rPr>
              <a:t>are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smaller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than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the </a:t>
            </a:r>
            <a:r>
              <a:rPr sz="975" b="0" i="0">
                <a:solidFill>
                  <a:srgbClr val="4D555C"/>
                </a:solidFill>
                <a:latin typeface="Arial"/>
              </a:rPr>
              <a:t>2023 </a:t>
            </a:r>
            <a:r>
              <a:rPr sz="975" b="0" i="0">
                <a:solidFill>
                  <a:srgbClr val="4D555C"/>
                </a:solidFill>
                <a:latin typeface="Arial"/>
              </a:rPr>
              <a:t>– </a:t>
            </a:r>
            <a:r>
              <a:rPr sz="975" b="0" i="0">
                <a:solidFill>
                  <a:srgbClr val="4D555C"/>
                </a:solidFill>
                <a:latin typeface="Arial"/>
              </a:rPr>
              <a:t>2026 </a:t>
            </a:r>
            <a:r>
              <a:rPr sz="975" b="0" i="0">
                <a:solidFill>
                  <a:srgbClr val="4D555C"/>
                </a:solidFill>
                <a:latin typeface="Arial"/>
              </a:rPr>
              <a:t>totals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575" y="6591300"/>
            <a:ext cx="18095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889096"/>
                </a:solidFill>
                <a:latin typeface="Arial"/>
              </a:rPr>
              <a:t>NEDP </a:t>
            </a:r>
            <a:r>
              <a:rPr sz="750" b="0" i="0">
                <a:solidFill>
                  <a:srgbClr val="889096"/>
                </a:solidFill>
                <a:latin typeface="Arial"/>
              </a:rPr>
              <a:t>MID </a:t>
            </a:r>
            <a:r>
              <a:rPr sz="750" b="0" i="0">
                <a:solidFill>
                  <a:srgbClr val="889096"/>
                </a:solidFill>
                <a:latin typeface="Arial"/>
              </a:rPr>
              <a:t>YEAR </a:t>
            </a:r>
            <a:r>
              <a:rPr sz="750" b="0" i="0">
                <a:solidFill>
                  <a:srgbClr val="889096"/>
                </a:solidFill>
                <a:latin typeface="Arial"/>
              </a:rPr>
              <a:t>REVIEW </a:t>
            </a:r>
            <a:r>
              <a:rPr sz="750" b="0" i="0">
                <a:solidFill>
                  <a:srgbClr val="889096"/>
                </a:solidFill>
                <a:latin typeface="Arial"/>
              </a:rPr>
              <a:t>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50228" y="6591300"/>
            <a:ext cx="47603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89096"/>
                </a:solidFill>
                <a:latin typeface="Arial"/>
              </a:rPr>
              <a:t>11 </a:t>
            </a:r>
            <a:r>
              <a:rPr sz="750" b="0" i="0">
                <a:solidFill>
                  <a:srgbClr val="889096"/>
                </a:solidFill>
                <a:latin typeface="Arial"/>
              </a:rPr>
              <a:t>/ </a:t>
            </a:r>
            <a:r>
              <a:rPr sz="750" b="0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98222" y="300038"/>
            <a:ext cx="348400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STP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+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MEDIUM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CLASS </a:t>
            </a:r>
            <a:r>
              <a:rPr sz="712" b="0" i="0">
                <a:solidFill>
                  <a:srgbClr val="697177"/>
                </a:solidFill>
                <a:latin typeface="Arial"/>
              </a:rPr>
              <a:t>25–45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790575"/>
            <a:ext cx="2645994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STP </a:t>
            </a:r>
            <a:r>
              <a:rPr sz="825" b="1" i="0">
                <a:solidFill>
                  <a:srgbClr val="697177"/>
                </a:solidFill>
                <a:latin typeface="Arial"/>
              </a:rPr>
              <a:t>+ </a:t>
            </a:r>
            <a:r>
              <a:rPr sz="825" b="1" i="0">
                <a:solidFill>
                  <a:srgbClr val="697177"/>
                </a:solidFill>
                <a:latin typeface="Arial"/>
              </a:rPr>
              <a:t>4P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MEDIUM </a:t>
            </a:r>
            <a:r>
              <a:rPr sz="825" b="1" i="0">
                <a:solidFill>
                  <a:srgbClr val="697177"/>
                </a:solidFill>
                <a:latin typeface="Arial"/>
              </a:rPr>
              <a:t>CLASS </a:t>
            </a:r>
            <a:r>
              <a:rPr sz="825" b="1" i="0">
                <a:solidFill>
                  <a:srgbClr val="697177"/>
                </a:solidFill>
                <a:latin typeface="Arial"/>
              </a:rPr>
              <a:t>25–45 </a:t>
            </a:r>
            <a:r>
              <a:rPr sz="825" b="1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942975"/>
            <a:ext cx="10458161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Use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XCMG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at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30–40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tm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and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Ferrari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at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25–30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tm;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renegotiate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Ferrari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for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40–45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66875"/>
            <a:ext cx="85717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5374" y="1666875"/>
            <a:ext cx="104065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TARGETING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· </a:t>
            </a:r>
            <a:r>
              <a:rPr sz="712" b="1" i="0">
                <a:solidFill>
                  <a:srgbClr val="11181C"/>
                </a:solidFill>
                <a:latin typeface="Arial"/>
              </a:rPr>
              <a:t>TOP </a:t>
            </a:r>
            <a:r>
              <a:rPr sz="712" b="1" i="0">
                <a:solidFill>
                  <a:srgbClr val="11181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361" y="1666875"/>
            <a:ext cx="153948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POSITIONING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· </a:t>
            </a:r>
            <a:r>
              <a:rPr sz="712" b="1" i="0">
                <a:solidFill>
                  <a:srgbClr val="11181C"/>
                </a:solidFill>
                <a:latin typeface="Arial"/>
              </a:rPr>
              <a:t>CHALLENGER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1742" y="1666875"/>
            <a:ext cx="54781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1405" y="1666875"/>
            <a:ext cx="38848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1513" y="1666875"/>
            <a:ext cx="67512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05000"/>
            <a:ext cx="172194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50" y="1905000"/>
            <a:ext cx="22977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QTY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7826" y="1905000"/>
            <a:ext cx="3479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5374" y="1905000"/>
            <a:ext cx="79991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637" b="1" i="0">
                <a:solidFill>
                  <a:srgbClr val="697177"/>
                </a:solidFill>
                <a:latin typeface="Arial"/>
              </a:rPr>
              <a:t>· </a:t>
            </a:r>
            <a:r>
              <a:rPr sz="637" b="1" i="0">
                <a:solidFill>
                  <a:srgbClr val="697177"/>
                </a:solidFill>
                <a:latin typeface="Arial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318" y="1905000"/>
            <a:ext cx="22977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QTY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0395" y="1905000"/>
            <a:ext cx="36387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2975" y="1905000"/>
            <a:ext cx="32569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361" y="1857375"/>
            <a:ext cx="43580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637" b="1" i="0">
                <a:solidFill>
                  <a:srgbClr val="697177"/>
                </a:solidFill>
                <a:latin typeface="Arial"/>
              </a:rPr>
              <a:t>·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361" y="1952625"/>
            <a:ext cx="37333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2301" y="1905000"/>
            <a:ext cx="32569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6974" y="1905000"/>
            <a:ext cx="46183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VS </a:t>
            </a:r>
            <a:r>
              <a:rPr sz="637" b="1" i="0">
                <a:solidFill>
                  <a:srgbClr val="697177"/>
                </a:solidFill>
                <a:latin typeface="Arial"/>
              </a:rPr>
              <a:t>TOP </a:t>
            </a:r>
            <a:r>
              <a:rPr sz="637" b="1" i="0">
                <a:solidFill>
                  <a:srgbClr val="697177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1742" y="1905000"/>
            <a:ext cx="36371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EQUAL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2364" y="1905000"/>
            <a:ext cx="96271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ONLY </a:t>
            </a:r>
            <a:r>
              <a:rPr sz="637" b="1" i="0">
                <a:solidFill>
                  <a:srgbClr val="697177"/>
                </a:solidFill>
                <a:latin typeface="Arial"/>
              </a:rPr>
              <a:t>CHALLENGER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2258764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25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2394942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761" y="2305050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2177" y="2305050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5374" y="2152650"/>
            <a:ext cx="4309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Amco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65374" y="2326928"/>
            <a:ext cx="42318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Veba*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5374" y="2510730"/>
            <a:ext cx="27394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V825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7330" y="2305050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39777" y="2305050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69%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2975" y="2305050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650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361" y="2239714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94361" y="2423517"/>
            <a:ext cx="35266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268 </a:t>
            </a:r>
            <a:r>
              <a:rPr sz="750" b="0" i="0">
                <a:solidFill>
                  <a:srgbClr val="697177"/>
                </a:solidFill>
                <a:latin typeface="Arial"/>
              </a:rPr>
              <a:t>A4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5588" y="2305050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500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1657" y="2305050"/>
            <a:ext cx="4036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−23%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1742" y="2333030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2364" y="2271117"/>
            <a:ext cx="122964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Red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Power,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PB,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RS,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SDV,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2364" y="2394942"/>
            <a:ext cx="92817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ECM,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Magic </a:t>
            </a:r>
            <a:r>
              <a:rPr sz="750" b="1" i="0">
                <a:solidFill>
                  <a:srgbClr val="076932"/>
                </a:solidFill>
                <a:latin typeface="Arial"/>
              </a:rPr>
              <a:t>Touch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1405" y="2271117"/>
            <a:ext cx="203846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1405" y="2394942"/>
            <a:ext cx="54324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1513" y="2271117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1513" y="2394942"/>
            <a:ext cx="150840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2848273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30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2984450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761" y="2894558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2177" y="2894558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5374" y="2742158"/>
            <a:ext cx="3760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Sany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65374" y="2916436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65374" y="3100239"/>
            <a:ext cx="5209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SPK32080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47330" y="2894558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39777" y="2894558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2975" y="2894558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530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4361" y="2829223"/>
            <a:ext cx="46215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361" y="3013025"/>
            <a:ext cx="49843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SQZ325.4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5588" y="2894558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550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5773" y="2894558"/>
            <a:ext cx="32506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+4%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1742" y="2922538"/>
            <a:ext cx="36371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Control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2364" y="2860625"/>
            <a:ext cx="7842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Parity </a:t>
            </a:r>
            <a:r>
              <a:rPr sz="750" b="1" i="0">
                <a:solidFill>
                  <a:srgbClr val="076932"/>
                </a:solidFill>
                <a:latin typeface="Arial"/>
              </a:rPr>
              <a:t>· </a:t>
            </a:r>
            <a:r>
              <a:rPr sz="750" b="1" i="0">
                <a:solidFill>
                  <a:srgbClr val="076932"/>
                </a:solidFill>
                <a:latin typeface="Arial"/>
              </a:rPr>
              <a:t>wins </a:t>
            </a:r>
            <a:r>
              <a:rPr sz="750" b="1" i="0">
                <a:solidFill>
                  <a:srgbClr val="076932"/>
                </a:solidFill>
                <a:latin typeface="Arial"/>
              </a:rPr>
              <a:t>on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2364" y="2984450"/>
            <a:ext cx="6891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price/delivery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11405" y="2922538"/>
            <a:ext cx="159816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special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1513" y="2860625"/>
            <a:ext cx="16320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1513" y="2984450"/>
            <a:ext cx="61044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3437781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35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" y="3573959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4761" y="3484066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2177" y="3484066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65374" y="3331666"/>
            <a:ext cx="3760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Sany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65374" y="3505944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65374" y="3689747"/>
            <a:ext cx="5209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SPK36080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7330" y="3484066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39777" y="3484066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41%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82975" y="3484066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660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94361" y="3418731"/>
            <a:ext cx="46215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94361" y="3602534"/>
            <a:ext cx="49843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SQZ365.4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65588" y="3484066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600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35773" y="3484066"/>
            <a:ext cx="32506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−9%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01742" y="3512046"/>
            <a:ext cx="36371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Control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2364" y="3450134"/>
            <a:ext cx="7842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Parity </a:t>
            </a:r>
            <a:r>
              <a:rPr sz="750" b="1" i="0">
                <a:solidFill>
                  <a:srgbClr val="076932"/>
                </a:solidFill>
                <a:latin typeface="Arial"/>
              </a:rPr>
              <a:t>· </a:t>
            </a:r>
            <a:r>
              <a:rPr sz="750" b="1" i="0">
                <a:solidFill>
                  <a:srgbClr val="076932"/>
                </a:solidFill>
                <a:latin typeface="Arial"/>
              </a:rPr>
              <a:t>wins </a:t>
            </a:r>
            <a:r>
              <a:rPr sz="750" b="1" i="0">
                <a:solidFill>
                  <a:srgbClr val="076932"/>
                </a:solidFill>
                <a:latin typeface="Arial"/>
              </a:rPr>
              <a:t>on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2364" y="3573959"/>
            <a:ext cx="6891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price/delivery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11405" y="3512046"/>
            <a:ext cx="159816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special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1513" y="3450134"/>
            <a:ext cx="16320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1513" y="3573959"/>
            <a:ext cx="61044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4027289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40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4163467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4761" y="4073575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2177" y="4073575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12%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65374" y="3921175"/>
            <a:ext cx="3760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Sany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65374" y="4095452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65374" y="4279255"/>
            <a:ext cx="5209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SPK42502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47330" y="4073575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39777" y="4073575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93%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82975" y="4073575"/>
            <a:ext cx="58520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960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94361" y="4008239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94361" y="4192042"/>
            <a:ext cx="35266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746 </a:t>
            </a:r>
            <a:r>
              <a:rPr sz="750" b="0" i="0">
                <a:solidFill>
                  <a:srgbClr val="697177"/>
                </a:solidFill>
                <a:latin typeface="Arial"/>
              </a:rPr>
              <a:t>A4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62301" y="4073575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1.420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76974" y="4073575"/>
            <a:ext cx="4933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B1B1B"/>
                </a:solidFill>
                <a:latin typeface="Arial"/>
              </a:rPr>
              <a:t>+48%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01742" y="4039642"/>
            <a:ext cx="82941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Power </a:t>
            </a:r>
            <a:r>
              <a:rPr sz="750" b="0" i="0">
                <a:solidFill>
                  <a:srgbClr val="1B1B1B"/>
                </a:solidFill>
                <a:latin typeface="Arial"/>
              </a:rPr>
              <a:t>boost,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Ext.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01742" y="4163467"/>
            <a:ext cx="69484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speed,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Control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32364" y="4039642"/>
            <a:ext cx="115108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Red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Power,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SDV,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Magic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32364" y="4163467"/>
            <a:ext cx="33358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Touch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11405" y="4039642"/>
            <a:ext cx="191778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Ferrari.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11405" y="4163467"/>
            <a:ext cx="193198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1513" y="4039642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1513" y="4163467"/>
            <a:ext cx="150840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12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58808" y="300038"/>
            <a:ext cx="331378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STP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+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4P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HEAVY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CLASS </a:t>
            </a:r>
            <a:r>
              <a:rPr sz="712" b="0" i="0">
                <a:solidFill>
                  <a:srgbClr val="697177"/>
                </a:solidFill>
                <a:latin typeface="Arial"/>
              </a:rPr>
              <a:t>&gt; </a:t>
            </a:r>
            <a:r>
              <a:rPr sz="712" b="0" i="0">
                <a:solidFill>
                  <a:srgbClr val="697177"/>
                </a:solidFill>
                <a:latin typeface="Arial"/>
              </a:rPr>
              <a:t>45 </a:t>
            </a:r>
            <a:r>
              <a:rPr sz="712" b="0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790575"/>
            <a:ext cx="2438070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STP </a:t>
            </a:r>
            <a:r>
              <a:rPr sz="825" b="1" i="0">
                <a:solidFill>
                  <a:srgbClr val="697177"/>
                </a:solidFill>
                <a:latin typeface="Arial"/>
              </a:rPr>
              <a:t>+ </a:t>
            </a:r>
            <a:r>
              <a:rPr sz="825" b="1" i="0">
                <a:solidFill>
                  <a:srgbClr val="697177"/>
                </a:solidFill>
                <a:latin typeface="Arial"/>
              </a:rPr>
              <a:t>4P </a:t>
            </a:r>
            <a:r>
              <a:rPr sz="825" b="1" i="0">
                <a:solidFill>
                  <a:srgbClr val="697177"/>
                </a:solidFill>
                <a:latin typeface="Arial"/>
              </a:rPr>
              <a:t>· </a:t>
            </a:r>
            <a:r>
              <a:rPr sz="825" b="1" i="0">
                <a:solidFill>
                  <a:srgbClr val="697177"/>
                </a:solidFill>
                <a:latin typeface="Arial"/>
              </a:rPr>
              <a:t>HEAVY </a:t>
            </a:r>
            <a:r>
              <a:rPr sz="825" b="1" i="0">
                <a:solidFill>
                  <a:srgbClr val="697177"/>
                </a:solidFill>
                <a:latin typeface="Arial"/>
              </a:rPr>
              <a:t>CLASS </a:t>
            </a:r>
            <a:r>
              <a:rPr sz="825" b="1" i="0">
                <a:solidFill>
                  <a:srgbClr val="697177"/>
                </a:solidFill>
                <a:latin typeface="Arial"/>
              </a:rPr>
              <a:t>&gt; </a:t>
            </a:r>
            <a:r>
              <a:rPr sz="825" b="1" i="0">
                <a:solidFill>
                  <a:srgbClr val="697177"/>
                </a:solidFill>
                <a:latin typeface="Arial"/>
              </a:rPr>
              <a:t>45 </a:t>
            </a:r>
            <a:r>
              <a:rPr sz="825" b="1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942975"/>
            <a:ext cx="8947315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Win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Heavy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on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delivery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time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;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cut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Ferrari's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price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to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compete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at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50–55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66875"/>
            <a:ext cx="85717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055" y="1666875"/>
            <a:ext cx="104065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TARGETING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· </a:t>
            </a:r>
            <a:r>
              <a:rPr sz="712" b="1" i="0">
                <a:solidFill>
                  <a:srgbClr val="11181C"/>
                </a:solidFill>
                <a:latin typeface="Arial"/>
              </a:rPr>
              <a:t>TOP </a:t>
            </a:r>
            <a:r>
              <a:rPr sz="712" b="1" i="0">
                <a:solidFill>
                  <a:srgbClr val="11181C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2616" y="1666875"/>
            <a:ext cx="153948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1181C"/>
                </a:solidFill>
                <a:latin typeface="Arial"/>
              </a:rPr>
              <a:t>POSITIONING </a:t>
            </a:r>
            <a:r>
              <a:rPr sz="712" b="1" i="0">
                <a:solidFill>
                  <a:srgbClr val="11181C"/>
                </a:solidFill>
                <a:latin typeface="Arial"/>
              </a:rPr>
              <a:t>· </a:t>
            </a:r>
            <a:r>
              <a:rPr sz="712" b="1" i="0">
                <a:solidFill>
                  <a:srgbClr val="11181C"/>
                </a:solidFill>
                <a:latin typeface="Arial"/>
              </a:rPr>
              <a:t>CHALLENGER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0579" y="1666875"/>
            <a:ext cx="54781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1046" y="1666875"/>
            <a:ext cx="38848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2649" y="1666875"/>
            <a:ext cx="67512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076932"/>
                </a:solidFill>
                <a:latin typeface="Arial"/>
              </a:rPr>
              <a:t>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857375"/>
            <a:ext cx="172194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430" y="1857375"/>
            <a:ext cx="22977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QTY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8507" y="1857375"/>
            <a:ext cx="34793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055" y="1857375"/>
            <a:ext cx="79991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637" b="1" i="0">
                <a:solidFill>
                  <a:srgbClr val="697177"/>
                </a:solidFill>
                <a:latin typeface="Arial"/>
              </a:rPr>
              <a:t>· </a:t>
            </a:r>
            <a:r>
              <a:rPr sz="637" b="1" i="0">
                <a:solidFill>
                  <a:srgbClr val="697177"/>
                </a:solidFill>
                <a:latin typeface="Arial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9911" y="1857375"/>
            <a:ext cx="229776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QTY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5987" y="1857375"/>
            <a:ext cx="363870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943" y="1857375"/>
            <a:ext cx="32569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2616" y="1857375"/>
            <a:ext cx="79991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BRAND </a:t>
            </a:r>
            <a:r>
              <a:rPr sz="637" b="1" i="0">
                <a:solidFill>
                  <a:srgbClr val="697177"/>
                </a:solidFill>
                <a:latin typeface="Arial"/>
              </a:rPr>
              <a:t>· </a:t>
            </a:r>
            <a:r>
              <a:rPr sz="637" b="1" i="0">
                <a:solidFill>
                  <a:srgbClr val="697177"/>
                </a:solidFill>
                <a:latin typeface="Arial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1138" y="1857375"/>
            <a:ext cx="32569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5811" y="1857375"/>
            <a:ext cx="461837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VS </a:t>
            </a:r>
            <a:r>
              <a:rPr sz="637" b="1" i="0">
                <a:solidFill>
                  <a:srgbClr val="697177"/>
                </a:solidFill>
                <a:latin typeface="Arial"/>
              </a:rPr>
              <a:t>TOP </a:t>
            </a:r>
            <a:r>
              <a:rPr sz="637" b="1" i="0">
                <a:solidFill>
                  <a:srgbClr val="697177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0579" y="1857375"/>
            <a:ext cx="36371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EQUAL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3129" y="1857375"/>
            <a:ext cx="962719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697177"/>
                </a:solidFill>
                <a:latin typeface="Arial"/>
              </a:rPr>
              <a:t>ONLY </a:t>
            </a:r>
            <a:r>
              <a:rPr sz="637" b="1" i="0">
                <a:solidFill>
                  <a:srgbClr val="697177"/>
                </a:solidFill>
                <a:latin typeface="Arial"/>
              </a:rPr>
              <a:t>CHALLENGER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2163514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45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2299692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442" y="2209800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2857" y="2209800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055" y="2057400"/>
            <a:ext cx="4309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Amco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055" y="2231678"/>
            <a:ext cx="42318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Veba*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055" y="2415480"/>
            <a:ext cx="27394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V950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2922" y="2209800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745" y="2209800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81%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7943" y="2209800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1.990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2616" y="2144464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2616" y="2328267"/>
            <a:ext cx="62748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FBR450R </a:t>
            </a:r>
            <a:r>
              <a:rPr sz="750" b="0" i="0">
                <a:solidFill>
                  <a:srgbClr val="697177"/>
                </a:solidFill>
                <a:latin typeface="Arial"/>
              </a:rPr>
              <a:t>A4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1138" y="2209800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1.350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0494" y="2209800"/>
            <a:ext cx="403625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−32%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0579" y="2237780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3129" y="2175867"/>
            <a:ext cx="97518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Red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Power,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PB,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RS,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3129" y="2299692"/>
            <a:ext cx="118263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SDV,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ECM,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Magic </a:t>
            </a:r>
            <a:r>
              <a:rPr sz="750" b="1" i="0">
                <a:solidFill>
                  <a:srgbClr val="076932"/>
                </a:solidFill>
                <a:latin typeface="Arial"/>
              </a:rPr>
              <a:t>Touch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1046" y="2175867"/>
            <a:ext cx="152244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1046" y="2299692"/>
            <a:ext cx="10592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2649" y="2113955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2649" y="2237780"/>
            <a:ext cx="13793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2649" y="2361605"/>
            <a:ext cx="13906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" y="2696468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50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" y="2832646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442" y="2742605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2857" y="2742605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63%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055" y="2677418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36055" y="2861221"/>
            <a:ext cx="48171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PK </a:t>
            </a:r>
            <a:r>
              <a:rPr sz="750" b="0" i="0">
                <a:solidFill>
                  <a:srgbClr val="697177"/>
                </a:solidFill>
                <a:latin typeface="Arial"/>
              </a:rPr>
              <a:t>53002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2922" y="2742605"/>
            <a:ext cx="184184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24745" y="2742605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95%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67943" y="2742605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1.760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2616" y="2677418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2616" y="2861221"/>
            <a:ext cx="55459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9601CR </a:t>
            </a:r>
            <a:r>
              <a:rPr sz="750" b="0" i="0">
                <a:solidFill>
                  <a:srgbClr val="697177"/>
                </a:solidFill>
                <a:latin typeface="Arial"/>
              </a:rPr>
              <a:t>A8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21138" y="2742605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3.260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5811" y="2742605"/>
            <a:ext cx="4933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B1B1B"/>
                </a:solidFill>
                <a:latin typeface="Arial"/>
              </a:rPr>
              <a:t>+85%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60579" y="2646908"/>
            <a:ext cx="12392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Linkage,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Power </a:t>
            </a:r>
            <a:r>
              <a:rPr sz="750" b="0" i="0">
                <a:solidFill>
                  <a:srgbClr val="1B1B1B"/>
                </a:solidFill>
                <a:latin typeface="Arial"/>
              </a:rPr>
              <a:t>boost,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Ext.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60579" y="2770733"/>
            <a:ext cx="124479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speed,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Oscillation,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Control,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60579" y="2894558"/>
            <a:ext cx="43675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Auto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13129" y="2708821"/>
            <a:ext cx="7842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Parity </a:t>
            </a:r>
            <a:r>
              <a:rPr sz="750" b="1" i="0">
                <a:solidFill>
                  <a:srgbClr val="076932"/>
                </a:solidFill>
                <a:latin typeface="Arial"/>
              </a:rPr>
              <a:t>· </a:t>
            </a:r>
            <a:r>
              <a:rPr sz="750" b="1" i="0">
                <a:solidFill>
                  <a:srgbClr val="076932"/>
                </a:solidFill>
                <a:latin typeface="Arial"/>
              </a:rPr>
              <a:t>wins </a:t>
            </a:r>
            <a:r>
              <a:rPr sz="750" b="1" i="0">
                <a:solidFill>
                  <a:srgbClr val="076932"/>
                </a:solidFill>
                <a:latin typeface="Arial"/>
              </a:rPr>
              <a:t>on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13129" y="2832646"/>
            <a:ext cx="6891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price/delivery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1046" y="2646908"/>
            <a:ext cx="160353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Ferrari.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1046" y="2770733"/>
            <a:ext cx="146060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1046" y="2894558"/>
            <a:ext cx="79565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2649" y="2646908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2649" y="2770733"/>
            <a:ext cx="13793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2649" y="2894558"/>
            <a:ext cx="13906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500" y="3229273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60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1500" y="3365450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65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4349" y="3275558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1765" y="3275558"/>
            <a:ext cx="22788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36055" y="3123158"/>
            <a:ext cx="376017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Sany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36055" y="3297436"/>
            <a:ext cx="698001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Palfinger*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36055" y="3481239"/>
            <a:ext cx="52099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SPK61502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91829" y="3275558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5987" y="3275558"/>
            <a:ext cx="37380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100%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67943" y="3275558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1.400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2616" y="3210223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82616" y="3394025"/>
            <a:ext cx="33563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9661C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6065" y="3275558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10833" y="3275558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60579" y="3303538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13129" y="3241625"/>
            <a:ext cx="97518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Red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Power,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PB,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RS,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13129" y="3365450"/>
            <a:ext cx="118263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SDV,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ECM, </a:t>
            </a:r>
            <a:r>
              <a:rPr sz="750" b="1" i="0">
                <a:solidFill>
                  <a:srgbClr val="076932"/>
                </a:solidFill>
                <a:latin typeface="Arial"/>
              </a:rPr>
              <a:t>Magic </a:t>
            </a:r>
            <a:r>
              <a:rPr sz="750" b="1" i="0">
                <a:solidFill>
                  <a:srgbClr val="076932"/>
                </a:solidFill>
                <a:latin typeface="Arial"/>
              </a:rPr>
              <a:t>Touch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11046" y="3241625"/>
            <a:ext cx="152244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11046" y="3365450"/>
            <a:ext cx="10592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42649" y="3179713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42649" y="3303538"/>
            <a:ext cx="13793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2649" y="3427363"/>
            <a:ext cx="13906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1500" y="3762226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70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" y="3898404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75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4349" y="380836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61765" y="3808363"/>
            <a:ext cx="22788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4%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36055" y="3743176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36055" y="3926979"/>
            <a:ext cx="75100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PK </a:t>
            </a:r>
            <a:r>
              <a:rPr sz="750" b="0" i="0">
                <a:solidFill>
                  <a:srgbClr val="697177"/>
                </a:solidFill>
                <a:latin typeface="Arial"/>
              </a:rPr>
              <a:t>76002 </a:t>
            </a:r>
            <a:r>
              <a:rPr sz="750" b="0" i="0">
                <a:solidFill>
                  <a:srgbClr val="697177"/>
                </a:solidFill>
                <a:latin typeface="Arial"/>
              </a:rPr>
              <a:t>EH </a:t>
            </a:r>
            <a:r>
              <a:rPr sz="750" b="0" i="0">
                <a:solidFill>
                  <a:srgbClr val="697177"/>
                </a:solidFill>
                <a:latin typeface="Arial"/>
              </a:rPr>
              <a:t>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91829" y="380836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55987" y="3808363"/>
            <a:ext cx="37380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100%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67943" y="3808363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2.290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82616" y="3743176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82616" y="3926979"/>
            <a:ext cx="279469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990R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27984" y="3808363"/>
            <a:ext cx="687431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4.110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35811" y="3808363"/>
            <a:ext cx="493389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1B1B1B"/>
                </a:solidFill>
                <a:latin typeface="Arial"/>
              </a:rPr>
              <a:t>+79%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60579" y="3712666"/>
            <a:ext cx="12392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Linkage,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Power </a:t>
            </a:r>
            <a:r>
              <a:rPr sz="750" b="0" i="0">
                <a:solidFill>
                  <a:srgbClr val="1B1B1B"/>
                </a:solidFill>
                <a:latin typeface="Arial"/>
              </a:rPr>
              <a:t>boost,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Ext.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60579" y="3836491"/>
            <a:ext cx="124479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speed,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Oscillation,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Control,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60579" y="3960316"/>
            <a:ext cx="43675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Auto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fold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13129" y="3774579"/>
            <a:ext cx="7842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Parity </a:t>
            </a:r>
            <a:r>
              <a:rPr sz="750" b="1" i="0">
                <a:solidFill>
                  <a:srgbClr val="076932"/>
                </a:solidFill>
                <a:latin typeface="Arial"/>
              </a:rPr>
              <a:t>· </a:t>
            </a:r>
            <a:r>
              <a:rPr sz="750" b="1" i="0">
                <a:solidFill>
                  <a:srgbClr val="076932"/>
                </a:solidFill>
                <a:latin typeface="Arial"/>
              </a:rPr>
              <a:t>wins </a:t>
            </a:r>
            <a:r>
              <a:rPr sz="750" b="1" i="0">
                <a:solidFill>
                  <a:srgbClr val="076932"/>
                </a:solidFill>
                <a:latin typeface="Arial"/>
              </a:rPr>
              <a:t>on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13129" y="3898404"/>
            <a:ext cx="6891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price/delivery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11046" y="3712666"/>
            <a:ext cx="160353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Negotiate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Ferrari.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11046" y="3836491"/>
            <a:ext cx="146060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11046" y="3960316"/>
            <a:ext cx="79565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42649" y="3712666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42649" y="3836491"/>
            <a:ext cx="13793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42649" y="3960316"/>
            <a:ext cx="13906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1500" y="4238476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80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1500" y="4374654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85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4349" y="428461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61765" y="4284613"/>
            <a:ext cx="22788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2%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36055" y="4219426"/>
            <a:ext cx="64294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Palfinger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36055" y="4403229"/>
            <a:ext cx="75100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PK </a:t>
            </a:r>
            <a:r>
              <a:rPr sz="750" b="0" i="0">
                <a:solidFill>
                  <a:srgbClr val="697177"/>
                </a:solidFill>
                <a:latin typeface="Arial"/>
              </a:rPr>
              <a:t>88002 </a:t>
            </a:r>
            <a:r>
              <a:rPr sz="750" b="0" i="0">
                <a:solidFill>
                  <a:srgbClr val="697177"/>
                </a:solidFill>
                <a:latin typeface="Arial"/>
              </a:rPr>
              <a:t>EH </a:t>
            </a:r>
            <a:r>
              <a:rPr sz="750" b="0" i="0">
                <a:solidFill>
                  <a:srgbClr val="697177"/>
                </a:solidFill>
                <a:latin typeface="Arial"/>
              </a:rPr>
              <a:t>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491829" y="428461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55987" y="4284613"/>
            <a:ext cx="37380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100%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67943" y="4284613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2.220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82616" y="4219426"/>
            <a:ext cx="485974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Ferrari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82616" y="4403229"/>
            <a:ext cx="70573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TBC </a:t>
            </a:r>
            <a:r>
              <a:rPr sz="750" b="0" i="0">
                <a:solidFill>
                  <a:srgbClr val="697177"/>
                </a:solidFill>
                <a:latin typeface="Arial"/>
              </a:rPr>
              <a:t>(price </a:t>
            </a:r>
            <a:r>
              <a:rPr sz="750" b="0" i="0">
                <a:solidFill>
                  <a:srgbClr val="697177"/>
                </a:solidFill>
                <a:latin typeface="Arial"/>
              </a:rPr>
              <a:t>list)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86065" y="4284613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10833" y="4284613"/>
            <a:ext cx="30786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TBC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60579" y="4188916"/>
            <a:ext cx="123926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Linkage,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Power </a:t>
            </a:r>
            <a:r>
              <a:rPr sz="750" b="0" i="0">
                <a:solidFill>
                  <a:srgbClr val="1B1B1B"/>
                </a:solidFill>
                <a:latin typeface="Arial"/>
              </a:rPr>
              <a:t>boost,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Ext.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60579" y="4312741"/>
            <a:ext cx="124479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speed,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Oscillation,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Control,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060579" y="4436566"/>
            <a:ext cx="43675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Auto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fold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13129" y="4250829"/>
            <a:ext cx="784294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Parity </a:t>
            </a:r>
            <a:r>
              <a:rPr sz="750" b="1" i="0">
                <a:solidFill>
                  <a:srgbClr val="076932"/>
                </a:solidFill>
                <a:latin typeface="Arial"/>
              </a:rPr>
              <a:t>· </a:t>
            </a:r>
            <a:r>
              <a:rPr sz="750" b="1" i="0">
                <a:solidFill>
                  <a:srgbClr val="076932"/>
                </a:solidFill>
                <a:latin typeface="Arial"/>
              </a:rPr>
              <a:t>wins </a:t>
            </a:r>
            <a:r>
              <a:rPr sz="750" b="1" i="0">
                <a:solidFill>
                  <a:srgbClr val="076932"/>
                </a:solidFill>
                <a:latin typeface="Arial"/>
              </a:rPr>
              <a:t>on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13129" y="4374654"/>
            <a:ext cx="6891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price/delivery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11046" y="4250829"/>
            <a:ext cx="152244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Ferrari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stocks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750" b="0" i="0">
                <a:solidFill>
                  <a:srgbClr val="1B1B1B"/>
                </a:solidFill>
                <a:latin typeface="Arial"/>
              </a:rPr>
              <a:t>(~14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11046" y="4374654"/>
            <a:ext cx="1059266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wks), </a:t>
            </a:r>
            <a:r>
              <a:rPr sz="750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42649" y="4188916"/>
            <a:ext cx="1438358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install </a:t>
            </a:r>
            <a:r>
              <a:rPr sz="750" b="0" i="0">
                <a:solidFill>
                  <a:srgbClr val="1B1B1B"/>
                </a:solidFill>
                <a:latin typeface="Arial"/>
              </a:rPr>
              <a:t>+ </a:t>
            </a:r>
            <a:r>
              <a:rPr sz="750" b="0" i="0">
                <a:solidFill>
                  <a:srgbClr val="1B1B1B"/>
                </a:solidFill>
                <a:latin typeface="Arial"/>
              </a:rPr>
              <a:t>2-yr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42649" y="4312741"/>
            <a:ext cx="1379357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warranty; </a:t>
            </a:r>
            <a:r>
              <a:rPr sz="750" b="0" i="0">
                <a:solidFill>
                  <a:srgbClr val="1B1B1B"/>
                </a:solidFill>
                <a:latin typeface="Arial"/>
              </a:rPr>
              <a:t>exhibition </a:t>
            </a:r>
            <a:r>
              <a:rPr sz="750" b="0" i="0">
                <a:solidFill>
                  <a:srgbClr val="1B1B1B"/>
                </a:solidFill>
                <a:latin typeface="Arial"/>
              </a:rPr>
              <a:t>with </a:t>
            </a:r>
            <a:r>
              <a:rPr sz="750" b="0" i="0">
                <a:solidFill>
                  <a:srgbClr val="1B1B1B"/>
                </a:solidFill>
                <a:latin typeface="Arial"/>
              </a:rPr>
              <a:t>sales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42649" y="4436566"/>
            <a:ext cx="13906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kit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71500" y="4684216"/>
            <a:ext cx="254386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85 </a:t>
            </a:r>
            <a:r>
              <a:rPr sz="825" b="1" i="0">
                <a:solidFill>
                  <a:srgbClr val="1B1B1B"/>
                </a:solidFill>
                <a:latin typeface="Arial"/>
              </a:rPr>
              <a:t>–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71500" y="4820394"/>
            <a:ext cx="161782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1B1B1B"/>
                </a:solidFill>
                <a:latin typeface="Arial"/>
              </a:rPr>
              <a:t>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84349" y="473035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765" y="4730353"/>
            <a:ext cx="22788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5%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36055" y="4665166"/>
            <a:ext cx="462153" cy="1714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1" i="0">
                <a:solidFill>
                  <a:srgbClr val="1B1B1B"/>
                </a:solidFill>
                <a:latin typeface="Arial"/>
              </a:rPr>
              <a:t>XCMG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536055" y="4848969"/>
            <a:ext cx="576843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697177"/>
                </a:solidFill>
                <a:latin typeface="Arial"/>
              </a:rPr>
              <a:t>GSQZ880.6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91829" y="473035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24745" y="4730353"/>
            <a:ext cx="30092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50%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067943" y="4730353"/>
            <a:ext cx="6946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Rp </a:t>
            </a:r>
            <a:r>
              <a:rPr sz="975" b="1" i="0">
                <a:solidFill>
                  <a:srgbClr val="1B1B1B"/>
                </a:solidFill>
                <a:latin typeface="Arial"/>
              </a:rPr>
              <a:t>1.320 </a:t>
            </a:r>
            <a:r>
              <a:rPr sz="975" b="1" i="0">
                <a:solidFill>
                  <a:srgbClr val="1B1B1B"/>
                </a:solidFill>
                <a:latin typeface="Arial"/>
              </a:rPr>
              <a:t>jt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39766" y="4665166"/>
            <a:ext cx="219837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9A948D"/>
                </a:solidFill>
                <a:latin typeface="Arial"/>
              </a:rPr>
              <a:t>NO 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782616" y="4810869"/>
            <a:ext cx="87958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9A948D"/>
                </a:solidFill>
                <a:latin typeface="Arial"/>
              </a:rPr>
              <a:t>CHALLENGER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71654" y="473035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896421" y="4730353"/>
            <a:ext cx="111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1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060579" y="4758482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13129" y="4758482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076932"/>
                </a:solidFill>
                <a:latin typeface="Arial"/>
              </a:rPr>
              <a:t>–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11046" y="4758482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242649" y="4758482"/>
            <a:ext cx="94262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0" i="0">
                <a:solidFill>
                  <a:srgbClr val="1B1B1B"/>
                </a:solidFill>
                <a:latin typeface="Arial"/>
              </a:rPr>
              <a:t>–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13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7650"/>
            <a:ext cx="496937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91080" y="300038"/>
            <a:ext cx="221957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12" b="1" i="0">
                <a:solidFill>
                  <a:srgbClr val="1B1B1B"/>
                </a:solidFill>
                <a:latin typeface="Arial"/>
              </a:rPr>
              <a:t>NEDP </a:t>
            </a:r>
            <a:r>
              <a:rPr sz="712" b="1" i="0">
                <a:solidFill>
                  <a:srgbClr val="1B1B1B"/>
                </a:solidFill>
                <a:latin typeface="Arial"/>
              </a:rPr>
              <a:t>6-MONTH </a:t>
            </a:r>
            <a:r>
              <a:rPr sz="712" b="1" i="0">
                <a:solidFill>
                  <a:srgbClr val="1B1B1B"/>
                </a:solidFill>
                <a:latin typeface="Arial"/>
              </a:rPr>
              <a:t>REVIEW </a:t>
            </a:r>
            <a:r>
              <a:rPr sz="712" b="0" i="0">
                <a:solidFill>
                  <a:srgbClr val="697177"/>
                </a:solidFill>
                <a:latin typeface="Arial"/>
              </a:rPr>
              <a:t>· </a:t>
            </a:r>
            <a:r>
              <a:rPr sz="712" b="0" i="0">
                <a:solidFill>
                  <a:srgbClr val="697177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790575"/>
            <a:ext cx="986698" cy="1333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825" b="1" i="0">
                <a:solidFill>
                  <a:srgbClr val="697177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942975"/>
            <a:ext cx="7734630" cy="352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325" b="0" i="0">
                <a:solidFill>
                  <a:srgbClr val="1B1B1B"/>
                </a:solidFill>
                <a:latin typeface="Georgia"/>
              </a:rPr>
              <a:t>Partner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with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F.lli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Ferrari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and </a:t>
            </a:r>
            <a:r>
              <a:rPr sz="2325" b="0" i="1">
                <a:solidFill>
                  <a:srgbClr val="076932"/>
                </a:solidFill>
                <a:latin typeface="Georgia"/>
              </a:rPr>
              <a:t>XCMG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;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keep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Fassi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for </a:t>
            </a:r>
            <a:r>
              <a:rPr sz="2325" b="0" i="0">
                <a:solidFill>
                  <a:srgbClr val="1B1B1B"/>
                </a:solidFill>
                <a:latin typeface="Georgia"/>
              </a:rPr>
              <a:t>Petrosea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00225"/>
            <a:ext cx="886364" cy="3143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100" b="0" i="0">
                <a:solidFill>
                  <a:srgbClr val="1B1B1B"/>
                </a:solidFill>
                <a:latin typeface="Georgia"/>
              </a:rPr>
              <a:t>XCMG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143125"/>
            <a:ext cx="159154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MEDIUM </a:t>
            </a:r>
            <a:r>
              <a:rPr sz="750" b="1" i="0">
                <a:solidFill>
                  <a:srgbClr val="697177"/>
                </a:solidFill>
                <a:latin typeface="Arial"/>
              </a:rPr>
              <a:t>· </a:t>
            </a:r>
            <a:r>
              <a:rPr sz="750" b="1" i="0">
                <a:solidFill>
                  <a:srgbClr val="697177"/>
                </a:solidFill>
                <a:latin typeface="Arial"/>
              </a:rPr>
              <a:t>PRICE </a:t>
            </a:r>
            <a:r>
              <a:rPr sz="750" b="1" i="0">
                <a:solidFill>
                  <a:srgbClr val="697177"/>
                </a:solidFill>
                <a:latin typeface="Arial"/>
              </a:rPr>
              <a:t>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371725"/>
            <a:ext cx="205960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Challenger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at </a:t>
            </a:r>
            <a:r>
              <a:rPr sz="975" b="0" i="0">
                <a:solidFill>
                  <a:srgbClr val="1B1B1B"/>
                </a:solidFill>
                <a:latin typeface="Arial"/>
              </a:rPr>
              <a:t>30–35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75" b="0" i="0">
                <a:solidFill>
                  <a:srgbClr val="1B1B1B"/>
                </a:solidFill>
                <a:latin typeface="Arial"/>
              </a:rPr>
              <a:t>35–40 </a:t>
            </a:r>
            <a:r>
              <a:rPr sz="975" b="0" i="0">
                <a:solidFill>
                  <a:srgbClr val="1B1B1B"/>
                </a:solidFill>
                <a:latin typeface="Arial"/>
              </a:rPr>
              <a:t>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582168"/>
            <a:ext cx="180751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SQZ365.4: </a:t>
            </a:r>
            <a:r>
              <a:rPr sz="975" b="0" i="0">
                <a:solidFill>
                  <a:srgbClr val="1B1B1B"/>
                </a:solidFill>
                <a:latin typeface="Arial"/>
              </a:rPr>
              <a:t>−9% </a:t>
            </a:r>
            <a:r>
              <a:rPr sz="975" b="0" i="0">
                <a:solidFill>
                  <a:srgbClr val="1B1B1B"/>
                </a:solidFill>
                <a:latin typeface="Arial"/>
              </a:rPr>
              <a:t>vs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SPK36080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92611"/>
            <a:ext cx="175229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Ask </a:t>
            </a:r>
            <a:r>
              <a:rPr sz="975" b="0" i="0">
                <a:solidFill>
                  <a:srgbClr val="1B1B1B"/>
                </a:solidFill>
                <a:latin typeface="Arial"/>
              </a:rPr>
              <a:t>XCMG </a:t>
            </a:r>
            <a:r>
              <a:rPr sz="975" b="0" i="0">
                <a:solidFill>
                  <a:srgbClr val="1B1B1B"/>
                </a:solidFill>
                <a:latin typeface="Arial"/>
              </a:rPr>
              <a:t>for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 </a:t>
            </a:r>
            <a:r>
              <a:rPr sz="975" b="0" i="0">
                <a:solidFill>
                  <a:srgbClr val="1B1B1B"/>
                </a:solidFill>
                <a:latin typeface="Arial"/>
              </a:rPr>
              <a:t>special </a:t>
            </a:r>
            <a:r>
              <a:rPr sz="975" b="0" i="0">
                <a:solidFill>
                  <a:srgbClr val="1B1B1B"/>
                </a:solidFill>
                <a:latin typeface="Arial"/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003054"/>
            <a:ext cx="1898696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Bundle </a:t>
            </a:r>
            <a:r>
              <a:rPr sz="975" b="0" i="0">
                <a:solidFill>
                  <a:srgbClr val="1B1B1B"/>
                </a:solidFill>
                <a:latin typeface="Arial"/>
              </a:rPr>
              <a:t>crane </a:t>
            </a:r>
            <a:r>
              <a:rPr sz="975" b="0" i="0">
                <a:solidFill>
                  <a:srgbClr val="1B1B1B"/>
                </a:solidFill>
                <a:latin typeface="Arial"/>
              </a:rPr>
              <a:t>+ </a:t>
            </a:r>
            <a:r>
              <a:rPr sz="975" b="0" i="0">
                <a:solidFill>
                  <a:srgbClr val="1B1B1B"/>
                </a:solidFill>
                <a:latin typeface="Arial"/>
              </a:rPr>
              <a:t>flatdeck </a:t>
            </a:r>
            <a:r>
              <a:rPr sz="975" b="0" i="0">
                <a:solidFill>
                  <a:srgbClr val="1B1B1B"/>
                </a:solidFill>
                <a:latin typeface="Arial"/>
              </a:rPr>
              <a:t>+ </a:t>
            </a:r>
            <a:r>
              <a:rPr sz="975" b="0" i="0">
                <a:solidFill>
                  <a:srgbClr val="1B1B1B"/>
                </a:solidFill>
                <a:latin typeface="Arial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2047" y="1800225"/>
            <a:ext cx="1318936" cy="3143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100" b="0" i="0">
                <a:solidFill>
                  <a:srgbClr val="1B1B1B"/>
                </a:solidFill>
                <a:latin typeface="Georgia"/>
              </a:rPr>
              <a:t>F.lli </a:t>
            </a:r>
            <a:r>
              <a:rPr sz="2100" b="0" i="0">
                <a:solidFill>
                  <a:srgbClr val="1B1B1B"/>
                </a:solidFill>
                <a:latin typeface="Georgia"/>
              </a:rPr>
              <a:t>Ferrari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2047" y="2143125"/>
            <a:ext cx="1667580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HEAVY </a:t>
            </a:r>
            <a:r>
              <a:rPr sz="750" b="1" i="0">
                <a:solidFill>
                  <a:srgbClr val="697177"/>
                </a:solidFill>
                <a:latin typeface="Arial"/>
              </a:rPr>
              <a:t>· </a:t>
            </a:r>
            <a:r>
              <a:rPr sz="750" b="1" i="0">
                <a:solidFill>
                  <a:srgbClr val="697177"/>
                </a:solidFill>
                <a:latin typeface="Arial"/>
              </a:rPr>
              <a:t>QUALITY </a:t>
            </a:r>
            <a:r>
              <a:rPr sz="750" b="1" i="0">
                <a:solidFill>
                  <a:srgbClr val="697177"/>
                </a:solidFill>
                <a:latin typeface="Arial"/>
              </a:rPr>
              <a:t>BUYERS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447" y="2371725"/>
            <a:ext cx="2496913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Wins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25–30 </a:t>
            </a:r>
            <a:r>
              <a:rPr sz="975" b="0" i="0">
                <a:solidFill>
                  <a:srgbClr val="1B1B1B"/>
                </a:solidFill>
                <a:latin typeface="Arial"/>
              </a:rPr>
              <a:t>(−23%)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and </a:t>
            </a:r>
            <a:r>
              <a:rPr sz="975" b="0" i="0">
                <a:solidFill>
                  <a:srgbClr val="1B1B1B"/>
                </a:solidFill>
                <a:latin typeface="Arial"/>
              </a:rPr>
              <a:t>45–50 </a:t>
            </a:r>
            <a:r>
              <a:rPr sz="975" b="0" i="0">
                <a:solidFill>
                  <a:srgbClr val="1B1B1B"/>
                </a:solidFill>
                <a:latin typeface="Arial"/>
              </a:rPr>
              <a:t>tm </a:t>
            </a:r>
            <a:r>
              <a:rPr sz="975" b="0" i="0">
                <a:solidFill>
                  <a:srgbClr val="1B1B1B"/>
                </a:solidFill>
                <a:latin typeface="Arial"/>
              </a:rPr>
              <a:t>(−32%)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447" y="2582168"/>
            <a:ext cx="301088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Stock </a:t>
            </a:r>
            <a:r>
              <a:rPr sz="975" b="0" i="0">
                <a:solidFill>
                  <a:srgbClr val="1B1B1B"/>
                </a:solidFill>
                <a:latin typeface="Arial"/>
              </a:rPr>
              <a:t>units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in </a:t>
            </a:r>
            <a:r>
              <a:rPr sz="975" b="0" i="0">
                <a:solidFill>
                  <a:srgbClr val="1B1B1B"/>
                </a:solidFill>
                <a:latin typeface="Arial"/>
              </a:rPr>
              <a:t>China </a:t>
            </a:r>
            <a:r>
              <a:rPr sz="975" b="0" i="0">
                <a:solidFill>
                  <a:srgbClr val="1B1B1B"/>
                </a:solidFill>
                <a:latin typeface="Arial"/>
              </a:rPr>
              <a:t>(~14 </a:t>
            </a:r>
            <a:r>
              <a:rPr sz="975" b="0" i="0">
                <a:solidFill>
                  <a:srgbClr val="1B1B1B"/>
                </a:solidFill>
                <a:latin typeface="Arial"/>
              </a:rPr>
              <a:t>weeks), </a:t>
            </a:r>
            <a:r>
              <a:rPr sz="975" b="0" i="0">
                <a:solidFill>
                  <a:srgbClr val="1B1B1B"/>
                </a:solidFill>
                <a:latin typeface="Arial"/>
              </a:rPr>
              <a:t>parts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in </a:t>
            </a:r>
            <a:r>
              <a:rPr sz="975" b="0" i="0">
                <a:solidFill>
                  <a:srgbClr val="1B1B1B"/>
                </a:solidFill>
                <a:latin typeface="Arial"/>
              </a:rPr>
              <a:t>Malaysia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447" y="2792611"/>
            <a:ext cx="216893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Cut </a:t>
            </a:r>
            <a:r>
              <a:rPr sz="975" b="0" i="0">
                <a:solidFill>
                  <a:srgbClr val="1B1B1B"/>
                </a:solidFill>
                <a:latin typeface="Arial"/>
              </a:rPr>
              <a:t>price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at </a:t>
            </a:r>
            <a:r>
              <a:rPr sz="975" b="0" i="0">
                <a:solidFill>
                  <a:srgbClr val="1B1B1B"/>
                </a:solidFill>
                <a:latin typeface="Arial"/>
              </a:rPr>
              <a:t>40–45, </a:t>
            </a:r>
            <a:r>
              <a:rPr sz="975" b="0" i="0">
                <a:solidFill>
                  <a:srgbClr val="1B1B1B"/>
                </a:solidFill>
                <a:latin typeface="Arial"/>
              </a:rPr>
              <a:t>50–55, </a:t>
            </a:r>
            <a:r>
              <a:rPr sz="975" b="0" i="0">
                <a:solidFill>
                  <a:srgbClr val="1B1B1B"/>
                </a:solidFill>
                <a:latin typeface="Arial"/>
              </a:rPr>
              <a:t>70–75 </a:t>
            </a:r>
            <a:r>
              <a:rPr sz="975" b="0" i="0">
                <a:solidFill>
                  <a:srgbClr val="1B1B1B"/>
                </a:solidFill>
                <a:latin typeface="Arial"/>
              </a:rPr>
              <a:t>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447" y="3003054"/>
            <a:ext cx="1508245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Bundle </a:t>
            </a:r>
            <a:r>
              <a:rPr sz="975" b="0" i="0">
                <a:solidFill>
                  <a:srgbClr val="1B1B1B"/>
                </a:solidFill>
                <a:latin typeface="Arial"/>
              </a:rPr>
              <a:t>+ </a:t>
            </a:r>
            <a:r>
              <a:rPr sz="975" b="0" i="0">
                <a:solidFill>
                  <a:srgbClr val="1B1B1B"/>
                </a:solidFill>
                <a:latin typeface="Arial"/>
              </a:rPr>
              <a:t>2-year </a:t>
            </a:r>
            <a:r>
              <a:rPr sz="975" b="0" i="0">
                <a:solidFill>
                  <a:srgbClr val="1B1B1B"/>
                </a:solidFill>
                <a:latin typeface="Arial"/>
              </a:rPr>
              <a:t>warranty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8918" y="1800225"/>
            <a:ext cx="619438" cy="3143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2100" b="0" i="0">
                <a:solidFill>
                  <a:srgbClr val="1B1B1B"/>
                </a:solidFill>
                <a:latin typeface="Georgia"/>
              </a:rPr>
              <a:t>Fassi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8918" y="2143125"/>
            <a:ext cx="928485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697177"/>
                </a:solidFill>
                <a:latin typeface="Arial"/>
              </a:rPr>
              <a:t>KEY </a:t>
            </a:r>
            <a:r>
              <a:rPr sz="750" b="1" i="0">
                <a:solidFill>
                  <a:srgbClr val="697177"/>
                </a:solidFill>
                <a:latin typeface="Arial"/>
              </a:rPr>
              <a:t>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1318" y="2371725"/>
            <a:ext cx="150445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Petrosea </a:t>
            </a:r>
            <a:r>
              <a:rPr sz="975" b="0" i="0">
                <a:solidFill>
                  <a:srgbClr val="1B1B1B"/>
                </a:solidFill>
                <a:latin typeface="Arial"/>
              </a:rPr>
              <a:t>buys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Fassi </a:t>
            </a:r>
            <a:r>
              <a:rPr sz="975" b="0" i="0">
                <a:solidFill>
                  <a:srgbClr val="1B1B1B"/>
                </a:solidFill>
                <a:latin typeface="Arial"/>
              </a:rPr>
              <a:t>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1318" y="2582168"/>
            <a:ext cx="16871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75" b="0" i="0">
                <a:solidFill>
                  <a:srgbClr val="1B1B1B"/>
                </a:solidFill>
                <a:latin typeface="Arial"/>
              </a:rPr>
              <a:t>Keep </a:t>
            </a:r>
            <a:r>
              <a:rPr sz="975" b="0" i="0">
                <a:solidFill>
                  <a:srgbClr val="1B1B1B"/>
                </a:solidFill>
                <a:latin typeface="Arial"/>
              </a:rPr>
              <a:t>supply </a:t>
            </a:r>
            <a:r>
              <a:rPr sz="975" b="0" i="0">
                <a:solidFill>
                  <a:srgbClr val="1B1B1B"/>
                </a:solidFill>
                <a:latin typeface="Arial"/>
              </a:rPr>
              <a:t>for </a:t>
            </a:r>
            <a:r>
              <a:rPr sz="975" b="0" i="0">
                <a:solidFill>
                  <a:srgbClr val="1B1B1B"/>
                </a:solidFill>
                <a:latin typeface="Arial"/>
              </a:rPr>
              <a:t>this </a:t>
            </a:r>
            <a:r>
              <a:rPr sz="975" b="0" i="0">
                <a:solidFill>
                  <a:srgbClr val="1B1B1B"/>
                </a:solidFill>
                <a:latin typeface="Arial"/>
              </a:rPr>
              <a:t>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5195888"/>
            <a:ext cx="1300951" cy="1238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750" b="1" i="0">
                <a:solidFill>
                  <a:srgbClr val="83E7AE"/>
                </a:solidFill>
                <a:latin typeface="Arial"/>
              </a:rPr>
              <a:t>DECISIONS </a:t>
            </a:r>
            <a:r>
              <a:rPr sz="750" b="1" i="0">
                <a:solidFill>
                  <a:srgbClr val="83E7AE"/>
                </a:solidFill>
                <a:latin typeface="Arial"/>
              </a:rPr>
              <a:t>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944" y="5172075"/>
            <a:ext cx="3167542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FFFFFF"/>
                </a:solidFill>
                <a:latin typeface="Georgia"/>
              </a:rPr>
              <a:t>Approve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partnership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talks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with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F.lli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Ferrari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XCMG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0998" y="5172075"/>
            <a:ext cx="2514898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FFFFFF"/>
                </a:solidFill>
                <a:latin typeface="Georgia"/>
              </a:rPr>
              <a:t>Mandate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Ferrari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price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stock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negotiation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3349" y="5172075"/>
            <a:ext cx="2558439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050" b="0" i="0">
                <a:solidFill>
                  <a:srgbClr val="FFFFFF"/>
                </a:solidFill>
                <a:latin typeface="Georgia"/>
              </a:rPr>
              <a:t>Budget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for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exhibitions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Marcom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sales </a:t>
            </a:r>
            <a:r>
              <a:rPr sz="1050" b="0" i="0">
                <a:solidFill>
                  <a:srgbClr val="FFFFFF"/>
                </a:solidFill>
                <a:latin typeface="Georgia"/>
              </a:rPr>
              <a:t>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" y="6581775"/>
            <a:ext cx="2563172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NEDP </a:t>
            </a:r>
            <a:r>
              <a:rPr sz="637" b="1" i="0">
                <a:solidFill>
                  <a:srgbClr val="889096"/>
                </a:solidFill>
                <a:latin typeface="Arial"/>
              </a:rPr>
              <a:t>MID </a:t>
            </a:r>
            <a:r>
              <a:rPr sz="637" b="1" i="0">
                <a:solidFill>
                  <a:srgbClr val="889096"/>
                </a:solidFill>
                <a:latin typeface="Arial"/>
              </a:rPr>
              <a:t>YEAR </a:t>
            </a:r>
            <a:r>
              <a:rPr sz="637" b="1" i="0">
                <a:solidFill>
                  <a:srgbClr val="889096"/>
                </a:solidFill>
                <a:latin typeface="Arial"/>
              </a:rPr>
              <a:t>REVIEW </a:t>
            </a:r>
            <a:r>
              <a:rPr sz="637" b="1" i="0">
                <a:solidFill>
                  <a:srgbClr val="889096"/>
                </a:solidFill>
                <a:latin typeface="Arial"/>
              </a:rPr>
              <a:t>2026 </a:t>
            </a:r>
            <a:r>
              <a:rPr sz="637" b="1" i="0">
                <a:solidFill>
                  <a:srgbClr val="889096"/>
                </a:solidFill>
                <a:latin typeface="Arial"/>
              </a:rPr>
              <a:t>· </a:t>
            </a:r>
            <a:r>
              <a:rPr sz="637" b="1" i="0">
                <a:solidFill>
                  <a:srgbClr val="889096"/>
                </a:solidFill>
                <a:latin typeface="Arial"/>
              </a:rPr>
              <a:t>TIBERIAS </a:t>
            </a:r>
            <a:r>
              <a:rPr sz="637" b="1" i="0">
                <a:solidFill>
                  <a:srgbClr val="889096"/>
                </a:solidFill>
                <a:latin typeface="Arial"/>
              </a:rPr>
              <a:t>K. </a:t>
            </a:r>
            <a:r>
              <a:rPr sz="637" b="1" i="0">
                <a:solidFill>
                  <a:srgbClr val="889096"/>
                </a:solidFill>
                <a:latin typeface="Arial"/>
              </a:rPr>
              <a:t>SIMU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4750" y="6581775"/>
            <a:ext cx="37128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37" b="1" i="0">
                <a:solidFill>
                  <a:srgbClr val="889096"/>
                </a:solidFill>
                <a:latin typeface="Arial"/>
              </a:rPr>
              <a:t>14 </a:t>
            </a:r>
            <a:r>
              <a:rPr sz="637" b="1" i="0">
                <a:solidFill>
                  <a:srgbClr val="889096"/>
                </a:solidFill>
                <a:latin typeface="Arial"/>
              </a:rPr>
              <a:t>/ </a:t>
            </a:r>
            <a:r>
              <a:rPr sz="637" b="1" i="0">
                <a:solidFill>
                  <a:srgbClr val="88909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1000"/>
            <a:ext cx="579686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75" y="2590800"/>
            <a:ext cx="974235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900" b="1" i="0">
                <a:solidFill>
                  <a:srgbClr val="83E7AE"/>
                </a:solidFill>
                <a:latin typeface="Arial"/>
              </a:rPr>
              <a:t>THANK </a:t>
            </a:r>
            <a:r>
              <a:rPr sz="900" b="1" i="0">
                <a:solidFill>
                  <a:srgbClr val="83E7AE"/>
                </a:solidFill>
                <a:latin typeface="Arial"/>
              </a:rPr>
              <a:t>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75" y="2857500"/>
            <a:ext cx="7954229" cy="561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3900" b="0" i="0">
                <a:solidFill>
                  <a:srgbClr val="FFFFFF"/>
                </a:solidFill>
                <a:latin typeface="Georgia"/>
              </a:rPr>
              <a:t>Questions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and </a:t>
            </a:r>
            <a:r>
              <a:rPr sz="3900" b="0" i="1">
                <a:solidFill>
                  <a:srgbClr val="83E7AE"/>
                </a:solidFill>
                <a:latin typeface="Georgia"/>
              </a:rPr>
              <a:t>feedback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are </a:t>
            </a:r>
            <a:r>
              <a:rPr sz="3900" b="0" i="0">
                <a:solidFill>
                  <a:srgbClr val="FFFFFF"/>
                </a:solidFill>
                <a:latin typeface="Georgia"/>
              </a:rPr>
              <a:t>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3535561"/>
            <a:ext cx="6394793" cy="180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200" b="0" i="0">
                <a:solidFill>
                  <a:srgbClr val="C1C8CD"/>
                </a:solidFill>
                <a:latin typeface="Arial"/>
              </a:rPr>
              <a:t>Tiberias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Krisgaharu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Simu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·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Marketing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Strategic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2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Associate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·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PT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Triatra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Sinergia </a:t>
            </a:r>
            <a:r>
              <a:rPr sz="1200" b="0" i="0">
                <a:solidFill>
                  <a:srgbClr val="C1C8CD"/>
                </a:solidFill>
                <a:latin typeface="Arial"/>
              </a:rPr>
              <a:t>Pratama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75" y="6486525"/>
            <a:ext cx="1620411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7D868C"/>
                </a:solidFill>
                <a:latin typeface="Arial"/>
              </a:rPr>
              <a:t>NEDP </a:t>
            </a:r>
            <a:r>
              <a:rPr sz="675" b="1" i="0">
                <a:solidFill>
                  <a:srgbClr val="7D868C"/>
                </a:solidFill>
                <a:latin typeface="Arial"/>
              </a:rPr>
              <a:t>MID </a:t>
            </a:r>
            <a:r>
              <a:rPr sz="675" b="1" i="0">
                <a:solidFill>
                  <a:srgbClr val="7D868C"/>
                </a:solidFill>
                <a:latin typeface="Arial"/>
              </a:rPr>
              <a:t>YEAR </a:t>
            </a:r>
            <a:r>
              <a:rPr sz="675" b="1" i="0">
                <a:solidFill>
                  <a:srgbClr val="7D868C"/>
                </a:solidFill>
                <a:latin typeface="Arial"/>
              </a:rPr>
              <a:t>REVIEW </a:t>
            </a:r>
            <a:r>
              <a:rPr sz="675" b="1" i="0">
                <a:solidFill>
                  <a:srgbClr val="7D868C"/>
                </a:solidFill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3965" y="6486525"/>
            <a:ext cx="386745" cy="114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675" b="1" i="0">
                <a:solidFill>
                  <a:srgbClr val="7D868C"/>
                </a:solidFill>
                <a:latin typeface="Arial"/>
              </a:rPr>
              <a:t>15 </a:t>
            </a:r>
            <a:r>
              <a:rPr sz="675" b="1" i="0">
                <a:solidFill>
                  <a:srgbClr val="7D868C"/>
                </a:solidFill>
                <a:latin typeface="Arial"/>
              </a:rPr>
              <a:t>/ </a:t>
            </a:r>
            <a:r>
              <a:rPr sz="675" b="1" i="0">
                <a:solidFill>
                  <a:srgbClr val="7D868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