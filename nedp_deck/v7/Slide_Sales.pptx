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0524991" cy="587067"/>
            <a:chOff x="347225" y="685795"/>
            <a:chExt cx="10524991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Sales/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6814687" y="685795"/>
              <a:ext cx="286271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What happens after the PO comes in?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After the PO, I lock the order details, follow production and push billing to invoice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Close Won to invoice, so the unit reaches the customer on the agreed RFD.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Pentagon 35"/>
          <p:cNvSpPr/>
          <p:nvPr/>
        </p:nvSpPr>
        <p:spPr>
          <a:xfrm>
            <a:off x="342900" y="2114550"/>
            <a:ext cx="3752850" cy="285750"/>
          </a:xfrm>
          <a:prstGeom prst="homePlat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1. Close Won → CPO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PO, preliminary drawing and PJB checked in CRM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QFD requested from UTE; special requests and painting style collected from the Business Consultant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RFD date in the QFD becomes the due date of the PO Interco</a:t>
            </a:r>
          </a:p>
        </p:txBody>
      </p:sp>
      <p:sp>
        <p:nvSpPr>
          <p:cNvPr id="38" name="Chevron 37"/>
          <p:cNvSpPr/>
          <p:nvPr/>
        </p:nvSpPr>
        <p:spPr>
          <a:xfrm>
            <a:off x="4210050" y="2114550"/>
            <a:ext cx="3752850" cy="285750"/>
          </a:xfrm>
          <a:prstGeom prst="chevron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2. Production Monitoring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4815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Production followed regularly: plant visits or photos from Nandu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QFD plan compared with actual production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Issues that put the RFD at risk escalated early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Painting style requested at least one month before RFD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Customer FAT joined with the Business Consultant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10050" y="373380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c5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3733800"/>
            <a:ext cx="971550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2" name="Rectangle 41"/>
          <p:cNvSpPr/>
          <p:nvPr/>
        </p:nvSpPr>
        <p:spPr>
          <a:xfrm>
            <a:off x="6115050" y="373380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c5_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82" y="3733800"/>
            <a:ext cx="974586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4" name="Rectangle 43"/>
          <p:cNvSpPr/>
          <p:nvPr/>
        </p:nvSpPr>
        <p:spPr>
          <a:xfrm>
            <a:off x="4210050" y="508635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c5_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6682" y="5086350"/>
            <a:ext cx="974586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6" name="Rectangle 45"/>
          <p:cNvSpPr/>
          <p:nvPr/>
        </p:nvSpPr>
        <p:spPr>
          <a:xfrm>
            <a:off x="6115050" y="508635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c5_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682" y="5086350"/>
            <a:ext cx="974586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8" name="Chevron 47"/>
          <p:cNvSpPr/>
          <p:nvPr/>
        </p:nvSpPr>
        <p:spPr>
          <a:xfrm>
            <a:off x="8077200" y="2114550"/>
            <a:ext cx="3752850" cy="285750"/>
          </a:xfrm>
          <a:prstGeom prst="chevron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3. Billing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530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Billing progress tracked: production, UTE admin or Triatra admin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Any blockage escalated until the invoice goes out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Pipeline–OSPO dashboard updated every month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5143500"/>
            <a:ext cx="3752850" cy="1238250"/>
          </a:xfrm>
          <a:prstGeom prst="rect">
            <a:avLst/>
          </a:prstGeom>
          <a:noFill/>
          <a:ln w="12700">
            <a:solidFill>
              <a:srgbClr val="9E9E9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8150" y="5057775"/>
            <a:ext cx="438150" cy="1714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Neue Haas Grotesk Text Pro"/>
              </a:rPr>
              <a:t>FYI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531495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E9E57"/>
                </a:solidFill>
                <a:latin typeface="Neue Haas Grotesk Text Pro"/>
              </a:rPr>
              <a:t>CLOSE WON APPROVAL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486400"/>
            <a:ext cx="17430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Sales Manager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38375" y="5486400"/>
            <a:ext cx="17430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Marketing Associate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734050"/>
            <a:ext cx="17430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Marketing Manager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38375" y="5734050"/>
            <a:ext cx="17430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GM Marketing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0960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E9E57"/>
                </a:solidFill>
                <a:latin typeface="Neue Haas Grotesk Text Pro"/>
              </a:rPr>
              <a:t>PO INTERCO APPROVAL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6267450"/>
            <a:ext cx="1149350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Marketing Manager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4650" y="6267450"/>
            <a:ext cx="1149350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GM Marketing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32100" y="6267450"/>
            <a:ext cx="1149350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Marketing Director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2900" y="6457950"/>
            <a:ext cx="114871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6B6B6B"/>
                </a:solidFill>
                <a:latin typeface="Neue Haas Grotesk Text Pro"/>
              </a:rPr>
              <a:t>Photos: unit production at the UTE plant.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