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0524991" cy="587067"/>
            <a:chOff x="347225" y="685795"/>
            <a:chExt cx="10524991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Sales/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6814687" y="685795"/>
              <a:ext cx="286271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happens after the PO comes in?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After the PO, I lock the order details, follow production and push billing to invoice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Close Won to invoice, so the unit reaches the customer on the agreed RFD.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Pentagon 35"/>
          <p:cNvSpPr/>
          <p:nvPr/>
        </p:nvSpPr>
        <p:spPr>
          <a:xfrm>
            <a:off x="342900" y="2114550"/>
            <a:ext cx="3752850" cy="285750"/>
          </a:xfrm>
          <a:prstGeom prst="homePlat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1. Close Won → CPO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PO, preliminary drawing and PJB checked in CRM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QFD requested from UTE; special requests and painting style collected from the Business Consultant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RFD date in the QFD becomes the due date of the PO Interco</a:t>
            </a:r>
          </a:p>
        </p:txBody>
      </p:sp>
      <p:sp>
        <p:nvSpPr>
          <p:cNvPr id="38" name="Chevron 37"/>
          <p:cNvSpPr/>
          <p:nvPr/>
        </p:nvSpPr>
        <p:spPr>
          <a:xfrm>
            <a:off x="421005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2. Production Monitoring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4815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Production followed regularly: plant visits or photos from Nandu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QFD plan compared with actual production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Issues that put the RFD at risk escalated early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Painting style requested at least one month before RFD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Customer FAT joined with the Business Consultant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0050" y="373380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c5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3733800"/>
            <a:ext cx="971550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2" name="Rectangle 41"/>
          <p:cNvSpPr/>
          <p:nvPr/>
        </p:nvSpPr>
        <p:spPr>
          <a:xfrm>
            <a:off x="6115050" y="373380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c5_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82" y="373380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4" name="Rectangle 43"/>
          <p:cNvSpPr/>
          <p:nvPr/>
        </p:nvSpPr>
        <p:spPr>
          <a:xfrm>
            <a:off x="4210050" y="508635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5_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682" y="508635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6" name="Rectangle 45"/>
          <p:cNvSpPr/>
          <p:nvPr/>
        </p:nvSpPr>
        <p:spPr>
          <a:xfrm>
            <a:off x="6115050" y="508635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c5_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682" y="508635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8" name="Chevron 47"/>
          <p:cNvSpPr/>
          <p:nvPr/>
        </p:nvSpPr>
        <p:spPr>
          <a:xfrm>
            <a:off x="807720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3. Billing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53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Billing progress tracked: production, UTE admin or Triatra admin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Any blockage escalated until the invoice goes out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Pipeline–OSPO dashboard updated every month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2900" y="3657600"/>
            <a:ext cx="37528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CLOSE WON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" y="3829050"/>
            <a:ext cx="18573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Sales Manager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38375" y="3829050"/>
            <a:ext cx="18573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Associate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2900" y="4076700"/>
            <a:ext cx="18573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Manager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38375" y="4076700"/>
            <a:ext cx="18573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GM Marketing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4419600"/>
            <a:ext cx="37528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PO INTERCO APPROVAL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2900" y="4591050"/>
            <a:ext cx="12255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Marketing Manager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606550" y="4591050"/>
            <a:ext cx="12255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GM Marketing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70200" y="4591050"/>
            <a:ext cx="12255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Director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77200" y="3657600"/>
            <a:ext cx="37528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AT UTE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77200" y="38290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1. PO Interco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24938" y="38290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2. PRO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972675" y="38290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3. PR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920412" y="38290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4. 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77200" y="407670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5. Drawing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24938" y="407670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6. BOM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72675" y="407670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7. LPPB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920412" y="407670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8. PB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324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9. Fabrication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024938" y="4324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10. Assembly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72675" y="4324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11. QC passed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920412" y="4324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12. GR Teco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57200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13. GI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7200" y="4914900"/>
            <a:ext cx="37528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AT TRIATRA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086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1. GR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24938" y="5086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2. DO / TO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72675" y="5086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3. GI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920412" y="508635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4. BAST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33400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5. BAST approval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24938" y="5334000"/>
            <a:ext cx="909638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6. Invoice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2900" y="6457950"/>
            <a:ext cx="114871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6B6B6B"/>
                </a:solidFill>
                <a:latin typeface="Neue Haas Grotesk Text Pro"/>
              </a:rPr>
              <a:t>Photos: unit production at the UTE plant.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