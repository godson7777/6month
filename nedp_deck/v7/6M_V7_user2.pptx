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9"/>
  </p:notesMasterIdLst>
  <p:handoutMasterIdLst>
    <p:handoutMasterId r:id="rId20"/>
  </p:handoutMasterIdLst>
  <p:sldIdLst>
    <p:sldId id="1519" r:id="rId5"/>
    <p:sldId id="1541" r:id="rId6"/>
    <p:sldId id="1552" r:id="rId7"/>
    <p:sldId id="259" r:id="rId8"/>
    <p:sldId id="1547" r:id="rId9"/>
    <p:sldId id="1554" r:id="rId10"/>
    <p:sldId id="1532" r:id="rId11"/>
    <p:sldId id="1545" r:id="rId12"/>
    <p:sldId id="1550" r:id="rId13"/>
    <p:sldId id="1548" r:id="rId14"/>
    <p:sldId id="1551" r:id="rId15"/>
    <p:sldId id="1553" r:id="rId16"/>
    <p:sldId id="1555" r:id="rId17"/>
    <p:sldId id="155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54F"/>
    <a:srgbClr val="FFFF00"/>
    <a:srgbClr val="FFFFFF"/>
    <a:srgbClr val="0A7F3F"/>
    <a:srgbClr val="076932"/>
    <a:srgbClr val="A8B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2" autoAdjust="0"/>
    <p:restoredTop sz="93917" autoAdjust="0"/>
  </p:normalViewPr>
  <p:slideViewPr>
    <p:cSldViewPr snapToGrid="0">
      <p:cViewPr>
        <p:scale>
          <a:sx n="66" d="100"/>
          <a:sy n="66" d="100"/>
        </p:scale>
        <p:origin x="608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0.91999992113306994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Light (&lt; 8 tm)</c:v>
                </c:pt>
              </c:strCache>
            </c:strRef>
          </c:tx>
          <c:spPr>
            <a:solidFill>
              <a:srgbClr val="C7EFD5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109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CE2-43E3-8866-C9157CEEC5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52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CE2-43E3-8866-C9157CEEC5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53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CE2-43E3-8866-C9157CEEC52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CE2-43E3-8866-C9157CEEC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</c:v>
                </c:pt>
                <c:pt idx="1">
                  <c:v>52</c:v>
                </c:pt>
                <c:pt idx="2">
                  <c:v>53</c:v>
                </c:pt>
                <c:pt idx="3">
                  <c:v>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7CE2-43E3-8866-C9157CEEC5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68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CE2-43E3-8866-C9157CEEC5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52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CE2-43E3-8866-C9157CEEC5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75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CE2-43E3-8866-C9157CEEC52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CE2-43E3-8866-C9157CEEC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</c:v>
                </c:pt>
                <c:pt idx="1">
                  <c:v>52</c:v>
                </c:pt>
                <c:pt idx="2">
                  <c:v>75</c:v>
                </c:pt>
                <c:pt idx="3">
                  <c:v>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9-7CE2-43E3-8866-C9157CEEC5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74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7CE2-43E3-8866-C9157CEEC5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70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7CE2-43E3-8866-C9157CEEC5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60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7CE2-43E3-8866-C9157CEEC52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7CE2-43E3-8866-C9157CEEC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74</c:v>
                </c:pt>
                <c:pt idx="1">
                  <c:v>70</c:v>
                </c:pt>
                <c:pt idx="2">
                  <c:v>60</c:v>
                </c:pt>
                <c:pt idx="3">
                  <c:v>14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E-7CE2-43E3-8866-C9157CEEC52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7CE2-43E3-8866-C9157CEEC5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7CE2-43E3-8866-C9157CEEC5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39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7CE2-43E3-8866-C9157CEEC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16</c:v>
                </c:pt>
                <c:pt idx="1">
                  <c:v>17</c:v>
                </c:pt>
                <c:pt idx="2">
                  <c:v>39</c:v>
                </c:pt>
                <c:pt idx="3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2-7CE2-43E3-8866-C9157CEEC5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serLines>
          <c:spPr>
            <a:ln w="6350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800">
                <a:latin typeface="Neue Haas Grotesk Text Pro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5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Neue Haas Grotesk Text Pr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C7EFD5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248 units</a:t>
                    </a:r>
                  </a:p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32%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FD9-47CC-B53D-6239B0A52DE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Rp 48,3 Bio</a:t>
                    </a:r>
                  </a:p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14%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FD9-47CC-B53D-6239B0A52DE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32% → 14%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FD9-47CC-B53D-6239B0A52D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Share (units → value)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248</c:v>
                </c:pt>
                <c:pt idx="1">
                  <c:v>48.305391999999998</c:v>
                </c:pt>
                <c:pt idx="2">
                  <c:v>48.305391999999998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8FD9-47CC-B53D-6239B0A52D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223 units</a:t>
                    </a:r>
                  </a:p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FD9-47CC-B53D-6239B0A52DE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Rp 80,6 Bio</a:t>
                    </a:r>
                  </a:p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FD9-47CC-B53D-6239B0A52DE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29% → 24%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FD9-47CC-B53D-6239B0A52D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Share (units → value)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223</c:v>
                </c:pt>
                <c:pt idx="1">
                  <c:v>80.596751999999995</c:v>
                </c:pt>
                <c:pt idx="2">
                  <c:v>80.596751999999995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8FD9-47CC-B53D-6239B0A52D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218 units</a:t>
                    </a:r>
                  </a:p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29%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FD9-47CC-B53D-6239B0A52DE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Rp 116,9 Bio</a:t>
                    </a:r>
                  </a:p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35%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FD9-47CC-B53D-6239B0A52DE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29% → 35%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8FD9-47CC-B53D-6239B0A52D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Share (units → value)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218</c:v>
                </c:pt>
                <c:pt idx="1">
                  <c:v>116.870896</c:v>
                </c:pt>
                <c:pt idx="2">
                  <c:v>116.870896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8FD9-47CC-B53D-6239B0A52DE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75 units</a:t>
                    </a:r>
                  </a:p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8FD9-47CC-B53D-6239B0A52DE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Rp 91,4 Bio</a:t>
                    </a:r>
                  </a:p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27%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FD9-47CC-B53D-6239B0A52DE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10% → 27%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8FD9-47CC-B53D-6239B0A52D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Share (units → value)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75</c:v>
                </c:pt>
                <c:pt idx="1">
                  <c:v>91.401312000000004</c:v>
                </c:pt>
                <c:pt idx="2">
                  <c:v>91.401312000000004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F-8FD9-47CC-B53D-6239B0A52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serLines>
          <c:spPr>
            <a:ln w="9525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"/>
        </c:manualLayout>
      </c:layout>
      <c:barChart>
        <c:barDir val="col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Light</c:v>
                </c:pt>
              </c:strCache>
            </c:strRef>
          </c:tx>
          <c:spPr>
            <a:solidFill>
              <a:srgbClr val="E3E3E3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fld id="{418C57B7-6359-4F27-A742-446EC9EA2FE9}" type="SERIESNAME">
                      <a:rPr lang="en-US" smtClean="0"/>
                      <a:pPr/>
                      <a:t>[SERIES NAME]</a:t>
                    </a:fld>
                    <a:r>
                      <a:rPr lang="en-US" dirty="0"/>
                      <a:t>:</a:t>
                    </a:r>
                    <a:r>
                      <a:rPr lang="en-US" baseline="0" dirty="0"/>
                      <a:t> </a:t>
                    </a:r>
                    <a:fld id="{88986874-2B80-4FAD-9CB4-31209255A58D}" type="VALUE">
                      <a:rPr lang="en-US" baseline="0" smtClean="0"/>
                      <a:pPr/>
                      <a:t>[VALUE]</a:t>
                    </a:fld>
                    <a:endParaRPr lang="en-US" baseline="0" dirty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5BE8-4AA4-9FA5-F253E24D9A1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Bio)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</c:v>
                </c:pt>
                <c:pt idx="1">
                  <c:v>8.8000000000000007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DCB-4E94-A6E1-201B7ACB3B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C9C9C9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fld id="{F5F75DE7-E6F8-4B53-9BBD-C02E85C2CEC4}" type="SERIESNAME">
                      <a:rPr lang="en-US" smtClean="0"/>
                      <a:pPr/>
                      <a:t>[SERIES NAME]</a:t>
                    </a:fld>
                    <a:r>
                      <a:rPr lang="en-US" baseline="0"/>
                      <a:t>: </a:t>
                    </a:r>
                    <a:fld id="{DC01197F-E0C8-4F90-B758-950CB2780982}" type="VALUE">
                      <a:rPr lang="en-US" baseline="0" smtClean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5BE8-4AA4-9FA5-F253E24D9A1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31173A8-1B10-4340-8564-355618F40894}" type="SERIESNAME">
                      <a:rPr lang="en-US" smtClean="0"/>
                      <a:pPr/>
                      <a:t>[SERIES NAME]</a:t>
                    </a:fld>
                    <a:r>
                      <a:rPr lang="en-US" baseline="0"/>
                      <a:t>:</a:t>
                    </a:r>
                    <a:br>
                      <a:rPr lang="en-US" baseline="0"/>
                    </a:br>
                    <a:r>
                      <a:rPr lang="en-US" baseline="0"/>
                      <a:t>Rp </a:t>
                    </a:r>
                    <a:fld id="{46CD7409-B6D9-44C9-86C0-A5BCFA3A902B}" type="VALUE">
                      <a:rPr lang="en-US" baseline="0" smtClean="0"/>
                      <a:pPr/>
                      <a:t>[VALUE]</a:t>
                    </a:fld>
                    <a:r>
                      <a:rPr lang="en-US" baseline="0"/>
                      <a:t> Bio</a:t>
                    </a:r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5BE8-4AA4-9FA5-F253E24D9A1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Bio)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75</c:v>
                </c:pt>
                <c:pt idx="1">
                  <c:v>28.4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DCB-4E94-A6E1-201B7ACB3BB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fld id="{E47B3F7A-1D36-4358-8769-657F70F3DC3E}" type="SERIESNAME">
                      <a:rPr lang="en-US" smtClean="0"/>
                      <a:pPr/>
                      <a:t>[SERIES NAME]</a:t>
                    </a:fld>
                    <a:r>
                      <a:rPr lang="en-US" baseline="0"/>
                      <a:t> </a:t>
                    </a:r>
                    <a:fld id="{09CDB64E-A6B9-4B46-A7BE-B8DE282A1426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5BE8-4AA4-9FA5-F253E24D9A1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9F1D754-85E8-4567-BD9C-19D9E6105DF7}" type="SERIESNAME">
                      <a:rPr lang="en-US" smtClean="0"/>
                      <a:pPr/>
                      <a:t>[SERIES NAME]</a:t>
                    </a:fld>
                    <a:br>
                      <a:rPr lang="en-US" baseline="0"/>
                    </a:br>
                    <a:r>
                      <a:rPr lang="en-US" baseline="0"/>
                      <a:t>Rp </a:t>
                    </a:r>
                    <a:fld id="{3C4AADB8-A0AB-4292-A460-0B3E35F6F8E4}" type="VALUE">
                      <a:rPr lang="en-US" baseline="0" smtClean="0"/>
                      <a:pPr/>
                      <a:t>[VALUE]</a:t>
                    </a:fld>
                    <a:r>
                      <a:rPr lang="en-US" baseline="0"/>
                      <a:t> Bio</a:t>
                    </a:r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BE8-4AA4-9FA5-F253E24D9A1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Bio)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60</c:v>
                </c:pt>
                <c:pt idx="1">
                  <c:v>28.2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4DCB-4E94-A6E1-201B7ACB3BB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fld id="{80A3E4F5-395F-4735-A57F-D99D5C4FFEF8}" type="SERIESNAME">
                      <a:rPr lang="en-US" smtClean="0"/>
                      <a:pPr/>
                      <a:t>[SERIES NAME]</a:t>
                    </a:fld>
                    <a:r>
                      <a:rPr lang="en-US" baseline="0"/>
                      <a:t>: </a:t>
                    </a:r>
                    <a:fld id="{E242CC26-B765-495B-843D-7E3A3FFFB75C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BE8-4AA4-9FA5-F253E24D9A1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C820E72-9B7F-4AF0-AB0D-8E1317C338D8}" type="SERIESNAME">
                      <a:rPr lang="en-US" smtClean="0"/>
                      <a:pPr/>
                      <a:t>[SERIES NAME]</a:t>
                    </a:fld>
                    <a:br>
                      <a:rPr lang="en-US" dirty="0"/>
                    </a:br>
                    <a:r>
                      <a:rPr lang="en-US" dirty="0"/>
                      <a:t>RP</a:t>
                    </a:r>
                    <a:r>
                      <a:rPr lang="en-US" baseline="0" dirty="0"/>
                      <a:t> </a:t>
                    </a:r>
                    <a:fld id="{79BBC81F-117B-4118-8885-70C8EE197144}" type="VALUE">
                      <a:rPr lang="en-US" baseline="0" smtClean="0"/>
                      <a:pPr/>
                      <a:t>[VALUE]</a:t>
                    </a:fld>
                    <a:r>
                      <a:rPr lang="en-US" baseline="0" dirty="0"/>
                      <a:t> Bio</a:t>
                    </a:r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241475692038944"/>
                      <c:h val="0.1447111695511698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5BE8-4AA4-9FA5-F253E24D9A1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Bio)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39</c:v>
                </c:pt>
                <c:pt idx="1">
                  <c:v>47.2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4DCB-4E94-A6E1-201B7ACB3B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serLines>
          <c:spPr>
            <a:ln w="6350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b="1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latin typeface="Neue Haas Grotesk Text Pr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Sany Palfinger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13F-4282-8F6D-F365127ED121}"/>
                </c:ext>
              </c:extLst>
            </c:dLbl>
            <c:numFmt formatCode="0&quot; units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13F-4282-8F6D-F365127ED1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Palfinger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0&quot; units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</c:v>
                </c:pt>
                <c:pt idx="1">
                  <c:v>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13F-4282-8F6D-F365127ED1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Amco Veba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3F-4282-8F6D-F365127ED121}"/>
                </c:ext>
              </c:extLst>
            </c:dLbl>
            <c:numFmt formatCode="0&quot; units&quot;;;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E13F-4282-8F6D-F365127ED12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XCMG</c:v>
                </c:pt>
              </c:strCache>
            </c:strRef>
          </c:tx>
          <c:spPr>
            <a:solidFill>
              <a:srgbClr val="9ADBB5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0&quot; units&quot;;;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14</c:v>
                </c:pt>
                <c:pt idx="1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E13F-4282-8F6D-F365127ED12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0&quot; units&quot;;;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11</c:v>
                </c:pt>
                <c:pt idx="1">
                  <c:v>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E13F-4282-8F6D-F365127ED1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7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latin typeface="Neue Haas Grotesk Text Pr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"/>
          <c:y val="0.17"/>
          <c:w val="0.86"/>
          <c:h val="0.66"/>
        </c:manualLayout>
      </c:layout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Sany Palfinger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F1-4B5B-86C2-15A9B8AA5D99}"/>
                </c:ext>
              </c:extLst>
            </c:dLbl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11.9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8F1-4B5B-86C2-15A9B8AA5D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Palfinger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4.4000000000000004</c:v>
                </c:pt>
                <c:pt idx="1">
                  <c:v>26.7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8F1-4B5B-86C2-15A9B8AA5D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Amco Veba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8F1-4B5B-86C2-15A9B8AA5D99}"/>
                </c:ext>
              </c:extLst>
            </c:dLbl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9.9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C8F1-4B5B-86C2-15A9B8AA5D9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XCMG</c:v>
                </c:pt>
              </c:strCache>
            </c:strRef>
          </c:tx>
          <c:spPr>
            <a:solidFill>
              <a:srgbClr val="9ADBB5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6.5</c:v>
                </c:pt>
                <c:pt idx="1">
                  <c:v>4.2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C8F1-4B5B-86C2-15A9B8AA5D9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5.4</c:v>
                </c:pt>
                <c:pt idx="1">
                  <c:v>6.4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C8F1-4B5B-86C2-15A9B8AA5D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latin typeface="Neue Haas Grotesk Text Pro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26"/>
          <c:w val="0.96"/>
          <c:h val="0.5799999999999999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of Medium 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FBFBF"/>
              </a:solidFill>
            </c:spPr>
            <c:extLst>
              <c:ext xmlns:c16="http://schemas.microsoft.com/office/drawing/2014/chart" uri="{C3380CC4-5D6E-409C-BE32-E72D297353CC}">
                <c16:uniqueId val="{00000001-6091-4401-93DF-9213F282940C}"/>
              </c:ext>
            </c:extLst>
          </c:dPt>
          <c:dPt>
            <c:idx val="1"/>
            <c:invertIfNegative val="1"/>
            <c:bubble3D val="0"/>
            <c:spPr>
              <a:solidFill>
                <a:srgbClr val="1E9E57"/>
              </a:solidFill>
            </c:spPr>
            <c:extLst>
              <c:ext xmlns:c16="http://schemas.microsoft.com/office/drawing/2014/chart" uri="{C3380CC4-5D6E-409C-BE32-E72D297353CC}">
                <c16:uniqueId val="{00000003-6091-4401-93DF-9213F282940C}"/>
              </c:ext>
            </c:extLst>
          </c:dPt>
          <c:dPt>
            <c:idx val="2"/>
            <c:invertIfNegative val="1"/>
            <c:bubble3D val="0"/>
            <c:spPr>
              <a:solidFill>
                <a:srgbClr val="1E9E57"/>
              </a:solidFill>
            </c:spPr>
            <c:extLst>
              <c:ext xmlns:c16="http://schemas.microsoft.com/office/drawing/2014/chart" uri="{C3380CC4-5D6E-409C-BE32-E72D297353CC}">
                <c16:uniqueId val="{00000005-6091-4401-93DF-9213F282940C}"/>
              </c:ext>
            </c:extLst>
          </c:dPt>
          <c:dPt>
            <c:idx val="3"/>
            <c:invertIfNegative val="1"/>
            <c:bubble3D val="0"/>
            <c:spPr>
              <a:solidFill>
                <a:srgbClr val="BFBFBF"/>
              </a:solidFill>
            </c:spPr>
            <c:extLst>
              <c:ext xmlns:c16="http://schemas.microsoft.com/office/drawing/2014/chart" uri="{C3380CC4-5D6E-409C-BE32-E72D297353CC}">
                <c16:uniqueId val="{00000007-6091-4401-93DF-9213F282940C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latin typeface="Neue Haas Grotesk Text Pr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25–30 tm
V825</c:v>
                </c:pt>
                <c:pt idx="1">
                  <c:v>30–35 tm
X-CLX 388</c:v>
                </c:pt>
                <c:pt idx="2">
                  <c:v>35–40 tm
PK 41002</c:v>
                </c:pt>
                <c:pt idx="3">
                  <c:v>40–45 tm
SPK42502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0.1888</c:v>
                </c:pt>
                <c:pt idx="1">
                  <c:v>0.3448</c:v>
                </c:pt>
                <c:pt idx="2">
                  <c:v>0.34449999999999997</c:v>
                </c:pt>
                <c:pt idx="3">
                  <c:v>0.12189999999999999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091-4401-93DF-9213F282940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7F7F7F"/>
            </a:solidFill>
          </a:ln>
        </c:spPr>
        <c:txPr>
          <a:bodyPr/>
          <a:lstStyle/>
          <a:p>
            <a:pPr>
              <a:defRPr sz="1000">
                <a:latin typeface="Neue Haas Grotesk Text Pro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5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889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081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603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96A03-53F5-7ACB-E765-E04DEDA59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F061A-B0EF-C168-C416-E19A96F2C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C5258-403F-134D-C540-9E4247F69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57ABA-4C0A-0863-3107-079405D59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5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71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chart" Target="../charts/chart3.xml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5" Type="http://schemas.openxmlformats.org/officeDocument/2006/relationships/chart" Target="../charts/chart5.xml"/><Relationship Id="rId4" Type="http://schemas.openxmlformats.org/officeDocument/2006/relationships/chart" Target="../charts/chart4.xml"/><Relationship Id="rId9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1A057-FF69-DB4E-18F5-A26FC0C91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878" y="4325112"/>
            <a:ext cx="10683240" cy="894104"/>
          </a:xfrm>
        </p:spPr>
        <p:txBody>
          <a:bodyPr anchor="ctr">
            <a:normAutofit/>
          </a:bodyPr>
          <a:lstStyle/>
          <a:p>
            <a:pPr algn="ctr"/>
            <a:r>
              <a:rPr lang="en-US" sz="5000" dirty="0"/>
              <a:t>New Employee Development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AF3FA-87A9-9163-3213-65A6A97B1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74" y="5219216"/>
            <a:ext cx="5086118" cy="480373"/>
          </a:xfrm>
        </p:spPr>
        <p:txBody>
          <a:bodyPr>
            <a:normAutofit/>
          </a:bodyPr>
          <a:lstStyle/>
          <a:p>
            <a:r>
              <a:rPr lang="en-ID" sz="2400" b="1" dirty="0"/>
              <a:t>MID YEAR REVIEW</a:t>
            </a:r>
            <a:r>
              <a:rPr lang="en-ID" sz="2400" dirty="0"/>
              <a:t>​</a:t>
            </a:r>
            <a:endParaRPr lang="en-US" sz="24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8CC8E86-14E4-714A-1971-B223DC336448}"/>
              </a:ext>
            </a:extLst>
          </p:cNvPr>
          <p:cNvSpPr txBox="1">
            <a:spLocks/>
          </p:cNvSpPr>
          <p:nvPr/>
        </p:nvSpPr>
        <p:spPr>
          <a:xfrm>
            <a:off x="298174" y="5699589"/>
            <a:ext cx="5086118" cy="480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Tiberias </a:t>
            </a:r>
            <a:r>
              <a:rPr lang="en-US" sz="2400" dirty="0" err="1"/>
              <a:t>Krisgaharu</a:t>
            </a:r>
            <a:r>
              <a:rPr lang="en-US" sz="2400" dirty="0"/>
              <a:t> Simu (P0126010)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F690473-A235-9313-7573-1B02647587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938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93AD9-3EA1-A3B0-719C-0D712428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B22523-E20C-8F5D-10D1-E15B2711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481" y="305694"/>
            <a:ext cx="5391190" cy="1077286"/>
          </a:xfrm>
        </p:spPr>
        <p:txBody>
          <a:bodyPr/>
          <a:lstStyle/>
          <a:p>
            <a:pPr algn="ctr"/>
            <a:r>
              <a:rPr lang="en-US" sz="3600" b="1" dirty="0"/>
              <a:t>My Education &amp; Working Experience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592E31-C918-11AB-2F1E-EF06F9A7EEA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110364"/>
            <a:ext cx="3494314" cy="365125"/>
          </a:xfrm>
        </p:spPr>
        <p:txBody>
          <a:bodyPr/>
          <a:lstStyle/>
          <a:p>
            <a:fld id="{CDEB1EBB-CFF7-4B44-9AEA-316A6F2E08DB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A572E-800B-CA9E-96BA-891AFF1B46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3F1262-63BE-6958-087F-8979D22E81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07957" y="1693831"/>
            <a:ext cx="3035193" cy="1340989"/>
          </a:xfrm>
        </p:spPr>
        <p:txBody>
          <a:bodyPr/>
          <a:lstStyle/>
          <a:p>
            <a:pPr algn="ctr"/>
            <a:r>
              <a:rPr lang="en-US" dirty="0"/>
              <a:t>Holla! I’m Ibe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My position is </a:t>
            </a:r>
            <a:r>
              <a:rPr lang="en-ID" dirty="0">
                <a:solidFill>
                  <a:srgbClr val="11181C"/>
                </a:solidFill>
                <a:latin typeface="Arial"/>
              </a:rPr>
              <a:t>Marketing Strategic 2 Associate, from Marketing Unit &amp; Strategic</a:t>
            </a:r>
          </a:p>
        </p:txBody>
      </p:sp>
      <p:pic>
        <p:nvPicPr>
          <p:cNvPr id="11" name="Picture 10" descr="f2_6.png">
            <a:extLst>
              <a:ext uri="{FF2B5EF4-FFF2-40B4-BE49-F238E27FC236}">
                <a16:creationId xmlns:a16="http://schemas.microsoft.com/office/drawing/2014/main" id="{00A06984-D16E-A808-698E-CA8A49448D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8" r="1538"/>
          <a:stretch>
            <a:fillRect/>
          </a:stretch>
        </p:blipFill>
        <p:spPr>
          <a:xfrm>
            <a:off x="54925" y="1159864"/>
            <a:ext cx="3731011" cy="5774184"/>
          </a:xfrm>
          <a:prstGeom prst="roundRect">
            <a:avLst>
              <a:gd name="adj" fmla="val 4000"/>
            </a:avLst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F0152DB-9DB0-B3CF-F662-C3FC04902082}"/>
              </a:ext>
            </a:extLst>
          </p:cNvPr>
          <p:cNvSpPr txBox="1"/>
          <p:nvPr/>
        </p:nvSpPr>
        <p:spPr>
          <a:xfrm>
            <a:off x="6267891" y="1691295"/>
            <a:ext cx="220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Education</a:t>
            </a:r>
            <a:endParaRPr lang="en-ID" dirty="0"/>
          </a:p>
        </p:txBody>
      </p:sp>
      <p:pic>
        <p:nvPicPr>
          <p:cNvPr id="21" name="Picture 20" descr="f2_1.png">
            <a:extLst>
              <a:ext uri="{FF2B5EF4-FFF2-40B4-BE49-F238E27FC236}">
                <a16:creationId xmlns:a16="http://schemas.microsoft.com/office/drawing/2014/main" id="{B71593F8-9595-848F-508C-B2F10AC90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978" y="2087118"/>
            <a:ext cx="793227" cy="77604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BCCF9D6-870C-00F9-2F0C-CE6527A1422D}"/>
              </a:ext>
            </a:extLst>
          </p:cNvPr>
          <p:cNvSpPr txBox="1"/>
          <p:nvPr/>
        </p:nvSpPr>
        <p:spPr>
          <a:xfrm>
            <a:off x="7103205" y="2290472"/>
            <a:ext cx="4622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Universitas </a:t>
            </a:r>
            <a:r>
              <a:rPr lang="en-ID" dirty="0" err="1"/>
              <a:t>Sanata</a:t>
            </a:r>
            <a:r>
              <a:rPr lang="en-ID" dirty="0"/>
              <a:t> Dharma, Yogyakarta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2E2268-B7B4-3DAE-961A-0A468562BBE7}"/>
              </a:ext>
            </a:extLst>
          </p:cNvPr>
          <p:cNvCxnSpPr>
            <a:cxnSpLocks/>
          </p:cNvCxnSpPr>
          <p:nvPr/>
        </p:nvCxnSpPr>
        <p:spPr>
          <a:xfrm flipV="1">
            <a:off x="6078558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7407171-0050-124C-39F3-8619AB27DC8A}"/>
              </a:ext>
            </a:extLst>
          </p:cNvPr>
          <p:cNvSpPr txBox="1"/>
          <p:nvPr/>
        </p:nvSpPr>
        <p:spPr>
          <a:xfrm>
            <a:off x="7103205" y="2595505"/>
            <a:ext cx="61036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Bachelor (S1) · Management · Faculty of Economics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111364-386F-C1C3-0537-2AE5198878B2}"/>
              </a:ext>
            </a:extLst>
          </p:cNvPr>
          <p:cNvSpPr txBox="1"/>
          <p:nvPr/>
        </p:nvSpPr>
        <p:spPr>
          <a:xfrm>
            <a:off x="6313967" y="3089212"/>
            <a:ext cx="2738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Working Experiences</a:t>
            </a:r>
            <a:endParaRPr lang="en-ID" dirty="0"/>
          </a:p>
        </p:txBody>
      </p:sp>
      <p:pic>
        <p:nvPicPr>
          <p:cNvPr id="34" name="Picture 33" descr="f2_4.png">
            <a:extLst>
              <a:ext uri="{FF2B5EF4-FFF2-40B4-BE49-F238E27FC236}">
                <a16:creationId xmlns:a16="http://schemas.microsoft.com/office/drawing/2014/main" id="{89BA315C-7C57-B066-EEEE-AD83A5703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978" y="4826544"/>
            <a:ext cx="702595" cy="84194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FA50512-DD24-A1A4-4BF9-6B6495635C8A}"/>
              </a:ext>
            </a:extLst>
          </p:cNvPr>
          <p:cNvSpPr txBox="1"/>
          <p:nvPr/>
        </p:nvSpPr>
        <p:spPr>
          <a:xfrm>
            <a:off x="7498367" y="5080564"/>
            <a:ext cx="2470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Krishma International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5302A1-0EE1-AE21-D4B7-55ECF9CF4FF6}"/>
              </a:ext>
            </a:extLst>
          </p:cNvPr>
          <p:cNvSpPr txBox="1"/>
          <p:nvPr/>
        </p:nvSpPr>
        <p:spPr>
          <a:xfrm>
            <a:off x="7564460" y="5353037"/>
            <a:ext cx="15620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Marketing Coordinator</a:t>
            </a:r>
          </a:p>
        </p:txBody>
      </p:sp>
      <p:pic>
        <p:nvPicPr>
          <p:cNvPr id="42" name="Picture 41" descr="f2_3.png">
            <a:extLst>
              <a:ext uri="{FF2B5EF4-FFF2-40B4-BE49-F238E27FC236}">
                <a16:creationId xmlns:a16="http://schemas.microsoft.com/office/drawing/2014/main" id="{88212FCB-8E30-5669-CAE1-6B0BEA931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982" y="4364121"/>
            <a:ext cx="1163248" cy="24622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B462883-025E-5943-99C0-4B2647AF8431}"/>
              </a:ext>
            </a:extLst>
          </p:cNvPr>
          <p:cNvSpPr txBox="1"/>
          <p:nvPr/>
        </p:nvSpPr>
        <p:spPr>
          <a:xfrm>
            <a:off x="7498368" y="4302482"/>
            <a:ext cx="2470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Outlier</a:t>
            </a:r>
            <a:endParaRPr lang="en-ID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71639E-826F-C073-A716-01679F13413E}"/>
              </a:ext>
            </a:extLst>
          </p:cNvPr>
          <p:cNvSpPr txBox="1"/>
          <p:nvPr/>
        </p:nvSpPr>
        <p:spPr>
          <a:xfrm>
            <a:off x="7527427" y="4623385"/>
            <a:ext cx="18099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Team Lead Data Annotator</a:t>
            </a:r>
            <a:endParaRPr lang="en-ID" sz="1000" dirty="0"/>
          </a:p>
        </p:txBody>
      </p:sp>
      <p:pic>
        <p:nvPicPr>
          <p:cNvPr id="48" name="Picture 47" descr="f2_2.png">
            <a:extLst>
              <a:ext uri="{FF2B5EF4-FFF2-40B4-BE49-F238E27FC236}">
                <a16:creationId xmlns:a16="http://schemas.microsoft.com/office/drawing/2014/main" id="{C2223B3E-0CD8-541A-677E-61AB9F5A9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978" y="3563152"/>
            <a:ext cx="954176" cy="53911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1AEE781-1258-F311-FD78-2CD364FFFABA}"/>
              </a:ext>
            </a:extLst>
          </p:cNvPr>
          <p:cNvSpPr txBox="1"/>
          <p:nvPr/>
        </p:nvSpPr>
        <p:spPr>
          <a:xfrm>
            <a:off x="7498368" y="3492955"/>
            <a:ext cx="3330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PT </a:t>
            </a:r>
            <a:r>
              <a:rPr lang="en-US" dirty="0" err="1"/>
              <a:t>Triatra</a:t>
            </a:r>
            <a:r>
              <a:rPr lang="en-US" dirty="0"/>
              <a:t> </a:t>
            </a:r>
            <a:r>
              <a:rPr lang="en-US" dirty="0" err="1"/>
              <a:t>Sineria</a:t>
            </a:r>
            <a:r>
              <a:rPr lang="en-US" dirty="0"/>
              <a:t> Pratama</a:t>
            </a:r>
            <a:endParaRPr lang="en-ID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B0F668-1AE0-E5FF-A945-94F253DD9E80}"/>
              </a:ext>
            </a:extLst>
          </p:cNvPr>
          <p:cNvSpPr txBox="1"/>
          <p:nvPr/>
        </p:nvSpPr>
        <p:spPr>
          <a:xfrm>
            <a:off x="7527427" y="3813858"/>
            <a:ext cx="25733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>
                <a:solidFill>
                  <a:srgbClr val="697177"/>
                </a:solidFill>
                <a:latin typeface="Arial"/>
              </a:rPr>
              <a:t>Marketing Strategic 2 Associate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4688D1F-B482-673B-CCAA-6B9A98333F45}"/>
              </a:ext>
            </a:extLst>
          </p:cNvPr>
          <p:cNvCxnSpPr>
            <a:cxnSpLocks/>
          </p:cNvCxnSpPr>
          <p:nvPr/>
        </p:nvCxnSpPr>
        <p:spPr>
          <a:xfrm>
            <a:off x="6096000" y="3032547"/>
            <a:ext cx="59604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10EC39C-B600-C965-4416-31DEEB23005D}"/>
              </a:ext>
            </a:extLst>
          </p:cNvPr>
          <p:cNvCxnSpPr>
            <a:cxnSpLocks/>
          </p:cNvCxnSpPr>
          <p:nvPr/>
        </p:nvCxnSpPr>
        <p:spPr>
          <a:xfrm>
            <a:off x="6072345" y="5807206"/>
            <a:ext cx="59604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DFDFB8F-D12D-5D33-271B-7374A61E838C}"/>
              </a:ext>
            </a:extLst>
          </p:cNvPr>
          <p:cNvSpPr txBox="1"/>
          <p:nvPr/>
        </p:nvSpPr>
        <p:spPr>
          <a:xfrm>
            <a:off x="6256481" y="5752230"/>
            <a:ext cx="2738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Organization</a:t>
            </a:r>
            <a:endParaRPr lang="en-ID" dirty="0"/>
          </a:p>
        </p:txBody>
      </p:sp>
      <p:pic>
        <p:nvPicPr>
          <p:cNvPr id="67" name="Picture 66" descr="f2_5.png">
            <a:extLst>
              <a:ext uri="{FF2B5EF4-FFF2-40B4-BE49-F238E27FC236}">
                <a16:creationId xmlns:a16="http://schemas.microsoft.com/office/drawing/2014/main" id="{97191461-D450-B5DF-C275-FC55F32080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270" y="6134656"/>
            <a:ext cx="630433" cy="63253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0361D0A1-CAFE-5BAE-B20E-C32CA61A6003}"/>
              </a:ext>
            </a:extLst>
          </p:cNvPr>
          <p:cNvSpPr txBox="1"/>
          <p:nvPr/>
        </p:nvSpPr>
        <p:spPr>
          <a:xfrm>
            <a:off x="7527427" y="6049608"/>
            <a:ext cx="34241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dirty="0"/>
              <a:t>HMJM Universitas </a:t>
            </a:r>
            <a:r>
              <a:rPr lang="en-ID" sz="1600" dirty="0" err="1"/>
              <a:t>Sanata</a:t>
            </a:r>
            <a:r>
              <a:rPr lang="en-ID" sz="1600" dirty="0"/>
              <a:t> Dharma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710EF1-15B8-75A2-1E30-1A80623AB5D1}"/>
              </a:ext>
            </a:extLst>
          </p:cNvPr>
          <p:cNvSpPr txBox="1"/>
          <p:nvPr/>
        </p:nvSpPr>
        <p:spPr>
          <a:xfrm>
            <a:off x="7527427" y="6363964"/>
            <a:ext cx="12318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President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09DB22-8EC5-7F21-319F-2585AD3AAC53}"/>
              </a:ext>
            </a:extLst>
          </p:cNvPr>
          <p:cNvSpPr txBox="1"/>
          <p:nvPr/>
        </p:nvSpPr>
        <p:spPr>
          <a:xfrm>
            <a:off x="11076722" y="6141941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2021 – 2022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A5517FE-2D1C-278A-D6EB-BB287D78351E}"/>
              </a:ext>
            </a:extLst>
          </p:cNvPr>
          <p:cNvSpPr txBox="1"/>
          <p:nvPr/>
        </p:nvSpPr>
        <p:spPr>
          <a:xfrm>
            <a:off x="11076721" y="5203675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2021 – 2023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C1A8BF5-B21E-01A4-02C4-91E94C1A21CB}"/>
              </a:ext>
            </a:extLst>
          </p:cNvPr>
          <p:cNvSpPr txBox="1"/>
          <p:nvPr/>
        </p:nvSpPr>
        <p:spPr>
          <a:xfrm>
            <a:off x="11076722" y="4377164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2023 - 2025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DB847B1-F624-8688-D72F-AB4D344B0B17}"/>
              </a:ext>
            </a:extLst>
          </p:cNvPr>
          <p:cNvSpPr txBox="1"/>
          <p:nvPr/>
        </p:nvSpPr>
        <p:spPr>
          <a:xfrm>
            <a:off x="11081498" y="3570125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2026 - now</a:t>
            </a:r>
          </a:p>
        </p:txBody>
      </p:sp>
    </p:spTree>
    <p:extLst>
      <p:ext uri="{BB962C8B-B14F-4D97-AF65-F5344CB8AC3E}">
        <p14:creationId xmlns:p14="http://schemas.microsoft.com/office/powerpoint/2010/main" val="2016643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62593-EA21-D4FC-EC54-8ED29A39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/>
          <a:lstStyle/>
          <a:p>
            <a:fld id="{E899B5B9-2F3B-AD4F-835E-3A2116EDDEA3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B2449-B8F6-300E-A693-94E263F7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7F2B4-4CDB-CC54-B53D-C2261D4E4C83}"/>
              </a:ext>
            </a:extLst>
          </p:cNvPr>
          <p:cNvSpPr txBox="1"/>
          <p:nvPr/>
        </p:nvSpPr>
        <p:spPr>
          <a:xfrm>
            <a:off x="109728" y="720886"/>
            <a:ext cx="65722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Development program</a:t>
            </a:r>
            <a:endParaRPr lang="en-ID" sz="4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ECFDC4-9677-B168-E2C3-BC11154BD315}"/>
              </a:ext>
            </a:extLst>
          </p:cNvPr>
          <p:cNvSpPr txBox="1"/>
          <p:nvPr/>
        </p:nvSpPr>
        <p:spPr>
          <a:xfrm>
            <a:off x="304800" y="2362200"/>
            <a:ext cx="318135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>
                <a:solidFill>
                  <a:srgbClr val="000000"/>
                </a:solidFill>
              </a:rPr>
              <a:t>Basic Technical Course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CAAF7-15D8-8A98-4514-E6F424DA0869}"/>
              </a:ext>
            </a:extLst>
          </p:cNvPr>
          <p:cNvSpPr txBox="1"/>
          <p:nvPr/>
        </p:nvSpPr>
        <p:spPr>
          <a:xfrm>
            <a:off x="304800" y="270510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>
                <a:solidFill>
                  <a:srgbClr val="6B6B6B"/>
                </a:solidFill>
              </a:rPr>
              <a:t>What I Learned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3B6AB0-A710-3D64-9876-20594EEBC95D}"/>
              </a:ext>
            </a:extLst>
          </p:cNvPr>
          <p:cNvSpPr txBox="1"/>
          <p:nvPr/>
        </p:nvSpPr>
        <p:spPr>
          <a:xfrm>
            <a:off x="304800" y="2933700"/>
            <a:ext cx="31432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Engine basics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Electrical system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Axle, wheel and suspension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Final drive and undercarriage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104E47-FF09-585A-4315-2C2929CC674B}"/>
              </a:ext>
            </a:extLst>
          </p:cNvPr>
          <p:cNvSpPr txBox="1"/>
          <p:nvPr/>
        </p:nvSpPr>
        <p:spPr>
          <a:xfrm>
            <a:off x="3638550" y="2362200"/>
            <a:ext cx="318135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>
                <a:solidFill>
                  <a:srgbClr val="000000"/>
                </a:solidFill>
              </a:rPr>
              <a:t>B-One · Orientation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DA4B71-6109-2D37-CD04-71D16FD49521}"/>
              </a:ext>
            </a:extLst>
          </p:cNvPr>
          <p:cNvSpPr txBox="1"/>
          <p:nvPr/>
        </p:nvSpPr>
        <p:spPr>
          <a:xfrm>
            <a:off x="3638550" y="270510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>
                <a:solidFill>
                  <a:srgbClr val="6B6B6B"/>
                </a:solidFill>
              </a:rPr>
              <a:t>What I Learned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436584-D6CE-FDAA-6A88-AD97DE0905BA}"/>
              </a:ext>
            </a:extLst>
          </p:cNvPr>
          <p:cNvSpPr txBox="1"/>
          <p:nvPr/>
        </p:nvSpPr>
        <p:spPr>
          <a:xfrm>
            <a:off x="3638550" y="2933700"/>
            <a:ext cx="31432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8 Astra competencies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AI at work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Teamwork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Corporate bootcamp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4CA8B7-8FC3-210F-ED63-418C4B2F2A6D}"/>
              </a:ext>
            </a:extLst>
          </p:cNvPr>
          <p:cNvSpPr txBox="1"/>
          <p:nvPr/>
        </p:nvSpPr>
        <p:spPr>
          <a:xfrm>
            <a:off x="6972300" y="2362200"/>
            <a:ext cx="15621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</a:rPr>
              <a:t>M</a:t>
            </a:r>
            <a:r>
              <a:rPr lang="en-ID" sz="1800" dirty="0">
                <a:solidFill>
                  <a:srgbClr val="000000"/>
                </a:solidFill>
              </a:rPr>
              <a:t>id Year Review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647B21-E133-5EAF-3C05-2BBDA2E6835E}"/>
              </a:ext>
            </a:extLst>
          </p:cNvPr>
          <p:cNvSpPr txBox="1"/>
          <p:nvPr/>
        </p:nvSpPr>
        <p:spPr>
          <a:xfrm>
            <a:off x="8591550" y="2362200"/>
            <a:ext cx="15621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dirty="0">
                <a:solidFill>
                  <a:srgbClr val="6B6B6B"/>
                </a:solidFill>
              </a:rPr>
              <a:t>1 Year Review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A4997A-5F84-854E-0305-BFD199057773}"/>
              </a:ext>
            </a:extLst>
          </p:cNvPr>
          <p:cNvSpPr txBox="1"/>
          <p:nvPr/>
        </p:nvSpPr>
        <p:spPr>
          <a:xfrm>
            <a:off x="10210800" y="2362200"/>
            <a:ext cx="16383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dirty="0">
                <a:solidFill>
                  <a:srgbClr val="6B6B6B"/>
                </a:solidFill>
              </a:rPr>
              <a:t>1,5 Year Review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5DF73F6-9699-FFA6-5269-9FA4350AB1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67" r="7067"/>
          <a:stretch>
            <a:fillRect/>
          </a:stretch>
        </p:blipFill>
        <p:spPr>
          <a:xfrm>
            <a:off x="342900" y="3924300"/>
            <a:ext cx="1533525" cy="238125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12A4447-8944-C58C-BE13-11470AE483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7" r="7067"/>
          <a:stretch>
            <a:fillRect/>
          </a:stretch>
        </p:blipFill>
        <p:spPr>
          <a:xfrm>
            <a:off x="1952625" y="3924300"/>
            <a:ext cx="1533525" cy="238125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EE50A79-53D8-E2E3-52CA-D11AB71578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16" b="17416"/>
          <a:stretch>
            <a:fillRect/>
          </a:stretch>
        </p:blipFill>
        <p:spPr>
          <a:xfrm>
            <a:off x="3676650" y="3924300"/>
            <a:ext cx="3143250" cy="115252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758C3B2-074C-F8C2-B8C1-1B3F2553D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16" b="17416"/>
          <a:stretch>
            <a:fillRect/>
          </a:stretch>
        </p:blipFill>
        <p:spPr>
          <a:xfrm>
            <a:off x="3676650" y="5153025"/>
            <a:ext cx="3143250" cy="115252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F6B451D-E405-43A7-0024-9C82481B70E6}"/>
              </a:ext>
            </a:extLst>
          </p:cNvPr>
          <p:cNvSpPr txBox="1"/>
          <p:nvPr/>
        </p:nvSpPr>
        <p:spPr>
          <a:xfrm>
            <a:off x="139035" y="1497568"/>
            <a:ext cx="4503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My on boarding journey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42900" y="2038350"/>
            <a:ext cx="11506200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342900" y="1962150"/>
            <a:ext cx="152400" cy="1524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42900" y="2209800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59" name="Oval 58"/>
          <p:cNvSpPr/>
          <p:nvPr/>
        </p:nvSpPr>
        <p:spPr>
          <a:xfrm>
            <a:off x="3676650" y="1962150"/>
            <a:ext cx="152400" cy="1524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76650" y="2209800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61" name="Oval 60"/>
          <p:cNvSpPr/>
          <p:nvPr/>
        </p:nvSpPr>
        <p:spPr>
          <a:xfrm>
            <a:off x="7010400" y="1933575"/>
            <a:ext cx="209550" cy="209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010400" y="220980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NOW</a:t>
            </a:r>
          </a:p>
        </p:txBody>
      </p:sp>
      <p:sp>
        <p:nvSpPr>
          <p:cNvPr id="63" name="Oval 62"/>
          <p:cNvSpPr/>
          <p:nvPr/>
        </p:nvSpPr>
        <p:spPr>
          <a:xfrm>
            <a:off x="8629650" y="196215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629650" y="220980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NEXT</a:t>
            </a:r>
          </a:p>
        </p:txBody>
      </p:sp>
      <p:sp>
        <p:nvSpPr>
          <p:cNvPr id="65" name="Oval 64"/>
          <p:cNvSpPr/>
          <p:nvPr/>
        </p:nvSpPr>
        <p:spPr>
          <a:xfrm>
            <a:off x="10248900" y="196215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248900" y="2209800"/>
            <a:ext cx="160020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709398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COMPANY PROFILE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04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504950"/>
            <a:ext cx="5715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CORPORATE ENTITY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169545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2" name="Picture 11" descr="f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83" y="1771650"/>
            <a:ext cx="931985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66900" y="1790700"/>
            <a:ext cx="361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Astra International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6900" y="1952625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Heavy Equipment, Mining, Construction and Energy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5150" y="219075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533400" y="236220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7" name="Picture 16" descr="f5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2507060"/>
            <a:ext cx="1047750" cy="2055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66900" y="2457450"/>
            <a:ext cx="361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United Tractors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900" y="2619375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Construction machinery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5150" y="285750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533400" y="302895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22" name="Picture 21" descr="f5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646" y="3105150"/>
            <a:ext cx="489857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66900" y="3124200"/>
            <a:ext cx="361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UTPE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66900" y="3286125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Engineering solution and marine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05150" y="352425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cxnSp>
        <p:nvCxnSpPr>
          <p:cNvPr id="26" name="Connector 25"/>
          <p:cNvCxnSpPr/>
          <p:nvPr/>
        </p:nvCxnSpPr>
        <p:spPr>
          <a:xfrm>
            <a:off x="1390650" y="3810000"/>
            <a:ext cx="3429000" cy="0"/>
          </a:xfrm>
          <a:prstGeom prst="line">
            <a:avLst/>
          </a:prstGeom>
          <a:ln w="9525">
            <a:solidFill>
              <a:srgbClr val="D7DBDF"/>
            </a:solidFill>
          </a:ln>
        </p:spPr>
      </p:cxnSp>
      <p:sp>
        <p:nvSpPr>
          <p:cNvPr id="27" name="Rounded Rectangle 26"/>
          <p:cNvSpPr/>
          <p:nvPr/>
        </p:nvSpPr>
        <p:spPr>
          <a:xfrm>
            <a:off x="5334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E1F9EC"/>
          </a:solidFill>
          <a:ln w="15875">
            <a:solidFill>
              <a:srgbClr val="22C96A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71550" y="3829050"/>
            <a:ext cx="762000" cy="152400"/>
          </a:xfrm>
          <a:prstGeom prst="roundRect">
            <a:avLst>
              <a:gd name="adj" fmla="val 500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1550" y="3829050"/>
            <a:ext cx="762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 spc="100">
                <a:solidFill>
                  <a:srgbClr val="FFFFFF"/>
                </a:solidFill>
                <a:latin typeface="Arial"/>
              </a:rPr>
              <a:t>MY COMPANY</a:t>
            </a:r>
          </a:p>
        </p:txBody>
      </p:sp>
      <p:pic>
        <p:nvPicPr>
          <p:cNvPr id="30" name="Picture 29" descr="f5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075" y="4057650"/>
            <a:ext cx="708949" cy="4000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90550" y="4552950"/>
            <a:ext cx="152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76932"/>
                </a:solidFill>
                <a:latin typeface="Arial"/>
              </a:rPr>
              <a:t>Distribution and trading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33" name="Picture 32" descr="f5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0641" y="4057650"/>
            <a:ext cx="809018" cy="4000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343150" y="4552950"/>
            <a:ext cx="152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697177"/>
                </a:solidFill>
                <a:latin typeface="Arial"/>
              </a:rPr>
              <a:t>Ship owner and operator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386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36" name="Picture 35" descr="f5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0732" y="4057650"/>
            <a:ext cx="734037" cy="4000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095750" y="4552950"/>
            <a:ext cx="152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697177"/>
                </a:solidFill>
                <a:latin typeface="Arial"/>
              </a:rPr>
              <a:t>Ship building and repair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400" y="4953000"/>
            <a:ext cx="5143500" cy="152400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6750" y="5057775"/>
            <a:ext cx="4876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WHAT TRIATRA DOES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750" y="5181600"/>
            <a:ext cx="4876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D555C"/>
                </a:solidFill>
                <a:latin typeface="Arial"/>
              </a:rPr>
              <a:t>Distributor of PATRIA and ULTRA products for mining, construction, agriculture, forestry and maritime. Sells units and full after-sales support.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6750" y="5715000"/>
            <a:ext cx="23241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42" name="Picture 41" descr="f5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5936119"/>
            <a:ext cx="762000" cy="18641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00200" y="5829300"/>
            <a:ext cx="133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1181C"/>
                </a:solidFill>
                <a:latin typeface="Arial"/>
              </a:rPr>
              <a:t>Unit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6000750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Arial"/>
              </a:rPr>
              <a:t>Trader of UTPE units, local and export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05150" y="5715000"/>
            <a:ext cx="23241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46" name="Picture 45" descr="f5_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0" y="5916839"/>
            <a:ext cx="762000" cy="22497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038600" y="5829300"/>
            <a:ext cx="133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1181C"/>
                </a:solidFill>
                <a:latin typeface="Arial"/>
              </a:rPr>
              <a:t>Parts, components and services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38600" y="6117197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>
                <a:solidFill>
                  <a:srgbClr val="697177"/>
                </a:solidFill>
                <a:latin typeface="Arial"/>
              </a:rPr>
              <a:t>Maintenance and remanufacturing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1504950"/>
            <a:ext cx="5715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INDUSTRY COVERAGE</a:t>
            </a:r>
          </a:p>
        </p:txBody>
      </p:sp>
      <p:pic>
        <p:nvPicPr>
          <p:cNvPr id="50" name="Picture 49" descr="f5_9.png"/>
          <p:cNvPicPr>
            <a:picLocks noChangeAspect="1"/>
          </p:cNvPicPr>
          <p:nvPr/>
        </p:nvPicPr>
        <p:blipFill>
          <a:blip r:embed="rId11"/>
          <a:srcRect l="15530" r="15530"/>
          <a:stretch>
            <a:fillRect/>
          </a:stretch>
        </p:blipFill>
        <p:spPr>
          <a:xfrm>
            <a:off x="5943600" y="169545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1" name="Rectangle 50"/>
          <p:cNvSpPr/>
          <p:nvPr/>
        </p:nvSpPr>
        <p:spPr>
          <a:xfrm>
            <a:off x="5943600" y="356235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57900" y="356235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01   Coal and mineral mining</a:t>
            </a:r>
          </a:p>
        </p:txBody>
      </p:sp>
      <p:pic>
        <p:nvPicPr>
          <p:cNvPr id="53" name="Picture 52" descr="f5_10.png"/>
          <p:cNvPicPr>
            <a:picLocks noChangeAspect="1"/>
          </p:cNvPicPr>
          <p:nvPr/>
        </p:nvPicPr>
        <p:blipFill>
          <a:blip r:embed="rId12"/>
          <a:srcRect l="10868" r="10868"/>
          <a:stretch>
            <a:fillRect/>
          </a:stretch>
        </p:blipFill>
        <p:spPr>
          <a:xfrm>
            <a:off x="8858250" y="169545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4" name="Rectangle 53"/>
          <p:cNvSpPr/>
          <p:nvPr/>
        </p:nvSpPr>
        <p:spPr>
          <a:xfrm>
            <a:off x="8858250" y="356235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972550" y="356235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02   Construction</a:t>
            </a:r>
          </a:p>
        </p:txBody>
      </p:sp>
      <p:pic>
        <p:nvPicPr>
          <p:cNvPr id="56" name="Picture 55" descr="f5_11.png"/>
          <p:cNvPicPr>
            <a:picLocks noChangeAspect="1"/>
          </p:cNvPicPr>
          <p:nvPr/>
        </p:nvPicPr>
        <p:blipFill>
          <a:blip r:embed="rId13"/>
          <a:srcRect l="22914" r="22914"/>
          <a:stretch>
            <a:fillRect/>
          </a:stretch>
        </p:blipFill>
        <p:spPr>
          <a:xfrm>
            <a:off x="5943600" y="411480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7" name="Rectangle 56"/>
          <p:cNvSpPr/>
          <p:nvPr/>
        </p:nvSpPr>
        <p:spPr>
          <a:xfrm>
            <a:off x="5943600" y="598170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57900" y="598170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03   Forestry and agro-industry</a:t>
            </a:r>
          </a:p>
        </p:txBody>
      </p:sp>
      <p:pic>
        <p:nvPicPr>
          <p:cNvPr id="59" name="Picture 58" descr="f5_12.png"/>
          <p:cNvPicPr>
            <a:picLocks noChangeAspect="1"/>
          </p:cNvPicPr>
          <p:nvPr/>
        </p:nvPicPr>
        <p:blipFill>
          <a:blip r:embed="rId14"/>
          <a:srcRect l="5764" r="5764"/>
          <a:stretch>
            <a:fillRect/>
          </a:stretch>
        </p:blipFill>
        <p:spPr>
          <a:xfrm>
            <a:off x="8858250" y="411480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60" name="Rectangle 59"/>
          <p:cNvSpPr/>
          <p:nvPr/>
        </p:nvSpPr>
        <p:spPr>
          <a:xfrm>
            <a:off x="8858250" y="598170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72550" y="598170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04   Maritime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801350" y="4229100"/>
            <a:ext cx="742950" cy="171450"/>
          </a:xfrm>
          <a:prstGeom prst="roundRect">
            <a:avLst>
              <a:gd name="adj" fmla="val 50000"/>
            </a:avLst>
          </a:prstGeom>
          <a:solidFill>
            <a:srgbClr val="22C96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801350" y="4229100"/>
            <a:ext cx="7429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NEW · 2025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774598-75CA-6BE5-B859-10F795CD4E16}"/>
              </a:ext>
            </a:extLst>
          </p:cNvPr>
          <p:cNvSpPr txBox="1"/>
          <p:nvPr/>
        </p:nvSpPr>
        <p:spPr>
          <a:xfrm>
            <a:off x="390525" y="627014"/>
            <a:ext cx="65722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Company profile</a:t>
            </a:r>
            <a:endParaRPr lang="en-ID" sz="4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EDC9C-1D2B-8C47-A4E4-698104CFC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F4AC4-E941-5477-C39A-F56153A802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4AEF0-A42B-FAA1-7247-28BDA7275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2E0E778-888F-C8CC-DAA8-42C5A1C3604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7F2B45F-A466-0490-7A51-91454D18DB93}"/>
              </a:ext>
            </a:extLst>
          </p:cNvPr>
          <p:cNvGrpSpPr/>
          <p:nvPr/>
        </p:nvGrpSpPr>
        <p:grpSpPr>
          <a:xfrm>
            <a:off x="347225" y="685795"/>
            <a:ext cx="11844776" cy="587067"/>
            <a:chOff x="347225" y="685795"/>
            <a:chExt cx="11844776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5310B2C-28B2-F4E3-B6CD-CCFD797957EF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Site Operation/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E8C4554-3A65-6F29-198C-FAE079CCCED8}"/>
                </a:ext>
              </a:extLst>
            </p:cNvPr>
            <p:cNvSpPr txBox="1"/>
            <p:nvPr/>
          </p:nvSpPr>
          <p:spPr>
            <a:xfrm>
              <a:off x="3465576" y="685795"/>
              <a:ext cx="87264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C0BEE0F-0E1F-ECC5-391D-02FE90787D2F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E02CD34-4E27-A191-145F-E77192703AF6}"/>
              </a:ext>
            </a:extLst>
          </p:cNvPr>
          <p:cNvGrpSpPr/>
          <p:nvPr/>
        </p:nvGrpSpPr>
        <p:grpSpPr>
          <a:xfrm>
            <a:off x="347226" y="1819872"/>
            <a:ext cx="8327244" cy="3098532"/>
            <a:chOff x="1428750" y="1525429"/>
            <a:chExt cx="9334500" cy="3407093"/>
          </a:xfrm>
        </p:grpSpPr>
        <p:pic>
          <p:nvPicPr>
            <p:cNvPr id="13" name="Picture 12" descr="map_grey.png">
              <a:extLst>
                <a:ext uri="{FF2B5EF4-FFF2-40B4-BE49-F238E27FC236}">
                  <a16:creationId xmlns:a16="http://schemas.microsoft.com/office/drawing/2014/main" id="{1CDD22DD-1FD6-5B72-300B-381B9BDB1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8750" y="1525429"/>
              <a:ext cx="9334500" cy="3407093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DDB14CC-085C-0214-E6AA-E7A0EF09ADE1}"/>
                </a:ext>
              </a:extLst>
            </p:cNvPr>
            <p:cNvSpPr/>
            <p:nvPr/>
          </p:nvSpPr>
          <p:spPr>
            <a:xfrm>
              <a:off x="3807333" y="3931651"/>
              <a:ext cx="171450" cy="171450"/>
            </a:xfrm>
            <a:prstGeom prst="ellipse">
              <a:avLst/>
            </a:prstGeom>
            <a:solidFill>
              <a:srgbClr val="076932"/>
            </a:solidFill>
            <a:ln w="9525">
              <a:solidFill>
                <a:srgbClr val="07693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1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19C6270-E442-56FC-8562-CABBF650666A}"/>
                </a:ext>
              </a:extLst>
            </p:cNvPr>
            <p:cNvSpPr/>
            <p:nvPr/>
          </p:nvSpPr>
          <p:spPr>
            <a:xfrm>
              <a:off x="3638379" y="3790938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1B20F5B-76E3-1ACD-6386-88EFB50D645E}"/>
                </a:ext>
              </a:extLst>
            </p:cNvPr>
            <p:cNvSpPr/>
            <p:nvPr/>
          </p:nvSpPr>
          <p:spPr>
            <a:xfrm>
              <a:off x="3096044" y="3385494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3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FC81610-5E7E-BA96-6A23-2B6E8472857D}"/>
                </a:ext>
              </a:extLst>
            </p:cNvPr>
            <p:cNvSpPr/>
            <p:nvPr/>
          </p:nvSpPr>
          <p:spPr>
            <a:xfrm>
              <a:off x="2617184" y="2526566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4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0FD5BA7-AF47-1140-5EBA-4260483B9736}"/>
                </a:ext>
              </a:extLst>
            </p:cNvPr>
            <p:cNvSpPr/>
            <p:nvPr/>
          </p:nvSpPr>
          <p:spPr>
            <a:xfrm>
              <a:off x="5295252" y="3298273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654984D-F142-8D8B-D5F1-D73923E5CAB9}"/>
                </a:ext>
              </a:extLst>
            </p:cNvPr>
            <p:cNvSpPr/>
            <p:nvPr/>
          </p:nvSpPr>
          <p:spPr>
            <a:xfrm>
              <a:off x="5473541" y="3381065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6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48E18D3-9627-29C7-FF11-B7E4DCF1DD25}"/>
                </a:ext>
              </a:extLst>
            </p:cNvPr>
            <p:cNvSpPr/>
            <p:nvPr/>
          </p:nvSpPr>
          <p:spPr>
            <a:xfrm>
              <a:off x="5465140" y="3062843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7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4B5D21F-8E05-BAF7-0169-8474DF4D2169}"/>
                </a:ext>
              </a:extLst>
            </p:cNvPr>
            <p:cNvSpPr/>
            <p:nvPr/>
          </p:nvSpPr>
          <p:spPr>
            <a:xfrm>
              <a:off x="5592089" y="2992657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8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EE0035D-C809-9C6C-7DEE-6DAA6F9A466B}"/>
                </a:ext>
              </a:extLst>
            </p:cNvPr>
            <p:cNvSpPr/>
            <p:nvPr/>
          </p:nvSpPr>
          <p:spPr>
            <a:xfrm>
              <a:off x="5355927" y="2820939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9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A24129D-A35A-B3AA-5575-3D2A773D07FD}"/>
                </a:ext>
              </a:extLst>
            </p:cNvPr>
            <p:cNvSpPr/>
            <p:nvPr/>
          </p:nvSpPr>
          <p:spPr>
            <a:xfrm>
              <a:off x="5750776" y="2878519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10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634781C-7E2C-DF44-081B-4B08C9C07926}"/>
                </a:ext>
              </a:extLst>
            </p:cNvPr>
            <p:cNvSpPr/>
            <p:nvPr/>
          </p:nvSpPr>
          <p:spPr>
            <a:xfrm>
              <a:off x="5547284" y="2675797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11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188ED13-FA76-C7DE-5C1C-5C1CC12E0030}"/>
                </a:ext>
              </a:extLst>
            </p:cNvPr>
            <p:cNvSpPr/>
            <p:nvPr/>
          </p:nvSpPr>
          <p:spPr>
            <a:xfrm>
              <a:off x="5588356" y="2518049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12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4985A07-3EB7-D592-6B76-997B09DDB6E8}"/>
                </a:ext>
              </a:extLst>
            </p:cNvPr>
            <p:cNvSpPr/>
            <p:nvPr/>
          </p:nvSpPr>
          <p:spPr>
            <a:xfrm>
              <a:off x="5886126" y="2195738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 dirty="0">
                  <a:solidFill>
                    <a:schemeClr val="bg1"/>
                  </a:solidFill>
                  <a:latin typeface="Arial"/>
                </a:rPr>
                <a:t>13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D19D0B0-B21A-0503-9B9A-CF15B6748D7C}"/>
                </a:ext>
              </a:extLst>
            </p:cNvPr>
            <p:cNvSpPr/>
            <p:nvPr/>
          </p:nvSpPr>
          <p:spPr>
            <a:xfrm>
              <a:off x="5897328" y="2527929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 dirty="0">
                  <a:solidFill>
                    <a:srgbClr val="FFFFFF"/>
                  </a:solidFill>
                  <a:latin typeface="Arial"/>
                </a:rPr>
                <a:t>14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14A1D68-1007-55D1-4B5B-C393E12DEC7E}"/>
                </a:ext>
              </a:extLst>
            </p:cNvPr>
            <p:cNvSpPr/>
            <p:nvPr/>
          </p:nvSpPr>
          <p:spPr>
            <a:xfrm>
              <a:off x="6439662" y="4452596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15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EBD3FB1-1357-974D-4D70-A66309FCB836}"/>
                </a:ext>
              </a:extLst>
            </p:cNvPr>
            <p:cNvSpPr/>
            <p:nvPr/>
          </p:nvSpPr>
          <p:spPr>
            <a:xfrm>
              <a:off x="9832753" y="3579699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16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C732B5F-1467-8F5E-5A0B-9B45E8F2CA09}"/>
              </a:ext>
            </a:extLst>
          </p:cNvPr>
          <p:cNvSpPr txBox="1"/>
          <p:nvPr/>
        </p:nvSpPr>
        <p:spPr>
          <a:xfrm>
            <a:off x="502019" y="1421570"/>
            <a:ext cx="11125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D555C"/>
                </a:solidFill>
                <a:latin typeface="Arial"/>
              </a:rPr>
              <a:t>Head Office in Jakarta, 6 Site Operations and 9 Site Representatives.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AA392C4-57B2-E6DF-B7EF-9CC635064991}"/>
              </a:ext>
            </a:extLst>
          </p:cNvPr>
          <p:cNvSpPr/>
          <p:nvPr/>
        </p:nvSpPr>
        <p:spPr>
          <a:xfrm>
            <a:off x="8541119" y="1497770"/>
            <a:ext cx="95250" cy="95250"/>
          </a:xfrm>
          <a:prstGeom prst="ellipse">
            <a:avLst/>
          </a:prstGeom>
          <a:solidFill>
            <a:srgbClr val="076932"/>
          </a:solidFill>
          <a:ln w="9525">
            <a:solidFill>
              <a:srgbClr val="076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391290-C268-6912-88B1-DD1240F2E849}"/>
              </a:ext>
            </a:extLst>
          </p:cNvPr>
          <p:cNvSpPr txBox="1"/>
          <p:nvPr/>
        </p:nvSpPr>
        <p:spPr>
          <a:xfrm>
            <a:off x="8674469" y="1478720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Arial"/>
              </a:rPr>
              <a:t>Head Office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F6793C1-0BFC-3766-288A-8F5EB3A4B29B}"/>
              </a:ext>
            </a:extLst>
          </p:cNvPr>
          <p:cNvSpPr/>
          <p:nvPr/>
        </p:nvSpPr>
        <p:spPr>
          <a:xfrm>
            <a:off x="9588869" y="1497770"/>
            <a:ext cx="95250" cy="95250"/>
          </a:xfrm>
          <a:prstGeom prst="ellipse">
            <a:avLst/>
          </a:prstGeom>
          <a:solidFill>
            <a:srgbClr val="22C96A"/>
          </a:solidFill>
          <a:ln w="9525">
            <a:solidFill>
              <a:srgbClr val="22C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974465-87F9-5EC4-AEAD-6034D48BA70C}"/>
              </a:ext>
            </a:extLst>
          </p:cNvPr>
          <p:cNvSpPr txBox="1"/>
          <p:nvPr/>
        </p:nvSpPr>
        <p:spPr>
          <a:xfrm>
            <a:off x="9722219" y="1478720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Arial"/>
              </a:rPr>
              <a:t>Site Operation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A82AD67-2AE4-DCD9-2B17-ADF5C7825BBC}"/>
              </a:ext>
            </a:extLst>
          </p:cNvPr>
          <p:cNvSpPr/>
          <p:nvPr/>
        </p:nvSpPr>
        <p:spPr>
          <a:xfrm>
            <a:off x="10636619" y="1497770"/>
            <a:ext cx="95250" cy="952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A81651-A1AF-2C9D-5611-2C0F48C436BF}"/>
              </a:ext>
            </a:extLst>
          </p:cNvPr>
          <p:cNvSpPr txBox="1"/>
          <p:nvPr/>
        </p:nvSpPr>
        <p:spPr>
          <a:xfrm>
            <a:off x="10769969" y="1478720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Arial"/>
              </a:rPr>
              <a:t>Site Representative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D57B4F10-6373-77A2-068E-A61C3F746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210073"/>
              </p:ext>
            </p:extLst>
          </p:nvPr>
        </p:nvGraphicFramePr>
        <p:xfrm>
          <a:off x="533400" y="5029200"/>
          <a:ext cx="5486401" cy="1691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SITE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ADDRESS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 Office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 office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Raya Bekasi KM 22, Cakung, Jakarta Timur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Jakarta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Raya Bekasi KM 22, Cakung, Jakarta Timur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Tanjung Enim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Lingga Raya 10, Muara Enim, Sumatera Selatan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Pekanbaru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Soekarno Hatta KM 3,5 No. 151, Riau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Banjarmasin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Ahmad Yani KM 13,5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Gambut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Kalimantan Selatan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Sungai Danau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Ds. Karang Indah, Angsana, Tanah Bumbu, Kalsel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Tanjung Tabalong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A. Yani KM 7,5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Maburai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Tabalong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Kalsel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Batu Kajang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Negara KM 140, Batu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Sopang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Paser,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Kaltim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65B4385F-5E5A-EF99-17D3-77B87A343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8752"/>
              </p:ext>
            </p:extLst>
          </p:nvPr>
        </p:nvGraphicFramePr>
        <p:xfrm>
          <a:off x="6172200" y="5029200"/>
          <a:ext cx="5486401" cy="1691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SITE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ADDRESS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Muara Teweh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Ahmad Yani No. 85, Barito Utara, Kalteng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Balikpapan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Jend. Sudirman No. 844, Balikpapan, Kaltim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Melak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Hauling Road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Trubaindo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Kutai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Barat,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Kaltim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Tabang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Workshop Buma Km 6, Hauling Road, Kaltim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Tanjung Redeb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Gunung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Panjang No. 101B, Berau,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Kaltim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Sangatta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HDRS Tango Delta KPC, Kutai Timur, Kaltim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Sumbawa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Memco Area Tongo, Sekongkang, Sumbawa Barat, NTB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Timika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Kuala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Tembaga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E-4, Kuala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Kencana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Papua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005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0B047-AFCA-708E-7CB7-871F07B66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D4ECC-EDAA-1EA1-C0EE-5580FAD42B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94C00-5CB8-2BEA-853A-A64C714C1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F761DD6-7316-17E6-CC12-40154CD72D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F040D6-5085-0004-3461-4F928A2A094D}"/>
              </a:ext>
            </a:extLst>
          </p:cNvPr>
          <p:cNvGrpSpPr/>
          <p:nvPr/>
        </p:nvGrpSpPr>
        <p:grpSpPr>
          <a:xfrm>
            <a:off x="347225" y="685795"/>
            <a:ext cx="11844776" cy="587067"/>
            <a:chOff x="347225" y="685795"/>
            <a:chExt cx="11844776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00FEE5E-32FF-E3EB-A6EA-B983C7E127F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Organizational Structure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7BA83DD-510E-1992-CA87-1BB98C2CF60F}"/>
                </a:ext>
              </a:extLst>
            </p:cNvPr>
            <p:cNvSpPr txBox="1"/>
            <p:nvPr/>
          </p:nvSpPr>
          <p:spPr>
            <a:xfrm>
              <a:off x="3465576" y="685795"/>
              <a:ext cx="87264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72B7119-2570-838A-E90D-3A9ABCF7CBE2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C893B80-0045-7CB7-9BC3-2AF1233A8FF3}"/>
              </a:ext>
            </a:extLst>
          </p:cNvPr>
          <p:cNvSpPr txBox="1"/>
          <p:nvPr/>
        </p:nvSpPr>
        <p:spPr>
          <a:xfrm>
            <a:off x="502019" y="1421570"/>
            <a:ext cx="11125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D555C"/>
                </a:solidFill>
                <a:latin typeface="Arial"/>
              </a:rPr>
              <a:t>Head Office in Jakarta, 6 Site Operations and 9 Site Representatives.</a:t>
            </a:r>
          </a:p>
        </p:txBody>
      </p:sp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34224B7F-F5EC-EC29-A8A7-CCC345461733}"/>
              </a:ext>
            </a:extLst>
          </p:cNvPr>
          <p:cNvSpPr/>
          <p:nvPr/>
        </p:nvSpPr>
        <p:spPr>
          <a:xfrm>
            <a:off x="4862075" y="1710144"/>
            <a:ext cx="2095500" cy="381000"/>
          </a:xfrm>
          <a:prstGeom prst="roundRect">
            <a:avLst>
              <a:gd name="adj" fmla="val 125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02C3E5-90D4-9721-6982-94CF17223F71}"/>
              </a:ext>
            </a:extLst>
          </p:cNvPr>
          <p:cNvSpPr txBox="1"/>
          <p:nvPr/>
        </p:nvSpPr>
        <p:spPr>
          <a:xfrm>
            <a:off x="4919225" y="1757769"/>
            <a:ext cx="1981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Ceisar Centiaga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34F39-5345-4D64-5C46-FAEC4F175F57}"/>
              </a:ext>
            </a:extLst>
          </p:cNvPr>
          <p:cNvSpPr txBox="1"/>
          <p:nvPr/>
        </p:nvSpPr>
        <p:spPr>
          <a:xfrm>
            <a:off x="4919225" y="1910169"/>
            <a:ext cx="1981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DIRECTOR IN CHARGE</a:t>
            </a:r>
          </a:p>
        </p:txBody>
      </p:sp>
      <p:cxnSp>
        <p:nvCxnSpPr>
          <p:cNvPr id="7" name="Connector 12">
            <a:extLst>
              <a:ext uri="{FF2B5EF4-FFF2-40B4-BE49-F238E27FC236}">
                <a16:creationId xmlns:a16="http://schemas.microsoft.com/office/drawing/2014/main" id="{B8B27CA9-8962-41F4-4648-9C04D57A4C73}"/>
              </a:ext>
            </a:extLst>
          </p:cNvPr>
          <p:cNvCxnSpPr/>
          <p:nvPr/>
        </p:nvCxnSpPr>
        <p:spPr>
          <a:xfrm>
            <a:off x="5909825" y="2091144"/>
            <a:ext cx="0" cy="1333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" name="Rounded Rectangle 13">
            <a:extLst>
              <a:ext uri="{FF2B5EF4-FFF2-40B4-BE49-F238E27FC236}">
                <a16:creationId xmlns:a16="http://schemas.microsoft.com/office/drawing/2014/main" id="{D37802CB-0A2D-4386-E3D8-7D3BDBF89DDC}"/>
              </a:ext>
            </a:extLst>
          </p:cNvPr>
          <p:cNvSpPr/>
          <p:nvPr/>
        </p:nvSpPr>
        <p:spPr>
          <a:xfrm>
            <a:off x="4862075" y="2224494"/>
            <a:ext cx="2095500" cy="381000"/>
          </a:xfrm>
          <a:prstGeom prst="roundRect">
            <a:avLst>
              <a:gd name="adj" fmla="val 125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322A67-0D99-F59D-51E9-86C9B20ACB23}"/>
              </a:ext>
            </a:extLst>
          </p:cNvPr>
          <p:cNvSpPr txBox="1"/>
          <p:nvPr/>
        </p:nvSpPr>
        <p:spPr>
          <a:xfrm>
            <a:off x="4919225" y="2272119"/>
            <a:ext cx="1981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Ricardo Tanada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4F5509-A746-3B9B-893A-BF3C6F1F010E}"/>
              </a:ext>
            </a:extLst>
          </p:cNvPr>
          <p:cNvSpPr txBox="1"/>
          <p:nvPr/>
        </p:nvSpPr>
        <p:spPr>
          <a:xfrm>
            <a:off x="4919225" y="2424519"/>
            <a:ext cx="1981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UNIT &amp; STRATEGIC DIV HEAD</a:t>
            </a:r>
          </a:p>
        </p:txBody>
      </p:sp>
      <p:cxnSp>
        <p:nvCxnSpPr>
          <p:cNvPr id="30" name="Connector 16">
            <a:extLst>
              <a:ext uri="{FF2B5EF4-FFF2-40B4-BE49-F238E27FC236}">
                <a16:creationId xmlns:a16="http://schemas.microsoft.com/office/drawing/2014/main" id="{8D835FAA-B189-9450-9C89-1AE890594B15}"/>
              </a:ext>
            </a:extLst>
          </p:cNvPr>
          <p:cNvCxnSpPr/>
          <p:nvPr/>
        </p:nvCxnSpPr>
        <p:spPr>
          <a:xfrm>
            <a:off x="5909825" y="26054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36" name="Connector 17">
            <a:extLst>
              <a:ext uri="{FF2B5EF4-FFF2-40B4-BE49-F238E27FC236}">
                <a16:creationId xmlns:a16="http://schemas.microsoft.com/office/drawing/2014/main" id="{90AAA8DC-ACB7-2899-BF7B-455771FE9DBA}"/>
              </a:ext>
            </a:extLst>
          </p:cNvPr>
          <p:cNvCxnSpPr/>
          <p:nvPr/>
        </p:nvCxnSpPr>
        <p:spPr>
          <a:xfrm>
            <a:off x="6957575" y="2414994"/>
            <a:ext cx="123825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38" name="Rounded Rectangle 18">
            <a:extLst>
              <a:ext uri="{FF2B5EF4-FFF2-40B4-BE49-F238E27FC236}">
                <a16:creationId xmlns:a16="http://schemas.microsoft.com/office/drawing/2014/main" id="{8D07AF94-6A8A-F5D7-E846-899E4FD90551}"/>
              </a:ext>
            </a:extLst>
          </p:cNvPr>
          <p:cNvSpPr/>
          <p:nvPr/>
        </p:nvSpPr>
        <p:spPr>
          <a:xfrm>
            <a:off x="8195825" y="2186394"/>
            <a:ext cx="32766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7C5C25-4CCA-F518-F079-FC236DF97826}"/>
              </a:ext>
            </a:extLst>
          </p:cNvPr>
          <p:cNvSpPr txBox="1"/>
          <p:nvPr/>
        </p:nvSpPr>
        <p:spPr>
          <a:xfrm>
            <a:off x="8252975" y="2234019"/>
            <a:ext cx="3162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Marketing Communication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70B9C6-5BA6-A8C4-4CE8-31B156C69BCA}"/>
              </a:ext>
            </a:extLst>
          </p:cNvPr>
          <p:cNvSpPr txBox="1"/>
          <p:nvPr/>
        </p:nvSpPr>
        <p:spPr>
          <a:xfrm>
            <a:off x="8252975" y="2386419"/>
            <a:ext cx="3162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Karina Audina E. · Adinda Siti K. (Marcomm) · Rahma (Graphic Designer)</a:t>
            </a:r>
          </a:p>
        </p:txBody>
      </p:sp>
      <p:cxnSp>
        <p:nvCxnSpPr>
          <p:cNvPr id="44" name="Connector 21">
            <a:extLst>
              <a:ext uri="{FF2B5EF4-FFF2-40B4-BE49-F238E27FC236}">
                <a16:creationId xmlns:a16="http://schemas.microsoft.com/office/drawing/2014/main" id="{AFB5CCD2-D73F-9C55-D1E0-0CFD152FB734}"/>
              </a:ext>
            </a:extLst>
          </p:cNvPr>
          <p:cNvCxnSpPr/>
          <p:nvPr/>
        </p:nvCxnSpPr>
        <p:spPr>
          <a:xfrm>
            <a:off x="1614050" y="2757894"/>
            <a:ext cx="859155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46" name="Connector 22">
            <a:extLst>
              <a:ext uri="{FF2B5EF4-FFF2-40B4-BE49-F238E27FC236}">
                <a16:creationId xmlns:a16="http://schemas.microsoft.com/office/drawing/2014/main" id="{E3D9C29A-CBCC-4C49-1AB4-2E48ACECAE8D}"/>
              </a:ext>
            </a:extLst>
          </p:cNvPr>
          <p:cNvCxnSpPr/>
          <p:nvPr/>
        </p:nvCxnSpPr>
        <p:spPr>
          <a:xfrm>
            <a:off x="1614050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48" name="Rounded Rectangle 23">
            <a:extLst>
              <a:ext uri="{FF2B5EF4-FFF2-40B4-BE49-F238E27FC236}">
                <a16:creationId xmlns:a16="http://schemas.microsoft.com/office/drawing/2014/main" id="{D9B5D6CC-B9B8-8DDD-00AA-3F977731EFA3}"/>
              </a:ext>
            </a:extLst>
          </p:cNvPr>
          <p:cNvSpPr/>
          <p:nvPr/>
        </p:nvSpPr>
        <p:spPr>
          <a:xfrm>
            <a:off x="347225" y="2910294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D7C1DB-0E86-5155-6F2D-84555C086F2B}"/>
              </a:ext>
            </a:extLst>
          </p:cNvPr>
          <p:cNvSpPr txBox="1"/>
          <p:nvPr/>
        </p:nvSpPr>
        <p:spPr>
          <a:xfrm>
            <a:off x="404375" y="2957919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Kresnanto A.W.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B3EB09-C92A-83A2-900F-85EEE82BF200}"/>
              </a:ext>
            </a:extLst>
          </p:cNvPr>
          <p:cNvSpPr txBox="1"/>
          <p:nvPr/>
        </p:nvSpPr>
        <p:spPr>
          <a:xfrm>
            <a:off x="404375" y="3110319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1 HEAD</a:t>
            </a:r>
          </a:p>
        </p:txBody>
      </p:sp>
      <p:cxnSp>
        <p:nvCxnSpPr>
          <p:cNvPr id="53" name="Connector 26">
            <a:extLst>
              <a:ext uri="{FF2B5EF4-FFF2-40B4-BE49-F238E27FC236}">
                <a16:creationId xmlns:a16="http://schemas.microsoft.com/office/drawing/2014/main" id="{22BCA73F-A956-8021-1808-2F437407EDA3}"/>
              </a:ext>
            </a:extLst>
          </p:cNvPr>
          <p:cNvCxnSpPr/>
          <p:nvPr/>
        </p:nvCxnSpPr>
        <p:spPr>
          <a:xfrm>
            <a:off x="442475" y="3329394"/>
            <a:ext cx="0" cy="8572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54" name="Connector 27">
            <a:extLst>
              <a:ext uri="{FF2B5EF4-FFF2-40B4-BE49-F238E27FC236}">
                <a16:creationId xmlns:a16="http://schemas.microsoft.com/office/drawing/2014/main" id="{B686C870-4393-D175-CCC9-8E3C3F5BE57E}"/>
              </a:ext>
            </a:extLst>
          </p:cNvPr>
          <p:cNvCxnSpPr/>
          <p:nvPr/>
        </p:nvCxnSpPr>
        <p:spPr>
          <a:xfrm>
            <a:off x="442475" y="36532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55" name="Rounded Rectangle 28">
            <a:extLst>
              <a:ext uri="{FF2B5EF4-FFF2-40B4-BE49-F238E27FC236}">
                <a16:creationId xmlns:a16="http://schemas.microsoft.com/office/drawing/2014/main" id="{1974E527-495A-C071-0CDB-09621663163A}"/>
              </a:ext>
            </a:extLst>
          </p:cNvPr>
          <p:cNvSpPr/>
          <p:nvPr/>
        </p:nvSpPr>
        <p:spPr>
          <a:xfrm>
            <a:off x="518675" y="34246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C7D2AB-5C18-D2DC-C82D-4DC666166335}"/>
              </a:ext>
            </a:extLst>
          </p:cNvPr>
          <p:cNvSpPr txBox="1"/>
          <p:nvPr/>
        </p:nvSpPr>
        <p:spPr>
          <a:xfrm>
            <a:off x="575825" y="34722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Satrio F.R.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F76423-7040-4CD3-D28E-8C348E721C86}"/>
              </a:ext>
            </a:extLst>
          </p:cNvPr>
          <p:cNvSpPr txBox="1"/>
          <p:nvPr/>
        </p:nvSpPr>
        <p:spPr>
          <a:xfrm>
            <a:off x="575825" y="36246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Big Suppeq, Big Vessel, Bucket</a:t>
            </a:r>
          </a:p>
        </p:txBody>
      </p:sp>
      <p:cxnSp>
        <p:nvCxnSpPr>
          <p:cNvPr id="58" name="Connector 31">
            <a:extLst>
              <a:ext uri="{FF2B5EF4-FFF2-40B4-BE49-F238E27FC236}">
                <a16:creationId xmlns:a16="http://schemas.microsoft.com/office/drawing/2014/main" id="{791564D3-FDFB-F980-9C74-B258C1EC65D8}"/>
              </a:ext>
            </a:extLst>
          </p:cNvPr>
          <p:cNvCxnSpPr/>
          <p:nvPr/>
        </p:nvCxnSpPr>
        <p:spPr>
          <a:xfrm>
            <a:off x="442475" y="41866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59" name="Rounded Rectangle 32">
            <a:extLst>
              <a:ext uri="{FF2B5EF4-FFF2-40B4-BE49-F238E27FC236}">
                <a16:creationId xmlns:a16="http://schemas.microsoft.com/office/drawing/2014/main" id="{DE48494C-0E74-AE2B-EFD6-AB3E0E238965}"/>
              </a:ext>
            </a:extLst>
          </p:cNvPr>
          <p:cNvSpPr/>
          <p:nvPr/>
        </p:nvSpPr>
        <p:spPr>
          <a:xfrm>
            <a:off x="518675" y="39580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0102B2-15F2-C9A9-04BE-55D829F294EE}"/>
              </a:ext>
            </a:extLst>
          </p:cNvPr>
          <p:cNvSpPr txBox="1"/>
          <p:nvPr/>
        </p:nvSpPr>
        <p:spPr>
          <a:xfrm>
            <a:off x="575825" y="40056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M. Fawwaz J.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E1656D-3160-B2D0-79D2-BA36B222713D}"/>
              </a:ext>
            </a:extLst>
          </p:cNvPr>
          <p:cNvSpPr txBox="1"/>
          <p:nvPr/>
        </p:nvSpPr>
        <p:spPr>
          <a:xfrm>
            <a:off x="575825" y="41580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Cabin, Forestry, Agro, Forklift, Towerlamp, Pump</a:t>
            </a:r>
          </a:p>
        </p:txBody>
      </p:sp>
      <p:cxnSp>
        <p:nvCxnSpPr>
          <p:cNvPr id="62" name="Connector 35">
            <a:extLst>
              <a:ext uri="{FF2B5EF4-FFF2-40B4-BE49-F238E27FC236}">
                <a16:creationId xmlns:a16="http://schemas.microsoft.com/office/drawing/2014/main" id="{5AB8E824-1CAA-BF80-8A7B-82B8CB9F24C6}"/>
              </a:ext>
            </a:extLst>
          </p:cNvPr>
          <p:cNvCxnSpPr/>
          <p:nvPr/>
        </p:nvCxnSpPr>
        <p:spPr>
          <a:xfrm>
            <a:off x="4477900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63" name="Rounded Rectangle 36">
            <a:extLst>
              <a:ext uri="{FF2B5EF4-FFF2-40B4-BE49-F238E27FC236}">
                <a16:creationId xmlns:a16="http://schemas.microsoft.com/office/drawing/2014/main" id="{C2B77492-F203-567F-7525-8BDBDD33394E}"/>
              </a:ext>
            </a:extLst>
          </p:cNvPr>
          <p:cNvSpPr/>
          <p:nvPr/>
        </p:nvSpPr>
        <p:spPr>
          <a:xfrm>
            <a:off x="3153925" y="2853144"/>
            <a:ext cx="2647950" cy="3257550"/>
          </a:xfrm>
          <a:prstGeom prst="roundRect">
            <a:avLst>
              <a:gd name="adj" fmla="val 2877"/>
            </a:avLst>
          </a:prstGeom>
          <a:noFill/>
          <a:ln w="19050">
            <a:solidFill>
              <a:srgbClr val="076932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4" name="Rounded Rectangle 37">
            <a:extLst>
              <a:ext uri="{FF2B5EF4-FFF2-40B4-BE49-F238E27FC236}">
                <a16:creationId xmlns:a16="http://schemas.microsoft.com/office/drawing/2014/main" id="{1715DFD3-BECA-0B3E-98B9-FD29D9A03529}"/>
              </a:ext>
            </a:extLst>
          </p:cNvPr>
          <p:cNvSpPr/>
          <p:nvPr/>
        </p:nvSpPr>
        <p:spPr>
          <a:xfrm>
            <a:off x="3211075" y="2910294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5021AD-C02C-FC71-6680-C8402DB82858}"/>
              </a:ext>
            </a:extLst>
          </p:cNvPr>
          <p:cNvSpPr txBox="1"/>
          <p:nvPr/>
        </p:nvSpPr>
        <p:spPr>
          <a:xfrm>
            <a:off x="3268225" y="2957919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Ignatius Indrawan S.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980F99D-9C28-C29A-3216-B6EF558294D5}"/>
              </a:ext>
            </a:extLst>
          </p:cNvPr>
          <p:cNvSpPr txBox="1"/>
          <p:nvPr/>
        </p:nvSpPr>
        <p:spPr>
          <a:xfrm>
            <a:off x="3268225" y="3110319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2 DEPUTY HEAD</a:t>
            </a:r>
          </a:p>
        </p:txBody>
      </p:sp>
      <p:cxnSp>
        <p:nvCxnSpPr>
          <p:cNvPr id="67" name="Connector 40">
            <a:extLst>
              <a:ext uri="{FF2B5EF4-FFF2-40B4-BE49-F238E27FC236}">
                <a16:creationId xmlns:a16="http://schemas.microsoft.com/office/drawing/2014/main" id="{3E0D6980-FDDB-3004-3968-FC25E1471DC2}"/>
              </a:ext>
            </a:extLst>
          </p:cNvPr>
          <p:cNvCxnSpPr/>
          <p:nvPr/>
        </p:nvCxnSpPr>
        <p:spPr>
          <a:xfrm>
            <a:off x="3306325" y="3329394"/>
            <a:ext cx="0" cy="24574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68" name="Connector 41">
            <a:extLst>
              <a:ext uri="{FF2B5EF4-FFF2-40B4-BE49-F238E27FC236}">
                <a16:creationId xmlns:a16="http://schemas.microsoft.com/office/drawing/2014/main" id="{6F8C49C5-8EDB-0EAD-85E7-29F3C9F8AA17}"/>
              </a:ext>
            </a:extLst>
          </p:cNvPr>
          <p:cNvCxnSpPr/>
          <p:nvPr/>
        </p:nvCxnSpPr>
        <p:spPr>
          <a:xfrm>
            <a:off x="3306325" y="36532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69" name="Rounded Rectangle 42">
            <a:extLst>
              <a:ext uri="{FF2B5EF4-FFF2-40B4-BE49-F238E27FC236}">
                <a16:creationId xmlns:a16="http://schemas.microsoft.com/office/drawing/2014/main" id="{B0BE50E9-2214-E767-7A0D-593785B02DEB}"/>
              </a:ext>
            </a:extLst>
          </p:cNvPr>
          <p:cNvSpPr/>
          <p:nvPr/>
        </p:nvSpPr>
        <p:spPr>
          <a:xfrm>
            <a:off x="3382525" y="34246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AD7795-4680-E540-46E4-B6EB3D5E330D}"/>
              </a:ext>
            </a:extLst>
          </p:cNvPr>
          <p:cNvSpPr txBox="1"/>
          <p:nvPr/>
        </p:nvSpPr>
        <p:spPr>
          <a:xfrm>
            <a:off x="3439675" y="34722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Ervin Bahar P.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F58C40-437F-9754-CB50-2EE671C51D45}"/>
              </a:ext>
            </a:extLst>
          </p:cNvPr>
          <p:cNvSpPr txBox="1"/>
          <p:nvPr/>
        </p:nvSpPr>
        <p:spPr>
          <a:xfrm>
            <a:off x="3439675" y="36246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Medium Vessel, Man Hauler, Bus Scania</a:t>
            </a:r>
          </a:p>
        </p:txBody>
      </p:sp>
      <p:cxnSp>
        <p:nvCxnSpPr>
          <p:cNvPr id="72" name="Connector 45">
            <a:extLst>
              <a:ext uri="{FF2B5EF4-FFF2-40B4-BE49-F238E27FC236}">
                <a16:creationId xmlns:a16="http://schemas.microsoft.com/office/drawing/2014/main" id="{72183C2B-699A-816B-A0C7-8DFB4A8CC1D8}"/>
              </a:ext>
            </a:extLst>
          </p:cNvPr>
          <p:cNvCxnSpPr/>
          <p:nvPr/>
        </p:nvCxnSpPr>
        <p:spPr>
          <a:xfrm>
            <a:off x="3306325" y="41866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73" name="Rounded Rectangle 46">
            <a:extLst>
              <a:ext uri="{FF2B5EF4-FFF2-40B4-BE49-F238E27FC236}">
                <a16:creationId xmlns:a16="http://schemas.microsoft.com/office/drawing/2014/main" id="{77C68762-367C-BC90-3C09-ED28B6B24BA9}"/>
              </a:ext>
            </a:extLst>
          </p:cNvPr>
          <p:cNvSpPr/>
          <p:nvPr/>
        </p:nvSpPr>
        <p:spPr>
          <a:xfrm>
            <a:off x="3382525" y="39580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E1F9EC"/>
          </a:solidFill>
          <a:ln w="19050">
            <a:solidFill>
              <a:srgbClr val="076932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C24E505-6304-085B-F7F1-0B3D25330738}"/>
              </a:ext>
            </a:extLst>
          </p:cNvPr>
          <p:cNvSpPr txBox="1"/>
          <p:nvPr/>
        </p:nvSpPr>
        <p:spPr>
          <a:xfrm>
            <a:off x="3439675" y="40056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Tiberias K.S.  ◄ ME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6D8CF70-51CF-DCBE-4679-ABAB3B487EC0}"/>
              </a:ext>
            </a:extLst>
          </p:cNvPr>
          <p:cNvSpPr txBox="1"/>
          <p:nvPr/>
        </p:nvSpPr>
        <p:spPr>
          <a:xfrm>
            <a:off x="3439675" y="41580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076932"/>
                </a:solidFill>
                <a:latin typeface="Arial"/>
              </a:rPr>
              <a:t>Small Suppeq, Truck Others</a:t>
            </a:r>
          </a:p>
        </p:txBody>
      </p:sp>
      <p:cxnSp>
        <p:nvCxnSpPr>
          <p:cNvPr id="76" name="Connector 49">
            <a:extLst>
              <a:ext uri="{FF2B5EF4-FFF2-40B4-BE49-F238E27FC236}">
                <a16:creationId xmlns:a16="http://schemas.microsoft.com/office/drawing/2014/main" id="{D06588F0-7D90-4DD0-66CA-6DECBF1AF10C}"/>
              </a:ext>
            </a:extLst>
          </p:cNvPr>
          <p:cNvCxnSpPr/>
          <p:nvPr/>
        </p:nvCxnSpPr>
        <p:spPr>
          <a:xfrm>
            <a:off x="3306325" y="47200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77" name="Rounded Rectangle 50">
            <a:extLst>
              <a:ext uri="{FF2B5EF4-FFF2-40B4-BE49-F238E27FC236}">
                <a16:creationId xmlns:a16="http://schemas.microsoft.com/office/drawing/2014/main" id="{AFB97E0E-F545-F14F-DA70-5E0820447D3C}"/>
              </a:ext>
            </a:extLst>
          </p:cNvPr>
          <p:cNvSpPr/>
          <p:nvPr/>
        </p:nvSpPr>
        <p:spPr>
          <a:xfrm>
            <a:off x="3382525" y="44914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26826F3-B91F-F149-0A08-FA3ED71D286A}"/>
              </a:ext>
            </a:extLst>
          </p:cNvPr>
          <p:cNvSpPr txBox="1"/>
          <p:nvPr/>
        </p:nvSpPr>
        <p:spPr>
          <a:xfrm>
            <a:off x="3439675" y="45390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Eurico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D2BE91-656A-381F-6FC8-56920C1B0EA5}"/>
              </a:ext>
            </a:extLst>
          </p:cNvPr>
          <p:cNvSpPr txBox="1"/>
          <p:nvPr/>
        </p:nvSpPr>
        <p:spPr>
          <a:xfrm>
            <a:off x="3439675" y="46914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Mining / Non-mining Trailer, Overseas Zone</a:t>
            </a:r>
          </a:p>
        </p:txBody>
      </p:sp>
      <p:cxnSp>
        <p:nvCxnSpPr>
          <p:cNvPr id="80" name="Connector 53">
            <a:extLst>
              <a:ext uri="{FF2B5EF4-FFF2-40B4-BE49-F238E27FC236}">
                <a16:creationId xmlns:a16="http://schemas.microsoft.com/office/drawing/2014/main" id="{BF39C6FE-E2A1-6A8C-7ADA-133F10C5B246}"/>
              </a:ext>
            </a:extLst>
          </p:cNvPr>
          <p:cNvCxnSpPr/>
          <p:nvPr/>
        </p:nvCxnSpPr>
        <p:spPr>
          <a:xfrm>
            <a:off x="3306325" y="52534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1" name="Rounded Rectangle 54">
            <a:extLst>
              <a:ext uri="{FF2B5EF4-FFF2-40B4-BE49-F238E27FC236}">
                <a16:creationId xmlns:a16="http://schemas.microsoft.com/office/drawing/2014/main" id="{F49A0FF6-1E6C-75E6-F8CB-C5080D24628F}"/>
              </a:ext>
            </a:extLst>
          </p:cNvPr>
          <p:cNvSpPr/>
          <p:nvPr/>
        </p:nvSpPr>
        <p:spPr>
          <a:xfrm>
            <a:off x="3382525" y="50248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5622A93-0816-F31A-2CD1-2C30600772EC}"/>
              </a:ext>
            </a:extLst>
          </p:cNvPr>
          <p:cNvSpPr txBox="1"/>
          <p:nvPr/>
        </p:nvSpPr>
        <p:spPr>
          <a:xfrm>
            <a:off x="3439675" y="50724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Nandu Narpati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B0B90F0-B004-3342-8165-520494B139C1}"/>
              </a:ext>
            </a:extLst>
          </p:cNvPr>
          <p:cNvSpPr txBox="1"/>
          <p:nvPr/>
        </p:nvSpPr>
        <p:spPr>
          <a:xfrm>
            <a:off x="3439675" y="52248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Admin</a:t>
            </a:r>
          </a:p>
        </p:txBody>
      </p:sp>
      <p:cxnSp>
        <p:nvCxnSpPr>
          <p:cNvPr id="84" name="Connector 57">
            <a:extLst>
              <a:ext uri="{FF2B5EF4-FFF2-40B4-BE49-F238E27FC236}">
                <a16:creationId xmlns:a16="http://schemas.microsoft.com/office/drawing/2014/main" id="{D21D6E7C-3339-B40E-2830-0CD054EDC63F}"/>
              </a:ext>
            </a:extLst>
          </p:cNvPr>
          <p:cNvCxnSpPr/>
          <p:nvPr/>
        </p:nvCxnSpPr>
        <p:spPr>
          <a:xfrm>
            <a:off x="3306325" y="57868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5" name="Rounded Rectangle 58">
            <a:extLst>
              <a:ext uri="{FF2B5EF4-FFF2-40B4-BE49-F238E27FC236}">
                <a16:creationId xmlns:a16="http://schemas.microsoft.com/office/drawing/2014/main" id="{BCBC15D7-BA5C-6A27-BE23-7F8319DE130F}"/>
              </a:ext>
            </a:extLst>
          </p:cNvPr>
          <p:cNvSpPr/>
          <p:nvPr/>
        </p:nvSpPr>
        <p:spPr>
          <a:xfrm>
            <a:off x="3382525" y="55582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4C40F7A-BFD9-B0C2-0C28-E71481244CD3}"/>
              </a:ext>
            </a:extLst>
          </p:cNvPr>
          <p:cNvSpPr txBox="1"/>
          <p:nvPr/>
        </p:nvSpPr>
        <p:spPr>
          <a:xfrm>
            <a:off x="3439675" y="56058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Fitri Royani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E510933-8599-78BC-C136-53944962A0B1}"/>
              </a:ext>
            </a:extLst>
          </p:cNvPr>
          <p:cNvSpPr txBox="1"/>
          <p:nvPr/>
        </p:nvSpPr>
        <p:spPr>
          <a:xfrm>
            <a:off x="3439675" y="57582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Admin</a:t>
            </a:r>
          </a:p>
        </p:txBody>
      </p:sp>
      <p:cxnSp>
        <p:nvCxnSpPr>
          <p:cNvPr id="88" name="Connector 61">
            <a:extLst>
              <a:ext uri="{FF2B5EF4-FFF2-40B4-BE49-F238E27FC236}">
                <a16:creationId xmlns:a16="http://schemas.microsoft.com/office/drawing/2014/main" id="{6928C143-4C79-3F02-DDBE-FD0C4FE2D489}"/>
              </a:ext>
            </a:extLst>
          </p:cNvPr>
          <p:cNvCxnSpPr/>
          <p:nvPr/>
        </p:nvCxnSpPr>
        <p:spPr>
          <a:xfrm>
            <a:off x="7341750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9" name="Rounded Rectangle 62">
            <a:extLst>
              <a:ext uri="{FF2B5EF4-FFF2-40B4-BE49-F238E27FC236}">
                <a16:creationId xmlns:a16="http://schemas.microsoft.com/office/drawing/2014/main" id="{FAB8AA03-884D-F092-3FF7-AEE9600EF3F8}"/>
              </a:ext>
            </a:extLst>
          </p:cNvPr>
          <p:cNvSpPr/>
          <p:nvPr/>
        </p:nvSpPr>
        <p:spPr>
          <a:xfrm>
            <a:off x="6074925" y="2910294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39F09AC-B69A-B465-B82A-F689648E1749}"/>
              </a:ext>
            </a:extLst>
          </p:cNvPr>
          <p:cNvSpPr txBox="1"/>
          <p:nvPr/>
        </p:nvSpPr>
        <p:spPr>
          <a:xfrm>
            <a:off x="6132075" y="2957919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Ugik Praseno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FC0FBC2-836F-4E4D-4CBE-D2605E011D51}"/>
              </a:ext>
            </a:extLst>
          </p:cNvPr>
          <p:cNvSpPr txBox="1"/>
          <p:nvPr/>
        </p:nvSpPr>
        <p:spPr>
          <a:xfrm>
            <a:off x="6132075" y="3110319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3 HEAD</a:t>
            </a:r>
          </a:p>
        </p:txBody>
      </p:sp>
      <p:cxnSp>
        <p:nvCxnSpPr>
          <p:cNvPr id="92" name="Connector 65">
            <a:extLst>
              <a:ext uri="{FF2B5EF4-FFF2-40B4-BE49-F238E27FC236}">
                <a16:creationId xmlns:a16="http://schemas.microsoft.com/office/drawing/2014/main" id="{472E374C-5714-70B7-2559-65B2A3FF6EEA}"/>
              </a:ext>
            </a:extLst>
          </p:cNvPr>
          <p:cNvCxnSpPr/>
          <p:nvPr/>
        </p:nvCxnSpPr>
        <p:spPr>
          <a:xfrm>
            <a:off x="6170175" y="3329394"/>
            <a:ext cx="0" cy="19240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93" name="Connector 66">
            <a:extLst>
              <a:ext uri="{FF2B5EF4-FFF2-40B4-BE49-F238E27FC236}">
                <a16:creationId xmlns:a16="http://schemas.microsoft.com/office/drawing/2014/main" id="{71D3DD4A-5481-5603-57C9-FD76D28EAAA7}"/>
              </a:ext>
            </a:extLst>
          </p:cNvPr>
          <p:cNvCxnSpPr/>
          <p:nvPr/>
        </p:nvCxnSpPr>
        <p:spPr>
          <a:xfrm>
            <a:off x="6170175" y="36532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94" name="Rounded Rectangle 67">
            <a:extLst>
              <a:ext uri="{FF2B5EF4-FFF2-40B4-BE49-F238E27FC236}">
                <a16:creationId xmlns:a16="http://schemas.microsoft.com/office/drawing/2014/main" id="{52D383A9-9CD5-BD65-7F32-6722A6655FCF}"/>
              </a:ext>
            </a:extLst>
          </p:cNvPr>
          <p:cNvSpPr/>
          <p:nvPr/>
        </p:nvSpPr>
        <p:spPr>
          <a:xfrm>
            <a:off x="6246375" y="34246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EABE8DD-4723-53FD-D1E2-90EE2C653359}"/>
              </a:ext>
            </a:extLst>
          </p:cNvPr>
          <p:cNvSpPr txBox="1"/>
          <p:nvPr/>
        </p:nvSpPr>
        <p:spPr>
          <a:xfrm>
            <a:off x="6303525" y="34722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Baihaqi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6150E1B-401E-9C16-AB74-A602936D4BFD}"/>
              </a:ext>
            </a:extLst>
          </p:cNvPr>
          <p:cNvSpPr txBox="1"/>
          <p:nvPr/>
        </p:nvSpPr>
        <p:spPr>
          <a:xfrm>
            <a:off x="6303525" y="36246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Mineral Processing, EPC</a:t>
            </a:r>
          </a:p>
        </p:txBody>
      </p:sp>
      <p:cxnSp>
        <p:nvCxnSpPr>
          <p:cNvPr id="97" name="Connector 70">
            <a:extLst>
              <a:ext uri="{FF2B5EF4-FFF2-40B4-BE49-F238E27FC236}">
                <a16:creationId xmlns:a16="http://schemas.microsoft.com/office/drawing/2014/main" id="{CD6C58E1-B4E1-BB63-2D59-21E7D9A7C09A}"/>
              </a:ext>
            </a:extLst>
          </p:cNvPr>
          <p:cNvCxnSpPr/>
          <p:nvPr/>
        </p:nvCxnSpPr>
        <p:spPr>
          <a:xfrm>
            <a:off x="6170175" y="41866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98" name="Rounded Rectangle 71">
            <a:extLst>
              <a:ext uri="{FF2B5EF4-FFF2-40B4-BE49-F238E27FC236}">
                <a16:creationId xmlns:a16="http://schemas.microsoft.com/office/drawing/2014/main" id="{319330CB-8FA0-15BC-AF4C-5F30B0A0D87D}"/>
              </a:ext>
            </a:extLst>
          </p:cNvPr>
          <p:cNvSpPr/>
          <p:nvPr/>
        </p:nvSpPr>
        <p:spPr>
          <a:xfrm>
            <a:off x="6246375" y="39580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0611E9E-27DE-090C-972E-3B3E0C99F626}"/>
              </a:ext>
            </a:extLst>
          </p:cNvPr>
          <p:cNvSpPr txBox="1"/>
          <p:nvPr/>
        </p:nvSpPr>
        <p:spPr>
          <a:xfrm>
            <a:off x="6303525" y="40056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Yuda Prana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B582BAE-933E-6AC2-D1A3-AE1B56713017}"/>
              </a:ext>
            </a:extLst>
          </p:cNvPr>
          <p:cNvSpPr txBox="1"/>
          <p:nvPr/>
        </p:nvSpPr>
        <p:spPr>
          <a:xfrm>
            <a:off x="6303525" y="41580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Maritime, Renewable Energy</a:t>
            </a:r>
          </a:p>
        </p:txBody>
      </p:sp>
      <p:cxnSp>
        <p:nvCxnSpPr>
          <p:cNvPr id="101" name="Connector 74">
            <a:extLst>
              <a:ext uri="{FF2B5EF4-FFF2-40B4-BE49-F238E27FC236}">
                <a16:creationId xmlns:a16="http://schemas.microsoft.com/office/drawing/2014/main" id="{D3BDBD98-5533-39B2-2EE9-D5D799CEE827}"/>
              </a:ext>
            </a:extLst>
          </p:cNvPr>
          <p:cNvCxnSpPr/>
          <p:nvPr/>
        </p:nvCxnSpPr>
        <p:spPr>
          <a:xfrm>
            <a:off x="6170175" y="47200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02" name="Rounded Rectangle 75">
            <a:extLst>
              <a:ext uri="{FF2B5EF4-FFF2-40B4-BE49-F238E27FC236}">
                <a16:creationId xmlns:a16="http://schemas.microsoft.com/office/drawing/2014/main" id="{85DBB79F-F1DC-2BF0-C5EF-24455365A761}"/>
              </a:ext>
            </a:extLst>
          </p:cNvPr>
          <p:cNvSpPr/>
          <p:nvPr/>
        </p:nvSpPr>
        <p:spPr>
          <a:xfrm>
            <a:off x="6246375" y="44914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FA9F5B-CBD9-8578-A742-AB38D3ADDD25}"/>
              </a:ext>
            </a:extLst>
          </p:cNvPr>
          <p:cNvSpPr txBox="1"/>
          <p:nvPr/>
        </p:nvSpPr>
        <p:spPr>
          <a:xfrm>
            <a:off x="6303525" y="45390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Celine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2ADA2D3-1F95-39C0-0BA0-7EB79052442F}"/>
              </a:ext>
            </a:extLst>
          </p:cNvPr>
          <p:cNvSpPr txBox="1"/>
          <p:nvPr/>
        </p:nvSpPr>
        <p:spPr>
          <a:xfrm>
            <a:off x="6303525" y="46914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Ultra Product Support</a:t>
            </a:r>
          </a:p>
        </p:txBody>
      </p:sp>
      <p:cxnSp>
        <p:nvCxnSpPr>
          <p:cNvPr id="105" name="Connector 78">
            <a:extLst>
              <a:ext uri="{FF2B5EF4-FFF2-40B4-BE49-F238E27FC236}">
                <a16:creationId xmlns:a16="http://schemas.microsoft.com/office/drawing/2014/main" id="{0B04EE54-BBA2-54E6-B040-A4BF1B228869}"/>
              </a:ext>
            </a:extLst>
          </p:cNvPr>
          <p:cNvCxnSpPr/>
          <p:nvPr/>
        </p:nvCxnSpPr>
        <p:spPr>
          <a:xfrm>
            <a:off x="6170175" y="52534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06" name="Rounded Rectangle 79">
            <a:extLst>
              <a:ext uri="{FF2B5EF4-FFF2-40B4-BE49-F238E27FC236}">
                <a16:creationId xmlns:a16="http://schemas.microsoft.com/office/drawing/2014/main" id="{AA0983F6-F10C-3959-7AD3-299AA14659CC}"/>
              </a:ext>
            </a:extLst>
          </p:cNvPr>
          <p:cNvSpPr/>
          <p:nvPr/>
        </p:nvSpPr>
        <p:spPr>
          <a:xfrm>
            <a:off x="6246375" y="50248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9F11C05-C766-C3C0-BCCB-D4449E6ADBF4}"/>
              </a:ext>
            </a:extLst>
          </p:cNvPr>
          <p:cNvSpPr txBox="1"/>
          <p:nvPr/>
        </p:nvSpPr>
        <p:spPr>
          <a:xfrm>
            <a:off x="6303525" y="50724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Hanifa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4A2CBAE-FB70-49EF-C067-D2A8B8EA809A}"/>
              </a:ext>
            </a:extLst>
          </p:cNvPr>
          <p:cNvSpPr txBox="1"/>
          <p:nvPr/>
        </p:nvSpPr>
        <p:spPr>
          <a:xfrm>
            <a:off x="6303525" y="52248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Automation, EV</a:t>
            </a:r>
          </a:p>
        </p:txBody>
      </p:sp>
      <p:cxnSp>
        <p:nvCxnSpPr>
          <p:cNvPr id="109" name="Connector 82">
            <a:extLst>
              <a:ext uri="{FF2B5EF4-FFF2-40B4-BE49-F238E27FC236}">
                <a16:creationId xmlns:a16="http://schemas.microsoft.com/office/drawing/2014/main" id="{28872A77-015A-3D86-7ECF-E6E3512737C4}"/>
              </a:ext>
            </a:extLst>
          </p:cNvPr>
          <p:cNvCxnSpPr/>
          <p:nvPr/>
        </p:nvCxnSpPr>
        <p:spPr>
          <a:xfrm>
            <a:off x="10205600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0" name="Rounded Rectangle 83">
            <a:extLst>
              <a:ext uri="{FF2B5EF4-FFF2-40B4-BE49-F238E27FC236}">
                <a16:creationId xmlns:a16="http://schemas.microsoft.com/office/drawing/2014/main" id="{5C75F706-384B-3CB1-247D-AFCAC5D4E70A}"/>
              </a:ext>
            </a:extLst>
          </p:cNvPr>
          <p:cNvSpPr/>
          <p:nvPr/>
        </p:nvSpPr>
        <p:spPr>
          <a:xfrm>
            <a:off x="8938775" y="2910294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E54586E-F44D-3FCE-B211-8A8B840DE782}"/>
              </a:ext>
            </a:extLst>
          </p:cNvPr>
          <p:cNvSpPr txBox="1"/>
          <p:nvPr/>
        </p:nvSpPr>
        <p:spPr>
          <a:xfrm>
            <a:off x="8995925" y="2957919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Kresnanto A.W.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EDE934F-68B8-2389-4741-AE2A3EC8AC06}"/>
              </a:ext>
            </a:extLst>
          </p:cNvPr>
          <p:cNvSpPr txBox="1"/>
          <p:nvPr/>
        </p:nvSpPr>
        <p:spPr>
          <a:xfrm>
            <a:off x="8995925" y="3110319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APPLICATION ENGINEERING HEAD</a:t>
            </a:r>
          </a:p>
        </p:txBody>
      </p:sp>
      <p:cxnSp>
        <p:nvCxnSpPr>
          <p:cNvPr id="113" name="Connector 86">
            <a:extLst>
              <a:ext uri="{FF2B5EF4-FFF2-40B4-BE49-F238E27FC236}">
                <a16:creationId xmlns:a16="http://schemas.microsoft.com/office/drawing/2014/main" id="{69472E17-1FAA-9ED0-A6BB-AABCB01CA3D5}"/>
              </a:ext>
            </a:extLst>
          </p:cNvPr>
          <p:cNvCxnSpPr/>
          <p:nvPr/>
        </p:nvCxnSpPr>
        <p:spPr>
          <a:xfrm>
            <a:off x="9034025" y="3329394"/>
            <a:ext cx="0" cy="19240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114" name="Connector 87">
            <a:extLst>
              <a:ext uri="{FF2B5EF4-FFF2-40B4-BE49-F238E27FC236}">
                <a16:creationId xmlns:a16="http://schemas.microsoft.com/office/drawing/2014/main" id="{6BBBB949-9581-5D3B-EEEB-33FBB2C5A2F7}"/>
              </a:ext>
            </a:extLst>
          </p:cNvPr>
          <p:cNvCxnSpPr/>
          <p:nvPr/>
        </p:nvCxnSpPr>
        <p:spPr>
          <a:xfrm>
            <a:off x="9034025" y="36532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5" name="Rounded Rectangle 88">
            <a:extLst>
              <a:ext uri="{FF2B5EF4-FFF2-40B4-BE49-F238E27FC236}">
                <a16:creationId xmlns:a16="http://schemas.microsoft.com/office/drawing/2014/main" id="{27F5523C-C63D-E3BD-CD91-2932A96806AE}"/>
              </a:ext>
            </a:extLst>
          </p:cNvPr>
          <p:cNvSpPr/>
          <p:nvPr/>
        </p:nvSpPr>
        <p:spPr>
          <a:xfrm>
            <a:off x="9110225" y="34246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B97ED4E-2415-DCAD-5A84-5201B254098D}"/>
              </a:ext>
            </a:extLst>
          </p:cNvPr>
          <p:cNvSpPr txBox="1"/>
          <p:nvPr/>
        </p:nvSpPr>
        <p:spPr>
          <a:xfrm>
            <a:off x="9167375" y="34722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Agi Yogiansyah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833E451-8149-2002-7BDC-A2B507EF758B}"/>
              </a:ext>
            </a:extLst>
          </p:cNvPr>
          <p:cNvSpPr txBox="1"/>
          <p:nvPr/>
        </p:nvSpPr>
        <p:spPr>
          <a:xfrm>
            <a:off x="9167375" y="36246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Offroad Trailer (SST, SDT, LBT), Big Vessel</a:t>
            </a:r>
          </a:p>
        </p:txBody>
      </p:sp>
      <p:cxnSp>
        <p:nvCxnSpPr>
          <p:cNvPr id="118" name="Connector 91">
            <a:extLst>
              <a:ext uri="{FF2B5EF4-FFF2-40B4-BE49-F238E27FC236}">
                <a16:creationId xmlns:a16="http://schemas.microsoft.com/office/drawing/2014/main" id="{5B97B2D4-B739-FFF9-6D7D-AA106D2B61B1}"/>
              </a:ext>
            </a:extLst>
          </p:cNvPr>
          <p:cNvCxnSpPr/>
          <p:nvPr/>
        </p:nvCxnSpPr>
        <p:spPr>
          <a:xfrm>
            <a:off x="9034025" y="41866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9" name="Rounded Rectangle 92">
            <a:extLst>
              <a:ext uri="{FF2B5EF4-FFF2-40B4-BE49-F238E27FC236}">
                <a16:creationId xmlns:a16="http://schemas.microsoft.com/office/drawing/2014/main" id="{04C7297C-A811-F892-3A3E-FA20B56D5E8C}"/>
              </a:ext>
            </a:extLst>
          </p:cNvPr>
          <p:cNvSpPr/>
          <p:nvPr/>
        </p:nvSpPr>
        <p:spPr>
          <a:xfrm>
            <a:off x="9110225" y="39580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5DFE502-4081-E605-696C-C9002F667C53}"/>
              </a:ext>
            </a:extLst>
          </p:cNvPr>
          <p:cNvSpPr txBox="1"/>
          <p:nvPr/>
        </p:nvSpPr>
        <p:spPr>
          <a:xfrm>
            <a:off x="9167375" y="40056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M. Sugeng Riadi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1110B46-21D6-5399-6711-72626EAC8CCC}"/>
              </a:ext>
            </a:extLst>
          </p:cNvPr>
          <p:cNvSpPr txBox="1"/>
          <p:nvPr/>
        </p:nvSpPr>
        <p:spPr>
          <a:xfrm>
            <a:off x="9167375" y="41580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Supporting Equipment (WT, FT, LT), Mixer, EV</a:t>
            </a:r>
          </a:p>
        </p:txBody>
      </p:sp>
      <p:cxnSp>
        <p:nvCxnSpPr>
          <p:cNvPr id="122" name="Connector 95">
            <a:extLst>
              <a:ext uri="{FF2B5EF4-FFF2-40B4-BE49-F238E27FC236}">
                <a16:creationId xmlns:a16="http://schemas.microsoft.com/office/drawing/2014/main" id="{0828A347-C43D-282B-7632-DF6D064A3DEF}"/>
              </a:ext>
            </a:extLst>
          </p:cNvPr>
          <p:cNvCxnSpPr/>
          <p:nvPr/>
        </p:nvCxnSpPr>
        <p:spPr>
          <a:xfrm>
            <a:off x="9034025" y="47200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23" name="Rounded Rectangle 96">
            <a:extLst>
              <a:ext uri="{FF2B5EF4-FFF2-40B4-BE49-F238E27FC236}">
                <a16:creationId xmlns:a16="http://schemas.microsoft.com/office/drawing/2014/main" id="{331D58A9-4EA2-2F48-DA54-215D17B742E1}"/>
              </a:ext>
            </a:extLst>
          </p:cNvPr>
          <p:cNvSpPr/>
          <p:nvPr/>
        </p:nvSpPr>
        <p:spPr>
          <a:xfrm>
            <a:off x="9110225" y="44914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D571BE4-3947-B2F7-B527-717106416717}"/>
              </a:ext>
            </a:extLst>
          </p:cNvPr>
          <p:cNvSpPr txBox="1"/>
          <p:nvPr/>
        </p:nvSpPr>
        <p:spPr>
          <a:xfrm>
            <a:off x="9167375" y="45390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Angger Suryo Prastowo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77436B7-1DF4-E29C-A717-222BA676781D}"/>
              </a:ext>
            </a:extLst>
          </p:cNvPr>
          <p:cNvSpPr txBox="1"/>
          <p:nvPr/>
        </p:nvSpPr>
        <p:spPr>
          <a:xfrm>
            <a:off x="9167375" y="46914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Manhauler, Towerlamp, Industrial (Crane truck, Tire handler)</a:t>
            </a:r>
          </a:p>
        </p:txBody>
      </p:sp>
      <p:cxnSp>
        <p:nvCxnSpPr>
          <p:cNvPr id="126" name="Connector 99">
            <a:extLst>
              <a:ext uri="{FF2B5EF4-FFF2-40B4-BE49-F238E27FC236}">
                <a16:creationId xmlns:a16="http://schemas.microsoft.com/office/drawing/2014/main" id="{2D697BDB-A619-58E5-0E6C-166043353422}"/>
              </a:ext>
            </a:extLst>
          </p:cNvPr>
          <p:cNvCxnSpPr/>
          <p:nvPr/>
        </p:nvCxnSpPr>
        <p:spPr>
          <a:xfrm>
            <a:off x="9034025" y="52534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27" name="Rounded Rectangle 100">
            <a:extLst>
              <a:ext uri="{FF2B5EF4-FFF2-40B4-BE49-F238E27FC236}">
                <a16:creationId xmlns:a16="http://schemas.microsoft.com/office/drawing/2014/main" id="{EDFCFF39-968E-2B22-B20D-4AF8ADEB2720}"/>
              </a:ext>
            </a:extLst>
          </p:cNvPr>
          <p:cNvSpPr/>
          <p:nvPr/>
        </p:nvSpPr>
        <p:spPr>
          <a:xfrm>
            <a:off x="9110225" y="50248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F769BE2-40E4-4A72-5E99-9C3B59D34B97}"/>
              </a:ext>
            </a:extLst>
          </p:cNvPr>
          <p:cNvSpPr txBox="1"/>
          <p:nvPr/>
        </p:nvSpPr>
        <p:spPr>
          <a:xfrm>
            <a:off x="9167375" y="50724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Muhammad Fadlan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C94BC7C-275A-F868-4173-376AE5BE8F8A}"/>
              </a:ext>
            </a:extLst>
          </p:cNvPr>
          <p:cNvSpPr txBox="1"/>
          <p:nvPr/>
        </p:nvSpPr>
        <p:spPr>
          <a:xfrm>
            <a:off x="9167375" y="52248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On-road Trailer (FBT, SCT), Medium Vessel, Crusher, Bucket</a:t>
            </a:r>
          </a:p>
        </p:txBody>
      </p:sp>
    </p:spTree>
    <p:extLst>
      <p:ext uri="{BB962C8B-B14F-4D97-AF65-F5344CB8AC3E}">
        <p14:creationId xmlns:p14="http://schemas.microsoft.com/office/powerpoint/2010/main" val="640738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2707DB-3353-ED5F-E91D-CA5058CA0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2866" y="5117083"/>
            <a:ext cx="6053559" cy="1618489"/>
          </a:xfrm>
        </p:spPr>
        <p:txBody>
          <a:bodyPr/>
          <a:lstStyle/>
          <a:p>
            <a:r>
              <a:rPr lang="en-ID" dirty="0">
                <a:solidFill>
                  <a:srgbClr val="11181C"/>
                </a:solidFill>
                <a:latin typeface="Arial"/>
              </a:rPr>
              <a:t>Marketing Strategic 2 Associate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211C49-5E25-FC28-985E-29E441618F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5A5118-7BE4-9A78-53C5-2713D8D935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E6F55-244D-8E3A-A5E5-F564560FFB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4" y="1040130"/>
            <a:ext cx="6089232" cy="3694174"/>
          </a:xfrm>
        </p:spPr>
        <p:txBody>
          <a:bodyPr/>
          <a:lstStyle/>
          <a:p>
            <a:r>
              <a:rPr lang="en-US" dirty="0"/>
              <a:t>“My Roles and</a:t>
            </a:r>
            <a:br>
              <a:rPr lang="en-US" dirty="0"/>
            </a:br>
            <a:r>
              <a:rPr lang="en-US" dirty="0"/>
              <a:t>My Responsibility.”</a:t>
            </a:r>
          </a:p>
        </p:txBody>
      </p:sp>
    </p:spTree>
    <p:extLst>
      <p:ext uri="{BB962C8B-B14F-4D97-AF65-F5344CB8AC3E}">
        <p14:creationId xmlns:p14="http://schemas.microsoft.com/office/powerpoint/2010/main" val="3074491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38A27-E915-8349-B85E-411A4D2B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96DE2-E587-D86C-E638-9B5A932AD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648D6-EABC-042F-690F-342D0395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691FEC37-BBEF-26FB-0B99-C5AB4ECEC12E}"/>
              </a:ext>
            </a:extLst>
          </p:cNvPr>
          <p:cNvSpPr/>
          <p:nvPr/>
        </p:nvSpPr>
        <p:spPr>
          <a:xfrm>
            <a:off x="4179058" y="1519767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Sales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1885BA02-907D-7765-50D7-BCC75703938A}"/>
              </a:ext>
            </a:extLst>
          </p:cNvPr>
          <p:cNvSpPr/>
          <p:nvPr/>
        </p:nvSpPr>
        <p:spPr>
          <a:xfrm>
            <a:off x="8010890" y="1519767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After Sales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E3C59D3C-2488-78B1-7E09-63E16DA4DF94}"/>
              </a:ext>
            </a:extLst>
          </p:cNvPr>
          <p:cNvSpPr/>
          <p:nvPr/>
        </p:nvSpPr>
        <p:spPr>
          <a:xfrm>
            <a:off x="347225" y="1520296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Pre Sales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E6467FF-F0BA-32A0-4161-A95C0DD2B6BF}"/>
              </a:ext>
            </a:extLst>
          </p:cNvPr>
          <p:cNvGrpSpPr/>
          <p:nvPr/>
        </p:nvGrpSpPr>
        <p:grpSpPr>
          <a:xfrm>
            <a:off x="347225" y="551089"/>
            <a:ext cx="9894054" cy="769441"/>
            <a:chOff x="347225" y="551089"/>
            <a:chExt cx="9894054" cy="7694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E4BFC4-9027-C061-9BA2-2FC78DDFBBDD}"/>
                </a:ext>
              </a:extLst>
            </p:cNvPr>
            <p:cNvSpPr txBox="1"/>
            <p:nvPr/>
          </p:nvSpPr>
          <p:spPr>
            <a:xfrm>
              <a:off x="347225" y="551089"/>
              <a:ext cx="803477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Roles and Responsibility /</a:t>
              </a:r>
              <a:endParaRPr lang="en-ID" sz="44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068985-D0C2-23CC-A5A4-8F8F423DE60D}"/>
                </a:ext>
              </a:extLst>
            </p:cNvPr>
            <p:cNvSpPr txBox="1"/>
            <p:nvPr/>
          </p:nvSpPr>
          <p:spPr>
            <a:xfrm>
              <a:off x="7561534" y="612643"/>
              <a:ext cx="267974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Where I Involved </a:t>
              </a:r>
              <a:br>
                <a:rPr lang="en-US" b="1" dirty="0"/>
              </a:br>
              <a:r>
                <a:rPr lang="en-US" b="1" dirty="0"/>
                <a:t>In the Supply Chain?</a:t>
              </a:r>
              <a:endParaRPr lang="en-ID" b="1" dirty="0"/>
            </a:p>
          </p:txBody>
        </p:sp>
      </p:grp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AD22B19E-6B15-6F21-6EB3-95EB98DA50B6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886810"/>
          <a:ext cx="11493699" cy="3322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1233">
                  <a:extLst>
                    <a:ext uri="{9D8B030D-6E8A-4147-A177-3AD203B41FA5}">
                      <a16:colId xmlns:a16="http://schemas.microsoft.com/office/drawing/2014/main" val="3349195509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2560422226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398052412"/>
                    </a:ext>
                  </a:extLst>
                </a:gridCol>
              </a:tblGrid>
              <a:tr h="1961252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Gather Voice of customer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Identify customer &amp; competitor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offering spec, price, and lead time inline with customer requirement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 SLA in offering to customer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Verify order completeness </a:t>
                      </a:r>
                      <a:br>
                        <a:rPr lang="en-US" dirty="0"/>
                      </a:br>
                      <a:r>
                        <a:rPr lang="en-US" dirty="0"/>
                        <a:t>(PO, PJB, DP)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Maintain and monitoring orders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proper billing inline with plan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 unit performance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 follow up problem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the problem is not repeated in other order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Gather customer feedback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539259"/>
                  </a:ext>
                </a:extLst>
              </a:tr>
              <a:tr h="3615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899204"/>
                  </a:ext>
                </a:extLst>
              </a:tr>
              <a:tr h="921194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775652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1090A09D-477F-0B8A-AB07-E460885E6C4B}"/>
              </a:ext>
            </a:extLst>
          </p:cNvPr>
          <p:cNvSpPr txBox="1"/>
          <p:nvPr/>
        </p:nvSpPr>
        <p:spPr>
          <a:xfrm>
            <a:off x="347225" y="5466279"/>
            <a:ext cx="36463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is my specific </a:t>
            </a:r>
          </a:p>
          <a:p>
            <a:r>
              <a:rPr lang="en-US" sz="2400" b="1" dirty="0"/>
              <a:t>unit product?</a:t>
            </a:r>
            <a:endParaRPr lang="en-ID" sz="24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C5DD12-B30D-94D1-4F9A-8F5062685AC9}"/>
              </a:ext>
            </a:extLst>
          </p:cNvPr>
          <p:cNvSpPr txBox="1"/>
          <p:nvPr/>
        </p:nvSpPr>
        <p:spPr>
          <a:xfrm>
            <a:off x="347225" y="6168701"/>
            <a:ext cx="3302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Specifically in mining and construction industry</a:t>
            </a:r>
            <a:endParaRPr lang="en-ID" sz="1400" dirty="0"/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892476ED-26BA-763F-7855-FE985CDB7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950244"/>
              </p:ext>
            </p:extLst>
          </p:nvPr>
        </p:nvGraphicFramePr>
        <p:xfrm>
          <a:off x="4179056" y="5484427"/>
          <a:ext cx="7661868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0934">
                  <a:extLst>
                    <a:ext uri="{9D8B030D-6E8A-4147-A177-3AD203B41FA5}">
                      <a16:colId xmlns:a16="http://schemas.microsoft.com/office/drawing/2014/main" val="3877867535"/>
                    </a:ext>
                  </a:extLst>
                </a:gridCol>
                <a:gridCol w="3830934">
                  <a:extLst>
                    <a:ext uri="{9D8B030D-6E8A-4147-A177-3AD203B41FA5}">
                      <a16:colId xmlns:a16="http://schemas.microsoft.com/office/drawing/2014/main" val="3458847689"/>
                    </a:ext>
                  </a:extLst>
                </a:gridCol>
              </a:tblGrid>
              <a:tr h="3278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Small </a:t>
                      </a:r>
                      <a:r>
                        <a:rPr lang="en-US" sz="1800" b="1" dirty="0" err="1"/>
                        <a:t>Suppeq</a:t>
                      </a:r>
                      <a:endParaRPr lang="en-ID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Truck Others</a:t>
                      </a:r>
                      <a:endParaRPr lang="en-ID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4799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Water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Crane Truck</a:t>
                      </a:r>
                      <a:endParaRPr lang="en-ID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067523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Fuel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Mixer Truck</a:t>
                      </a:r>
                      <a:endParaRPr lang="en-ID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91151444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Lube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Stemming Truck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30775"/>
                  </a:ext>
                </a:extLst>
              </a:tr>
            </a:tbl>
          </a:graphicData>
        </a:graphic>
      </p:graphicFrame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769BCDB-3E5E-10BB-2E3C-9E75DF7EC1F9}"/>
              </a:ext>
            </a:extLst>
          </p:cNvPr>
          <p:cNvCxnSpPr/>
          <p:nvPr/>
        </p:nvCxnSpPr>
        <p:spPr>
          <a:xfrm>
            <a:off x="347225" y="533770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Arrow: Right 2">
            <a:extLst>
              <a:ext uri="{FF2B5EF4-FFF2-40B4-BE49-F238E27FC236}">
                <a16:creationId xmlns:a16="http://schemas.microsoft.com/office/drawing/2014/main" id="{2F7812C2-2BC6-B21E-9267-6A2656B76ADE}"/>
              </a:ext>
            </a:extLst>
          </p:cNvPr>
          <p:cNvSpPr/>
          <p:nvPr/>
        </p:nvSpPr>
        <p:spPr>
          <a:xfrm>
            <a:off x="3302000" y="5862897"/>
            <a:ext cx="784326" cy="523220"/>
          </a:xfrm>
          <a:prstGeom prst="rightArrow">
            <a:avLst/>
          </a:prstGeom>
          <a:noFill/>
          <a:ln w="285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6D4168-DDE2-7B83-135D-5F120321A755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308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118FE-C1D7-93B6-117F-FC7F6A70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6760C-4865-7958-4390-E2B22B2DE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1B696-EE34-93CD-A713-1DF98BC0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16ACDAEB-024A-95A3-78A3-11720CCF9826}"/>
              </a:ext>
            </a:extLst>
          </p:cNvPr>
          <p:cNvSpPr/>
          <p:nvPr/>
        </p:nvSpPr>
        <p:spPr>
          <a:xfrm>
            <a:off x="4179058" y="1519767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Sales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5C2AAF66-C0E3-C538-71D3-CA133063F6E8}"/>
              </a:ext>
            </a:extLst>
          </p:cNvPr>
          <p:cNvSpPr/>
          <p:nvPr/>
        </p:nvSpPr>
        <p:spPr>
          <a:xfrm>
            <a:off x="8010890" y="1519767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After Sales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B49B0329-B00B-295D-00BC-4FF5C2A6E7D2}"/>
              </a:ext>
            </a:extLst>
          </p:cNvPr>
          <p:cNvSpPr/>
          <p:nvPr/>
        </p:nvSpPr>
        <p:spPr>
          <a:xfrm>
            <a:off x="347225" y="1520296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Pre Sales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91F8C0-BE59-D820-9B67-3A64B3EF25E8}"/>
              </a:ext>
            </a:extLst>
          </p:cNvPr>
          <p:cNvGrpSpPr/>
          <p:nvPr/>
        </p:nvGrpSpPr>
        <p:grpSpPr>
          <a:xfrm>
            <a:off x="347225" y="551089"/>
            <a:ext cx="10664076" cy="769441"/>
            <a:chOff x="347225" y="551089"/>
            <a:chExt cx="10664076" cy="7694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C04CF37-8964-EE83-0DF0-BD63B59E4CBB}"/>
                </a:ext>
              </a:extLst>
            </p:cNvPr>
            <p:cNvSpPr txBox="1"/>
            <p:nvPr/>
          </p:nvSpPr>
          <p:spPr>
            <a:xfrm>
              <a:off x="347225" y="551089"/>
              <a:ext cx="803477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Roles and Responsibility /</a:t>
              </a:r>
              <a:endParaRPr lang="en-ID" sz="44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BD68BD8-979B-C3C7-D144-3B1418A733A5}"/>
                </a:ext>
              </a:extLst>
            </p:cNvPr>
            <p:cNvSpPr txBox="1"/>
            <p:nvPr/>
          </p:nvSpPr>
          <p:spPr>
            <a:xfrm>
              <a:off x="7561534" y="612643"/>
              <a:ext cx="344976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Where I Involved </a:t>
              </a:r>
              <a:br>
                <a:rPr lang="en-US" b="1" dirty="0"/>
              </a:br>
              <a:r>
                <a:rPr lang="en-US" b="1" dirty="0"/>
                <a:t>In the Strategic Marketing?</a:t>
              </a:r>
              <a:endParaRPr lang="en-ID" b="1" dirty="0"/>
            </a:p>
          </p:txBody>
        </p:sp>
      </p:grp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54633001-45FA-89F1-13C5-CA9D32088383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886810"/>
          <a:ext cx="11493699" cy="3322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1233">
                  <a:extLst>
                    <a:ext uri="{9D8B030D-6E8A-4147-A177-3AD203B41FA5}">
                      <a16:colId xmlns:a16="http://schemas.microsoft.com/office/drawing/2014/main" val="3349195509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2560422226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398052412"/>
                    </a:ext>
                  </a:extLst>
                </a:gridCol>
              </a:tblGrid>
              <a:tr h="1961252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Gather Voice of customer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Identify customer &amp; competitor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offering spec, price, and lead time inline with customer requirement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 SLA in offering to customer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Verify order completeness </a:t>
                      </a:r>
                      <a:br>
                        <a:rPr lang="en-US" dirty="0"/>
                      </a:br>
                      <a:r>
                        <a:rPr lang="en-US" dirty="0"/>
                        <a:t>(PO, PJB, DP)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Maintain and monitoring orders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proper billing inline with plan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 unit performance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 follow up problem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the problem is not repeated in other order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Gather customer feedback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539259"/>
                  </a:ext>
                </a:extLst>
              </a:tr>
              <a:tr h="3615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899204"/>
                  </a:ext>
                </a:extLst>
              </a:tr>
              <a:tr h="921194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775652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AEE1E97D-4A81-4F7A-60E4-0AB7ABADFBD1}"/>
              </a:ext>
            </a:extLst>
          </p:cNvPr>
          <p:cNvSpPr txBox="1"/>
          <p:nvPr/>
        </p:nvSpPr>
        <p:spPr>
          <a:xfrm>
            <a:off x="347225" y="5466279"/>
            <a:ext cx="36463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is my specific </a:t>
            </a:r>
          </a:p>
          <a:p>
            <a:r>
              <a:rPr lang="en-US" sz="2400" b="1" dirty="0"/>
              <a:t>unit product?</a:t>
            </a:r>
            <a:endParaRPr lang="en-ID" sz="24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EB224A-E8A4-4409-C293-C6228CD9934E}"/>
              </a:ext>
            </a:extLst>
          </p:cNvPr>
          <p:cNvSpPr txBox="1"/>
          <p:nvPr/>
        </p:nvSpPr>
        <p:spPr>
          <a:xfrm>
            <a:off x="347225" y="6168701"/>
            <a:ext cx="3302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Specifically in mining and construction industry</a:t>
            </a:r>
            <a:endParaRPr lang="en-ID" sz="1400" dirty="0"/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6FE5F233-39BB-46BF-CA57-557F0E8E3234}"/>
              </a:ext>
            </a:extLst>
          </p:cNvPr>
          <p:cNvGraphicFramePr>
            <a:graphicFrameLocks noGrp="1"/>
          </p:cNvGraphicFramePr>
          <p:nvPr/>
        </p:nvGraphicFramePr>
        <p:xfrm>
          <a:off x="4179056" y="5484427"/>
          <a:ext cx="7661868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0934">
                  <a:extLst>
                    <a:ext uri="{9D8B030D-6E8A-4147-A177-3AD203B41FA5}">
                      <a16:colId xmlns:a16="http://schemas.microsoft.com/office/drawing/2014/main" val="3877867535"/>
                    </a:ext>
                  </a:extLst>
                </a:gridCol>
                <a:gridCol w="3830934">
                  <a:extLst>
                    <a:ext uri="{9D8B030D-6E8A-4147-A177-3AD203B41FA5}">
                      <a16:colId xmlns:a16="http://schemas.microsoft.com/office/drawing/2014/main" val="3458847689"/>
                    </a:ext>
                  </a:extLst>
                </a:gridCol>
              </a:tblGrid>
              <a:tr h="3278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Small </a:t>
                      </a:r>
                      <a:r>
                        <a:rPr lang="en-US" sz="1800" b="1" dirty="0" err="1"/>
                        <a:t>Suppeq</a:t>
                      </a:r>
                      <a:endParaRPr lang="en-ID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Truck Others</a:t>
                      </a:r>
                      <a:endParaRPr lang="en-ID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4799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Water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Crane Truck</a:t>
                      </a:r>
                      <a:endParaRPr lang="en-ID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067523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Fuel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Mixer Truck</a:t>
                      </a:r>
                      <a:endParaRPr lang="en-ID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91151444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Lube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Stemming Truck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30775"/>
                  </a:ext>
                </a:extLst>
              </a:tr>
            </a:tbl>
          </a:graphicData>
        </a:graphic>
      </p:graphicFrame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5A2803E-1979-EDD9-06BB-8DDC07E80870}"/>
              </a:ext>
            </a:extLst>
          </p:cNvPr>
          <p:cNvCxnSpPr/>
          <p:nvPr/>
        </p:nvCxnSpPr>
        <p:spPr>
          <a:xfrm>
            <a:off x="347225" y="533770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Arrow: Right 2">
            <a:extLst>
              <a:ext uri="{FF2B5EF4-FFF2-40B4-BE49-F238E27FC236}">
                <a16:creationId xmlns:a16="http://schemas.microsoft.com/office/drawing/2014/main" id="{FC03A404-485A-5865-E97B-2E4B3397A5A9}"/>
              </a:ext>
            </a:extLst>
          </p:cNvPr>
          <p:cNvSpPr/>
          <p:nvPr/>
        </p:nvSpPr>
        <p:spPr>
          <a:xfrm>
            <a:off x="3302000" y="5862897"/>
            <a:ext cx="784326" cy="523220"/>
          </a:xfrm>
          <a:prstGeom prst="rightArrow">
            <a:avLst/>
          </a:prstGeom>
          <a:noFill/>
          <a:ln w="285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B07288-EDD8-9472-D7FC-B7EFC0C73962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039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E2BD4D-B974-407A-E557-749C6637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96AAB-6ECA-E3F7-853B-7B141ED7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0C0D8-3605-DE4B-F40A-5260933E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5B0F1E-B326-3229-F035-53519993EB58}"/>
              </a:ext>
            </a:extLst>
          </p:cNvPr>
          <p:cNvGrpSpPr/>
          <p:nvPr/>
        </p:nvGrpSpPr>
        <p:grpSpPr>
          <a:xfrm>
            <a:off x="347225" y="551089"/>
            <a:ext cx="11493699" cy="769441"/>
            <a:chOff x="347225" y="551089"/>
            <a:chExt cx="11493699" cy="76944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49FF18-ADBA-D1BA-57CF-81E297B47C93}"/>
                </a:ext>
              </a:extLst>
            </p:cNvPr>
            <p:cNvSpPr txBox="1"/>
            <p:nvPr/>
          </p:nvSpPr>
          <p:spPr>
            <a:xfrm>
              <a:off x="347225" y="551089"/>
              <a:ext cx="803477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Roles and Responsibility / </a:t>
              </a:r>
              <a:endParaRPr lang="en-ID" sz="44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3AF469-3025-894A-7D70-E89087A5D1AD}"/>
                </a:ext>
              </a:extLst>
            </p:cNvPr>
            <p:cNvSpPr txBox="1"/>
            <p:nvPr/>
          </p:nvSpPr>
          <p:spPr>
            <a:xfrm>
              <a:off x="7561534" y="612643"/>
              <a:ext cx="427939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Where I Involved </a:t>
              </a:r>
              <a:br>
                <a:rPr lang="en-US" b="1" dirty="0"/>
              </a:br>
              <a:r>
                <a:rPr lang="en-US" b="1" dirty="0"/>
                <a:t>In the </a:t>
              </a:r>
              <a:r>
                <a:rPr lang="en-US" b="1" u="sng" dirty="0"/>
                <a:t>Strategic marketing</a:t>
              </a:r>
              <a:r>
                <a:rPr lang="en-US" b="1" dirty="0"/>
                <a:t>?</a:t>
              </a:r>
              <a:endParaRPr lang="en-ID" b="1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9EB534-0DC3-10D9-24F4-A2E2D1F41AF1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1ED74BE-A839-4AC7-4237-5CC56ED6C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778981"/>
              </p:ext>
            </p:extLst>
          </p:nvPr>
        </p:nvGraphicFramePr>
        <p:xfrm>
          <a:off x="533400" y="1504950"/>
          <a:ext cx="11125200" cy="49101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12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0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Step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Item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Key point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Supporting data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2">
                <a:tc rowSpan="4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 (Body)"/>
                        </a:rPr>
                        <a:t>4C</a:t>
                      </a:r>
                      <a:endParaRPr sz="12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Change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HYVA has left; value sits in Medium + Heavy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Triatra has no crane brand since HYVA stopped. Medium + Heavy = 41% of units, 64% of value (2023 – 2026). Heavy units 12 → 17 → 35 (2023 – 2025).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Competitor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Two leaders, one per class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Medium: Sany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Palfinger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, 38% of value. Heavy: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Palfinger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, 66% of value; PK 53002 alone sold 39 of 65 units (2023 – 2026).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Customer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 buys on price, Heavy buys on quality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China brands take 73% of Medium value; European brands take 85% of Heavy value. 88% go on trucks ≥ 24 t GVW (mining, construction).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Company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Partner two brands to serve both buyers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XCMG for price-oriented buyers. F.lli Ferrari for quality-oriented buyers.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862"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 (Body)"/>
                        </a:rPr>
                        <a:t>STP</a:t>
                      </a:r>
                      <a:endParaRPr sz="12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Segmentation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Two classes, ten 5-tm tiers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 25 – 45 tm: 196 units, Rp 156 M. Heavy &gt; 45 tm: 65 units, Rp 115 M.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Targeting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Take share from the Top 1 model in each tier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Medium: Sany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Palfinger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SPK32080, SPK36080, SPK42502. Heavy: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Palfinger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PK 53002, PK 76002, PK 88002.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Positioning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Two clear promises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XCMG: same capacity, lower price (SQZ365.4 −9% vs SPK36080). Ferrari: European features, cheaper where it wins (−23% at 25 – 30 tm, −32% at 45 – 50 tm) and faster delivery from China stock (~14 weeks).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862">
                <a:tc rowSpan="4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 (Body)"/>
                        </a:rPr>
                        <a:t>4P</a:t>
                      </a:r>
                      <a:endParaRPr sz="12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Product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Offer Ferrari models that beat the Top 1 on features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Red Power (more working range), SDV (less boom flex), Magic Touch (auto open/stow): Sany Palfinger has none. PB, RS, ECM: equal to Palfinger.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Price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Negotiate a better price with Ferrari and XCMG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Ferrari: lower price on 746 A4 (+48%), 9601CR A8 (+85%), 990R (+79%). XCMG: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Triatra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special price on SQZ325.4 and SQZ365.4.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Place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Negotiate stock to cut lead time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Ferrari stocks 268 A4 and FBR450R A4 in China (14-week lead time) and main components in Malaysia. XCMG via GM Tractors.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Promotion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Sell a ready-to-work package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Crane +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flatdeck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+ installation (+2-year warranty on Ferrari). Exhibitions and customer visits with a Marcom sales kit.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06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8D8AA-F717-98D8-8022-160E0994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7F18E-D0E4-93E4-EE3F-E00F2A3900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3960A-AF72-7958-D241-DA0E29BC5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110364"/>
            <a:ext cx="53035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6F818-2ACF-8945-030E-02EDCA3C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AA05396-1AC5-D059-7F16-4E058749C5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C2E0192-E597-E5FD-841C-3B146473E439}"/>
              </a:ext>
            </a:extLst>
          </p:cNvPr>
          <p:cNvGrpSpPr/>
          <p:nvPr/>
        </p:nvGrpSpPr>
        <p:grpSpPr>
          <a:xfrm>
            <a:off x="347225" y="560071"/>
            <a:ext cx="11292325" cy="769441"/>
            <a:chOff x="347225" y="560071"/>
            <a:chExt cx="11292325" cy="76944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474DA3-E0DC-49BF-5531-A70A57603B0A}"/>
                </a:ext>
              </a:extLst>
            </p:cNvPr>
            <p:cNvSpPr txBox="1"/>
            <p:nvPr/>
          </p:nvSpPr>
          <p:spPr>
            <a:xfrm>
              <a:off x="347225" y="560071"/>
              <a:ext cx="10524991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Project Charter / </a:t>
              </a:r>
              <a:endParaRPr lang="en-ID" sz="44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2866D00-9085-6DF0-9694-8D13B30AD59E}"/>
                </a:ext>
              </a:extLst>
            </p:cNvPr>
            <p:cNvSpPr txBox="1"/>
            <p:nvPr/>
          </p:nvSpPr>
          <p:spPr>
            <a:xfrm>
              <a:off x="5001768" y="809884"/>
              <a:ext cx="66377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What is the background, the objective and the benefit?</a:t>
              </a:r>
              <a:endParaRPr lang="en-ID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30AE484-CACB-D4CC-BB25-2023B0E8C340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7C5751-59D0-FAD7-A097-9DF345821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280749"/>
              </p:ext>
            </p:extLst>
          </p:nvPr>
        </p:nvGraphicFramePr>
        <p:xfrm>
          <a:off x="347225" y="1513612"/>
          <a:ext cx="5637684" cy="51252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7684">
                  <a:extLst>
                    <a:ext uri="{9D8B030D-6E8A-4147-A177-3AD203B41FA5}">
                      <a16:colId xmlns:a16="http://schemas.microsoft.com/office/drawing/2014/main" val="2928775367"/>
                    </a:ext>
                  </a:extLst>
                </a:gridCol>
              </a:tblGrid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name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837269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Indonesia Folding Crane Market Strategy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8314809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Background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02051"/>
                  </a:ext>
                </a:extLst>
              </a:tr>
              <a:tr h="277033">
                <a:tc>
                  <a:txBody>
                    <a:bodyPr/>
                    <a:lstStyle/>
                    <a:p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Hyva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cranes has discontinued their crane production</a:t>
                      </a:r>
                      <a:endParaRPr lang="en-ID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5582453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Objective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70028"/>
                  </a:ext>
                </a:extLst>
              </a:tr>
              <a:tr h="1092941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8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Mapping total imported folding crane (2023 – 26) in Indonesia</a:t>
                      </a:r>
                    </a:p>
                    <a:p>
                      <a:pPr marL="285750" indent="-285750" algn="l">
                        <a:lnSpc>
                          <a:spcPct val="108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Targeted on ton meter class that have the most value, knowing the competitor brands and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whics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model is the best (4C)</a:t>
                      </a:r>
                    </a:p>
                    <a:p>
                      <a:pPr marL="285750" indent="-285750" algn="l">
                        <a:lnSpc>
                          <a:spcPct val="108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Pick top 1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competittors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model in every ton meter subclass (STP)</a:t>
                      </a:r>
                    </a:p>
                    <a:p>
                      <a:pPr marL="285750" indent="-285750" algn="l">
                        <a:lnSpc>
                          <a:spcPct val="108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 Product, Price, Place and Promotion for challenger model (4P)</a:t>
                      </a:r>
                      <a:endParaRPr lang="en-ID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9961170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ID" sz="1300" b="1" dirty="0">
                          <a:solidFill>
                            <a:schemeClr val="bg1"/>
                          </a:solidFill>
                        </a:rPr>
                        <a:t>Project Scope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56821"/>
                  </a:ext>
                </a:extLst>
              </a:tr>
              <a:tr h="4644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Market Study For Indonesian Folding Crane specific on price and specification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61567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KPI / Metric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009817"/>
                  </a:ext>
                </a:extLst>
              </a:tr>
              <a:tr h="65311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Mapping total market size of Medium &amp; Heavy cranes by tm class, brand and model (2023 – 2026)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Competitive dynamics, stocking strategy, value differentiators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5861528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Support Requirements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082345"/>
                  </a:ext>
                </a:extLst>
              </a:tr>
              <a:tr h="4644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Business Consultant, Marketing Communication, Application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Enginnering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UTPE</a:t>
                      </a:r>
                      <a:endParaRPr lang="en-ID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3873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820EFB-F47D-8D44-1620-0142B8070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408633"/>
              </p:ext>
            </p:extLst>
          </p:nvPr>
        </p:nvGraphicFramePr>
        <p:xfrm>
          <a:off x="6193349" y="1513611"/>
          <a:ext cx="5748777" cy="28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8777">
                  <a:extLst>
                    <a:ext uri="{9D8B030D-6E8A-4147-A177-3AD203B41FA5}">
                      <a16:colId xmlns:a16="http://schemas.microsoft.com/office/drawing/2014/main" val="2928775367"/>
                    </a:ext>
                  </a:extLst>
                </a:gridCol>
              </a:tblGrid>
              <a:tr h="28115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Timeframe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83726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F51E054-C61E-5A23-B174-E56C8026D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722509"/>
              </p:ext>
            </p:extLst>
          </p:nvPr>
        </p:nvGraphicFramePr>
        <p:xfrm>
          <a:off x="6193349" y="1803171"/>
          <a:ext cx="5748777" cy="1442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60709">
                <a:tc rowSpan="2"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Activity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2026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2027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Jun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Jul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Aug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Sep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Oct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Nov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Dec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Jan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Feb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Market study (4C)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STP and challenger choice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Negotiate with Ferrari and XCMG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Sales kit with Marcom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Exhibition and customer visits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Quotation → PO → first unit sold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78C2C9A-EB23-DC37-B009-AAB9CF978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470369"/>
              </p:ext>
            </p:extLst>
          </p:nvPr>
        </p:nvGraphicFramePr>
        <p:xfrm>
          <a:off x="6193348" y="3321745"/>
          <a:ext cx="5748777" cy="2362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8777">
                  <a:extLst>
                    <a:ext uri="{9D8B030D-6E8A-4147-A177-3AD203B41FA5}">
                      <a16:colId xmlns:a16="http://schemas.microsoft.com/office/drawing/2014/main" val="2928775367"/>
                    </a:ext>
                  </a:extLst>
                </a:gridCol>
              </a:tblGrid>
              <a:tr h="26349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Benefit of Project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837269"/>
                  </a:ext>
                </a:extLst>
              </a:tr>
              <a:tr h="443778">
                <a:tc>
                  <a:txBody>
                    <a:bodyPr/>
                    <a:lstStyle/>
                    <a:p>
                      <a:r>
                        <a:rPr lang="en-ID" sz="1300" dirty="0"/>
                        <a:t>Gives Managements and sales a clear answer per tm class: which brand, which model, at what price that have complete competitiveness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080542"/>
                  </a:ext>
                </a:extLst>
              </a:tr>
              <a:tr h="26349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Team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35125"/>
                  </a:ext>
                </a:extLst>
              </a:tr>
              <a:tr h="915293">
                <a:tc>
                  <a:txBody>
                    <a:bodyPr/>
                    <a:lstStyle/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Executive Sponsor	: David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20838" algn="l"/>
                        </a:tabLst>
                        <a:defRPr/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Advisor	: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Ceisar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Centiaga</a:t>
                      </a:r>
                      <a:endParaRPr lang="en-US" sz="1000" b="0" i="0" kern="1200" dirty="0">
                        <a:solidFill>
                          <a:srgbClr val="11181C"/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Owner	: Ricardo Tanada</a:t>
                      </a:r>
                    </a:p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Coordinator	:</a:t>
                      </a:r>
                      <a:r>
                        <a:rPr lang="id-ID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Ignatius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Indrawan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Sumawinata</a:t>
                      </a:r>
                      <a:endParaRPr lang="en-US" sz="1000" b="0" i="0" kern="1200" dirty="0">
                        <a:solidFill>
                          <a:srgbClr val="11181C"/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Project Lead	: Tiberias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Krisgaharu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 Simu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20838" algn="l"/>
                        </a:tabLst>
                        <a:defRPr/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Team Member	: Marketing Unit · Application Engineering, UTPE Business Consultant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383249"/>
                  </a:ext>
                </a:extLst>
              </a:tr>
              <a:tr h="26349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Approval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571447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A80A542D-0469-1EC4-A6FA-ECFEC63188F3}"/>
              </a:ext>
            </a:extLst>
          </p:cNvPr>
          <p:cNvGrpSpPr/>
          <p:nvPr/>
        </p:nvGrpSpPr>
        <p:grpSpPr>
          <a:xfrm>
            <a:off x="6193348" y="6000960"/>
            <a:ext cx="5719458" cy="639564"/>
            <a:chOff x="6194554" y="6108072"/>
            <a:chExt cx="5719458" cy="639564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B1589C2-2AC1-355C-D59E-EE3A3F1CF77C}"/>
                </a:ext>
              </a:extLst>
            </p:cNvPr>
            <p:cNvSpPr/>
            <p:nvPr/>
          </p:nvSpPr>
          <p:spPr>
            <a:xfrm>
              <a:off x="6194554" y="6117851"/>
              <a:ext cx="1352550" cy="3871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9FACB7A-5EBD-F24B-3B1C-7612ADDFB709}"/>
                </a:ext>
              </a:extLst>
            </p:cNvPr>
            <p:cNvSpPr/>
            <p:nvPr/>
          </p:nvSpPr>
          <p:spPr>
            <a:xfrm>
              <a:off x="6194554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r>
                <a:rPr lang="en-ID" sz="800" dirty="0">
                  <a:solidFill>
                    <a:srgbClr val="11181C"/>
                  </a:solidFill>
                  <a:latin typeface="Arial"/>
                </a:rPr>
                <a:t>Tiberias </a:t>
              </a:r>
              <a:r>
                <a:rPr lang="en-ID" sz="800" dirty="0" err="1">
                  <a:solidFill>
                    <a:srgbClr val="11181C"/>
                  </a:solidFill>
                  <a:latin typeface="Arial"/>
                </a:rPr>
                <a:t>Krisgaharu</a:t>
              </a:r>
              <a:r>
                <a:rPr lang="en-ID" sz="800" dirty="0">
                  <a:solidFill>
                    <a:srgbClr val="11181C"/>
                  </a:solidFill>
                  <a:latin typeface="Arial"/>
                </a:rPr>
                <a:t> Simu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A068A3B-74C0-1E97-D9EF-81F59BE8E459}"/>
                </a:ext>
              </a:extLst>
            </p:cNvPr>
            <p:cNvSpPr/>
            <p:nvPr/>
          </p:nvSpPr>
          <p:spPr>
            <a:xfrm>
              <a:off x="7651879" y="6117851"/>
              <a:ext cx="1352550" cy="3871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F851C0F-82B5-C0D3-ECCA-F5B89E42A796}"/>
                </a:ext>
              </a:extLst>
            </p:cNvPr>
            <p:cNvSpPr/>
            <p:nvPr/>
          </p:nvSpPr>
          <p:spPr>
            <a:xfrm>
              <a:off x="9109204" y="6110037"/>
              <a:ext cx="1352550" cy="3949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 dirty="0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1153D0C-F741-BBE7-FD87-9531FAF197EE}"/>
                </a:ext>
              </a:extLst>
            </p:cNvPr>
            <p:cNvSpPr/>
            <p:nvPr/>
          </p:nvSpPr>
          <p:spPr>
            <a:xfrm>
              <a:off x="9109005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428EF34-1833-8B16-3995-D652C20F7C49}"/>
                </a:ext>
              </a:extLst>
            </p:cNvPr>
            <p:cNvSpPr/>
            <p:nvPr/>
          </p:nvSpPr>
          <p:spPr>
            <a:xfrm>
              <a:off x="10561462" y="6108072"/>
              <a:ext cx="1352550" cy="3949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A8269B4C-3075-D578-C6A1-5DFD7A337D7E}"/>
                </a:ext>
              </a:extLst>
            </p:cNvPr>
            <p:cNvSpPr/>
            <p:nvPr/>
          </p:nvSpPr>
          <p:spPr>
            <a:xfrm>
              <a:off x="10561462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5F2A1672-4A9D-C83A-D88C-4B7C238CDB3D}"/>
                </a:ext>
              </a:extLst>
            </p:cNvPr>
            <p:cNvSpPr/>
            <p:nvPr/>
          </p:nvSpPr>
          <p:spPr>
            <a:xfrm>
              <a:off x="7651879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92D519D6-941C-5D1F-6298-E65EB13884BB}"/>
                </a:ext>
              </a:extLst>
            </p:cNvPr>
            <p:cNvSpPr txBox="1"/>
            <p:nvPr/>
          </p:nvSpPr>
          <p:spPr>
            <a:xfrm>
              <a:off x="7742062" y="6569854"/>
              <a:ext cx="1276350" cy="1308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0" i="0" dirty="0">
                  <a:solidFill>
                    <a:srgbClr val="11181C"/>
                  </a:solidFill>
                  <a:latin typeface="Arial"/>
                </a:rPr>
                <a:t>Ignatius </a:t>
              </a:r>
              <a:r>
                <a:rPr sz="850" b="0" i="0" dirty="0" err="1">
                  <a:solidFill>
                    <a:srgbClr val="11181C"/>
                  </a:solidFill>
                  <a:latin typeface="Arial"/>
                </a:rPr>
                <a:t>Indrawan</a:t>
              </a:r>
              <a:endParaRPr sz="850" b="0" i="0" dirty="0">
                <a:solidFill>
                  <a:srgbClr val="11181C"/>
                </a:solidFill>
                <a:latin typeface="Arial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ECE8B9F-E757-1914-57D0-B89F4465A6D3}"/>
                </a:ext>
              </a:extLst>
            </p:cNvPr>
            <p:cNvSpPr txBox="1"/>
            <p:nvPr/>
          </p:nvSpPr>
          <p:spPr>
            <a:xfrm>
              <a:off x="9151762" y="6569854"/>
              <a:ext cx="1276350" cy="1308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0" i="0" dirty="0">
                  <a:solidFill>
                    <a:srgbClr val="11181C"/>
                  </a:solidFill>
                  <a:latin typeface="Arial"/>
                </a:rPr>
                <a:t>Ricardo Tanada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2975054-07A5-0E96-62EE-9D34BCE94BCB}"/>
                </a:ext>
              </a:extLst>
            </p:cNvPr>
            <p:cNvSpPr txBox="1"/>
            <p:nvPr/>
          </p:nvSpPr>
          <p:spPr>
            <a:xfrm>
              <a:off x="10561462" y="6569854"/>
              <a:ext cx="1276350" cy="1308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0" i="0">
                  <a:solidFill>
                    <a:srgbClr val="11181C"/>
                  </a:solidFill>
                  <a:latin typeface="Arial"/>
                </a:rPr>
                <a:t>Ricardo Tanada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6417B4D-2DF4-8419-BEA0-071739D30D31}"/>
              </a:ext>
            </a:extLst>
          </p:cNvPr>
          <p:cNvGrpSpPr/>
          <p:nvPr/>
        </p:nvGrpSpPr>
        <p:grpSpPr>
          <a:xfrm>
            <a:off x="6193348" y="5709818"/>
            <a:ext cx="5725555" cy="267465"/>
            <a:chOff x="6193348" y="5837087"/>
            <a:chExt cx="5725555" cy="267465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4A2A7A31-52F1-2CC3-171D-23173A7F5301}"/>
                </a:ext>
              </a:extLst>
            </p:cNvPr>
            <p:cNvGrpSpPr/>
            <p:nvPr/>
          </p:nvGrpSpPr>
          <p:grpSpPr>
            <a:xfrm>
              <a:off x="7651879" y="5852749"/>
              <a:ext cx="1352550" cy="247650"/>
              <a:chOff x="7651879" y="5841175"/>
              <a:chExt cx="1352550" cy="247650"/>
            </a:xfrm>
          </p:grpSpPr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B929220-319C-01A8-8BA2-581322823D4E}"/>
                  </a:ext>
                </a:extLst>
              </p:cNvPr>
              <p:cNvSpPr txBox="1"/>
              <p:nvPr/>
            </p:nvSpPr>
            <p:spPr>
              <a:xfrm>
                <a:off x="7651879" y="5841175"/>
                <a:ext cx="13525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00" b="1" i="0" dirty="0">
                    <a:solidFill>
                      <a:srgbClr val="11181C"/>
                    </a:solidFill>
                    <a:latin typeface="Arial"/>
                  </a:rPr>
                  <a:t>Coordinator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043C39E-3E67-C5C5-E68B-374F43B202C6}"/>
                  </a:ext>
                </a:extLst>
              </p:cNvPr>
              <p:cNvSpPr txBox="1"/>
              <p:nvPr/>
            </p:nvSpPr>
            <p:spPr>
              <a:xfrm>
                <a:off x="7651879" y="5974525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Arial"/>
                  </a:rPr>
                  <a:t>Date:</a:t>
                </a: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A2CAB16F-4F2E-1AC0-D1F3-59A48974770E}"/>
                </a:ext>
              </a:extLst>
            </p:cNvPr>
            <p:cNvGrpSpPr/>
            <p:nvPr/>
          </p:nvGrpSpPr>
          <p:grpSpPr>
            <a:xfrm>
              <a:off x="9132712" y="5856902"/>
              <a:ext cx="1352550" cy="247650"/>
              <a:chOff x="9052054" y="5704781"/>
              <a:chExt cx="1352550" cy="247650"/>
            </a:xfrm>
          </p:grpSpPr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D1A8B4F-0639-180F-806F-13D28AE7D4A0}"/>
                  </a:ext>
                </a:extLst>
              </p:cNvPr>
              <p:cNvSpPr txBox="1"/>
              <p:nvPr/>
            </p:nvSpPr>
            <p:spPr>
              <a:xfrm>
                <a:off x="9052054" y="5704781"/>
                <a:ext cx="13525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00" b="1" i="0" dirty="0">
                    <a:solidFill>
                      <a:srgbClr val="11181C"/>
                    </a:solidFill>
                    <a:latin typeface="Arial"/>
                  </a:rPr>
                  <a:t>Advisor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D9A830D-6059-2EB4-DDD9-122A86C368FF}"/>
                  </a:ext>
                </a:extLst>
              </p:cNvPr>
              <p:cNvSpPr txBox="1"/>
              <p:nvPr/>
            </p:nvSpPr>
            <p:spPr>
              <a:xfrm>
                <a:off x="9052054" y="5838131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Arial"/>
                  </a:rPr>
                  <a:t>Date:</a:t>
                </a:r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2A0ACF3C-EC80-4380-8D40-1F2771D21A43}"/>
                </a:ext>
              </a:extLst>
            </p:cNvPr>
            <p:cNvGrpSpPr/>
            <p:nvPr/>
          </p:nvGrpSpPr>
          <p:grpSpPr>
            <a:xfrm>
              <a:off x="10566353" y="5860690"/>
              <a:ext cx="1352550" cy="213817"/>
              <a:chOff x="10461754" y="5704781"/>
              <a:chExt cx="1352550" cy="247650"/>
            </a:xfrm>
          </p:grpSpPr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7BE0252-1F2F-F6D6-9B40-B39A54D430D0}"/>
                  </a:ext>
                </a:extLst>
              </p:cNvPr>
              <p:cNvSpPr txBox="1"/>
              <p:nvPr/>
            </p:nvSpPr>
            <p:spPr>
              <a:xfrm>
                <a:off x="10461754" y="5704781"/>
                <a:ext cx="13525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00" b="1" i="0" dirty="0">
                    <a:solidFill>
                      <a:srgbClr val="11181C"/>
                    </a:solidFill>
                    <a:latin typeface="Arial"/>
                  </a:rPr>
                  <a:t>Executive Sponsor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57D7EECD-AE8B-F26A-E397-49EC226EA517}"/>
                  </a:ext>
                </a:extLst>
              </p:cNvPr>
              <p:cNvSpPr txBox="1"/>
              <p:nvPr/>
            </p:nvSpPr>
            <p:spPr>
              <a:xfrm>
                <a:off x="10461754" y="5838131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Arial"/>
                  </a:rPr>
                  <a:t>Date: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FB18477-832C-2C6E-C96E-E2502B60BED0}"/>
                </a:ext>
              </a:extLst>
            </p:cNvPr>
            <p:cNvGrpSpPr/>
            <p:nvPr/>
          </p:nvGrpSpPr>
          <p:grpSpPr>
            <a:xfrm>
              <a:off x="6193348" y="5837087"/>
              <a:ext cx="1352550" cy="247650"/>
              <a:chOff x="7651879" y="5841175"/>
              <a:chExt cx="1352550" cy="24765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DECE4B-802C-9530-275A-107F973C2836}"/>
                  </a:ext>
                </a:extLst>
              </p:cNvPr>
              <p:cNvSpPr txBox="1"/>
              <p:nvPr/>
            </p:nvSpPr>
            <p:spPr>
              <a:xfrm>
                <a:off x="7651879" y="5841175"/>
                <a:ext cx="135255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n-US" sz="900" b="1" i="0" dirty="0">
                    <a:solidFill>
                      <a:srgbClr val="11181C"/>
                    </a:solidFill>
                    <a:latin typeface="Arial"/>
                  </a:rPr>
                  <a:t>Lead</a:t>
                </a:r>
                <a:endParaRPr sz="900" b="1" i="0" dirty="0">
                  <a:solidFill>
                    <a:srgbClr val="11181C"/>
                  </a:solidFill>
                  <a:latin typeface="Arial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4185B5-592A-A981-4135-2DF5D916DA73}"/>
                  </a:ext>
                </a:extLst>
              </p:cNvPr>
              <p:cNvSpPr txBox="1"/>
              <p:nvPr/>
            </p:nvSpPr>
            <p:spPr>
              <a:xfrm>
                <a:off x="7651879" y="5974525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Arial"/>
                  </a:rPr>
                  <a:t>Date: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1939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9C7E-BD2B-B4D0-3298-2D1510B51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F73A0-99FF-1C7C-C928-C8C8CAD7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FC7EE-991C-4651-548E-2803F2015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110364"/>
            <a:ext cx="53035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CDB36-391B-23C8-14E2-372A11D03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F4A1F60-79EA-399E-96C9-503E3FD0B00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A89C7D-6860-6E5D-8F97-E9149776DFCE}"/>
              </a:ext>
            </a:extLst>
          </p:cNvPr>
          <p:cNvGrpSpPr/>
          <p:nvPr/>
        </p:nvGrpSpPr>
        <p:grpSpPr>
          <a:xfrm>
            <a:off x="347225" y="685795"/>
            <a:ext cx="11844775" cy="617845"/>
            <a:chOff x="347225" y="685795"/>
            <a:chExt cx="11844775" cy="61784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9978F3-CA9F-2554-0E3B-5CF4A42C7CD1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400" b="1" dirty="0"/>
                <a:t>Indonesian Import Folding Crane 23-26/</a:t>
              </a:r>
              <a:endParaRPr lang="en-ID" sz="34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889B14E-C014-6950-5170-07A38EB226A4}"/>
                </a:ext>
              </a:extLst>
            </p:cNvPr>
            <p:cNvSpPr txBox="1"/>
            <p:nvPr/>
          </p:nvSpPr>
          <p:spPr>
            <a:xfrm>
              <a:off x="9125712" y="685795"/>
              <a:ext cx="306628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How big the market is? </a:t>
              </a:r>
              <a:br>
                <a:rPr lang="en-US" sz="1600" b="1" dirty="0"/>
              </a:br>
              <a:r>
                <a:rPr lang="en-US" sz="1600" b="1" dirty="0"/>
                <a:t>And who's lead the market?</a:t>
              </a: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CCB7CF-5C51-B500-0AD3-BF43E6F5628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3CD199-6A70-7857-DA81-3DD3382DB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525208"/>
              </p:ext>
            </p:extLst>
          </p:nvPr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Triatra</a:t>
                      </a:r>
                      <a:r>
                        <a:rPr lang="en-US" sz="1800" b="1" dirty="0"/>
                        <a:t> Need To Focus on Medium and Heavy class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/>
                        <a:t>Medium and Heavy class contribute </a:t>
                      </a:r>
                      <a:r>
                        <a:rPr lang="en-ID" sz="1200" b="1" dirty="0"/>
                        <a:t>62% (Rp 208,3 Bio out of Rp 337,2 Bio)</a:t>
                      </a:r>
                      <a:r>
                        <a:rPr lang="en-ID" sz="1200" dirty="0"/>
                        <a:t> of the total market size from 2023 to 2026, while their transactions are just </a:t>
                      </a:r>
                      <a:r>
                        <a:rPr lang="en-ID" sz="1200" b="1" dirty="0"/>
                        <a:t>38% (293 units out of 764 units)</a:t>
                      </a:r>
                      <a:r>
                        <a:rPr lang="en-ID" sz="1200" dirty="0"/>
                        <a:t> of the total imported quantity.</a:t>
                      </a:r>
                      <a:endParaRPr lang="en-US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DF3B0EE-8236-6B7E-1CF2-079C5AA0937A}"/>
              </a:ext>
            </a:extLst>
          </p:cNvPr>
          <p:cNvSpPr txBox="1"/>
          <p:nvPr/>
        </p:nvSpPr>
        <p:spPr>
          <a:xfrm>
            <a:off x="612648" y="6461446"/>
            <a:ext cx="302070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Application Engineering makes ton meter class classification to make easier identification class</a:t>
            </a: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EC540A3E-9E2C-4BBD-3582-4CC45679D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648139"/>
              </p:ext>
            </p:extLst>
          </p:nvPr>
        </p:nvGraphicFramePr>
        <p:xfrm>
          <a:off x="474098" y="2148387"/>
          <a:ext cx="5464930" cy="4051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1AB4ED20-80E0-FFDC-06D9-C9E0723B0E05}"/>
              </a:ext>
            </a:extLst>
          </p:cNvPr>
          <p:cNvSpPr txBox="1"/>
          <p:nvPr/>
        </p:nvSpPr>
        <p:spPr>
          <a:xfrm>
            <a:off x="1936377" y="2731033"/>
            <a:ext cx="3905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Light fell from </a:t>
            </a:r>
            <a:r>
              <a:rPr lang="en-US" sz="1200" b="1" dirty="0">
                <a:solidFill>
                  <a:srgbClr val="00B050"/>
                </a:solidFill>
              </a:rPr>
              <a:t>109 to 52–53 units after 2023, while Heavy more than doubled </a:t>
            </a:r>
            <a:r>
              <a:rPr lang="en-US" sz="1200" dirty="0"/>
              <a:t>to 39 units in 2025 </a:t>
            </a:r>
            <a:br>
              <a:rPr lang="en-US" sz="1200" dirty="0"/>
            </a:br>
            <a:r>
              <a:rPr lang="en-US" sz="1200" dirty="0"/>
              <a:t>(17% of that year).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7C4B69A-5AD9-1E7B-6296-ABACBAAC3A8A}"/>
              </a:ext>
            </a:extLst>
          </p:cNvPr>
          <p:cNvGrpSpPr/>
          <p:nvPr/>
        </p:nvGrpSpPr>
        <p:grpSpPr>
          <a:xfrm>
            <a:off x="6475258" y="6227204"/>
            <a:ext cx="5372100" cy="160867"/>
            <a:chOff x="342900" y="2381250"/>
            <a:chExt cx="5372100" cy="160867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85C2B4C-0F1D-39E7-9212-6CB36772150F}"/>
                </a:ext>
              </a:extLst>
            </p:cNvPr>
            <p:cNvSpPr/>
            <p:nvPr/>
          </p:nvSpPr>
          <p:spPr>
            <a:xfrm>
              <a:off x="342900" y="2409825"/>
              <a:ext cx="95250" cy="95250"/>
            </a:xfrm>
            <a:prstGeom prst="rect">
              <a:avLst/>
            </a:prstGeom>
            <a:solidFill>
              <a:srgbClr val="C7EF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1E3705A-F5C6-4D9B-BA91-79CC4812DA0D}"/>
                </a:ext>
              </a:extLst>
            </p:cNvPr>
            <p:cNvSpPr txBox="1"/>
            <p:nvPr/>
          </p:nvSpPr>
          <p:spPr>
            <a:xfrm>
              <a:off x="4762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Light (&lt; 8 tm)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BA5EE3E-134F-48F2-6BB1-D317939FB2A8}"/>
                </a:ext>
              </a:extLst>
            </p:cNvPr>
            <p:cNvSpPr/>
            <p:nvPr/>
          </p:nvSpPr>
          <p:spPr>
            <a:xfrm>
              <a:off x="1676400" y="2409825"/>
              <a:ext cx="95250" cy="95250"/>
            </a:xfrm>
            <a:prstGeom prst="rect">
              <a:avLst/>
            </a:prstGeom>
            <a:solidFill>
              <a:srgbClr val="6FCF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C1E3888-8C4C-BC19-B7A1-2FD4381DA425}"/>
                </a:ext>
              </a:extLst>
            </p:cNvPr>
            <p:cNvSpPr txBox="1"/>
            <p:nvPr/>
          </p:nvSpPr>
          <p:spPr>
            <a:xfrm>
              <a:off x="1809750" y="2389717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  <a:latin typeface="Neue Haas Grotesk Text Pro"/>
                </a:rPr>
                <a:t>Small (8–25 tm)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CF7CD55-8FF9-EB6F-C826-45966D4E7AF8}"/>
                </a:ext>
              </a:extLst>
            </p:cNvPr>
            <p:cNvSpPr/>
            <p:nvPr/>
          </p:nvSpPr>
          <p:spPr>
            <a:xfrm>
              <a:off x="3009900" y="2409825"/>
              <a:ext cx="95250" cy="95250"/>
            </a:xfrm>
            <a:prstGeom prst="rect">
              <a:avLst/>
            </a:prstGeom>
            <a:solidFill>
              <a:srgbClr val="1E9E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FEDD881-5849-A896-9627-FAC0B2F59B5B}"/>
                </a:ext>
              </a:extLst>
            </p:cNvPr>
            <p:cNvSpPr txBox="1"/>
            <p:nvPr/>
          </p:nvSpPr>
          <p:spPr>
            <a:xfrm>
              <a:off x="31432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Medium (25–45 tm)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EAC1797-07ED-68C5-CF20-3944041D8650}"/>
                </a:ext>
              </a:extLst>
            </p:cNvPr>
            <p:cNvSpPr/>
            <p:nvPr/>
          </p:nvSpPr>
          <p:spPr>
            <a:xfrm>
              <a:off x="4343400" y="2409825"/>
              <a:ext cx="95250" cy="95250"/>
            </a:xfrm>
            <a:prstGeom prst="rect">
              <a:avLst/>
            </a:prstGeom>
            <a:solidFill>
              <a:srgbClr val="0B4D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2E122F7-0695-0791-CF08-25447E8AFE22}"/>
                </a:ext>
              </a:extLst>
            </p:cNvPr>
            <p:cNvSpPr txBox="1"/>
            <p:nvPr/>
          </p:nvSpPr>
          <p:spPr>
            <a:xfrm>
              <a:off x="4476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Heavy (&gt; 45 tm)</a:t>
              </a:r>
            </a:p>
          </p:txBody>
        </p:sp>
      </p:grpSp>
      <p:cxnSp>
        <p:nvCxnSpPr>
          <p:cNvPr id="57" name="Connector 29">
            <a:extLst>
              <a:ext uri="{FF2B5EF4-FFF2-40B4-BE49-F238E27FC236}">
                <a16:creationId xmlns:a16="http://schemas.microsoft.com/office/drawing/2014/main" id="{041D811E-FB45-5722-3796-658A34817075}"/>
              </a:ext>
            </a:extLst>
          </p:cNvPr>
          <p:cNvCxnSpPr>
            <a:cxnSpLocks/>
          </p:cNvCxnSpPr>
          <p:nvPr/>
        </p:nvCxnSpPr>
        <p:spPr>
          <a:xfrm>
            <a:off x="5991773" y="2148387"/>
            <a:ext cx="1926" cy="4709612"/>
          </a:xfrm>
          <a:prstGeom prst="line">
            <a:avLst/>
          </a:prstGeom>
          <a:ln w="254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9292D2BC-06AE-F443-8C5A-AA7127A98574}"/>
              </a:ext>
            </a:extLst>
          </p:cNvPr>
          <p:cNvSpPr/>
          <p:nvPr/>
        </p:nvSpPr>
        <p:spPr>
          <a:xfrm>
            <a:off x="5838740" y="4104315"/>
            <a:ext cx="304800" cy="304800"/>
          </a:xfrm>
          <a:prstGeom prst="ellipse">
            <a:avLst/>
          </a:prstGeom>
          <a:solidFill>
            <a:srgbClr val="1E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eue Haas Grotesk Text Pro"/>
              </a:rPr>
              <a:t>&gt;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9131D3-57DF-F393-F3B6-48AF93EBDD33}"/>
              </a:ext>
            </a:extLst>
          </p:cNvPr>
          <p:cNvGrpSpPr/>
          <p:nvPr/>
        </p:nvGrpSpPr>
        <p:grpSpPr>
          <a:xfrm>
            <a:off x="531658" y="6230705"/>
            <a:ext cx="5372100" cy="153888"/>
            <a:chOff x="342900" y="2381250"/>
            <a:chExt cx="5372100" cy="153888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0546723-5777-4007-3EE5-AB0941DA65AE}"/>
                </a:ext>
              </a:extLst>
            </p:cNvPr>
            <p:cNvSpPr/>
            <p:nvPr/>
          </p:nvSpPr>
          <p:spPr>
            <a:xfrm>
              <a:off x="342900" y="2409825"/>
              <a:ext cx="95250" cy="95250"/>
            </a:xfrm>
            <a:prstGeom prst="rect">
              <a:avLst/>
            </a:prstGeom>
            <a:solidFill>
              <a:srgbClr val="C7EF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6C83680-7B6D-CE40-93E0-54EA30F6358B}"/>
                </a:ext>
              </a:extLst>
            </p:cNvPr>
            <p:cNvSpPr txBox="1"/>
            <p:nvPr/>
          </p:nvSpPr>
          <p:spPr>
            <a:xfrm>
              <a:off x="4762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Light (&lt; 8 tm)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D3F9B34-BF71-676D-DB12-07719ADDF4E0}"/>
                </a:ext>
              </a:extLst>
            </p:cNvPr>
            <p:cNvSpPr/>
            <p:nvPr/>
          </p:nvSpPr>
          <p:spPr>
            <a:xfrm>
              <a:off x="1676400" y="2409825"/>
              <a:ext cx="95250" cy="95250"/>
            </a:xfrm>
            <a:prstGeom prst="rect">
              <a:avLst/>
            </a:prstGeom>
            <a:solidFill>
              <a:srgbClr val="6FCF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31DCABF-0CAB-EE7F-A142-B959C50594BE}"/>
                </a:ext>
              </a:extLst>
            </p:cNvPr>
            <p:cNvSpPr txBox="1"/>
            <p:nvPr/>
          </p:nvSpPr>
          <p:spPr>
            <a:xfrm>
              <a:off x="1809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  <a:latin typeface="Neue Haas Grotesk Text Pro"/>
                </a:rPr>
                <a:t>Small (8–25 tm)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115A7D4-E47C-A2C4-1DFE-25FB36D1EA24}"/>
                </a:ext>
              </a:extLst>
            </p:cNvPr>
            <p:cNvSpPr/>
            <p:nvPr/>
          </p:nvSpPr>
          <p:spPr>
            <a:xfrm>
              <a:off x="3009900" y="2409825"/>
              <a:ext cx="95250" cy="95250"/>
            </a:xfrm>
            <a:prstGeom prst="rect">
              <a:avLst/>
            </a:prstGeom>
            <a:solidFill>
              <a:srgbClr val="1E9E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34EA946-0B60-D2F7-7783-A880F4B237A0}"/>
                </a:ext>
              </a:extLst>
            </p:cNvPr>
            <p:cNvSpPr txBox="1"/>
            <p:nvPr/>
          </p:nvSpPr>
          <p:spPr>
            <a:xfrm>
              <a:off x="3143250" y="2381250"/>
              <a:ext cx="1553288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Medium (25–45 tm)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7AFD7B1-60D5-9CC7-C71B-24492BF3C723}"/>
                </a:ext>
              </a:extLst>
            </p:cNvPr>
            <p:cNvSpPr/>
            <p:nvPr/>
          </p:nvSpPr>
          <p:spPr>
            <a:xfrm>
              <a:off x="4343400" y="2409825"/>
              <a:ext cx="95250" cy="95250"/>
            </a:xfrm>
            <a:prstGeom prst="rect">
              <a:avLst/>
            </a:prstGeom>
            <a:solidFill>
              <a:srgbClr val="0B4D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C2061DC-4F43-801F-8583-EBF20B598AAE}"/>
                </a:ext>
              </a:extLst>
            </p:cNvPr>
            <p:cNvSpPr txBox="1"/>
            <p:nvPr/>
          </p:nvSpPr>
          <p:spPr>
            <a:xfrm>
              <a:off x="4476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Heavy (&gt; 45 tm)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C0862677-F9D8-42CC-137A-9F2CDA1E9370}"/>
              </a:ext>
            </a:extLst>
          </p:cNvPr>
          <p:cNvSpPr txBox="1"/>
          <p:nvPr/>
        </p:nvSpPr>
        <p:spPr>
          <a:xfrm>
            <a:off x="840075" y="2360370"/>
            <a:ext cx="442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Neue Haas Grotesk Text Pro"/>
              </a:rPr>
              <a:t>Imported folding cranes by class per year, 2023 – 2026</a:t>
            </a:r>
            <a:endParaRPr lang="en-US" sz="1200" b="0" dirty="0">
              <a:solidFill>
                <a:srgbClr val="000000"/>
              </a:solidFill>
              <a:latin typeface="Neue Haas Grotesk Text Pro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F828545-8D96-FD79-A2E8-D2D48D940BB4}"/>
              </a:ext>
            </a:extLst>
          </p:cNvPr>
          <p:cNvSpPr txBox="1"/>
          <p:nvPr/>
        </p:nvSpPr>
        <p:spPr>
          <a:xfrm>
            <a:off x="6516975" y="2358882"/>
            <a:ext cx="442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Neue Haas Grotesk Text Pro"/>
              </a:rPr>
              <a:t>Imported folding cranes by class per year, 2023 – 2026</a:t>
            </a:r>
            <a:endParaRPr lang="en-US" sz="1200" b="0" dirty="0">
              <a:solidFill>
                <a:srgbClr val="000000"/>
              </a:solidFill>
              <a:latin typeface="Neue Haas Grotesk Text Pro"/>
            </a:endParaRPr>
          </a:p>
        </p:txBody>
      </p:sp>
      <p:sp>
        <p:nvSpPr>
          <p:cNvPr id="93" name="Left Brace 92">
            <a:extLst>
              <a:ext uri="{FF2B5EF4-FFF2-40B4-BE49-F238E27FC236}">
                <a16:creationId xmlns:a16="http://schemas.microsoft.com/office/drawing/2014/main" id="{40DE2CE0-DF03-CC2C-8CDD-C714D850BFF6}"/>
              </a:ext>
            </a:extLst>
          </p:cNvPr>
          <p:cNvSpPr/>
          <p:nvPr/>
        </p:nvSpPr>
        <p:spPr>
          <a:xfrm>
            <a:off x="6819822" y="2887133"/>
            <a:ext cx="346985" cy="1149880"/>
          </a:xfrm>
          <a:prstGeom prst="leftBrace">
            <a:avLst>
              <a:gd name="adj1" fmla="val 8333"/>
              <a:gd name="adj2" fmla="val 47261"/>
            </a:avLst>
          </a:prstGeom>
          <a:ln w="19050">
            <a:solidFill>
              <a:srgbClr val="0DA54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>
              <a:ln>
                <a:solidFill>
                  <a:srgbClr val="0DA54F"/>
                </a:solidFill>
              </a:ln>
            </a:endParaRPr>
          </a:p>
        </p:txBody>
      </p:sp>
      <p:sp>
        <p:nvSpPr>
          <p:cNvPr id="95" name="Left Brace 94">
            <a:extLst>
              <a:ext uri="{FF2B5EF4-FFF2-40B4-BE49-F238E27FC236}">
                <a16:creationId xmlns:a16="http://schemas.microsoft.com/office/drawing/2014/main" id="{1E3FB674-ACA9-6E8A-74AB-BF232F5608BD}"/>
              </a:ext>
            </a:extLst>
          </p:cNvPr>
          <p:cNvSpPr/>
          <p:nvPr/>
        </p:nvSpPr>
        <p:spPr>
          <a:xfrm>
            <a:off x="6819822" y="4044717"/>
            <a:ext cx="346985" cy="1890415"/>
          </a:xfrm>
          <a:prstGeom prst="leftBrace">
            <a:avLst>
              <a:gd name="adj1" fmla="val 8333"/>
              <a:gd name="adj2" fmla="val 47261"/>
            </a:avLst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41E5D73-64D7-19EB-F76D-401BD144BD22}"/>
              </a:ext>
            </a:extLst>
          </p:cNvPr>
          <p:cNvSpPr txBox="1"/>
          <p:nvPr/>
        </p:nvSpPr>
        <p:spPr>
          <a:xfrm>
            <a:off x="6178889" y="4409115"/>
            <a:ext cx="618215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61% of total import </a:t>
            </a:r>
            <a:r>
              <a:rPr lang="en-US" sz="800" b="1" dirty="0"/>
              <a:t>comes from light and small class</a:t>
            </a:r>
            <a:endParaRPr lang="en-ID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26695F0-FB53-2E71-CA2F-8ACBEC3022A0}"/>
              </a:ext>
            </a:extLst>
          </p:cNvPr>
          <p:cNvSpPr txBox="1"/>
          <p:nvPr/>
        </p:nvSpPr>
        <p:spPr>
          <a:xfrm>
            <a:off x="6178889" y="2944067"/>
            <a:ext cx="618215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39% of total import </a:t>
            </a:r>
            <a:r>
              <a:rPr lang="en-US" sz="800" b="1" dirty="0"/>
              <a:t>comes from light and small class</a:t>
            </a:r>
            <a:endParaRPr lang="en-ID" sz="800" b="1" dirty="0"/>
          </a:p>
        </p:txBody>
      </p:sp>
      <p:sp>
        <p:nvSpPr>
          <p:cNvPr id="101" name="Right Brace 100">
            <a:extLst>
              <a:ext uri="{FF2B5EF4-FFF2-40B4-BE49-F238E27FC236}">
                <a16:creationId xmlns:a16="http://schemas.microsoft.com/office/drawing/2014/main" id="{7ED79755-F5BD-8732-0E75-F6BB0F215293}"/>
              </a:ext>
            </a:extLst>
          </p:cNvPr>
          <p:cNvSpPr/>
          <p:nvPr/>
        </p:nvSpPr>
        <p:spPr>
          <a:xfrm>
            <a:off x="10789081" y="4756680"/>
            <a:ext cx="346984" cy="1178451"/>
          </a:xfrm>
          <a:prstGeom prst="rightBrace">
            <a:avLst>
              <a:gd name="adj1" fmla="val 8333"/>
              <a:gd name="adj2" fmla="val 4913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6D7E008-694C-187C-A07E-5662CE5C953D}"/>
              </a:ext>
            </a:extLst>
          </p:cNvPr>
          <p:cNvSpPr txBox="1"/>
          <p:nvPr/>
        </p:nvSpPr>
        <p:spPr>
          <a:xfrm>
            <a:off x="11159418" y="4788656"/>
            <a:ext cx="618215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38% of total value</a:t>
            </a:r>
            <a:r>
              <a:rPr lang="en-US" sz="800" b="1" dirty="0">
                <a:solidFill>
                  <a:schemeClr val="tx1"/>
                </a:solidFill>
              </a:rPr>
              <a:t> is</a:t>
            </a:r>
            <a:br>
              <a:rPr lang="en-US" sz="800" b="1" dirty="0">
                <a:solidFill>
                  <a:schemeClr val="tx1"/>
                </a:solidFill>
              </a:rPr>
            </a:br>
            <a:r>
              <a:rPr lang="en-US" sz="800" b="1" dirty="0">
                <a:solidFill>
                  <a:schemeClr val="tx1"/>
                </a:solidFill>
              </a:rPr>
              <a:t>comes from light and small</a:t>
            </a:r>
            <a:endParaRPr lang="en-ID" sz="800" b="1" dirty="0">
              <a:solidFill>
                <a:schemeClr val="tx1"/>
              </a:solidFill>
            </a:endParaRPr>
          </a:p>
        </p:txBody>
      </p:sp>
      <p:sp>
        <p:nvSpPr>
          <p:cNvPr id="105" name="Right Brace 104">
            <a:extLst>
              <a:ext uri="{FF2B5EF4-FFF2-40B4-BE49-F238E27FC236}">
                <a16:creationId xmlns:a16="http://schemas.microsoft.com/office/drawing/2014/main" id="{E974EBC4-B8F2-2375-0B09-D329B46BC018}"/>
              </a:ext>
            </a:extLst>
          </p:cNvPr>
          <p:cNvSpPr/>
          <p:nvPr/>
        </p:nvSpPr>
        <p:spPr>
          <a:xfrm>
            <a:off x="10812434" y="2887133"/>
            <a:ext cx="346984" cy="1869547"/>
          </a:xfrm>
          <a:prstGeom prst="rightBrace">
            <a:avLst>
              <a:gd name="adj1" fmla="val 8333"/>
              <a:gd name="adj2" fmla="val 49130"/>
            </a:avLst>
          </a:prstGeom>
          <a:ln w="1905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107" name="Chart 106">
            <a:extLst>
              <a:ext uri="{FF2B5EF4-FFF2-40B4-BE49-F238E27FC236}">
                <a16:creationId xmlns:a16="http://schemas.microsoft.com/office/drawing/2014/main" id="{02108D9A-3FB4-0BC8-6B3E-133B6B931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429683"/>
              </p:ext>
            </p:extLst>
          </p:nvPr>
        </p:nvGraphicFramePr>
        <p:xfrm>
          <a:off x="6854747" y="2727249"/>
          <a:ext cx="4347669" cy="3521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9" name="TextBox 108">
            <a:extLst>
              <a:ext uri="{FF2B5EF4-FFF2-40B4-BE49-F238E27FC236}">
                <a16:creationId xmlns:a16="http://schemas.microsoft.com/office/drawing/2014/main" id="{8108413B-F6DF-3FDA-3820-7920131C67BF}"/>
              </a:ext>
            </a:extLst>
          </p:cNvPr>
          <p:cNvSpPr txBox="1"/>
          <p:nvPr/>
        </p:nvSpPr>
        <p:spPr>
          <a:xfrm>
            <a:off x="11159639" y="3115757"/>
            <a:ext cx="618215" cy="14465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62% of total value or 208,3 Bio </a:t>
            </a:r>
            <a:r>
              <a:rPr lang="en-US" sz="800" b="1" dirty="0">
                <a:solidFill>
                  <a:schemeClr val="tx1"/>
                </a:solidFill>
              </a:rPr>
              <a:t>comes from Medium and Heavy class</a:t>
            </a:r>
            <a:endParaRPr lang="en-ID" sz="800" b="1" dirty="0">
              <a:solidFill>
                <a:schemeClr val="tx1"/>
              </a:solidFill>
            </a:endParaRPr>
          </a:p>
        </p:txBody>
      </p:sp>
      <p:graphicFrame>
        <p:nvGraphicFramePr>
          <p:cNvPr id="112" name="Table 111">
            <a:extLst>
              <a:ext uri="{FF2B5EF4-FFF2-40B4-BE49-F238E27FC236}">
                <a16:creationId xmlns:a16="http://schemas.microsoft.com/office/drawing/2014/main" id="{5C6153FB-37C3-81EB-2C31-3A000688F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910876"/>
              </p:ext>
            </p:extLst>
          </p:nvPr>
        </p:nvGraphicFramePr>
        <p:xfrm>
          <a:off x="4816483" y="3494715"/>
          <a:ext cx="953333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3333">
                  <a:extLst>
                    <a:ext uri="{9D8B030D-6E8A-4147-A177-3AD203B41FA5}">
                      <a16:colId xmlns:a16="http://schemas.microsoft.com/office/drawing/2014/main" val="3898600141"/>
                    </a:ext>
                  </a:extLst>
                </a:gridCol>
              </a:tblGrid>
              <a:tr h="38730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Avg Sales (Unit)</a:t>
                      </a:r>
                      <a:br>
                        <a:rPr lang="en-US" sz="700" b="1" dirty="0"/>
                      </a:br>
                      <a:r>
                        <a:rPr lang="en-US" sz="700" b="1" dirty="0"/>
                        <a:t>Light &amp; Small Class</a:t>
                      </a:r>
                      <a:endParaRPr lang="en-ID" sz="7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7233422"/>
                  </a:ext>
                </a:extLst>
              </a:tr>
              <a:tr h="14808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118 Units in Avg</a:t>
                      </a:r>
                      <a:endParaRPr lang="en-ID" sz="7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787105"/>
                  </a:ext>
                </a:extLst>
              </a:tr>
              <a:tr h="3873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/>
                        <a:t>Avg Sales (Unit)</a:t>
                      </a:r>
                      <a:br>
                        <a:rPr lang="en-US" sz="700" b="1" dirty="0"/>
                      </a:br>
                      <a:r>
                        <a:rPr lang="en-US" sz="700" b="1" dirty="0"/>
                        <a:t>Medium &amp; Heavy class</a:t>
                      </a:r>
                      <a:endParaRPr lang="en-ID" sz="7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5600446"/>
                  </a:ext>
                </a:extLst>
              </a:tr>
              <a:tr h="14808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80 Units in Avg</a:t>
                      </a:r>
                      <a:endParaRPr lang="en-ID" sz="7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0318368"/>
                  </a:ext>
                </a:extLst>
              </a:tr>
            </a:tbl>
          </a:graphicData>
        </a:graphic>
      </p:graphicFrame>
      <p:sp>
        <p:nvSpPr>
          <p:cNvPr id="114" name="TextBox 113">
            <a:extLst>
              <a:ext uri="{FF2B5EF4-FFF2-40B4-BE49-F238E27FC236}">
                <a16:creationId xmlns:a16="http://schemas.microsoft.com/office/drawing/2014/main" id="{76404029-32D5-94BC-549E-D5E84EF32E70}"/>
              </a:ext>
            </a:extLst>
          </p:cNvPr>
          <p:cNvSpPr txBox="1"/>
          <p:nvPr/>
        </p:nvSpPr>
        <p:spPr>
          <a:xfrm>
            <a:off x="6986478" y="6499253"/>
            <a:ext cx="4084206" cy="2154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Selling Less but gain more value</a:t>
            </a:r>
            <a:endParaRPr lang="en-ID" sz="800" b="1" dirty="0"/>
          </a:p>
        </p:txBody>
      </p:sp>
    </p:spTree>
    <p:extLst>
      <p:ext uri="{BB962C8B-B14F-4D97-AF65-F5344CB8AC3E}">
        <p14:creationId xmlns:p14="http://schemas.microsoft.com/office/powerpoint/2010/main" val="3645129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38374-C8C6-8772-452B-A893DFDE4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844775" cy="587067"/>
            <a:chOff x="347225" y="685795"/>
            <a:chExt cx="11844775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Indonesian Import Folding Crane 2025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191099" y="685795"/>
              <a:ext cx="400090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Did Medium and Heavy class still the leader? And who's lead the market?</a:t>
              </a: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38115"/>
              </p:ext>
            </p:extLst>
          </p:nvPr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Triatra</a:t>
                      </a:r>
                      <a:r>
                        <a:rPr lang="en-US" sz="1800" b="1" dirty="0"/>
                        <a:t> Need To Focus on Medium and Heavy class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In 2025, Medium and Heavy imports reached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99 units (Rp 75,4 Bio)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 out of 227 units (Rp 112,6 Bio). 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Three brands cover 82% of Medium and 85% of Heavy units.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grpSp>
        <p:nvGrpSpPr>
          <p:cNvPr id="48" name="Group 47">
            <a:extLst>
              <a:ext uri="{FF2B5EF4-FFF2-40B4-BE49-F238E27FC236}">
                <a16:creationId xmlns:a16="http://schemas.microsoft.com/office/drawing/2014/main" id="{23093AF6-E047-B713-E8C7-C8967054BB38}"/>
              </a:ext>
            </a:extLst>
          </p:cNvPr>
          <p:cNvGrpSpPr/>
          <p:nvPr/>
        </p:nvGrpSpPr>
        <p:grpSpPr>
          <a:xfrm>
            <a:off x="5396780" y="2148387"/>
            <a:ext cx="304800" cy="4709612"/>
            <a:chOff x="5838740" y="2148387"/>
            <a:chExt cx="304800" cy="4709612"/>
          </a:xfrm>
        </p:grpSpPr>
        <p:cxnSp>
          <p:nvCxnSpPr>
            <p:cNvPr id="57" name="Connector 29">
              <a:extLst>
                <a:ext uri="{FF2B5EF4-FFF2-40B4-BE49-F238E27FC236}">
                  <a16:creationId xmlns:a16="http://schemas.microsoft.com/office/drawing/2014/main" id="{B09B010D-8441-E8E5-294A-3883E35044FE}"/>
                </a:ext>
              </a:extLst>
            </p:cNvPr>
            <p:cNvCxnSpPr>
              <a:cxnSpLocks/>
            </p:cNvCxnSpPr>
            <p:nvPr/>
          </p:nvCxnSpPr>
          <p:spPr>
            <a:xfrm>
              <a:off x="5991773" y="2148387"/>
              <a:ext cx="1926" cy="4709612"/>
            </a:xfrm>
            <a:prstGeom prst="line">
              <a:avLst/>
            </a:prstGeom>
            <a:ln w="25400">
              <a:solidFill>
                <a:srgbClr val="1E9E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551945A-72E7-A6B0-7BA6-42E967C02AD2}"/>
                </a:ext>
              </a:extLst>
            </p:cNvPr>
            <p:cNvSpPr/>
            <p:nvPr/>
          </p:nvSpPr>
          <p:spPr>
            <a:xfrm>
              <a:off x="5838740" y="4104315"/>
              <a:ext cx="304800" cy="304800"/>
            </a:xfrm>
            <a:prstGeom prst="ellipse">
              <a:avLst/>
            </a:prstGeom>
            <a:solidFill>
              <a:srgbClr val="1E9E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600" b="1" dirty="0">
                  <a:solidFill>
                    <a:srgbClr val="FFFFFF"/>
                  </a:solidFill>
                  <a:latin typeface="Neue Haas Grotesk Text Pro"/>
                </a:rPr>
                <a:t>&gt;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969A67C-5005-48DA-B272-4EDE101EFE0C}"/>
              </a:ext>
            </a:extLst>
          </p:cNvPr>
          <p:cNvGrpSpPr/>
          <p:nvPr/>
        </p:nvGrpSpPr>
        <p:grpSpPr>
          <a:xfrm>
            <a:off x="279968" y="6334264"/>
            <a:ext cx="5372100" cy="153888"/>
            <a:chOff x="342900" y="2381250"/>
            <a:chExt cx="5372100" cy="153888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F08353C-7376-4B51-D8BB-72CA04200B15}"/>
                </a:ext>
              </a:extLst>
            </p:cNvPr>
            <p:cNvSpPr/>
            <p:nvPr/>
          </p:nvSpPr>
          <p:spPr>
            <a:xfrm>
              <a:off x="342900" y="2409825"/>
              <a:ext cx="95250" cy="95250"/>
            </a:xfrm>
            <a:prstGeom prst="rect">
              <a:avLst/>
            </a:prstGeom>
            <a:solidFill>
              <a:srgbClr val="C7EF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7645367-C57C-86B2-1BC0-B13116F6322F}"/>
                </a:ext>
              </a:extLst>
            </p:cNvPr>
            <p:cNvSpPr txBox="1"/>
            <p:nvPr/>
          </p:nvSpPr>
          <p:spPr>
            <a:xfrm>
              <a:off x="4762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Light (&lt; 8 tm)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F19F461-2BC1-4606-375B-D3DA99A3A67E}"/>
                </a:ext>
              </a:extLst>
            </p:cNvPr>
            <p:cNvSpPr/>
            <p:nvPr/>
          </p:nvSpPr>
          <p:spPr>
            <a:xfrm>
              <a:off x="1676400" y="2409825"/>
              <a:ext cx="95250" cy="95250"/>
            </a:xfrm>
            <a:prstGeom prst="rect">
              <a:avLst/>
            </a:prstGeom>
            <a:solidFill>
              <a:srgbClr val="6FCF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A8F7119-FEAC-ECBC-B415-4AF323E41543}"/>
                </a:ext>
              </a:extLst>
            </p:cNvPr>
            <p:cNvSpPr txBox="1"/>
            <p:nvPr/>
          </p:nvSpPr>
          <p:spPr>
            <a:xfrm>
              <a:off x="1809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Small (8–25 tm)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5D1751E-E6B3-0550-DD2B-DC17E73E5058}"/>
                </a:ext>
              </a:extLst>
            </p:cNvPr>
            <p:cNvSpPr/>
            <p:nvPr/>
          </p:nvSpPr>
          <p:spPr>
            <a:xfrm>
              <a:off x="3009900" y="2409825"/>
              <a:ext cx="95250" cy="95250"/>
            </a:xfrm>
            <a:prstGeom prst="rect">
              <a:avLst/>
            </a:prstGeom>
            <a:solidFill>
              <a:srgbClr val="1E9E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0E9B76E-29D4-51B5-DF6D-7C34677C289D}"/>
                </a:ext>
              </a:extLst>
            </p:cNvPr>
            <p:cNvSpPr txBox="1"/>
            <p:nvPr/>
          </p:nvSpPr>
          <p:spPr>
            <a:xfrm>
              <a:off x="3143250" y="2381250"/>
              <a:ext cx="1553288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Medium (25–45 tm)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E4DB25D-C680-B7E3-59B0-D892AD13E248}"/>
                </a:ext>
              </a:extLst>
            </p:cNvPr>
            <p:cNvSpPr/>
            <p:nvPr/>
          </p:nvSpPr>
          <p:spPr>
            <a:xfrm>
              <a:off x="4343400" y="2409825"/>
              <a:ext cx="95250" cy="95250"/>
            </a:xfrm>
            <a:prstGeom prst="rect">
              <a:avLst/>
            </a:prstGeom>
            <a:solidFill>
              <a:srgbClr val="0B4D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E2C7BC2-0888-9565-6755-5BB2D9CCB40F}"/>
                </a:ext>
              </a:extLst>
            </p:cNvPr>
            <p:cNvSpPr txBox="1"/>
            <p:nvPr/>
          </p:nvSpPr>
          <p:spPr>
            <a:xfrm>
              <a:off x="4476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Heavy (&gt; 45 tm)</a:t>
              </a: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BDE0A8-F465-9525-5E65-12C9A02F61B7}"/>
              </a:ext>
            </a:extLst>
          </p:cNvPr>
          <p:cNvSpPr/>
          <p:nvPr/>
        </p:nvSpPr>
        <p:spPr>
          <a:xfrm>
            <a:off x="337239" y="2273353"/>
            <a:ext cx="4907773" cy="2415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Neue Haas Grotesk Text Pro"/>
              </a:rPr>
              <a:t>Market 2025: focus on Medium &amp; Heavy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A90E4C-2C34-D94D-9936-FE5F47F0FBB3}"/>
              </a:ext>
            </a:extLst>
          </p:cNvPr>
          <p:cNvSpPr/>
          <p:nvPr/>
        </p:nvSpPr>
        <p:spPr>
          <a:xfrm>
            <a:off x="357341" y="2521608"/>
            <a:ext cx="4889597" cy="3705596"/>
          </a:xfrm>
          <a:prstGeom prst="rect">
            <a:avLst/>
          </a:prstGeom>
          <a:noFill/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 dirty="0"/>
          </a:p>
        </p:txBody>
      </p:sp>
      <p:graphicFrame>
        <p:nvGraphicFramePr>
          <p:cNvPr id="46" name="Chart 45">
            <a:extLst>
              <a:ext uri="{FF2B5EF4-FFF2-40B4-BE49-F238E27FC236}">
                <a16:creationId xmlns:a16="http://schemas.microsoft.com/office/drawing/2014/main" id="{5F01B2AC-7D06-C81E-FAEC-62F9CEF84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412499"/>
              </p:ext>
            </p:extLst>
          </p:nvPr>
        </p:nvGraphicFramePr>
        <p:xfrm>
          <a:off x="1485900" y="2830365"/>
          <a:ext cx="2960236" cy="33818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0" name="Left Brace 49">
            <a:extLst>
              <a:ext uri="{FF2B5EF4-FFF2-40B4-BE49-F238E27FC236}">
                <a16:creationId xmlns:a16="http://schemas.microsoft.com/office/drawing/2014/main" id="{3D58DDCF-DF59-19FC-5FF4-27F89369BB9F}"/>
              </a:ext>
            </a:extLst>
          </p:cNvPr>
          <p:cNvSpPr/>
          <p:nvPr/>
        </p:nvSpPr>
        <p:spPr>
          <a:xfrm>
            <a:off x="1316562" y="4159249"/>
            <a:ext cx="438690" cy="1712383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766053-FB64-1A31-7DB2-C98B363DF1AB}"/>
              </a:ext>
            </a:extLst>
          </p:cNvPr>
          <p:cNvSpPr txBox="1"/>
          <p:nvPr/>
        </p:nvSpPr>
        <p:spPr>
          <a:xfrm>
            <a:off x="616881" y="4705380"/>
            <a:ext cx="68738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D" sz="800" dirty="0">
                <a:solidFill>
                  <a:srgbClr val="6B6B6B"/>
                </a:solidFill>
              </a:rPr>
              <a:t>Light +</a:t>
            </a:r>
          </a:p>
          <a:p>
            <a:pPr algn="ctr"/>
            <a:r>
              <a:rPr lang="en-ID" sz="800" dirty="0">
                <a:solidFill>
                  <a:srgbClr val="6B6B6B"/>
                </a:solidFill>
              </a:rPr>
              <a:t>Small</a:t>
            </a:r>
          </a:p>
          <a:p>
            <a:pPr algn="ctr"/>
            <a:r>
              <a:rPr lang="en-ID" sz="800" b="1" dirty="0">
                <a:solidFill>
                  <a:srgbClr val="6B6B6B"/>
                </a:solidFill>
              </a:rPr>
              <a:t>excluded</a:t>
            </a:r>
          </a:p>
        </p:txBody>
      </p:sp>
      <p:sp>
        <p:nvSpPr>
          <p:cNvPr id="60" name="Left Brace 59">
            <a:extLst>
              <a:ext uri="{FF2B5EF4-FFF2-40B4-BE49-F238E27FC236}">
                <a16:creationId xmlns:a16="http://schemas.microsoft.com/office/drawing/2014/main" id="{C3BB9062-1B88-1D1A-E45F-7D0DC6727753}"/>
              </a:ext>
            </a:extLst>
          </p:cNvPr>
          <p:cNvSpPr/>
          <p:nvPr/>
        </p:nvSpPr>
        <p:spPr>
          <a:xfrm>
            <a:off x="1318674" y="2830365"/>
            <a:ext cx="438690" cy="1322173"/>
          </a:xfrm>
          <a:prstGeom prst="leftBrace">
            <a:avLst/>
          </a:prstGeom>
          <a:ln>
            <a:solidFill>
              <a:srgbClr val="0DA54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>
              <a:solidFill>
                <a:srgbClr val="0DA54F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4249CBB-D16E-EE3E-DA11-B0510404BF41}"/>
              </a:ext>
            </a:extLst>
          </p:cNvPr>
          <p:cNvSpPr txBox="1"/>
          <p:nvPr/>
        </p:nvSpPr>
        <p:spPr>
          <a:xfrm>
            <a:off x="612648" y="2958920"/>
            <a:ext cx="68738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D" sz="800" b="1" dirty="0">
                <a:solidFill>
                  <a:srgbClr val="0DA54F"/>
                </a:solidFill>
              </a:rPr>
              <a:t>44</a:t>
            </a:r>
            <a:r>
              <a:rPr lang="en-US" sz="800" b="1" dirty="0">
                <a:solidFill>
                  <a:srgbClr val="0DA54F"/>
                </a:solidFill>
              </a:rPr>
              <a:t>% of total import </a:t>
            </a:r>
            <a:r>
              <a:rPr lang="en-US" sz="800" b="1" dirty="0"/>
              <a:t>comes from light and small class</a:t>
            </a:r>
            <a:endParaRPr lang="en-ID" sz="800" b="1" dirty="0"/>
          </a:p>
          <a:p>
            <a:pPr algn="ctr"/>
            <a:br>
              <a:rPr lang="en-ID" sz="800" dirty="0">
                <a:solidFill>
                  <a:srgbClr val="6B6B6B"/>
                </a:solidFill>
              </a:rPr>
            </a:br>
            <a:r>
              <a:rPr lang="en-ID" sz="800" b="1" dirty="0">
                <a:solidFill>
                  <a:srgbClr val="0DA54F"/>
                </a:solidFill>
              </a:rPr>
              <a:t>99 Units</a:t>
            </a:r>
          </a:p>
        </p:txBody>
      </p:sp>
      <p:sp>
        <p:nvSpPr>
          <p:cNvPr id="73" name="Right Brace 72">
            <a:extLst>
              <a:ext uri="{FF2B5EF4-FFF2-40B4-BE49-F238E27FC236}">
                <a16:creationId xmlns:a16="http://schemas.microsoft.com/office/drawing/2014/main" id="{7554D735-CD41-3E7D-C2FF-AD38622FDFA4}"/>
              </a:ext>
            </a:extLst>
          </p:cNvPr>
          <p:cNvSpPr/>
          <p:nvPr/>
        </p:nvSpPr>
        <p:spPr>
          <a:xfrm>
            <a:off x="4176701" y="2830364"/>
            <a:ext cx="254000" cy="2021035"/>
          </a:xfrm>
          <a:prstGeom prst="rightBrace">
            <a:avLst/>
          </a:prstGeom>
          <a:ln w="1905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>
              <a:solidFill>
                <a:srgbClr val="0DA54F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4398DBE-8363-0D03-5A71-F7CCB44C1118}"/>
              </a:ext>
            </a:extLst>
          </p:cNvPr>
          <p:cNvSpPr txBox="1"/>
          <p:nvPr/>
        </p:nvSpPr>
        <p:spPr>
          <a:xfrm>
            <a:off x="4442218" y="3208786"/>
            <a:ext cx="687386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D" sz="800" b="1" dirty="0">
                <a:solidFill>
                  <a:srgbClr val="0DA54F"/>
                </a:solidFill>
              </a:rPr>
              <a:t>67</a:t>
            </a:r>
            <a:r>
              <a:rPr lang="en-US" sz="800" b="1" dirty="0">
                <a:solidFill>
                  <a:srgbClr val="0DA54F"/>
                </a:solidFill>
              </a:rPr>
              <a:t>% of total </a:t>
            </a:r>
            <a:r>
              <a:rPr lang="en-US" sz="800" b="1" dirty="0" err="1">
                <a:solidFill>
                  <a:srgbClr val="0DA54F"/>
                </a:solidFill>
              </a:rPr>
              <a:t>Vaue</a:t>
            </a:r>
            <a:r>
              <a:rPr lang="en-US" sz="800" b="1" dirty="0">
                <a:solidFill>
                  <a:srgbClr val="0DA54F"/>
                </a:solidFill>
              </a:rPr>
              <a:t> </a:t>
            </a:r>
            <a:r>
              <a:rPr lang="en-US" sz="800" b="1" dirty="0"/>
              <a:t>comes from Medium and Heavy Class</a:t>
            </a:r>
            <a:endParaRPr lang="en-ID" sz="800" b="1" dirty="0"/>
          </a:p>
          <a:p>
            <a:pPr algn="ctr"/>
            <a:br>
              <a:rPr lang="en-ID" sz="800" dirty="0">
                <a:solidFill>
                  <a:srgbClr val="6B6B6B"/>
                </a:solidFill>
              </a:rPr>
            </a:br>
            <a:r>
              <a:rPr lang="en-ID" sz="800" b="1" dirty="0">
                <a:solidFill>
                  <a:srgbClr val="0DA54F"/>
                </a:solidFill>
              </a:rPr>
              <a:t>99 Units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837F754-AF04-387A-3383-1F86D776F1F0}"/>
              </a:ext>
            </a:extLst>
          </p:cNvPr>
          <p:cNvSpPr/>
          <p:nvPr/>
        </p:nvSpPr>
        <p:spPr>
          <a:xfrm>
            <a:off x="5779331" y="2254639"/>
            <a:ext cx="6055328" cy="247650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eue Haas Grotesk Text Pro"/>
              </a:rPr>
              <a:t>Medium &amp; Heavy 2025: who holds the market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D1D4EA4-F2BE-9ED2-ACB2-D0F7D05B0B9D}"/>
              </a:ext>
            </a:extLst>
          </p:cNvPr>
          <p:cNvSpPr/>
          <p:nvPr/>
        </p:nvSpPr>
        <p:spPr>
          <a:xfrm>
            <a:off x="5779331" y="2502289"/>
            <a:ext cx="6055328" cy="3736921"/>
          </a:xfrm>
          <a:prstGeom prst="rect">
            <a:avLst/>
          </a:prstGeom>
          <a:noFill/>
          <a:ln w="19050">
            <a:solidFill>
              <a:srgbClr val="1E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21DB46F-AC47-56CB-38D4-19013B8E8EE5}"/>
              </a:ext>
            </a:extLst>
          </p:cNvPr>
          <p:cNvSpPr txBox="1"/>
          <p:nvPr/>
        </p:nvSpPr>
        <p:spPr>
          <a:xfrm>
            <a:off x="5915030" y="2578489"/>
            <a:ext cx="495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000000"/>
                </a:solidFill>
                <a:latin typeface="Neue Haas Grotesk Text Pro"/>
              </a:rPr>
              <a:t>Units by brand</a:t>
            </a:r>
            <a:endParaRPr sz="1100" b="0" dirty="0">
              <a:solidFill>
                <a:srgbClr val="000000"/>
              </a:solidFill>
              <a:latin typeface="Neue Haas Grotesk Text Pro"/>
            </a:endParaRPr>
          </a:p>
        </p:txBody>
      </p:sp>
      <p:graphicFrame>
        <p:nvGraphicFramePr>
          <p:cNvPr id="126" name="Chart 125">
            <a:extLst>
              <a:ext uri="{FF2B5EF4-FFF2-40B4-BE49-F238E27FC236}">
                <a16:creationId xmlns:a16="http://schemas.microsoft.com/office/drawing/2014/main" id="{C2141C4C-E850-F74D-8513-98344250A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61281"/>
              </p:ext>
            </p:extLst>
          </p:nvPr>
        </p:nvGraphicFramePr>
        <p:xfrm>
          <a:off x="5779331" y="2980364"/>
          <a:ext cx="6038695" cy="10851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8" name="TextBox 127">
            <a:extLst>
              <a:ext uri="{FF2B5EF4-FFF2-40B4-BE49-F238E27FC236}">
                <a16:creationId xmlns:a16="http://schemas.microsoft.com/office/drawing/2014/main" id="{C10D1A7C-2885-6A1E-3365-CDB0E22D0E6D}"/>
              </a:ext>
            </a:extLst>
          </p:cNvPr>
          <p:cNvSpPr txBox="1"/>
          <p:nvPr/>
        </p:nvSpPr>
        <p:spPr>
          <a:xfrm>
            <a:off x="5967194" y="4128126"/>
            <a:ext cx="116974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000000"/>
                </a:solidFill>
                <a:latin typeface="Neue Haas Grotesk Text Pro"/>
              </a:rPr>
              <a:t>Value by brand</a:t>
            </a:r>
            <a:endParaRPr sz="1100" b="0" dirty="0">
              <a:solidFill>
                <a:srgbClr val="000000"/>
              </a:solidFill>
              <a:latin typeface="Neue Haas Grotesk Text Pro"/>
            </a:endParaRPr>
          </a:p>
        </p:txBody>
      </p:sp>
      <p:graphicFrame>
        <p:nvGraphicFramePr>
          <p:cNvPr id="130" name="Chart 129">
            <a:extLst>
              <a:ext uri="{FF2B5EF4-FFF2-40B4-BE49-F238E27FC236}">
                <a16:creationId xmlns:a16="http://schemas.microsoft.com/office/drawing/2014/main" id="{EDBF7AE7-7ACF-FB49-E023-EF2C5956E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501607"/>
              </p:ext>
            </p:extLst>
          </p:nvPr>
        </p:nvGraphicFramePr>
        <p:xfrm>
          <a:off x="5795964" y="4372902"/>
          <a:ext cx="6022062" cy="106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33EF7742-26A4-2CFC-ADC5-A60D20CCF020}"/>
              </a:ext>
            </a:extLst>
          </p:cNvPr>
          <p:cNvSpPr txBox="1"/>
          <p:nvPr/>
        </p:nvSpPr>
        <p:spPr>
          <a:xfrm>
            <a:off x="7547070" y="4227453"/>
            <a:ext cx="20955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1E9E57"/>
                </a:solidFill>
                <a:latin typeface="Neue Haas Grotesk Text Pro"/>
              </a:rPr>
              <a:t>3 brands </a:t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holds 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>81% of value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09EA6F8-7E4F-7CBD-ABCA-6E51D84F6F05}"/>
              </a:ext>
            </a:extLst>
          </p:cNvPr>
          <p:cNvSpPr txBox="1"/>
          <p:nvPr/>
        </p:nvSpPr>
        <p:spPr>
          <a:xfrm>
            <a:off x="10796363" y="4270616"/>
            <a:ext cx="7952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6B6B6B"/>
                </a:solidFill>
                <a:latin typeface="Neue Haas Grotesk Text Pro"/>
              </a:rPr>
              <a:t>Others 19%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82E12A4-C6D0-D5BE-9B38-CA650152F202}"/>
              </a:ext>
            </a:extLst>
          </p:cNvPr>
          <p:cNvSpPr txBox="1"/>
          <p:nvPr/>
        </p:nvSpPr>
        <p:spPr>
          <a:xfrm>
            <a:off x="7343002" y="5492368"/>
            <a:ext cx="20955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1E9E57"/>
                </a:solidFill>
                <a:latin typeface="Neue Haas Grotesk Text Pro"/>
              </a:rPr>
              <a:t>3 brands = 86% of value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285A228-1855-BE6B-C47F-6CE024494C54}"/>
              </a:ext>
            </a:extLst>
          </p:cNvPr>
          <p:cNvSpPr txBox="1"/>
          <p:nvPr/>
        </p:nvSpPr>
        <p:spPr>
          <a:xfrm>
            <a:off x="10240825" y="5492368"/>
            <a:ext cx="20955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6B6B6B"/>
                </a:solidFill>
                <a:latin typeface="Neue Haas Grotesk Text Pro"/>
              </a:rPr>
              <a:t>Others 14%</a:t>
            </a:r>
          </a:p>
        </p:txBody>
      </p:sp>
      <p:sp>
        <p:nvSpPr>
          <p:cNvPr id="138" name="Left Brace 137">
            <a:extLst>
              <a:ext uri="{FF2B5EF4-FFF2-40B4-BE49-F238E27FC236}">
                <a16:creationId xmlns:a16="http://schemas.microsoft.com/office/drawing/2014/main" id="{E52027ED-6539-82C5-A86C-A1E69CC9367C}"/>
              </a:ext>
            </a:extLst>
          </p:cNvPr>
          <p:cNvSpPr/>
          <p:nvPr/>
        </p:nvSpPr>
        <p:spPr>
          <a:xfrm rot="5400000">
            <a:off x="8486801" y="2385240"/>
            <a:ext cx="255326" cy="4183270"/>
          </a:xfrm>
          <a:prstGeom prst="leftBrace">
            <a:avLst>
              <a:gd name="adj1" fmla="val 36507"/>
              <a:gd name="adj2" fmla="val 50000"/>
            </a:avLst>
          </a:prstGeom>
          <a:ln w="1270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0" name="Left Brace 139">
            <a:extLst>
              <a:ext uri="{FF2B5EF4-FFF2-40B4-BE49-F238E27FC236}">
                <a16:creationId xmlns:a16="http://schemas.microsoft.com/office/drawing/2014/main" id="{16C1CA7C-E018-24EA-11C9-96E7D718FBB8}"/>
              </a:ext>
            </a:extLst>
          </p:cNvPr>
          <p:cNvSpPr/>
          <p:nvPr/>
        </p:nvSpPr>
        <p:spPr>
          <a:xfrm rot="5400000">
            <a:off x="11088553" y="4010432"/>
            <a:ext cx="210876" cy="975784"/>
          </a:xfrm>
          <a:prstGeom prst="leftBrace">
            <a:avLst>
              <a:gd name="adj1" fmla="val 36507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1" name="Left Brace 140">
            <a:extLst>
              <a:ext uri="{FF2B5EF4-FFF2-40B4-BE49-F238E27FC236}">
                <a16:creationId xmlns:a16="http://schemas.microsoft.com/office/drawing/2014/main" id="{996EBD8F-5B11-D4CF-A7C5-5FC2C02EDEB5}"/>
              </a:ext>
            </a:extLst>
          </p:cNvPr>
          <p:cNvSpPr/>
          <p:nvPr/>
        </p:nvSpPr>
        <p:spPr>
          <a:xfrm rot="16200000">
            <a:off x="8637084" y="3085742"/>
            <a:ext cx="255325" cy="4483839"/>
          </a:xfrm>
          <a:prstGeom prst="leftBrace">
            <a:avLst>
              <a:gd name="adj1" fmla="val 46467"/>
              <a:gd name="adj2" fmla="val 50000"/>
            </a:avLst>
          </a:prstGeom>
          <a:ln w="1270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3" name="Left Brace 142">
            <a:extLst>
              <a:ext uri="{FF2B5EF4-FFF2-40B4-BE49-F238E27FC236}">
                <a16:creationId xmlns:a16="http://schemas.microsoft.com/office/drawing/2014/main" id="{F26F4179-0689-32D1-BBCC-5AA92EEDF99A}"/>
              </a:ext>
            </a:extLst>
          </p:cNvPr>
          <p:cNvSpPr/>
          <p:nvPr/>
        </p:nvSpPr>
        <p:spPr>
          <a:xfrm rot="16200000">
            <a:off x="11257192" y="4954354"/>
            <a:ext cx="174167" cy="675218"/>
          </a:xfrm>
          <a:prstGeom prst="leftBrace">
            <a:avLst>
              <a:gd name="adj1" fmla="val 36507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147" name="Table 146">
            <a:extLst>
              <a:ext uri="{FF2B5EF4-FFF2-40B4-BE49-F238E27FC236}">
                <a16:creationId xmlns:a16="http://schemas.microsoft.com/office/drawing/2014/main" id="{5CFE583F-BAA3-712A-A04C-4B7A16C11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476740"/>
              </p:ext>
            </p:extLst>
          </p:nvPr>
        </p:nvGraphicFramePr>
        <p:xfrm>
          <a:off x="5795962" y="5718634"/>
          <a:ext cx="6022062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1031">
                  <a:extLst>
                    <a:ext uri="{9D8B030D-6E8A-4147-A177-3AD203B41FA5}">
                      <a16:colId xmlns:a16="http://schemas.microsoft.com/office/drawing/2014/main" val="1666699809"/>
                    </a:ext>
                  </a:extLst>
                </a:gridCol>
                <a:gridCol w="3011031">
                  <a:extLst>
                    <a:ext uri="{9D8B030D-6E8A-4147-A177-3AD203B41FA5}">
                      <a16:colId xmlns:a16="http://schemas.microsoft.com/office/drawing/2014/main" val="2487551233"/>
                    </a:ext>
                  </a:extLst>
                </a:gridCol>
              </a:tblGrid>
              <a:tr h="180221">
                <a:tc>
                  <a:txBody>
                    <a:bodyPr/>
                    <a:lstStyle/>
                    <a:p>
                      <a:r>
                        <a:rPr lang="en-US" sz="800" dirty="0"/>
                        <a:t>Medium</a:t>
                      </a:r>
                      <a:endParaRPr lang="en-ID" sz="8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Heavy </a:t>
                      </a:r>
                      <a:endParaRPr lang="en-ID" sz="800" dirty="0"/>
                    </a:p>
                  </a:txBody>
                  <a:tcPr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1275002"/>
                  </a:ext>
                </a:extLst>
              </a:tr>
              <a:tr h="283205">
                <a:tc>
                  <a:txBody>
                    <a:bodyPr/>
                    <a:lstStyle/>
                    <a:p>
                      <a:pPr algn="l"/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+mn-lt"/>
                        </a:rPr>
                        <a:t>Sany </a:t>
                      </a: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Palfinger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+mn-lt"/>
                        </a:rPr>
                        <a:t>, XCMG and </a:t>
                      </a: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Palfinger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+mn-lt"/>
                        </a:rPr>
                        <a:t> holds</a:t>
                      </a:r>
                      <a:r>
                        <a:rPr lang="en-US" sz="700" b="0" dirty="0">
                          <a:solidFill>
                            <a:srgbClr val="0DA54F"/>
                          </a:solidFill>
                          <a:latin typeface="+mn-lt"/>
                        </a:rPr>
                        <a:t> </a:t>
                      </a:r>
                      <a:r>
                        <a:rPr lang="en-US" sz="700" b="1" dirty="0">
                          <a:solidFill>
                            <a:srgbClr val="0DA54F"/>
                          </a:solidFill>
                          <a:latin typeface="+mn-lt"/>
                        </a:rPr>
                        <a:t>82% of units</a:t>
                      </a:r>
                    </a:p>
                    <a:p>
                      <a:pPr algn="l"/>
                      <a:r>
                        <a:rPr lang="en-US" sz="700" b="1" dirty="0">
                          <a:solidFill>
                            <a:srgbClr val="0DA54F"/>
                          </a:solidFill>
                          <a:latin typeface="+mn-lt"/>
                        </a:rPr>
                        <a:t>and 81% of 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 err="1"/>
                        <a:t>Palfinger</a:t>
                      </a:r>
                      <a:r>
                        <a:rPr lang="en-US" sz="700" dirty="0"/>
                        <a:t>, Amco </a:t>
                      </a:r>
                      <a:r>
                        <a:rPr lang="en-US" sz="700" dirty="0" err="1"/>
                        <a:t>Veba</a:t>
                      </a:r>
                      <a:r>
                        <a:rPr lang="en-US" sz="700" dirty="0"/>
                        <a:t> and XCMG </a:t>
                      </a:r>
                      <a:r>
                        <a:rPr lang="en-US" sz="700" b="1" dirty="0">
                          <a:solidFill>
                            <a:srgbClr val="0DA54F"/>
                          </a:solidFill>
                        </a:rPr>
                        <a:t>holds 86% of value </a:t>
                      </a:r>
                    </a:p>
                    <a:p>
                      <a:r>
                        <a:rPr lang="en-US" sz="700" b="1" dirty="0">
                          <a:solidFill>
                            <a:srgbClr val="0DA54F"/>
                          </a:solidFill>
                        </a:rPr>
                        <a:t>and 85% of units</a:t>
                      </a:r>
                      <a:endParaRPr lang="en-ID" sz="700" b="1" dirty="0">
                        <a:solidFill>
                          <a:srgbClr val="0DA54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8258421"/>
                  </a:ext>
                </a:extLst>
              </a:tr>
            </a:tbl>
          </a:graphicData>
        </a:graphic>
      </p:graphicFrame>
      <p:pic>
        <p:nvPicPr>
          <p:cNvPr id="149" name="Picture 148" descr="sany_palfinger.png">
            <a:extLst>
              <a:ext uri="{FF2B5EF4-FFF2-40B4-BE49-F238E27FC236}">
                <a16:creationId xmlns:a16="http://schemas.microsoft.com/office/drawing/2014/main" id="{96111313-E48C-B8AB-84D1-EACBB2CC51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5710" y="5768831"/>
            <a:ext cx="641958" cy="136765"/>
          </a:xfrm>
          <a:prstGeom prst="rect">
            <a:avLst/>
          </a:prstGeom>
        </p:spPr>
      </p:pic>
      <p:pic>
        <p:nvPicPr>
          <p:cNvPr id="151" name="Picture 150" descr="xcmg.png">
            <a:extLst>
              <a:ext uri="{FF2B5EF4-FFF2-40B4-BE49-F238E27FC236}">
                <a16:creationId xmlns:a16="http://schemas.microsoft.com/office/drawing/2014/main" id="{472E6D75-DE52-5C41-751C-C8C237E542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4816" y="5768831"/>
            <a:ext cx="626405" cy="136765"/>
          </a:xfrm>
          <a:prstGeom prst="rect">
            <a:avLst/>
          </a:prstGeom>
        </p:spPr>
      </p:pic>
      <p:pic>
        <p:nvPicPr>
          <p:cNvPr id="153" name="Picture 152" descr="palfinger.png">
            <a:extLst>
              <a:ext uri="{FF2B5EF4-FFF2-40B4-BE49-F238E27FC236}">
                <a16:creationId xmlns:a16="http://schemas.microsoft.com/office/drawing/2014/main" id="{5D88FE20-2E0F-31F0-7201-29DCC8A109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8369" y="5768831"/>
            <a:ext cx="617593" cy="136765"/>
          </a:xfrm>
          <a:prstGeom prst="rect">
            <a:avLst/>
          </a:prstGeom>
        </p:spPr>
      </p:pic>
      <p:pic>
        <p:nvPicPr>
          <p:cNvPr id="155" name="Picture 154" descr="palfinger.png">
            <a:extLst>
              <a:ext uri="{FF2B5EF4-FFF2-40B4-BE49-F238E27FC236}">
                <a16:creationId xmlns:a16="http://schemas.microsoft.com/office/drawing/2014/main" id="{682FE7A6-E507-8D11-70FE-F5AE4FC4D7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7025" y="5766562"/>
            <a:ext cx="627839" cy="139034"/>
          </a:xfrm>
          <a:prstGeom prst="rect">
            <a:avLst/>
          </a:prstGeom>
        </p:spPr>
      </p:pic>
      <p:pic>
        <p:nvPicPr>
          <p:cNvPr id="157" name="Picture 156" descr="amco_veba.png">
            <a:extLst>
              <a:ext uri="{FF2B5EF4-FFF2-40B4-BE49-F238E27FC236}">
                <a16:creationId xmlns:a16="http://schemas.microsoft.com/office/drawing/2014/main" id="{7CC7B26B-8981-25BE-E2EE-613D707185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2016" y="5766562"/>
            <a:ext cx="621308" cy="139034"/>
          </a:xfrm>
          <a:prstGeom prst="rect">
            <a:avLst/>
          </a:prstGeom>
        </p:spPr>
      </p:pic>
      <p:pic>
        <p:nvPicPr>
          <p:cNvPr id="159" name="Picture 158" descr="xcmg.png">
            <a:extLst>
              <a:ext uri="{FF2B5EF4-FFF2-40B4-BE49-F238E27FC236}">
                <a16:creationId xmlns:a16="http://schemas.microsoft.com/office/drawing/2014/main" id="{C80AE8A2-0D6D-8454-34D9-C18A478696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0476" y="5766562"/>
            <a:ext cx="636797" cy="139034"/>
          </a:xfrm>
          <a:prstGeom prst="rect">
            <a:avLst/>
          </a:prstGeom>
        </p:spPr>
      </p:pic>
      <p:sp>
        <p:nvSpPr>
          <p:cNvPr id="161" name="Left Brace 160">
            <a:extLst>
              <a:ext uri="{FF2B5EF4-FFF2-40B4-BE49-F238E27FC236}">
                <a16:creationId xmlns:a16="http://schemas.microsoft.com/office/drawing/2014/main" id="{A311D6C7-92FB-EBDE-5B86-B8855B23EB29}"/>
              </a:ext>
            </a:extLst>
          </p:cNvPr>
          <p:cNvSpPr/>
          <p:nvPr/>
        </p:nvSpPr>
        <p:spPr>
          <a:xfrm rot="5400000">
            <a:off x="8362009" y="851770"/>
            <a:ext cx="247413" cy="4406901"/>
          </a:xfrm>
          <a:prstGeom prst="leftBrace">
            <a:avLst>
              <a:gd name="adj1" fmla="val 36507"/>
              <a:gd name="adj2" fmla="val 50000"/>
            </a:avLst>
          </a:prstGeom>
          <a:ln w="1270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2E78F0C-333D-5D04-31CF-EF2697243907}"/>
              </a:ext>
            </a:extLst>
          </p:cNvPr>
          <p:cNvSpPr txBox="1"/>
          <p:nvPr/>
        </p:nvSpPr>
        <p:spPr>
          <a:xfrm>
            <a:off x="7437965" y="2777267"/>
            <a:ext cx="20955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3 brands holds 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>8</a:t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2%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> of </a:t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Unit</a:t>
            </a:r>
            <a:endParaRPr sz="900" b="1" dirty="0">
              <a:solidFill>
                <a:srgbClr val="1E9E57"/>
              </a:solidFill>
              <a:latin typeface="Neue Haas Grotesk Text Pro"/>
            </a:endParaRPr>
          </a:p>
        </p:txBody>
      </p:sp>
      <p:sp>
        <p:nvSpPr>
          <p:cNvPr id="165" name="Left Brace 164">
            <a:extLst>
              <a:ext uri="{FF2B5EF4-FFF2-40B4-BE49-F238E27FC236}">
                <a16:creationId xmlns:a16="http://schemas.microsoft.com/office/drawing/2014/main" id="{EDC725DE-539B-0F60-0DFD-64693ED74BB1}"/>
              </a:ext>
            </a:extLst>
          </p:cNvPr>
          <p:cNvSpPr/>
          <p:nvPr/>
        </p:nvSpPr>
        <p:spPr>
          <a:xfrm rot="5400000">
            <a:off x="11053815" y="2567328"/>
            <a:ext cx="255323" cy="975784"/>
          </a:xfrm>
          <a:prstGeom prst="leftBrace">
            <a:avLst>
              <a:gd name="adj1" fmla="val 36507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DFAAF1F-D0F3-8C57-C17A-23E17908653B}"/>
              </a:ext>
            </a:extLst>
          </p:cNvPr>
          <p:cNvSpPr txBox="1"/>
          <p:nvPr/>
        </p:nvSpPr>
        <p:spPr>
          <a:xfrm>
            <a:off x="10133726" y="2760586"/>
            <a:ext cx="20955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1" dirty="0">
                <a:latin typeface="Neue Haas Grotesk Text Pro"/>
              </a:rPr>
              <a:t>18% of Unit</a:t>
            </a:r>
            <a:endParaRPr sz="900" b="1" dirty="0">
              <a:latin typeface="Neue Haas Grotesk Text Pro"/>
            </a:endParaRPr>
          </a:p>
        </p:txBody>
      </p:sp>
      <p:sp>
        <p:nvSpPr>
          <p:cNvPr id="169" name="Left Brace 168">
            <a:extLst>
              <a:ext uri="{FF2B5EF4-FFF2-40B4-BE49-F238E27FC236}">
                <a16:creationId xmlns:a16="http://schemas.microsoft.com/office/drawing/2014/main" id="{89BF6894-C42E-2646-6E84-DA3A40EE0052}"/>
              </a:ext>
            </a:extLst>
          </p:cNvPr>
          <p:cNvSpPr/>
          <p:nvPr/>
        </p:nvSpPr>
        <p:spPr>
          <a:xfrm rot="16200000">
            <a:off x="8487376" y="1654620"/>
            <a:ext cx="161008" cy="4559016"/>
          </a:xfrm>
          <a:prstGeom prst="leftBrace">
            <a:avLst>
              <a:gd name="adj1" fmla="val 36507"/>
              <a:gd name="adj2" fmla="val 50000"/>
            </a:avLst>
          </a:prstGeom>
          <a:ln w="1270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7DAC795-980D-85F7-BCCD-480382C5C642}"/>
              </a:ext>
            </a:extLst>
          </p:cNvPr>
          <p:cNvSpPr txBox="1"/>
          <p:nvPr/>
        </p:nvSpPr>
        <p:spPr>
          <a:xfrm>
            <a:off x="7520130" y="4021425"/>
            <a:ext cx="20955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3 brands holds 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>8</a:t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5%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> of </a:t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Unit</a:t>
            </a:r>
            <a:endParaRPr sz="900" b="1" dirty="0">
              <a:solidFill>
                <a:srgbClr val="1E9E57"/>
              </a:solidFill>
              <a:latin typeface="Neue Haas Grotesk Text Pro"/>
            </a:endParaRPr>
          </a:p>
        </p:txBody>
      </p:sp>
      <p:sp>
        <p:nvSpPr>
          <p:cNvPr id="175" name="Left Brace 174">
            <a:extLst>
              <a:ext uri="{FF2B5EF4-FFF2-40B4-BE49-F238E27FC236}">
                <a16:creationId xmlns:a16="http://schemas.microsoft.com/office/drawing/2014/main" id="{A823FCEA-B28A-8C73-9746-C772DC83EAEC}"/>
              </a:ext>
            </a:extLst>
          </p:cNvPr>
          <p:cNvSpPr/>
          <p:nvPr/>
        </p:nvSpPr>
        <p:spPr>
          <a:xfrm rot="16200000">
            <a:off x="11176588" y="3509335"/>
            <a:ext cx="161008" cy="824554"/>
          </a:xfrm>
          <a:prstGeom prst="leftBrace">
            <a:avLst>
              <a:gd name="adj1" fmla="val 36507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1F203EE-7813-4007-3F81-CAA6FAD05D3C}"/>
              </a:ext>
            </a:extLst>
          </p:cNvPr>
          <p:cNvSpPr txBox="1"/>
          <p:nvPr/>
        </p:nvSpPr>
        <p:spPr>
          <a:xfrm>
            <a:off x="10859464" y="4002116"/>
            <a:ext cx="7952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6B6B6B"/>
                </a:solidFill>
                <a:latin typeface="Neue Haas Grotesk Text Pro"/>
              </a:rPr>
              <a:t>Others 1</a:t>
            </a:r>
            <a:r>
              <a:rPr lang="en-US" sz="900" b="1" dirty="0">
                <a:solidFill>
                  <a:srgbClr val="6B6B6B"/>
                </a:solidFill>
                <a:latin typeface="Neue Haas Grotesk Text Pro"/>
              </a:rPr>
              <a:t>5</a:t>
            </a:r>
            <a:r>
              <a:rPr sz="900" b="1" dirty="0">
                <a:solidFill>
                  <a:srgbClr val="6B6B6B"/>
                </a:solidFill>
                <a:latin typeface="Neue Haas Grotesk Text Pro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2569113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0524991" cy="587067"/>
            <a:chOff x="347225" y="685795"/>
            <a:chExt cx="10524991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Medium Class: Where to Focus/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6814687" y="685795"/>
              <a:ext cx="286271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Which tiers hold the value? </a:t>
              </a:r>
              <a:br>
                <a:rPr lang="en-US" sz="1600" b="1" dirty="0"/>
              </a:br>
              <a:r>
                <a:rPr lang="en-US" sz="1600" b="1" dirty="0"/>
                <a:t>Which models do we fight?</a:t>
              </a: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Medium: focus on 30–40 tm, where two tiers hold 69% of Medium value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Take on HIAB X-CLX 388 with FBR350R A4 and Palfinger PK 41002 with 7441C.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342900" y="2247900"/>
            <a:ext cx="3752850" cy="6096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6250" y="2362200"/>
            <a:ext cx="1428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E9E57"/>
                </a:solidFill>
                <a:latin typeface="Neue Haas Grotesk Text Pro"/>
              </a:rPr>
              <a:t>69%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3100" y="2324100"/>
            <a:ext cx="20383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of Medium value sits in 30–35 tm (34%) and 35–40 tm (34%)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10050" y="2247900"/>
            <a:ext cx="3752850" cy="6096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3400" y="2362200"/>
            <a:ext cx="1428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E9E57"/>
                </a:solidFill>
                <a:latin typeface="Neue Haas Grotesk Text Pro"/>
              </a:rPr>
              <a:t>14–25%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10250" y="2324100"/>
            <a:ext cx="20383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F.lli Ferrari is cheaper than the top 1 model in both tiers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7200" y="2247900"/>
            <a:ext cx="3752850" cy="6096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10550" y="2362200"/>
            <a:ext cx="1428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E9E57"/>
                </a:solidFill>
                <a:latin typeface="Neue Haas Grotesk Text Pro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77400" y="2324100"/>
            <a:ext cx="20383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models to beat, HIAB X-CLX 388 and Palfinger PK 41002, with equal or better features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" y="3028950"/>
            <a:ext cx="447675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% of Medium import value by tier, and top 1 model</a:t>
            </a:r>
          </a:p>
        </p:txBody>
      </p: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342900" y="3200400"/>
          <a:ext cx="4476750" cy="3181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7" name="Left Brace 46"/>
          <p:cNvSpPr/>
          <p:nvPr/>
        </p:nvSpPr>
        <p:spPr>
          <a:xfrm rot="5400000">
            <a:off x="2486025" y="3185851"/>
            <a:ext cx="190500" cy="1822132"/>
          </a:xfrm>
          <a:prstGeom prst="leftBrac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289209" y="3620667"/>
            <a:ext cx="2584132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1E9E57"/>
                </a:solidFill>
                <a:latin typeface="Neue Haas Grotesk Text Pro"/>
              </a:rPr>
              <a:t>69% of Medium value
</a:t>
            </a:r>
            <a:r>
              <a:rPr sz="1200" b="0">
                <a:solidFill>
                  <a:srgbClr val="000000"/>
                </a:solidFill>
                <a:latin typeface="Neue Haas Grotesk Text Pro"/>
              </a:rPr>
              <a:t>142 of 214 units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8250" y="3028950"/>
            <a:ext cx="67818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Head to head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2900" y="6457950"/>
            <a:ext cx="1148715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0">
                <a:solidFill>
                  <a:srgbClr val="6B6B6B"/>
                </a:solidFill>
                <a:latin typeface="Neue Haas Grotesk Text Pro"/>
              </a:rPr>
              <a:t>Source: Crane Market GVW Pairing v11 (Noir), Jan 2023 – 14 Aug 2026; Hyva excluded; tier by original max lifting moment. Prices as on the Medium table slide (Rp 17.803/USD, incl. duty and import tax; 7441C estimate). Features: Hiab, Palfinger and F.lli Ferrari product pages and brochures; HIAB X-CLX 388 is manual control with optional remote. *Not yet verified on the FBR350R A4 datasheet.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6530D8-5850-F3A1-9F26-5727F8ADE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835116"/>
              </p:ext>
            </p:extLst>
          </p:nvPr>
        </p:nvGraphicFramePr>
        <p:xfrm>
          <a:off x="5048250" y="3200401"/>
          <a:ext cx="6781800" cy="293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859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+mj-lt"/>
                        </a:rPr>
                        <a:t>Top 1 model</a:t>
                      </a:r>
                    </a:p>
                  </a:txBody>
                  <a:tcPr marL="76200" marR="76200" marT="38100" marB="38100" anchor="ctr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+mj-lt"/>
                        </a:rPr>
                        <a:t>F.lli Ferrari</a:t>
                      </a:r>
                    </a:p>
                  </a:txBody>
                  <a:tcPr marL="76200" marR="76200" marT="38100" marB="38100" anchor="ctr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+mj-lt"/>
                        </a:rPr>
                        <a:t>Equal features</a:t>
                      </a:r>
                    </a:p>
                  </a:txBody>
                  <a:tcPr marL="76200" marR="76200" marT="38100" marB="38100" anchor="ctr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+mj-lt"/>
                        </a:rPr>
                        <a:t>Ferrari only</a:t>
                      </a:r>
                    </a:p>
                  </a:txBody>
                  <a:tcPr marL="76200" marR="76200" marT="38100" marB="38100" anchor="ctr">
                    <a:solidFill>
                      <a:srgbClr val="0B4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084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000000"/>
                          </a:solidFill>
                          <a:latin typeface="+mj-lt"/>
                        </a:rPr>
                        <a:t>HIAB X-CLX 388 (34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+mj-lt"/>
                        </a:rPr>
                        <a:t>Rp 1.460.000.000</a:t>
                      </a:r>
                    </a:p>
                  </a:txBody>
                  <a:tcPr marL="76200" marR="76200" marT="38100" marB="3810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000000"/>
                          </a:solidFill>
                          <a:latin typeface="+mj-lt"/>
                        </a:rPr>
                        <a:t>FBR350R A4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+mj-lt"/>
                        </a:rPr>
                        <a:t>Rp 1.090.000.000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1E9E57"/>
                          </a:solidFill>
                          <a:latin typeface="+mj-lt"/>
                        </a:rPr>
                        <a:t>25% cheaper</a:t>
                      </a:r>
                    </a:p>
                  </a:txBody>
                  <a:tcPr marL="76200" marR="76200" marT="38100" marB="3810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+mj-lt"/>
                        </a:rPr>
                        <a:t>• Radio remote control</a:t>
                      </a:r>
                    </a:p>
                  </a:txBody>
                  <a:tcPr marL="76200" marR="76200" marT="38100" marB="3810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+mj-lt"/>
                        </a:rPr>
                        <a:t>• Magic Touch auto fold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+mj-lt"/>
                        </a:rPr>
                        <a:t>• Dynamic Load Diagram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+mj-lt"/>
                        </a:rPr>
                        <a:t>• Double linkage, power boost*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+mj-lt"/>
                        </a:rPr>
                        <a:t>• Electronic control (HIAB: manual)</a:t>
                      </a:r>
                    </a:p>
                  </a:txBody>
                  <a:tcPr marL="76200" marR="76200" marT="38100" marB="3810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29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 err="1">
                          <a:solidFill>
                            <a:srgbClr val="000000"/>
                          </a:solidFill>
                          <a:latin typeface="+mj-lt"/>
                        </a:rPr>
                        <a:t>Palfinger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  <a:latin typeface="+mj-lt"/>
                        </a:rPr>
                        <a:t> PK 41002 (38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+mj-lt"/>
                        </a:rPr>
                        <a:t>Rp1.440.000.000</a:t>
                      </a:r>
                    </a:p>
                  </a:txBody>
                  <a:tcPr marL="76200" marR="76200" marT="38100" marB="381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000000"/>
                          </a:solidFill>
                          <a:latin typeface="+mj-lt"/>
                        </a:rPr>
                        <a:t>7441C (44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+mj-lt"/>
                        </a:rPr>
                        <a:t>Rp 1.240.000.000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1E9E57"/>
                          </a:solidFill>
                          <a:latin typeface="+mj-lt"/>
                        </a:rPr>
                        <a:t>14% cheaper</a:t>
                      </a:r>
                    </a:p>
                  </a:txBody>
                  <a:tcPr marL="76200" marR="76200" marT="38100" marB="381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000" dirty="0">
                          <a:latin typeface="+mj-lt"/>
                        </a:rPr>
                        <a:t>Double linkage (Red Power = Power Link Plus)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000" dirty="0">
                          <a:latin typeface="+mj-lt"/>
                        </a:rPr>
                        <a:t>Power boost </a:t>
                      </a:r>
                      <a:br>
                        <a:rPr lang="en-ID" sz="1000" dirty="0">
                          <a:latin typeface="+mj-lt"/>
                        </a:rPr>
                      </a:br>
                      <a:r>
                        <a:rPr lang="en-ID" sz="1000" dirty="0">
                          <a:latin typeface="+mj-lt"/>
                        </a:rPr>
                        <a:t>(PPB = HPLS)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000" dirty="0">
                          <a:latin typeface="+mj-lt"/>
                        </a:rPr>
                        <a:t>Elektronik </a:t>
                      </a:r>
                      <a:br>
                        <a:rPr lang="en-ID" sz="1000" dirty="0">
                          <a:latin typeface="+mj-lt"/>
                        </a:rPr>
                      </a:br>
                      <a:r>
                        <a:rPr lang="en-ID" sz="1000" dirty="0">
                          <a:latin typeface="+mj-lt"/>
                        </a:rPr>
                        <a:t>(ECM = </a:t>
                      </a:r>
                      <a:r>
                        <a:rPr lang="en-ID" sz="1000" dirty="0" err="1">
                          <a:latin typeface="+mj-lt"/>
                        </a:rPr>
                        <a:t>Paltronic</a:t>
                      </a:r>
                      <a:r>
                        <a:rPr lang="en-ID" sz="1000" dirty="0">
                          <a:latin typeface="+mj-lt"/>
                        </a:rPr>
                        <a:t>)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000" dirty="0" err="1">
                          <a:latin typeface="+mj-lt"/>
                        </a:rPr>
                        <a:t>Stabilitas</a:t>
                      </a:r>
                      <a:r>
                        <a:rPr lang="en-ID" sz="1000" dirty="0">
                          <a:latin typeface="+mj-lt"/>
                        </a:rPr>
                        <a:t> </a:t>
                      </a:r>
                      <a:br>
                        <a:rPr lang="en-ID" sz="1000" dirty="0">
                          <a:latin typeface="+mj-lt"/>
                        </a:rPr>
                      </a:br>
                      <a:r>
                        <a:rPr lang="en-ID" sz="1000" dirty="0">
                          <a:latin typeface="+mj-lt"/>
                        </a:rPr>
                        <a:t>(Dynamic Load </a:t>
                      </a:r>
                      <a:br>
                        <a:rPr lang="en-ID" sz="1000" dirty="0">
                          <a:latin typeface="+mj-lt"/>
                        </a:rPr>
                      </a:br>
                      <a:r>
                        <a:rPr lang="en-ID" sz="1000" dirty="0">
                          <a:latin typeface="+mj-lt"/>
                        </a:rPr>
                        <a:t>Diagram = HPSC)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endParaRPr sz="1000" b="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76200" marR="76200" marT="38100" marB="381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+mj-lt"/>
                        </a:rPr>
                        <a:t>• Magic Touch auto fold</a:t>
                      </a:r>
                    </a:p>
                  </a:txBody>
                  <a:tcPr marL="76200" marR="76200" marT="38100" marB="381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1F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7" name="Connector 29">
            <a:extLst>
              <a:ext uri="{FF2B5EF4-FFF2-40B4-BE49-F238E27FC236}">
                <a16:creationId xmlns:a16="http://schemas.microsoft.com/office/drawing/2014/main" id="{8DA5A887-320E-491A-FDF3-DD0D8E72551B}"/>
              </a:ext>
            </a:extLst>
          </p:cNvPr>
          <p:cNvCxnSpPr>
            <a:cxnSpLocks/>
          </p:cNvCxnSpPr>
          <p:nvPr/>
        </p:nvCxnSpPr>
        <p:spPr>
          <a:xfrm>
            <a:off x="4898409" y="2867025"/>
            <a:ext cx="0" cy="3600450"/>
          </a:xfrm>
          <a:prstGeom prst="line">
            <a:avLst/>
          </a:prstGeom>
          <a:ln w="254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53F4C87A-2D4D-B9D6-53E0-28B3AA3B2AAA}"/>
              </a:ext>
            </a:extLst>
          </p:cNvPr>
          <p:cNvSpPr/>
          <p:nvPr/>
        </p:nvSpPr>
        <p:spPr>
          <a:xfrm>
            <a:off x="4743450" y="3713791"/>
            <a:ext cx="304800" cy="304800"/>
          </a:xfrm>
          <a:prstGeom prst="ellipse">
            <a:avLst/>
          </a:prstGeom>
          <a:solidFill>
            <a:srgbClr val="1E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Neue Haas Grotesk Text Pro"/>
              </a:rPr>
              <a:t>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926D80-E9CD-42FE-82F3-4ECE08066669}">
  <we:reference id="WA200011549" version="1.0.0.0" store="Omex" storeType="OMEX"/>
  <we:alternateReferences>
    <we:reference id="WA200011549" version="1.0.0.0" store="WA20001154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4491</TotalTime>
  <Words>2771</Words>
  <Application>Microsoft Office PowerPoint</Application>
  <PresentationFormat>Widescreen</PresentationFormat>
  <Paragraphs>574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Neue Haas Grotesk Text Pro</vt:lpstr>
      <vt:lpstr>Neue Haas Grotesk Text Pro (Body)</vt:lpstr>
      <vt:lpstr>Southwestern</vt:lpstr>
      <vt:lpstr>New Employee Development Program</vt:lpstr>
      <vt:lpstr>My Education &amp; Working Experience</vt:lpstr>
      <vt:lpstr>PowerPoint Presentation</vt:lpstr>
      <vt:lpstr>PowerPoint Presentation</vt:lpstr>
      <vt:lpstr>Quote</vt:lpstr>
      <vt:lpstr>Quote</vt:lpstr>
      <vt:lpstr>Marketing Strategic 2 Associate</vt:lpstr>
      <vt:lpstr>PowerPoint Presentation</vt:lpstr>
      <vt:lpstr>PowerPoint Presentation</vt:lpstr>
      <vt:lpstr>PowerPoint Presentation</vt:lpstr>
      <vt:lpstr>Quote</vt:lpstr>
      <vt:lpstr>Quote</vt:lpstr>
      <vt:lpstr>Quote</vt:lpstr>
      <vt:lpstr>Quote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5</cp:revision>
  <dcterms:created xsi:type="dcterms:W3CDTF">2026-10-16T02:49:26Z</dcterms:created>
  <dcterms:modified xsi:type="dcterms:W3CDTF">2026-10-19T05:44:41Z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