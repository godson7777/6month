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8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8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13.295229483419995</c:v>
                </c:pt>
                <c:pt idx="1">
                  <c:v>14.541978558259999</c:v>
                </c:pt>
                <c:pt idx="2">
                  <c:v>5.69977162779</c:v>
                </c:pt>
                <c:pt idx="3">
                  <c:v>5.530763120010001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21.26507570558</c:v>
                </c:pt>
                <c:pt idx="1">
                  <c:v>17.594251991679997</c:v>
                </c:pt>
                <c:pt idx="2">
                  <c:v>18.313175230099997</c:v>
                </c:pt>
                <c:pt idx="3">
                  <c:v>7.96980954798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42.92662938403001</c:v>
                </c:pt>
                <c:pt idx="1">
                  <c:v>47.26115890760997</c:v>
                </c:pt>
                <c:pt idx="2">
                  <c:v>30.345475204100005</c:v>
                </c:pt>
                <c:pt idx="3">
                  <c:v>5.95206488396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15.856753430189999</c:v>
                </c:pt>
                <c:pt idx="1">
                  <c:v>25.598829196390003</c:v>
                </c:pt>
                <c:pt idx="2">
                  <c:v>48.03399870955999</c:v>
                </c:pt>
                <c:pt idx="3">
                  <c:v>1.6646079166199999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Crane Market 2023–2026/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market, 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Indonesia imports about 188 folding cranes a year, worth Rp 100 Bio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Jan 2023 to 14 Aug 2026 the market took 636 units worth Rp 321,8 Bio, and every class sells every year.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28850"/>
            <a:ext cx="3752850" cy="5905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250" y="2286000"/>
            <a:ext cx="3486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9E57"/>
                </a:solidFill>
                <a:latin typeface="Neue Haas Grotesk Text Pro"/>
              </a:rPr>
              <a:t>636 units</a:t>
            </a:r>
            <a:r>
              <a:rPr sz="1600" b="0">
                <a:solidFill>
                  <a:srgbClr val="7F7F7F"/>
                </a:solidFill>
                <a:latin typeface="Neue Haas Grotesk Text Pro"/>
              </a:rPr>
              <a:t>   ·   </a:t>
            </a:r>
            <a:r>
              <a:rPr sz="2000" b="1">
                <a:solidFill>
                  <a:srgbClr val="1E9E57"/>
                </a:solidFill>
                <a:latin typeface="Neue Haas Grotesk Text Pro"/>
              </a:rPr>
              <a:t>Rp 321,8 Bio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" y="2590800"/>
            <a:ext cx="34861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Total imports, Jan 2023 – 14 Aug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28850"/>
            <a:ext cx="3752850" cy="5905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2286000"/>
            <a:ext cx="3486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9E57"/>
                </a:solidFill>
                <a:latin typeface="Neue Haas Grotesk Text Pro"/>
              </a:rPr>
              <a:t>188 units</a:t>
            </a:r>
            <a:r>
              <a:rPr sz="1600" b="0">
                <a:solidFill>
                  <a:srgbClr val="7F7F7F"/>
                </a:solidFill>
                <a:latin typeface="Neue Haas Grotesk Text Pro"/>
              </a:rPr>
              <a:t>   ·   </a:t>
            </a:r>
            <a:r>
              <a:rPr sz="2000" b="1">
                <a:solidFill>
                  <a:srgbClr val="1E9E57"/>
                </a:solidFill>
                <a:latin typeface="Neue Haas Grotesk Text Pro"/>
              </a:rPr>
              <a:t>Rp 100,2 Bio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2590800"/>
            <a:ext cx="34861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Average per year, 2023 – 2025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28850"/>
            <a:ext cx="3752850" cy="590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0550" y="2286000"/>
            <a:ext cx="3486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595959"/>
                </a:solidFill>
                <a:latin typeface="Neue Haas Grotesk Text Pro"/>
              </a:rPr>
              <a:t>73 units</a:t>
            </a:r>
            <a:r>
              <a:rPr sz="1600" b="0">
                <a:solidFill>
                  <a:srgbClr val="7F7F7F"/>
                </a:solidFill>
                <a:latin typeface="Neue Haas Grotesk Text Pro"/>
              </a:rPr>
              <a:t>   ·   </a:t>
            </a:r>
            <a:r>
              <a:rPr sz="2000" b="1">
                <a:solidFill>
                  <a:srgbClr val="595959"/>
                </a:solidFill>
                <a:latin typeface="Neue Haas Grotesk Text Pro"/>
              </a:rPr>
              <a:t>Rp 21,1 Bio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0550" y="2590800"/>
            <a:ext cx="34861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2026 so far, Jan – 14 Aug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" y="2971800"/>
            <a:ext cx="561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Units imported per year, by class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342900" y="3181350"/>
          <a:ext cx="5619750" cy="29337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642461" y="349213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35004" y="3612794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27546" y="3612794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0089" y="4830407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0300" y="2971800"/>
            <a:ext cx="561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Import value per year, by class (Rp Bio)</a:t>
            </a:r>
          </a:p>
        </p:txBody>
      </p:sp>
      <p:graphicFrame>
        <p:nvGraphicFramePr>
          <p:cNvPr id="52" name="Chart 51"/>
          <p:cNvGraphicFramePr>
            <a:graphicFrameLocks noGrp="1"/>
          </p:cNvGraphicFramePr>
          <p:nvPr/>
        </p:nvGraphicFramePr>
        <p:xfrm>
          <a:off x="6210300" y="3181350"/>
          <a:ext cx="5619750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509861" y="3747144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Rp 93,3 Bio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2404" y="3511951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Rp 105,0 Bio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4946" y="3564506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Rp 102,4 Bio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87489" y="5204953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Rp 21,1 Bio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57500" y="6200775"/>
            <a:ext cx="114300" cy="11430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28950" y="6181725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67250" y="6200775"/>
            <a:ext cx="114300" cy="11430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38700" y="6181725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Small (&gt; 8 – 25 tm)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77000" y="6200775"/>
            <a:ext cx="114300" cy="1143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48450" y="6181725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Medium (&gt; 25 – 45 tm)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6750" y="6200775"/>
            <a:ext cx="114300" cy="11430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58200" y="6181725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" y="64198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Indonesia import records Jan 2023 – 14 Aug 2026; folding (knuckle boom) cranes only. Excluded: all rows in the Noir "Excluded Rows" sheet (telescopic/stiff boom, grabber, forestry, parts, generic models), Hyva, Zoomlion, HIAB 19000XG and 6000XG (grabber), Tadano TM-Z series (telescopic), and two Palfinger records with invalid prices (USD 2.000 and 2.680 per unit). Value = import value before tax × Rp 17.803/USD (JISDOR 23 Sep 2026). Class by max lifting moment, rounded, per Application Engineering. Average per year uses the full years 2023 – 2025. *2026: Jan – 14 Aug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