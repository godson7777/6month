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3"/>
          <c:w val="0.98"/>
          <c:h val="0.88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DEFD9"/>
            </a:solidFill>
          </c:spPr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000000"/>
                    </a:solidFill>
                    <a:latin typeface="Neue Haas Grotesk Text Pr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54</c:v>
                </c:pt>
                <c:pt idx="1">
                  <c:v>49</c:v>
                </c:pt>
                <c:pt idx="2">
                  <c:v>37</c:v>
                </c:pt>
                <c:pt idx="3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74CC95"/>
            </a:solidFill>
          </c:spPr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000000"/>
                    </a:solidFill>
                    <a:latin typeface="Neue Haas Grotesk Text Pr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57</c:v>
                </c:pt>
                <c:pt idx="1">
                  <c:v>49</c:v>
                </c:pt>
                <c:pt idx="2">
                  <c:v>53</c:v>
                </c:pt>
                <c:pt idx="3">
                  <c:v>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</c:spPr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Neue Haas Grotesk Text Pr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72</c:v>
                </c:pt>
                <c:pt idx="1">
                  <c:v>69</c:v>
                </c:pt>
                <c:pt idx="2">
                  <c:v>59</c:v>
                </c:pt>
                <c:pt idx="3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</c:spPr>
          <c:dLbls>
            <c:dLbl>
              <c:idx val="3"/>
              <c:delete val="1"/>
            </c:dLbl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Neue Haas Grotesk Text Pr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Sheet1!$E$2:$E$5</c:f>
              <c:numCache>
                <c:formatCode>0</c:formatCode>
                <c:ptCount val="4"/>
                <c:pt idx="0">
                  <c:v>12</c:v>
                </c:pt>
                <c:pt idx="1">
                  <c:v>17</c:v>
                </c:pt>
                <c:pt idx="2">
                  <c:v>35</c:v>
                </c:pt>
                <c:pt idx="3">
                  <c:v>1</c:v>
                </c:pt>
              </c:numCache>
            </c:numRef>
          </c:val>
        </c:ser>
        <c:gapWidth val="75"/>
        <c:overlap val="100"/>
        <c:serLines>
          <c:spPr>
            <a:ln w="6350">
              <a:solidFill>
                <a:srgbClr val="808080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05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2"/>
          <c:w val="0.96"/>
          <c:h val="0.89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DEFD9"/>
            </a:solidFill>
          </c:spPr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174 units</a:t>
                    </a:r>
                  </a:p>
                  <a:p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27%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Rp 39,1 Bio</a:t>
                    </a:r>
                  </a:p>
                  <a:p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27% → 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0.27358490566037735</c:v>
                </c:pt>
                <c:pt idx="1">
                  <c:v>0.12138510061639468</c:v>
                </c:pt>
                <c:pt idx="2">
                  <c:v>0.12138510061639468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74CC95"/>
            </a:solidFill>
          </c:spPr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184 units</a:t>
                    </a:r>
                  </a:p>
                  <a:p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29%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Rp 65,1 Bio</a:t>
                    </a:r>
                  </a:p>
                  <a:p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20%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000000"/>
                        </a:solidFill>
                        <a:latin typeface="Neue Haas Grotesk Text Pro"/>
                      </a:rPr>
                      <a:t>29% → 20%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0.2893081761006289</c:v>
                </c:pt>
                <c:pt idx="1">
                  <c:v>0.20239987236562373</c:v>
                </c:pt>
                <c:pt idx="2">
                  <c:v>0.20239987236562373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</c:spPr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213 units</a:t>
                    </a:r>
                  </a:p>
                  <a:p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33%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Rp 126,5 Bio</a:t>
                    </a:r>
                  </a:p>
                  <a:p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39%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33% → 39%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Sheet1!$D$2:$D$4</c:f>
              <c:numCache>
                <c:formatCode>0</c:formatCode>
                <c:ptCount val="3"/>
                <c:pt idx="0">
                  <c:v>0.33490566037735847</c:v>
                </c:pt>
                <c:pt idx="1">
                  <c:v>0.39299517237535203</c:v>
                </c:pt>
                <c:pt idx="2">
                  <c:v>0.39299517237535203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</c:spPr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65 units</a:t>
                    </a:r>
                  </a:p>
                  <a:p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Rp 91,2 Bio</a:t>
                    </a:r>
                  </a:p>
                  <a:p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28%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sz="1050" b="1">
                        <a:solidFill>
                          <a:srgbClr val="FFFFFF"/>
                        </a:solidFill>
                        <a:latin typeface="Neue Haas Grotesk Text Pro"/>
                      </a:rPr>
                      <a:t>10% → 28%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Units → value</c:v>
                </c:pt>
              </c:strCache>
            </c:strRef>
          </c:cat>
          <c:val>
            <c:numRef>
              <c:f>Sheet1!$E$2:$E$4</c:f>
              <c:numCache>
                <c:formatCode>0</c:formatCode>
                <c:ptCount val="3"/>
                <c:pt idx="0">
                  <c:v>0.10220125786163523</c:v>
                </c:pt>
                <c:pt idx="1">
                  <c:v>0.2832198546426293</c:v>
                </c:pt>
                <c:pt idx="2">
                  <c:v>0.2832198546426293</c:v>
                </c:pt>
              </c:numCache>
            </c:numRef>
          </c:val>
        </c:ser>
        <c:gapWidth val="40"/>
        <c:overlap val="100"/>
        <c:serLines>
          <c:spPr>
            <a:ln w="6350">
              <a:solidFill>
                <a:srgbClr val="808080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105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8582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Indonesian Import Folding Crane 23-26/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How big is the market?</a:t>
              </a:r>
              <a:br>
                <a:rPr lang="en-US" sz="1600" b="1" dirty="0"/>
              </a:br>
              <a:r>
                <a:rPr lang="en-US" sz="1600" b="1" dirty="0"/>
                <a:t>And how much sells each year?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Every class buys every year: Light &amp; Small bring the volume, Medium &amp; Heavy bring the value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From 2023 to 2026, Indonesia imported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636 folding cranes (Rp 321,8 Bio)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, about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188 units (Rp 100,2 Bio) a year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 Light &amp; Small make up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56% of units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, while Medium &amp; Heavy hold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68% of value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342900" y="2400300"/>
            <a:ext cx="552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Neue Haas Grotesk Text Pro"/>
              </a:rPr>
              <a:t>Imported folding cranes by class per year, 2023 –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00250" y="2609850"/>
            <a:ext cx="3905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Neue Haas Grotesk Text Pro"/>
              </a:rPr>
              <a:t>Heavy almost </a:t>
            </a:r>
            <a:r>
              <a:rPr sz="1150" b="1">
                <a:solidFill>
                  <a:srgbClr val="1E9E57"/>
                </a:solidFill>
                <a:latin typeface="Neue Haas Grotesk Text Pro"/>
              </a:rPr>
              <a:t>tripled from 12 to 35 units in 2025</a:t>
            </a:r>
            <a:r>
              <a:rPr sz="1150" b="0">
                <a:solidFill>
                  <a:srgbClr val="000000"/>
                </a:solidFill>
                <a:latin typeface="Neue Haas Grotesk Text Pro"/>
              </a:rPr>
              <a:t> (19% of that year), while </a:t>
            </a:r>
            <a:r>
              <a:rPr sz="1150" b="1">
                <a:solidFill>
                  <a:srgbClr val="1E9E57"/>
                </a:solidFill>
                <a:latin typeface="Neue Haas Grotesk Text Pro"/>
              </a:rPr>
              <a:t>Light fell from 54 to 37</a:t>
            </a:r>
            <a:r>
              <a:rPr sz="1150" b="0">
                <a:solidFill>
                  <a:srgbClr val="000000"/>
                </a:solidFill>
                <a:latin typeface="Neue Haas Grotesk Text Pro"/>
              </a:rPr>
              <a:t>.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342900" y="2971800"/>
          <a:ext cx="4476750" cy="30670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55069" y="3033545"/>
            <a:ext cx="762000" cy="142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Neue Haas Grotesk Text Pro"/>
              </a:rPr>
              <a:t>195 units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51873" y="3178370"/>
            <a:ext cx="762000" cy="142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Neue Haas Grotesk Text Pro"/>
              </a:rPr>
              <a:t>184 units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8677" y="3178370"/>
            <a:ext cx="762000" cy="142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Neue Haas Grotesk Text Pro"/>
              </a:rPr>
              <a:t>184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5481" y="4639782"/>
            <a:ext cx="762000" cy="142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Neue Haas Grotesk Text Pro"/>
              </a:rPr>
              <a:t>73 units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5850" y="31432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Avg sales / year</a:t>
            </a:r>
          </a:p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Light &amp; Small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895850" y="3448050"/>
            <a:ext cx="990600" cy="0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895850" y="34861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9E57"/>
                </a:solidFill>
                <a:latin typeface="Neue Haas Grotesk Text Pro"/>
              </a:rPr>
              <a:t>100 units</a:t>
            </a:r>
          </a:p>
          <a:p>
            <a:pPr algn="ctr"/>
            <a:r>
              <a:rPr sz="1100" b="1">
                <a:solidFill>
                  <a:srgbClr val="1E9E57"/>
                </a:solidFill>
                <a:latin typeface="Neue Haas Grotesk Text Pro"/>
              </a:rPr>
              <a:t>Rp 30,2 Bio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5850" y="39052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Avg sales / year</a:t>
            </a:r>
          </a:p>
          <a:p>
            <a:pPr algn="ctr"/>
            <a:r>
              <a:rPr sz="950" b="1">
                <a:solidFill>
                  <a:srgbClr val="000000"/>
                </a:solidFill>
                <a:latin typeface="Neue Haas Grotesk Text Pro"/>
              </a:rPr>
              <a:t>Medium &amp; Heavy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895850" y="4210050"/>
            <a:ext cx="990600" cy="0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895850" y="42481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9E57"/>
                </a:solidFill>
                <a:latin typeface="Neue Haas Grotesk Text Pro"/>
              </a:rPr>
              <a:t>88 units</a:t>
            </a:r>
          </a:p>
          <a:p>
            <a:pPr algn="ctr"/>
            <a:r>
              <a:rPr sz="1100" b="1">
                <a:solidFill>
                  <a:srgbClr val="1E9E57"/>
                </a:solidFill>
                <a:latin typeface="Neue Haas Grotesk Text Pro"/>
              </a:rPr>
              <a:t>Rp 70,0 Bio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5850" y="4629150"/>
            <a:ext cx="990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Neue Haas Grotesk Text Pro"/>
              </a:rPr>
              <a:t>Average of full years 2023 – 2025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1000" y="6115050"/>
            <a:ext cx="95250" cy="95250"/>
          </a:xfrm>
          <a:prstGeom prst="rect">
            <a:avLst/>
          </a:prstGeom>
          <a:solidFill>
            <a:srgbClr val="C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35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Light (≤ 8 tm)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62125" y="6115050"/>
            <a:ext cx="95250" cy="95250"/>
          </a:xfrm>
          <a:prstGeom prst="rect">
            <a:avLst/>
          </a:prstGeom>
          <a:solidFill>
            <a:srgbClr val="74C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9547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Small (8–25 tm)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43250" y="6115050"/>
            <a:ext cx="95250" cy="9525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660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Medium (25–45 tm)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24375" y="6115050"/>
            <a:ext cx="95250" cy="9525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5772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Heavy (&gt; 45 tm)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2900" y="6305550"/>
            <a:ext cx="5524500" cy="1905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9100" y="6334125"/>
            <a:ext cx="5391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Ton-meter classes follow the Application Engineering classification. *2026 = Jan – 14 Aug only.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000750" y="2381250"/>
            <a:ext cx="0" cy="4152900"/>
          </a:xfrm>
          <a:prstGeom prst="line">
            <a:avLst/>
          </a:prstGeom>
          <a:ln w="28575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5867400" y="4305300"/>
            <a:ext cx="266700" cy="26670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1250" y="2400300"/>
            <a:ext cx="56388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Neue Haas Grotesk Text Pro"/>
              </a:rPr>
              <a:t>Imported folding cranes by class, Jan 2023 – 14 Aug 2026</a:t>
            </a: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7010400" y="2628900"/>
          <a:ext cx="4000500" cy="34099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4" name="Left Brace 63"/>
          <p:cNvSpPr/>
          <p:nvPr/>
        </p:nvSpPr>
        <p:spPr>
          <a:xfrm>
            <a:off x="7101840" y="2697099"/>
            <a:ext cx="114300" cy="1297981"/>
          </a:xfrm>
          <a:prstGeom prst="leftBrace">
            <a:avLst/>
          </a:prstGeom>
          <a:noFill/>
          <a:ln w="1905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ft Brace 64"/>
          <p:cNvSpPr/>
          <p:nvPr/>
        </p:nvSpPr>
        <p:spPr>
          <a:xfrm>
            <a:off x="7101840" y="4052230"/>
            <a:ext cx="114300" cy="1679724"/>
          </a:xfrm>
          <a:prstGeom prst="lef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Brace 65"/>
          <p:cNvSpPr/>
          <p:nvPr/>
        </p:nvSpPr>
        <p:spPr>
          <a:xfrm>
            <a:off x="10805160" y="2697099"/>
            <a:ext cx="114300" cy="2023640"/>
          </a:xfrm>
          <a:prstGeom prst="rightBrace">
            <a:avLst/>
          </a:prstGeom>
          <a:noFill/>
          <a:ln w="1905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Brace 66"/>
          <p:cNvSpPr/>
          <p:nvPr/>
        </p:nvSpPr>
        <p:spPr>
          <a:xfrm>
            <a:off x="10805160" y="4777889"/>
            <a:ext cx="114300" cy="954066"/>
          </a:xfrm>
          <a:prstGeom prst="righ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3034146"/>
            <a:ext cx="781050" cy="65246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00775" y="3072246"/>
            <a:ext cx="723900" cy="595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44%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units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Medium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Heavy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551574"/>
            <a:ext cx="781050" cy="65246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00775" y="4589674"/>
            <a:ext cx="723900" cy="595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Neue Haas Grotesk Text Pro"/>
              </a:rPr>
              <a:t>56%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units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Light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Small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049000" y="3332681"/>
            <a:ext cx="7810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077575" y="3370781"/>
            <a:ext cx="7239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68%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value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(Rp 217,6 Bio)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Medium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Heavy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049000" y="4850109"/>
            <a:ext cx="7810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077575" y="4888209"/>
            <a:ext cx="7239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Neue Haas Grotesk Text Pro"/>
              </a:rPr>
              <a:t>32%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of total value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(Rp 104,2 Bio)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from Light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Neue Haas Grotesk Text Pro"/>
              </a:rPr>
              <a:t>&amp; Small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86500" y="6115050"/>
            <a:ext cx="95250" cy="95250"/>
          </a:xfrm>
          <a:prstGeom prst="rect">
            <a:avLst/>
          </a:prstGeom>
          <a:solidFill>
            <a:srgbClr val="C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1985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Light (≤ 8 tm)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67625" y="6115050"/>
            <a:ext cx="95250" cy="95250"/>
          </a:xfrm>
          <a:prstGeom prst="rect">
            <a:avLst/>
          </a:prstGeom>
          <a:solidFill>
            <a:srgbClr val="74C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0097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Small (8–25 tm)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48750" y="6115050"/>
            <a:ext cx="95250" cy="9525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82100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Medium (25–45 tm)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29875" y="6115050"/>
            <a:ext cx="95250" cy="9525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63225" y="6096000"/>
            <a:ext cx="1247775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Heavy (&gt; 45 tm)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10400" y="6305550"/>
            <a:ext cx="400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10400" y="6334125"/>
            <a:ext cx="4000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9E57"/>
                </a:solidFill>
                <a:latin typeface="Neue Haas Grotesk Text Pro"/>
              </a:rPr>
              <a:t>Light &amp; Small bring the volume, Medium &amp; Heavy bring the value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" y="6591300"/>
            <a:ext cx="11487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7F7F7F"/>
                </a:solidFill>
                <a:latin typeface="Neue Haas Grotesk Text Pro"/>
              </a:rPr>
              <a:t>Source: Indonesia import records (Crane Market GVW Pairing v11, Noir), Jan 2023 – 14 Aug 2026. Folding cranes only; excludes the Noir "Excluded Rows", Hyva, Zoomlion, HIAB XG grabbers, Tadano TM-Z telescopic and 2 invalid-price records. Value before tax × Rp 17.803/USD (JISDOR 23 Sep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