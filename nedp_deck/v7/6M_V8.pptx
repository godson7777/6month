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same or bigger crane at a lower price (16–63% below the value leader in every Medium tier; −59% vs V950).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SQ12ZK3Q, KSQZ365.4, GSQZ460.4 and GSQZ860.6.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the market is? </a:t>
              </a:r>
              <a:br>
                <a:rPr lang="en-US" sz="1600" b="1" dirty="0"/>
              </a:br>
              <a:r>
                <a:rPr lang="en-US" sz="1600" b="1" dirty="0"/>
                <a:t>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Did Medium and Heavy class still the leader? And who's lead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</a:t>
                      </a:r>
                      <a:r>
                        <a:rPr lang="en-US" sz="700" dirty="0"/>
                        <a:t>, Amco </a:t>
                      </a:r>
                      <a:r>
                        <a:rPr lang="en-US" sz="700" dirty="0" err="1"/>
                        <a:t>Veba</a:t>
                      </a:r>
                      <a:r>
                        <a:rPr lang="en-US" sz="700" dirty="0"/>
                        <a:t> and XCMG </a:t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holds 86% of value </a:t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XCMG beats the value leader on price in every tier; F.lli Ferrari wins at 25–40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XCMG for price buyers (16%–63% cheaper in 4 of 4 tiers); F.lli Ferrari for quality buyers (14%–25% cheaper at 25–40 tm, 86% of Medium value).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68% of Medium value (143 of 218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XCMG: same or bigger crane, 16%–63% cheaper in all tiers. F.lli Ferrari: European features, 14%–25% cheaper at 25–40 tm. At 40–45 tm only XCMG GSQZ460.4 beats SPK42502 (−16%).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750"/>
                <a:gridCol w="457200"/>
                <a:gridCol w="666750"/>
                <a:gridCol w="1257300"/>
                <a:gridCol w="1066800"/>
                <a:gridCol w="457200"/>
                <a:gridCol w="552450"/>
                <a:gridCol w="1333500"/>
                <a:gridCol w="990600"/>
                <a:gridCol w="1524000"/>
                <a:gridCol w="990600"/>
                <a:gridCol w="1524000"/>
              </a:tblGrid>
              <a:tr h="209550">
                <a:tc gridSpan="12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Challenger: F.lli Ferrari (quality buyer)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Challenger: XCMG (price buyer)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SQ12ZK3Q (30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KSQZ365.4 (36.5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540.000.000 (−63%)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KSQZ365.4 (36.5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540.000.000 (−62%)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68%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746 A4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1.420.000.000 (+48%)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= cheapest XCMG model from 2 tm smaller to 5 tm bigger than the target, priced like competitors (0% duty).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XCMG and F.lli Ferrari win 45–50 tm; no challenger beats PK 53002 at 50–55 tm yet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55% of Heavy value and PK 53002 takes 95% of it; XCMG has no model there and 9601CR A8 is 85% above.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7 tm tiers. 45–55 tm holds 83% of Heavy value (63 of 75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(66%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At 45–50 tm, XCMG GSQZ460.4 is 59% and FBR450R A4 32% cheaper than V950. At 80–85 tm, XCMG GSQZ860.6 is 41% cheaper than PK 88002. No XCMG model at 50–75 tm.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1527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750"/>
                <a:gridCol w="457200"/>
                <a:gridCol w="666750"/>
                <a:gridCol w="1257300"/>
                <a:gridCol w="1066800"/>
                <a:gridCol w="457200"/>
                <a:gridCol w="552450"/>
                <a:gridCol w="1333500"/>
                <a:gridCol w="990600"/>
                <a:gridCol w="1524000"/>
                <a:gridCol w="990600"/>
                <a:gridCol w="1524000"/>
              </a:tblGrid>
              <a:tr h="209550">
                <a:tc gridSpan="12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Challenger: F.lli Ferrari (quality buyer)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Challenger: XCMG (price buyer)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28%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(−59%)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9601CR A8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3.260.000.000 (+85%)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 in range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55 – 60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Hyva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HB660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68%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1.980.000.000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FBR660R A4</a:t>
                      </a:r>
                    </a:p>
                  </a:txBody>
                  <a:tcPr anchor="ctr" marL="28575" marR="28575" marT="9525" marB="9525">
                    <a:solidFill>
                      <a:srgbClr val="FFF7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2.030.000.000 (+3%)</a:t>
                      </a:r>
                    </a:p>
                  </a:txBody>
                  <a:tcPr anchor="ctr" marL="28575" marR="28575" marT="9525" marB="9525">
                    <a:solidFill>
                      <a:srgbClr val="FFF7C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 in range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 not yet known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 in range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4.110.000.000 (+79%)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 in range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GSQZ860.6 (86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 (−41%)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XCMG is the leader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2026. XCMG = cheapest XCMG model from 2 tm smaller to 5 tm bigger than the target, priced like competitors (0% duty).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