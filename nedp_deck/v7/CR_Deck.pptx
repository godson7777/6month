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  <p:sldId id="1559" r:id="rId13"/>
    <p:sldId id="1560" r:id="rId14"/>
    <p:sldId id="1561" r:id="rId15"/>
    <p:sldId id="1562" r:id="rId16"/>
    <p:sldId id="1563" r:id="rId17"/>
    <p:sldId id="15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8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3"/>
          <c:w val="0.98"/>
          <c:h val="0.8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37</c:v>
                </c:pt>
                <c:pt idx="3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57</c:v>
                </c:pt>
                <c:pt idx="1">
                  <c:v>49</c:v>
                </c:pt>
                <c:pt idx="2">
                  <c:v>53</c:v>
                </c:pt>
                <c:pt idx="3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72</c:v>
                </c:pt>
                <c:pt idx="1">
                  <c:v>69</c:v>
                </c:pt>
                <c:pt idx="2">
                  <c:v>59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3"/>
              <c:delete val="1"/>
            </c:dLbl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1</c:v>
                </c:pt>
              </c:numCache>
            </c:numRef>
          </c:val>
        </c:ser>
        <c:gapWidth val="7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17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9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7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0.27358490566037735</c:v>
                </c:pt>
                <c:pt idx="1">
                  <c:v>0.12138510061639472</c:v>
                </c:pt>
                <c:pt idx="2">
                  <c:v>0.12138510061639472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18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65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0.2893081761006289</c:v>
                </c:pt>
                <c:pt idx="1">
                  <c:v>0.2023998723656238</c:v>
                </c:pt>
                <c:pt idx="2">
                  <c:v>0.2023998723656238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21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26,5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3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0.33490566037735847</c:v>
                </c:pt>
                <c:pt idx="1">
                  <c:v>0.3929951723753521</c:v>
                </c:pt>
                <c:pt idx="2">
                  <c:v>0.3929951723753521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6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91,2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0.10220125786163523</c:v>
                </c:pt>
                <c:pt idx="1">
                  <c:v>0.2832198546426294</c:v>
                </c:pt>
                <c:pt idx="2">
                  <c:v>0.2832198546426294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37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5,7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0.20108695652173914</c:v>
                </c:pt>
                <c:pt idx="1">
                  <c:v>0.05566595246836568</c:v>
                </c:pt>
                <c:pt idx="2">
                  <c:v>0.05566595246836568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5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8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0.28804347826086957</c:v>
                </c:pt>
                <c:pt idx="1">
                  <c:v>0.178852839810858</c:v>
                </c:pt>
                <c:pt idx="2">
                  <c:v>0.178852839810858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59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0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2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0.32065217391304346</c:v>
                </c:pt>
                <c:pt idx="1">
                  <c:v>0.29636446697362956</c:v>
                </c:pt>
                <c:pt idx="2">
                  <c:v>0.29636446697362956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3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48,0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0.19021739130434784</c:v>
                </c:pt>
                <c:pt idx="1">
                  <c:v>0.4691167407471469</c:v>
                </c:pt>
                <c:pt idx="2">
                  <c:v>0.4691167407471469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6"/>
        </c:manualLayout>
      </c:layout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delete val="1"/>
            </c:dLbl>
            <c:dLbl>
              <c:idx val="1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0.02572063976705964</c:v>
                </c:pt>
                <c:pt idx="1">
                  <c:v>0.435835642837225</c:v>
                </c:pt>
                <c:pt idx="2">
                  <c:v>0.519346998857831</c:v>
                </c:pt>
                <c:pt idx="3">
                  <c:v>0.8388817668829882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3"/>
              <c:delete val="1"/>
            </c:dLbl>
            <c:dLbl>
              <c:idx val="0"/>
              <c:numFmt formatCode="&quot;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0.6190973142679757</c:v>
                </c:pt>
                <c:pt idx="1">
                  <c:v>0.16044099825011773</c:v>
                </c:pt>
                <c:pt idx="2">
                  <c:v>0.1278948068874679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0.09673364865530605</c:v>
                </c:pt>
                <c:pt idx="1">
                  <c:v>0.23717507393746734</c:v>
                </c:pt>
                <c:pt idx="2">
                  <c:v>0.1798208090220965</c:v>
                </c:pt>
                <c:pt idx="3">
                  <c:v>0.12712297958698074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B7E4C7"/>
            </a:solidFill>
          </c:spPr>
          <c:dLbls>
            <c:dLbl>
              <c:idx val="3"/>
              <c:delete val="1"/>
            </c:dLbl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0.23036484787363148</c:v>
                </c:pt>
                <c:pt idx="1">
                  <c:v>0.08943847770864047</c:v>
                </c:pt>
                <c:pt idx="2">
                  <c:v>0.05528681240301065</c:v>
                </c:pt>
                <c:pt idx="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HIAB</c:v>
                </c:pt>
              </c:strCache>
            </c:strRef>
          </c:tx>
          <c:spPr>
            <a:solidFill>
              <a:srgbClr val="A6A6A6"/>
            </a:solidFill>
          </c:spPr>
          <c:dLbls>
            <c:dLbl>
              <c:idx val="3"/>
              <c:delete val="1"/>
            </c:dLbl>
            <c:dLbl>
              <c:idx val="0"/>
              <c:delete val="1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Sheet1!$F$2:$F$5</c:f>
              <c:numCache>
                <c:formatCode>0</c:formatCode>
                <c:ptCount val="4"/>
                <c:pt idx="0">
                  <c:v>0.0</c:v>
                </c:pt>
                <c:pt idx="1">
                  <c:v>0.07710980726654923</c:v>
                </c:pt>
                <c:pt idx="2">
                  <c:v>0.05856748903691582</c:v>
                </c:pt>
                <c:pt idx="3">
                  <c:v>0.0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Fassi</c:v>
                </c:pt>
              </c:strCache>
            </c:strRef>
          </c:tx>
          <c:spPr>
            <a:solidFill>
              <a:srgbClr val="D0D0D0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Sheet1!$G$2:$G$5</c:f>
              <c:numCache>
                <c:formatCode>0</c:formatCode>
                <c:ptCount val="4"/>
                <c:pt idx="0">
                  <c:v>0.028083549436027307</c:v>
                </c:pt>
                <c:pt idx="1">
                  <c:v>0.0</c:v>
                </c:pt>
                <c:pt idx="2">
                  <c:v>0.049721330741344515</c:v>
                </c:pt>
                <c:pt idx="3">
                  <c:v>0.0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Bob-Lift</c:v>
                </c:pt>
              </c:strCache>
            </c:strRef>
          </c:tx>
          <c:spPr>
            <a:solidFill>
              <a:srgbClr val="EDEDED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Sheet1!$H$2:$H$5</c:f>
              <c:numCache>
                <c:formatCode>0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0.009361753051333842</c:v>
                </c:pt>
                <c:pt idx="3">
                  <c:v>0.03399525353003126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/>
        <c:axPos val="l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7.png"/><Relationship Id="rId7" Type="http://schemas.openxmlformats.org/officeDocument/2006/relationships/image" Target="../media/image29.png"/><Relationship Id="rId8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7.png"/><Relationship Id="rId5" Type="http://schemas.openxmlformats.org/officeDocument/2006/relationships/image" Target="../media/image26.png"/><Relationship Id="rId6" Type="http://schemas.openxmlformats.org/officeDocument/2006/relationships/image" Target="../media/image25.png"/><Relationship Id="rId7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Relationship Id="rId7" Type="http://schemas.openxmlformats.org/officeDocument/2006/relationships/image" Target="../media/image28.png"/><Relationship Id="rId8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</a:t>
              </a:r>
              <a:br>
                <a:rPr lang="en-US" sz="1600" b="1" dirty="0"/>
              </a:br>
              <a:r>
                <a:rPr lang="en-US" sz="1600" b="1" dirty="0"/>
                <a:t>And how much sells each year?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Every class buys every year: Light &amp; Small bring the volume, Medium &amp; Heavy bring the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2023 to 2026,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636 folding cranes (Rp 321,8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about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188 units (Rp 100,2 Bio) a year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make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56%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hold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68%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00250" y="2609850"/>
            <a:ext cx="3905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Neue Haas Grotesk Text Pro"/>
              </a:rPr>
              <a:t>Heavy almost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tripled from 12 to 35 units in 2025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 (19% of that year), while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Light fell from 54 to 37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.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42900" y="2971800"/>
          <a:ext cx="4476750" cy="30670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55069" y="3033545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195 units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873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8677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5481" y="4639782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73 units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5850" y="3143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Light &amp; Small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95850" y="3448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95850" y="3486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100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30,2 Bio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5850" y="3905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Medium &amp; Heavy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95850" y="4210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95850" y="4248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88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70,0 Bio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5850" y="4667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Neue Haas Grotesk Text Pro"/>
              </a:rPr>
              <a:t>Average of the full years 2023 – 2025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 *2026 is a partial year.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2023 – 2026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1040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Left Brace 63"/>
          <p:cNvSpPr/>
          <p:nvPr/>
        </p:nvSpPr>
        <p:spPr>
          <a:xfrm>
            <a:off x="7046976" y="2697099"/>
            <a:ext cx="114300" cy="1297981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ft Brace 64"/>
          <p:cNvSpPr/>
          <p:nvPr/>
        </p:nvSpPr>
        <p:spPr>
          <a:xfrm>
            <a:off x="7046976" y="4052230"/>
            <a:ext cx="114300" cy="1679724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ight Brace 65"/>
          <p:cNvSpPr/>
          <p:nvPr/>
        </p:nvSpPr>
        <p:spPr>
          <a:xfrm>
            <a:off x="10860024" y="2697099"/>
            <a:ext cx="114300" cy="202364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ight Brace 66"/>
          <p:cNvSpPr/>
          <p:nvPr/>
        </p:nvSpPr>
        <p:spPr>
          <a:xfrm>
            <a:off x="10860024" y="4777889"/>
            <a:ext cx="114300" cy="95406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3034146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00775" y="3072246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551574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00775" y="4589674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56%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049000" y="3332681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077575" y="3370781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68%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217,6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49000" y="4850109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77575" y="4888209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32%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104,2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865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8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76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009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487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821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298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32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Light &amp; Small bring the volume, Medium &amp; Heavy bring the value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2026; 2026 is a partial year.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was 2025?</a:t>
              </a:r>
              <a:br>
                <a:rPr lang="en-US" sz="1600" b="1" dirty="0"/>
              </a:br>
              <a:r>
                <a:rPr lang="en-US" sz="1600" b="1" dirty="0"/>
                <a:t>And who led each class?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2025: Sany Palfinger led Light, Small and Medium; Palfinger led Heavy with 62% of its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folding cranes (Rp 102,4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made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49%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held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77%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In every class,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the top three brands held 83% or more of the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2025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116205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Left Brace 37"/>
          <p:cNvSpPr/>
          <p:nvPr/>
        </p:nvSpPr>
        <p:spPr>
          <a:xfrm>
            <a:off x="1198626" y="2697099"/>
            <a:ext cx="114300" cy="1521840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Left Brace 38"/>
          <p:cNvSpPr/>
          <p:nvPr/>
        </p:nvSpPr>
        <p:spPr>
          <a:xfrm>
            <a:off x="1198626" y="4276089"/>
            <a:ext cx="114300" cy="1455865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Brace 39"/>
          <p:cNvSpPr/>
          <p:nvPr/>
        </p:nvSpPr>
        <p:spPr>
          <a:xfrm>
            <a:off x="5011674" y="2697099"/>
            <a:ext cx="114300" cy="229455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Brace 40"/>
          <p:cNvSpPr/>
          <p:nvPr/>
        </p:nvSpPr>
        <p:spPr>
          <a:xfrm>
            <a:off x="5011674" y="5048799"/>
            <a:ext cx="114300" cy="68315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3850" y="3146075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425" y="3184175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51%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3850" y="4663503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425" y="4701603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49%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00650" y="3468136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29225" y="3506236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77%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78,4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00650" y="4985564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29225" y="5023664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23%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24,0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Who led each class in 2025,</a:t>
            </a:r>
            <a:r>
              <a:rPr sz="1250" b="0">
                <a:solidFill>
                  <a:srgbClr val="000000"/>
                </a:solidFill>
                <a:latin typeface="Neue Haas Grotesk Text Pro"/>
              </a:rPr>
              <a:t> % of class value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48500" y="2647950"/>
          <a:ext cx="3810000" cy="3333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191250" y="29622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Light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37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15650" y="29622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5,7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100%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91250" y="37623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53 units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15650" y="37623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18,3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91250" y="45624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Medium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59 units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15650" y="45624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30,3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91250" y="53625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Heavy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35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15650" y="53625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48,0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95%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0300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43650" y="6096000"/>
            <a:ext cx="10363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Sany Palfinger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9902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3237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Palfinger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44840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7819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XCMG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73490" y="6115050"/>
            <a:ext cx="95250" cy="95250"/>
          </a:xfrm>
          <a:prstGeom prst="rect">
            <a:avLst/>
          </a:prstGeom>
          <a:solidFill>
            <a:srgbClr val="B7E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0684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Amco Veba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719310" y="6115050"/>
            <a:ext cx="95250" cy="9525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5266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HIAB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347960" y="6115050"/>
            <a:ext cx="95250" cy="9525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48131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Fassi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976610" y="6115050"/>
            <a:ext cx="95250" cy="9525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109960" y="6096000"/>
            <a:ext cx="6248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Every class has one clear leader to beat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2025.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Light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Light: Sany Palfinger SPK8500 leads; XCMG SQ3.2ZK2 is Rp 42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class (≤ 8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174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5–8 tm takes 97%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4762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110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9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≤ 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 units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93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5001, Rp 265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F.lli Ferrari price list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315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5001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265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M30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GKB08ZA3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53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5–8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168 units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42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SPK8500, Rp 185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2 units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563R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91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185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404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353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KSQZ68.2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SQ3.2ZK2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V806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211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213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F65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265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GKB3.2ZA2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119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321" y="2328862"/>
            <a:ext cx="645184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93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9626" y="2328862"/>
            <a:ext cx="63847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7398" y="2328862"/>
            <a:ext cx="563880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0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as recorded (total value ÷ total units) × Rp 17.803/USD (JISDOR 23 Sep 2026); no duty or tax added. F.lli Ferrari price = price list, crane only (column K − column I), less 13.6% TSP GP: no cargo deck, no install.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Small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Small: Sany Palfinger SPK23500 leads; no cheaper crane of the same size yet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Small class (&gt; 8 – 25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20–25 tm takes 47%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48" cy="3886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945356"/>
                <a:gridCol w="945356"/>
                <a:gridCol w="945356"/>
                <a:gridCol w="945356"/>
                <a:gridCol w="945356"/>
                <a:gridCol w="945356"/>
                <a:gridCol w="945356"/>
                <a:gridCol w="945356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103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8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8–10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6108 A2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246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96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F85B.24, Rp 342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6108 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246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F85B.24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342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GKB5ZA2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171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10–15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56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6148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5148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SPK15500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275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GSQZ105.4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230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+ 4 more (8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15500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497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V816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351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F155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413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Q5ZA2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226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15–20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GSQZ200.3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304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21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SPK18500, Rp 324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178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6238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SPK18500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324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GSQZ160.4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365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+ 8 more (19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V817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462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 16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355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F215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583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20–25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87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6248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441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455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SPK23500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70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334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23500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732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288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747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(3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F245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738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PM9024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335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559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288756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xcm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8040" y="2328862"/>
            <a:ext cx="654389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234112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alfin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999" y="2328862"/>
            <a:ext cx="645184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179469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6711" y="2328862"/>
            <a:ext cx="63847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8124825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hi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4537" y="2328862"/>
            <a:ext cx="413533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9070181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ass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4719" y="2328862"/>
            <a:ext cx="563880" cy="142875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10015538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0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960894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850" b="1">
                <a:solidFill>
                  <a:srgbClr val="0B4D2A"/>
                </a:solidFill>
                <a:latin typeface="Neue Haas Grotesk Text Pro"/>
              </a:rPr>
              <a:t>PM Cranes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as recorded (total value ÷ total units) × Rp 17.803/USD (JISDOR 23 Sep 2026); no duty or tax added. F.lli Ferrari price = price list, crane only (column K − column I), less 13.6% TSP GP: no cargo deck, no install.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HIAB X-CLX 388 leads; XCMG SQZ325.4 is Rp 278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Medium class (&gt; 25 –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213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30–35 tm takes 35%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512570"/>
                <a:gridCol w="1512570"/>
                <a:gridCol w="1512570"/>
                <a:gridCol w="1512570"/>
                <a:gridCol w="151257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88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36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30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26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25–30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258 A3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455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62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V825, Rp 517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455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V825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517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KSQZ300.3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15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432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SQ12ZK3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440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30–35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75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SQZ325.4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484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278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X-CLX 388, Rp 762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991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SPK32080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390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V933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699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GSQZ330.4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613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SQZ325.4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484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32080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881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33002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762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328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936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35–40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KSQZ365.4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478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625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41002, Rp 1.103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SPK36080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433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SPK38080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410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KSQZ400.4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623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GSQZ400.4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620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+ 3 more (4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1.103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40–45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746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1.478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693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V946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1.068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477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472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166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85597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mco_ve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819" y="2328862"/>
            <a:ext cx="638473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36854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430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88111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alfing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8603" y="2328862"/>
            <a:ext cx="645184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039368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hi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66999" y="2328862"/>
            <a:ext cx="413533" cy="142875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as recorded (total value ÷ total units) × Rp 17.803/USD (JISDOR 23 Sep 2026); no duty or tax added. F.lli Ferrari price = price list, crane only (column K − column I), less 13.6% TSP GP: no cargo deck, no install.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Palfinger PK 53002 leads; F.lli Ferrari FBR450R A4 is within 3% of its price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Heavy class (&gt;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65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50–55 tm takes 62%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42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45–50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17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1.251 Jt /unit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324 Jt cheaper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V950, Rp 1.575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1.251 Jt /unit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V950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1.575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716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EFFER 525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1.266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F485RA.2.23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1.349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50–55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FBR450R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C55A11"/>
                          </a:solidFill>
                          <a:latin typeface="Neue Haas Grotesk Text Pro"/>
                        </a:rPr>
                        <a:t>Rp 47 Jt more (+3%)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53002, Rp 1.361 Jt /unit (4,6 tm smaller)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39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1.361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X-HIPRO B58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2.824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60–65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1.235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70–75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1.918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80–85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1.863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85–90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1.162 Jt /unit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(2 units)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846" y="2328862"/>
            <a:ext cx="645184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mco_ve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676" y="2328862"/>
            <a:ext cx="638473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93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i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2096" y="2328862"/>
            <a:ext cx="41353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7398" y="2328862"/>
            <a:ext cx="563880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any_palfing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64494" y="2328862"/>
            <a:ext cx="670638" cy="142875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as recorded (total value ÷ total units) × Rp 17.803/USD (JISDOR 23 Sep 2026); no duty or tax added. F.lli Ferrari price = price list, crane only (column K − column I), less 13.6% TSP GP: no cargo deck, no install.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Conclusion/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crane per class?</a:t>
              </a:r>
              <a:br>
                <a:rPr lang="en-US" sz="1600" b="1" dirty="0"/>
              </a:br>
              <a:r>
                <a:rPr lang="en-US" sz="1600" b="1" dirty="0"/>
                <a:t>And what is our target?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We undercut the leader in 8 of 16 tm classes (66% of units); target: 15 cranes by end-2027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&amp; Small: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the cheapest of F.lli Ferrari or XCMG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Medium &amp; Heavy: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F.lli Ferrari first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XCMG only where Ferrari is more than 30% dearer or has no model of that size. Classes with no challenger stay on the watch list.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47900"/>
          <a:ext cx="8515350" cy="3943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900"/>
                <a:gridCol w="704850"/>
                <a:gridCol w="495300"/>
                <a:gridCol w="2724150"/>
                <a:gridCol w="2533650"/>
                <a:gridCol w="1333500"/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Class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Units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Leader (TOP 1)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Price vs leader /unit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</a:tr>
              <a:tr h="282819">
                <a:tc rowSpan="2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  <a:latin typeface="Neue Haas Grotesk Text Pro"/>
                        </a:rPr>
                        <a:t>Light</a:t>
                      </a:r>
                    </a:p>
                  </a:txBody>
                  <a:tcPr anchor="ctr" marL="57150" marR="57150" marT="9525" marB="9525">
                    <a:solidFill>
                      <a:srgbClr val="CDE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≤ 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5001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265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172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93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5–8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168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SPK8500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185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142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42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rowSpan="4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  <a:latin typeface="Neue Haas Grotesk Text Pro"/>
                        </a:rPr>
                        <a:t>Small</a:t>
                      </a:r>
                    </a:p>
                  </a:txBody>
                  <a:tcPr anchor="ctr" marL="57150" marR="57150" marT="9525" marB="9525">
                    <a:solidFill>
                      <a:srgbClr val="74CC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8–10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Fassi F85B.24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342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6108 A2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246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96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10–15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SPK15500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275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15–20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SPK18500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324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GSQZ200.3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304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21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20–25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87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SPK23500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334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  <a:tr h="282819">
                <a:tc rowSpan="4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25–30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 V825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517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258 A3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455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62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30–35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75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HIAB X-CLX 388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762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SQZ325.4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484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278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35–40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41002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1.103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KSQZ365.4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478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625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40–45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SPK42502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693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  <a:tr h="282819">
                <a:tc rowSpan="3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45–50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17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 V950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1.575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 A4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1.251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324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50–55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53002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1.361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FBR450R A4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1.408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C55A11"/>
                          </a:solidFill>
                          <a:latin typeface="Neue Haas Grotesk Text Pro"/>
                        </a:rPr>
                        <a:t>+Rp 47 Jt*</a:t>
                      </a:r>
                    </a:p>
                  </a:txBody>
                  <a:tcPr anchor="ctr" marL="57150" marR="57150" marT="9525" marB="9525">
                    <a:solidFill>
                      <a:srgbClr val="FFF2E5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&gt; 55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4 small classes, led by Palfinger, Sany Palfinger, XCMG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9029700" y="2247900"/>
            <a:ext cx="2800350" cy="39433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2100" y="2400300"/>
            <a:ext cx="24955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1F9EC"/>
                </a:solidFill>
                <a:latin typeface="Neue Haas Grotesk Text Pro"/>
              </a:rPr>
              <a:t>TARGET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2100" y="2609850"/>
            <a:ext cx="24955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eue Haas Grotesk Text Pro"/>
              </a:rPr>
              <a:t>15 cranes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2100" y="3162300"/>
            <a:ext cx="24955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eue Haas Grotesk Text Pro"/>
              </a:rPr>
              <a:t>sold by end of 2027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182100" y="3486150"/>
            <a:ext cx="2495550" cy="0"/>
          </a:xfrm>
          <a:prstGeom prst="line">
            <a:avLst/>
          </a:prstGeom>
          <a:ln w="12700">
            <a:solidFill>
              <a:srgbClr val="74C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82100" y="3581400"/>
            <a:ext cx="2495550" cy="2381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Neue Haas Grotesk Text Pro"/>
              </a:rPr>
              <a:t>≈ 8% of one year of imports (188 units/year)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Neue Haas Grotesk Text Pro"/>
              </a:rPr>
              <a:t/>
            </a:r>
          </a:p>
          <a:p>
            <a:pPr algn="l"/>
            <a:r>
              <a:rPr sz="1100" b="1">
                <a:solidFill>
                  <a:srgbClr val="FFFFFF"/>
                </a:solidFill>
                <a:latin typeface="Neue Haas Grotesk Text Pro"/>
              </a:rPr>
              <a:t>Start with the biggest classes we win: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Light 5–8 tm: XCMG SQ3.2ZK2 (168 units, Rp 42 Jt cheaper)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Medium 30–35 tm: XCMG SQZ325.4 (75 units, Rp 278 Jt cheaper)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Medium 35–40 tm: XCMG KSQZ365.4 (66 units, Rp 625 Jt cheaper)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" y="6305550"/>
            <a:ext cx="11487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F7F7F"/>
                </a:solidFill>
                <a:latin typeface="Neue Haas Grotesk Text Pro"/>
              </a:rPr>
              <a:t>Prices per unit, as is: competitors = average import price × Rp 17.803/USD (no duty or tax added); F.lli Ferrari = price list June 2026, crane only (K − I) less 13.6% TSP GP. Units = imports 2023 – 2026 (2026 partial year). Leader = highest import value in the tm class. − = we are cheaper, + = we are dearer. *FBR450R A4 is 4,6 tm smaller than PK 53002 (used by decision).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