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9"/>
  </p:notesMasterIdLst>
  <p:handoutMasterIdLst>
    <p:handoutMasterId r:id="rId20"/>
  </p:handoutMasterIdLst>
  <p:sldIdLst>
    <p:sldId id="1558" r:id="rId12"/>
    <p:sldId id="1559" r:id="rId13"/>
    <p:sldId id="156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32" autoAdjust="0"/>
    <p:restoredTop sz="93917" autoAdjust="0"/>
  </p:normalViewPr>
  <p:slideViewPr>
    <p:cSldViewPr snapToGrid="0">
      <p:cViewPr>
        <p:scale>
          <a:sx n="66" d="100"/>
          <a:sy n="66" d="100"/>
        </p:scale>
        <p:origin x="608" y="4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3"/>
          <c:w val="0.98"/>
          <c:h val="0.88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DEFD9"/>
            </a:solidFill>
          </c:spPr>
          <c:dLbls>
            <c:numFmt formatCode="0" sourceLinked="0"/>
            <c:txPr>
              <a:bodyPr/>
              <a:lstStyle/>
              <a:p>
                <a:pPr>
                  <a:defRPr sz="12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37</c:v>
                </c:pt>
                <c:pt idx="3">
                  <c:v>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74CC95"/>
            </a:solidFill>
          </c:spPr>
          <c:dLbls>
            <c:numFmt formatCode="0" sourceLinked="0"/>
            <c:txPr>
              <a:bodyPr/>
              <a:lstStyle/>
              <a:p>
                <a:pPr>
                  <a:defRPr sz="12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57</c:v>
                </c:pt>
                <c:pt idx="1">
                  <c:v>49</c:v>
                </c:pt>
                <c:pt idx="2">
                  <c:v>53</c:v>
                </c:pt>
                <c:pt idx="3">
                  <c:v>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</c:spPr>
          <c:dLbls>
            <c:numFmt formatCode="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0</c:formatCode>
                <c:ptCount val="4"/>
                <c:pt idx="0">
                  <c:v>72</c:v>
                </c:pt>
                <c:pt idx="1">
                  <c:v>69</c:v>
                </c:pt>
                <c:pt idx="2">
                  <c:v>59</c:v>
                </c:pt>
                <c:pt idx="3">
                  <c:v>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</c:spPr>
          <c:dLbls>
            <c:dLbl>
              <c:idx val="3"/>
              <c:delete val="1"/>
            </c:dLbl>
            <c:numFmt formatCode="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0</c:formatCode>
                <c:ptCount val="4"/>
                <c:pt idx="0">
                  <c:v>12</c:v>
                </c:pt>
                <c:pt idx="1">
                  <c:v>17</c:v>
                </c:pt>
                <c:pt idx="2">
                  <c:v>35</c:v>
                </c:pt>
                <c:pt idx="3">
                  <c:v>1</c:v>
                </c:pt>
              </c:numCache>
            </c:numRef>
          </c:val>
        </c:ser>
        <c:gapWidth val="75"/>
        <c:overlap val="100"/>
        <c:serLines>
          <c:spPr>
            <a:ln w="6350">
              <a:solidFill>
                <a:srgbClr val="808080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105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"/>
          <c:y val="0.02"/>
          <c:w val="0.96"/>
          <c:h val="0.89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DEFD9"/>
            </a:solidFill>
          </c:spPr>
          <c:dLbls>
            <c:dLbl>
              <c:idx val="0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1050" b="1">
                        <a:solidFill>
                          <a:srgbClr val="000000"/>
                        </a:solidFill>
                        <a:latin typeface="Neue Haas Grotesk Text Pro"/>
                      </a:rPr>
                      <a:t>174 units</a:t>
                    </a:r>
                  </a:p>
                  <a:p>
                    <a:r>
                      <a:rPr sz="1050" b="1">
                        <a:solidFill>
                          <a:srgbClr val="000000"/>
                        </a:solidFill>
                        <a:latin typeface="Neue Haas Grotesk Text Pro"/>
                      </a:rPr>
                      <a:t>27%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1050" b="1">
                        <a:solidFill>
                          <a:srgbClr val="000000"/>
                        </a:solidFill>
                        <a:latin typeface="Neue Haas Grotesk Text Pro"/>
                      </a:rPr>
                      <a:t>Rp 39,1 Bio</a:t>
                    </a:r>
                  </a:p>
                  <a:p>
                    <a:r>
                      <a:rPr sz="1050" b="1">
                        <a:solidFill>
                          <a:srgbClr val="000000"/>
                        </a:solidFill>
                        <a:latin typeface="Neue Haas Grotesk Text Pro"/>
                      </a:rPr>
                      <a:t>12%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1050" b="1">
                        <a:solidFill>
                          <a:srgbClr val="000000"/>
                        </a:solidFill>
                        <a:latin typeface="Neue Haas Grotesk Text Pro"/>
                      </a:rPr>
                      <a:t>27% → 12%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0.27358490566037735</c:v>
                </c:pt>
                <c:pt idx="1">
                  <c:v>0.12138510061639472</c:v>
                </c:pt>
                <c:pt idx="2">
                  <c:v>0.12138510061639472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74CC95"/>
            </a:solidFill>
          </c:spPr>
          <c:dLbls>
            <c:dLbl>
              <c:idx val="0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1050" b="1">
                        <a:solidFill>
                          <a:srgbClr val="000000"/>
                        </a:solidFill>
                        <a:latin typeface="Neue Haas Grotesk Text Pro"/>
                      </a:rPr>
                      <a:t>184 units</a:t>
                    </a:r>
                  </a:p>
                  <a:p>
                    <a:r>
                      <a:rPr sz="1050" b="1">
                        <a:solidFill>
                          <a:srgbClr val="000000"/>
                        </a:solidFill>
                        <a:latin typeface="Neue Haas Grotesk Text Pro"/>
                      </a:rPr>
                      <a:t>29%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1050" b="1">
                        <a:solidFill>
                          <a:srgbClr val="000000"/>
                        </a:solidFill>
                        <a:latin typeface="Neue Haas Grotesk Text Pro"/>
                      </a:rPr>
                      <a:t>Rp 65,1 Bio</a:t>
                    </a:r>
                  </a:p>
                  <a:p>
                    <a:r>
                      <a:rPr sz="1050" b="1">
                        <a:solidFill>
                          <a:srgbClr val="000000"/>
                        </a:solidFill>
                        <a:latin typeface="Neue Haas Grotesk Text Pro"/>
                      </a:rPr>
                      <a:t>20%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1050" b="1">
                        <a:solidFill>
                          <a:srgbClr val="000000"/>
                        </a:solidFill>
                        <a:latin typeface="Neue Haas Grotesk Text Pro"/>
                      </a:rPr>
                      <a:t>29% → 20%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Sheet1!$C$2:$C$4</c:f>
              <c:numCache>
                <c:formatCode>0</c:formatCode>
                <c:ptCount val="3"/>
                <c:pt idx="0">
                  <c:v>0.2893081761006289</c:v>
                </c:pt>
                <c:pt idx="1">
                  <c:v>0.2023998723656238</c:v>
                </c:pt>
                <c:pt idx="2">
                  <c:v>0.2023998723656238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</c:spPr>
          <c:dLbls>
            <c:dLbl>
              <c:idx val="0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1050" b="1">
                        <a:solidFill>
                          <a:srgbClr val="FFFFFF"/>
                        </a:solidFill>
                        <a:latin typeface="Neue Haas Grotesk Text Pro"/>
                      </a:rPr>
                      <a:t>213 units</a:t>
                    </a:r>
                  </a:p>
                  <a:p>
                    <a:r>
                      <a:rPr sz="1050" b="1">
                        <a:solidFill>
                          <a:srgbClr val="FFFFFF"/>
                        </a:solidFill>
                        <a:latin typeface="Neue Haas Grotesk Text Pro"/>
                      </a:rPr>
                      <a:t>33%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1050" b="1">
                        <a:solidFill>
                          <a:srgbClr val="FFFFFF"/>
                        </a:solidFill>
                        <a:latin typeface="Neue Haas Grotesk Text Pro"/>
                      </a:rPr>
                      <a:t>Rp 126,5 Bio</a:t>
                    </a:r>
                  </a:p>
                  <a:p>
                    <a:r>
                      <a:rPr sz="1050" b="1">
                        <a:solidFill>
                          <a:srgbClr val="FFFFFF"/>
                        </a:solidFill>
                        <a:latin typeface="Neue Haas Grotesk Text Pro"/>
                      </a:rPr>
                      <a:t>39%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1050" b="1">
                        <a:solidFill>
                          <a:srgbClr val="FFFFFF"/>
                        </a:solidFill>
                        <a:latin typeface="Neue Haas Grotesk Text Pro"/>
                      </a:rPr>
                      <a:t>33% → 39%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Sheet1!$D$2:$D$4</c:f>
              <c:numCache>
                <c:formatCode>0</c:formatCode>
                <c:ptCount val="3"/>
                <c:pt idx="0">
                  <c:v>0.33490566037735847</c:v>
                </c:pt>
                <c:pt idx="1">
                  <c:v>0.3929951723753521</c:v>
                </c:pt>
                <c:pt idx="2">
                  <c:v>0.3929951723753521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</c:spPr>
          <c:dLbls>
            <c:dLbl>
              <c:idx val="0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1050" b="1">
                        <a:solidFill>
                          <a:srgbClr val="FFFFFF"/>
                        </a:solidFill>
                        <a:latin typeface="Neue Haas Grotesk Text Pro"/>
                      </a:rPr>
                      <a:t>65 units</a:t>
                    </a:r>
                  </a:p>
                  <a:p>
                    <a:r>
                      <a:rPr sz="1050" b="1">
                        <a:solidFill>
                          <a:srgbClr val="FFFFFF"/>
                        </a:solidFill>
                        <a:latin typeface="Neue Haas Grotesk Text Pro"/>
                      </a:rPr>
                      <a:t>10%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1050" b="1">
                        <a:solidFill>
                          <a:srgbClr val="FFFFFF"/>
                        </a:solidFill>
                        <a:latin typeface="Neue Haas Grotesk Text Pro"/>
                      </a:rPr>
                      <a:t>Rp 91,2 Bio</a:t>
                    </a:r>
                  </a:p>
                  <a:p>
                    <a:r>
                      <a:rPr sz="1050" b="1">
                        <a:solidFill>
                          <a:srgbClr val="FFFFFF"/>
                        </a:solidFill>
                        <a:latin typeface="Neue Haas Grotesk Text Pro"/>
                      </a:rPr>
                      <a:t>28%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1050" b="1">
                        <a:solidFill>
                          <a:srgbClr val="FFFFFF"/>
                        </a:solidFill>
                        <a:latin typeface="Neue Haas Grotesk Text Pro"/>
                      </a:rPr>
                      <a:t>10% → 28%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Sheet1!$E$2:$E$4</c:f>
              <c:numCache>
                <c:formatCode>0</c:formatCode>
                <c:ptCount val="3"/>
                <c:pt idx="0">
                  <c:v>0.10220125786163523</c:v>
                </c:pt>
                <c:pt idx="1">
                  <c:v>0.2832198546426294</c:v>
                </c:pt>
                <c:pt idx="2">
                  <c:v>0.2832198546426294</c:v>
                </c:pt>
              </c:numCache>
            </c:numRef>
          </c:val>
        </c:ser>
        <c:gapWidth val="40"/>
        <c:overlap val="100"/>
        <c:serLines>
          <c:spPr>
            <a:ln w="6350">
              <a:solidFill>
                <a:srgbClr val="808080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105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"/>
          <c:y val="0.02"/>
          <c:w val="0.96"/>
          <c:h val="0.89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DEFD9"/>
            </a:solidFill>
          </c:spPr>
          <c:dLbls>
            <c:dLbl>
              <c:idx val="0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1050" b="1">
                        <a:solidFill>
                          <a:srgbClr val="000000"/>
                        </a:solidFill>
                        <a:latin typeface="Neue Haas Grotesk Text Pro"/>
                      </a:rPr>
                      <a:t>37 units</a:t>
                    </a:r>
                  </a:p>
                  <a:p>
                    <a:r>
                      <a:rPr sz="1050" b="1">
                        <a:solidFill>
                          <a:srgbClr val="000000"/>
                        </a:solidFill>
                        <a:latin typeface="Neue Haas Grotesk Text Pro"/>
                      </a:rPr>
                      <a:t>20%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1050" b="1">
                        <a:solidFill>
                          <a:srgbClr val="000000"/>
                        </a:solidFill>
                        <a:latin typeface="Neue Haas Grotesk Text Pro"/>
                      </a:rPr>
                      <a:t>Rp 5,7 Bio 6%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1050" b="1">
                        <a:solidFill>
                          <a:srgbClr val="000000"/>
                        </a:solidFill>
                        <a:latin typeface="Neue Haas Grotesk Text Pro"/>
                      </a:rPr>
                      <a:t>20% → 6%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0.20108695652173914</c:v>
                </c:pt>
                <c:pt idx="1">
                  <c:v>0.05566595246836568</c:v>
                </c:pt>
                <c:pt idx="2">
                  <c:v>0.05566595246836568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74CC95"/>
            </a:solidFill>
          </c:spPr>
          <c:dLbls>
            <c:dLbl>
              <c:idx val="0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1050" b="1">
                        <a:solidFill>
                          <a:srgbClr val="000000"/>
                        </a:solidFill>
                        <a:latin typeface="Neue Haas Grotesk Text Pro"/>
                      </a:rPr>
                      <a:t>53 units</a:t>
                    </a:r>
                  </a:p>
                  <a:p>
                    <a:r>
                      <a:rPr sz="1050" b="1">
                        <a:solidFill>
                          <a:srgbClr val="000000"/>
                        </a:solidFill>
                        <a:latin typeface="Neue Haas Grotesk Text Pro"/>
                      </a:rPr>
                      <a:t>29%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1050" b="1">
                        <a:solidFill>
                          <a:srgbClr val="000000"/>
                        </a:solidFill>
                        <a:latin typeface="Neue Haas Grotesk Text Pro"/>
                      </a:rPr>
                      <a:t>Rp 18,3 Bio</a:t>
                    </a:r>
                  </a:p>
                  <a:p>
                    <a:r>
                      <a:rPr sz="1050" b="1">
                        <a:solidFill>
                          <a:srgbClr val="000000"/>
                        </a:solidFill>
                        <a:latin typeface="Neue Haas Grotesk Text Pro"/>
                      </a:rPr>
                      <a:t>18%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1050" b="1">
                        <a:solidFill>
                          <a:srgbClr val="000000"/>
                        </a:solidFill>
                        <a:latin typeface="Neue Haas Grotesk Text Pro"/>
                      </a:rPr>
                      <a:t>29% → 18%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Sheet1!$C$2:$C$4</c:f>
              <c:numCache>
                <c:formatCode>0</c:formatCode>
                <c:ptCount val="3"/>
                <c:pt idx="0">
                  <c:v>0.28804347826086957</c:v>
                </c:pt>
                <c:pt idx="1">
                  <c:v>0.178852839810858</c:v>
                </c:pt>
                <c:pt idx="2">
                  <c:v>0.178852839810858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</c:spPr>
          <c:dLbls>
            <c:dLbl>
              <c:idx val="0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1050" b="1">
                        <a:solidFill>
                          <a:srgbClr val="FFFFFF"/>
                        </a:solidFill>
                        <a:latin typeface="Neue Haas Grotesk Text Pro"/>
                      </a:rPr>
                      <a:t>59 units</a:t>
                    </a:r>
                  </a:p>
                  <a:p>
                    <a:r>
                      <a:rPr sz="1050" b="1">
                        <a:solidFill>
                          <a:srgbClr val="FFFFFF"/>
                        </a:solidFill>
                        <a:latin typeface="Neue Haas Grotesk Text Pro"/>
                      </a:rPr>
                      <a:t>32%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1050" b="1">
                        <a:solidFill>
                          <a:srgbClr val="FFFFFF"/>
                        </a:solidFill>
                        <a:latin typeface="Neue Haas Grotesk Text Pro"/>
                      </a:rPr>
                      <a:t>Rp 30,3 Bio</a:t>
                    </a:r>
                  </a:p>
                  <a:p>
                    <a:r>
                      <a:rPr sz="1050" b="1">
                        <a:solidFill>
                          <a:srgbClr val="FFFFFF"/>
                        </a:solidFill>
                        <a:latin typeface="Neue Haas Grotesk Text Pro"/>
                      </a:rPr>
                      <a:t>30%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1050" b="1">
                        <a:solidFill>
                          <a:srgbClr val="FFFFFF"/>
                        </a:solidFill>
                        <a:latin typeface="Neue Haas Grotesk Text Pro"/>
                      </a:rPr>
                      <a:t>32% → 30%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Sheet1!$D$2:$D$4</c:f>
              <c:numCache>
                <c:formatCode>0</c:formatCode>
                <c:ptCount val="3"/>
                <c:pt idx="0">
                  <c:v>0.32065217391304346</c:v>
                </c:pt>
                <c:pt idx="1">
                  <c:v>0.29636446697362956</c:v>
                </c:pt>
                <c:pt idx="2">
                  <c:v>0.29636446697362956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</c:spPr>
          <c:dLbls>
            <c:dLbl>
              <c:idx val="0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1050" b="1">
                        <a:solidFill>
                          <a:srgbClr val="FFFFFF"/>
                        </a:solidFill>
                        <a:latin typeface="Neue Haas Grotesk Text Pro"/>
                      </a:rPr>
                      <a:t>35 units</a:t>
                    </a:r>
                  </a:p>
                  <a:p>
                    <a:r>
                      <a:rPr sz="1050" b="1">
                        <a:solidFill>
                          <a:srgbClr val="FFFFFF"/>
                        </a:solidFill>
                        <a:latin typeface="Neue Haas Grotesk Text Pro"/>
                      </a:rPr>
                      <a:t>19%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1050" b="1">
                        <a:solidFill>
                          <a:srgbClr val="FFFFFF"/>
                        </a:solidFill>
                        <a:latin typeface="Neue Haas Grotesk Text Pro"/>
                      </a:rPr>
                      <a:t>Rp 48,0 Bio</a:t>
                    </a:r>
                  </a:p>
                  <a:p>
                    <a:r>
                      <a:rPr sz="1050" b="1">
                        <a:solidFill>
                          <a:srgbClr val="FFFFFF"/>
                        </a:solidFill>
                        <a:latin typeface="Neue Haas Grotesk Text Pro"/>
                      </a:rPr>
                      <a:t>47%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1050" b="1">
                        <a:solidFill>
                          <a:srgbClr val="FFFFFF"/>
                        </a:solidFill>
                        <a:latin typeface="Neue Haas Grotesk Text Pro"/>
                      </a:rPr>
                      <a:t>19% → 47%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Sheet1!$E$2:$E$4</c:f>
              <c:numCache>
                <c:formatCode>0</c:formatCode>
                <c:ptCount val="3"/>
                <c:pt idx="0">
                  <c:v>0.19021739130434784</c:v>
                </c:pt>
                <c:pt idx="1">
                  <c:v>0.4691167407471469</c:v>
                </c:pt>
                <c:pt idx="2">
                  <c:v>0.4691167407471469</c:v>
                </c:pt>
              </c:numCache>
            </c:numRef>
          </c:val>
        </c:ser>
        <c:gapWidth val="40"/>
        <c:overlap val="100"/>
        <c:serLines>
          <c:spPr>
            <a:ln w="6350">
              <a:solidFill>
                <a:srgbClr val="808080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105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96"/>
        </c:manualLayout>
      </c:layout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</c:spPr>
          <c:dLbls>
            <c:dLbl>
              <c:idx val="0"/>
              <c:delete val="1"/>
            </c:dLbl>
            <c:dLbl>
              <c:idx val="1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950" b="1">
                        <a:solidFill>
                          <a:srgbClr val="FFFFFF"/>
                        </a:solidFill>
                        <a:latin typeface="Neue Haas Grotesk Text Pro"/>
                      </a:rPr>
                      <a:t>Sany Palfinger</a:t>
                    </a:r>
                  </a:p>
                  <a:p>
                    <a:r>
                      <a:rPr sz="950" b="1">
                        <a:solidFill>
                          <a:srgbClr val="FFFFFF"/>
                        </a:solidFill>
                        <a:latin typeface="Neue Haas Grotesk Text Pro"/>
                      </a:rPr>
                      <a:t>44%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950" b="1">
                        <a:solidFill>
                          <a:srgbClr val="FFFFFF"/>
                        </a:solidFill>
                        <a:latin typeface="Neue Haas Grotesk Text Pro"/>
                      </a:rPr>
                      <a:t>Sany Palfinger</a:t>
                    </a:r>
                  </a:p>
                  <a:p>
                    <a:r>
                      <a:rPr sz="950" b="1">
                        <a:solidFill>
                          <a:srgbClr val="FFFFFF"/>
                        </a:solidFill>
                        <a:latin typeface="Neue Haas Grotesk Text Pro"/>
                      </a:rPr>
                      <a:t>52%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950" b="1">
                        <a:solidFill>
                          <a:srgbClr val="FFFFFF"/>
                        </a:solidFill>
                        <a:latin typeface="Neue Haas Grotesk Text Pro"/>
                      </a:rPr>
                      <a:t>Sany Palfinger</a:t>
                    </a:r>
                  </a:p>
                  <a:p>
                    <a:r>
                      <a:rPr sz="950" b="1">
                        <a:solidFill>
                          <a:srgbClr val="FFFFFF"/>
                        </a:solidFill>
                        <a:latin typeface="Neue Haas Grotesk Text Pro"/>
                      </a:rPr>
                      <a:t>84%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0.02572063976705964</c:v>
                </c:pt>
                <c:pt idx="1">
                  <c:v>0.435835642837225</c:v>
                </c:pt>
                <c:pt idx="2">
                  <c:v>0.519346998857831</c:v>
                </c:pt>
                <c:pt idx="3">
                  <c:v>0.8388817668829882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</c:spPr>
          <c:dLbls>
            <c:dLbl>
              <c:idx val="3"/>
              <c:delete val="1"/>
            </c:dLbl>
            <c:dLbl>
              <c:idx val="0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950" b="1">
                        <a:solidFill>
                          <a:srgbClr val="FFFFFF"/>
                        </a:solidFill>
                        <a:latin typeface="Neue Haas Grotesk Text Pro"/>
                      </a:rPr>
                      <a:t>Palfinger</a:t>
                    </a:r>
                  </a:p>
                  <a:p>
                    <a:r>
                      <a:rPr sz="950" b="1">
                        <a:solidFill>
                          <a:srgbClr val="FFFFFF"/>
                        </a:solidFill>
                        <a:latin typeface="Neue Haas Grotesk Text Pro"/>
                      </a:rPr>
                      <a:t>62%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950" b="1">
                        <a:solidFill>
                          <a:srgbClr val="FFFFFF"/>
                        </a:solidFill>
                        <a:latin typeface="Neue Haas Grotesk Text Pro"/>
                      </a:rPr>
                      <a:t>Palfinger</a:t>
                    </a:r>
                  </a:p>
                  <a:p>
                    <a:r>
                      <a:rPr sz="950" b="1">
                        <a:solidFill>
                          <a:srgbClr val="FFFFFF"/>
                        </a:solidFill>
                        <a:latin typeface="Neue Haas Grotesk Text Pro"/>
                      </a:rPr>
                      <a:t>16%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950" b="1">
                        <a:solidFill>
                          <a:srgbClr val="FFFFFF"/>
                        </a:solidFill>
                        <a:latin typeface="Neue Haas Grotesk Text Pro"/>
                      </a:rPr>
                      <a:t>Palfinger</a:t>
                    </a:r>
                  </a:p>
                  <a:p>
                    <a:r>
                      <a:rPr sz="950" b="1">
                        <a:solidFill>
                          <a:srgbClr val="FFFFFF"/>
                        </a:solidFill>
                        <a:latin typeface="Neue Haas Grotesk Text Pro"/>
                      </a:rPr>
                      <a:t>13%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0.6190973142679757</c:v>
                </c:pt>
                <c:pt idx="1">
                  <c:v>0.16044099825011773</c:v>
                </c:pt>
                <c:pt idx="2">
                  <c:v>0.1278948068874679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74CC95"/>
            </a:solidFill>
          </c:spPr>
          <c:dLbls>
            <c:dLbl>
              <c:idx val="0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900" b="1">
                        <a:solidFill>
                          <a:srgbClr val="000000"/>
                        </a:solidFill>
                        <a:latin typeface="Neue Haas Grotesk Text Pro"/>
                      </a:rPr>
                      <a:t>10%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950" b="1">
                        <a:solidFill>
                          <a:srgbClr val="000000"/>
                        </a:solidFill>
                        <a:latin typeface="Neue Haas Grotesk Text Pro"/>
                      </a:rPr>
                      <a:t>XCMG</a:t>
                    </a:r>
                  </a:p>
                  <a:p>
                    <a:r>
                      <a:rPr sz="950" b="1">
                        <a:solidFill>
                          <a:srgbClr val="000000"/>
                        </a:solidFill>
                        <a:latin typeface="Neue Haas Grotesk Text Pro"/>
                      </a:rPr>
                      <a:t>24%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950" b="1">
                        <a:solidFill>
                          <a:srgbClr val="000000"/>
                        </a:solidFill>
                        <a:latin typeface="Neue Haas Grotesk Text Pro"/>
                      </a:rPr>
                      <a:t>XCMG</a:t>
                    </a:r>
                  </a:p>
                  <a:p>
                    <a:r>
                      <a:rPr sz="950" b="1">
                        <a:solidFill>
                          <a:srgbClr val="000000"/>
                        </a:solidFill>
                        <a:latin typeface="Neue Haas Grotesk Text Pro"/>
                      </a:rPr>
                      <a:t>18%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950" b="1">
                        <a:solidFill>
                          <a:srgbClr val="000000"/>
                        </a:solidFill>
                        <a:latin typeface="Neue Haas Grotesk Text Pro"/>
                      </a:rPr>
                      <a:t>XCMG</a:t>
                    </a:r>
                  </a:p>
                  <a:p>
                    <a:r>
                      <a:rPr sz="950" b="1">
                        <a:solidFill>
                          <a:srgbClr val="000000"/>
                        </a:solidFill>
                        <a:latin typeface="Neue Haas Grotesk Text Pro"/>
                      </a:rPr>
                      <a:t>13%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Sheet1!$D$2:$D$5</c:f>
              <c:numCache>
                <c:formatCode>0</c:formatCode>
                <c:ptCount val="4"/>
                <c:pt idx="0">
                  <c:v>0.09673364865530605</c:v>
                </c:pt>
                <c:pt idx="1">
                  <c:v>0.23717507393746734</c:v>
                </c:pt>
                <c:pt idx="2">
                  <c:v>0.1798208090220965</c:v>
                </c:pt>
                <c:pt idx="3">
                  <c:v>0.12712297958698074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B7E4C7"/>
            </a:solidFill>
          </c:spPr>
          <c:dLbls>
            <c:dLbl>
              <c:idx val="3"/>
              <c:delete val="1"/>
            </c:dLbl>
            <c:dLbl>
              <c:idx val="0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950" b="1">
                        <a:solidFill>
                          <a:srgbClr val="000000"/>
                        </a:solidFill>
                        <a:latin typeface="Neue Haas Grotesk Text Pro"/>
                      </a:rPr>
                      <a:t>Amco Veba</a:t>
                    </a:r>
                  </a:p>
                  <a:p>
                    <a:r>
                      <a:rPr sz="950" b="1">
                        <a:solidFill>
                          <a:srgbClr val="000000"/>
                        </a:solidFill>
                        <a:latin typeface="Neue Haas Grotesk Text Pro"/>
                      </a:rPr>
                      <a:t>23%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900" b="1">
                        <a:solidFill>
                          <a:srgbClr val="000000"/>
                        </a:solidFill>
                        <a:latin typeface="Neue Haas Grotesk Text Pro"/>
                      </a:rPr>
                      <a:t>9%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900" b="1">
                        <a:solidFill>
                          <a:srgbClr val="000000"/>
                        </a:solidFill>
                        <a:latin typeface="Neue Haas Grotesk Text Pro"/>
                      </a:rPr>
                      <a:t>6%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Sheet1!$E$2:$E$5</c:f>
              <c:numCache>
                <c:formatCode>0</c:formatCode>
                <c:ptCount val="4"/>
                <c:pt idx="0">
                  <c:v>0.23036484787363148</c:v>
                </c:pt>
                <c:pt idx="1">
                  <c:v>0.08943847770864047</c:v>
                </c:pt>
                <c:pt idx="2">
                  <c:v>0.05528681240301065</c:v>
                </c:pt>
                <c:pt idx="3">
                  <c:v>0.0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HIAB</c:v>
                </c:pt>
              </c:strCache>
            </c:strRef>
          </c:tx>
          <c:spPr>
            <a:solidFill>
              <a:srgbClr val="A6A6A6"/>
            </a:solidFill>
          </c:spPr>
          <c:dLbls>
            <c:dLbl>
              <c:idx val="3"/>
              <c:delete val="1"/>
            </c:dLbl>
            <c:dLbl>
              <c:idx val="0"/>
              <c:delete val="1"/>
            </c:dLbl>
            <c:dLbl>
              <c:idx val="1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900" b="1">
                        <a:solidFill>
                          <a:srgbClr val="000000"/>
                        </a:solidFill>
                        <a:latin typeface="Neue Haas Grotesk Text Pro"/>
                      </a:rPr>
                      <a:t>8%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/>
                    </a:pPr>
                    <a:r>
                      <a:rPr sz="900" b="1">
                        <a:solidFill>
                          <a:srgbClr val="000000"/>
                        </a:solidFill>
                        <a:latin typeface="Neue Haas Grotesk Text Pro"/>
                      </a:rPr>
                      <a:t>6%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Sheet1!$F$2:$F$5</c:f>
              <c:numCache>
                <c:formatCode>0</c:formatCode>
                <c:ptCount val="4"/>
                <c:pt idx="0">
                  <c:v>0.0</c:v>
                </c:pt>
                <c:pt idx="1">
                  <c:v>0.07710980726654923</c:v>
                </c:pt>
                <c:pt idx="2">
                  <c:v>0.05856748903691582</c:v>
                </c:pt>
                <c:pt idx="3">
                  <c:v>0.0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Fassi</c:v>
                </c:pt>
              </c:strCache>
            </c:strRef>
          </c:tx>
          <c:spPr>
            <a:solidFill>
              <a:srgbClr val="D0D0D0"/>
            </a:solidFill>
          </c:spPr>
          <c:dLbls>
            <c:dLbl>
              <c:idx val="3"/>
              <c:delete val="1"/>
            </c:dLbl>
            <c:dLbl>
              <c:idx val="2"/>
              <c:delete val="1"/>
            </c:dLbl>
            <c:dLbl>
              <c:idx val="1"/>
              <c:delete val="1"/>
            </c:dLbl>
            <c:dLbl>
              <c:idx val="0"/>
              <c:delete val="1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Sheet1!$G$2:$G$5</c:f>
              <c:numCache>
                <c:formatCode>0</c:formatCode>
                <c:ptCount val="4"/>
                <c:pt idx="0">
                  <c:v>0.028083549436027307</c:v>
                </c:pt>
                <c:pt idx="1">
                  <c:v>0.0</c:v>
                </c:pt>
                <c:pt idx="2">
                  <c:v>0.049721330741344515</c:v>
                </c:pt>
                <c:pt idx="3">
                  <c:v>0.0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Bob-Lift</c:v>
                </c:pt>
              </c:strCache>
            </c:strRef>
          </c:tx>
          <c:spPr>
            <a:solidFill>
              <a:srgbClr val="EDEDED"/>
            </a:solidFill>
          </c:spPr>
          <c:dLbls>
            <c:dLbl>
              <c:idx val="3"/>
              <c:delete val="1"/>
            </c:dLbl>
            <c:dLbl>
              <c:idx val="2"/>
              <c:delete val="1"/>
            </c:dLbl>
            <c:dLbl>
              <c:idx val="1"/>
              <c:delete val="1"/>
            </c:dLbl>
            <c:dLbl>
              <c:idx val="0"/>
              <c:delete val="1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Sheet1!$H$2:$H$5</c:f>
              <c:numCache>
                <c:formatCode>0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0.009361753051333842</c:v>
                </c:pt>
                <c:pt idx="3">
                  <c:v>0.03399525353003126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/>
        <c:axPos val="l"/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105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3820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Indonesian Import Folding Crane 23–26/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How big is the market?</a:t>
              </a:r>
              <a:br>
                <a:rPr lang="en-US" sz="1600" b="1" dirty="0"/>
              </a:br>
              <a:r>
                <a:rPr lang="en-US" sz="1600" b="1" dirty="0"/>
                <a:t>And how much sells each year?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Every class buys every year: Light &amp; Small bring the volume, Medium &amp; Heavy bring the value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From 2023 to 2026, Indonesia imported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636 folding cranes (Rp 321,8 Bio)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, about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188 units (Rp 100,2 Bio) a year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Light &amp; Small make up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56%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, while Medium &amp; Heavy hold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68% of value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42900" y="2400300"/>
            <a:ext cx="5524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Neue Haas Grotesk Text Pro"/>
              </a:rPr>
              <a:t>Imported folding cranes by class per year, 2023 –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00250" y="2609850"/>
            <a:ext cx="39052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000000"/>
                </a:solidFill>
                <a:latin typeface="Neue Haas Grotesk Text Pro"/>
              </a:rPr>
              <a:t>Heavy almost </a:t>
            </a:r>
            <a:r>
              <a:rPr sz="1150" b="1">
                <a:solidFill>
                  <a:srgbClr val="1E9E57"/>
                </a:solidFill>
                <a:latin typeface="Neue Haas Grotesk Text Pro"/>
              </a:rPr>
              <a:t>tripled from 12 to 35 units in 2025</a:t>
            </a:r>
            <a:r>
              <a:rPr sz="1150" b="0">
                <a:solidFill>
                  <a:srgbClr val="000000"/>
                </a:solidFill>
                <a:latin typeface="Neue Haas Grotesk Text Pro"/>
              </a:rPr>
              <a:t> (19% of that year), while </a:t>
            </a:r>
            <a:r>
              <a:rPr sz="1150" b="1">
                <a:solidFill>
                  <a:srgbClr val="1E9E57"/>
                </a:solidFill>
                <a:latin typeface="Neue Haas Grotesk Text Pro"/>
              </a:rPr>
              <a:t>Light fell from 54 to 37</a:t>
            </a:r>
            <a:r>
              <a:rPr sz="1150" b="0">
                <a:solidFill>
                  <a:srgbClr val="000000"/>
                </a:solidFill>
                <a:latin typeface="Neue Haas Grotesk Text Pro"/>
              </a:rPr>
              <a:t>.</a:t>
            </a:r>
          </a:p>
        </p:txBody>
      </p:sp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342900" y="2971800"/>
          <a:ext cx="4476750" cy="30670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555069" y="3033545"/>
            <a:ext cx="762000" cy="142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Neue Haas Grotesk Text Pro"/>
              </a:rPr>
              <a:t>195 units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51873" y="3178370"/>
            <a:ext cx="762000" cy="142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Neue Haas Grotesk Text Pro"/>
              </a:rPr>
              <a:t>184 units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8677" y="3178370"/>
            <a:ext cx="762000" cy="142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Neue Haas Grotesk Text Pro"/>
              </a:rPr>
              <a:t>184 units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5481" y="4639782"/>
            <a:ext cx="762000" cy="142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Neue Haas Grotesk Text Pro"/>
              </a:rPr>
              <a:t>73 units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5850" y="31432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00000"/>
                </a:solidFill>
                <a:latin typeface="Neue Haas Grotesk Text Pro"/>
              </a:rPr>
              <a:t>Avg sales / year</a:t>
            </a:r>
          </a:p>
          <a:p>
            <a:pPr algn="ctr"/>
            <a:r>
              <a:rPr sz="950" b="1">
                <a:solidFill>
                  <a:srgbClr val="000000"/>
                </a:solidFill>
                <a:latin typeface="Neue Haas Grotesk Text Pro"/>
              </a:rPr>
              <a:t>Light &amp; Small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895850" y="3448050"/>
            <a:ext cx="990600" cy="0"/>
          </a:xfrm>
          <a:prstGeom prst="line">
            <a:avLst/>
          </a:prstGeom>
          <a:ln w="9525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895850" y="34861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9E57"/>
                </a:solidFill>
                <a:latin typeface="Neue Haas Grotesk Text Pro"/>
              </a:rPr>
              <a:t>100 units</a:t>
            </a:r>
          </a:p>
          <a:p>
            <a:pPr algn="ctr"/>
            <a:r>
              <a:rPr sz="1100" b="1">
                <a:solidFill>
                  <a:srgbClr val="1E9E57"/>
                </a:solidFill>
                <a:latin typeface="Neue Haas Grotesk Text Pro"/>
              </a:rPr>
              <a:t>Rp 30,2 Bio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5850" y="39052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00000"/>
                </a:solidFill>
                <a:latin typeface="Neue Haas Grotesk Text Pro"/>
              </a:rPr>
              <a:t>Avg sales / year</a:t>
            </a:r>
          </a:p>
          <a:p>
            <a:pPr algn="ctr"/>
            <a:r>
              <a:rPr sz="950" b="1">
                <a:solidFill>
                  <a:srgbClr val="000000"/>
                </a:solidFill>
                <a:latin typeface="Neue Haas Grotesk Text Pro"/>
              </a:rPr>
              <a:t>Medium &amp; Heavy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895850" y="4210050"/>
            <a:ext cx="990600" cy="0"/>
          </a:xfrm>
          <a:prstGeom prst="line">
            <a:avLst/>
          </a:prstGeom>
          <a:ln w="9525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895850" y="42481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9E57"/>
                </a:solidFill>
                <a:latin typeface="Neue Haas Grotesk Text Pro"/>
              </a:rPr>
              <a:t>88 units</a:t>
            </a:r>
          </a:p>
          <a:p>
            <a:pPr algn="ctr"/>
            <a:r>
              <a:rPr sz="1100" b="1">
                <a:solidFill>
                  <a:srgbClr val="1E9E57"/>
                </a:solidFill>
                <a:latin typeface="Neue Haas Grotesk Text Pro"/>
              </a:rPr>
              <a:t>Rp 70,0 Bio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5850" y="46672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Neue Haas Grotesk Text Pro"/>
              </a:rPr>
              <a:t>Average of the full years 2023 – 2025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1000" y="6115050"/>
            <a:ext cx="95250" cy="95250"/>
          </a:xfrm>
          <a:prstGeom prst="rect">
            <a:avLst/>
          </a:prstGeom>
          <a:solidFill>
            <a:srgbClr val="C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435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Light (≤ 8 tm)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62125" y="6115050"/>
            <a:ext cx="95250" cy="95250"/>
          </a:xfrm>
          <a:prstGeom prst="rect">
            <a:avLst/>
          </a:prstGeom>
          <a:solidFill>
            <a:srgbClr val="74CC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9547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Small (8–25 tm)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43250" y="6115050"/>
            <a:ext cx="95250" cy="9525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7660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(25–45 tm)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24375" y="6115050"/>
            <a:ext cx="95250" cy="952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5772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(&gt; 45 tm)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42900" y="6305550"/>
            <a:ext cx="5524500" cy="19050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9100" y="6334125"/>
            <a:ext cx="5391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Ton-meter classes follow the Application Engineering classification. *2026 is a partial year.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000750" y="2381250"/>
            <a:ext cx="0" cy="4152900"/>
          </a:xfrm>
          <a:prstGeom prst="line">
            <a:avLst/>
          </a:prstGeom>
          <a:ln w="28575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5867400" y="4324350"/>
            <a:ext cx="266700" cy="266700"/>
          </a:xfrm>
          <a:prstGeom prst="ellipse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Neue Haas Grotesk Text Pro"/>
              </a:rPr>
              <a:t>&gt;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91250" y="2400300"/>
            <a:ext cx="56388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Neue Haas Grotesk Text Pro"/>
              </a:rPr>
              <a:t>Imported folding cranes by class, 2023 – 2026</a:t>
            </a: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7010400" y="2628900"/>
          <a:ext cx="4000500" cy="34099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Left Brace 63"/>
          <p:cNvSpPr/>
          <p:nvPr/>
        </p:nvSpPr>
        <p:spPr>
          <a:xfrm>
            <a:off x="7101840" y="2697099"/>
            <a:ext cx="114300" cy="1297981"/>
          </a:xfrm>
          <a:prstGeom prst="leftBrace">
            <a:avLst/>
          </a:prstGeom>
          <a:noFill/>
          <a:ln w="19050">
            <a:solidFill>
              <a:srgbClr val="1E9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Left Brace 64"/>
          <p:cNvSpPr/>
          <p:nvPr/>
        </p:nvSpPr>
        <p:spPr>
          <a:xfrm>
            <a:off x="7101840" y="4052230"/>
            <a:ext cx="114300" cy="1679724"/>
          </a:xfrm>
          <a:prstGeom prst="lef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ight Brace 65"/>
          <p:cNvSpPr/>
          <p:nvPr/>
        </p:nvSpPr>
        <p:spPr>
          <a:xfrm>
            <a:off x="10805160" y="2697099"/>
            <a:ext cx="114300" cy="2023640"/>
          </a:xfrm>
          <a:prstGeom prst="rightBrace">
            <a:avLst/>
          </a:prstGeom>
          <a:noFill/>
          <a:ln w="19050">
            <a:solidFill>
              <a:srgbClr val="1E9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ight Brace 66"/>
          <p:cNvSpPr/>
          <p:nvPr/>
        </p:nvSpPr>
        <p:spPr>
          <a:xfrm>
            <a:off x="10805160" y="4777889"/>
            <a:ext cx="114300" cy="954066"/>
          </a:xfrm>
          <a:prstGeom prst="righ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172200" y="3034146"/>
            <a:ext cx="781050" cy="65246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00775" y="3072246"/>
            <a:ext cx="723900" cy="595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9E57"/>
                </a:solidFill>
                <a:latin typeface="Neue Haas Grotesk Text Pro"/>
              </a:rPr>
              <a:t>44%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units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Medium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Heavy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551574"/>
            <a:ext cx="781050" cy="65246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00775" y="4589674"/>
            <a:ext cx="723900" cy="595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56%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units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Light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Small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1049000" y="3332681"/>
            <a:ext cx="7810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077575" y="3370781"/>
            <a:ext cx="7239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9E57"/>
                </a:solidFill>
                <a:latin typeface="Neue Haas Grotesk Text Pro"/>
              </a:rPr>
              <a:t>68%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value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(Rp 217,6 Bio)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Medium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Heavy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049000" y="4850109"/>
            <a:ext cx="7810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077575" y="4888209"/>
            <a:ext cx="7239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32%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value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(Rp 104,2 Bio)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Light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Small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86500" y="6115050"/>
            <a:ext cx="95250" cy="95250"/>
          </a:xfrm>
          <a:prstGeom prst="rect">
            <a:avLst/>
          </a:prstGeom>
          <a:solidFill>
            <a:srgbClr val="C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1985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Light (≤ 8 tm)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667625" y="6115050"/>
            <a:ext cx="95250" cy="95250"/>
          </a:xfrm>
          <a:prstGeom prst="rect">
            <a:avLst/>
          </a:prstGeom>
          <a:solidFill>
            <a:srgbClr val="74CC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80097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Small (8–25 tm)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048750" y="6115050"/>
            <a:ext cx="95250" cy="9525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18210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(25–45 tm)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429875" y="6115050"/>
            <a:ext cx="95250" cy="952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322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(&gt; 45 tm)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10400" y="6305550"/>
            <a:ext cx="4000500" cy="1905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010400" y="6334125"/>
            <a:ext cx="4000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E9E57"/>
                </a:solidFill>
                <a:latin typeface="Neue Haas Grotesk Text Pro"/>
              </a:rPr>
              <a:t>Light &amp; Small bring the volume, Medium &amp; Heavy bring the value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42900" y="6591300"/>
            <a:ext cx="11487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2023 – 2026; 2026 is a partial year. Folding cranes only; excludes the Noir "Excluded Rows", Hyva, Zoomlion, HIAB XG grabbers, Tadano TM-Z telescopic and 2 invalid-price records. Value = import value before tax × Rp 17.803/USD (JISDOR 23 Sep 2026).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3820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Indonesian Import Folding Crane 2025/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How big was 2025?</a:t>
              </a:r>
              <a:br>
                <a:rPr lang="en-US" sz="1600" b="1" dirty="0"/>
              </a:br>
              <a:r>
                <a:rPr lang="en-US" sz="1600" b="1" dirty="0"/>
                <a:t>And who led each class?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2025: Sany Palfinger led Light, Small and Medium; Palfinger led Heavy with 62% of its value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In 2025, Indonesia imported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184 folding cranes (Rp 102,4 Bio)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Light &amp; Small made up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49%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, while Medium &amp; Heavy held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77% of value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In every class,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the top three brands held 83% or more of the value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42900" y="2400300"/>
            <a:ext cx="5524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Neue Haas Grotesk Text Pro"/>
              </a:rPr>
              <a:t>Imported folding cranes by class, 2025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1162050" y="2628900"/>
          <a:ext cx="4000500" cy="34099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8" name="Left Brace 37"/>
          <p:cNvSpPr/>
          <p:nvPr/>
        </p:nvSpPr>
        <p:spPr>
          <a:xfrm>
            <a:off x="1253490" y="2697099"/>
            <a:ext cx="114300" cy="1521840"/>
          </a:xfrm>
          <a:prstGeom prst="leftBrace">
            <a:avLst/>
          </a:prstGeom>
          <a:noFill/>
          <a:ln w="19050">
            <a:solidFill>
              <a:srgbClr val="1E9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Left Brace 38"/>
          <p:cNvSpPr/>
          <p:nvPr/>
        </p:nvSpPr>
        <p:spPr>
          <a:xfrm>
            <a:off x="1253490" y="4276089"/>
            <a:ext cx="114300" cy="1455865"/>
          </a:xfrm>
          <a:prstGeom prst="lef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ight Brace 39"/>
          <p:cNvSpPr/>
          <p:nvPr/>
        </p:nvSpPr>
        <p:spPr>
          <a:xfrm>
            <a:off x="4956810" y="2697099"/>
            <a:ext cx="114300" cy="2294550"/>
          </a:xfrm>
          <a:prstGeom prst="rightBrace">
            <a:avLst/>
          </a:prstGeom>
          <a:noFill/>
          <a:ln w="19050">
            <a:solidFill>
              <a:srgbClr val="1E9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Brace 40"/>
          <p:cNvSpPr/>
          <p:nvPr/>
        </p:nvSpPr>
        <p:spPr>
          <a:xfrm>
            <a:off x="4956810" y="5048799"/>
            <a:ext cx="114300" cy="683156"/>
          </a:xfrm>
          <a:prstGeom prst="righ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23850" y="3146075"/>
            <a:ext cx="781050" cy="65246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2425" y="3184175"/>
            <a:ext cx="723900" cy="595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9E57"/>
                </a:solidFill>
                <a:latin typeface="Neue Haas Grotesk Text Pro"/>
              </a:rPr>
              <a:t>51%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units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Medium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Heavy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3850" y="4663503"/>
            <a:ext cx="781050" cy="65246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2425" y="4701603"/>
            <a:ext cx="723900" cy="595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49%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units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Light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Small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00650" y="3468136"/>
            <a:ext cx="7810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29225" y="3506236"/>
            <a:ext cx="7239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9E57"/>
                </a:solidFill>
                <a:latin typeface="Neue Haas Grotesk Text Pro"/>
              </a:rPr>
              <a:t>77%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value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(Rp 78,4 Bio)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Medium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Heavy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00650" y="4985564"/>
            <a:ext cx="7810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29225" y="5023664"/>
            <a:ext cx="7239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23%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value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(Rp 24,0 Bio)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Light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Small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1000" y="6115050"/>
            <a:ext cx="95250" cy="95250"/>
          </a:xfrm>
          <a:prstGeom prst="rect">
            <a:avLst/>
          </a:prstGeom>
          <a:solidFill>
            <a:srgbClr val="C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435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Light (≤ 8 tm)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62125" y="6115050"/>
            <a:ext cx="95250" cy="95250"/>
          </a:xfrm>
          <a:prstGeom prst="rect">
            <a:avLst/>
          </a:prstGeom>
          <a:solidFill>
            <a:srgbClr val="74CC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9547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Small (8–25 tm)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43250" y="6115050"/>
            <a:ext cx="95250" cy="9525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7660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(25–45 tm)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24375" y="6115050"/>
            <a:ext cx="95250" cy="952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5772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(&gt; 45 tm)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42900" y="6305550"/>
            <a:ext cx="5524500" cy="19050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9100" y="6334125"/>
            <a:ext cx="5391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Ton-meter classes follow the Application Engineering classification.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000750" y="2381250"/>
            <a:ext cx="0" cy="4152900"/>
          </a:xfrm>
          <a:prstGeom prst="line">
            <a:avLst/>
          </a:prstGeom>
          <a:ln w="28575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5867400" y="4324350"/>
            <a:ext cx="266700" cy="266700"/>
          </a:xfrm>
          <a:prstGeom prst="ellipse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Neue Haas Grotesk Text Pro"/>
              </a:rPr>
              <a:t>&gt;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91250" y="2400300"/>
            <a:ext cx="56388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Neue Haas Grotesk Text Pro"/>
              </a:rPr>
              <a:t>Who led each class in 2025,</a:t>
            </a:r>
            <a:r>
              <a:rPr sz="1250" b="0">
                <a:solidFill>
                  <a:srgbClr val="000000"/>
                </a:solidFill>
                <a:latin typeface="Neue Haas Grotesk Text Pro"/>
              </a:rPr>
              <a:t> % of class value</a:t>
            </a: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7048500" y="2647950"/>
          <a:ext cx="3810000" cy="33337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6191250" y="2962275"/>
            <a:ext cx="8191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000000"/>
                </a:solidFill>
                <a:latin typeface="Neue Haas Grotesk Text Pro"/>
              </a:rPr>
              <a:t>Light</a:t>
            </a:r>
          </a:p>
          <a:p>
            <a:pPr algn="r"/>
            <a:r>
              <a:rPr sz="900" b="0">
                <a:solidFill>
                  <a:srgbClr val="000000"/>
                </a:solidFill>
                <a:latin typeface="Neue Haas Grotesk Text Pro"/>
              </a:rPr>
              <a:t>37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15650" y="2962275"/>
            <a:ext cx="91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Rp 5,7 Bio</a:t>
            </a:r>
          </a:p>
          <a:p>
            <a:pPr algn="l"/>
            <a:r>
              <a:rPr sz="850" b="0">
                <a:solidFill>
                  <a:srgbClr val="595959"/>
                </a:solidFill>
                <a:latin typeface="Neue Haas Grotesk Text Pro"/>
              </a:rPr>
              <a:t>top 3: 100%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91250" y="3762375"/>
            <a:ext cx="8191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000000"/>
                </a:solidFill>
                <a:latin typeface="Neue Haas Grotesk Text Pro"/>
              </a:rPr>
              <a:t>Small</a:t>
            </a:r>
          </a:p>
          <a:p>
            <a:pPr algn="r"/>
            <a:r>
              <a:rPr sz="900" b="0">
                <a:solidFill>
                  <a:srgbClr val="000000"/>
                </a:solidFill>
                <a:latin typeface="Neue Haas Grotesk Text Pro"/>
              </a:rPr>
              <a:t>53 units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15650" y="3762375"/>
            <a:ext cx="91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Rp 18,3 Bio</a:t>
            </a:r>
          </a:p>
          <a:p>
            <a:pPr algn="l"/>
            <a:r>
              <a:rPr sz="850" b="0">
                <a:solidFill>
                  <a:srgbClr val="595959"/>
                </a:solidFill>
                <a:latin typeface="Neue Haas Grotesk Text Pro"/>
              </a:rPr>
              <a:t>top 3: 83%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91250" y="4562475"/>
            <a:ext cx="8191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E9E57"/>
                </a:solidFill>
                <a:latin typeface="Neue Haas Grotesk Text Pro"/>
              </a:rPr>
              <a:t>Medium</a:t>
            </a:r>
          </a:p>
          <a:p>
            <a:pPr algn="r"/>
            <a:r>
              <a:rPr sz="900" b="0">
                <a:solidFill>
                  <a:srgbClr val="000000"/>
                </a:solidFill>
                <a:latin typeface="Neue Haas Grotesk Text Pro"/>
              </a:rPr>
              <a:t>59 units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15650" y="4562475"/>
            <a:ext cx="91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Rp 30,3 Bio</a:t>
            </a:r>
          </a:p>
          <a:p>
            <a:pPr algn="l"/>
            <a:r>
              <a:rPr sz="850" b="0">
                <a:solidFill>
                  <a:srgbClr val="595959"/>
                </a:solidFill>
                <a:latin typeface="Neue Haas Grotesk Text Pro"/>
              </a:rPr>
              <a:t>top 3: 83%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91250" y="5362575"/>
            <a:ext cx="8191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E9E57"/>
                </a:solidFill>
                <a:latin typeface="Neue Haas Grotesk Text Pro"/>
              </a:rPr>
              <a:t>Heavy</a:t>
            </a:r>
          </a:p>
          <a:p>
            <a:pPr algn="r"/>
            <a:r>
              <a:rPr sz="900" b="0">
                <a:solidFill>
                  <a:srgbClr val="000000"/>
                </a:solidFill>
                <a:latin typeface="Neue Haas Grotesk Text Pro"/>
              </a:rPr>
              <a:t>35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15650" y="5362575"/>
            <a:ext cx="91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Rp 48,0 Bio</a:t>
            </a:r>
          </a:p>
          <a:p>
            <a:pPr algn="l"/>
            <a:r>
              <a:rPr sz="850" b="0">
                <a:solidFill>
                  <a:srgbClr val="595959"/>
                </a:solidFill>
                <a:latin typeface="Neue Haas Grotesk Text Pro"/>
              </a:rPr>
              <a:t>top 3: 95%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10300" y="6115050"/>
            <a:ext cx="95250" cy="952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43650" y="6096000"/>
            <a:ext cx="103632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Sany Palfinger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99020" y="6115050"/>
            <a:ext cx="95250" cy="9525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532370" y="6096000"/>
            <a:ext cx="69342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Palfinger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244840" y="6115050"/>
            <a:ext cx="95250" cy="95250"/>
          </a:xfrm>
          <a:prstGeom prst="rect">
            <a:avLst/>
          </a:prstGeom>
          <a:solidFill>
            <a:srgbClr val="74CC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78190" y="6096000"/>
            <a:ext cx="476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XCMG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73490" y="6115050"/>
            <a:ext cx="95250" cy="95250"/>
          </a:xfrm>
          <a:prstGeom prst="rect">
            <a:avLst/>
          </a:prstGeom>
          <a:solidFill>
            <a:srgbClr val="B7E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006840" y="6096000"/>
            <a:ext cx="69342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Amco Veba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719310" y="6115050"/>
            <a:ext cx="95250" cy="95250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52660" y="6096000"/>
            <a:ext cx="476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HIAB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347960" y="6115050"/>
            <a:ext cx="95250" cy="9525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481310" y="6096000"/>
            <a:ext cx="476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Fassi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976610" y="6115050"/>
            <a:ext cx="95250" cy="9525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1109960" y="6096000"/>
            <a:ext cx="62484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Bob-Lift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10400" y="6305550"/>
            <a:ext cx="4000500" cy="1905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010400" y="6334125"/>
            <a:ext cx="4000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E9E57"/>
                </a:solidFill>
                <a:latin typeface="Neue Haas Grotesk Text Pro"/>
              </a:rPr>
              <a:t>Every class has one clear leader to beat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2900" y="6591300"/>
            <a:ext cx="11487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2025. Folding cranes only; excludes the Noir "Excluded Rows", Hyva, Zoomlion, HIAB XG grabbers, Tadano TM-Z telescopic and 2 invalid-price records. Value = import value before tax × Rp 17.803/USD (JISDOR 23 Sep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1915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Light Class Map 2023–26/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Who leads each tm class?</a:t>
              </a:r>
              <a:br>
                <a:rPr lang="en-US" sz="1600" b="1" dirty="0"/>
              </a:br>
              <a:r>
                <a:rPr lang="en-US" sz="1600" b="1" dirty="0"/>
                <a:t>Which crane beats it on price?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Light: Sany Palfinger SPK8500 leads; XCMG SQ3.2ZK2 is Rp 48 Jt cheaper per unit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Light class (≤ 8 tm):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174 units worth Rp 39,1 Bio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in 2023 – 2026.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5–8 tm takes 97%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Each row compares the tier leader (by value) with the cheapest crane of about the same size.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42900" y="2343150"/>
          <a:ext cx="11487150" cy="3829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1619250"/>
                <a:gridCol w="1428750"/>
                <a:gridCol w="1260475"/>
                <a:gridCol w="1260475"/>
                <a:gridCol w="1260475"/>
                <a:gridCol w="1260475"/>
                <a:gridCol w="1260475"/>
                <a:gridCol w="1260475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57150" marR="57150" marT="47625" marB="2857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Our challenger</a:t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cheapest of the same size</a:t>
                      </a:r>
                    </a:p>
                  </a:txBody>
                  <a:tcPr anchor="ctr" marL="57150" marR="57150" marT="47625" marB="28575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price list + imports</a:t>
                      </a:r>
                    </a:p>
                  </a:txBody>
                  <a:tcPr anchor="b" marL="57150" marR="57150" marT="47625" marB="2857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110 units</a:t>
                      </a:r>
                    </a:p>
                  </a:txBody>
                  <a:tcPr anchor="b" marL="57150" marR="57150" marT="47625" marB="2857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38 units</a:t>
                      </a:r>
                    </a:p>
                  </a:txBody>
                  <a:tcPr anchor="b" marL="57150" marR="57150" marT="47625" marB="2857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11 units</a:t>
                      </a:r>
                    </a:p>
                  </a:txBody>
                  <a:tcPr anchor="b" marL="57150" marR="57150" marT="47625" marB="2857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9 units</a:t>
                      </a:r>
                    </a:p>
                  </a:txBody>
                  <a:tcPr anchor="b" marL="57150" marR="57150" marT="47625" marB="2857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 units</a:t>
                      </a:r>
                    </a:p>
                  </a:txBody>
                  <a:tcPr anchor="b" marL="57150" marR="57150" marT="47625" marB="2857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2 units</a:t>
                      </a:r>
                    </a:p>
                  </a:txBody>
                  <a:tcPr anchor="b" marL="57150" marR="57150" marT="47625" marB="28575">
                    <a:solidFill>
                      <a:srgbClr val="0B4D2A"/>
                    </a:solidFill>
                  </a:tcPr>
                </a:tc>
              </a:tr>
              <a:tr h="16859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≤ 5 tm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 units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1,2 Bio</a:t>
                      </a:r>
                    </a:p>
                  </a:txBody>
                  <a:tcPr anchor="ctr" marL="57150" marR="57150" marT="47625" marB="285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350 A2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172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144 Jt cheaper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Palfinger PK 5001, Rp 316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F.lli Ferrari price list</a:t>
                      </a:r>
                    </a:p>
                  </a:txBody>
                  <a:tcPr anchor="ctr" marL="57150" marR="57150" marT="47625" marB="2857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315 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139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350 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172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543 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250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5001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0,80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316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M30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0,33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197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GKB08ZA3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0,05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60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</a:tr>
              <a:tr h="16859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&gt; 5 – 8 tm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168 units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37,9 Bio</a:t>
                      </a:r>
                    </a:p>
                  </a:txBody>
                  <a:tcPr anchor="ctr" marL="57150" marR="57150" marT="47625" marB="285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SQ3.2ZK2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48 Jt cheaper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Sany Palfinger SPK8500, Rp 209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import data, 2 units</a:t>
                      </a:r>
                    </a:p>
                  </a:txBody>
                  <a:tcPr anchor="ctr" marL="57150" marR="57150" marT="47625" marB="2857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561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0,25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302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563 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194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563R 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259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SPK8500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91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16,8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209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SPK6500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19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2,8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168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8501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34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13,8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482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8500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0,35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420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KSQZ68.2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9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1,3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SQ3.2ZK2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0,28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V806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8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1,7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252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V808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0,21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254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F65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0,27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316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GKB3.2ZA2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0,14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160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2914650" y="2390775"/>
            <a:ext cx="1276350" cy="228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err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7274" y="2419350"/>
            <a:ext cx="651102" cy="171450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4343400" y="2390775"/>
            <a:ext cx="1108075" cy="228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any_palfin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055" y="2419350"/>
            <a:ext cx="804765" cy="171450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5603875" y="2390775"/>
            <a:ext cx="1108075" cy="228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palfing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0802" y="2419350"/>
            <a:ext cx="774221" cy="171450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864350" y="2390775"/>
            <a:ext cx="1108075" cy="228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xcm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5754" y="2419350"/>
            <a:ext cx="785267" cy="17145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8124825" y="2390775"/>
            <a:ext cx="1108075" cy="228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amco_veb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5779" y="2419350"/>
            <a:ext cx="766167" cy="171450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9385300" y="2390775"/>
            <a:ext cx="1108075" cy="228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fass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010" y="2419350"/>
            <a:ext cx="676656" cy="171450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10645775" y="2390775"/>
            <a:ext cx="1108075" cy="228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B4D2A"/>
                </a:solidFill>
                <a:latin typeface="Neue Haas Grotesk Text Pro"/>
              </a:rPr>
              <a:t>Bob-Lift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2900" y="6286500"/>
            <a:ext cx="95250" cy="9525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6250" y="6267450"/>
            <a:ext cx="43434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Our challenger: cheaper than the tier leader, at most 2 tm smaller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19650" y="6286500"/>
            <a:ext cx="95250" cy="95250"/>
          </a:xfrm>
          <a:prstGeom prst="rect">
            <a:avLst/>
          </a:prstGeom>
          <a:solidFill>
            <a:srgbClr val="FFF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53000" y="6267450"/>
            <a:ext cx="43434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Tier leader (TOP 1 = highest import value in the tier)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2900" y="6477000"/>
            <a:ext cx="114871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2023 – 2026 (2026 partial year); F.lli Ferrari price list June 2026 (Rev1), sheet 25.06. Competitor price = average import unit price of the model (total value ÷ total units) × Rp 17.803/USD (JISDOR 23 Sep 2026) × (1 + import duty: 0% China/ACFTA, 5% others) × (1 + PPN 11% + PPh 22 2.5%); crane only, before distributor margin. F.lli Ferrari price = (column K − column I) × (1 − 13.6% TSP GP): crane only, no cargo deck, no install, no warranty; taxes included. Units and amount = import value before tax. Model variants merged (e.g. SPK8500 = SPK8500, A, B). tm class per Application Engineering (rounded max lifting moment). Folding cranes only; Hyva, Zoomlion, grabbers, telescopic cranes and invalid-price records excluded. Bob-Lift not used as challenger.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4491</TotalTime>
  <Words>2771</Words>
  <Application>Microsoft Office PowerPoint</Application>
  <PresentationFormat>Widescreen</PresentationFormat>
  <Paragraphs>574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5</cp:revision>
  <dcterms:created xsi:type="dcterms:W3CDTF">2026-10-16T02:49:26Z</dcterms:created>
  <dcterms:modified xsi:type="dcterms:W3CDTF">2026-10-19T05:44:41Z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