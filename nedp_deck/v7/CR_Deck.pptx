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  <p:sldId id="1559" r:id="rId13"/>
    <p:sldId id="1560" r:id="rId14"/>
    <p:sldId id="1561" r:id="rId15"/>
    <p:sldId id="1562" r:id="rId16"/>
    <p:sldId id="15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3"/>
          <c:w val="0.98"/>
          <c:h val="0.88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37</c:v>
                </c:pt>
                <c:pt idx="3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57</c:v>
                </c:pt>
                <c:pt idx="1">
                  <c:v>49</c:v>
                </c:pt>
                <c:pt idx="2">
                  <c:v>53</c:v>
                </c:pt>
                <c:pt idx="3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72</c:v>
                </c:pt>
                <c:pt idx="1">
                  <c:v>69</c:v>
                </c:pt>
                <c:pt idx="2">
                  <c:v>59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3"/>
              <c:delete val="1"/>
            </c:dLbl>
            <c:numFmt formatCode="0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1</c:v>
                </c:pt>
              </c:numCache>
            </c:numRef>
          </c:val>
        </c:ser>
        <c:gapWidth val="7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17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9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7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0.27358490566037735</c:v>
                </c:pt>
                <c:pt idx="1">
                  <c:v>0.12138510061639472</c:v>
                </c:pt>
                <c:pt idx="2">
                  <c:v>0.12138510061639472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184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65,1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0.2893081761006289</c:v>
                </c:pt>
                <c:pt idx="1">
                  <c:v>0.2023998723656238</c:v>
                </c:pt>
                <c:pt idx="2">
                  <c:v>0.2023998723656238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21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26,5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3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0.33490566037735847</c:v>
                </c:pt>
                <c:pt idx="1">
                  <c:v>0.3929951723753521</c:v>
                </c:pt>
                <c:pt idx="2">
                  <c:v>0.3929951723753521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6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91,2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0.10220125786163523</c:v>
                </c:pt>
                <c:pt idx="1">
                  <c:v>0.2832198546426294</c:v>
                </c:pt>
                <c:pt idx="2">
                  <c:v>0.2832198546426294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8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DEFD9"/>
            </a:solidFill>
          </c:spPr>
          <c:dLbls>
            <c:dLbl>
              <c:idx val="0"/>
              <c:numFmt formatCode="&quot;37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5,7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0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0.20108695652173914</c:v>
                </c:pt>
                <c:pt idx="1">
                  <c:v>0.05566595246836568</c:v>
                </c:pt>
                <c:pt idx="2">
                  <c:v>0.05566595246836568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&quot;53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18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2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0.28804347826086957</c:v>
                </c:pt>
                <c:pt idx="1">
                  <c:v>0.178852839810858</c:v>
                </c:pt>
                <c:pt idx="2">
                  <c:v>0.178852839810858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0"/>
              <c:numFmt formatCode="&quot;59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30,3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32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0.32065217391304346</c:v>
                </c:pt>
                <c:pt idx="1">
                  <c:v>0.29636446697362956</c:v>
                </c:pt>
                <c:pt idx="2">
                  <c:v>0.29636446697362956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numFmt formatCode="&quot;35 units ·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&quot;Rp 48,0 Bio · &quot;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19% →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Units → value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0.19021739130434784</c:v>
                </c:pt>
                <c:pt idx="1">
                  <c:v>0.4691167407471469</c:v>
                </c:pt>
                <c:pt idx="2">
                  <c:v>0.4691167407471469</c:v>
                </c:pt>
              </c:numCache>
            </c:numRef>
          </c:val>
        </c:ser>
        <c:gapWidth val="25"/>
        <c:overlap val="100"/>
        <c:serLines>
          <c:spPr>
            <a:ln w="6350">
              <a:solidFill>
                <a:srgbClr val="808080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6"/>
        </c:manualLayout>
      </c:layout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</c:spPr>
          <c:dLbls>
            <c:dLbl>
              <c:idx val="0"/>
              <c:delete val="1"/>
            </c:dLbl>
            <c:dLbl>
              <c:idx val="1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&quot;Sany 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0.02572063976705964</c:v>
                </c:pt>
                <c:pt idx="1">
                  <c:v>0.435835642837225</c:v>
                </c:pt>
                <c:pt idx="2">
                  <c:v>0.519346998857831</c:v>
                </c:pt>
                <c:pt idx="3">
                  <c:v>0.8388817668829882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</c:spPr>
          <c:dLbls>
            <c:dLbl>
              <c:idx val="3"/>
              <c:delete val="1"/>
            </c:dLbl>
            <c:dLbl>
              <c:idx val="0"/>
              <c:numFmt formatCode="&quot;Palfinger &quot;0%" sourceLinked="0"/>
              <c:spPr/>
              <c:txPr>
                <a:bodyPr/>
                <a:lstStyle/>
                <a:p>
                  <a:pPr>
                    <a:defRPr sz="100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FFFFFF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0.6190973142679757</c:v>
                </c:pt>
                <c:pt idx="1">
                  <c:v>0.16044099825011773</c:v>
                </c:pt>
                <c:pt idx="2">
                  <c:v>0.1278948068874679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74CC95"/>
            </a:solidFill>
          </c:spPr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0.09673364865530605</c:v>
                </c:pt>
                <c:pt idx="1">
                  <c:v>0.23717507393746734</c:v>
                </c:pt>
                <c:pt idx="2">
                  <c:v>0.1798208090220965</c:v>
                </c:pt>
                <c:pt idx="3">
                  <c:v>0.12712297958698074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B7E4C7"/>
            </a:solidFill>
          </c:spPr>
          <c:dLbls>
            <c:dLbl>
              <c:idx val="3"/>
              <c:delete val="1"/>
            </c:dLbl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Sheet1!$E$2:$E$5</c:f>
              <c:numCache>
                <c:formatCode>0</c:formatCode>
                <c:ptCount val="4"/>
                <c:pt idx="0">
                  <c:v>0.23036484787363148</c:v>
                </c:pt>
                <c:pt idx="1">
                  <c:v>0.08943847770864047</c:v>
                </c:pt>
                <c:pt idx="2">
                  <c:v>0.05528681240301065</c:v>
                </c:pt>
                <c:pt idx="3">
                  <c:v>0.0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HIAB</c:v>
                </c:pt>
              </c:strCache>
            </c:strRef>
          </c:tx>
          <c:spPr>
            <a:solidFill>
              <a:srgbClr val="A6A6A6"/>
            </a:solidFill>
          </c:spPr>
          <c:dLbls>
            <c:dLbl>
              <c:idx val="3"/>
              <c:delete val="1"/>
            </c:dLbl>
            <c:dLbl>
              <c:idx val="0"/>
              <c:delete val="1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50" b="1">
                      <a:solidFill>
                        <a:srgbClr val="000000"/>
                      </a:solidFill>
                      <a:latin typeface="Neue Haas Grotesk Text Pro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Sheet1!$F$2:$F$5</c:f>
              <c:numCache>
                <c:formatCode>0</c:formatCode>
                <c:ptCount val="4"/>
                <c:pt idx="0">
                  <c:v>0.0</c:v>
                </c:pt>
                <c:pt idx="1">
                  <c:v>0.07710980726654923</c:v>
                </c:pt>
                <c:pt idx="2">
                  <c:v>0.05856748903691582</c:v>
                </c:pt>
                <c:pt idx="3">
                  <c:v>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Fassi</c:v>
                </c:pt>
              </c:strCache>
            </c:strRef>
          </c:tx>
          <c:spPr>
            <a:solidFill>
              <a:srgbClr val="D0D0D0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Sheet1!$G$2:$G$5</c:f>
              <c:numCache>
                <c:formatCode>0</c:formatCode>
                <c:ptCount val="4"/>
                <c:pt idx="0">
                  <c:v>0.028083549436027307</c:v>
                </c:pt>
                <c:pt idx="1">
                  <c:v>0.0</c:v>
                </c:pt>
                <c:pt idx="2">
                  <c:v>0.049721330741344515</c:v>
                </c:pt>
                <c:pt idx="3">
                  <c:v>0.0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Bob-Lift</c:v>
                </c:pt>
              </c:strCache>
            </c:strRef>
          </c:tx>
          <c:spPr>
            <a:solidFill>
              <a:srgbClr val="EDEDED"/>
            </a:solidFill>
          </c:spPr>
          <c:dLbls>
            <c:dLbl>
              <c:idx val="3"/>
              <c:delete val="1"/>
            </c:dLbl>
            <c:dLbl>
              <c:idx val="2"/>
              <c:delete val="1"/>
            </c:dLbl>
            <c:dLbl>
              <c:idx val="1"/>
              <c:delete val="1"/>
            </c:dLbl>
            <c:dLbl>
              <c:idx val="0"/>
              <c:delete val="1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Heavy</c:v>
                </c:pt>
                <c:pt idx="1">
                  <c:v>Medium</c:v>
                </c:pt>
                <c:pt idx="2">
                  <c:v>Small</c:v>
                </c:pt>
                <c:pt idx="3">
                  <c:v>Light</c:v>
                </c:pt>
              </c:strCache>
            </c:strRef>
          </c:cat>
          <c:val>
            <c:numRef>
              <c:f>Sheet1!$H$2:$H$5</c:f>
              <c:numCache>
                <c:formatCode>0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0.009361753051333842</c:v>
                </c:pt>
                <c:pt idx="3">
                  <c:v>0.03399525353003126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/>
        <c:axPos val="l"/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105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image" Target="../media/image24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7.png"/><Relationship Id="rId5" Type="http://schemas.openxmlformats.org/officeDocument/2006/relationships/image" Target="../media/image26.png"/><Relationship Id="rId6" Type="http://schemas.openxmlformats.org/officeDocument/2006/relationships/image" Target="../media/image29.png"/><Relationship Id="rId7" Type="http://schemas.openxmlformats.org/officeDocument/2006/relationships/image" Target="../media/image28.png"/><Relationship Id="rId8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</a:t>
              </a:r>
              <a:br>
                <a:rPr lang="en-US" sz="1600" b="1" dirty="0"/>
              </a:br>
              <a:r>
                <a:rPr lang="en-US" sz="1600" b="1" dirty="0"/>
                <a:t>And how much sells each year?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Every class buys every year: Light &amp; Small bring the volume, Medium &amp; Heavy bring the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From 2023 to 2026,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636 folding cranes (Rp 321,8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about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188 units (Rp 100,2 Bio) a year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make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56%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hold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68%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0250" y="2609850"/>
            <a:ext cx="39052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000000"/>
                </a:solidFill>
                <a:latin typeface="Neue Haas Grotesk Text Pro"/>
              </a:rPr>
              <a:t>Heavy almost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tripled from 12 to 35 units in 2025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 (19% of that year), while </a:t>
            </a:r>
            <a:r>
              <a:rPr sz="1150" b="1">
                <a:solidFill>
                  <a:srgbClr val="1E9E57"/>
                </a:solidFill>
                <a:latin typeface="Neue Haas Grotesk Text Pro"/>
              </a:rPr>
              <a:t>Light fell from 54 to 37</a:t>
            </a:r>
            <a:r>
              <a:rPr sz="1150" b="0">
                <a:solidFill>
                  <a:srgbClr val="000000"/>
                </a:solidFill>
                <a:latin typeface="Neue Haas Grotesk Text Pro"/>
              </a:rPr>
              <a:t>.</a:t>
            </a:r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42900" y="2971800"/>
          <a:ext cx="4476750" cy="30670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55069" y="3033545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195 units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1873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8677" y="3178370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184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5481" y="4639782"/>
            <a:ext cx="762000" cy="142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404040"/>
                </a:solidFill>
                <a:latin typeface="Neue Haas Grotesk Text Pro"/>
              </a:rPr>
              <a:t>73 units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5850" y="3143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Light &amp; Small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95850" y="3448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895850" y="3486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100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30,2 Bio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5850" y="3905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Avg sales / year</a:t>
            </a:r>
          </a:p>
          <a:p>
            <a:pPr algn="ctr"/>
            <a:r>
              <a:rPr sz="950" b="1">
                <a:solidFill>
                  <a:srgbClr val="000000"/>
                </a:solidFill>
                <a:latin typeface="Neue Haas Grotesk Text Pro"/>
              </a:rPr>
              <a:t>Medium &amp; Heavy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895850" y="4210050"/>
            <a:ext cx="990600" cy="0"/>
          </a:xfrm>
          <a:prstGeom prst="line">
            <a:avLst/>
          </a:prstGeom>
          <a:ln w="9525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95850" y="42481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88 units</a:t>
            </a:r>
          </a:p>
          <a:p>
            <a:pPr algn="ctr"/>
            <a:r>
              <a:rPr sz="1100" b="1">
                <a:solidFill>
                  <a:srgbClr val="1E9E57"/>
                </a:solidFill>
                <a:latin typeface="Neue Haas Grotesk Text Pro"/>
              </a:rPr>
              <a:t>Rp 70,0 Bio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5850" y="4667250"/>
            <a:ext cx="9906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95959"/>
                </a:solidFill>
                <a:latin typeface="Neue Haas Grotesk Text Pro"/>
              </a:rPr>
              <a:t>Average of the full years 2023 – 2025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 *2026 is a partial year.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2023 – 2026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1040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Left Brace 63"/>
          <p:cNvSpPr/>
          <p:nvPr/>
        </p:nvSpPr>
        <p:spPr>
          <a:xfrm>
            <a:off x="7046976" y="2697099"/>
            <a:ext cx="114300" cy="1297981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ft Brace 64"/>
          <p:cNvSpPr/>
          <p:nvPr/>
        </p:nvSpPr>
        <p:spPr>
          <a:xfrm>
            <a:off x="7046976" y="4052230"/>
            <a:ext cx="114300" cy="1679724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ight Brace 65"/>
          <p:cNvSpPr/>
          <p:nvPr/>
        </p:nvSpPr>
        <p:spPr>
          <a:xfrm>
            <a:off x="10860024" y="2697099"/>
            <a:ext cx="114300" cy="202364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ight Brace 66"/>
          <p:cNvSpPr/>
          <p:nvPr/>
        </p:nvSpPr>
        <p:spPr>
          <a:xfrm>
            <a:off x="10860024" y="4777889"/>
            <a:ext cx="114300" cy="95406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3034146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00775" y="3072246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551574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00775" y="4589674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56%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49000" y="3332681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077575" y="3370781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68%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217,6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049000" y="4850109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77575" y="4888209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32%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104,2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865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8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676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009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487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821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4298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32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Light &amp; Small bring the volume, Medium &amp; Heavy bring the value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2026; 2026 is a partial year.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3820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was 2025?</a:t>
              </a:r>
              <a:br>
                <a:rPr lang="en-US" sz="1600" b="1" dirty="0"/>
              </a:br>
              <a:r>
                <a:rPr lang="en-US" sz="1600" b="1" dirty="0"/>
                <a:t>And who led each class?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2025: Sany Palfinger led Light, Small and Medium; Palfinger led Heavy with 62% of its value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Indonesia imported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184 folding cranes (Rp 102,4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Light &amp; Small made up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49%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, while Medium &amp; Heavy held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77% of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In every class,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the top three brands held 83% or more of the value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42900" y="2400300"/>
            <a:ext cx="55245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Imported folding cranes by class, 2025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1162050" y="2628900"/>
          <a:ext cx="4000500" cy="34099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Left Brace 37"/>
          <p:cNvSpPr/>
          <p:nvPr/>
        </p:nvSpPr>
        <p:spPr>
          <a:xfrm>
            <a:off x="1198626" y="2697099"/>
            <a:ext cx="114300" cy="1521840"/>
          </a:xfrm>
          <a:prstGeom prst="lef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eft Brace 38"/>
          <p:cNvSpPr/>
          <p:nvPr/>
        </p:nvSpPr>
        <p:spPr>
          <a:xfrm>
            <a:off x="1198626" y="4276089"/>
            <a:ext cx="114300" cy="1455865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Brace 39"/>
          <p:cNvSpPr/>
          <p:nvPr/>
        </p:nvSpPr>
        <p:spPr>
          <a:xfrm>
            <a:off x="5011674" y="2697099"/>
            <a:ext cx="114300" cy="2294550"/>
          </a:xfrm>
          <a:prstGeom prst="rightBrace">
            <a:avLst/>
          </a:prstGeom>
          <a:noFill/>
          <a:ln w="19050">
            <a:solidFill>
              <a:srgbClr val="1E9E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Brace 40"/>
          <p:cNvSpPr/>
          <p:nvPr/>
        </p:nvSpPr>
        <p:spPr>
          <a:xfrm>
            <a:off x="5011674" y="5048799"/>
            <a:ext cx="114300" cy="683156"/>
          </a:xfrm>
          <a:prstGeom prst="righ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3850" y="3146075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2425" y="3184175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51%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3850" y="4663503"/>
            <a:ext cx="781050" cy="65246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425" y="4701603"/>
            <a:ext cx="723900" cy="595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49%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units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650" y="3468136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29225" y="3506236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77%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78,4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Medium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Heavy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00650" y="4985564"/>
            <a:ext cx="7810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29225" y="5023664"/>
            <a:ext cx="723900" cy="723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Neue Haas Grotesk Text Pro"/>
              </a:rPr>
              <a:t>23%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of total value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(Rp 24,0 Bio)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from Light</a:t>
            </a:r>
          </a:p>
          <a:p>
            <a:pPr algn="ctr"/>
            <a:r>
              <a:rPr sz="850" b="0">
                <a:solidFill>
                  <a:srgbClr val="000000"/>
                </a:solidFill>
                <a:latin typeface="Neue Haas Grotesk Text Pro"/>
              </a:rPr>
              <a:t>&amp; Small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1000" y="6115050"/>
            <a:ext cx="95250" cy="95250"/>
          </a:xfrm>
          <a:prstGeom prst="rect">
            <a:avLst/>
          </a:prstGeom>
          <a:solidFill>
            <a:srgbClr val="CD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Light (≤ 8 tm)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62125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9547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Small (8–25 tm)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4325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76600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(25–45 tm)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24375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57725" y="6096000"/>
            <a:ext cx="1247775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(&gt; 45 tm)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2900" y="6305550"/>
            <a:ext cx="5524500" cy="190500"/>
          </a:xfrm>
          <a:prstGeom prst="rect">
            <a:avLst/>
          </a:prstGeom>
          <a:noFill/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9100" y="6334125"/>
            <a:ext cx="5391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Neue Haas Grotesk Text Pro"/>
              </a:rPr>
              <a:t>Ton-meter classes follow the Application Engineering classification.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000750" y="2381250"/>
            <a:ext cx="0" cy="4152900"/>
          </a:xfrm>
          <a:prstGeom prst="line">
            <a:avLst/>
          </a:prstGeom>
          <a:ln w="28575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5867400" y="4324350"/>
            <a:ext cx="266700" cy="266700"/>
          </a:xfrm>
          <a:prstGeom prst="ellips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1250" y="2400300"/>
            <a:ext cx="56388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Neue Haas Grotesk Text Pro"/>
              </a:rPr>
              <a:t>Who led each class in 2025,</a:t>
            </a:r>
            <a:r>
              <a:rPr sz="1250" b="0">
                <a:solidFill>
                  <a:srgbClr val="000000"/>
                </a:solidFill>
                <a:latin typeface="Neue Haas Grotesk Text Pro"/>
              </a:rPr>
              <a:t> % of class value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7048500" y="2647950"/>
          <a:ext cx="3810000" cy="33337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6191250" y="29622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Light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37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15650" y="29622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5,7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91250" y="37623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000000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53 units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15650" y="37623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18,3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91250" y="45624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Medium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59 units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15650" y="45624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30,3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83%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91250" y="5362575"/>
            <a:ext cx="81915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E9E57"/>
                </a:solidFill>
                <a:latin typeface="Neue Haas Grotesk Text Pro"/>
              </a:rPr>
              <a:t>Heavy</a:t>
            </a:r>
          </a:p>
          <a:p>
            <a:pPr algn="r"/>
            <a:r>
              <a:rPr sz="900" b="0">
                <a:solidFill>
                  <a:srgbClr val="000000"/>
                </a:solidFill>
                <a:latin typeface="Neue Haas Grotesk Text Pro"/>
              </a:rPr>
              <a:t>35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15650" y="5362575"/>
            <a:ext cx="91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Rp 48,0 Bio</a:t>
            </a:r>
          </a:p>
          <a:p>
            <a:pPr algn="l"/>
            <a:r>
              <a:rPr sz="850" b="0">
                <a:solidFill>
                  <a:srgbClr val="595959"/>
                </a:solidFill>
                <a:latin typeface="Neue Haas Grotesk Text Pro"/>
              </a:rPr>
              <a:t>top 3: 95%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0300" y="6115050"/>
            <a:ext cx="95250" cy="95250"/>
          </a:xfrm>
          <a:prstGeom prst="rect">
            <a:avLst/>
          </a:prstGeom>
          <a:solidFill>
            <a:srgbClr val="0B4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43650" y="6096000"/>
            <a:ext cx="10363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Sany Palfinger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99020" y="6115050"/>
            <a:ext cx="95250" cy="95250"/>
          </a:xfrm>
          <a:prstGeom prst="rect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3237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Palfinger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44840" y="6115050"/>
            <a:ext cx="95250" cy="95250"/>
          </a:xfrm>
          <a:prstGeom prst="rect">
            <a:avLst/>
          </a:prstGeom>
          <a:solidFill>
            <a:srgbClr val="74CC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7819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873490" y="6115050"/>
            <a:ext cx="95250" cy="95250"/>
          </a:xfrm>
          <a:prstGeom prst="rect">
            <a:avLst/>
          </a:prstGeom>
          <a:solidFill>
            <a:srgbClr val="B7E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006840" y="6096000"/>
            <a:ext cx="69342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Amco Veba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719310" y="6115050"/>
            <a:ext cx="95250" cy="9525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5266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HIAB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347960" y="6115050"/>
            <a:ext cx="95250" cy="95250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481310" y="6096000"/>
            <a:ext cx="4762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Fassi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976610" y="6115050"/>
            <a:ext cx="95250" cy="95250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109960" y="6096000"/>
            <a:ext cx="62484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10400" y="6305550"/>
            <a:ext cx="4000500" cy="1905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10400" y="6334125"/>
            <a:ext cx="4000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E9E57"/>
                </a:solidFill>
                <a:latin typeface="Neue Haas Grotesk Text Pro"/>
              </a:rPr>
              <a:t>Every class has one clear leader to beat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2900" y="6591300"/>
            <a:ext cx="11487150" cy="209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2025. Folding cranes only; excludes the Noir "Excluded Rows", Hyva, Zoomlion, HIAB XG grabbers, Tadano TM-Z telescopic and 2 invalid-price records. Value = import value before tax × Rp 17.803/USD (JISDOR 23 Sep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XCMG SQ3.2ZK2 is Rp 48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 worth Rp 39,1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350 A2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5001,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0,80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0,05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5–8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37,9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SQ3.2ZK2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48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SPK8500,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2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13,8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0,35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9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1,3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0,21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0,27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0,14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119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321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9626" y="2328862"/>
            <a:ext cx="63847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 (1/2)/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HIAB X-CLX 388 leads; XCMG SQZ325.4 is Rp 359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 worth Rp 126,5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This page: 25–35 tm, 124 units (58%)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35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33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25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22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25–30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23,9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KSQZ300.3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490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127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V825, Rp 616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15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16,0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KSQZ300.3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15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6,5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0,88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(1 unit)</a:t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30–35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75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43,6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SQZ325.4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549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359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X-CLX 388, Rp 908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3 units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 A4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V933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2,8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833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SPK32080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12,9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442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GSQZ330.4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2,5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696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SQZ325.4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16,0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908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328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0,94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1.116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32080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7,0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1.050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33002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0,04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amco_ve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249" y="2328862"/>
            <a:ext cx="638473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any_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736" y="2328862"/>
            <a:ext cx="670638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429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alfin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1173" y="2328862"/>
            <a:ext cx="645184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 Map 2023–26 (2/2)/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Palfinger PK 41002 leads; XCMG KSQZ365.4 is Rp 772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Medium class (&gt; 25 –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213 units worth Rp 126,5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This page: 35–45 tm, 89 units (42%)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512570"/>
                <a:gridCol w="1512570"/>
                <a:gridCol w="1512570"/>
                <a:gridCol w="1512570"/>
                <a:gridCol w="151257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4762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55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21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8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 units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47625" marB="19050">
                    <a:solidFill>
                      <a:srgbClr val="0B4D2A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35–40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43,6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KSQZ365.4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542 Jt /unit</a:t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772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41002, Rp 1.315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1 unit</a:t>
                      </a:r>
                    </a:p>
                  </a:txBody>
                  <a:tcPr anchor="ctr" marL="47625" marR="47625" marT="4762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SPK36080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14,7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491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SPK38080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1,2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465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21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23,2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1.315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KSQZ400.4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1,2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GSQZ400.4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1,2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704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+ 3 more (4 units)</a:t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  <a:tr h="174307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40–45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15,4 Bio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4762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1.478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18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12,5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786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477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4 units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1,9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563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V946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1,1 Bio total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4762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166" y="2328862"/>
            <a:ext cx="670638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85597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3463" y="2328862"/>
            <a:ext cx="645184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36854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430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88111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429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0393680" y="2305050"/>
            <a:ext cx="136017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amco_ve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4529" y="2328862"/>
            <a:ext cx="638473" cy="142875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 Map 2023–26/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Palfinger PK 53002 leads; F.lli Ferrari FBR450R A4 is Rp 214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Heavy class (&gt; 45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65 units worth Rp 91,2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2023 –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50–55 tm takes 62%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266950"/>
          <a:ext cx="1148715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F.lli Ferrari or XCMG</a:t>
                      </a:r>
                    </a:p>
                  </a:txBody>
                  <a:tcPr anchor="ctr" marL="47625" marR="47625" marT="28575" marB="19050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42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7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 unit</a:t>
                      </a:r>
                    </a:p>
                  </a:txBody>
                  <a:tcPr anchor="b" marL="47625" marR="47625" marT="28575" marB="19050">
                    <a:solidFill>
                      <a:srgbClr val="0B4D2A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45–50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17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23,7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XCMG GSQZ460.4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812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1.065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V950, Rp 1.877 Jt /unit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1.251 Jt /unit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12 units · Rp 18,9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1.877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 units · Rp 2,1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812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EFFER 525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 · Rp 1,3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1.509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F485RA.2.23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 · Rp 1,3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1.608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50–55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55,9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 FBR450R A4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1.408 Jt /unit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214 Jt cheaper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• vs PK 53002, Rp 1.622 Jt /unit (4,6 tm smaller)</a:t>
                      </a:r>
                    </a:p>
                  </a:txBody>
                  <a:tcPr anchor="ctr" marL="47625" marR="47625" marT="28575" marB="19050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39 units · Rp 53,1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1.622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X-HIPRO B58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 · Rp 2,8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3.366 Jt /unit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60–65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 · Rp 1,2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1.402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70–75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3,8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 · Rp 3,8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2.285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80–85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1,9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1 unit · Rp 1,9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2.220 Jt /unit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85–90 tm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 units</a:t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4,6 Bio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No cheaper crane of the same size</a:t>
                      </a:r>
                    </a:p>
                  </a:txBody>
                  <a:tcPr anchor="ctr" marL="47625" marR="47625" marT="28575" marB="1905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–</a:t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2 units · Rp 2,3 Bio</a:t>
                      </a:r>
                    </a:p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• Rp 1.319 Jt /unit</a:t>
                      </a:r>
                    </a:p>
                    <a:p>
                      <a:pPr algn="l"/>
                      <a:r>
                        <a:rPr sz="70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+ 1 more (2 units)</a:t>
                      </a:r>
                    </a:p>
                  </a:txBody>
                  <a:tcPr anchor="t" marL="47625" marR="47625" marT="28575" marB="19050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47625" marR="47625" marT="28575" marB="190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05050"/>
            <a:ext cx="1276350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533" y="2328862"/>
            <a:ext cx="542585" cy="142875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4846" y="2328862"/>
            <a:ext cx="645184" cy="142875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mco_ve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8676" y="2328862"/>
            <a:ext cx="638473" cy="142875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93" y="2328862"/>
            <a:ext cx="654389" cy="142875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i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6" y="2328862"/>
            <a:ext cx="413533" cy="142875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7398" y="2328862"/>
            <a:ext cx="563880" cy="142875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05050"/>
            <a:ext cx="1108075" cy="1905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any_palfing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4494" y="2328862"/>
            <a:ext cx="670638" cy="142875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342900" y="6324600"/>
            <a:ext cx="95250" cy="9525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6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Our challenger: F.lli Ferrari or XCMG, cheaper than the leader, max 2 tm smaller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95900" y="6324600"/>
            <a:ext cx="95250" cy="95250"/>
          </a:xfrm>
          <a:prstGeom prst="rect">
            <a:avLst/>
          </a:prstGeom>
          <a:solidFill>
            <a:srgbClr val="FFF7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29250" y="6305550"/>
            <a:ext cx="481965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" y="6496050"/>
            <a:ext cx="114871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2023 – 2026 (2026 partial year);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 Challengers limited to F.lli Ferrari and XCMG; Heavy 50 – 55 tm uses FBR450R A4 (4,6 tm smaller) by decision.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