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9"/>
  </p:notesMasterIdLst>
  <p:handoutMasterIdLst>
    <p:handoutMasterId r:id="rId20"/>
  </p:handoutMasterIdLst>
  <p:sldIdLst>
    <p:sldId id="1558" r:id="rId12"/>
    <p:sldId id="1559" r:id="rId13"/>
    <p:sldId id="1560" r:id="rId14"/>
    <p:sldId id="1561" r:id="rId15"/>
    <p:sldId id="1562" r:id="rId16"/>
    <p:sldId id="1563" r:id="rId17"/>
    <p:sldId id="15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54F"/>
    <a:srgbClr val="FFFF00"/>
    <a:srgbClr val="FFFFFF"/>
    <a:srgbClr val="0A7F3F"/>
    <a:srgbClr val="076932"/>
    <a:srgbClr val="A8B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2" autoAdjust="0"/>
    <p:restoredTop sz="93917" autoAdjust="0"/>
  </p:normalViewPr>
  <p:slideViewPr>
    <p:cSldViewPr snapToGrid="0">
      <p:cViewPr>
        <p:scale>
          <a:sx n="66" d="100"/>
          <a:sy n="66" d="100"/>
        </p:scale>
        <p:origin x="608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8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3"/>
          <c:w val="0.98"/>
          <c:h val="0.88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CDEFD9"/>
            </a:solidFill>
          </c:spPr>
          <c:dLbls>
            <c:numFmt formatCode="0" sourceLinked="0"/>
            <c:txPr>
              <a:bodyPr/>
              <a:lstStyle/>
              <a:p>
                <a:pPr>
                  <a:defRPr sz="1200" b="1">
                    <a:solidFill>
                      <a:srgbClr val="000000"/>
                    </a:solidFill>
                    <a:latin typeface="Neue Haas Grotesk Text Pr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54</c:v>
                </c:pt>
                <c:pt idx="1">
                  <c:v>49</c:v>
                </c:pt>
                <c:pt idx="2">
                  <c:v>37</c:v>
                </c:pt>
                <c:pt idx="3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74CC95"/>
            </a:solidFill>
          </c:spPr>
          <c:dLbls>
            <c:numFmt formatCode="0" sourceLinked="0"/>
            <c:txPr>
              <a:bodyPr/>
              <a:lstStyle/>
              <a:p>
                <a:pPr>
                  <a:defRPr sz="1200" b="1">
                    <a:solidFill>
                      <a:srgbClr val="000000"/>
                    </a:solidFill>
                    <a:latin typeface="Neue Haas Grotesk Text Pr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57</c:v>
                </c:pt>
                <c:pt idx="1">
                  <c:v>49</c:v>
                </c:pt>
                <c:pt idx="2">
                  <c:v>53</c:v>
                </c:pt>
                <c:pt idx="3">
                  <c:v>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1E9E57"/>
            </a:solidFill>
          </c:spPr>
          <c:dLbls>
            <c:numFmt formatCode="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Neue Haas Grotesk Text Pr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Sheet1!$D$2:$D$5</c:f>
              <c:numCache>
                <c:formatCode>0</c:formatCode>
                <c:ptCount val="4"/>
                <c:pt idx="0">
                  <c:v>72</c:v>
                </c:pt>
                <c:pt idx="1">
                  <c:v>69</c:v>
                </c:pt>
                <c:pt idx="2">
                  <c:v>59</c:v>
                </c:pt>
                <c:pt idx="3">
                  <c:v>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B4D2A"/>
            </a:solidFill>
          </c:spPr>
          <c:dLbls>
            <c:dLbl>
              <c:idx val="3"/>
              <c:delete val="1"/>
            </c:dLbl>
            <c:numFmt formatCode="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Neue Haas Grotesk Text Pr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Sheet1!$E$2:$E$5</c:f>
              <c:numCache>
                <c:formatCode>0</c:formatCode>
                <c:ptCount val="4"/>
                <c:pt idx="0">
                  <c:v>12</c:v>
                </c:pt>
                <c:pt idx="1">
                  <c:v>17</c:v>
                </c:pt>
                <c:pt idx="2">
                  <c:v>35</c:v>
                </c:pt>
                <c:pt idx="3">
                  <c:v>1</c:v>
                </c:pt>
              </c:numCache>
            </c:numRef>
          </c:val>
        </c:ser>
        <c:gapWidth val="75"/>
        <c:overlap val="100"/>
        <c:serLines>
          <c:spPr>
            <a:ln w="6350">
              <a:solidFill>
                <a:srgbClr val="808080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1050">
                <a:latin typeface="Neue Haas Grotesk Text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2"/>
          <c:w val="0.96"/>
          <c:h val="0.89"/>
        </c:manualLayout>
      </c:layout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CDEFD9"/>
            </a:solidFill>
          </c:spPr>
          <c:dLbls>
            <c:dLbl>
              <c:idx val="0"/>
              <c:numFmt formatCode="&quot;174 units ·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Rp 39,1 Bio · &quot;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27% →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Units → value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0.27358490566037735</c:v>
                </c:pt>
                <c:pt idx="1">
                  <c:v>0.12138510061639472</c:v>
                </c:pt>
                <c:pt idx="2">
                  <c:v>0.12138510061639472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74CC95"/>
            </a:solidFill>
          </c:spPr>
          <c:dLbls>
            <c:dLbl>
              <c:idx val="0"/>
              <c:numFmt formatCode="&quot;184 units ·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Rp 65,1 Bio · &quot;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29% →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Units → value</c:v>
                </c:pt>
              </c:strCache>
            </c:strRef>
          </c:cat>
          <c:val>
            <c:numRef>
              <c:f>Sheet1!$C$2:$C$4</c:f>
              <c:numCache>
                <c:formatCode>0</c:formatCode>
                <c:ptCount val="3"/>
                <c:pt idx="0">
                  <c:v>0.2893081761006289</c:v>
                </c:pt>
                <c:pt idx="1">
                  <c:v>0.2023998723656238</c:v>
                </c:pt>
                <c:pt idx="2">
                  <c:v>0.2023998723656238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1E9E57"/>
            </a:solidFill>
          </c:spPr>
          <c:dLbls>
            <c:dLbl>
              <c:idx val="0"/>
              <c:numFmt formatCode="&quot;213 units ·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Rp 126,5 Bio · &quot;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33% →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Units → value</c:v>
                </c:pt>
              </c:strCache>
            </c:strRef>
          </c:cat>
          <c:val>
            <c:numRef>
              <c:f>Sheet1!$D$2:$D$4</c:f>
              <c:numCache>
                <c:formatCode>0</c:formatCode>
                <c:ptCount val="3"/>
                <c:pt idx="0">
                  <c:v>0.33490566037735847</c:v>
                </c:pt>
                <c:pt idx="1">
                  <c:v>0.3929951723753521</c:v>
                </c:pt>
                <c:pt idx="2">
                  <c:v>0.3929951723753521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B4D2A"/>
            </a:solidFill>
          </c:spPr>
          <c:dLbls>
            <c:dLbl>
              <c:idx val="0"/>
              <c:numFmt formatCode="&quot;65 units ·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Rp 91,2 Bio · &quot;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10% →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Units → value</c:v>
                </c:pt>
              </c:strCache>
            </c:strRef>
          </c:cat>
          <c:val>
            <c:numRef>
              <c:f>Sheet1!$E$2:$E$4</c:f>
              <c:numCache>
                <c:formatCode>0</c:formatCode>
                <c:ptCount val="3"/>
                <c:pt idx="0">
                  <c:v>0.10220125786163523</c:v>
                </c:pt>
                <c:pt idx="1">
                  <c:v>0.2832198546426294</c:v>
                </c:pt>
                <c:pt idx="2">
                  <c:v>0.2832198546426294</c:v>
                </c:pt>
              </c:numCache>
            </c:numRef>
          </c:val>
        </c:ser>
        <c:gapWidth val="25"/>
        <c:overlap val="100"/>
        <c:serLines>
          <c:spPr>
            <a:ln w="6350">
              <a:solidFill>
                <a:srgbClr val="808080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1050">
                <a:latin typeface="Neue Haas Grotesk Text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2"/>
          <c:w val="0.96"/>
          <c:h val="0.89"/>
        </c:manualLayout>
      </c:layout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CDEFD9"/>
            </a:solidFill>
          </c:spPr>
          <c:dLbls>
            <c:dLbl>
              <c:idx val="0"/>
              <c:numFmt formatCode="&quot;37 units ·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Rp 5,7 Bio · &quot;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20% →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Units → value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0.20108695652173914</c:v>
                </c:pt>
                <c:pt idx="1">
                  <c:v>0.05566595246836568</c:v>
                </c:pt>
                <c:pt idx="2">
                  <c:v>0.05566595246836568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74CC95"/>
            </a:solidFill>
          </c:spPr>
          <c:dLbls>
            <c:dLbl>
              <c:idx val="0"/>
              <c:numFmt formatCode="&quot;53 units ·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Rp 18,3 Bio · &quot;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29% →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Units → value</c:v>
                </c:pt>
              </c:strCache>
            </c:strRef>
          </c:cat>
          <c:val>
            <c:numRef>
              <c:f>Sheet1!$C$2:$C$4</c:f>
              <c:numCache>
                <c:formatCode>0</c:formatCode>
                <c:ptCount val="3"/>
                <c:pt idx="0">
                  <c:v>0.28804347826086957</c:v>
                </c:pt>
                <c:pt idx="1">
                  <c:v>0.178852839810858</c:v>
                </c:pt>
                <c:pt idx="2">
                  <c:v>0.178852839810858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1E9E57"/>
            </a:solidFill>
          </c:spPr>
          <c:dLbls>
            <c:dLbl>
              <c:idx val="0"/>
              <c:numFmt formatCode="&quot;59 units ·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Rp 30,3 Bio · &quot;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32% →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Units → value</c:v>
                </c:pt>
              </c:strCache>
            </c:strRef>
          </c:cat>
          <c:val>
            <c:numRef>
              <c:f>Sheet1!$D$2:$D$4</c:f>
              <c:numCache>
                <c:formatCode>0</c:formatCode>
                <c:ptCount val="3"/>
                <c:pt idx="0">
                  <c:v>0.32065217391304346</c:v>
                </c:pt>
                <c:pt idx="1">
                  <c:v>0.29636446697362956</c:v>
                </c:pt>
                <c:pt idx="2">
                  <c:v>0.29636446697362956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B4D2A"/>
            </a:solidFill>
          </c:spPr>
          <c:dLbls>
            <c:dLbl>
              <c:idx val="0"/>
              <c:numFmt formatCode="&quot;35 units ·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Rp 48,0 Bio · &quot;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19% →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Units → value</c:v>
                </c:pt>
              </c:strCache>
            </c:strRef>
          </c:cat>
          <c:val>
            <c:numRef>
              <c:f>Sheet1!$E$2:$E$4</c:f>
              <c:numCache>
                <c:formatCode>0</c:formatCode>
                <c:ptCount val="3"/>
                <c:pt idx="0">
                  <c:v>0.19021739130434784</c:v>
                </c:pt>
                <c:pt idx="1">
                  <c:v>0.4691167407471469</c:v>
                </c:pt>
                <c:pt idx="2">
                  <c:v>0.4691167407471469</c:v>
                </c:pt>
              </c:numCache>
            </c:numRef>
          </c:val>
        </c:ser>
        <c:gapWidth val="25"/>
        <c:overlap val="100"/>
        <c:serLines>
          <c:spPr>
            <a:ln w="6350">
              <a:solidFill>
                <a:srgbClr val="808080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1050">
                <a:latin typeface="Neue Haas Grotesk Text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6"/>
        </c:manualLayout>
      </c:layout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Sany Palfinger</c:v>
                </c:pt>
              </c:strCache>
            </c:strRef>
          </c:tx>
          <c:spPr>
            <a:solidFill>
              <a:srgbClr val="0B4D2A"/>
            </a:solidFill>
          </c:spPr>
          <c:dLbls>
            <c:dLbl>
              <c:idx val="0"/>
              <c:delete val="1"/>
            </c:dLbl>
            <c:dLbl>
              <c:idx val="1"/>
              <c:numFmt formatCode="&quot;Sany Palfinger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Sany Palfinger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Sany Palfinger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Heavy</c:v>
                </c:pt>
                <c:pt idx="1">
                  <c:v>Medium</c:v>
                </c:pt>
                <c:pt idx="2">
                  <c:v>Small</c:v>
                </c:pt>
                <c:pt idx="3">
                  <c:v>Light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0.02572063976705964</c:v>
                </c:pt>
                <c:pt idx="1">
                  <c:v>0.435835642837225</c:v>
                </c:pt>
                <c:pt idx="2">
                  <c:v>0.519346998857831</c:v>
                </c:pt>
                <c:pt idx="3">
                  <c:v>0.8388817668829882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Palfinger</c:v>
                </c:pt>
              </c:strCache>
            </c:strRef>
          </c:tx>
          <c:spPr>
            <a:solidFill>
              <a:srgbClr val="1E9E57"/>
            </a:solidFill>
          </c:spPr>
          <c:dLbls>
            <c:dLbl>
              <c:idx val="3"/>
              <c:delete val="1"/>
            </c:dLbl>
            <c:dLbl>
              <c:idx val="0"/>
              <c:numFmt formatCode="&quot;Palfinger &quot;0%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FFFFFF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Heavy</c:v>
                </c:pt>
                <c:pt idx="1">
                  <c:v>Medium</c:v>
                </c:pt>
                <c:pt idx="2">
                  <c:v>Small</c:v>
                </c:pt>
                <c:pt idx="3">
                  <c:v>Light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0.6190973142679757</c:v>
                </c:pt>
                <c:pt idx="1">
                  <c:v>0.16044099825011773</c:v>
                </c:pt>
                <c:pt idx="2">
                  <c:v>0.1278948068874679</c:v>
                </c:pt>
                <c:pt idx="3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XCMG</c:v>
                </c:pt>
              </c:strCache>
            </c:strRef>
          </c:tx>
          <c:spPr>
            <a:solidFill>
              <a:srgbClr val="74CC95"/>
            </a:solidFill>
          </c:spPr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Heavy</c:v>
                </c:pt>
                <c:pt idx="1">
                  <c:v>Medium</c:v>
                </c:pt>
                <c:pt idx="2">
                  <c:v>Small</c:v>
                </c:pt>
                <c:pt idx="3">
                  <c:v>Light</c:v>
                </c:pt>
              </c:strCache>
            </c:strRef>
          </c:cat>
          <c:val>
            <c:numRef>
              <c:f>Sheet1!$D$2:$D$5</c:f>
              <c:numCache>
                <c:formatCode>0</c:formatCode>
                <c:ptCount val="4"/>
                <c:pt idx="0">
                  <c:v>0.09673364865530605</c:v>
                </c:pt>
                <c:pt idx="1">
                  <c:v>0.23717507393746734</c:v>
                </c:pt>
                <c:pt idx="2">
                  <c:v>0.1798208090220965</c:v>
                </c:pt>
                <c:pt idx="3">
                  <c:v>0.12712297958698074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Amco Veba</c:v>
                </c:pt>
              </c:strCache>
            </c:strRef>
          </c:tx>
          <c:spPr>
            <a:solidFill>
              <a:srgbClr val="B7E4C7"/>
            </a:solidFill>
          </c:spPr>
          <c:dLbls>
            <c:dLbl>
              <c:idx val="3"/>
              <c:delete val="1"/>
            </c:dLbl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Heavy</c:v>
                </c:pt>
                <c:pt idx="1">
                  <c:v>Medium</c:v>
                </c:pt>
                <c:pt idx="2">
                  <c:v>Small</c:v>
                </c:pt>
                <c:pt idx="3">
                  <c:v>Light</c:v>
                </c:pt>
              </c:strCache>
            </c:strRef>
          </c:cat>
          <c:val>
            <c:numRef>
              <c:f>Sheet1!$E$2:$E$5</c:f>
              <c:numCache>
                <c:formatCode>0</c:formatCode>
                <c:ptCount val="4"/>
                <c:pt idx="0">
                  <c:v>0.23036484787363148</c:v>
                </c:pt>
                <c:pt idx="1">
                  <c:v>0.08943847770864047</c:v>
                </c:pt>
                <c:pt idx="2">
                  <c:v>0.05528681240301065</c:v>
                </c:pt>
                <c:pt idx="3">
                  <c:v>0.0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HIAB</c:v>
                </c:pt>
              </c:strCache>
            </c:strRef>
          </c:tx>
          <c:spPr>
            <a:solidFill>
              <a:srgbClr val="A6A6A6"/>
            </a:solidFill>
          </c:spPr>
          <c:dLbls>
            <c:dLbl>
              <c:idx val="3"/>
              <c:delete val="1"/>
            </c:dLbl>
            <c:dLbl>
              <c:idx val="0"/>
              <c:delete val="1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50" b="1">
                      <a:solidFill>
                        <a:srgbClr val="000000"/>
                      </a:solidFill>
                      <a:latin typeface="Neue Haas Grotesk Text Pr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Heavy</c:v>
                </c:pt>
                <c:pt idx="1">
                  <c:v>Medium</c:v>
                </c:pt>
                <c:pt idx="2">
                  <c:v>Small</c:v>
                </c:pt>
                <c:pt idx="3">
                  <c:v>Light</c:v>
                </c:pt>
              </c:strCache>
            </c:strRef>
          </c:cat>
          <c:val>
            <c:numRef>
              <c:f>Sheet1!$F$2:$F$5</c:f>
              <c:numCache>
                <c:formatCode>0</c:formatCode>
                <c:ptCount val="4"/>
                <c:pt idx="0">
                  <c:v>0.0</c:v>
                </c:pt>
                <c:pt idx="1">
                  <c:v>0.07710980726654923</c:v>
                </c:pt>
                <c:pt idx="2">
                  <c:v>0.05856748903691582</c:v>
                </c:pt>
                <c:pt idx="3">
                  <c:v>0.0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Fassi</c:v>
                </c:pt>
              </c:strCache>
            </c:strRef>
          </c:tx>
          <c:spPr>
            <a:solidFill>
              <a:srgbClr val="D0D0D0"/>
            </a:solidFill>
          </c:spPr>
          <c:dLbls>
            <c:dLbl>
              <c:idx val="3"/>
              <c:delete val="1"/>
            </c:dLbl>
            <c:dLbl>
              <c:idx val="2"/>
              <c:delete val="1"/>
            </c:dLbl>
            <c:dLbl>
              <c:idx val="1"/>
              <c:delete val="1"/>
            </c:dLbl>
            <c:dLbl>
              <c:idx val="0"/>
              <c:delete val="1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Heavy</c:v>
                </c:pt>
                <c:pt idx="1">
                  <c:v>Medium</c:v>
                </c:pt>
                <c:pt idx="2">
                  <c:v>Small</c:v>
                </c:pt>
                <c:pt idx="3">
                  <c:v>Light</c:v>
                </c:pt>
              </c:strCache>
            </c:strRef>
          </c:cat>
          <c:val>
            <c:numRef>
              <c:f>Sheet1!$G$2:$G$5</c:f>
              <c:numCache>
                <c:formatCode>0</c:formatCode>
                <c:ptCount val="4"/>
                <c:pt idx="0">
                  <c:v>0.028083549436027307</c:v>
                </c:pt>
                <c:pt idx="1">
                  <c:v>0.0</c:v>
                </c:pt>
                <c:pt idx="2">
                  <c:v>0.049721330741344515</c:v>
                </c:pt>
                <c:pt idx="3">
                  <c:v>0.0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Bob-Lift</c:v>
                </c:pt>
              </c:strCache>
            </c:strRef>
          </c:tx>
          <c:spPr>
            <a:solidFill>
              <a:srgbClr val="EDEDED"/>
            </a:solidFill>
          </c:spPr>
          <c:dLbls>
            <c:dLbl>
              <c:idx val="3"/>
              <c:delete val="1"/>
            </c:dLbl>
            <c:dLbl>
              <c:idx val="2"/>
              <c:delete val="1"/>
            </c:dLbl>
            <c:dLbl>
              <c:idx val="1"/>
              <c:delete val="1"/>
            </c:dLbl>
            <c:dLbl>
              <c:idx val="0"/>
              <c:delete val="1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Heavy</c:v>
                </c:pt>
                <c:pt idx="1">
                  <c:v>Medium</c:v>
                </c:pt>
                <c:pt idx="2">
                  <c:v>Small</c:v>
                </c:pt>
                <c:pt idx="3">
                  <c:v>Light</c:v>
                </c:pt>
              </c:strCache>
            </c:strRef>
          </c:cat>
          <c:val>
            <c:numRef>
              <c:f>Sheet1!$H$2:$H$5</c:f>
              <c:numCache>
                <c:formatCode>0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0.009361753051333842</c:v>
                </c:pt>
                <c:pt idx="3">
                  <c:v>0.03399525353003126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/>
        <c:axPos val="l"/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1050">
                <a:latin typeface="Neue Haas Grotesk Text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482864" cy="587067"/>
            <a:chOff x="347225" y="685795"/>
            <a:chExt cx="11482864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8382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Indonesian Import Folding Crane 23–26/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572500" y="685795"/>
              <a:ext cx="325755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How big is the market?</a:t>
              </a:r>
              <a:br>
                <a:rPr lang="en-US" sz="1600" b="1" dirty="0"/>
              </a:br>
              <a:r>
                <a:rPr lang="en-US" sz="1600" b="1" dirty="0"/>
                <a:t>And how much sells each year?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Every class buys every year: Light &amp; Small bring the volume, Medium &amp; Heavy bring the value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From 2023 to 2026, Indonesia imported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636 folding cranes (Rp 321,8 Bio)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, about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188 units (Rp 100,2 Bio) a year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. Light &amp; Small make up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56% of units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, while Medium &amp; Heavy hold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68% of value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342900" y="2400300"/>
            <a:ext cx="5524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Neue Haas Grotesk Text Pro"/>
              </a:rPr>
              <a:t>Imported folding cranes by class per year, 2023 –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00250" y="2609850"/>
            <a:ext cx="3905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Neue Haas Grotesk Text Pro"/>
              </a:rPr>
              <a:t>Heavy almost </a:t>
            </a:r>
            <a:r>
              <a:rPr sz="1150" b="1">
                <a:solidFill>
                  <a:srgbClr val="1E9E57"/>
                </a:solidFill>
                <a:latin typeface="Neue Haas Grotesk Text Pro"/>
              </a:rPr>
              <a:t>tripled from 12 to 35 units in 2025</a:t>
            </a:r>
            <a:r>
              <a:rPr sz="1150" b="0">
                <a:solidFill>
                  <a:srgbClr val="000000"/>
                </a:solidFill>
                <a:latin typeface="Neue Haas Grotesk Text Pro"/>
              </a:rPr>
              <a:t> (19% of that year), while </a:t>
            </a:r>
            <a:r>
              <a:rPr sz="1150" b="1">
                <a:solidFill>
                  <a:srgbClr val="1E9E57"/>
                </a:solidFill>
                <a:latin typeface="Neue Haas Grotesk Text Pro"/>
              </a:rPr>
              <a:t>Light fell from 54 to 37</a:t>
            </a:r>
            <a:r>
              <a:rPr sz="1150" b="0">
                <a:solidFill>
                  <a:srgbClr val="000000"/>
                </a:solidFill>
                <a:latin typeface="Neue Haas Grotesk Text Pro"/>
              </a:rPr>
              <a:t>.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342900" y="2971800"/>
          <a:ext cx="4476750" cy="30670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555069" y="3033545"/>
            <a:ext cx="762000" cy="142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Neue Haas Grotesk Text Pro"/>
              </a:rPr>
              <a:t>195 units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51873" y="3178370"/>
            <a:ext cx="762000" cy="142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Neue Haas Grotesk Text Pro"/>
              </a:rPr>
              <a:t>184 units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8677" y="3178370"/>
            <a:ext cx="762000" cy="142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Neue Haas Grotesk Text Pro"/>
              </a:rPr>
              <a:t>184 units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5481" y="4639782"/>
            <a:ext cx="762000" cy="142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Neue Haas Grotesk Text Pro"/>
              </a:rPr>
              <a:t>73 units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5850" y="3143250"/>
            <a:ext cx="990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00000"/>
                </a:solidFill>
                <a:latin typeface="Neue Haas Grotesk Text Pro"/>
              </a:rPr>
              <a:t>Avg sales / year</a:t>
            </a:r>
          </a:p>
          <a:p>
            <a:pPr algn="ctr"/>
            <a:r>
              <a:rPr sz="950" b="1">
                <a:solidFill>
                  <a:srgbClr val="000000"/>
                </a:solidFill>
                <a:latin typeface="Neue Haas Grotesk Text Pro"/>
              </a:rPr>
              <a:t>Light &amp; Small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895850" y="3448050"/>
            <a:ext cx="990600" cy="0"/>
          </a:xfrm>
          <a:prstGeom prst="line">
            <a:avLst/>
          </a:prstGeom>
          <a:ln w="952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895850" y="3486150"/>
            <a:ext cx="990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9E57"/>
                </a:solidFill>
                <a:latin typeface="Neue Haas Grotesk Text Pro"/>
              </a:rPr>
              <a:t>100 units</a:t>
            </a:r>
          </a:p>
          <a:p>
            <a:pPr algn="ctr"/>
            <a:r>
              <a:rPr sz="1100" b="1">
                <a:solidFill>
                  <a:srgbClr val="1E9E57"/>
                </a:solidFill>
                <a:latin typeface="Neue Haas Grotesk Text Pro"/>
              </a:rPr>
              <a:t>Rp 30,2 Bio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5850" y="3905250"/>
            <a:ext cx="990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00000"/>
                </a:solidFill>
                <a:latin typeface="Neue Haas Grotesk Text Pro"/>
              </a:rPr>
              <a:t>Avg sales / year</a:t>
            </a:r>
          </a:p>
          <a:p>
            <a:pPr algn="ctr"/>
            <a:r>
              <a:rPr sz="950" b="1">
                <a:solidFill>
                  <a:srgbClr val="000000"/>
                </a:solidFill>
                <a:latin typeface="Neue Haas Grotesk Text Pro"/>
              </a:rPr>
              <a:t>Medium &amp; Heavy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895850" y="4210050"/>
            <a:ext cx="990600" cy="0"/>
          </a:xfrm>
          <a:prstGeom prst="line">
            <a:avLst/>
          </a:prstGeom>
          <a:ln w="952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895850" y="4248150"/>
            <a:ext cx="990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9E57"/>
                </a:solidFill>
                <a:latin typeface="Neue Haas Grotesk Text Pro"/>
              </a:rPr>
              <a:t>88 units</a:t>
            </a:r>
          </a:p>
          <a:p>
            <a:pPr algn="ctr"/>
            <a:r>
              <a:rPr sz="1100" b="1">
                <a:solidFill>
                  <a:srgbClr val="1E9E57"/>
                </a:solidFill>
                <a:latin typeface="Neue Haas Grotesk Text Pro"/>
              </a:rPr>
              <a:t>Rp 70,0 Bio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5850" y="4667250"/>
            <a:ext cx="990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Neue Haas Grotesk Text Pro"/>
              </a:rPr>
              <a:t>Average of the full years 2023 – 2025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1000" y="6115050"/>
            <a:ext cx="95250" cy="95250"/>
          </a:xfrm>
          <a:prstGeom prst="rect">
            <a:avLst/>
          </a:prstGeom>
          <a:solidFill>
            <a:srgbClr val="C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350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Light (≤ 8 tm)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62125" y="6115050"/>
            <a:ext cx="95250" cy="95250"/>
          </a:xfrm>
          <a:prstGeom prst="rect">
            <a:avLst/>
          </a:prstGeom>
          <a:solidFill>
            <a:srgbClr val="74C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95475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Small (8–25 tm)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43250" y="6115050"/>
            <a:ext cx="95250" cy="9525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76600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Medium (25–45 tm)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24375" y="6115050"/>
            <a:ext cx="95250" cy="95250"/>
          </a:xfrm>
          <a:prstGeom prst="rect">
            <a:avLst/>
          </a:prstGeom>
          <a:solidFill>
            <a:srgbClr val="0B4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57725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Heavy (&gt; 45 tm)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2900" y="6305550"/>
            <a:ext cx="5524500" cy="190500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9100" y="6334125"/>
            <a:ext cx="5391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Neue Haas Grotesk Text Pro"/>
              </a:rPr>
              <a:t>Ton-meter classes follow the Application Engineering classification. *2026 is a partial year.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000750" y="2381250"/>
            <a:ext cx="0" cy="4152900"/>
          </a:xfrm>
          <a:prstGeom prst="line">
            <a:avLst/>
          </a:prstGeom>
          <a:ln w="28575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5867400" y="4324350"/>
            <a:ext cx="266700" cy="26670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Neue Haas Grotesk Text Pro"/>
              </a:rPr>
              <a:t>&gt;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91250" y="2400300"/>
            <a:ext cx="56388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Neue Haas Grotesk Text Pro"/>
              </a:rPr>
              <a:t>Imported folding cranes by class, 2023 – 2026</a:t>
            </a:r>
          </a:p>
        </p:txBody>
      </p:sp>
      <p:graphicFrame>
        <p:nvGraphicFramePr>
          <p:cNvPr id="63" name="Chart 62"/>
          <p:cNvGraphicFramePr>
            <a:graphicFrameLocks noGrp="1"/>
          </p:cNvGraphicFramePr>
          <p:nvPr/>
        </p:nvGraphicFramePr>
        <p:xfrm>
          <a:off x="7010400" y="2628900"/>
          <a:ext cx="4000500" cy="34099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4" name="Left Brace 63"/>
          <p:cNvSpPr/>
          <p:nvPr/>
        </p:nvSpPr>
        <p:spPr>
          <a:xfrm>
            <a:off x="7046976" y="2697099"/>
            <a:ext cx="114300" cy="1297981"/>
          </a:xfrm>
          <a:prstGeom prst="leftBrace">
            <a:avLst/>
          </a:prstGeom>
          <a:noFill/>
          <a:ln w="19050">
            <a:solidFill>
              <a:srgbClr val="1E9E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ft Brace 64"/>
          <p:cNvSpPr/>
          <p:nvPr/>
        </p:nvSpPr>
        <p:spPr>
          <a:xfrm>
            <a:off x="7046976" y="4052230"/>
            <a:ext cx="114300" cy="1679724"/>
          </a:xfrm>
          <a:prstGeom prst="leftBrac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ight Brace 65"/>
          <p:cNvSpPr/>
          <p:nvPr/>
        </p:nvSpPr>
        <p:spPr>
          <a:xfrm>
            <a:off x="10860024" y="2697099"/>
            <a:ext cx="114300" cy="2023640"/>
          </a:xfrm>
          <a:prstGeom prst="rightBrace">
            <a:avLst/>
          </a:prstGeom>
          <a:noFill/>
          <a:ln w="19050">
            <a:solidFill>
              <a:srgbClr val="1E9E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ight Brace 66"/>
          <p:cNvSpPr/>
          <p:nvPr/>
        </p:nvSpPr>
        <p:spPr>
          <a:xfrm>
            <a:off x="10860024" y="4777889"/>
            <a:ext cx="114300" cy="954066"/>
          </a:xfrm>
          <a:prstGeom prst="rightBrac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72200" y="3034146"/>
            <a:ext cx="781050" cy="65246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00775" y="3072246"/>
            <a:ext cx="723900" cy="595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9E57"/>
                </a:solidFill>
                <a:latin typeface="Neue Haas Grotesk Text Pro"/>
              </a:rPr>
              <a:t>44%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of total units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from Medium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&amp; Heavy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4551574"/>
            <a:ext cx="781050" cy="65246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00775" y="4589674"/>
            <a:ext cx="723900" cy="595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Neue Haas Grotesk Text Pro"/>
              </a:rPr>
              <a:t>56%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of total units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from Light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&amp; Small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049000" y="3332681"/>
            <a:ext cx="7810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077575" y="3370781"/>
            <a:ext cx="7239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9E57"/>
                </a:solidFill>
                <a:latin typeface="Neue Haas Grotesk Text Pro"/>
              </a:rPr>
              <a:t>68%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of total value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(Rp 217,6 Bio)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from Medium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&amp; Heavy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049000" y="4850109"/>
            <a:ext cx="7810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077575" y="4888209"/>
            <a:ext cx="7239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Neue Haas Grotesk Text Pro"/>
              </a:rPr>
              <a:t>32%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of total value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(Rp 104,2 Bio)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from Light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&amp; Small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86500" y="6115050"/>
            <a:ext cx="95250" cy="95250"/>
          </a:xfrm>
          <a:prstGeom prst="rect">
            <a:avLst/>
          </a:prstGeom>
          <a:solidFill>
            <a:srgbClr val="C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19850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Light (≤ 8 tm)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67625" y="6115050"/>
            <a:ext cx="95250" cy="95250"/>
          </a:xfrm>
          <a:prstGeom prst="rect">
            <a:avLst/>
          </a:prstGeom>
          <a:solidFill>
            <a:srgbClr val="74C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00975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Small (8–25 tm)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48750" y="6115050"/>
            <a:ext cx="95250" cy="9525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82100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Medium (25–45 tm)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429875" y="6115050"/>
            <a:ext cx="95250" cy="95250"/>
          </a:xfrm>
          <a:prstGeom prst="rect">
            <a:avLst/>
          </a:prstGeom>
          <a:solidFill>
            <a:srgbClr val="0B4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563225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Heavy (&gt; 45 tm)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10400" y="6305550"/>
            <a:ext cx="40005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10400" y="6334125"/>
            <a:ext cx="4000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9E57"/>
                </a:solidFill>
                <a:latin typeface="Neue Haas Grotesk Text Pro"/>
              </a:rPr>
              <a:t>Light &amp; Small bring the volume, Medium &amp; Heavy bring the value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" y="6591300"/>
            <a:ext cx="114871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7F7F7F"/>
                </a:solidFill>
                <a:latin typeface="Neue Haas Grotesk Text Pro"/>
              </a:rPr>
              <a:t>Source: Indonesia import records (Crane Market GVW Pairing v11, Noir), 2023 – 2026; 2026 is a partial year. Folding cranes only; excludes the Noir "Excluded Rows", Hyva, Zoomlion, HIAB XG grabbers, Tadano TM-Z telescopic and 2 invalid-price records. Value = import value before tax × Rp 17.803/USD (JISDOR 23 Sep 2026).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482864" cy="587067"/>
            <a:chOff x="347225" y="685795"/>
            <a:chExt cx="11482864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8382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Indonesian Import Folding Crane 2025/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572500" y="685795"/>
              <a:ext cx="325755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How big was 2025?</a:t>
              </a:r>
              <a:br>
                <a:rPr lang="en-US" sz="1600" b="1" dirty="0"/>
              </a:br>
              <a:r>
                <a:rPr lang="en-US" sz="1600" b="1" dirty="0"/>
                <a:t>And who led each class?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2025: Sany Palfinger led Light, Small and Medium; Palfinger led Heavy with 62% of its value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In 2025, Indonesia imported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184 folding cranes (Rp 102,4 Bio)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. Light &amp; Small made up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49% of units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, while Medium &amp; Heavy held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77% of value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. In every class,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the top three brands held 83% or more of the value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342900" y="2400300"/>
            <a:ext cx="5524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Neue Haas Grotesk Text Pro"/>
              </a:rPr>
              <a:t>Imported folding cranes by class, 2025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1162050" y="2628900"/>
          <a:ext cx="4000500" cy="34099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8" name="Left Brace 37"/>
          <p:cNvSpPr/>
          <p:nvPr/>
        </p:nvSpPr>
        <p:spPr>
          <a:xfrm>
            <a:off x="1198626" y="2697099"/>
            <a:ext cx="114300" cy="1521840"/>
          </a:xfrm>
          <a:prstGeom prst="leftBrace">
            <a:avLst/>
          </a:prstGeom>
          <a:noFill/>
          <a:ln w="19050">
            <a:solidFill>
              <a:srgbClr val="1E9E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Left Brace 38"/>
          <p:cNvSpPr/>
          <p:nvPr/>
        </p:nvSpPr>
        <p:spPr>
          <a:xfrm>
            <a:off x="1198626" y="4276089"/>
            <a:ext cx="114300" cy="1455865"/>
          </a:xfrm>
          <a:prstGeom prst="leftBrac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Brace 39"/>
          <p:cNvSpPr/>
          <p:nvPr/>
        </p:nvSpPr>
        <p:spPr>
          <a:xfrm>
            <a:off x="5011674" y="2697099"/>
            <a:ext cx="114300" cy="2294550"/>
          </a:xfrm>
          <a:prstGeom prst="rightBrace">
            <a:avLst/>
          </a:prstGeom>
          <a:noFill/>
          <a:ln w="19050">
            <a:solidFill>
              <a:srgbClr val="1E9E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Brace 40"/>
          <p:cNvSpPr/>
          <p:nvPr/>
        </p:nvSpPr>
        <p:spPr>
          <a:xfrm>
            <a:off x="5011674" y="5048799"/>
            <a:ext cx="114300" cy="683156"/>
          </a:xfrm>
          <a:prstGeom prst="rightBrac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3850" y="3146075"/>
            <a:ext cx="781050" cy="65246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425" y="3184175"/>
            <a:ext cx="723900" cy="595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9E57"/>
                </a:solidFill>
                <a:latin typeface="Neue Haas Grotesk Text Pro"/>
              </a:rPr>
              <a:t>51%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of total units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from Medium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&amp; Heavy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3850" y="4663503"/>
            <a:ext cx="781050" cy="65246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425" y="4701603"/>
            <a:ext cx="723900" cy="595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Neue Haas Grotesk Text Pro"/>
              </a:rPr>
              <a:t>49%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of total units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from Light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&amp; Small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00650" y="3468136"/>
            <a:ext cx="7810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9225" y="3506236"/>
            <a:ext cx="7239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9E57"/>
                </a:solidFill>
                <a:latin typeface="Neue Haas Grotesk Text Pro"/>
              </a:rPr>
              <a:t>77%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of total value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(Rp 78,4 Bio)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from Medium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&amp; Heavy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00650" y="4985564"/>
            <a:ext cx="7810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29225" y="5023664"/>
            <a:ext cx="7239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Neue Haas Grotesk Text Pro"/>
              </a:rPr>
              <a:t>23%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of total value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(Rp 24,0 Bio)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from Light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&amp; Small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1000" y="6115050"/>
            <a:ext cx="95250" cy="95250"/>
          </a:xfrm>
          <a:prstGeom prst="rect">
            <a:avLst/>
          </a:prstGeom>
          <a:solidFill>
            <a:srgbClr val="C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350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Light (≤ 8 tm)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62125" y="6115050"/>
            <a:ext cx="95250" cy="95250"/>
          </a:xfrm>
          <a:prstGeom prst="rect">
            <a:avLst/>
          </a:prstGeom>
          <a:solidFill>
            <a:srgbClr val="74C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95475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Small (8–25 tm)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43250" y="6115050"/>
            <a:ext cx="95250" cy="9525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76600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Medium (25–45 tm)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24375" y="6115050"/>
            <a:ext cx="95250" cy="95250"/>
          </a:xfrm>
          <a:prstGeom prst="rect">
            <a:avLst/>
          </a:prstGeom>
          <a:solidFill>
            <a:srgbClr val="0B4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57725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Heavy (&gt; 45 tm)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2900" y="6305550"/>
            <a:ext cx="5524500" cy="190500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9100" y="6334125"/>
            <a:ext cx="5391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Neue Haas Grotesk Text Pro"/>
              </a:rPr>
              <a:t>Ton-meter classes follow the Application Engineering classification.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000750" y="2381250"/>
            <a:ext cx="0" cy="4152900"/>
          </a:xfrm>
          <a:prstGeom prst="line">
            <a:avLst/>
          </a:prstGeom>
          <a:ln w="28575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5867400" y="4324350"/>
            <a:ext cx="266700" cy="26670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Neue Haas Grotesk Text Pro"/>
              </a:rPr>
              <a:t>&gt;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91250" y="2400300"/>
            <a:ext cx="56388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Neue Haas Grotesk Text Pro"/>
              </a:rPr>
              <a:t>Who led each class in 2025,</a:t>
            </a:r>
            <a:r>
              <a:rPr sz="1250" b="0">
                <a:solidFill>
                  <a:srgbClr val="000000"/>
                </a:solidFill>
                <a:latin typeface="Neue Haas Grotesk Text Pro"/>
              </a:rPr>
              <a:t> % of class value</a:t>
            </a:r>
          </a:p>
        </p:txBody>
      </p:sp>
      <p:graphicFrame>
        <p:nvGraphicFramePr>
          <p:cNvPr id="63" name="Chart 62"/>
          <p:cNvGraphicFramePr>
            <a:graphicFrameLocks noGrp="1"/>
          </p:cNvGraphicFramePr>
          <p:nvPr/>
        </p:nvGraphicFramePr>
        <p:xfrm>
          <a:off x="7048500" y="2647950"/>
          <a:ext cx="3810000" cy="33337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191250" y="2962275"/>
            <a:ext cx="8191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Neue Haas Grotesk Text Pro"/>
              </a:rPr>
              <a:t>Light</a:t>
            </a:r>
          </a:p>
          <a:p>
            <a:pPr algn="r"/>
            <a:r>
              <a:rPr sz="900" b="0">
                <a:solidFill>
                  <a:srgbClr val="000000"/>
                </a:solidFill>
                <a:latin typeface="Neue Haas Grotesk Text Pro"/>
              </a:rPr>
              <a:t>37 units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15650" y="2962275"/>
            <a:ext cx="914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Neue Haas Grotesk Text Pro"/>
              </a:rPr>
              <a:t>Rp 5,7 Bio</a:t>
            </a:r>
          </a:p>
          <a:p>
            <a:pPr algn="l"/>
            <a:r>
              <a:rPr sz="850" b="0">
                <a:solidFill>
                  <a:srgbClr val="595959"/>
                </a:solidFill>
                <a:latin typeface="Neue Haas Grotesk Text Pro"/>
              </a:rPr>
              <a:t>top 3: 100%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91250" y="3762375"/>
            <a:ext cx="8191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Neue Haas Grotesk Text Pro"/>
              </a:rPr>
              <a:t>Small</a:t>
            </a:r>
          </a:p>
          <a:p>
            <a:pPr algn="r"/>
            <a:r>
              <a:rPr sz="900" b="0">
                <a:solidFill>
                  <a:srgbClr val="000000"/>
                </a:solidFill>
                <a:latin typeface="Neue Haas Grotesk Text Pro"/>
              </a:rPr>
              <a:t>53 units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15650" y="3762375"/>
            <a:ext cx="914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Neue Haas Grotesk Text Pro"/>
              </a:rPr>
              <a:t>Rp 18,3 Bio</a:t>
            </a:r>
          </a:p>
          <a:p>
            <a:pPr algn="l"/>
            <a:r>
              <a:rPr sz="850" b="0">
                <a:solidFill>
                  <a:srgbClr val="595959"/>
                </a:solidFill>
                <a:latin typeface="Neue Haas Grotesk Text Pro"/>
              </a:rPr>
              <a:t>top 3: 83%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91250" y="4562475"/>
            <a:ext cx="8191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E9E57"/>
                </a:solidFill>
                <a:latin typeface="Neue Haas Grotesk Text Pro"/>
              </a:rPr>
              <a:t>Medium</a:t>
            </a:r>
          </a:p>
          <a:p>
            <a:pPr algn="r"/>
            <a:r>
              <a:rPr sz="900" b="0">
                <a:solidFill>
                  <a:srgbClr val="000000"/>
                </a:solidFill>
                <a:latin typeface="Neue Haas Grotesk Text Pro"/>
              </a:rPr>
              <a:t>59 units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15650" y="4562475"/>
            <a:ext cx="914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Neue Haas Grotesk Text Pro"/>
              </a:rPr>
              <a:t>Rp 30,3 Bio</a:t>
            </a:r>
          </a:p>
          <a:p>
            <a:pPr algn="l"/>
            <a:r>
              <a:rPr sz="850" b="0">
                <a:solidFill>
                  <a:srgbClr val="595959"/>
                </a:solidFill>
                <a:latin typeface="Neue Haas Grotesk Text Pro"/>
              </a:rPr>
              <a:t>top 3: 83%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91250" y="5362575"/>
            <a:ext cx="8191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E9E57"/>
                </a:solidFill>
                <a:latin typeface="Neue Haas Grotesk Text Pro"/>
              </a:rPr>
              <a:t>Heavy</a:t>
            </a:r>
          </a:p>
          <a:p>
            <a:pPr algn="r"/>
            <a:r>
              <a:rPr sz="900" b="0">
                <a:solidFill>
                  <a:srgbClr val="000000"/>
                </a:solidFill>
                <a:latin typeface="Neue Haas Grotesk Text Pro"/>
              </a:rPr>
              <a:t>35 units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15650" y="5362575"/>
            <a:ext cx="914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Neue Haas Grotesk Text Pro"/>
              </a:rPr>
              <a:t>Rp 48,0 Bio</a:t>
            </a:r>
          </a:p>
          <a:p>
            <a:pPr algn="l"/>
            <a:r>
              <a:rPr sz="850" b="0">
                <a:solidFill>
                  <a:srgbClr val="595959"/>
                </a:solidFill>
                <a:latin typeface="Neue Haas Grotesk Text Pro"/>
              </a:rPr>
              <a:t>top 3: 95%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0300" y="6115050"/>
            <a:ext cx="95250" cy="95250"/>
          </a:xfrm>
          <a:prstGeom prst="rect">
            <a:avLst/>
          </a:prstGeom>
          <a:solidFill>
            <a:srgbClr val="0B4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43650" y="6096000"/>
            <a:ext cx="103632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Sany Palfinger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99020" y="6115050"/>
            <a:ext cx="95250" cy="9525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32370" y="6096000"/>
            <a:ext cx="69342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Palfinger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44840" y="6115050"/>
            <a:ext cx="95250" cy="95250"/>
          </a:xfrm>
          <a:prstGeom prst="rect">
            <a:avLst/>
          </a:prstGeom>
          <a:solidFill>
            <a:srgbClr val="74C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78190" y="6096000"/>
            <a:ext cx="476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XCMG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73490" y="6115050"/>
            <a:ext cx="95250" cy="95250"/>
          </a:xfrm>
          <a:prstGeom prst="rect">
            <a:avLst/>
          </a:prstGeom>
          <a:solidFill>
            <a:srgbClr val="B7E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006840" y="6096000"/>
            <a:ext cx="69342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Amco Veba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719310" y="6115050"/>
            <a:ext cx="95250" cy="9525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52660" y="6096000"/>
            <a:ext cx="476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HIAB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347960" y="6115050"/>
            <a:ext cx="95250" cy="9525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481310" y="6096000"/>
            <a:ext cx="476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Fassi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976610" y="6115050"/>
            <a:ext cx="95250" cy="9525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109960" y="6096000"/>
            <a:ext cx="62484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Bob-Lift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10400" y="6305550"/>
            <a:ext cx="40005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010400" y="6334125"/>
            <a:ext cx="4000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9E57"/>
                </a:solidFill>
                <a:latin typeface="Neue Haas Grotesk Text Pro"/>
              </a:rPr>
              <a:t>Every class has one clear leader to beat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2900" y="6591300"/>
            <a:ext cx="114871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7F7F7F"/>
                </a:solidFill>
                <a:latin typeface="Neue Haas Grotesk Text Pro"/>
              </a:rPr>
              <a:t>Source: Indonesia import records (Crane Market GVW Pairing v11, Noir), 2025. Folding cranes only; excludes the Noir "Excluded Rows", Hyva, Zoomlion, HIAB XG grabbers, Tadano TM-Z telescopic and 2 invalid-price records. Value = import value before tax × Rp 17.803/USD (JISDOR 23 Sep 2026).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482864" cy="587067"/>
            <a:chOff x="347225" y="685795"/>
            <a:chExt cx="11482864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81915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Light Class Map 2023–26/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572500" y="685795"/>
              <a:ext cx="325755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Who leads each tm class?</a:t>
              </a:r>
              <a:br>
                <a:rPr lang="en-US" sz="1600" b="1" dirty="0"/>
              </a:br>
              <a:r>
                <a:rPr lang="en-US" sz="1600" b="1" dirty="0"/>
                <a:t>Which crane beats it on price?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Light: Sany Palfinger SPK8500 leads; XCMG SQ3.2ZK2 is Rp 42 Jt cheaper per unit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Light class (≤ 8 tm):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174 units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 imported in 2023 – 2026.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5–8 tm takes 97% of units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. Each row compares the tier leader (by value) with the cheapest crane of about the same size.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42900" y="2266950"/>
          <a:ext cx="1148715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/>
                <a:gridCol w="1619250"/>
                <a:gridCol w="1428750"/>
                <a:gridCol w="1260475"/>
                <a:gridCol w="1260475"/>
                <a:gridCol w="1260475"/>
                <a:gridCol w="1260475"/>
                <a:gridCol w="1260475"/>
                <a:gridCol w="1260475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tm class</a:t>
                      </a:r>
                    </a:p>
                  </a:txBody>
                  <a:tcPr anchor="ctr" marL="47625" marR="47625" marT="4762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Our challenger</a:t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F.lli Ferrari or XCMG</a:t>
                      </a:r>
                    </a:p>
                  </a:txBody>
                  <a:tcPr anchor="ctr" marL="47625" marR="47625" marT="47625" marB="19050">
                    <a:solidFill>
                      <a:srgbClr val="1E9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price list + imports</a:t>
                      </a:r>
                    </a:p>
                  </a:txBody>
                  <a:tcPr anchor="b" marL="47625" marR="47625" marT="4762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110 units</a:t>
                      </a:r>
                    </a:p>
                  </a:txBody>
                  <a:tcPr anchor="b" marL="47625" marR="47625" marT="4762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38 units</a:t>
                      </a:r>
                    </a:p>
                  </a:txBody>
                  <a:tcPr anchor="b" marL="47625" marR="47625" marT="4762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11 units</a:t>
                      </a:r>
                    </a:p>
                  </a:txBody>
                  <a:tcPr anchor="b" marL="47625" marR="47625" marT="4762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9 units</a:t>
                      </a:r>
                    </a:p>
                  </a:txBody>
                  <a:tcPr anchor="b" marL="47625" marR="47625" marT="4762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3 units</a:t>
                      </a:r>
                    </a:p>
                  </a:txBody>
                  <a:tcPr anchor="b" marL="47625" marR="47625" marT="4762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2 units</a:t>
                      </a:r>
                    </a:p>
                  </a:txBody>
                  <a:tcPr anchor="b" marL="47625" marR="47625" marT="47625" marB="19050">
                    <a:solidFill>
                      <a:srgbClr val="0B4D2A"/>
                    </a:solidFill>
                  </a:tcPr>
                </a:tc>
              </a:tr>
              <a:tr h="174307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≤ 5 tm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6 units</a:t>
                      </a:r>
                    </a:p>
                  </a:txBody>
                  <a:tcPr anchor="ctr" marL="47625" marR="47625" marT="4762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4D2A"/>
                          </a:solidFill>
                          <a:latin typeface="Neue Haas Grotesk Text Pro"/>
                        </a:rPr>
                        <a:t>F.lli Ferrari 350 A2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199 Jt /unit</a:t>
                      </a:r>
                    </a:p>
                    <a:p>
                      <a:pPr algn="l"/>
                      <a:r>
                        <a:rPr sz="13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Rp 66 Jt cheaper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• vs PK 5001, Rp 265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F.lli Ferrari price list</a:t>
                      </a:r>
                    </a:p>
                  </a:txBody>
                  <a:tcPr anchor="ctr" marL="47625" marR="47625" marT="47625" marB="19050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315 A2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161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350 A2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199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4762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4762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PK 5001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3 units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265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47625" marB="19050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4762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4762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M30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2 units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165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4762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GKB08ZA3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53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47625" marB="19050">
                    <a:solidFill>
                      <a:srgbClr val="FFFFFF"/>
                    </a:solidFill>
                  </a:tcPr>
                </a:tc>
              </a:tr>
              <a:tr h="174307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5–8 tm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168 units</a:t>
                      </a:r>
                    </a:p>
                  </a:txBody>
                  <a:tcPr anchor="ctr" marL="47625" marR="47625" marT="4762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4D2A"/>
                          </a:solidFill>
                          <a:latin typeface="Neue Haas Grotesk Text Pro"/>
                        </a:rPr>
                        <a:t>XCMG SQ3.2ZK2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142 Jt /unit</a:t>
                      </a:r>
                    </a:p>
                    <a:p>
                      <a:pPr algn="l"/>
                      <a:r>
                        <a:rPr sz="13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Rp 42 Jt cheaper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• vs SPK8500, Rp 185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import data, 2 units</a:t>
                      </a:r>
                    </a:p>
                  </a:txBody>
                  <a:tcPr anchor="ctr" marL="47625" marR="47625" marT="47625" marB="19050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561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254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563 A2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225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563R A2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300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4762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SPK8500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91 units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185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SPK6500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19 units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148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47625" marB="19050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PK 8501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34 units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404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PK 8500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353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4762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KSQZ68.2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9 units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149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SQ3.2ZK2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2 units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142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4762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V806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8 units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211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V808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213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4762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F65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265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4762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GKB3.2ZA2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141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47625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2914650" y="2305050"/>
            <a:ext cx="1276350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err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533" y="2328862"/>
            <a:ext cx="542585" cy="142875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343400" y="2305050"/>
            <a:ext cx="1108075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any_palfin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119" y="2328862"/>
            <a:ext cx="670638" cy="142875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5603875" y="2305050"/>
            <a:ext cx="1108075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palfin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321" y="2328862"/>
            <a:ext cx="645184" cy="142875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864350" y="2305050"/>
            <a:ext cx="1108075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xc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193" y="2328862"/>
            <a:ext cx="654389" cy="142875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8124825" y="2305050"/>
            <a:ext cx="1108075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amco_v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9626" y="2328862"/>
            <a:ext cx="638473" cy="142875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9385300" y="2305050"/>
            <a:ext cx="1108075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fass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7398" y="2328862"/>
            <a:ext cx="563880" cy="142875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0645775" y="2305050"/>
            <a:ext cx="1108075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000" b="1">
                <a:solidFill>
                  <a:srgbClr val="0B4D2A"/>
                </a:solidFill>
                <a:latin typeface="Neue Haas Grotesk Text Pro"/>
              </a:rPr>
              <a:t>Bob-Lift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2900" y="6324600"/>
            <a:ext cx="95250" cy="9525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6250" y="6305550"/>
            <a:ext cx="48196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Our challenger (F.lli Ferrari first in Medium &amp; Heavy)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95900" y="6324600"/>
            <a:ext cx="95250" cy="95250"/>
          </a:xfrm>
          <a:prstGeom prst="rect">
            <a:avLst/>
          </a:prstGeom>
          <a:solidFill>
            <a:srgbClr val="FFF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29250" y="6305550"/>
            <a:ext cx="48196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Tier leader (TOP 1 = highest import value in the tier)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2900" y="6496050"/>
            <a:ext cx="114871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7F7F7F"/>
                </a:solidFill>
                <a:latin typeface="Neue Haas Grotesk Text Pro"/>
              </a:rPr>
              <a:t>Source: Indonesia import records (Crane Market GVW Pairing v11, Noir), 2023 – 2026 (2026 partial year); F.lli Ferrari price list June 2026 (Rev1), sheet 25.06. Competitor price = average import unit price of the model as recorded (total value ÷ total units) × Rp 17.803/USD (JISDOR 23 Sep 2026); no duty or tax added. F.lli Ferrari price = price list as is, crane only (column K − column I): no cargo deck, no install. Model variants merged (e.g. SPK8500 = SPK8500, A, B). Folding cranes only; Hyva, Zoomlion, grabbers, telescopic cranes and invalid-price records excluded. Challengers: F.lli Ferrari or XCMG; in Medium and Heavy F.lli Ferrari comes first (same size −2/+5 tm) unless it is more than 30% dearer; Heavy 50 – 55 tm uses FBR450R A4 (4,6 tm smaller) by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482864" cy="587067"/>
            <a:chOff x="347225" y="685795"/>
            <a:chExt cx="11482864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81915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Small Class Map 2023–26/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572500" y="685795"/>
              <a:ext cx="325755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Who leads each tm class?</a:t>
              </a:r>
              <a:br>
                <a:rPr lang="en-US" sz="1600" b="1" dirty="0"/>
              </a:br>
              <a:r>
                <a:rPr lang="en-US" sz="1600" b="1" dirty="0"/>
                <a:t>Which crane beats it on price?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Small: Sany Palfinger SPK23500 leads; no cheaper crane of the same size yet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Small class (&gt; 8 – 25 tm):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184 units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 imported in 2023 – 2026.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20–25 tm takes 47% of units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. Each row compares the tier leader (by value) with the cheapest crane of about the same size.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42900" y="2266950"/>
          <a:ext cx="11487148" cy="3886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/>
                <a:gridCol w="1619250"/>
                <a:gridCol w="1428750"/>
                <a:gridCol w="945356"/>
                <a:gridCol w="945356"/>
                <a:gridCol w="945356"/>
                <a:gridCol w="945356"/>
                <a:gridCol w="945356"/>
                <a:gridCol w="945356"/>
                <a:gridCol w="945356"/>
                <a:gridCol w="945356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tm class</a:t>
                      </a:r>
                    </a:p>
                  </a:txBody>
                  <a:tcPr anchor="ctr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Our challenger</a:t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F.lli Ferrari or XCMG</a:t>
                      </a:r>
                    </a:p>
                  </a:txBody>
                  <a:tcPr anchor="ctr" marL="47625" marR="47625" marT="28575" marB="19050">
                    <a:solidFill>
                      <a:srgbClr val="1E9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price list + imports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103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37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12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11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8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7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3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3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8–10 tm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 units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4D2A"/>
                          </a:solidFill>
                          <a:latin typeface="Neue Haas Grotesk Text Pro"/>
                        </a:rPr>
                        <a:t>F.lli Ferrari 6108 A2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285 Jt /unit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Rp 57 Jt cheaper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• vs F85B.24, Rp 342 Jt /unit</a:t>
                      </a:r>
                    </a:p>
                  </a:txBody>
                  <a:tcPr anchor="ctr" marL="47625" marR="47625" marT="28575" marB="19050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6108 A2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285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F85B.24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342 Jt /unit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+ 1 more (1 unit)</a:t>
                      </a:r>
                    </a:p>
                  </a:txBody>
                  <a:tcPr anchor="t" marL="47625" marR="47625" marT="28575" marB="19050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GKB5ZA2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171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10–15 tm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56 units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No cheaper crane of the same size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6148 A3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350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5148 A4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364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SPK15500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24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275 Jt /unit</a:t>
                      </a:r>
                    </a:p>
                  </a:txBody>
                  <a:tcPr anchor="t" marL="47625" marR="47625" marT="28575" marB="19050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GSQZ105.4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4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230 Jt /unit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+ 4 more (8 units)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PK 15500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6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497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V816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9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351 Jt /unit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+ 1 more (1 unit)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F155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2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413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Q5ZA2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2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226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15–20 tm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38 units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4D2A"/>
                          </a:solidFill>
                          <a:latin typeface="Neue Haas Grotesk Text Pro"/>
                        </a:rPr>
                        <a:t>XCMG GSQZ200.3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304 Jt /unit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Rp 21 Jt cheaper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• vs SPK18500, Rp 324 Jt /unit</a:t>
                      </a:r>
                    </a:p>
                  </a:txBody>
                  <a:tcPr anchor="ctr" marL="47625" marR="47625" marT="28575" marB="19050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178 A3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442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6238 A3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476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SPK18500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8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324 Jt /unit</a:t>
                      </a:r>
                    </a:p>
                  </a:txBody>
                  <a:tcPr anchor="t" marL="47625" marR="47625" marT="28575" marB="19050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GSQZ160.4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6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365 Jt /unit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+ 8 more (19 units)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V817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462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X-CL 16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2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355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F215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583 Jt /unit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+ 1 more (1 unit)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20–25 tm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87 units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No cheaper crane of the same size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6248 A3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511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258 A3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527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SPK23500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70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334 Jt /unit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+ 1 more (1 unit)</a:t>
                      </a:r>
                    </a:p>
                  </a:txBody>
                  <a:tcPr anchor="t" marL="47625" marR="47625" marT="28575" marB="19050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PK 23500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6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732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X-CLX 288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3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747 Jt /unit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+ 1 more (3 units)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F245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738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PM9024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3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335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2914650" y="2305050"/>
            <a:ext cx="1276350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err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533" y="2328862"/>
            <a:ext cx="542585" cy="142875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343400" y="2305050"/>
            <a:ext cx="792956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any_palfin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559" y="2328862"/>
            <a:ext cx="670638" cy="142875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5288756" y="2305050"/>
            <a:ext cx="792956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xc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040" y="2328862"/>
            <a:ext cx="654389" cy="142875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234112" y="2305050"/>
            <a:ext cx="792956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palfin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999" y="2328862"/>
            <a:ext cx="645184" cy="142875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7179469" y="2305050"/>
            <a:ext cx="792956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amco_v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6711" y="2328862"/>
            <a:ext cx="638473" cy="142875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8124825" y="2305050"/>
            <a:ext cx="792956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hia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4537" y="2328862"/>
            <a:ext cx="413533" cy="142875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9070181" y="2305050"/>
            <a:ext cx="792956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fass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4719" y="2328862"/>
            <a:ext cx="563880" cy="142875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10015538" y="2305050"/>
            <a:ext cx="792956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000" b="1">
                <a:solidFill>
                  <a:srgbClr val="0B4D2A"/>
                </a:solidFill>
                <a:latin typeface="Neue Haas Grotesk Text Pro"/>
              </a:rPr>
              <a:t>Bob-Lift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960894" y="2305050"/>
            <a:ext cx="792956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850" b="1">
                <a:solidFill>
                  <a:srgbClr val="0B4D2A"/>
                </a:solidFill>
                <a:latin typeface="Neue Haas Grotesk Text Pro"/>
              </a:rPr>
              <a:t>PM Cranes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2900" y="6324600"/>
            <a:ext cx="95250" cy="9525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6250" y="6305550"/>
            <a:ext cx="48196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Our challenger (F.lli Ferrari first in Medium &amp; Heavy)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95900" y="6324600"/>
            <a:ext cx="95250" cy="95250"/>
          </a:xfrm>
          <a:prstGeom prst="rect">
            <a:avLst/>
          </a:prstGeom>
          <a:solidFill>
            <a:srgbClr val="FFF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29250" y="6305550"/>
            <a:ext cx="48196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Tier leader (TOP 1 = highest import value in the tier)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2900" y="6496050"/>
            <a:ext cx="114871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7F7F7F"/>
                </a:solidFill>
                <a:latin typeface="Neue Haas Grotesk Text Pro"/>
              </a:rPr>
              <a:t>Source: Indonesia import records (Crane Market GVW Pairing v11, Noir), 2023 – 2026 (2026 partial year); F.lli Ferrari price list June 2026 (Rev1), sheet 25.06. Competitor price = average import unit price of the model as recorded (total value ÷ total units) × Rp 17.803/USD (JISDOR 23 Sep 2026); no duty or tax added. F.lli Ferrari price = price list as is, crane only (column K − column I): no cargo deck, no install. Model variants merged (e.g. SPK8500 = SPK8500, A, B). Folding cranes only; Hyva, Zoomlion, grabbers, telescopic cranes and invalid-price records excluded. Challengers: F.lli Ferrari or XCMG; in Medium and Heavy F.lli Ferrari comes first (same size −2/+5 tm) unless it is more than 30% dearer; Heavy 50 – 55 tm uses FBR450R A4 (4,6 tm smaller) by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482864" cy="587067"/>
            <a:chOff x="347225" y="685795"/>
            <a:chExt cx="11482864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81915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Medium Class Map 2023–26/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572500" y="685795"/>
              <a:ext cx="325755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Who leads each tm class?</a:t>
              </a:r>
              <a:br>
                <a:rPr lang="en-US" sz="1600" b="1" dirty="0"/>
              </a:br>
              <a:r>
                <a:rPr lang="en-US" sz="1600" b="1" dirty="0"/>
                <a:t>Which crane beats it on price?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Medium: HIAB X-CLX 388 leads; XCMG SQZ325.4 is Rp 278 Jt cheaper per unit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Medium class (&gt; 25 – 45 tm):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213 units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 imported in 2023 – 2026.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30–35 tm takes 35% of units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. Each row compares the tier leader (by value) with the cheapest crane of about the same size.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42900" y="2266950"/>
          <a:ext cx="11487150" cy="3886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/>
                <a:gridCol w="1619250"/>
                <a:gridCol w="1428750"/>
                <a:gridCol w="1512570"/>
                <a:gridCol w="1512570"/>
                <a:gridCol w="1512570"/>
                <a:gridCol w="1512570"/>
                <a:gridCol w="151257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tm class</a:t>
                      </a:r>
                    </a:p>
                  </a:txBody>
                  <a:tcPr anchor="ctr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Our challenger</a:t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F.lli Ferrari or XCMG</a:t>
                      </a:r>
                    </a:p>
                  </a:txBody>
                  <a:tcPr anchor="ctr" marL="47625" marR="47625" marT="28575" marB="19050">
                    <a:solidFill>
                      <a:srgbClr val="1E9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price list + imports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88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36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33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30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26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25–30 tm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49 units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4D2A"/>
                          </a:solidFill>
                          <a:latin typeface="Neue Haas Grotesk Text Pro"/>
                        </a:rPr>
                        <a:t>F.lli Ferrari 258 A3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527 Jt /unit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C55A11"/>
                          </a:solidFill>
                          <a:latin typeface="Neue Haas Grotesk Text Pro"/>
                        </a:rPr>
                        <a:t>Rp 10 Jt more (+2%)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• vs V825, Rp 517 Jt /unit</a:t>
                      </a:r>
                    </a:p>
                  </a:txBody>
                  <a:tcPr anchor="ctr" marL="47625" marR="47625" marT="28575" marB="19050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258 A3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527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V825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31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517 Jt /unit</a:t>
                      </a:r>
                    </a:p>
                  </a:txBody>
                  <a:tcPr anchor="t" marL="47625" marR="47625" marT="28575" marB="19050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KSQZ300.3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15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432 Jt /unit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SQ12ZK3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2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440 Jt /unit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+ 1 more (1 unit)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30–35 tm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75 units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4D2A"/>
                          </a:solidFill>
                          <a:latin typeface="Neue Haas Grotesk Text Pro"/>
                        </a:rPr>
                        <a:t>XCMG SQZ325.4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484 Jt /unit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Rp 278 Jt cheaper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• vs X-CLX 388, Rp 762 Jt /unit</a:t>
                      </a:r>
                    </a:p>
                  </a:txBody>
                  <a:tcPr anchor="ctr" marL="47625" marR="47625" marT="28575" marB="19050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FBR350 A4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1.147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FBR350R A4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1.318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SPK32080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33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390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V933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4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699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GSQZ330.4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4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613 Jt /unit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SQZ325.4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3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484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PK 32080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8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881 Jt /unit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PK 33002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38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X-CLX 388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21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762 Jt /unit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X-CLX 328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936 Jt /unit</a:t>
                      </a:r>
                    </a:p>
                  </a:txBody>
                  <a:tcPr anchor="t" marL="47625" marR="47625" marT="28575" marB="19050">
                    <a:solidFill>
                      <a:srgbClr val="FFF7D6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35–40 tm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66 units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4D2A"/>
                          </a:solidFill>
                          <a:latin typeface="Neue Haas Grotesk Text Pro"/>
                        </a:rPr>
                        <a:t>XCMG KSQZ365.4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478 Jt /unit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Rp 625 Jt cheaper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• vs PK 41002, Rp 1.103 Jt /unit</a:t>
                      </a:r>
                    </a:p>
                  </a:txBody>
                  <a:tcPr anchor="ctr" marL="47625" marR="47625" marT="28575" marB="19050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–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SPK36080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34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433 Jt /unit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SPK38080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3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410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KSQZ400.4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2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623 Jt /unit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GSQZ400.4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2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620 Jt /unit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+ 3 more (4 units)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PK 41002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21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1.103 Jt /unit</a:t>
                      </a:r>
                    </a:p>
                  </a:txBody>
                  <a:tcPr anchor="t" marL="47625" marR="47625" marT="28575" marB="19050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40–45 tm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23 units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No cheaper crane of the same size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746 A4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1.710 Jt /unit</a:t>
                      </a:r>
                    </a:p>
                    <a:p>
                      <a:pPr algn="l"/>
                      <a:r>
                        <a:rPr sz="4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SPK42502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18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693 Jt /unit</a:t>
                      </a:r>
                    </a:p>
                  </a:txBody>
                  <a:tcPr anchor="t" marL="47625" marR="47625" marT="28575" marB="19050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V946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1.068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477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4 units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472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2914650" y="2305050"/>
            <a:ext cx="1276350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err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533" y="2328862"/>
            <a:ext cx="542585" cy="142875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343400" y="2305050"/>
            <a:ext cx="1360170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any_palfin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166" y="2328862"/>
            <a:ext cx="670638" cy="142875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5855970" y="2305050"/>
            <a:ext cx="1360170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amco_ve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819" y="2328862"/>
            <a:ext cx="638473" cy="142875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368540" y="2305050"/>
            <a:ext cx="1360170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xc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430" y="2328862"/>
            <a:ext cx="654389" cy="142875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8881110" y="2305050"/>
            <a:ext cx="1360170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palfing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8603" y="2328862"/>
            <a:ext cx="645184" cy="142875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0393680" y="2305050"/>
            <a:ext cx="1360170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hia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6999" y="2328862"/>
            <a:ext cx="413533" cy="142875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342900" y="6324600"/>
            <a:ext cx="95250" cy="9525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6250" y="6305550"/>
            <a:ext cx="48196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Our challenger (F.lli Ferrari first in Medium &amp; Heavy)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95900" y="6324600"/>
            <a:ext cx="95250" cy="95250"/>
          </a:xfrm>
          <a:prstGeom prst="rect">
            <a:avLst/>
          </a:prstGeom>
          <a:solidFill>
            <a:srgbClr val="FFF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29250" y="6305550"/>
            <a:ext cx="48196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Tier leader (TOP 1 = highest import value in the tier)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2900" y="6496050"/>
            <a:ext cx="114871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7F7F7F"/>
                </a:solidFill>
                <a:latin typeface="Neue Haas Grotesk Text Pro"/>
              </a:rPr>
              <a:t>Source: Indonesia import records (Crane Market GVW Pairing v11, Noir), 2023 – 2026 (2026 partial year); F.lli Ferrari price list June 2026 (Rev1), sheet 25.06. Competitor price = average import unit price of the model as recorded (total value ÷ total units) × Rp 17.803/USD (JISDOR 23 Sep 2026); no duty or tax added. F.lli Ferrari price = price list as is, crane only (column K − column I): no cargo deck, no install. Model variants merged (e.g. SPK8500 = SPK8500, A, B). Folding cranes only; Hyva, Zoomlion, grabbers, telescopic cranes and invalid-price records excluded. Challengers: F.lli Ferrari or XCMG; in Medium and Heavy F.lli Ferrari comes first (same size −2/+5 tm) unless it is more than 30% dearer; Heavy 50 – 55 tm uses FBR450R A4 (4,6 tm smaller) by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482864" cy="587067"/>
            <a:chOff x="347225" y="685795"/>
            <a:chExt cx="11482864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81915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Heavy Class Map 2023–26/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572500" y="685795"/>
              <a:ext cx="325755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Who leads each tm class?</a:t>
              </a:r>
              <a:br>
                <a:rPr lang="en-US" sz="1600" b="1" dirty="0"/>
              </a:br>
              <a:r>
                <a:rPr lang="en-US" sz="1600" b="1" dirty="0"/>
                <a:t>Which crane beats it on price?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Heavy: Palfinger PK 53002 leads; F.lli Ferrari FBR450R A4 is within 20% of its price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Heavy class (&gt; 45 tm):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65 units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 imported in 2023 – 2026.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50–55 tm takes 62% of units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. Each row compares the tier leader (by value) with the cheapest crane of about the same size.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42900" y="2266950"/>
          <a:ext cx="1148715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/>
                <a:gridCol w="1619250"/>
                <a:gridCol w="1428750"/>
                <a:gridCol w="1260475"/>
                <a:gridCol w="1260475"/>
                <a:gridCol w="1260475"/>
                <a:gridCol w="1260475"/>
                <a:gridCol w="1260475"/>
                <a:gridCol w="1260475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tm class</a:t>
                      </a:r>
                    </a:p>
                  </a:txBody>
                  <a:tcPr anchor="ctr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Our challenger</a:t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F.lli Ferrari or XCMG</a:t>
                      </a:r>
                    </a:p>
                  </a:txBody>
                  <a:tcPr anchor="ctr" marL="47625" marR="47625" marT="28575" marB="19050">
                    <a:solidFill>
                      <a:srgbClr val="1E9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price list + imports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42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12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7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2 units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1 unit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FFFFFF"/>
                          </a:solidFill>
                          <a:latin typeface="Neue Haas Grotesk Text Pro"/>
                        </a:rPr>
                        <a:t/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E1F9EC"/>
                          </a:solidFill>
                          <a:latin typeface="Neue Haas Grotesk Text Pro"/>
                        </a:rPr>
                        <a:t>1 unit</a:t>
                      </a:r>
                    </a:p>
                  </a:txBody>
                  <a:tcPr anchor="b" marL="47625" marR="47625" marT="28575" marB="19050">
                    <a:solidFill>
                      <a:srgbClr val="0B4D2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45–50 tm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17 units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4D2A"/>
                          </a:solidFill>
                          <a:latin typeface="Neue Haas Grotesk Text Pro"/>
                        </a:rPr>
                        <a:t>F.lli Ferrari FBR450 A4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1.448 Jt /unit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Rp 127 Jt cheaper</a:t>
                      </a:r>
                    </a:p>
                    <a:p>
                      <a:pPr algn="l"/>
                      <a:r>
                        <a:rPr sz="70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• vs V950, Rp 1.575 Jt /unit</a:t>
                      </a:r>
                    </a:p>
                  </a:txBody>
                  <a:tcPr anchor="ctr" marL="47625" marR="47625" marT="28575" marB="19050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FBR450 A4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1.448 Jt /unit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FBR450R A4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1.629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V950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12 units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1.575 Jt /unit</a:t>
                      </a:r>
                    </a:p>
                  </a:txBody>
                  <a:tcPr anchor="t" marL="47625" marR="47625" marT="28575" marB="19050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GSQZ460.4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3 units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716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EFFER 525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1.266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F485RA.2.23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1.349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50–55 tm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40 units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4D2A"/>
                          </a:solidFill>
                          <a:latin typeface="Neue Haas Grotesk Text Pro"/>
                        </a:rPr>
                        <a:t>F.lli Ferrari FBR450R A4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1.629 Jt /unit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C55A11"/>
                          </a:solidFill>
                          <a:latin typeface="Neue Haas Grotesk Text Pro"/>
                        </a:rPr>
                        <a:t>Rp 268 Jt more (+20%)</a:t>
                      </a:r>
                    </a:p>
                    <a:p>
                      <a:pPr algn="l"/>
                      <a:r>
                        <a:rPr sz="70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• vs PK 53002, Rp 1.361 Jt /unit (4,6 tm smaller)</a:t>
                      </a:r>
                    </a:p>
                  </a:txBody>
                  <a:tcPr anchor="ctr" marL="47625" marR="47625" marT="28575" marB="19050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FBR450R A4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1.629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PK 53002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39 units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1.361 Jt /unit</a:t>
                      </a:r>
                    </a:p>
                  </a:txBody>
                  <a:tcPr anchor="t" marL="47625" marR="47625" marT="28575" marB="19050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X-HIPRO B58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2.824 Jt /unit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60–65 tm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 unit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No cheaper crane of the same size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–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SPK61502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1.235 Jt /unit</a:t>
                      </a:r>
                    </a:p>
                  </a:txBody>
                  <a:tcPr anchor="t" marL="47625" marR="47625" marT="28575" marB="19050">
                    <a:solidFill>
                      <a:srgbClr val="FFF7D6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70–75 tm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 units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No cheaper crane of the same size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–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PK 76002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2 units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1.918 Jt /unit</a:t>
                      </a:r>
                    </a:p>
                  </a:txBody>
                  <a:tcPr anchor="t" marL="47625" marR="47625" marT="28575" marB="19050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80–85 tm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 unit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No cheaper crane of the same size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–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PK 88002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1 unit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1.863 Jt /unit</a:t>
                      </a:r>
                    </a:p>
                  </a:txBody>
                  <a:tcPr anchor="t" marL="47625" marR="47625" marT="28575" marB="19050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85–90 tm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4 units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Neue Haas Grotesk Text Pro"/>
                        </a:rPr>
                        <a:t>No cheaper crane of the same size</a:t>
                      </a:r>
                    </a:p>
                  </a:txBody>
                  <a:tcPr anchor="ctr" marL="47625" marR="47625" marT="28575" marB="190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–</a:t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TOP 1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GSQZ880.6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2 units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Rp 1.162 Jt /unit</a:t>
                      </a:r>
                    </a:p>
                    <a:p>
                      <a:pPr algn="l"/>
                      <a:r>
                        <a:rPr sz="700" b="0">
                          <a:solidFill>
                            <a:srgbClr val="7F7F7F"/>
                          </a:solidFill>
                          <a:latin typeface="Neue Haas Grotesk Text Pro"/>
                        </a:rPr>
                        <a:t>+ 1 more (2 units)</a:t>
                      </a:r>
                    </a:p>
                  </a:txBody>
                  <a:tcPr anchor="t" marL="47625" marR="47625" marT="28575" marB="19050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/>
                      </a:r>
                    </a:p>
                  </a:txBody>
                  <a:tcPr anchor="t" marL="47625" marR="47625" marT="28575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2914650" y="2305050"/>
            <a:ext cx="1276350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err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533" y="2328862"/>
            <a:ext cx="542585" cy="142875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343400" y="2305050"/>
            <a:ext cx="1108075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alfin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846" y="2328862"/>
            <a:ext cx="645184" cy="142875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5603875" y="2305050"/>
            <a:ext cx="1108075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amco_ve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676" y="2328862"/>
            <a:ext cx="638473" cy="142875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864350" y="2305050"/>
            <a:ext cx="1108075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xc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193" y="2328862"/>
            <a:ext cx="654389" cy="142875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8124825" y="2305050"/>
            <a:ext cx="1108075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hi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096" y="2328862"/>
            <a:ext cx="413533" cy="142875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9385300" y="2305050"/>
            <a:ext cx="1108075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fass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7398" y="2328862"/>
            <a:ext cx="563880" cy="142875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0645775" y="2305050"/>
            <a:ext cx="1108075" cy="190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sany_palfing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4494" y="2328862"/>
            <a:ext cx="670638" cy="142875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342900" y="6324600"/>
            <a:ext cx="95250" cy="9525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6250" y="6305550"/>
            <a:ext cx="48196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Our challenger (F.lli Ferrari first in Medium &amp; Heavy)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95900" y="6324600"/>
            <a:ext cx="95250" cy="95250"/>
          </a:xfrm>
          <a:prstGeom prst="rect">
            <a:avLst/>
          </a:prstGeom>
          <a:solidFill>
            <a:srgbClr val="FFF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29250" y="6305550"/>
            <a:ext cx="48196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Tier leader (TOP 1 = highest import value in the tier)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" y="6496050"/>
            <a:ext cx="114871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7F7F7F"/>
                </a:solidFill>
                <a:latin typeface="Neue Haas Grotesk Text Pro"/>
              </a:rPr>
              <a:t>Source: Indonesia import records (Crane Market GVW Pairing v11, Noir), 2023 – 2026 (2026 partial year); F.lli Ferrari price list June 2026 (Rev1), sheet 25.06. Competitor price = average import unit price of the model as recorded (total value ÷ total units) × Rp 17.803/USD (JISDOR 23 Sep 2026); no duty or tax added. F.lli Ferrari price = price list as is, crane only (column K − column I): no cargo deck, no install. Model variants merged (e.g. SPK8500 = SPK8500, A, B). Folding cranes only; Hyva, Zoomlion, grabbers, telescopic cranes and invalid-price records excluded. Challengers: F.lli Ferrari or XCMG; in Medium and Heavy F.lli Ferrari comes first (same size −2/+5 tm) unless it is more than 30% dearer; Heavy 50 – 55 tm uses FBR450R A4 (4,6 tm smaller) by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482864" cy="587067"/>
            <a:chOff x="347225" y="685795"/>
            <a:chExt cx="11482864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81915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Conclusion/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572500" y="685795"/>
              <a:ext cx="325755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Which crane per class?</a:t>
              </a:r>
              <a:br>
                <a:rPr lang="en-US" sz="1600" b="1" dirty="0"/>
              </a:br>
              <a:r>
                <a:rPr lang="en-US" sz="1600" b="1" dirty="0"/>
                <a:t>And what is our target?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We undercut the leader in 7 of 16 tm classes (59% of units); target: 15 cranes by end-2027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Light &amp; Small: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the cheapest of F.lli Ferrari or XCMG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. Medium &amp; Heavy: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F.lli Ferrari first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, XCMG only where Ferrari is more than 30% dearer or has no model of that size. Classes with no challenger stay on the watch list.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42900" y="2247900"/>
          <a:ext cx="8515350" cy="3943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04850"/>
                <a:gridCol w="495300"/>
                <a:gridCol w="2724150"/>
                <a:gridCol w="2533650"/>
                <a:gridCol w="1333500"/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Neue Haas Grotesk Text Pro"/>
                        </a:rPr>
                        <a:t>Class</a:t>
                      </a:r>
                    </a:p>
                  </a:txBody>
                  <a:tcPr anchor="ctr" marL="57150" marR="57150" marT="9525" marB="9525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Neue Haas Grotesk Text Pro"/>
                        </a:rPr>
                        <a:t>tm class</a:t>
                      </a:r>
                    </a:p>
                  </a:txBody>
                  <a:tcPr anchor="ctr" marL="57150" marR="57150" marT="9525" marB="9525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Neue Haas Grotesk Text Pro"/>
                        </a:rPr>
                        <a:t>Units</a:t>
                      </a:r>
                    </a:p>
                  </a:txBody>
                  <a:tcPr anchor="ctr" marL="57150" marR="57150" marT="9525" marB="9525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Neue Haas Grotesk Text Pro"/>
                        </a:rPr>
                        <a:t>Leader (TOP 1)</a:t>
                      </a:r>
                    </a:p>
                  </a:txBody>
                  <a:tcPr anchor="ctr" marL="57150" marR="57150" marT="9525" marB="9525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Neue Haas Grotesk Text Pro"/>
                        </a:rPr>
                        <a:t>Our challenger</a:t>
                      </a:r>
                    </a:p>
                  </a:txBody>
                  <a:tcPr anchor="ctr" marL="57150" marR="57150" marT="9525" marB="9525">
                    <a:solidFill>
                      <a:srgbClr val="1E9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Neue Haas Grotesk Text Pro"/>
                        </a:rPr>
                        <a:t>Price vs leader /unit</a:t>
                      </a:r>
                    </a:p>
                  </a:txBody>
                  <a:tcPr anchor="ctr" marL="57150" marR="57150" marT="9525" marB="9525">
                    <a:solidFill>
                      <a:srgbClr val="1E9E57"/>
                    </a:solidFill>
                  </a:tcPr>
                </a:tc>
              </a:tr>
              <a:tr h="282819">
                <a:tc rowSpan="2"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000000"/>
                          </a:solidFill>
                          <a:latin typeface="Neue Haas Grotesk Text Pro"/>
                        </a:rPr>
                        <a:t>Light</a:t>
                      </a:r>
                    </a:p>
                  </a:txBody>
                  <a:tcPr anchor="ctr" marL="57150" marR="57150" marT="9525" marB="9525">
                    <a:solidFill>
                      <a:srgbClr val="CDE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≤ 5 tm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6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Neue Haas Grotesk Text Pro"/>
                        </a:rPr>
                        <a:t>Palfinger PK 5001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265 Jt</a:t>
                      </a:r>
                    </a:p>
                  </a:txBody>
                  <a:tcPr anchor="ctr"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B4D2A"/>
                          </a:solidFill>
                          <a:latin typeface="Neue Haas Grotesk Text Pro"/>
                        </a:rPr>
                        <a:t>F.lli Ferrari 350 A2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199 Jt</a:t>
                      </a:r>
                    </a:p>
                  </a:txBody>
                  <a:tcPr anchor="ctr" marL="57150" marR="5715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1E9E57"/>
                          </a:solidFill>
                          <a:latin typeface="Neue Haas Grotesk Text Pro"/>
                        </a:rPr>
                        <a:t>−Rp 66 Jt</a:t>
                      </a:r>
                    </a:p>
                  </a:txBody>
                  <a:tcPr anchor="ctr" marL="57150" marR="57150" marT="9525" marB="9525">
                    <a:solidFill>
                      <a:srgbClr val="E1F9EC"/>
                    </a:solidFill>
                  </a:tcPr>
                </a:tc>
              </a:tr>
              <a:tr h="282819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5–8 tm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168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Neue Haas Grotesk Text Pro"/>
                        </a:rPr>
                        <a:t>Sany Palfinger SPK8500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185 Jt</a:t>
                      </a:r>
                    </a:p>
                  </a:txBody>
                  <a:tcPr anchor="ctr"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B4D2A"/>
                          </a:solidFill>
                          <a:latin typeface="Neue Haas Grotesk Text Pro"/>
                        </a:rPr>
                        <a:t>XCMG SQ3.2ZK2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142 Jt</a:t>
                      </a:r>
                    </a:p>
                  </a:txBody>
                  <a:tcPr anchor="ctr" marL="57150" marR="5715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1E9E57"/>
                          </a:solidFill>
                          <a:latin typeface="Neue Haas Grotesk Text Pro"/>
                        </a:rPr>
                        <a:t>−Rp 42 Jt</a:t>
                      </a:r>
                    </a:p>
                  </a:txBody>
                  <a:tcPr anchor="ctr" marL="57150" marR="57150" marT="9525" marB="9525">
                    <a:solidFill>
                      <a:srgbClr val="E1F9EC"/>
                    </a:solidFill>
                  </a:tcPr>
                </a:tc>
              </a:tr>
              <a:tr h="282819">
                <a:tc rowSpan="4"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000000"/>
                          </a:solidFill>
                          <a:latin typeface="Neue Haas Grotesk Text Pro"/>
                        </a:rPr>
                        <a:t>Small</a:t>
                      </a:r>
                    </a:p>
                  </a:txBody>
                  <a:tcPr anchor="ctr" marL="57150" marR="57150" marT="9525" marB="9525">
                    <a:solidFill>
                      <a:srgbClr val="74CC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8–10 tm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3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Neue Haas Grotesk Text Pro"/>
                        </a:rPr>
                        <a:t>Fassi F85B.24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342 Jt</a:t>
                      </a:r>
                    </a:p>
                  </a:txBody>
                  <a:tcPr anchor="ctr"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B4D2A"/>
                          </a:solidFill>
                          <a:latin typeface="Neue Haas Grotesk Text Pro"/>
                        </a:rPr>
                        <a:t>F.lli Ferrari 6108 A2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285 Jt</a:t>
                      </a:r>
                    </a:p>
                  </a:txBody>
                  <a:tcPr anchor="ctr" marL="57150" marR="5715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1E9E57"/>
                          </a:solidFill>
                          <a:latin typeface="Neue Haas Grotesk Text Pro"/>
                        </a:rPr>
                        <a:t>−Rp 57 Jt</a:t>
                      </a:r>
                    </a:p>
                  </a:txBody>
                  <a:tcPr anchor="ctr" marL="57150" marR="57150" marT="9525" marB="9525">
                    <a:solidFill>
                      <a:srgbClr val="E1F9EC"/>
                    </a:solidFill>
                  </a:tcPr>
                </a:tc>
              </a:tr>
              <a:tr h="282819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10–15 tm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56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Neue Haas Grotesk Text Pro"/>
                        </a:rPr>
                        <a:t>Sany Palfinger SPK15500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275 Jt</a:t>
                      </a:r>
                    </a:p>
                  </a:txBody>
                  <a:tcPr anchor="ctr"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>
                          <a:solidFill>
                            <a:srgbClr val="7F7F7F"/>
                          </a:solidFill>
                          <a:latin typeface="Neue Haas Grotesk Text Pro"/>
                        </a:rPr>
                        <a:t>No cheaper crane yet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7F7F7F"/>
                          </a:solidFill>
                          <a:latin typeface="Neue Haas Grotesk Text Pro"/>
                        </a:rPr>
                        <a:t>–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</a:tr>
              <a:tr h="282819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15–20 tm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38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Neue Haas Grotesk Text Pro"/>
                        </a:rPr>
                        <a:t>Sany Palfinger SPK18500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324 Jt</a:t>
                      </a:r>
                    </a:p>
                  </a:txBody>
                  <a:tcPr anchor="ctr"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B4D2A"/>
                          </a:solidFill>
                          <a:latin typeface="Neue Haas Grotesk Text Pro"/>
                        </a:rPr>
                        <a:t>XCMG GSQZ200.3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304 Jt</a:t>
                      </a:r>
                    </a:p>
                  </a:txBody>
                  <a:tcPr anchor="ctr" marL="57150" marR="5715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1E9E57"/>
                          </a:solidFill>
                          <a:latin typeface="Neue Haas Grotesk Text Pro"/>
                        </a:rPr>
                        <a:t>−Rp 21 Jt</a:t>
                      </a:r>
                    </a:p>
                  </a:txBody>
                  <a:tcPr anchor="ctr" marL="57150" marR="57150" marT="9525" marB="9525">
                    <a:solidFill>
                      <a:srgbClr val="E1F9EC"/>
                    </a:solidFill>
                  </a:tcPr>
                </a:tc>
              </a:tr>
              <a:tr h="282819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20–25 tm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87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Neue Haas Grotesk Text Pro"/>
                        </a:rPr>
                        <a:t>Sany Palfinger SPK23500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334 Jt</a:t>
                      </a:r>
                    </a:p>
                  </a:txBody>
                  <a:tcPr anchor="ctr"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>
                          <a:solidFill>
                            <a:srgbClr val="7F7F7F"/>
                          </a:solidFill>
                          <a:latin typeface="Neue Haas Grotesk Text Pro"/>
                        </a:rPr>
                        <a:t>No cheaper crane yet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7F7F7F"/>
                          </a:solidFill>
                          <a:latin typeface="Neue Haas Grotesk Text Pro"/>
                        </a:rPr>
                        <a:t>–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</a:tr>
              <a:tr h="282819">
                <a:tc rowSpan="4"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Neue Haas Grotesk Text Pro"/>
                        </a:rPr>
                        <a:t>Medium</a:t>
                      </a:r>
                    </a:p>
                  </a:txBody>
                  <a:tcPr anchor="ctr" marL="57150" marR="57150" marT="9525" marB="9525">
                    <a:solidFill>
                      <a:srgbClr val="1E9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25–30 tm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49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Neue Haas Grotesk Text Pro"/>
                        </a:rPr>
                        <a:t>Amco Veba V825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517 Jt</a:t>
                      </a:r>
                    </a:p>
                  </a:txBody>
                  <a:tcPr anchor="ctr"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B4D2A"/>
                          </a:solidFill>
                          <a:latin typeface="Neue Haas Grotesk Text Pro"/>
                        </a:rPr>
                        <a:t>F.lli Ferrari 258 A3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527 Jt</a:t>
                      </a:r>
                    </a:p>
                  </a:txBody>
                  <a:tcPr anchor="ctr" marL="57150" marR="5715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C55A11"/>
                          </a:solidFill>
                          <a:latin typeface="Neue Haas Grotesk Text Pro"/>
                        </a:rPr>
                        <a:t>+Rp 10 Jt</a:t>
                      </a:r>
                    </a:p>
                  </a:txBody>
                  <a:tcPr anchor="ctr" marL="57150" marR="57150" marT="9525" marB="9525">
                    <a:solidFill>
                      <a:srgbClr val="FFF2E5"/>
                    </a:solidFill>
                  </a:tcPr>
                </a:tc>
              </a:tr>
              <a:tr h="282819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30–35 tm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75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Neue Haas Grotesk Text Pro"/>
                        </a:rPr>
                        <a:t>HIAB X-CLX 388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762 Jt</a:t>
                      </a:r>
                    </a:p>
                  </a:txBody>
                  <a:tcPr anchor="ctr"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B4D2A"/>
                          </a:solidFill>
                          <a:latin typeface="Neue Haas Grotesk Text Pro"/>
                        </a:rPr>
                        <a:t>XCMG SQZ325.4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484 Jt</a:t>
                      </a:r>
                    </a:p>
                  </a:txBody>
                  <a:tcPr anchor="ctr" marL="57150" marR="5715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1E9E57"/>
                          </a:solidFill>
                          <a:latin typeface="Neue Haas Grotesk Text Pro"/>
                        </a:rPr>
                        <a:t>−Rp 278 Jt</a:t>
                      </a:r>
                    </a:p>
                  </a:txBody>
                  <a:tcPr anchor="ctr" marL="57150" marR="57150" marT="9525" marB="9525">
                    <a:solidFill>
                      <a:srgbClr val="E1F9EC"/>
                    </a:solidFill>
                  </a:tcPr>
                </a:tc>
              </a:tr>
              <a:tr h="282819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35–40 tm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66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Neue Haas Grotesk Text Pro"/>
                        </a:rPr>
                        <a:t>Palfinger PK 41002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1.103 Jt</a:t>
                      </a:r>
                    </a:p>
                  </a:txBody>
                  <a:tcPr anchor="ctr"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B4D2A"/>
                          </a:solidFill>
                          <a:latin typeface="Neue Haas Grotesk Text Pro"/>
                        </a:rPr>
                        <a:t>XCMG KSQZ365.4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478 Jt</a:t>
                      </a:r>
                    </a:p>
                  </a:txBody>
                  <a:tcPr anchor="ctr" marL="57150" marR="5715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1E9E57"/>
                          </a:solidFill>
                          <a:latin typeface="Neue Haas Grotesk Text Pro"/>
                        </a:rPr>
                        <a:t>−Rp 625 Jt</a:t>
                      </a:r>
                    </a:p>
                  </a:txBody>
                  <a:tcPr anchor="ctr" marL="57150" marR="57150" marT="9525" marB="9525">
                    <a:solidFill>
                      <a:srgbClr val="E1F9EC"/>
                    </a:solidFill>
                  </a:tcPr>
                </a:tc>
              </a:tr>
              <a:tr h="282819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40–45 tm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23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Neue Haas Grotesk Text Pro"/>
                        </a:rPr>
                        <a:t>Sany Palfinger SPK42502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693 Jt</a:t>
                      </a:r>
                    </a:p>
                  </a:txBody>
                  <a:tcPr anchor="ctr"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>
                          <a:solidFill>
                            <a:srgbClr val="7F7F7F"/>
                          </a:solidFill>
                          <a:latin typeface="Neue Haas Grotesk Text Pro"/>
                        </a:rPr>
                        <a:t>No cheaper crane yet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7F7F7F"/>
                          </a:solidFill>
                          <a:latin typeface="Neue Haas Grotesk Text Pro"/>
                        </a:rPr>
                        <a:t>–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</a:tr>
              <a:tr h="282819">
                <a:tc rowSpan="3"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Neue Haas Grotesk Text Pro"/>
                        </a:rPr>
                        <a:t>Heavy</a:t>
                      </a:r>
                    </a:p>
                  </a:txBody>
                  <a:tcPr anchor="ctr" marL="57150" marR="57150" marT="9525" marB="9525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45–50 tm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17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Neue Haas Grotesk Text Pro"/>
                        </a:rPr>
                        <a:t>Amco Veba V950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1.575 Jt</a:t>
                      </a:r>
                    </a:p>
                  </a:txBody>
                  <a:tcPr anchor="ctr"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B4D2A"/>
                          </a:solidFill>
                          <a:latin typeface="Neue Haas Grotesk Text Pro"/>
                        </a:rPr>
                        <a:t>F.lli Ferrari FBR450 A4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1.448 Jt</a:t>
                      </a:r>
                    </a:p>
                  </a:txBody>
                  <a:tcPr anchor="ctr" marL="57150" marR="5715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1E9E57"/>
                          </a:solidFill>
                          <a:latin typeface="Neue Haas Grotesk Text Pro"/>
                        </a:rPr>
                        <a:t>−Rp 127 Jt</a:t>
                      </a:r>
                    </a:p>
                  </a:txBody>
                  <a:tcPr anchor="ctr" marL="57150" marR="57150" marT="9525" marB="9525">
                    <a:solidFill>
                      <a:srgbClr val="E1F9EC"/>
                    </a:solidFill>
                  </a:tcPr>
                </a:tc>
              </a:tr>
              <a:tr h="282819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50–55 tm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40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Neue Haas Grotesk Text Pro"/>
                        </a:rPr>
                        <a:t>Palfinger PK 53002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1.361 Jt</a:t>
                      </a:r>
                    </a:p>
                  </a:txBody>
                  <a:tcPr anchor="ctr"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B4D2A"/>
                          </a:solidFill>
                          <a:latin typeface="Neue Haas Grotesk Text Pro"/>
                        </a:rPr>
                        <a:t>F.lli Ferrari FBR450R A4</a:t>
                      </a:r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  ·  Rp 1.629 Jt</a:t>
                      </a:r>
                    </a:p>
                  </a:txBody>
                  <a:tcPr anchor="ctr" marL="57150" marR="5715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C55A11"/>
                          </a:solidFill>
                          <a:latin typeface="Neue Haas Grotesk Text Pro"/>
                        </a:rPr>
                        <a:t>+Rp 268 Jt*</a:t>
                      </a:r>
                    </a:p>
                  </a:txBody>
                  <a:tcPr anchor="ctr" marL="57150" marR="57150" marT="9525" marB="9525">
                    <a:solidFill>
                      <a:srgbClr val="FFF2E5"/>
                    </a:solidFill>
                  </a:tcPr>
                </a:tc>
              </a:tr>
              <a:tr h="282819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&gt; 55 tm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000000"/>
                          </a:solidFill>
                          <a:latin typeface="Neue Haas Grotesk Text Pro"/>
                        </a:rPr>
                        <a:t>8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>
                          <a:solidFill>
                            <a:srgbClr val="595959"/>
                          </a:solidFill>
                          <a:latin typeface="Neue Haas Grotesk Text Pro"/>
                        </a:rPr>
                        <a:t>4 small classes, led by Palfinger, Sany Palfinger, XCMG</a:t>
                      </a:r>
                    </a:p>
                  </a:txBody>
                  <a:tcPr anchor="ctr" marL="57150" marR="5715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>
                          <a:solidFill>
                            <a:srgbClr val="7F7F7F"/>
                          </a:solidFill>
                          <a:latin typeface="Neue Haas Grotesk Text Pro"/>
                        </a:rPr>
                        <a:t>No cheaper crane yet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7F7F7F"/>
                          </a:solidFill>
                          <a:latin typeface="Neue Haas Grotesk Text Pro"/>
                        </a:rPr>
                        <a:t>–</a:t>
                      </a:r>
                    </a:p>
                  </a:txBody>
                  <a:tcPr anchor="ctr" marL="57150" marR="57150" marT="9525" marB="9525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9029700" y="2247900"/>
            <a:ext cx="2800350" cy="3943350"/>
          </a:xfrm>
          <a:prstGeom prst="rect">
            <a:avLst/>
          </a:prstGeom>
          <a:solidFill>
            <a:srgbClr val="0B4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2100" y="2400300"/>
            <a:ext cx="24955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1F9EC"/>
                </a:solidFill>
                <a:latin typeface="Neue Haas Grotesk Text Pro"/>
              </a:rPr>
              <a:t>TARGET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2100" y="2609850"/>
            <a:ext cx="24955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eue Haas Grotesk Text Pro"/>
              </a:rPr>
              <a:t>15 cranes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2100" y="3162300"/>
            <a:ext cx="2495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eue Haas Grotesk Text Pro"/>
              </a:rPr>
              <a:t>sold by end of 2027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82100" y="3486150"/>
            <a:ext cx="2495550" cy="0"/>
          </a:xfrm>
          <a:prstGeom prst="line">
            <a:avLst/>
          </a:prstGeom>
          <a:ln w="12700">
            <a:solidFill>
              <a:srgbClr val="74C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182100" y="3581400"/>
            <a:ext cx="2495550" cy="2381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eue Haas Grotesk Text Pro"/>
              </a:rPr>
              <a:t>≈ 8% of one year of imports (188 units/year)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Neue Haas Grotesk Text Pro"/>
              </a:rPr>
              <a:t/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Neue Haas Grotesk Text Pro"/>
              </a:rPr>
              <a:t>Start with the biggest classes we win: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Neue Haas Grotesk Text Pro"/>
              </a:rPr>
              <a:t>• Light 5–8 tm: XCMG SQ3.2ZK2 (168 units, Rp 42 Jt cheaper)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Neue Haas Grotesk Text Pro"/>
              </a:rPr>
              <a:t>• Medium 30–35 tm: XCMG SQZ325.4 (75 units, Rp 278 Jt cheaper)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Neue Haas Grotesk Text Pro"/>
              </a:rPr>
              <a:t>• Medium 35–40 tm: XCMG KSQZ365.4 (66 units, Rp 625 Jt cheaper)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" y="6305550"/>
            <a:ext cx="114871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7F7F7F"/>
                </a:solidFill>
                <a:latin typeface="Neue Haas Grotesk Text Pro"/>
              </a:rPr>
              <a:t>Prices per unit, as is: competitors = average import price × Rp 17.803/USD (no duty or tax added); F.lli Ferrari = price list June 2026, crane only (K − I). Units = imports 2023 – 2026 (2026 partial year). Leader = highest import value in the tm class. − = we are cheaper, + = we are dearer. *FBR450R A4 is 4,6 tm smaller than PK 53002 (used by decision).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926D80-E9CD-42FE-82F3-4ECE08066669}">
  <we:reference id="WA200011549" version="1.0.0.0" store="Omex" storeType="OMEX"/>
  <we:alternateReferences>
    <we:reference id="WA200011549" version="1.0.0.0" store="WA200011549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4491</TotalTime>
  <Words>2771</Words>
  <Application>Microsoft Office PowerPoint</Application>
  <PresentationFormat>Widescreen</PresentationFormat>
  <Paragraphs>574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Neue Haas Grotesk Text Pro</vt:lpstr>
      <vt:lpstr>Neue Haas Grotesk Text Pro (Body)</vt:lpstr>
      <vt:lpstr>Southwestern</vt:lpstr>
      <vt:lpstr>New Employee Development Program</vt:lpstr>
      <vt:lpstr>My Education &amp; Working Experience</vt:lpstr>
      <vt:lpstr>PowerPoint Presentation</vt:lpstr>
      <vt:lpstr>PowerPoint Presentation</vt:lpstr>
      <vt:lpstr>Quote</vt:lpstr>
      <vt:lpstr>Quote</vt:lpstr>
      <vt:lpstr>Marketing Strategic 2 Associate</vt:lpstr>
      <vt:lpstr>PowerPoint Presentation</vt:lpstr>
      <vt:lpstr>PowerPoint Presentation</vt:lpstr>
      <vt:lpstr>PowerPoint Presentation</vt:lpstr>
      <vt:lpstr>Quote</vt:lpstr>
      <vt:lpstr>Quote</vt:lpstr>
      <vt:lpstr>Quote</vt:lpstr>
      <vt:lpstr>Quote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5</cp:revision>
  <dcterms:created xsi:type="dcterms:W3CDTF">2026-10-16T02:49:26Z</dcterms:created>
  <dcterms:modified xsi:type="dcterms:W3CDTF">2026-10-19T05:44:41Z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