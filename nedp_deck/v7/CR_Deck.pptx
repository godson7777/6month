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  <p:sldId id="1561" r:id="rId15"/>
    <p:sldId id="1562" r:id="rId16"/>
    <p:sldId id="1563" r:id="rId17"/>
    <p:sldId id="15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8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5.png"/><Relationship Id="rId7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8.png"/><Relationship Id="rId8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42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93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5001,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5–8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42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SPK8500, Rp 185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185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213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1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321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626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Small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Small: Sany Palfinger SPK23500 leads; no cheaper crane of the same size yet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Small class (&gt; 8 – 25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20–25 tm takes 47%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48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103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8–10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96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F85B.24, Rp 342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6108 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F85B.24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342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171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10–15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5148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275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GSQZ105.4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230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+ 4 more (8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497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F155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226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15–20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304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SPK18500, Rp 324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178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6238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SPK18500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324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365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+ 8 more (19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 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F215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583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20–25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70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334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732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288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747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(3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F245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738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PM9024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335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55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288756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xcm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8040" y="2328862"/>
            <a:ext cx="654389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34112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999" y="2328862"/>
            <a:ext cx="645184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79469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711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124825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537" y="2328862"/>
            <a:ext cx="413533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070181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ass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4719" y="2328862"/>
            <a:ext cx="563880" cy="1428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10015538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60894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850" b="1">
                <a:solidFill>
                  <a:srgbClr val="0B4D2A"/>
                </a:solidFill>
                <a:latin typeface="Neue Haas Grotesk Text Pro"/>
              </a:rPr>
              <a:t>PM Cranes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HIAB X-CLX 388 leads; XCMG SQZ325.4 is Rp 278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30–35 tm takes 35%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30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25–30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62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V825, Rp 517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517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KSQZ300.3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15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432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30–35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484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278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X-CLX 388, Rp 762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390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V933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GSQZ330.4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613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SQZ325.4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484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881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33002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762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328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936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35–40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478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625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41002, Rp 1.103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SPK36080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433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SPK38080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623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620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+ 3 more (4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1.103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40–45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1.478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V946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1.068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477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166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19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8603" y="2328862"/>
            <a:ext cx="645184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6999" y="2328862"/>
            <a:ext cx="413533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Palfinger PK 53002 leads; F.lli Ferrari FBR450R A4 is within 3% of its price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Heavy class (&gt;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65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50–55 tm takes 62%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45–50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324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V950, Rp 1.575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1.575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716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EFFER 525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1.266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F485RA.2.23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1.349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50–55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C55A11"/>
                          </a:solidFill>
                          <a:latin typeface="Neue Haas Grotesk Text Pro"/>
                        </a:rPr>
                        <a:t>Rp 47 Jt more (+3%)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53002, Rp 1.361 Jt /unit (4,6 tm smaller)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3.260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39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1.361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X-HIPRO B58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2.824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60–65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3.333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1.235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70–75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4.237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1.918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80–85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1.863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85–90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1.162 Jt /unit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(2 units)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846" y="2328862"/>
            <a:ext cx="645184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6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any_palfing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4494" y="2328862"/>
            <a:ext cx="670638" cy="142875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9601CR A8 = UTPE quote 15 Sep 2026; 9661C = EUR 160.000 ex-works × Rp 20.830/EUR; 990R = TSP price less Rp 168 Jt deck &amp; install, less 13.6%.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Conclusion/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crane per class?</a:t>
              </a:r>
              <a:br>
                <a:rPr lang="en-US" sz="1600" b="1" dirty="0"/>
              </a:br>
              <a:r>
                <a:rPr lang="en-US" sz="1600" b="1" dirty="0"/>
                <a:t>And what is our target?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We undercut the leader in 8 of 16 tm classes (66% of units); target: 15 cranes by end-2027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&amp; Small: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cheapest of F.lli Ferrari or XCMG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Medium &amp; Heavy: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F.lli Ferrari first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XCMG only where Ferrari is more than 30% dearer or has no model of that size. Classes with no challenger stay on the watch list.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47900"/>
          <a:ext cx="8515350" cy="3943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04850"/>
                <a:gridCol w="495300"/>
                <a:gridCol w="2724150"/>
                <a:gridCol w="2533650"/>
                <a:gridCol w="13335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Units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Leader (TOP 1)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Price vs leader /unit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</a:tr>
              <a:tr h="282819">
                <a:tc rowSpan="2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 marL="57150" marR="57150" marT="9525" marB="9525">
                    <a:solidFill>
                      <a:srgbClr val="CDE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≤ 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5001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265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172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93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5–8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168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185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 marL="57150" marR="57150" marT="9525" marB="9525">
                    <a:solidFill>
                      <a:srgbClr val="74CC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8–10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Fassi F85B.24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342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246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96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10–15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SPK15500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275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15–20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324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304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20–25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SPK23500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334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25–30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V825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517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455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62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30–35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762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484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278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35–40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1.103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478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625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40–45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SPK42502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693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3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45–50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V950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1.575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1.251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324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50–55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53002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1.361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1.408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C55A11"/>
                          </a:solidFill>
                          <a:latin typeface="Neue Haas Grotesk Text Pro"/>
                        </a:rPr>
                        <a:t>+Rp 47 Jt*</a:t>
                      </a:r>
                    </a:p>
                  </a:txBody>
                  <a:tcPr anchor="ctr" marL="57150" marR="57150" marT="9525" marB="9525">
                    <a:solidFill>
                      <a:srgbClr val="FFF2E5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&gt; 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4 small classes, led by Palfinger, Sany Palfinger, XCMG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9029700" y="2247900"/>
            <a:ext cx="2800350" cy="39433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100" y="2400300"/>
            <a:ext cx="2495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F9EC"/>
                </a:solidFill>
                <a:latin typeface="Neue Haas Grotesk Text Pro"/>
              </a:rPr>
              <a:t>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100" y="2609850"/>
            <a:ext cx="2495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eue Haas Grotesk Text Pro"/>
              </a:rPr>
              <a:t>15 cranes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2100" y="3162300"/>
            <a:ext cx="24955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eue Haas Grotesk Text Pro"/>
              </a:rPr>
              <a:t>sold by end of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82100" y="3486150"/>
            <a:ext cx="2495550" cy="0"/>
          </a:xfrm>
          <a:prstGeom prst="line">
            <a:avLst/>
          </a:prstGeom>
          <a:ln w="12700">
            <a:solidFill>
              <a:srgbClr val="74C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82100" y="3581400"/>
            <a:ext cx="2495550" cy="2381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eue Haas Grotesk Text Pro"/>
              </a:rPr>
              <a:t>≈ 8% of one year of imports (188 units/year)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Neue Haas Grotesk Text Pro"/>
              </a:rPr>
              <a:t>Start with the biggest classes we win: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Light 5–8 tm: XCMG SQ3.2ZK2 (168 units, Rp 42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30–35 tm: XCMG SQZ325.4 (75 units, Rp 278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35–40 tm: XCMG KSQZ365.4 (66 units, Rp 625 Jt cheaper)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" y="6305550"/>
            <a:ext cx="11487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F7F7F"/>
                </a:solidFill>
                <a:latin typeface="Neue Haas Grotesk Text Pro"/>
              </a:rPr>
              <a:t>Prices per unit, as is: competitors = average import price × Rp 17.803/USD (no duty or tax added); F.lli Ferrari = price list June 2026, crane only (K − I) less 13.6% TSP GP. Units = imports 2023 – 2026 (2026 partial year). Leader = highest import value in the tm class. − = we are cheaper, + = we are dearer. *FBR450R A4 is 4,6 tm smaller than PK 53002 (used by decision).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