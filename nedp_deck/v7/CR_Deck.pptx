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9"/>
  </p:notesMasterIdLst>
  <p:handoutMasterIdLst>
    <p:handoutMasterId r:id="rId20"/>
  </p:handoutMasterIdLst>
  <p:sldIdLst>
    <p:sldId id="1558" r:id="rId12"/>
    <p:sldId id="1559" r:id="rId13"/>
    <p:sldId id="1560" r:id="rId14"/>
    <p:sldId id="1561" r:id="rId15"/>
    <p:sldId id="1562" r:id="rId16"/>
    <p:sldId id="1563" r:id="rId17"/>
    <p:sldId id="15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32" autoAdjust="0"/>
    <p:restoredTop sz="93917" autoAdjust="0"/>
  </p:normalViewPr>
  <p:slideViewPr>
    <p:cSldViewPr snapToGrid="0">
      <p:cViewPr>
        <p:scale>
          <a:sx n="66" d="100"/>
          <a:sy n="66" d="100"/>
        </p:scale>
        <p:origin x="608" y="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8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3"/>
          <c:w val="0.98"/>
          <c:h val="0.88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37</c:v>
                </c:pt>
                <c:pt idx="3">
                  <c:v>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57</c:v>
                </c:pt>
                <c:pt idx="1">
                  <c:v>49</c:v>
                </c:pt>
                <c:pt idx="2">
                  <c:v>53</c:v>
                </c:pt>
                <c:pt idx="3">
                  <c:v>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72</c:v>
                </c:pt>
                <c:pt idx="1">
                  <c:v>69</c:v>
                </c:pt>
                <c:pt idx="2">
                  <c:v>59</c:v>
                </c:pt>
                <c:pt idx="3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3"/>
              <c:delete val="1"/>
            </c:dLbl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0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1</c:v>
                </c:pt>
              </c:numCache>
            </c:numRef>
          </c:val>
        </c:ser>
        <c:gapWidth val="75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8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dLbl>
              <c:idx val="0"/>
              <c:numFmt formatCode="&quot;174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39,1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7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0.27358490566037735</c:v>
                </c:pt>
                <c:pt idx="1">
                  <c:v>0.12138510061639472</c:v>
                </c:pt>
                <c:pt idx="2">
                  <c:v>0.12138510061639472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numFmt formatCode="&quot;184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65,1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9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0.2893081761006289</c:v>
                </c:pt>
                <c:pt idx="1">
                  <c:v>0.2023998723656238</c:v>
                </c:pt>
                <c:pt idx="2">
                  <c:v>0.2023998723656238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0"/>
              <c:numFmt formatCode="&quot;213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126,5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33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Sheet1!$D$2:$D$4</c:f>
              <c:numCache>
                <c:formatCode>0</c:formatCode>
                <c:ptCount val="3"/>
                <c:pt idx="0">
                  <c:v>0.33490566037735847</c:v>
                </c:pt>
                <c:pt idx="1">
                  <c:v>0.3929951723753521</c:v>
                </c:pt>
                <c:pt idx="2">
                  <c:v>0.3929951723753521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numFmt formatCode="&quot;65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91,2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10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Sheet1!$E$2:$E$4</c:f>
              <c:numCache>
                <c:formatCode>0</c:formatCode>
                <c:ptCount val="3"/>
                <c:pt idx="0">
                  <c:v>0.10220125786163523</c:v>
                </c:pt>
                <c:pt idx="1">
                  <c:v>0.2832198546426294</c:v>
                </c:pt>
                <c:pt idx="2">
                  <c:v>0.2832198546426294</c:v>
                </c:pt>
              </c:numCache>
            </c:numRef>
          </c:val>
        </c:ser>
        <c:gapWidth val="25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8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dLbl>
              <c:idx val="0"/>
              <c:numFmt formatCode="&quot;37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5,7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0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0.20108695652173914</c:v>
                </c:pt>
                <c:pt idx="1">
                  <c:v>0.05566595246836568</c:v>
                </c:pt>
                <c:pt idx="2">
                  <c:v>0.05566595246836568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numFmt formatCode="&quot;53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18,3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9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0.28804347826086957</c:v>
                </c:pt>
                <c:pt idx="1">
                  <c:v>0.178852839810858</c:v>
                </c:pt>
                <c:pt idx="2">
                  <c:v>0.178852839810858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0"/>
              <c:numFmt formatCode="&quot;59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30,3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32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Sheet1!$D$2:$D$4</c:f>
              <c:numCache>
                <c:formatCode>0</c:formatCode>
                <c:ptCount val="3"/>
                <c:pt idx="0">
                  <c:v>0.32065217391304346</c:v>
                </c:pt>
                <c:pt idx="1">
                  <c:v>0.29636446697362956</c:v>
                </c:pt>
                <c:pt idx="2">
                  <c:v>0.29636446697362956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numFmt formatCode="&quot;35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48,0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19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Sheet1!$E$2:$E$4</c:f>
              <c:numCache>
                <c:formatCode>0</c:formatCode>
                <c:ptCount val="3"/>
                <c:pt idx="0">
                  <c:v>0.19021739130434784</c:v>
                </c:pt>
                <c:pt idx="1">
                  <c:v>0.4691167407471469</c:v>
                </c:pt>
                <c:pt idx="2">
                  <c:v>0.4691167407471469</c:v>
                </c:pt>
              </c:numCache>
            </c:numRef>
          </c:val>
        </c:ser>
        <c:gapWidth val="25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6"/>
        </c:manualLayout>
      </c:layout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delete val="1"/>
            </c:dLbl>
            <c:dLbl>
              <c:idx val="1"/>
              <c:numFmt formatCode="&quot;Sany 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Sany 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&quot;Sany 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0.02572063976705964</c:v>
                </c:pt>
                <c:pt idx="1">
                  <c:v>0.435835642837225</c:v>
                </c:pt>
                <c:pt idx="2">
                  <c:v>0.519346998857831</c:v>
                </c:pt>
                <c:pt idx="3">
                  <c:v>0.8388817668829882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3"/>
              <c:delete val="1"/>
            </c:dLbl>
            <c:dLbl>
              <c:idx val="0"/>
              <c:numFmt formatCode="&quot;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0.6190973142679757</c:v>
                </c:pt>
                <c:pt idx="1">
                  <c:v>0.16044099825011773</c:v>
                </c:pt>
                <c:pt idx="2">
                  <c:v>0.1278948068874679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0.09673364865530605</c:v>
                </c:pt>
                <c:pt idx="1">
                  <c:v>0.23717507393746734</c:v>
                </c:pt>
                <c:pt idx="2">
                  <c:v>0.1798208090220965</c:v>
                </c:pt>
                <c:pt idx="3">
                  <c:v>0.12712297958698074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B7E4C7"/>
            </a:solidFill>
          </c:spPr>
          <c:dLbls>
            <c:dLbl>
              <c:idx val="3"/>
              <c:delete val="1"/>
            </c:dLbl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Sheet1!$E$2:$E$5</c:f>
              <c:numCache>
                <c:formatCode>0</c:formatCode>
                <c:ptCount val="4"/>
                <c:pt idx="0">
                  <c:v>0.23036484787363148</c:v>
                </c:pt>
                <c:pt idx="1">
                  <c:v>0.08943847770864047</c:v>
                </c:pt>
                <c:pt idx="2">
                  <c:v>0.05528681240301065</c:v>
                </c:pt>
                <c:pt idx="3">
                  <c:v>0.0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HIAB</c:v>
                </c:pt>
              </c:strCache>
            </c:strRef>
          </c:tx>
          <c:spPr>
            <a:solidFill>
              <a:srgbClr val="A6A6A6"/>
            </a:solidFill>
          </c:spPr>
          <c:dLbls>
            <c:dLbl>
              <c:idx val="3"/>
              <c:delete val="1"/>
            </c:dLbl>
            <c:dLbl>
              <c:idx val="0"/>
              <c:delete val="1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Sheet1!$F$2:$F$5</c:f>
              <c:numCache>
                <c:formatCode>0</c:formatCode>
                <c:ptCount val="4"/>
                <c:pt idx="0">
                  <c:v>0.0</c:v>
                </c:pt>
                <c:pt idx="1">
                  <c:v>0.07710980726654923</c:v>
                </c:pt>
                <c:pt idx="2">
                  <c:v>0.05856748903691582</c:v>
                </c:pt>
                <c:pt idx="3">
                  <c:v>0.0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Fassi</c:v>
                </c:pt>
              </c:strCache>
            </c:strRef>
          </c:tx>
          <c:spPr>
            <a:solidFill>
              <a:srgbClr val="D0D0D0"/>
            </a:solidFill>
          </c:spPr>
          <c:dLbls>
            <c:dLbl>
              <c:idx val="3"/>
              <c:delete val="1"/>
            </c:dLbl>
            <c:dLbl>
              <c:idx val="2"/>
              <c:delete val="1"/>
            </c:dLbl>
            <c:dLbl>
              <c:idx val="1"/>
              <c:delete val="1"/>
            </c:dLbl>
            <c:dLbl>
              <c:idx val="0"/>
              <c:delete val="1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Sheet1!$G$2:$G$5</c:f>
              <c:numCache>
                <c:formatCode>0</c:formatCode>
                <c:ptCount val="4"/>
                <c:pt idx="0">
                  <c:v>0.028083549436027307</c:v>
                </c:pt>
                <c:pt idx="1">
                  <c:v>0.0</c:v>
                </c:pt>
                <c:pt idx="2">
                  <c:v>0.049721330741344515</c:v>
                </c:pt>
                <c:pt idx="3">
                  <c:v>0.0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Bob-Lift</c:v>
                </c:pt>
              </c:strCache>
            </c:strRef>
          </c:tx>
          <c:spPr>
            <a:solidFill>
              <a:srgbClr val="EDEDED"/>
            </a:solidFill>
          </c:spPr>
          <c:dLbls>
            <c:dLbl>
              <c:idx val="3"/>
              <c:delete val="1"/>
            </c:dLbl>
            <c:dLbl>
              <c:idx val="2"/>
              <c:delete val="1"/>
            </c:dLbl>
            <c:dLbl>
              <c:idx val="1"/>
              <c:delete val="1"/>
            </c:dLbl>
            <c:dLbl>
              <c:idx val="0"/>
              <c:delete val="1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Sheet1!$H$2:$H$5</c:f>
              <c:numCache>
                <c:formatCode>0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0.009361753051333842</c:v>
                </c:pt>
                <c:pt idx="3">
                  <c:v>0.03399525353003126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/>
        <c:axPos val="l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6.png"/><Relationship Id="rId5" Type="http://schemas.openxmlformats.org/officeDocument/2006/relationships/image" Target="../media/image25.png"/><Relationship Id="rId6" Type="http://schemas.openxmlformats.org/officeDocument/2006/relationships/image" Target="../media/image27.png"/><Relationship Id="rId7" Type="http://schemas.openxmlformats.org/officeDocument/2006/relationships/image" Target="../media/image29.png"/><Relationship Id="rId8" Type="http://schemas.openxmlformats.org/officeDocument/2006/relationships/image" Target="../media/image2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7.png"/><Relationship Id="rId5" Type="http://schemas.openxmlformats.org/officeDocument/2006/relationships/image" Target="../media/image26.png"/><Relationship Id="rId6" Type="http://schemas.openxmlformats.org/officeDocument/2006/relationships/image" Target="../media/image25.png"/><Relationship Id="rId7" Type="http://schemas.openxmlformats.org/officeDocument/2006/relationships/image" Target="../media/image2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7.png"/><Relationship Id="rId5" Type="http://schemas.openxmlformats.org/officeDocument/2006/relationships/image" Target="../media/image26.png"/><Relationship Id="rId6" Type="http://schemas.openxmlformats.org/officeDocument/2006/relationships/image" Target="../media/image29.png"/><Relationship Id="rId7" Type="http://schemas.openxmlformats.org/officeDocument/2006/relationships/image" Target="../media/image28.png"/><Relationship Id="rId8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3820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is the market?</a:t>
              </a:r>
              <a:br>
                <a:rPr lang="en-US" sz="1600" b="1" dirty="0"/>
              </a:br>
              <a:r>
                <a:rPr lang="en-US" sz="1600" b="1" dirty="0"/>
                <a:t>And how much sells each year?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Every class buys every year: Light &amp; Small bring the volume, Medium &amp; Heavy bring the value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From 2023 to 2026, Indonesia imported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636 folding cranes (Rp 321,8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about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188 units (Rp 100,2 Bio) a year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Light &amp; Small make up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56%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while Medium &amp; Heavy hold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68% of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42900" y="2400300"/>
            <a:ext cx="552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 per year, 2023 –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00250" y="2609850"/>
            <a:ext cx="39052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000000"/>
                </a:solidFill>
                <a:latin typeface="Neue Haas Grotesk Text Pro"/>
              </a:rPr>
              <a:t>Heavy almost </a:t>
            </a:r>
            <a:r>
              <a:rPr sz="1150" b="1">
                <a:solidFill>
                  <a:srgbClr val="1E9E57"/>
                </a:solidFill>
                <a:latin typeface="Neue Haas Grotesk Text Pro"/>
              </a:rPr>
              <a:t>tripled from 12 to 35 units in 2025</a:t>
            </a:r>
            <a:r>
              <a:rPr sz="1150" b="0">
                <a:solidFill>
                  <a:srgbClr val="000000"/>
                </a:solidFill>
                <a:latin typeface="Neue Haas Grotesk Text Pro"/>
              </a:rPr>
              <a:t> (19% of that year), while </a:t>
            </a:r>
            <a:r>
              <a:rPr sz="1150" b="1">
                <a:solidFill>
                  <a:srgbClr val="1E9E57"/>
                </a:solidFill>
                <a:latin typeface="Neue Haas Grotesk Text Pro"/>
              </a:rPr>
              <a:t>Light fell from 54 to 37</a:t>
            </a:r>
            <a:r>
              <a:rPr sz="1150" b="0">
                <a:solidFill>
                  <a:srgbClr val="000000"/>
                </a:solidFill>
                <a:latin typeface="Neue Haas Grotesk Text Pro"/>
              </a:rPr>
              <a:t>.</a:t>
            </a:r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342900" y="2971800"/>
          <a:ext cx="4476750" cy="30670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555069" y="3033545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195 units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51873" y="3178370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184 units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8677" y="3178370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184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5481" y="4639782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73 units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5850" y="3143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Avg sales / year</a:t>
            </a:r>
          </a:p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Light &amp; Small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895850" y="3448050"/>
            <a:ext cx="990600" cy="0"/>
          </a:xfrm>
          <a:prstGeom prst="line">
            <a:avLst/>
          </a:prstGeom>
          <a:ln w="95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895850" y="34861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100 units</a:t>
            </a:r>
          </a:p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Rp 30,2 Bio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5850" y="3905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Avg sales / year</a:t>
            </a:r>
          </a:p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Medium &amp; Heavy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895850" y="4210050"/>
            <a:ext cx="990600" cy="0"/>
          </a:xfrm>
          <a:prstGeom prst="line">
            <a:avLst/>
          </a:prstGeom>
          <a:ln w="95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895850" y="42481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88 units</a:t>
            </a:r>
          </a:p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Rp 70,0 Bio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5850" y="4667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Neue Haas Grotesk Text Pro"/>
              </a:rPr>
              <a:t>Average of the full years 2023 – 2025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10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43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621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954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432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766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243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577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2900" y="6305550"/>
            <a:ext cx="5524500" cy="1905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9100" y="6334125"/>
            <a:ext cx="5391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Ton-meter classes follow the Application Engineering classification. *2026 is a partial year.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000750" y="2381250"/>
            <a:ext cx="0" cy="4152900"/>
          </a:xfrm>
          <a:prstGeom prst="line">
            <a:avLst/>
          </a:prstGeom>
          <a:ln w="28575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67400" y="4324350"/>
            <a:ext cx="266700" cy="266700"/>
          </a:xfrm>
          <a:prstGeom prst="ellipse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91250" y="2400300"/>
            <a:ext cx="5638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class, 2023 – 2026</a:t>
            </a: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7010400" y="2628900"/>
          <a:ext cx="4000500" cy="34099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Left Brace 63"/>
          <p:cNvSpPr/>
          <p:nvPr/>
        </p:nvSpPr>
        <p:spPr>
          <a:xfrm>
            <a:off x="7046976" y="2697099"/>
            <a:ext cx="114300" cy="1297981"/>
          </a:xfrm>
          <a:prstGeom prst="lef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Left Brace 64"/>
          <p:cNvSpPr/>
          <p:nvPr/>
        </p:nvSpPr>
        <p:spPr>
          <a:xfrm>
            <a:off x="7046976" y="4052230"/>
            <a:ext cx="114300" cy="1679724"/>
          </a:xfrm>
          <a:prstGeom prst="lef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ight Brace 65"/>
          <p:cNvSpPr/>
          <p:nvPr/>
        </p:nvSpPr>
        <p:spPr>
          <a:xfrm>
            <a:off x="10860024" y="2697099"/>
            <a:ext cx="114300" cy="2023640"/>
          </a:xfrm>
          <a:prstGeom prst="righ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ight Brace 66"/>
          <p:cNvSpPr/>
          <p:nvPr/>
        </p:nvSpPr>
        <p:spPr>
          <a:xfrm>
            <a:off x="10860024" y="4777889"/>
            <a:ext cx="114300" cy="954066"/>
          </a:xfrm>
          <a:prstGeom prst="righ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72200" y="3034146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00775" y="3072246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44%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551574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00775" y="4589674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56%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049000" y="3332681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077575" y="3370781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68%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217,6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049000" y="4850109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077575" y="4888209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32%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104,2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865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198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6676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8009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487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1821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4298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32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10400" y="6305550"/>
            <a:ext cx="4000500" cy="1905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010400" y="6334125"/>
            <a:ext cx="4000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E9E57"/>
                </a:solidFill>
                <a:latin typeface="Neue Haas Grotesk Text Pro"/>
              </a:rPr>
              <a:t>Light &amp; Small bring the volume, Medium &amp; Heavy bring the value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2900" y="6591300"/>
            <a:ext cx="11487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2026; 2026 is a partial year. Folding cranes only; excludes the Noir "Excluded Rows", Hyva, Zoomlion, HIAB XG grabbers, Tadano TM-Z telescopic and 2 invalid-price records. Value = import value before tax × Rp 17.803/USD (JISDOR 23 Sep 2026).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3820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2025/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was 2025?</a:t>
              </a:r>
              <a:br>
                <a:rPr lang="en-US" sz="1600" b="1" dirty="0"/>
              </a:br>
              <a:r>
                <a:rPr lang="en-US" sz="1600" b="1" dirty="0"/>
                <a:t>And who led each class?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2025: Sany Palfinger led Light, Small and Medium; Palfinger led Heavy with 62% of its value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In 2025, Indonesia imported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184 folding cranes (Rp 102,4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Light &amp; Small made up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49%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while Medium &amp; Heavy held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77% of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In every class,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the top three brands held 83% or more of the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42900" y="2400300"/>
            <a:ext cx="552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class, 2025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1162050" y="2628900"/>
          <a:ext cx="4000500" cy="34099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8" name="Left Brace 37"/>
          <p:cNvSpPr/>
          <p:nvPr/>
        </p:nvSpPr>
        <p:spPr>
          <a:xfrm>
            <a:off x="1198626" y="2697099"/>
            <a:ext cx="114300" cy="1521840"/>
          </a:xfrm>
          <a:prstGeom prst="lef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Left Brace 38"/>
          <p:cNvSpPr/>
          <p:nvPr/>
        </p:nvSpPr>
        <p:spPr>
          <a:xfrm>
            <a:off x="1198626" y="4276089"/>
            <a:ext cx="114300" cy="1455865"/>
          </a:xfrm>
          <a:prstGeom prst="lef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ight Brace 39"/>
          <p:cNvSpPr/>
          <p:nvPr/>
        </p:nvSpPr>
        <p:spPr>
          <a:xfrm>
            <a:off x="5011674" y="2697099"/>
            <a:ext cx="114300" cy="2294550"/>
          </a:xfrm>
          <a:prstGeom prst="righ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Brace 40"/>
          <p:cNvSpPr/>
          <p:nvPr/>
        </p:nvSpPr>
        <p:spPr>
          <a:xfrm>
            <a:off x="5011674" y="5048799"/>
            <a:ext cx="114300" cy="683156"/>
          </a:xfrm>
          <a:prstGeom prst="righ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3850" y="3146075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425" y="3184175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51%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3850" y="4663503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2425" y="4701603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49%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00650" y="3468136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29225" y="3506236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77%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78,4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00650" y="4985564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29225" y="5023664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23%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24,0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10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43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621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954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432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766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243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577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2900" y="6305550"/>
            <a:ext cx="5524500" cy="1905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9100" y="6334125"/>
            <a:ext cx="5391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Ton-meter classes follow the Application Engineering classification.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000750" y="2381250"/>
            <a:ext cx="0" cy="4152900"/>
          </a:xfrm>
          <a:prstGeom prst="line">
            <a:avLst/>
          </a:prstGeom>
          <a:ln w="28575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67400" y="4324350"/>
            <a:ext cx="266700" cy="266700"/>
          </a:xfrm>
          <a:prstGeom prst="ellipse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91250" y="2400300"/>
            <a:ext cx="5638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Who led each class in 2025,</a:t>
            </a:r>
            <a:r>
              <a:rPr sz="1250" b="0">
                <a:solidFill>
                  <a:srgbClr val="000000"/>
                </a:solidFill>
                <a:latin typeface="Neue Haas Grotesk Text Pro"/>
              </a:rPr>
              <a:t> % of class value</a:t>
            </a: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7048500" y="2647950"/>
          <a:ext cx="3810000" cy="3333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6191250" y="29622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Neue Haas Grotesk Text Pro"/>
              </a:rPr>
              <a:t>Light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37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15650" y="29622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5,7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100%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91250" y="37623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Neue Haas Grotesk Text Pro"/>
              </a:rPr>
              <a:t>Small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53 units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15650" y="37623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18,3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83%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91250" y="45624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E9E57"/>
                </a:solidFill>
                <a:latin typeface="Neue Haas Grotesk Text Pro"/>
              </a:rPr>
              <a:t>Medium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59 units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15650" y="45624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30,3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83%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91250" y="53625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E9E57"/>
                </a:solidFill>
                <a:latin typeface="Neue Haas Grotesk Text Pro"/>
              </a:rPr>
              <a:t>Heavy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35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15650" y="53625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48,0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95%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10300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43650" y="6096000"/>
            <a:ext cx="10363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Sany Palfinger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9902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32370" y="6096000"/>
            <a:ext cx="6934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Palfinger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44840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7819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XCMG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73490" y="6115050"/>
            <a:ext cx="95250" cy="95250"/>
          </a:xfrm>
          <a:prstGeom prst="rect">
            <a:avLst/>
          </a:prstGeom>
          <a:solidFill>
            <a:srgbClr val="B7E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006840" y="6096000"/>
            <a:ext cx="6934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Amco Veba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719310" y="6115050"/>
            <a:ext cx="95250" cy="95250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5266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HIAB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347960" y="6115050"/>
            <a:ext cx="95250" cy="9525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48131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Fassi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976610" y="6115050"/>
            <a:ext cx="95250" cy="9525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109960" y="6096000"/>
            <a:ext cx="62484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Bob-Lift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10400" y="6305550"/>
            <a:ext cx="4000500" cy="1905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010400" y="6334125"/>
            <a:ext cx="4000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E9E57"/>
                </a:solidFill>
                <a:latin typeface="Neue Haas Grotesk Text Pro"/>
              </a:rPr>
              <a:t>Every class has one clear leader to beat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2900" y="6591300"/>
            <a:ext cx="11487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2025. Folding cranes only; excludes the Noir "Excluded Rows", Hyva, Zoomlion, HIAB XG grabbers, Tadano TM-Z telescopic and 2 invalid-price records. Value = import value before tax × Rp 17.803/USD (JISDOR 23 Sep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Light Class Map 2023–26/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Light: Sany Palfinger SPK8500 leads; XCMG SQ3.2ZK2 is Rp 48 Jt cheaper per unit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Light class (≤ 8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174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imported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5–8 tm takes 97%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66950"/>
          <a:ext cx="1148715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1260475"/>
                <a:gridCol w="1260475"/>
                <a:gridCol w="1260475"/>
                <a:gridCol w="1260475"/>
                <a:gridCol w="1260475"/>
                <a:gridCol w="1260475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F.lli Ferrari or XCMG</a:t>
                      </a:r>
                    </a:p>
                  </a:txBody>
                  <a:tcPr anchor="ctr" marL="47625" marR="47625" marT="47625" marB="19050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110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38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9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</a:tr>
              <a:tr h="174307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≤ 5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 units</a:t>
                      </a:r>
                    </a:p>
                  </a:txBody>
                  <a:tcPr anchor="ctr" marL="47625" marR="47625" marT="4762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350 A2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172 Jt /unit</a:t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144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PK 5001, Rp 316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F.lli Ferrari price list</a:t>
                      </a:r>
                    </a:p>
                  </a:txBody>
                  <a:tcPr anchor="ctr" marL="47625" marR="47625" marT="4762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315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139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350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172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5001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M30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197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GKB08ZA3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</a:tr>
              <a:tr h="174307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5–8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168 units</a:t>
                      </a:r>
                    </a:p>
                  </a:txBody>
                  <a:tcPr anchor="ctr" marL="47625" marR="47625" marT="4762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SQ3.2ZK2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162 Jt /unit</a:t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48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SPK8500, Rp 209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import data, 2 units</a:t>
                      </a:r>
                    </a:p>
                  </a:txBody>
                  <a:tcPr anchor="ctr" marL="47625" marR="47625" marT="4762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302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563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194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563R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SPK8500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91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209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SPK6500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19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168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8501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34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482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420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KSQZ68.2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9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SQ3.2ZK2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V806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8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V808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F65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GKB3.2ZA2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05050"/>
            <a:ext cx="127635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33" y="2328862"/>
            <a:ext cx="542585" cy="14287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ny_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119" y="2328862"/>
            <a:ext cx="670638" cy="142875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60387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alfin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5321" y="2328862"/>
            <a:ext cx="645184" cy="14287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86435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1193" y="2328862"/>
            <a:ext cx="654389" cy="142875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12482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amco_ve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9626" y="2328862"/>
            <a:ext cx="638473" cy="1428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938530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fass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7398" y="2328862"/>
            <a:ext cx="563880" cy="142875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1064577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sz="1000" b="1">
                <a:solidFill>
                  <a:srgbClr val="0B4D2A"/>
                </a:solidFill>
                <a:latin typeface="Neue Haas Grotesk Text Pro"/>
              </a:rPr>
              <a:t>Bob-Lift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2900" y="63246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6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challenger: F.lli Ferrari or XCMG, cheaper than the leader, max 2 tm smaller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5900" y="63246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29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(total value ÷ total units) × Rp 17.803/USD (JISDOR 23 Sep 2026) × (1 + import duty: 0% China/ACFTA, 5% others) × (1 + PPN 11% + PPh 22 2.5%); crane only, before distributor margin. F.lli Ferrari price = (column K − column I) × (1 − 13.6% TSP GP): crane only, no cargo deck, no install, no warranty; taxes included. Model variants merged (e.g. SPK8500 = SPK8500, A, B). tm class per Application Engineering (rounded max lifting moment). Folding cranes only; Hyva, Zoomlion, grabbers, telescopic cranes and invalid-price records excluded. Challengers limited to F.lli Ferrari and XCMG; Heavy 50 – 55 tm uses FBR450R A4 (4,6 tm smaller) by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Small Class Map 2023–26/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Small: Sany Palfinger SPK23500 leads; no cheaper crane of the same size yet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Small class (&gt; 8 – 25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184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imported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20–25 tm takes 47%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66950"/>
          <a:ext cx="11487148" cy="38862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945356"/>
                <a:gridCol w="945356"/>
                <a:gridCol w="945356"/>
                <a:gridCol w="945356"/>
                <a:gridCol w="945356"/>
                <a:gridCol w="945356"/>
                <a:gridCol w="945356"/>
                <a:gridCol w="945356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F.lli Ferrari or XCMG</a:t>
                      </a:r>
                    </a:p>
                  </a:txBody>
                  <a:tcPr anchor="ctr" marL="47625" marR="47625" marT="28575" marB="19050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103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37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12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8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7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8–10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6108 A2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246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161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F85B.24, Rp 408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6108 A2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246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F85B.24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408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GKB5ZA2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195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10–15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56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6148 A3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302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9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SPK15500, Rp 312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6148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302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5148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315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SPK15500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312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GSQZ105.4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261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+ 4 more (8 units)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15500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6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592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V816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9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418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F155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492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Q5ZA2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256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15–20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38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GSQZ200.3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345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23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SPK18500, Rp 368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178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382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6238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411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SPK18500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8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368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GSQZ160.4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6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414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+ 8 more (19 units)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V817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550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X-CL 16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423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F215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694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20–25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87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6248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441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258 A3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455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SPK23500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70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380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23500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6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872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288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891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(3 units)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F245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879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PM9024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400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05050"/>
            <a:ext cx="127635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33" y="2328862"/>
            <a:ext cx="542585" cy="14287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ny_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4559" y="2328862"/>
            <a:ext cx="670638" cy="142875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288756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xcm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8040" y="2328862"/>
            <a:ext cx="654389" cy="14287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234112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palfing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999" y="2328862"/>
            <a:ext cx="645184" cy="142875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7179469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amco_ve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6711" y="2328862"/>
            <a:ext cx="638473" cy="1428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8124825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hi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4537" y="2328862"/>
            <a:ext cx="413533" cy="142875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9070181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fass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4719" y="2328862"/>
            <a:ext cx="563880" cy="142875"/>
          </a:xfrm>
          <a:prstGeom prst="rect">
            <a:avLst/>
          </a:prstGeom>
        </p:spPr>
      </p:pic>
      <p:sp>
        <p:nvSpPr>
          <p:cNvPr id="51" name="Rounded Rectangle 50"/>
          <p:cNvSpPr/>
          <p:nvPr/>
        </p:nvSpPr>
        <p:spPr>
          <a:xfrm>
            <a:off x="10015538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sz="1000" b="1">
                <a:solidFill>
                  <a:srgbClr val="0B4D2A"/>
                </a:solidFill>
                <a:latin typeface="Neue Haas Grotesk Text Pro"/>
              </a:rPr>
              <a:t>Bob-Lift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960894" y="2305050"/>
            <a:ext cx="792956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sz="850" b="1">
                <a:solidFill>
                  <a:srgbClr val="0B4D2A"/>
                </a:solidFill>
                <a:latin typeface="Neue Haas Grotesk Text Pro"/>
              </a:rPr>
              <a:t>PM Cranes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2900" y="63246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76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challenger: F.lli Ferrari or XCMG, cheaper than the leader, max 2 tm smaller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95900" y="63246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29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(total value ÷ total units) × Rp 17.803/USD (JISDOR 23 Sep 2026) × (1 + import duty: 0% China/ACFTA, 5% others) × (1 + PPN 11% + PPh 22 2.5%); crane only, before distributor margin. F.lli Ferrari price = (column K − column I) × (1 − 13.6% TSP GP): crane only, no cargo deck, no install, no warranty; taxes included. Model variants merged (e.g. SPK8500 = SPK8500, A, B). tm class per Application Engineering (rounded max lifting moment). Folding cranes only; Hyva, Zoomlion, grabbers, telescopic cranes and invalid-price records excluded. Challengers limited to F.lli Ferrari and XCMG; Heavy 50 – 55 tm uses FBR450R A4 (4,6 tm smaller) by decision.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Medium Class Map 2023–26/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Medium: HIAB X-CLX 388 leads; XCMG SQZ325.4 is Rp 359 Jt cheaper per unit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Medium class (&gt; 25 – 45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213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imported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30–35 tm takes 35%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66950"/>
          <a:ext cx="11487150" cy="38862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1512570"/>
                <a:gridCol w="1512570"/>
                <a:gridCol w="1512570"/>
                <a:gridCol w="1512570"/>
                <a:gridCol w="1512570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F.lli Ferrari or XCMG</a:t>
                      </a:r>
                    </a:p>
                  </a:txBody>
                  <a:tcPr anchor="ctr" marL="47625" marR="47625" marT="28575" marB="19050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88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36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33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30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26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25–30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49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KSQZ300.3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490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127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V825, Rp 616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V825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31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616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KSQZ300.3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15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490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SQ12ZK3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499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30–35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75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SQZ325.4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549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359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X-CLX 388, Rp 908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991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FBR350R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1.139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SPK32080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33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442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V933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833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GSQZ330.4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696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SQZ325.4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549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32080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8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1.050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33002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46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388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21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908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328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1.116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35–40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66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KSQZ365.4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542 Jt /unit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772 Jt cheaper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PK 41002, Rp 1.315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SPK36080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491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SPK38080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465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KSQZ400.4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707 Jt /unit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GSQZ400.4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704 Jt /unit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+ 3 more (4 units)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41002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21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1.315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8715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40–45 tm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23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746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1.478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SPK42502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18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786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V946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1.272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477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563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05050"/>
            <a:ext cx="127635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33" y="2328862"/>
            <a:ext cx="542585" cy="14287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ny_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8166" y="2328862"/>
            <a:ext cx="670638" cy="142875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85597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mco_ve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6819" y="2328862"/>
            <a:ext cx="638473" cy="14287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736854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1430" y="2328862"/>
            <a:ext cx="654389" cy="142875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88111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alfing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8603" y="2328862"/>
            <a:ext cx="645184" cy="1428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039368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hi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66999" y="2328862"/>
            <a:ext cx="413533" cy="142875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342900" y="63246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6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challenger: F.lli Ferrari or XCMG, cheaper than the leader, max 2 tm smaller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95900" y="63246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29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(total value ÷ total units) × Rp 17.803/USD (JISDOR 23 Sep 2026) × (1 + import duty: 0% China/ACFTA, 5% others) × (1 + PPN 11% + PPh 22 2.5%); crane only, before distributor margin. F.lli Ferrari price = (column K − column I) × (1 − 13.6% TSP GP): crane only, no cargo deck, no install, no warranty; taxes included. Model variants merged (e.g. SPK8500 = SPK8500, A, B). tm class per Application Engineering (rounded max lifting moment). Folding cranes only; Hyva, Zoomlion, grabbers, telescopic cranes and invalid-price records excluded. Challengers limited to F.lli Ferrari and XCMG; Heavy 50 – 55 tm uses FBR450R A4 (4,6 tm smaller) by decision.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Heavy Class Map 2023–26/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Heavy: Palfinger PK 53002 leads; F.lli Ferrari FBR450R A4 is Rp 214 Jt cheaper per unit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Heavy class (&gt; 45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65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imported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50–55 tm takes 62%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66950"/>
          <a:ext cx="1148715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1260475"/>
                <a:gridCol w="1260475"/>
                <a:gridCol w="1260475"/>
                <a:gridCol w="1260475"/>
                <a:gridCol w="1260475"/>
                <a:gridCol w="1260475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F.lli Ferrari or XCMG</a:t>
                      </a:r>
                    </a:p>
                  </a:txBody>
                  <a:tcPr anchor="ctr" marL="47625" marR="47625" marT="28575" marB="19050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42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12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7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 unit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 unit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45–50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17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GSQZ460.4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812 Jt /unit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1.065 Jt cheaper</a:t>
                      </a:r>
                    </a:p>
                    <a:p>
                      <a:pPr algn="l"/>
                      <a:r>
                        <a:rPr sz="7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V950, Rp 1.877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 A4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1.251 Jt /unit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FBR450R A4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1.408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V950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12 units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1.877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GSQZ460.4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812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EFFER 525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1.509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F485RA.2.23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1.608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50–55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40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FBR450R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1.408 Jt /unit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214 Jt cheaper</a:t>
                      </a:r>
                    </a:p>
                    <a:p>
                      <a:pPr algn="l"/>
                      <a:r>
                        <a:rPr sz="7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PK 53002, Rp 1.622 Jt /unit (4,6 tm smaller)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53002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39 units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1.622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X-HIPRO B58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3.366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60–65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SPK61502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1.402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70–75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76002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2.285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80–85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88002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2.220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85–90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 units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GSQZ880.6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1.319 Jt /unit</a:t>
                      </a:r>
                    </a:p>
                    <a:p>
                      <a:pPr algn="l"/>
                      <a:r>
                        <a:rPr sz="70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(2 units)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05050"/>
            <a:ext cx="127635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33" y="2328862"/>
            <a:ext cx="542585" cy="14287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846" y="2328862"/>
            <a:ext cx="645184" cy="142875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60387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mco_ve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8676" y="2328862"/>
            <a:ext cx="638473" cy="14287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86435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1193" y="2328862"/>
            <a:ext cx="654389" cy="142875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12482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hi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2096" y="2328862"/>
            <a:ext cx="413533" cy="1428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938530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fass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7398" y="2328862"/>
            <a:ext cx="563880" cy="142875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1064577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sany_palfing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64494" y="2328862"/>
            <a:ext cx="670638" cy="142875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342900" y="63246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6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challenger: F.lli Ferrari or XCMG, cheaper than the leader, max 2 tm smaller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95900" y="63246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29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(total value ÷ total units) × Rp 17.803/USD (JISDOR 23 Sep 2026) × (1 + import duty: 0% China/ACFTA, 5% others) × (1 + PPN 11% + PPh 22 2.5%); crane only, before distributor margin. F.lli Ferrari price = (column K − column I) × (1 − 13.6% TSP GP): crane only, no cargo deck, no install, no warranty; taxes included. Model variants merged (e.g. SPK8500 = SPK8500, A, B). tm class per Application Engineering (rounded max lifting moment). Folding cranes only; Hyva, Zoomlion, grabbers, telescopic cranes and invalid-price records excluded. Challengers limited to F.lli Ferrari and XCMG; Heavy 50 – 55 tm uses FBR450R A4 (4,6 tm smaller) by decision.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Conclusion/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crane per class?</a:t>
              </a:r>
              <a:br>
                <a:rPr lang="en-US" sz="1600" b="1" dirty="0"/>
              </a:br>
              <a:r>
                <a:rPr lang="en-US" sz="1600" b="1" dirty="0"/>
                <a:t>And what is our target?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We undercut the leader in 10 of 16 tm classes (81% of units); target: 15 cranes by end-2027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Our challengers are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F.lli Ferrari or XCMG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each cheaper per unit than the tier leader.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Classes with no cheaper crane yet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stay on the watch list until we get a better price.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47900"/>
          <a:ext cx="8515350" cy="3943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900"/>
                <a:gridCol w="704850"/>
                <a:gridCol w="495300"/>
                <a:gridCol w="2724150"/>
                <a:gridCol w="2533650"/>
                <a:gridCol w="1333500"/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Class</a:t>
                      </a:r>
                    </a:p>
                  </a:txBody>
                  <a:tcPr anchor="ctr" marL="57150" marR="57150" marT="9525" marB="952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57150" marR="57150" marT="9525" marB="952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Units</a:t>
                      </a:r>
                    </a:p>
                  </a:txBody>
                  <a:tcPr anchor="ctr" marL="57150" marR="57150" marT="9525" marB="952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Leader (TOP 1)</a:t>
                      </a:r>
                    </a:p>
                  </a:txBody>
                  <a:tcPr anchor="ctr" marL="57150" marR="57150" marT="9525" marB="952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</a:txBody>
                  <a:tcPr anchor="ctr" marL="57150" marR="57150" marT="9525" marB="9525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Neue Haas Grotesk Text Pro"/>
                        </a:rPr>
                        <a:t>We are cheaper by</a:t>
                      </a:r>
                    </a:p>
                  </a:txBody>
                  <a:tcPr anchor="ctr" marL="57150" marR="57150" marT="9525" marB="9525">
                    <a:solidFill>
                      <a:srgbClr val="1E9E57"/>
                    </a:solidFill>
                  </a:tcPr>
                </a:tc>
              </a:tr>
              <a:tr h="282819">
                <a:tc rowSpan="2"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  <a:latin typeface="Neue Haas Grotesk Text Pro"/>
                        </a:rPr>
                        <a:t>Light</a:t>
                      </a:r>
                    </a:p>
                  </a:txBody>
                  <a:tcPr anchor="ctr" marL="57150" marR="57150" marT="9525" marB="9525">
                    <a:solidFill>
                      <a:srgbClr val="CDEF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≤ 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6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 PK 5001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316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350 A2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172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Rp 144 Jt /unit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5–8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168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 SPK8500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209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SQ3.2ZK2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162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Rp 48 Jt /unit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rowSpan="4"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  <a:latin typeface="Neue Haas Grotesk Text Pro"/>
                        </a:rPr>
                        <a:t>Small</a:t>
                      </a:r>
                    </a:p>
                  </a:txBody>
                  <a:tcPr anchor="ctr" marL="57150" marR="57150" marT="9525" marB="9525">
                    <a:solidFill>
                      <a:srgbClr val="74CC9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8–10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3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Fassi F85B.24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408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6108 A2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246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Rp 161 Jt /unit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10–15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56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 SPK15500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312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6148 A3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302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Rp 9 Jt /unit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15–20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38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 SPK18500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368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GSQZ200.3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345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Rp 23 Jt /unit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20–25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87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 SPK23500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380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50">
                          <a:solidFill>
                            <a:srgbClr val="7F7F7F"/>
                          </a:solidFill>
                          <a:latin typeface="Neue Haas Grotesk Text Pro"/>
                        </a:rPr>
                        <a:t>No cheaper crane yet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</a:tr>
              <a:tr h="282819">
                <a:tc rowSpan="4"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Neue Haas Grotesk Text Pro"/>
                        </a:rPr>
                        <a:t>Medium</a:t>
                      </a:r>
                    </a:p>
                  </a:txBody>
                  <a:tcPr anchor="ctr" marL="57150" marR="57150" marT="9525" marB="9525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25–30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49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 V825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616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KSQZ300.3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490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Rp 127 Jt /unit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30–35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75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HIAB X-CLX 388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908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SQZ325.4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549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Rp 359 Jt /unit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35–40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66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 PK 41002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1.315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KSQZ365.4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542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Rp 772 Jt /unit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40–45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23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 SPK42502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786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50">
                          <a:solidFill>
                            <a:srgbClr val="7F7F7F"/>
                          </a:solidFill>
                          <a:latin typeface="Neue Haas Grotesk Text Pro"/>
                        </a:rPr>
                        <a:t>No cheaper crane yet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</a:tr>
              <a:tr h="282819">
                <a:tc rowSpan="3"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Neue Haas Grotesk Text Pro"/>
                        </a:rPr>
                        <a:t>Heavy</a:t>
                      </a:r>
                    </a:p>
                  </a:txBody>
                  <a:tcPr anchor="ctr" marL="57150" marR="57150" marT="9525" marB="952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45–50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17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 V950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1.877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GSQZ460.4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812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Rp 1.065 Jt /unit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50–55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40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 PK 53002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1.622 Jt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FBR450R A4</a:t>
                      </a:r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  ·  Rp 1.408 Jt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1E9E57"/>
                          </a:solidFill>
                          <a:latin typeface="Neue Haas Grotesk Text Pro"/>
                        </a:rPr>
                        <a:t>Rp 214 Jt /unit*</a:t>
                      </a:r>
                    </a:p>
                  </a:txBody>
                  <a:tcPr anchor="ctr" marL="57150" marR="57150" marT="9525" marB="9525">
                    <a:solidFill>
                      <a:srgbClr val="E1F9EC"/>
                    </a:solidFill>
                  </a:tcPr>
                </a:tc>
              </a:tr>
              <a:tr h="2828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&gt; 55 tm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000000"/>
                          </a:solidFill>
                          <a:latin typeface="Neue Haas Grotesk Text Pro"/>
                        </a:rPr>
                        <a:t>8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00">
                          <a:solidFill>
                            <a:srgbClr val="595959"/>
                          </a:solidFill>
                          <a:latin typeface="Neue Haas Grotesk Text Pro"/>
                        </a:rPr>
                        <a:t>4 small classes, led by Palfinger, Sany Palfinger, XCMG</a:t>
                      </a:r>
                    </a:p>
                  </a:txBody>
                  <a:tcPr anchor="ctr" marL="57150" marR="57150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950">
                          <a:solidFill>
                            <a:srgbClr val="7F7F7F"/>
                          </a:solidFill>
                          <a:latin typeface="Neue Haas Grotesk Text Pro"/>
                        </a:rPr>
                        <a:t>No cheaper crane yet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0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ctr" marL="57150" marR="57150" marT="9525" marB="9525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9029700" y="2247900"/>
            <a:ext cx="2800350" cy="39433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2100" y="2400300"/>
            <a:ext cx="24955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E1F9EC"/>
                </a:solidFill>
                <a:latin typeface="Neue Haas Grotesk Text Pro"/>
              </a:rPr>
              <a:t>TARGET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2100" y="2609850"/>
            <a:ext cx="24955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eue Haas Grotesk Text Pro"/>
              </a:rPr>
              <a:t>15 cranes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2100" y="3162300"/>
            <a:ext cx="24955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Neue Haas Grotesk Text Pro"/>
              </a:rPr>
              <a:t>sold by end of 2027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182100" y="3486150"/>
            <a:ext cx="2495550" cy="0"/>
          </a:xfrm>
          <a:prstGeom prst="line">
            <a:avLst/>
          </a:prstGeom>
          <a:ln w="12700">
            <a:solidFill>
              <a:srgbClr val="74C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182100" y="3581400"/>
            <a:ext cx="2495550" cy="2381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Neue Haas Grotesk Text Pro"/>
              </a:rPr>
              <a:t>≈ 8% of one year of imports (188 units/year)</a:t>
            </a:r>
          </a:p>
          <a:p>
            <a:pPr algn="l"/>
            <a:r>
              <a:rPr sz="600" b="0">
                <a:solidFill>
                  <a:srgbClr val="FFFFFF"/>
                </a:solidFill>
                <a:latin typeface="Neue Haas Grotesk Text Pro"/>
              </a:rPr>
              <a:t/>
            </a:r>
          </a:p>
          <a:p>
            <a:pPr algn="l"/>
            <a:r>
              <a:rPr sz="1100" b="1">
                <a:solidFill>
                  <a:srgbClr val="FFFFFF"/>
                </a:solidFill>
                <a:latin typeface="Neue Haas Grotesk Text Pro"/>
              </a:rPr>
              <a:t>Start with the biggest classes we win: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Neue Haas Grotesk Text Pro"/>
              </a:rPr>
              <a:t>• Light 5–8 tm: XCMG SQ3.2ZK2 (168 units, Rp 48 Jt cheaper)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Neue Haas Grotesk Text Pro"/>
              </a:rPr>
              <a:t>• Medium 30–35 tm: XCMG SQZ325.4 (75 units, Rp 359 Jt cheaper)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Neue Haas Grotesk Text Pro"/>
              </a:rPr>
              <a:t>• Medium 35–40 tm: XCMG KSQZ365.4 (66 units, Rp 772 Jt cheaper)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2900" y="6305550"/>
            <a:ext cx="11487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7F7F7F"/>
                </a:solidFill>
                <a:latin typeface="Neue Haas Grotesk Text Pro"/>
              </a:rPr>
              <a:t>Prices per unit, crane only: competitors = average import price incl. duty and import tax (Rp 17.803/USD); F.lli Ferrari = price list June 2026 (K − I) less 13.6% TSP GP. Units = imports 2023 – 2026 (2026 partial year). Leader = highest import value in the tm class. *FBR450R A4 is 4,6 tm smaller than PK 53002 (used by decision).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4491</TotalTime>
  <Words>2771</Words>
  <Application>Microsoft Office PowerPoint</Application>
  <PresentationFormat>Widescreen</PresentationFormat>
  <Paragraphs>574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5</cp:revision>
  <dcterms:created xsi:type="dcterms:W3CDTF">2026-10-16T02:49:26Z</dcterms:created>
  <dcterms:modified xsi:type="dcterms:W3CDTF">2026-10-19T05:44:41Z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