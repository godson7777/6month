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482864" cy="587067"/>
            <a:chOff x="347225" y="685795"/>
            <a:chExt cx="11482864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819150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Light Class Competitor Map/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572500" y="685795"/>
              <a:ext cx="325755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Who leads each tm class?</a:t>
              </a:r>
              <a:br>
                <a:rPr lang="en-US" sz="1600" b="1" dirty="0"/>
              </a:br>
              <a:r>
                <a:rPr lang="en-US" sz="1600" b="1" dirty="0"/>
                <a:t>Which crane beats it on price?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Light: Sany Palfinger SPK8500 leads; Bob-Lift GKB3.2ZA2 is Rp 50 Jt cheaper per unit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Light class (≤ 8 tm):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174 units worth Rp 39,1 Bio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in Jan 2023 – 14 Aug 2026.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5–8 tm takes 97% of units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. Each row compares the tier leader (by value) with the cheapest crane of about the same size.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42900" y="2343150"/>
          <a:ext cx="11487150" cy="3829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619250"/>
                <a:gridCol w="1428750"/>
                <a:gridCol w="1260475"/>
                <a:gridCol w="1260475"/>
                <a:gridCol w="1260475"/>
                <a:gridCol w="1260475"/>
                <a:gridCol w="1260475"/>
                <a:gridCol w="126047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Our challenger</a:t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cheapest of the same size</a:t>
                      </a:r>
                    </a:p>
                  </a:txBody>
                  <a:tcPr anchor="ctr" marL="57150" marR="57150" marT="47625" marB="28575">
                    <a:solidFill>
                      <a:srgbClr val="1E9E5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price list + imports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110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38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11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9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3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00" b="0">
                          <a:solidFill>
                            <a:srgbClr val="FFFFFF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ctr"/>
                      <a:r>
                        <a:rPr sz="850" b="0">
                          <a:solidFill>
                            <a:srgbClr val="E1F9EC"/>
                          </a:solidFill>
                          <a:latin typeface="Neue Haas Grotesk Text Pro"/>
                        </a:rPr>
                        <a:t>2 units</a:t>
                      </a:r>
                    </a:p>
                  </a:txBody>
                  <a:tcPr anchor="b" marL="57150" marR="57150" marT="47625" marB="28575">
                    <a:solidFill>
                      <a:srgbClr val="0B4D2A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≤ 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1,2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F.lli Ferrari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3,5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144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vs Palfinger PK 5001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(Rp 316 Jt /unit)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F.lli Ferrari price list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315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1,5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139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350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3,5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172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543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4,3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5001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4,9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 units · Rp 0,80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M30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3,1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 · Rp 0,33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197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GKB08ZA3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1,0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0,05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  <a:tr h="16859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&gt; 5 – 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168 units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37,9 Bio</a:t>
                      </a:r>
                    </a:p>
                  </a:txBody>
                  <a:tcPr anchor="ctr" marL="57150" marR="57150" marT="47625" marB="28575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4D2A"/>
                          </a:solidFill>
                          <a:latin typeface="Neue Haas Grotesk Text Pro"/>
                        </a:rPr>
                        <a:t>Bob-Lift</a:t>
                      </a:r>
                    </a:p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6,8 tm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3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Rp 50 Jt cheaper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vs Sany Palfinger SPK8500</a:t>
                      </a:r>
                    </a:p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(Rp 209 Jt /unit)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850" b="0">
                          <a:solidFill>
                            <a:srgbClr val="7F7F7F"/>
                          </a:solidFill>
                          <a:latin typeface="Neue Haas Grotesk Text Pro"/>
                        </a:rPr>
                        <a:t>import data, 1 unit</a:t>
                      </a:r>
                    </a:p>
                  </a:txBody>
                  <a:tcPr anchor="ctr" marL="57150" marR="57150" marT="47625" marB="2857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7,0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302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6,0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194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563R 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6,0 tm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TOP 1</a:t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SPK8500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8,2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91 units · Rp 16,8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209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SPK6500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6,5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 units · Rp 2,8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168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8501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8,2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 units · Rp 13,8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482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PK 8500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7,6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0,35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420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KSQZ68.2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6,8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 units · Rp 1,3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169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SQ3.2ZK2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6,7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 units · Rp 0,28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V806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6,7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 units · Rp 1,7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252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V808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7,9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0,21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254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F65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6,3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0,27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316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GKB3.2ZA2</a:t>
                      </a:r>
                      <a:r>
                        <a:rPr sz="1000" b="0">
                          <a:solidFill>
                            <a:srgbClr val="595959"/>
                          </a:solidFill>
                          <a:latin typeface="Neue Haas Grotesk Text Pro"/>
                        </a:rPr>
                        <a:t>  6,8 tm</a:t>
                      </a:r>
                    </a:p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 unit · Rp 0,14 Bio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160 Jt /unit</a:t>
                      </a:r>
                    </a:p>
                    <a:p>
                      <a:pPr algn="l"/>
                      <a:r>
                        <a:rPr sz="4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/>
                      </a:r>
                    </a:p>
                  </a:txBody>
                  <a:tcPr anchor="t" marL="57150" marR="57150" marT="47625" marB="285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2914650" y="2390775"/>
            <a:ext cx="1276350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err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274" y="2419350"/>
            <a:ext cx="651102" cy="17145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43434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any_palfin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055" y="2419350"/>
            <a:ext cx="804765" cy="17145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56038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palfing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0802" y="2419350"/>
            <a:ext cx="774221" cy="17145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686435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xcm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5754" y="2419350"/>
            <a:ext cx="785267" cy="17145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812482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amco_ve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5779" y="2419350"/>
            <a:ext cx="766167" cy="171450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9385300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ass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010" y="2419350"/>
            <a:ext cx="676656" cy="171450"/>
          </a:xfrm>
          <a:prstGeom prst="rect">
            <a:avLst/>
          </a:prstGeom>
        </p:spPr>
      </p:pic>
      <p:sp>
        <p:nvSpPr>
          <p:cNvPr id="49" name="Rounded Rectangle 48"/>
          <p:cNvSpPr/>
          <p:nvPr/>
        </p:nvSpPr>
        <p:spPr>
          <a:xfrm>
            <a:off x="10645775" y="2390775"/>
            <a:ext cx="1108075" cy="228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0B4D2A"/>
                </a:solidFill>
                <a:latin typeface="Neue Haas Grotesk Text Pro"/>
              </a:rPr>
              <a:t>Bob-Lift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2900" y="6286500"/>
            <a:ext cx="114300" cy="114300"/>
          </a:xfrm>
          <a:prstGeom prst="rect">
            <a:avLst/>
          </a:prstGeom>
          <a:solidFill>
            <a:srgbClr val="E1F9EC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350" y="6276975"/>
            <a:ext cx="4191000" cy="1524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latin typeface="Neue Haas Grotesk Text Pro"/>
              </a:rPr>
              <a:t>Our challenger: cheaper than the tier leader, at most 2 tm smaller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19650" y="6286500"/>
            <a:ext cx="114300" cy="114300"/>
          </a:xfrm>
          <a:prstGeom prst="rect">
            <a:avLst/>
          </a:prstGeom>
          <a:solidFill>
            <a:srgbClr val="FFF7D6"/>
          </a:solidFill>
          <a:ln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91100" y="6276975"/>
            <a:ext cx="4191000" cy="1524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latin typeface="Neue Haas Grotesk Text Pro"/>
              </a:rPr>
              <a:t>Tier leader (TOP 1 = highest import value in the tier)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2900" y="6477000"/>
            <a:ext cx="114871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>
                <a:solidFill>
                  <a:srgbClr val="7F7F7F"/>
                </a:solidFill>
                <a:latin typeface="Neue Haas Grotesk Text Pro"/>
              </a:rPr>
              <a:t>Source: Indonesia import records (Crane Market GVW Pairing v11, Noir), Jan 2023 – 14 Aug 2026; F.lli Ferrari price list June 2026 (Rev1), sheet 25.06. Competitor price = average import unit price of the model (total value ÷ total units) × Rp 17.803/USD (JISDOR 23 Sep 2026) × (1 + import duty: 0% China/ACFTA, 5% others) × (1 + PPN 11% + PPh 22 2.5%); crane only, before distributor margin. F.lli Ferrari price = (column K − column I) × (1 − 13.6% TSP GP): crane only, no cargo deck, no install, no warranty; taxes included. Units and amount = import value before tax. Model variants merged (e.g. SPK8500 = SPK8500, A, B). tm class per Application Engineering (rounded max lifting moment). Folding cranes only; Hyva, Zoomlion, grabbers, telescopic cranes and invalid-price records excluded.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