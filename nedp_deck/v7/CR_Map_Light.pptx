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1915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Light Class Competitor Map/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Who leads each tm class?</a:t>
              </a:r>
              <a:br>
                <a:rPr lang="en-US" sz="1600" b="1" dirty="0"/>
              </a:br>
              <a:r>
                <a:rPr lang="en-US" sz="1600" b="1" dirty="0"/>
                <a:t>Which crane beats it on price?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Light: Sany Palfinger SPK8500 leads; XCMG SQ3.2ZK2 is Rp 48 Jt cheaper per unit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Light class (≤ 8 tm):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174 units worth Rp 39,1 Bio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in Jan 2023 – 14 Aug 2026.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5–8 tm takes 97% of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Each row compares the tier leader (by value) with the cheapest crane of about the same size.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42900" y="2343150"/>
          <a:ext cx="11487150" cy="3829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/>
                <a:gridCol w="1619250"/>
                <a:gridCol w="1428750"/>
                <a:gridCol w="1260475"/>
                <a:gridCol w="1260475"/>
                <a:gridCol w="1260475"/>
                <a:gridCol w="1260475"/>
                <a:gridCol w="1260475"/>
                <a:gridCol w="126047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tm class</a:t>
                      </a:r>
                    </a:p>
                  </a:txBody>
                  <a:tcPr anchor="ctr" marL="57150" marR="57150" marT="47625" marB="2857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Our challenger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cheapest of the same size</a:t>
                      </a:r>
                    </a:p>
                  </a:txBody>
                  <a:tcPr anchor="ctr" marL="57150" marR="57150" marT="47625" marB="28575">
                    <a:solidFill>
                      <a:srgbClr val="1E9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price list + imports</a:t>
                      </a:r>
                    </a:p>
                  </a:txBody>
                  <a:tcPr anchor="b" marL="57150" marR="57150" marT="47625" marB="2857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110 units</a:t>
                      </a:r>
                    </a:p>
                  </a:txBody>
                  <a:tcPr anchor="b" marL="57150" marR="57150" marT="47625" marB="2857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38 units</a:t>
                      </a:r>
                    </a:p>
                  </a:txBody>
                  <a:tcPr anchor="b" marL="57150" marR="57150" marT="47625" marB="2857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11 units</a:t>
                      </a:r>
                    </a:p>
                  </a:txBody>
                  <a:tcPr anchor="b" marL="57150" marR="57150" marT="47625" marB="2857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9 units</a:t>
                      </a:r>
                    </a:p>
                  </a:txBody>
                  <a:tcPr anchor="b" marL="57150" marR="57150" marT="47625" marB="2857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 units</a:t>
                      </a:r>
                    </a:p>
                  </a:txBody>
                  <a:tcPr anchor="b" marL="57150" marR="57150" marT="47625" marB="2857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2 units</a:t>
                      </a:r>
                    </a:p>
                  </a:txBody>
                  <a:tcPr anchor="b" marL="57150" marR="57150" marT="47625" marB="28575">
                    <a:solidFill>
                      <a:srgbClr val="0B4D2A"/>
                    </a:solidFill>
                  </a:tcPr>
                </a:tc>
              </a:tr>
              <a:tr h="16859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≤ 5 tm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 units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1,2 Bio</a:t>
                      </a:r>
                    </a:p>
                  </a:txBody>
                  <a:tcPr anchor="ctr" marL="57150" marR="57150" marT="47625" marB="28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350 A2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172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Rp 144 Jt cheaper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Palfinger PK 5001, Rp 316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F.lli Ferrari price list</a:t>
                      </a:r>
                    </a:p>
                  </a:txBody>
                  <a:tcPr anchor="ctr" marL="57150" marR="57150" marT="47625" marB="2857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315 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139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350 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172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543 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250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5001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0,80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316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M30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0,33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197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GKB08ZA3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0,05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60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</a:tr>
              <a:tr h="16859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&gt; 5 – 8 tm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168 units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37,9 Bio</a:t>
                      </a:r>
                    </a:p>
                  </a:txBody>
                  <a:tcPr anchor="ctr" marL="57150" marR="57150" marT="47625" marB="28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XCMG SQ3.2ZK2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162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Rp 48 Jt cheaper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Sany Palfinger SPK8500, Rp 209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import data, 2 units</a:t>
                      </a:r>
                    </a:p>
                  </a:txBody>
                  <a:tcPr anchor="ctr" marL="57150" marR="57150" marT="47625" marB="2857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561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0,25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302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563 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194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563R 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259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SPK8500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91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16,8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209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SPK6500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19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2,8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168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8501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34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13,8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482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8500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0,35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420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KSQZ68.2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9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1,3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169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SQ3.2ZK2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0,28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162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V806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8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1,7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252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V808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0,21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254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F65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0,27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316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GKB3.2ZA2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0,14 Bio total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160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57150" marR="57150" marT="4762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2914650" y="2390775"/>
            <a:ext cx="1276350" cy="228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err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74" y="2419350"/>
            <a:ext cx="651102" cy="17145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343400" y="2390775"/>
            <a:ext cx="1108075" cy="228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any_palfi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055" y="2419350"/>
            <a:ext cx="804765" cy="17145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603875" y="2390775"/>
            <a:ext cx="1108075" cy="228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lfin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802" y="2419350"/>
            <a:ext cx="774221" cy="17145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864350" y="2390775"/>
            <a:ext cx="1108075" cy="228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xc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754" y="2419350"/>
            <a:ext cx="785267" cy="17145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124825" y="2390775"/>
            <a:ext cx="1108075" cy="228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amco_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5779" y="2419350"/>
            <a:ext cx="766167" cy="17145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9385300" y="2390775"/>
            <a:ext cx="1108075" cy="228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fass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010" y="2419350"/>
            <a:ext cx="676656" cy="17145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0645775" y="2390775"/>
            <a:ext cx="1108075" cy="228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B4D2A"/>
                </a:solidFill>
                <a:latin typeface="Neue Haas Grotesk Text Pro"/>
              </a:rPr>
              <a:t>Bob-Lift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900" y="6286500"/>
            <a:ext cx="114300" cy="114300"/>
          </a:xfrm>
          <a:prstGeom prst="rect">
            <a:avLst/>
          </a:prstGeom>
          <a:solidFill>
            <a:srgbClr val="E1F9EC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350" y="6276975"/>
            <a:ext cx="4191000" cy="1524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>
                <a:latin typeface="Neue Haas Grotesk Text Pro"/>
              </a:rPr>
              <a:t>Our challenger: cheaper than the tier leader, at most 2 tm smaller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19650" y="6286500"/>
            <a:ext cx="114300" cy="114300"/>
          </a:xfrm>
          <a:prstGeom prst="rect">
            <a:avLst/>
          </a:prstGeom>
          <a:solidFill>
            <a:srgbClr val="FFF7D6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91100" y="6276975"/>
            <a:ext cx="4191000" cy="1524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>
                <a:latin typeface="Neue Haas Grotesk Text Pro"/>
              </a:rPr>
              <a:t>Tier leader (TOP 1 = highest import value in the tier)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" y="6477000"/>
            <a:ext cx="114871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>
                <a:solidFill>
                  <a:srgbClr val="7F7F7F"/>
                </a:solidFill>
                <a:latin typeface="Neue Haas Grotesk Text Pro"/>
              </a:rPr>
              <a:t>Source: Indonesia import records (Crane Market GVW Pairing v11, Noir), Jan 2023 – 14 Aug 2026; F.lli Ferrari price list June 2026 (Rev1), sheet 25.06. Competitor price = average import unit price of the model (total value ÷ total units) × Rp 17.803/USD (JISDOR 23 Sep 2026) × (1 + import duty: 0% China/ACFTA, 5% others) × (1 + PPN 11% + PPh 22 2.5%); crane only, before distributor margin. F.lli Ferrari price = (column K − column I) × (1 − 13.6% TSP GP): crane only, no cargo deck, no install, no warranty; taxes included. Units and amount = import value before tax. Model variants merged (e.g. SPK8500 = SPK8500, A, B). tm class per Application Engineering (rounded max lifting moment). Folding cranes only; Hyva, Zoomlion, grabbers, telescopic cranes and invalid-price records excluded.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