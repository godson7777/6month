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5715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Project Charter/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is the background,</a:t>
              </a:r>
              <a:br>
                <a:rPr lang="en-US" sz="1600" b="1" dirty="0"/>
              </a:br>
              <a:r>
                <a:rPr lang="en-US" sz="1600" b="1" dirty="0"/>
                <a:t>the objective and the benefit?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42900" y="1428750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150" y="1457325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150" y="1704975"/>
            <a:ext cx="561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Folding Crane Market Strategy: one challenger crane for every tm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" y="1914525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150" y="1943100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150" y="2190750"/>
            <a:ext cx="5619750" cy="537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Hyva has stopped making cranes: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102 Hyva cranes (Rp 36,1 Bio) sold in 2023 – 2026 need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imports ~188 folding cranes a year (Rp 100,2 Bio) across all four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2900" y="2775871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150" y="2804446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Objective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" y="3052096"/>
            <a:ext cx="5619750" cy="750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4C: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map all 636 imported folding cranes (Rp 321,8 Bio, 2023 – 2026) by class, brand,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STP: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split into 16 tm classes and find the top 1 model in each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set a cheaper F.lli Ferrari or XCMG challenger per tm class (8 of 16 done)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Sales: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sell 15 cranes by December 2027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2900" y="3850672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150" y="3879247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Scope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150" y="4126897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In: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folding cranes, Light to Heavy; price and specification; imports 2023 – 2026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Out: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telescopic, grabber and forestry cranes; Hyva; Zoomlion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2900" y="4549997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150" y="4578572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KPI / Metric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42900" y="4826222"/>
          <a:ext cx="5810250" cy="723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905000"/>
                <a:gridCol w="2476500"/>
              </a:tblGrid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Units sold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15 cranes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by Dec 2027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Revenue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≈ Rp 6,1 Bio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GP ≈ Rp 0,8 Bio (13,6%)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vs leader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Rp 21 – 625 Jt cheaper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per unit, in 8 of 16 tm classes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Lead time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≤ 14 weeks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stock in Malaysia (TBC)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342900" y="5626322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150" y="5654897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Support Requirements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150" y="5902547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Business Consultant: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leads, customer visits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Marcom: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sales kit, exhibitions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Application Engineering: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tm class, specs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UTPE: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quotation, mounting, install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43650" y="142875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38900" y="145732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Timeframe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43650" y="1704975"/>
            <a:ext cx="1809750" cy="32385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Activity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53400" y="1704975"/>
            <a:ext cx="2339686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93086" y="1704975"/>
            <a:ext cx="1336964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53400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Jun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87641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Jul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21882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Aug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56123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Sep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90364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Oct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824605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Nov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58845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Dec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493086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Q1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27327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Q2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161568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Q3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95809" y="1866900"/>
            <a:ext cx="334241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Q4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43650" y="2028825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Market study (4C)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53400" y="202882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87641" y="202882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21882" y="202882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56123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490364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824605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158845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493086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827327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161568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495809" y="20288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43650" y="2190750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STP &amp; challenger choice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53400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87641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821882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56123" y="21907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490364" y="21907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24605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158845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493086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827327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161568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495809" y="21907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43650" y="2352675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Negotiate F.lli Ferrari &amp; XCMG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153400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487641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21882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56123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490364" y="235267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824605" y="235267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158845" y="235267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93086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827327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161568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495809" y="23526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343650" y="2514600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Sales kit with Marcom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153400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487641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821882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156123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90364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824605" y="251460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158845" y="251460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493086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827327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161568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495809" y="251460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343650" y="2676525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Exhibition &amp; customer visits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153400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487641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821882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156123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90364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24605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158845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493086" y="267652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827327" y="2676525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161568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495809" y="267652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343650" y="2838450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Quotation → PO → delivery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153400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487641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821882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156123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490364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824605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158845" y="2838450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493086" y="28384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827327" y="28384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161568" y="28384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1495809" y="2838450"/>
            <a:ext cx="334241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343650" y="3000375"/>
            <a:ext cx="180975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1">
                <a:solidFill>
                  <a:srgbClr val="0B4D2A"/>
                </a:solidFill>
                <a:latin typeface="Neue Haas Grotesk Text Pro"/>
              </a:rPr>
              <a:t>15 cranes sold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153400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487641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821882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156123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490364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824605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0158845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493086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827327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1161568" y="3000375"/>
            <a:ext cx="334241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495809" y="3000375"/>
            <a:ext cx="334241" cy="161925"/>
          </a:xfrm>
          <a:prstGeom prst="rect">
            <a:avLst/>
          </a:prstGeom>
          <a:solidFill>
            <a:srgbClr val="0B4D2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eue Haas Grotesk Text Pro"/>
              </a:rPr>
              <a:t>★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43650" y="323850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38900" y="326707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Benefit of Project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38900" y="3514725"/>
            <a:ext cx="5295900" cy="750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≈ Rp 6,1 Bio revenue, Rp 0,8 Bio GP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from 15 cranes by end-2027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Replaces Hyva: ~33 cranes a year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get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Customers pay Rp 21 – 625 Jt less per unit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(≈ Rp 2,8 Bio on 15 cranes)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Lead time ≤ 14 weeks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(China / Malaysia) vs 25 – 27 weeks (Italy / Brazil)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343650" y="4313301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38900" y="4341876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Team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438900" y="4589526"/>
            <a:ext cx="123825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Advisor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Owner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Coordinator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Project Lead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Team Member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581900" y="4589526"/>
            <a:ext cx="41529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David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Ceisar Centiaga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Ricardo Tanada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Ignatius Indrawan Sumawinata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Tiberias Krisgaharu Simu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Business Consultant, Application Engineering, Marcom, UTPE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343650" y="5580126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38900" y="5608701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Approval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4365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Lead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34365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4365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34365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365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Tiberias K. Simu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45236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Coordinator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45236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45236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45236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45236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Ignatius Indrawan 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56107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Owner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56107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56107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107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56107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6978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Advisor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66978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66978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66978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66978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Ceisar Centiaga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7849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77849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77849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77849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77849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David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42900" y="6667500"/>
            <a:ext cx="11487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7F7F7F"/>
                </a:solidFill>
                <a:latin typeface="Neue Haas Grotesk Text Pro"/>
              </a:rPr>
              <a:t>Revenue estimate: 15 cranes split over the 8 tm classes we win, in line with their import units; selling price = challenger price ÷ (1 − 13,6% TSP GP). Prices and units from the crane market slides (imports 2023 – 2026, F.lli Ferrari price list June 2026). Lead time per F.lli Ferrari price list; Malaysia stock to be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