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4"/>
  </p:sldMasterIdLst>
  <p:notesMasterIdLst>
    <p:notesMasterId r:id="rId19"/>
  </p:notesMasterIdLst>
  <p:handoutMasterIdLst>
    <p:handoutMasterId r:id="rId20"/>
  </p:handoutMasterIdLst>
  <p:sldIdLst>
    <p:sldId id="155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A54F"/>
    <a:srgbClr val="FFFF00"/>
    <a:srgbClr val="FFFFFF"/>
    <a:srgbClr val="0A7F3F"/>
    <a:srgbClr val="076932"/>
    <a:srgbClr val="A8BA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32" autoAdjust="0"/>
    <p:restoredTop sz="93917" autoAdjust="0"/>
  </p:normalViewPr>
  <p:slideViewPr>
    <p:cSldViewPr snapToGrid="0">
      <p:cViewPr>
        <p:scale>
          <a:sx n="66" d="100"/>
          <a:sy n="66" d="100"/>
        </p:scale>
        <p:origin x="608" y="4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816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2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6053823"/>
            <a:ext cx="11460480" cy="786384"/>
          </a:xfrm>
        </p:spPr>
        <p:txBody>
          <a:bodyPr anchor="b">
            <a:no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196840"/>
            <a:ext cx="11460480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5554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48640"/>
            <a:ext cx="10653578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8F38-94AC-4B28-B69B-662CDAB3677F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" y="1715532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298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6977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6978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86976" y="109728"/>
            <a:ext cx="48463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86976" y="641386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933312F-AC95-D44A-86BE-9B23199F2210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028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88460"/>
            <a:ext cx="4654296" cy="3739896"/>
          </a:xfrm>
        </p:spPr>
        <p:txBody>
          <a:bodyPr anchor="t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8467" y="6400800"/>
            <a:ext cx="1645920" cy="365125"/>
          </a:xfrm>
        </p:spPr>
        <p:txBody>
          <a:bodyPr/>
          <a:lstStyle/>
          <a:p>
            <a:fld id="{9E7AF92B-C70E-0A4E-9DBE-C675E0E5CFF8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00800"/>
            <a:ext cx="265176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017575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943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5032197"/>
            <a:ext cx="10683240" cy="181459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82" y="4184423"/>
            <a:ext cx="5086118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4CFF3B0-895D-60C4-CB96-5BF3CBA345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6289" y="5753627"/>
            <a:ext cx="1005840" cy="100584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382207" y="4184423"/>
            <a:ext cx="3494314" cy="480373"/>
          </a:xfrm>
        </p:spPr>
        <p:txBody>
          <a:bodyPr anchor="t" anchorCtr="0"/>
          <a:lstStyle>
            <a:lvl1pPr>
              <a:lnSpc>
                <a:spcPct val="80000"/>
              </a:lnSpc>
              <a:spcBef>
                <a:spcPts val="0"/>
              </a:spcBef>
              <a:defRPr sz="1400"/>
            </a:lvl1pPr>
          </a:lstStyle>
          <a:p>
            <a:fld id="{423BBD13-E5F0-B14F-99A7-57ED6A0268A1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244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7" y="5660571"/>
            <a:ext cx="9144000" cy="1196890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8217C9D-487D-9CA3-0848-36BD98861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0" y="5942862"/>
            <a:ext cx="2471058" cy="773624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9BEE065B-EAB0-79D1-48A3-D7807B360D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1999" cy="542544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0897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and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5032197"/>
            <a:ext cx="10683240" cy="181459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82" y="4184423"/>
            <a:ext cx="5086118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4CFF3B0-895D-60C4-CB96-5BF3CBA345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6289" y="5753627"/>
            <a:ext cx="1005840" cy="100584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7CCC-4341-C0BA-0887-EAECDEF9BF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81981" y="4184423"/>
            <a:ext cx="3494314" cy="480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8876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098361"/>
            <a:ext cx="7478991" cy="3635797"/>
          </a:xfrm>
        </p:spPr>
        <p:txBody>
          <a:bodyPr anchor="t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173140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51B69-C3BF-944C-A529-BF23B9B0354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708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091983"/>
            <a:ext cx="7876287" cy="3592629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854" y="4854882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20807-064A-8E4B-A41C-02C9BA5FCC44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979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DB571-2B24-BA4A-9049-EA4215FD67D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622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2269717"/>
            <a:ext cx="7772400" cy="4572000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5490DB-50BD-D824-9EFB-809216160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48640"/>
            <a:ext cx="7772400" cy="59436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1780-7FBB-3748-B88F-20A74E2E1CB6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3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14301"/>
            <a:ext cx="7315200" cy="2671562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85750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r="-2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967DE8C-DF56-7404-15E7-77E150B1B4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2466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38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3445" y="1212574"/>
            <a:ext cx="5895374" cy="564488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5321358E-4EAF-C9BD-ABF7-5C2164D213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0168F88-6A7F-7AA8-0B4A-2A06A58A6B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2466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5963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181489"/>
            <a:ext cx="5895374" cy="5675972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D7213002-AAC9-0545-0DF3-75872C41FB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96626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E9C5FDC-0407-40A7-D7F3-BE000CB61B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512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45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63908"/>
            <a:ext cx="8467558" cy="1554480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68C9-D9B3-454D-85A6-8B9AADDA32A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5854" y="2633660"/>
            <a:ext cx="8467558" cy="3689909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4361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13474"/>
            <a:ext cx="5986272" cy="1554480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44383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755579"/>
            <a:ext cx="4412042" cy="40233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F6704D6-1542-E251-88DF-906BEE80B5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4360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711" y="1161288"/>
            <a:ext cx="4663440" cy="155448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34710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34711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34710" y="6400800"/>
            <a:ext cx="1996689" cy="365125"/>
          </a:xfrm>
        </p:spPr>
        <p:txBody>
          <a:bodyPr/>
          <a:lstStyle/>
          <a:p>
            <a:fld id="{186EAB84-8B9F-BB45-859A-B8723199B1EA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8821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" y="182881"/>
            <a:ext cx="7430044" cy="3246120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8788" y="3611882"/>
            <a:ext cx="4120983" cy="3063237"/>
          </a:xfrm>
        </p:spPr>
        <p:txBody>
          <a:bodyPr anchor="b" anchorCtr="0">
            <a:normAutofit/>
          </a:bodyPr>
          <a:lstStyle>
            <a:lvl1pPr marL="0" indent="0" algn="r">
              <a:buFont typeface="+mj-lt"/>
              <a:buNone/>
              <a:defRPr sz="1400"/>
            </a:lvl1pPr>
            <a:lvl2pPr marL="228600" indent="0" algn="r">
              <a:buFont typeface="+mj-lt"/>
              <a:buNone/>
              <a:defRPr sz="1400"/>
            </a:lvl2pPr>
            <a:lvl3pPr marL="457200" indent="0" algn="r">
              <a:buFont typeface="+mj-lt"/>
              <a:buNone/>
              <a:defRPr sz="1400"/>
            </a:lvl3pPr>
            <a:lvl4pPr marL="685800" indent="0" algn="r">
              <a:buFont typeface="+mj-lt"/>
              <a:buNone/>
              <a:defRPr sz="1400"/>
            </a:lvl4pPr>
            <a:lvl5pPr algn="r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3495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452E47-6DDB-EA53-7FB9-2BA726EB77D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805394" y="886048"/>
            <a:ext cx="4120983" cy="5719034"/>
          </a:xfrm>
          <a:blipFill dpi="0" rotWithShape="1">
            <a:blip r:embed="rId2">
              <a:alphaModFix amt="60000"/>
            </a:blip>
            <a:srcRect/>
            <a:stretch>
              <a:fillRect t="-4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DD6C4CC-D005-CA0E-11C2-EC0EC7277C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6309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2385975"/>
            <a:ext cx="4325112" cy="2454796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B9051D-F4ED-4EE6-2F1F-2E67035938D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B0A124A-E73E-874D-AA4C-7EC16078588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B560304-B220-9740-0823-17F13E1DFD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D8939A-F7AC-2C38-E1F0-99EA290DC60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67195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040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2258568"/>
            <a:ext cx="3813048" cy="3557016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6E205-DD57-FBC4-5DED-E99550EF416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A480AC4-DAB6-D74A-AC36-6669282A20D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B512B-D856-A4D7-B029-66A5D5390F5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19738" y="110364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0A97A-5A12-4677-BCBD-5145968555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5804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537853"/>
            <a:ext cx="4145582" cy="4638825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01A47F-D821-7876-3381-2937FE3E547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A3531C4-A97A-4D42-9B1F-1AD72B1B677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C02357-BEAA-E8CA-E970-6C1EFE4BC11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1973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79E63C-8932-DE7E-9CD9-7BDEC967CCF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328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877456"/>
            <a:ext cx="4142232" cy="4940661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790955-8D95-9784-B4EA-C7C09D75A0B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AE0B33F-6CFB-4143-B242-11B4795772A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0F7A256-B5DD-AEAE-EEC2-A058A7A3A1C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22912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95F3F2-351A-F793-9D92-1C0F2F54D0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7278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03249"/>
            <a:ext cx="3494314" cy="571963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A45F9-D752-7EB2-0FD4-546577BB91A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99F4F94-C660-894A-AD11-4D48451EE4A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B751DE-CFA1-0605-E728-7DD2ABD975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50426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0E780-F825-EA94-5452-0063FF7357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903249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2704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91669"/>
            <a:ext cx="11946698" cy="1463040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0" y="2103120"/>
            <a:ext cx="9038906" cy="40611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A45F9-D752-7EB2-0FD4-546577BB91A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9035" y="6400800"/>
            <a:ext cx="2103120" cy="365125"/>
          </a:xfrm>
        </p:spPr>
        <p:txBody>
          <a:bodyPr/>
          <a:lstStyle/>
          <a:p>
            <a:fld id="{B3357DF9-7077-594C-A5D7-CD1BEEE572C7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B751DE-CFA1-0605-E728-7DD2ABD975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01751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0E780-F825-EA94-5452-0063FF7357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8632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77728"/>
            <a:ext cx="7424413" cy="1925391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" y="2103120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8287D3-A6CF-2D6B-CFA8-43427B98AF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04ED7D00-7861-864B-9EA9-73B29DD38D3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33E464-5FDA-8579-C0D4-F4D835A4C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67194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BCD62E-41B6-3326-68D7-BB473795F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2348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10653578" cy="1132258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036904-F662-81D4-EC3E-98A339AB5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DB8F-F201-0541-B839-CC57CEE946B0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9F62FF-05FD-17D2-94BE-8377FF981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1AA94D-AED3-3863-7A5D-E3F60EBB6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" y="2103120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133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5810" y="947244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48136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45810" y="2137464"/>
            <a:ext cx="6071616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5178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0840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7160" y="109728"/>
            <a:ext cx="3494314" cy="365125"/>
          </a:xfrm>
        </p:spPr>
        <p:txBody>
          <a:bodyPr/>
          <a:lstStyle/>
          <a:p>
            <a:fld id="{8609EDE3-16BB-DE4B-870B-675176E3007C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109728"/>
            <a:ext cx="2805405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42159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18856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4585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3551" y="829703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163550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63551" y="1890407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3749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799723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7160" y="109728"/>
            <a:ext cx="3494314" cy="365125"/>
          </a:xfrm>
        </p:spPr>
        <p:txBody>
          <a:bodyPr/>
          <a:lstStyle/>
          <a:p>
            <a:fld id="{6C612A5F-8D0C-3143-A058-03C06BC96C0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109728"/>
            <a:ext cx="2805405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510999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1860427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2644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8674" y="83916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4085" y="109728"/>
            <a:ext cx="47548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38611" y="2467805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867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63127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109728"/>
            <a:ext cx="466344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492689"/>
            <a:ext cx="4360863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5798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7932" y="814714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7931" y="109728"/>
            <a:ext cx="48463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21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47932" y="1875418"/>
            <a:ext cx="4512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5316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799723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109728"/>
            <a:ext cx="5029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51089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1860427"/>
            <a:ext cx="4572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3242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8483" y="844839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728482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5521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28610" y="2474401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67000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44839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" y="109728"/>
            <a:ext cx="39319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83946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474401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1324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5914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85913" y="109728"/>
            <a:ext cx="365760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85914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91974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" y="484081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484081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15407-9413-1DA9-E036-72552D7812A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07B60899-4452-5448-8F49-02B73F47499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8869B91-F1A8-E5E1-0E1C-4AA458DBB26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4923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D6E046-2804-51F2-8BA7-5C8B18490A5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8307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3976342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3976342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00800"/>
            <a:ext cx="3494314" cy="365125"/>
          </a:xfrm>
        </p:spPr>
        <p:txBody>
          <a:bodyPr/>
          <a:lstStyle/>
          <a:p>
            <a:fld id="{CF77C072-721E-994F-9CE3-2EF9DBBB4254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7763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212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3389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3D91B2-1947-F009-53AF-CA2BE8769C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ED1282-C03D-8746-9C7A-3F9A903CE39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5FC093-7A59-0C22-FCDE-3B3F3C844F5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77639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2E3CA5-C843-86E9-EDAF-8E8D75DC76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914400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429000"/>
            <a:ext cx="12192000" cy="3429000"/>
          </a:xfrm>
          <a:blipFill dpi="0" rotWithShape="1">
            <a:blip r:embed="rId2">
              <a:alphaModFix amt="60000"/>
            </a:blip>
            <a:srcRect/>
            <a:stretch>
              <a:fillRect t="-1018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3337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97280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2396A-BC37-4B4A-B91C-8D02C6E635B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55184" y="109728"/>
            <a:ext cx="493776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1844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55185" y="2181225"/>
            <a:ext cx="425196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40196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05840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C3C03-72B8-044E-B6B9-E9070EBBFFF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794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578563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52795" y="1005840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13247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3657603" cy="1545336"/>
          </a:xfrm>
        </p:spPr>
        <p:txBody>
          <a:bodyPr anchor="b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73AF6-D88F-1D44-BBB9-26080004ADD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88344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581197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88345" y="914400"/>
            <a:ext cx="6561138" cy="575945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47737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573031"/>
            <a:ext cx="5391190" cy="2864350"/>
          </a:xfrm>
        </p:spPr>
        <p:txBody>
          <a:bodyPr anchor="b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BF06B69-C768-FE26-D245-736BCC84A01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DEB1EBB-CFF7-4B44-9AEA-316A6F2E08D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083D621-6486-4054-4D8A-AAF79D4E89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967194" y="110364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F998961-73A4-CFF8-87FC-EAA4BB68EA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67195" y="1463040"/>
            <a:ext cx="5633215" cy="2864350"/>
          </a:xfrm>
        </p:spPr>
        <p:txBody>
          <a:bodyPr anchor="b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E716C4BF-504C-57EB-F890-EB45BFD22B4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4509435"/>
            <a:ext cx="12192000" cy="2348564"/>
          </a:xfrm>
          <a:blipFill dpi="0" rotWithShape="1">
            <a:blip r:embed="rId2">
              <a:alphaModFix amt="60000"/>
            </a:blip>
            <a:srcRect/>
            <a:stretch>
              <a:fillRect t="-207" b="-2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90840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2011680"/>
            <a:ext cx="5391190" cy="4297680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1730326"/>
          </a:xfrm>
          <a:blipFill dpi="0" rotWithShape="1">
            <a:blip r:embed="rId2">
              <a:alphaModFix amt="60000"/>
            </a:blip>
            <a:srcRect/>
            <a:stretch>
              <a:fillRect b="-1213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98946" y="2011680"/>
            <a:ext cx="5669280" cy="4297680"/>
          </a:xfrm>
        </p:spPr>
        <p:txBody>
          <a:bodyPr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BF06B69-C768-FE26-D245-736BCC84A01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4DCD1FD3-D483-0B4C-B010-EBEC885068C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083D621-6486-4054-4D8A-AAF79D4E89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998463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F998961-73A4-CFF8-87FC-EAA4BB68EA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68539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" y="171513"/>
            <a:ext cx="6400800" cy="1482005"/>
          </a:xfr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6" y="2606040"/>
            <a:ext cx="6400800" cy="3999042"/>
          </a:xfrm>
        </p:spPr>
        <p:txBody>
          <a:bodyPr/>
          <a:lstStyle>
            <a:lvl1pPr>
              <a:spcBef>
                <a:spcPts val="1000"/>
              </a:spcBef>
              <a:defRPr/>
            </a:lvl1pPr>
            <a:lvl2pPr>
              <a:spcBef>
                <a:spcPts val="1000"/>
              </a:spcBef>
              <a:defRPr/>
            </a:lvl2pPr>
            <a:lvl3pPr>
              <a:spcBef>
                <a:spcPts val="1000"/>
              </a:spcBef>
              <a:defRPr/>
            </a:lvl3pPr>
            <a:lvl4pPr>
              <a:spcBef>
                <a:spcPts val="1000"/>
              </a:spcBef>
              <a:defRPr/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91214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1457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92EDDB5-4345-5104-646A-B8C10FB3A7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05393" y="843539"/>
            <a:ext cx="4120983" cy="5761544"/>
          </a:xfrm>
          <a:blipFill dpi="0" rotWithShape="1">
            <a:blip r:embed="rId2">
              <a:alphaModFix amt="60000"/>
            </a:blip>
            <a:srcRect/>
            <a:stretch>
              <a:fillRect l="-368" r="-58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7992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Content with Pictur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840"/>
            <a:ext cx="3595634" cy="221231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FCA69-54DB-5C48-88C2-5A1E30E9D7C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325" y="3291840"/>
            <a:ext cx="3585586" cy="3434638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16036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432770" y="83210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53748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220320"/>
            <a:ext cx="5897880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5756029"/>
            <a:ext cx="1005840" cy="100584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1E418-5963-9B4C-BB64-1F8A14EB1F3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854512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1091854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096611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855230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9D39EB1-AC22-29FA-3FA6-98276FD515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1192308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6747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086664"/>
            <a:ext cx="7525512" cy="1545336"/>
          </a:xfrm>
        </p:spPr>
        <p:txBody>
          <a:bodyPr anchor="b" anchorCtr="0">
            <a:normAutofit/>
          </a:bodyPr>
          <a:lstStyle>
            <a:lvl1pPr algn="l">
              <a:lnSpc>
                <a:spcPct val="11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8F866-AE4F-0E4D-9EC5-A83A47A4ADB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855232"/>
            <a:ext cx="10543032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9696284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76" y="1106243"/>
            <a:ext cx="4107359" cy="3760706"/>
          </a:xfrm>
        </p:spPr>
        <p:txBody>
          <a:bodyPr anchor="b" anchorCtr="0">
            <a:normAutofit/>
          </a:bodyPr>
          <a:lstStyle>
            <a:lvl1pPr algn="l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E84C63-8906-E024-96D3-CABBCE341D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235399" y="5899743"/>
            <a:ext cx="731520" cy="7315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2260C-9D5C-9E4C-939A-D2CE2AE97F78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4475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106243"/>
            <a:ext cx="5289168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620633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2011680"/>
            <a:ext cx="6952254" cy="2194560"/>
          </a:xfrm>
        </p:spPr>
        <p:txBody>
          <a:bodyPr anchor="t" anchorCtr="0">
            <a:normAutofit/>
          </a:bodyPr>
          <a:lstStyle>
            <a:lvl1pPr algn="l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23030"/>
            <a:ext cx="10961546" cy="1920240"/>
          </a:xfrm>
        </p:spPr>
        <p:txBody>
          <a:bodyPr anchor="t" anchorCtr="0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8E1EDB1-0050-E837-58E0-64C3650484D7}"/>
              </a:ext>
            </a:extLst>
          </p:cNvPr>
          <p:cNvSpPr/>
          <p:nvPr userDrawn="1"/>
        </p:nvSpPr>
        <p:spPr>
          <a:xfrm>
            <a:off x="7277270" y="194327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77A1D8-5F01-6F9E-74AD-AE50D4B097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168175"/>
            <a:ext cx="1005840" cy="100584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34234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568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291877"/>
            <a:ext cx="7525512" cy="92604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FCDFFE1-D928-0CE3-D1C8-CCF55609A7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977157"/>
            <a:ext cx="1005840" cy="100584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484" y="2134134"/>
            <a:ext cx="10543032" cy="2589733"/>
          </a:xfrm>
        </p:spPr>
        <p:txBody>
          <a:bodyPr anchor="b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5226577-F54C-EB86-D0A7-64DAFA9E69B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9035" y="6400800"/>
            <a:ext cx="3017520" cy="365125"/>
          </a:xfrm>
        </p:spPr>
        <p:txBody>
          <a:bodyPr/>
          <a:lstStyle/>
          <a:p>
            <a:fld id="{4C13F211-A6FB-7C4B-8E5B-EB185A8DB8C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8C91051-FC5E-3F4E-51AF-3EBC57B4BD0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444240" y="6400800"/>
            <a:ext cx="5303520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9E1B41D-78D5-5CD6-67DF-4B11B9453D0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689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5760720"/>
            <a:ext cx="1005840" cy="100584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10F998E-EA6E-4E43-1727-F5C608095A8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07C8458-3938-4F4D-9D3F-15FC4ECFFE2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AA6E616-8EC3-D9A1-4DFB-5BDEBC779B3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FECFCDD-8971-579B-777D-53A85E6F1F7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188720"/>
            <a:ext cx="8266176" cy="560527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494136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2651760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B8B884C-311F-A563-377C-6EBE47822774}"/>
              </a:ext>
            </a:extLst>
          </p:cNvPr>
          <p:cNvSpPr/>
          <p:nvPr userDrawn="1"/>
        </p:nvSpPr>
        <p:spPr>
          <a:xfrm>
            <a:off x="7277270" y="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2F09180-2668-03E9-3E5B-E24359E2B7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4425163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65212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A9F5324-9AB0-314B-31EA-61D0699504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5753627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62912" y="626364"/>
            <a:ext cx="8266176" cy="5605272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484804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457200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760720"/>
            <a:ext cx="8970264" cy="466344"/>
          </a:xfrm>
        </p:spPr>
        <p:txBody>
          <a:bodyPr anchor="ctr">
            <a:normAutofit/>
          </a:bodyPr>
          <a:lstStyle>
            <a:lvl1pPr algn="ctr"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60020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90757037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884CE384-B29D-F2CE-AAA2-9F696214E5C3}"/>
              </a:ext>
            </a:extLst>
          </p:cNvPr>
          <p:cNvSpPr/>
          <p:nvPr userDrawn="1"/>
        </p:nvSpPr>
        <p:spPr>
          <a:xfrm>
            <a:off x="7277270" y="194327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E0946D8-30A5-B84D-F1D0-0DB66CAABB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168175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" y="6339504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200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88122"/>
            <a:ext cx="9198864" cy="329184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8892156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1BC50BE-AB5B-8BDE-7DBB-C903EDD6F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33758" y="230006"/>
            <a:ext cx="731520" cy="731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4548804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" y="5284269"/>
            <a:ext cx="7462853" cy="1443156"/>
          </a:xfrm>
        </p:spPr>
        <p:txBody>
          <a:bodyPr anchor="b" anchorCtr="0">
            <a:normAutofit/>
          </a:bodyPr>
          <a:lstStyle>
            <a:lvl1pPr>
              <a:lnSpc>
                <a:spcPct val="120000"/>
              </a:lnSpc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79177"/>
            <a:ext cx="7490285" cy="502920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0959" y="6400800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10057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2866" y="5117083"/>
            <a:ext cx="6053559" cy="1618489"/>
          </a:xfrm>
        </p:spPr>
        <p:txBody>
          <a:bodyPr anchor="b" anchorCtr="0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B90859F-C81D-2CBA-0268-040BF6276E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22129D-A009-1048-F4CC-0DD22291EAA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11AB8E-654D-449F-FE27-9EE3329DE0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67194" y="1040130"/>
            <a:ext cx="6089232" cy="3694174"/>
          </a:xfrm>
        </p:spPr>
        <p:txBody>
          <a:bodyPr anchor="b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53089358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058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AADBF-0503-AC4E-BF4F-A2D8EFDE8E4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728" y="228600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0" y="228600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3004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3695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835E-E029-C74A-A8D5-72AFFFEA083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" y="208680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75120" y="208680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728" y="2677160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0" y="267716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9575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840"/>
            <a:ext cx="10653578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07084-E3CF-AE41-BB02-D224862A000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87136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39C1-122A-624B-A21F-3BF663742DA5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85002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205"/>
            <a:ext cx="3595634" cy="1757505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7D5EB-6120-1A42-AF3F-8CC049FEDDDD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3470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325" y="2762710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1005840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6749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00" y="1181490"/>
            <a:ext cx="5986399" cy="567651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37160" y="182880"/>
            <a:ext cx="4572000" cy="7315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08FD5A0C-3984-4E77-6D88-7812D8F2B1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96626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4D56FA5-6B2C-25FC-5C75-51C0FD7A08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512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494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847088"/>
            <a:ext cx="7342307" cy="1133856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E0BBB-D56F-1E45-84FD-A9025FF37F5C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728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945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627318"/>
            <a:ext cx="8430767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CA7F-D03C-0042-8A7B-E9EA80DFAE4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2203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2821B14-72A5-C6D7-EF14-887B89D040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235399" y="5899743"/>
            <a:ext cx="731520" cy="731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3566159"/>
            <a:ext cx="5517349" cy="3130063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1F1A7-9EF6-7D4F-AE10-1D541A371837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71033" y="3566160"/>
            <a:ext cx="5024070" cy="2190297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629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9035" y="110364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E2D2F0CB-8BED-3748-8B15-758A52C2D13F}" type="datetime1">
              <a:rPr lang="en-US" smtClean="0"/>
              <a:pPr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967194" y="110364"/>
            <a:ext cx="5303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7219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653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851" r:id="rId2"/>
    <p:sldLayoutId id="2147483784" r:id="rId3"/>
    <p:sldLayoutId id="2147483785" r:id="rId4"/>
    <p:sldLayoutId id="2147483831" r:id="rId5"/>
    <p:sldLayoutId id="2147483837" r:id="rId6"/>
    <p:sldLayoutId id="2147483852" r:id="rId7"/>
    <p:sldLayoutId id="2147483786" r:id="rId8"/>
    <p:sldLayoutId id="2147483787" r:id="rId9"/>
    <p:sldLayoutId id="2147483788" r:id="rId10"/>
    <p:sldLayoutId id="2147483789" r:id="rId11"/>
    <p:sldLayoutId id="2147483832" r:id="rId12"/>
    <p:sldLayoutId id="2147483835" r:id="rId13"/>
    <p:sldLayoutId id="2147483836" r:id="rId14"/>
    <p:sldLayoutId id="2147483790" r:id="rId15"/>
    <p:sldLayoutId id="2147483838" r:id="rId16"/>
    <p:sldLayoutId id="2147483791" r:id="rId17"/>
    <p:sldLayoutId id="2147483839" r:id="rId18"/>
    <p:sldLayoutId id="2147483792" r:id="rId19"/>
    <p:sldLayoutId id="2147483793" r:id="rId20"/>
    <p:sldLayoutId id="2147483794" r:id="rId21"/>
    <p:sldLayoutId id="2147483795" r:id="rId22"/>
    <p:sldLayoutId id="2147483796" r:id="rId23"/>
    <p:sldLayoutId id="2147483843" r:id="rId24"/>
    <p:sldLayoutId id="2147483833" r:id="rId25"/>
    <p:sldLayoutId id="2147483834" r:id="rId26"/>
    <p:sldLayoutId id="2147483797" r:id="rId27"/>
    <p:sldLayoutId id="2147483798" r:id="rId28"/>
    <p:sldLayoutId id="2147483799" r:id="rId29"/>
    <p:sldLayoutId id="2147483800" r:id="rId30"/>
    <p:sldLayoutId id="2147483801" r:id="rId31"/>
    <p:sldLayoutId id="2147483802" r:id="rId32"/>
    <p:sldLayoutId id="2147483803" r:id="rId33"/>
    <p:sldLayoutId id="2147483804" r:id="rId34"/>
    <p:sldLayoutId id="2147483805" r:id="rId35"/>
    <p:sldLayoutId id="2147483806" r:id="rId36"/>
    <p:sldLayoutId id="2147483807" r:id="rId37"/>
    <p:sldLayoutId id="2147483808" r:id="rId38"/>
    <p:sldLayoutId id="2147483809" r:id="rId39"/>
    <p:sldLayoutId id="2147483810" r:id="rId40"/>
    <p:sldLayoutId id="2147483811" r:id="rId41"/>
    <p:sldLayoutId id="2147483812" r:id="rId42"/>
    <p:sldLayoutId id="2147483813" r:id="rId43"/>
    <p:sldLayoutId id="2147483840" r:id="rId44"/>
    <p:sldLayoutId id="2147483841" r:id="rId45"/>
    <p:sldLayoutId id="2147483842" r:id="rId46"/>
    <p:sldLayoutId id="2147483828" r:id="rId47"/>
    <p:sldLayoutId id="2147483814" r:id="rId48"/>
    <p:sldLayoutId id="2147483815" r:id="rId49"/>
    <p:sldLayoutId id="2147483816" r:id="rId50"/>
    <p:sldLayoutId id="2147483844" r:id="rId51"/>
    <p:sldLayoutId id="2147483845" r:id="rId52"/>
    <p:sldLayoutId id="2147483846" r:id="rId53"/>
    <p:sldLayoutId id="2147483817" r:id="rId54"/>
    <p:sldLayoutId id="2147483818" r:id="rId55"/>
    <p:sldLayoutId id="2147483819" r:id="rId56"/>
    <p:sldLayoutId id="2147483820" r:id="rId57"/>
    <p:sldLayoutId id="2147483821" r:id="rId58"/>
    <p:sldLayoutId id="2147483822" r:id="rId59"/>
    <p:sldLayoutId id="2147483847" r:id="rId60"/>
    <p:sldLayoutId id="2147483848" r:id="rId61"/>
    <p:sldLayoutId id="2147483823" r:id="rId62"/>
    <p:sldLayoutId id="2147483824" r:id="rId63"/>
    <p:sldLayoutId id="2147483825" r:id="rId64"/>
    <p:sldLayoutId id="2147483826" r:id="rId65"/>
    <p:sldLayoutId id="2147483827" r:id="rId66"/>
    <p:sldLayoutId id="2147483850" r:id="rId67"/>
    <p:sldLayoutId id="2147483829" r:id="rId68"/>
    <p:sldLayoutId id="2147483830" r:id="rId69"/>
    <p:sldLayoutId id="2147483849" r:id="rId70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76B15-A4D5-FFC2-AE89-45E8AE6FA5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FAE89-840D-93E2-7D09-E19BA698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4EBFACD-6414-47C6-7806-92EA476F0A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3C3BBAC-C99C-AF4A-44AC-FEF861BC8EBA}"/>
              </a:ext>
            </a:extLst>
          </p:cNvPr>
          <p:cNvGrpSpPr/>
          <p:nvPr/>
        </p:nvGrpSpPr>
        <p:grpSpPr>
          <a:xfrm>
            <a:off x="347225" y="685795"/>
            <a:ext cx="11482864" cy="587067"/>
            <a:chOff x="347225" y="685795"/>
            <a:chExt cx="11482864" cy="58706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7634400-8CFD-D643-2E0B-72A4487841A9}"/>
                </a:ext>
              </a:extLst>
            </p:cNvPr>
            <p:cNvSpPr txBox="1"/>
            <p:nvPr/>
          </p:nvSpPr>
          <p:spPr>
            <a:xfrm>
              <a:off x="347225" y="688087"/>
              <a:ext cx="571500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/>
                <a:t>Project Charter/</a:t>
              </a:r>
              <a:endParaRPr lang="en-ID" sz="3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7AF5FE4-A01D-D515-E40B-38F7DC149439}"/>
                </a:ext>
              </a:extLst>
            </p:cNvPr>
            <p:cNvSpPr txBox="1"/>
            <p:nvPr/>
          </p:nvSpPr>
          <p:spPr>
            <a:xfrm>
              <a:off x="8572500" y="685795"/>
              <a:ext cx="325755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/>
                <a:t>What is the background,</a:t>
              </a:r>
              <a:br>
                <a:rPr lang="en-US" sz="1600" b="1" dirty="0"/>
              </a:br>
              <a:r>
                <a:rPr lang="en-US" sz="1600" b="1" dirty="0"/>
                <a:t>the objective and the benefit?</a:t>
              </a:r>
              <a:br>
                <a:rPr lang="en-US" sz="1600" b="1" dirty="0"/>
              </a:br>
              <a:endParaRPr lang="en-ID" sz="1600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5CDC68-7532-D4C9-6F20-CA25B11A8859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342900" y="1428750"/>
            <a:ext cx="5810250" cy="228600"/>
          </a:xfrm>
          <a:prstGeom prst="rect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150" y="1457325"/>
            <a:ext cx="561975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Neue Haas Grotesk Text Pro"/>
              </a:rPr>
              <a:t>Project name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150" y="1704975"/>
            <a:ext cx="56197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eue Haas Grotesk Text Pro"/>
              </a:rPr>
              <a:t>Indonesia Folding Crane Market Strategy: one challenger crane for every tm class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2900" y="1914525"/>
            <a:ext cx="5810250" cy="228600"/>
          </a:xfrm>
          <a:prstGeom prst="rect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150" y="1943100"/>
            <a:ext cx="561975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Neue Haas Grotesk Text Pro"/>
              </a:rPr>
              <a:t>Background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150" y="2190750"/>
            <a:ext cx="5619750" cy="537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E9E57"/>
                </a:solidFill>
                <a:latin typeface="Neue Haas Grotesk Text Pro"/>
              </a:rPr>
              <a:t>•  </a:t>
            </a:r>
            <a:r>
              <a:rPr sz="1050" b="1">
                <a:solidFill>
                  <a:srgbClr val="000000"/>
                </a:solidFill>
                <a:latin typeface="Neue Haas Grotesk Text Pro"/>
              </a:rPr>
              <a:t>Hyva has stopped making cranes: </a:t>
            </a:r>
            <a:r>
              <a:rPr sz="1050" b="0">
                <a:solidFill>
                  <a:srgbClr val="000000"/>
                </a:solidFill>
                <a:latin typeface="Neue Haas Grotesk Text Pro"/>
              </a:rPr>
              <a:t>102 Hyva cranes (Rp 36,1 Bio) sold in 2023 – 2026 need a new brand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E9E57"/>
                </a:solidFill>
                <a:latin typeface="Neue Haas Grotesk Text Pro"/>
              </a:rPr>
              <a:t>•  </a:t>
            </a:r>
            <a:r>
              <a:rPr sz="1050" b="0">
                <a:solidFill>
                  <a:srgbClr val="000000"/>
                </a:solidFill>
                <a:latin typeface="Neue Haas Grotesk Text Pro"/>
              </a:rPr>
              <a:t>Indonesia imports ~188 folding cranes a year (Rp 100,2 Bio) across all four classes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2900" y="2775871"/>
            <a:ext cx="5810250" cy="228600"/>
          </a:xfrm>
          <a:prstGeom prst="rect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150" y="2804446"/>
            <a:ext cx="561975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Neue Haas Grotesk Text Pro"/>
              </a:rPr>
              <a:t>Objective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150" y="3052096"/>
            <a:ext cx="56197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4D2A"/>
                </a:solidFill>
                <a:latin typeface="Neue Haas Grotesk Text Pro"/>
              </a:rPr>
              <a:t>Sell 15 folding cranes by December 2027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150" y="3280696"/>
            <a:ext cx="5619750" cy="5632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E9E57"/>
                </a:solidFill>
                <a:latin typeface="Neue Haas Grotesk Text Pro"/>
              </a:rPr>
              <a:t>•  </a:t>
            </a:r>
            <a:r>
              <a:rPr sz="1050" b="1">
                <a:solidFill>
                  <a:srgbClr val="000000"/>
                </a:solidFill>
                <a:latin typeface="Neue Haas Grotesk Text Pro"/>
              </a:rPr>
              <a:t>4C: </a:t>
            </a:r>
            <a:r>
              <a:rPr sz="1050" b="0">
                <a:solidFill>
                  <a:srgbClr val="000000"/>
                </a:solidFill>
                <a:latin typeface="Neue Haas Grotesk Text Pro"/>
              </a:rPr>
              <a:t>map all 636 imported folding cranes (Rp 321,8 Bio, 2023 – 2026) by class, brand, model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E9E57"/>
                </a:solidFill>
                <a:latin typeface="Neue Haas Grotesk Text Pro"/>
              </a:rPr>
              <a:t>•  </a:t>
            </a:r>
            <a:r>
              <a:rPr sz="1050" b="1">
                <a:solidFill>
                  <a:srgbClr val="000000"/>
                </a:solidFill>
                <a:latin typeface="Neue Haas Grotesk Text Pro"/>
              </a:rPr>
              <a:t>STP: </a:t>
            </a:r>
            <a:r>
              <a:rPr sz="1050" b="0">
                <a:solidFill>
                  <a:srgbClr val="000000"/>
                </a:solidFill>
                <a:latin typeface="Neue Haas Grotesk Text Pro"/>
              </a:rPr>
              <a:t>split into 16 tm classes and find the top 1 model in each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E9E57"/>
                </a:solidFill>
                <a:latin typeface="Neue Haas Grotesk Text Pro"/>
              </a:rPr>
              <a:t>•  </a:t>
            </a:r>
            <a:r>
              <a:rPr sz="1050" b="1">
                <a:solidFill>
                  <a:srgbClr val="000000"/>
                </a:solidFill>
                <a:latin typeface="Neue Haas Grotesk Text Pro"/>
              </a:rPr>
              <a:t>4P: </a:t>
            </a:r>
            <a:r>
              <a:rPr sz="1050" b="0">
                <a:solidFill>
                  <a:srgbClr val="000000"/>
                </a:solidFill>
                <a:latin typeface="Neue Haas Grotesk Text Pro"/>
              </a:rPr>
              <a:t>set a cheaper F.lli Ferrari or XCMG challenger per tm class (8 of 16 done)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2900" y="3891534"/>
            <a:ext cx="5810250" cy="228600"/>
          </a:xfrm>
          <a:prstGeom prst="rect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150" y="3920109"/>
            <a:ext cx="561975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Neue Haas Grotesk Text Pro"/>
              </a:rPr>
              <a:t>Project Scope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8150" y="4167759"/>
            <a:ext cx="5619750" cy="375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E9E57"/>
                </a:solidFill>
                <a:latin typeface="Neue Haas Grotesk Text Pro"/>
              </a:rPr>
              <a:t>•  </a:t>
            </a:r>
            <a:r>
              <a:rPr sz="1050" b="1">
                <a:solidFill>
                  <a:srgbClr val="000000"/>
                </a:solidFill>
                <a:latin typeface="Neue Haas Grotesk Text Pro"/>
              </a:rPr>
              <a:t>In: </a:t>
            </a:r>
            <a:r>
              <a:rPr sz="1050" b="0">
                <a:solidFill>
                  <a:srgbClr val="000000"/>
                </a:solidFill>
                <a:latin typeface="Neue Haas Grotesk Text Pro"/>
              </a:rPr>
              <a:t>folding cranes, Light to Heavy; price and specification; imports 2023 – 2026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E9E57"/>
                </a:solidFill>
                <a:latin typeface="Neue Haas Grotesk Text Pro"/>
              </a:rPr>
              <a:t>•  </a:t>
            </a:r>
            <a:r>
              <a:rPr sz="1050" b="1">
                <a:solidFill>
                  <a:srgbClr val="000000"/>
                </a:solidFill>
                <a:latin typeface="Neue Haas Grotesk Text Pro"/>
              </a:rPr>
              <a:t>Out: </a:t>
            </a:r>
            <a:r>
              <a:rPr sz="1050" b="0">
                <a:solidFill>
                  <a:srgbClr val="000000"/>
                </a:solidFill>
                <a:latin typeface="Neue Haas Grotesk Text Pro"/>
              </a:rPr>
              <a:t>telescopic, grabber and forestry cranes; Hyva; Zoomlion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2900" y="4590860"/>
            <a:ext cx="5810250" cy="228600"/>
          </a:xfrm>
          <a:prstGeom prst="rect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8150" y="4619434"/>
            <a:ext cx="561975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Neue Haas Grotesk Text Pro"/>
              </a:rPr>
              <a:t>KPI / Metric</a:t>
            </a:r>
          </a:p>
        </p:txBody>
      </p:sp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342900" y="4867084"/>
          <a:ext cx="5810250" cy="723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750"/>
                <a:gridCol w="1905000"/>
                <a:gridCol w="2476500"/>
              </a:tblGrid>
              <a:tr h="18097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Units sold</a:t>
                      </a:r>
                    </a:p>
                  </a:txBody>
                  <a:tcPr anchor="ctr" marL="762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4D2A"/>
                          </a:solidFill>
                          <a:latin typeface="Neue Haas Grotesk Text Pro"/>
                        </a:rPr>
                        <a:t>15 cranes</a:t>
                      </a:r>
                    </a:p>
                  </a:txBody>
                  <a:tcPr anchor="ctr" marL="76200" marT="0" marB="0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by Dec 2027</a:t>
                      </a:r>
                    </a:p>
                  </a:txBody>
                  <a:tcPr anchor="ctr" marL="76200" marT="0" marB="0">
                    <a:solidFill>
                      <a:srgbClr val="FFFFFF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Revenue</a:t>
                      </a:r>
                    </a:p>
                  </a:txBody>
                  <a:tcPr anchor="ctr" marL="762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4D2A"/>
                          </a:solidFill>
                          <a:latin typeface="Neue Haas Grotesk Text Pro"/>
                        </a:rPr>
                        <a:t>≈ Rp 14,1 Bio</a:t>
                      </a:r>
                    </a:p>
                  </a:txBody>
                  <a:tcPr anchor="ctr" marL="76200" marT="0" marB="0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GP ≈ Rp 5,0 Bio (35%)</a:t>
                      </a:r>
                    </a:p>
                  </a:txBody>
                  <a:tcPr anchor="ctr" marL="76200" marT="0" marB="0">
                    <a:solidFill>
                      <a:srgbClr val="FFFFFF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Cost vs leader</a:t>
                      </a:r>
                    </a:p>
                  </a:txBody>
                  <a:tcPr anchor="ctr" marL="762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4D2A"/>
                          </a:solidFill>
                          <a:latin typeface="Neue Haas Grotesk Text Pro"/>
                        </a:rPr>
                        <a:t>Rp 21 – 625 Jt lower</a:t>
                      </a:r>
                    </a:p>
                  </a:txBody>
                  <a:tcPr anchor="ctr" marL="76200" marT="0" marB="0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per unit, in 8 of 16 tm classes</a:t>
                      </a:r>
                    </a:p>
                  </a:txBody>
                  <a:tcPr anchor="ctr" marL="76200" marT="0" marB="0">
                    <a:solidFill>
                      <a:srgbClr val="FFFFFF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Lead time</a:t>
                      </a:r>
                    </a:p>
                  </a:txBody>
                  <a:tcPr anchor="ctr" marL="762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4D2A"/>
                          </a:solidFill>
                          <a:latin typeface="Neue Haas Grotesk Text Pro"/>
                        </a:rPr>
                        <a:t>≤ 14 weeks</a:t>
                      </a:r>
                    </a:p>
                  </a:txBody>
                  <a:tcPr anchor="ctr" marL="76200" marT="0" marB="0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stock in Malaysia (TBC)</a:t>
                      </a:r>
                    </a:p>
                  </a:txBody>
                  <a:tcPr anchor="ctr" marL="762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2" name="Rectangle 51"/>
          <p:cNvSpPr/>
          <p:nvPr/>
        </p:nvSpPr>
        <p:spPr>
          <a:xfrm>
            <a:off x="342900" y="5667184"/>
            <a:ext cx="5810250" cy="228600"/>
          </a:xfrm>
          <a:prstGeom prst="rect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8150" y="5695760"/>
            <a:ext cx="561975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Neue Haas Grotesk Text Pro"/>
              </a:rPr>
              <a:t>Support Requirements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8150" y="5943410"/>
            <a:ext cx="5619750" cy="375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E9E57"/>
                </a:solidFill>
                <a:latin typeface="Neue Haas Grotesk Text Pro"/>
              </a:rPr>
              <a:t>•  </a:t>
            </a:r>
            <a:r>
              <a:rPr sz="1050" b="1">
                <a:solidFill>
                  <a:srgbClr val="000000"/>
                </a:solidFill>
                <a:latin typeface="Neue Haas Grotesk Text Pro"/>
              </a:rPr>
              <a:t>Business Consultant: </a:t>
            </a:r>
            <a:r>
              <a:rPr sz="1050" b="0">
                <a:solidFill>
                  <a:srgbClr val="000000"/>
                </a:solidFill>
                <a:latin typeface="Neue Haas Grotesk Text Pro"/>
              </a:rPr>
              <a:t>leads, customer visits  ·  </a:t>
            </a:r>
            <a:r>
              <a:rPr sz="1050" b="1">
                <a:solidFill>
                  <a:srgbClr val="000000"/>
                </a:solidFill>
                <a:latin typeface="Neue Haas Grotesk Text Pro"/>
              </a:rPr>
              <a:t>Marcom: </a:t>
            </a:r>
            <a:r>
              <a:rPr sz="1050" b="0">
                <a:solidFill>
                  <a:srgbClr val="000000"/>
                </a:solidFill>
                <a:latin typeface="Neue Haas Grotesk Text Pro"/>
              </a:rPr>
              <a:t>sales kit, exhibitions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E9E57"/>
                </a:solidFill>
                <a:latin typeface="Neue Haas Grotesk Text Pro"/>
              </a:rPr>
              <a:t>•  </a:t>
            </a:r>
            <a:r>
              <a:rPr sz="1050" b="1">
                <a:solidFill>
                  <a:srgbClr val="000000"/>
                </a:solidFill>
                <a:latin typeface="Neue Haas Grotesk Text Pro"/>
              </a:rPr>
              <a:t>Application Engineering: </a:t>
            </a:r>
            <a:r>
              <a:rPr sz="1050" b="0">
                <a:solidFill>
                  <a:srgbClr val="000000"/>
                </a:solidFill>
                <a:latin typeface="Neue Haas Grotesk Text Pro"/>
              </a:rPr>
              <a:t>tm class, specs  ·  </a:t>
            </a:r>
            <a:r>
              <a:rPr sz="1050" b="1">
                <a:solidFill>
                  <a:srgbClr val="000000"/>
                </a:solidFill>
                <a:latin typeface="Neue Haas Grotesk Text Pro"/>
              </a:rPr>
              <a:t>UTPE: </a:t>
            </a:r>
            <a:r>
              <a:rPr sz="1050" b="0">
                <a:solidFill>
                  <a:srgbClr val="000000"/>
                </a:solidFill>
                <a:latin typeface="Neue Haas Grotesk Text Pro"/>
              </a:rPr>
              <a:t>quotation, mounting, install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43650" y="1428750"/>
            <a:ext cx="5486400" cy="228600"/>
          </a:xfrm>
          <a:prstGeom prst="rect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38900" y="1457325"/>
            <a:ext cx="52959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Neue Haas Grotesk Text Pro"/>
              </a:rPr>
              <a:t>Project Timeframe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43650" y="1704975"/>
            <a:ext cx="1600200" cy="32385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l"/>
            <a:r>
              <a:rPr sz="950" b="1">
                <a:solidFill>
                  <a:srgbClr val="000000"/>
                </a:solidFill>
                <a:latin typeface="Neue Haas Grotesk Text Pro"/>
              </a:rPr>
              <a:t>Activity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943850" y="1704975"/>
            <a:ext cx="1431758" cy="161925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  <a:r>
              <a:rPr sz="900" b="1">
                <a:solidFill>
                  <a:srgbClr val="000000"/>
                </a:solidFill>
                <a:latin typeface="Neue Haas Grotesk Text Pro"/>
              </a:rPr>
              <a:t>2026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375608" y="1704975"/>
            <a:ext cx="2454442" cy="161925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  <a:r>
              <a:rPr sz="900" b="1">
                <a:solidFill>
                  <a:srgbClr val="000000"/>
                </a:solidFill>
                <a:latin typeface="Neue Haas Grotesk Text Pro"/>
              </a:rPr>
              <a:t>2027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943850" y="1866900"/>
            <a:ext cx="204537" cy="161925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  <a:r>
              <a:rPr sz="800" b="0">
                <a:solidFill>
                  <a:srgbClr val="000000"/>
                </a:solidFill>
                <a:latin typeface="Neue Haas Grotesk Text Pro"/>
              </a:rPr>
              <a:t>J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48387" y="1866900"/>
            <a:ext cx="204537" cy="161925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  <a:r>
              <a:rPr sz="800" b="0">
                <a:solidFill>
                  <a:srgbClr val="000000"/>
                </a:solidFill>
                <a:latin typeface="Neue Haas Grotesk Text Pro"/>
              </a:rPr>
              <a:t>J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52924" y="1866900"/>
            <a:ext cx="204537" cy="161925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  <a:r>
              <a:rPr sz="800" b="0">
                <a:solidFill>
                  <a:srgbClr val="000000"/>
                </a:solidFill>
                <a:latin typeface="Neue Haas Grotesk Text Pro"/>
              </a:rPr>
              <a:t>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557461" y="1866900"/>
            <a:ext cx="204537" cy="161925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  <a:r>
              <a:rPr sz="800" b="0">
                <a:solidFill>
                  <a:srgbClr val="000000"/>
                </a:solidFill>
                <a:latin typeface="Neue Haas Grotesk Text Pro"/>
              </a:rPr>
              <a:t>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761997" y="1866900"/>
            <a:ext cx="204537" cy="161925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  <a:r>
              <a:rPr sz="800" b="0">
                <a:solidFill>
                  <a:srgbClr val="000000"/>
                </a:solidFill>
                <a:latin typeface="Neue Haas Grotesk Text Pro"/>
              </a:rPr>
              <a:t>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966534" y="1866900"/>
            <a:ext cx="204537" cy="161925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  <a:r>
              <a:rPr sz="800" b="0">
                <a:solidFill>
                  <a:srgbClr val="000000"/>
                </a:solidFill>
                <a:latin typeface="Neue Haas Grotesk Text Pro"/>
              </a:rPr>
              <a:t>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71071" y="1866900"/>
            <a:ext cx="204537" cy="161925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  <a:r>
              <a:rPr sz="800" b="0">
                <a:solidFill>
                  <a:srgbClr val="000000"/>
                </a:solidFill>
                <a:latin typeface="Neue Haas Grotesk Text Pro"/>
              </a:rPr>
              <a:t>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375608" y="1866900"/>
            <a:ext cx="204537" cy="161925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  <a:r>
              <a:rPr sz="800" b="0">
                <a:solidFill>
                  <a:srgbClr val="000000"/>
                </a:solidFill>
                <a:latin typeface="Neue Haas Grotesk Text Pro"/>
              </a:rPr>
              <a:t>J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80145" y="1866900"/>
            <a:ext cx="204537" cy="161925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  <a:r>
              <a:rPr sz="800" b="0">
                <a:solidFill>
                  <a:srgbClr val="000000"/>
                </a:solidFill>
                <a:latin typeface="Neue Haas Grotesk Text Pro"/>
              </a:rPr>
              <a:t>F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784682" y="1866900"/>
            <a:ext cx="204537" cy="161925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  <a:r>
              <a:rPr sz="800" b="0">
                <a:solidFill>
                  <a:srgbClr val="000000"/>
                </a:solidFill>
                <a:latin typeface="Neue Haas Grotesk Text Pro"/>
              </a:rPr>
              <a:t>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989218" y="1866900"/>
            <a:ext cx="204537" cy="161925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  <a:r>
              <a:rPr sz="800" b="0">
                <a:solidFill>
                  <a:srgbClr val="000000"/>
                </a:solidFill>
                <a:latin typeface="Neue Haas Grotesk Text Pro"/>
              </a:rPr>
              <a:t>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193755" y="1866900"/>
            <a:ext cx="204537" cy="161925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  <a:r>
              <a:rPr sz="800" b="0">
                <a:solidFill>
                  <a:srgbClr val="000000"/>
                </a:solidFill>
                <a:latin typeface="Neue Haas Grotesk Text Pro"/>
              </a:rPr>
              <a:t>M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398292" y="1866900"/>
            <a:ext cx="204537" cy="161925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  <a:r>
              <a:rPr sz="800" b="0">
                <a:solidFill>
                  <a:srgbClr val="000000"/>
                </a:solidFill>
                <a:latin typeface="Neue Haas Grotesk Text Pro"/>
              </a:rPr>
              <a:t>J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602829" y="1866900"/>
            <a:ext cx="204537" cy="161925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  <a:r>
              <a:rPr sz="800" b="0">
                <a:solidFill>
                  <a:srgbClr val="000000"/>
                </a:solidFill>
                <a:latin typeface="Neue Haas Grotesk Text Pro"/>
              </a:rPr>
              <a:t>J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807366" y="1866900"/>
            <a:ext cx="204537" cy="161925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  <a:r>
              <a:rPr sz="800" b="0">
                <a:solidFill>
                  <a:srgbClr val="000000"/>
                </a:solidFill>
                <a:latin typeface="Neue Haas Grotesk Text Pro"/>
              </a:rPr>
              <a:t>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011903" y="1866900"/>
            <a:ext cx="204537" cy="161925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  <a:r>
              <a:rPr sz="800" b="0">
                <a:solidFill>
                  <a:srgbClr val="000000"/>
                </a:solidFill>
                <a:latin typeface="Neue Haas Grotesk Text Pro"/>
              </a:rPr>
              <a:t>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1216439" y="1866900"/>
            <a:ext cx="204537" cy="161925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  <a:r>
              <a:rPr sz="800" b="0">
                <a:solidFill>
                  <a:srgbClr val="000000"/>
                </a:solidFill>
                <a:latin typeface="Neue Haas Grotesk Text Pro"/>
              </a:rPr>
              <a:t>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420976" y="1866900"/>
            <a:ext cx="204537" cy="161925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  <a:r>
              <a:rPr sz="800" b="0">
                <a:solidFill>
                  <a:srgbClr val="000000"/>
                </a:solidFill>
                <a:latin typeface="Neue Haas Grotesk Text Pro"/>
              </a:rPr>
              <a:t>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1625513" y="1866900"/>
            <a:ext cx="204537" cy="161925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  <a:r>
              <a:rPr sz="800" b="0">
                <a:solidFill>
                  <a:srgbClr val="000000"/>
                </a:solidFill>
                <a:latin typeface="Neue Haas Grotesk Text Pro"/>
              </a:rPr>
              <a:t>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343650" y="2028825"/>
            <a:ext cx="1600200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l"/>
            <a:r>
              <a:rPr sz="900" b="0">
                <a:solidFill>
                  <a:srgbClr val="000000"/>
                </a:solidFill>
                <a:latin typeface="Neue Haas Grotesk Text Pro"/>
              </a:rPr>
              <a:t>Market study (4C)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943850" y="2028825"/>
            <a:ext cx="204537" cy="161925"/>
          </a:xfrm>
          <a:prstGeom prst="rect">
            <a:avLst/>
          </a:prstGeom>
          <a:solidFill>
            <a:srgbClr val="3CC46B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148387" y="2028825"/>
            <a:ext cx="204537" cy="161925"/>
          </a:xfrm>
          <a:prstGeom prst="rect">
            <a:avLst/>
          </a:prstGeom>
          <a:solidFill>
            <a:srgbClr val="3CC46B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352924" y="2028825"/>
            <a:ext cx="204537" cy="161925"/>
          </a:xfrm>
          <a:prstGeom prst="rect">
            <a:avLst/>
          </a:prstGeom>
          <a:solidFill>
            <a:srgbClr val="3CC46B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557461" y="202882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761997" y="202882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966534" y="202882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171071" y="202882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375608" y="202882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580145" y="202882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784682" y="202882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989218" y="202882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193755" y="202882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398292" y="202882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602829" y="202882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807366" y="202882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1011903" y="202882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1216439" y="202882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1420976" y="202882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1625513" y="202882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343650" y="2190750"/>
            <a:ext cx="1600200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l"/>
            <a:r>
              <a:rPr sz="900" b="0">
                <a:solidFill>
                  <a:srgbClr val="000000"/>
                </a:solidFill>
                <a:latin typeface="Neue Haas Grotesk Text Pro"/>
              </a:rPr>
              <a:t>STP &amp; challenger choice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943850" y="2190750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148387" y="2190750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352924" y="2190750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557461" y="2190750"/>
            <a:ext cx="204537" cy="161925"/>
          </a:xfrm>
          <a:prstGeom prst="rect">
            <a:avLst/>
          </a:prstGeom>
          <a:solidFill>
            <a:srgbClr val="3CC46B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761997" y="2190750"/>
            <a:ext cx="204537" cy="161925"/>
          </a:xfrm>
          <a:prstGeom prst="rect">
            <a:avLst/>
          </a:prstGeom>
          <a:solidFill>
            <a:srgbClr val="3CC46B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66534" y="2190750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171071" y="2190750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375608" y="2190750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80145" y="2190750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784682" y="2190750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989218" y="2190750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0193755" y="2190750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398292" y="2190750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0602829" y="2190750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807366" y="2190750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1011903" y="2190750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1216439" y="2190750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1420976" y="2190750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1625513" y="2190750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343650" y="2352675"/>
            <a:ext cx="1600200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l"/>
            <a:r>
              <a:rPr sz="900" b="0">
                <a:solidFill>
                  <a:srgbClr val="000000"/>
                </a:solidFill>
                <a:latin typeface="Neue Haas Grotesk Text Pro"/>
              </a:rPr>
              <a:t>Negotiate F.lli Ferrari &amp; XCMG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943850" y="235267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148387" y="235267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352924" y="235267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557461" y="235267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8761997" y="2352675"/>
            <a:ext cx="204537" cy="161925"/>
          </a:xfrm>
          <a:prstGeom prst="rect">
            <a:avLst/>
          </a:prstGeom>
          <a:solidFill>
            <a:srgbClr val="3CC46B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8966534" y="2352675"/>
            <a:ext cx="204537" cy="161925"/>
          </a:xfrm>
          <a:prstGeom prst="rect">
            <a:avLst/>
          </a:prstGeom>
          <a:solidFill>
            <a:srgbClr val="3CC46B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9171071" y="2352675"/>
            <a:ext cx="204537" cy="161925"/>
          </a:xfrm>
          <a:prstGeom prst="rect">
            <a:avLst/>
          </a:prstGeom>
          <a:solidFill>
            <a:srgbClr val="3CC46B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9375608" y="235267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9580145" y="235267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784682" y="235267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9989218" y="235267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0193755" y="235267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0398292" y="235267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0602829" y="235267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0807366" y="235267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1011903" y="235267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1216439" y="235267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11420976" y="235267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1625513" y="235267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343650" y="2514600"/>
            <a:ext cx="1600200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l"/>
            <a:r>
              <a:rPr sz="900" b="0">
                <a:solidFill>
                  <a:srgbClr val="000000"/>
                </a:solidFill>
                <a:latin typeface="Neue Haas Grotesk Text Pro"/>
              </a:rPr>
              <a:t>Sales kit with Marcom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943850" y="2514600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8148387" y="2514600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8352924" y="2514600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8557461" y="2514600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8761997" y="2514600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966534" y="2514600"/>
            <a:ext cx="204537" cy="161925"/>
          </a:xfrm>
          <a:prstGeom prst="rect">
            <a:avLst/>
          </a:prstGeom>
          <a:solidFill>
            <a:srgbClr val="3CC46B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9171071" y="2514600"/>
            <a:ext cx="204537" cy="161925"/>
          </a:xfrm>
          <a:prstGeom prst="rect">
            <a:avLst/>
          </a:prstGeom>
          <a:solidFill>
            <a:srgbClr val="3CC46B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9375608" y="2514600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9580145" y="2514600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9784682" y="2514600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9989218" y="2514600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10193755" y="2514600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0398292" y="2514600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0602829" y="2514600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10807366" y="2514600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11011903" y="2514600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11216439" y="2514600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11420976" y="2514600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11625513" y="2514600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343650" y="2676525"/>
            <a:ext cx="1600200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l"/>
            <a:r>
              <a:rPr sz="900" b="0">
                <a:solidFill>
                  <a:srgbClr val="000000"/>
                </a:solidFill>
                <a:latin typeface="Neue Haas Grotesk Text Pro"/>
              </a:rPr>
              <a:t>Exhibition &amp; customer visits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7943850" y="267652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8148387" y="267652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8352924" y="267652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8557461" y="267652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761997" y="267652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8966534" y="267652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9171071" y="267652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9375608" y="2676525"/>
            <a:ext cx="204537" cy="161925"/>
          </a:xfrm>
          <a:prstGeom prst="rect">
            <a:avLst/>
          </a:prstGeom>
          <a:solidFill>
            <a:srgbClr val="3CC46B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9580145" y="2676525"/>
            <a:ext cx="204537" cy="161925"/>
          </a:xfrm>
          <a:prstGeom prst="rect">
            <a:avLst/>
          </a:prstGeom>
          <a:solidFill>
            <a:srgbClr val="3CC46B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9784682" y="2676525"/>
            <a:ext cx="204537" cy="161925"/>
          </a:xfrm>
          <a:prstGeom prst="rect">
            <a:avLst/>
          </a:prstGeom>
          <a:solidFill>
            <a:srgbClr val="3CC46B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9989218" y="2676525"/>
            <a:ext cx="204537" cy="161925"/>
          </a:xfrm>
          <a:prstGeom prst="rect">
            <a:avLst/>
          </a:prstGeom>
          <a:solidFill>
            <a:srgbClr val="3CC46B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0193755" y="2676525"/>
            <a:ext cx="204537" cy="161925"/>
          </a:xfrm>
          <a:prstGeom prst="rect">
            <a:avLst/>
          </a:prstGeom>
          <a:solidFill>
            <a:srgbClr val="3CC46B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10398292" y="2676525"/>
            <a:ext cx="204537" cy="161925"/>
          </a:xfrm>
          <a:prstGeom prst="rect">
            <a:avLst/>
          </a:prstGeom>
          <a:solidFill>
            <a:srgbClr val="3CC46B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10602829" y="267652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10807366" y="267652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11011903" y="267652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11216439" y="267652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11420976" y="267652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11625513" y="267652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6343650" y="2838450"/>
            <a:ext cx="1600200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l"/>
            <a:r>
              <a:rPr sz="900" b="0">
                <a:solidFill>
                  <a:srgbClr val="000000"/>
                </a:solidFill>
                <a:latin typeface="Neue Haas Grotesk Text Pro"/>
              </a:rPr>
              <a:t>Quotation → PO → delivery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7943850" y="2838450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148387" y="2838450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352924" y="2838450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57461" y="2838450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761997" y="2838450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966534" y="2838450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9171071" y="2838450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9375608" y="2838450"/>
            <a:ext cx="204537" cy="161925"/>
          </a:xfrm>
          <a:prstGeom prst="rect">
            <a:avLst/>
          </a:prstGeom>
          <a:solidFill>
            <a:srgbClr val="3CC46B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9580145" y="2838450"/>
            <a:ext cx="204537" cy="161925"/>
          </a:xfrm>
          <a:prstGeom prst="rect">
            <a:avLst/>
          </a:prstGeom>
          <a:solidFill>
            <a:srgbClr val="3CC46B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9784682" y="2838450"/>
            <a:ext cx="204537" cy="161925"/>
          </a:xfrm>
          <a:prstGeom prst="rect">
            <a:avLst/>
          </a:prstGeom>
          <a:solidFill>
            <a:srgbClr val="3CC46B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9989218" y="2838450"/>
            <a:ext cx="204537" cy="161925"/>
          </a:xfrm>
          <a:prstGeom prst="rect">
            <a:avLst/>
          </a:prstGeom>
          <a:solidFill>
            <a:srgbClr val="3CC46B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10193755" y="2838450"/>
            <a:ext cx="204537" cy="161925"/>
          </a:xfrm>
          <a:prstGeom prst="rect">
            <a:avLst/>
          </a:prstGeom>
          <a:solidFill>
            <a:srgbClr val="3CC46B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10398292" y="2838450"/>
            <a:ext cx="204537" cy="161925"/>
          </a:xfrm>
          <a:prstGeom prst="rect">
            <a:avLst/>
          </a:prstGeom>
          <a:solidFill>
            <a:srgbClr val="3CC46B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10602829" y="2838450"/>
            <a:ext cx="204537" cy="161925"/>
          </a:xfrm>
          <a:prstGeom prst="rect">
            <a:avLst/>
          </a:prstGeom>
          <a:solidFill>
            <a:srgbClr val="3CC46B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10807366" y="2838450"/>
            <a:ext cx="204537" cy="161925"/>
          </a:xfrm>
          <a:prstGeom prst="rect">
            <a:avLst/>
          </a:prstGeom>
          <a:solidFill>
            <a:srgbClr val="3CC46B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11011903" y="2838450"/>
            <a:ext cx="204537" cy="161925"/>
          </a:xfrm>
          <a:prstGeom prst="rect">
            <a:avLst/>
          </a:prstGeom>
          <a:solidFill>
            <a:srgbClr val="3CC46B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11216439" y="2838450"/>
            <a:ext cx="204537" cy="161925"/>
          </a:xfrm>
          <a:prstGeom prst="rect">
            <a:avLst/>
          </a:prstGeom>
          <a:solidFill>
            <a:srgbClr val="3CC46B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11420976" y="2838450"/>
            <a:ext cx="204537" cy="161925"/>
          </a:xfrm>
          <a:prstGeom prst="rect">
            <a:avLst/>
          </a:prstGeom>
          <a:solidFill>
            <a:srgbClr val="3CC46B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11625513" y="2838450"/>
            <a:ext cx="204537" cy="161925"/>
          </a:xfrm>
          <a:prstGeom prst="rect">
            <a:avLst/>
          </a:prstGeom>
          <a:solidFill>
            <a:srgbClr val="3CC46B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6343650" y="3000375"/>
            <a:ext cx="1600200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l"/>
            <a:r>
              <a:rPr sz="900" b="1">
                <a:solidFill>
                  <a:srgbClr val="0B4D2A"/>
                </a:solidFill>
                <a:latin typeface="Neue Haas Grotesk Text Pro"/>
              </a:rPr>
              <a:t>15 cranes sold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7943850" y="300037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8148387" y="300037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8352924" y="300037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8557461" y="300037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8761997" y="300037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8966534" y="300037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9171071" y="300037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9375608" y="300037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9580145" y="300037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9784682" y="300037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9989218" y="300037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10193755" y="300037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10398292" y="300037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10602829" y="300037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10807366" y="300037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11011903" y="300037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11216439" y="300037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11420976" y="3000375"/>
            <a:ext cx="20453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11625513" y="3000375"/>
            <a:ext cx="204537" cy="161925"/>
          </a:xfrm>
          <a:prstGeom prst="rect">
            <a:avLst/>
          </a:prstGeom>
          <a:solidFill>
            <a:srgbClr val="0B4D2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0" bIns="0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★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6343650" y="3238500"/>
            <a:ext cx="5486400" cy="228600"/>
          </a:xfrm>
          <a:prstGeom prst="rect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6438900" y="3267075"/>
            <a:ext cx="52959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Neue Haas Grotesk Text Pro"/>
              </a:rPr>
              <a:t>Benefit of Project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6438900" y="3514725"/>
            <a:ext cx="5295900" cy="7509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E9E57"/>
                </a:solidFill>
                <a:latin typeface="Neue Haas Grotesk Text Pro"/>
              </a:rPr>
              <a:t>•  </a:t>
            </a:r>
            <a:r>
              <a:rPr sz="1050" b="1">
                <a:solidFill>
                  <a:srgbClr val="000000"/>
                </a:solidFill>
                <a:latin typeface="Neue Haas Grotesk Text Pro"/>
              </a:rPr>
              <a:t>≈ Rp 14,1 Bio revenue, Rp 5,0 Bio GP</a:t>
            </a:r>
            <a:r>
              <a:rPr sz="1050" b="0">
                <a:solidFill>
                  <a:srgbClr val="000000"/>
                </a:solidFill>
                <a:latin typeface="Neue Haas Grotesk Text Pro"/>
              </a:rPr>
              <a:t> from 15 cranes by end-2027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E9E57"/>
                </a:solidFill>
                <a:latin typeface="Neue Haas Grotesk Text Pro"/>
              </a:rPr>
              <a:t>•  </a:t>
            </a:r>
            <a:r>
              <a:rPr sz="1050" b="1">
                <a:solidFill>
                  <a:srgbClr val="000000"/>
                </a:solidFill>
                <a:latin typeface="Neue Haas Grotesk Text Pro"/>
              </a:rPr>
              <a:t>Replaces Hyva: ~33 cranes a year</a:t>
            </a:r>
            <a:r>
              <a:rPr sz="1050" b="0">
                <a:solidFill>
                  <a:srgbClr val="000000"/>
                </a:solidFill>
                <a:latin typeface="Neue Haas Grotesk Text Pro"/>
              </a:rPr>
              <a:t> get a new brand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E9E57"/>
                </a:solidFill>
                <a:latin typeface="Neue Haas Grotesk Text Pro"/>
              </a:rPr>
              <a:t>•  </a:t>
            </a:r>
            <a:r>
              <a:rPr sz="1050" b="1">
                <a:solidFill>
                  <a:srgbClr val="000000"/>
                </a:solidFill>
                <a:latin typeface="Neue Haas Grotesk Text Pro"/>
              </a:rPr>
              <a:t>Our cost is Rp 21 – 625 Jt below the leader</a:t>
            </a:r>
            <a:r>
              <a:rPr sz="1050" b="0">
                <a:solidFill>
                  <a:srgbClr val="000000"/>
                </a:solidFill>
                <a:latin typeface="Neue Haas Grotesk Text Pro"/>
              </a:rPr>
              <a:t> per unit: room for 35% GP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E9E57"/>
                </a:solidFill>
                <a:latin typeface="Neue Haas Grotesk Text Pro"/>
              </a:rPr>
              <a:t>•  </a:t>
            </a:r>
            <a:r>
              <a:rPr sz="1050" b="1">
                <a:solidFill>
                  <a:srgbClr val="000000"/>
                </a:solidFill>
                <a:latin typeface="Neue Haas Grotesk Text Pro"/>
              </a:rPr>
              <a:t>Lead time ≤ 14 weeks</a:t>
            </a:r>
            <a:r>
              <a:rPr sz="1050" b="0">
                <a:solidFill>
                  <a:srgbClr val="000000"/>
                </a:solidFill>
                <a:latin typeface="Neue Haas Grotesk Text Pro"/>
              </a:rPr>
              <a:t> (China / Malaysia) vs 25 – 27 weeks (Italy / Brazil)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6343650" y="4313301"/>
            <a:ext cx="5486400" cy="228600"/>
          </a:xfrm>
          <a:prstGeom prst="rect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6438900" y="4341876"/>
            <a:ext cx="52959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Neue Haas Grotesk Text Pro"/>
              </a:rPr>
              <a:t>Project Team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6438900" y="4589526"/>
            <a:ext cx="123825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Neue Haas Grotesk Text Pro"/>
              </a:rPr>
              <a:t>Executive Sponsor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Neue Haas Grotesk Text Pro"/>
              </a:rPr>
              <a:t>Advisor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Neue Haas Grotesk Text Pro"/>
              </a:rPr>
              <a:t>Owner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Neue Haas Grotesk Text Pro"/>
              </a:rPr>
              <a:t>Coordinator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Neue Haas Grotesk Text Pro"/>
              </a:rPr>
              <a:t>Project Lead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Neue Haas Grotesk Text Pro"/>
              </a:rPr>
              <a:t>Team Member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7581900" y="4589526"/>
            <a:ext cx="41529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Neue Haas Grotesk Text Pro"/>
              </a:rPr>
              <a:t>: David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Neue Haas Grotesk Text Pro"/>
              </a:rPr>
              <a:t>: Ceisar Centiaga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Neue Haas Grotesk Text Pro"/>
              </a:rPr>
              <a:t>: Ricardo Tanada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Neue Haas Grotesk Text Pro"/>
              </a:rPr>
              <a:t>: Ignatius Indrawan Sumawinata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Neue Haas Grotesk Text Pro"/>
              </a:rPr>
              <a:t>: Tiberias Krisgaharu Simu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Neue Haas Grotesk Text Pro"/>
              </a:rPr>
              <a:t>: Business Consultant, Application Engineering, Marcom, UTPE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6343650" y="5580126"/>
            <a:ext cx="5486400" cy="228600"/>
          </a:xfrm>
          <a:prstGeom prst="rect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6438900" y="5608701"/>
            <a:ext cx="52959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Neue Haas Grotesk Text Pro"/>
              </a:rPr>
              <a:t>Project Approval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6343650" y="5856351"/>
            <a:ext cx="1051560" cy="1238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Neue Haas Grotesk Text Pro"/>
              </a:rPr>
              <a:t>Lead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6343650" y="5970651"/>
            <a:ext cx="1051560" cy="10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7F7F7F"/>
                </a:solidFill>
                <a:latin typeface="Neue Haas Grotesk Text Pro"/>
              </a:rPr>
              <a:t>Date: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6343650" y="6094476"/>
            <a:ext cx="1051560" cy="24765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6343650" y="6361176"/>
            <a:ext cx="105156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6343650" y="6380226"/>
            <a:ext cx="1051560" cy="1238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Tiberias K. Simu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7452360" y="5856351"/>
            <a:ext cx="1051560" cy="1238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Neue Haas Grotesk Text Pro"/>
              </a:rPr>
              <a:t>Coordinator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7452360" y="5970651"/>
            <a:ext cx="1051560" cy="10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7F7F7F"/>
                </a:solidFill>
                <a:latin typeface="Neue Haas Grotesk Text Pro"/>
              </a:rPr>
              <a:t>Date: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7452360" y="6094476"/>
            <a:ext cx="1051560" cy="24765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7452360" y="6361176"/>
            <a:ext cx="105156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7452360" y="6380226"/>
            <a:ext cx="1051560" cy="1238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Ignatius Indrawan S.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8561070" y="5856351"/>
            <a:ext cx="1051560" cy="1238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Neue Haas Grotesk Text Pro"/>
              </a:rPr>
              <a:t>Owner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8561070" y="5970651"/>
            <a:ext cx="1051560" cy="10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7F7F7F"/>
                </a:solidFill>
                <a:latin typeface="Neue Haas Grotesk Text Pro"/>
              </a:rPr>
              <a:t>Date: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8561070" y="6094476"/>
            <a:ext cx="1051560" cy="24765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8561070" y="6361176"/>
            <a:ext cx="105156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8561070" y="6380226"/>
            <a:ext cx="1051560" cy="1238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Ricardo Tanada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9669780" y="5856351"/>
            <a:ext cx="1051560" cy="1238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Neue Haas Grotesk Text Pro"/>
              </a:rPr>
              <a:t>Advisor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9669780" y="5970651"/>
            <a:ext cx="1051560" cy="10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7F7F7F"/>
                </a:solidFill>
                <a:latin typeface="Neue Haas Grotesk Text Pro"/>
              </a:rPr>
              <a:t>Date: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9669780" y="6094476"/>
            <a:ext cx="1051560" cy="24765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9669780" y="6361176"/>
            <a:ext cx="105156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9669780" y="6380226"/>
            <a:ext cx="1051560" cy="1238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Ceisar Centiaga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0778490" y="5856351"/>
            <a:ext cx="1051560" cy="1238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Neue Haas Grotesk Text Pro"/>
              </a:rPr>
              <a:t>Executive Sponsor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10778490" y="5970651"/>
            <a:ext cx="1051560" cy="10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7F7F7F"/>
                </a:solidFill>
                <a:latin typeface="Neue Haas Grotesk Text Pro"/>
              </a:rPr>
              <a:t>Date: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10778490" y="6094476"/>
            <a:ext cx="1051560" cy="24765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10778490" y="6361176"/>
            <a:ext cx="105156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10778490" y="6380226"/>
            <a:ext cx="1051560" cy="1238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David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342900" y="6667500"/>
            <a:ext cx="114871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7F7F7F"/>
                </a:solidFill>
                <a:latin typeface="Neue Haas Grotesk Text Pro"/>
              </a:rPr>
              <a:t>Revenue plan, 15 cranes: 10 XCMG (SQ3.2ZK2 ×5, SQZ325.4 ×2, KSQZ365.4 ×2, GSQZ200.3 ×1) + 5 F.lli Ferrari FBR450 A4; selling price = cost ÷ (1 − 35% GP). Prices and units from the crane market slides (imports 2023 – 2026, F.lli Ferrari price list June 2026). Lead time per F.lli Ferrari price list; Malaysia stock to be confirmed.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thwestern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uthwestern_Keynote_Presentation_win32_EF_v7" id="{CB75C61E-D0AA-411C-8CCB-350C46B2B4C2}" vid="{3FF803ED-F19F-4AA8-A921-9EC284451F8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0926D80-E9CD-42FE-82F3-4ECE08066669}">
  <we:reference id="WA200011549" version="1.0.0.0" store="Omex" storeType="OMEX"/>
  <we:alternateReferences>
    <we:reference id="WA200011549" version="1.0.0.0" store="WA200011549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F782DA7-86C0-4A84-A860-11A1E6E3FB6B}">
  <ds:schemaRefs>
    <ds:schemaRef ds:uri="http://www.w3.org/XML/1998/namespace"/>
    <ds:schemaRef ds:uri="http://purl.org/dc/terms/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230e9df3-be65-4c73-a93b-d1236ebd677e"/>
    <ds:schemaRef ds:uri="16c05727-aa75-4e4a-9b5f-8a80a1165891"/>
    <ds:schemaRef ds:uri="71af3243-3dd4-4a8d-8c0d-dd76da1f02a5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4491</TotalTime>
  <Words>2771</Words>
  <Application>Microsoft Office PowerPoint</Application>
  <PresentationFormat>Widescreen</PresentationFormat>
  <Paragraphs>574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Neue Haas Grotesk Text Pro</vt:lpstr>
      <vt:lpstr>Neue Haas Grotesk Text Pro (Body)</vt:lpstr>
      <vt:lpstr>Southwestern</vt:lpstr>
      <vt:lpstr>New Employee Development Program</vt:lpstr>
      <vt:lpstr>My Education &amp; Working Experience</vt:lpstr>
      <vt:lpstr>PowerPoint Presentation</vt:lpstr>
      <vt:lpstr>PowerPoint Presentation</vt:lpstr>
      <vt:lpstr>Quote</vt:lpstr>
      <vt:lpstr>Quote</vt:lpstr>
      <vt:lpstr>Marketing Strategic 2 Associate</vt:lpstr>
      <vt:lpstr>PowerPoint Presentation</vt:lpstr>
      <vt:lpstr>PowerPoint Presentation</vt:lpstr>
      <vt:lpstr>PowerPoint Presentation</vt:lpstr>
      <vt:lpstr>Quote</vt:lpstr>
      <vt:lpstr>Quote</vt:lpstr>
      <vt:lpstr>Quote</vt:lpstr>
      <vt:lpstr>Quote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TIBERIAS KRISGAHARU SIMU - TRIATRA</dc:creator>
  <cp:lastModifiedBy>TIBERIAS KRISGAHARU SIMU - TRIATRA</cp:lastModifiedBy>
  <cp:revision>5</cp:revision>
  <dcterms:created xsi:type="dcterms:W3CDTF">2026-10-16T02:49:26Z</dcterms:created>
  <dcterms:modified xsi:type="dcterms:W3CDTF">2026-10-19T05:44:41Z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