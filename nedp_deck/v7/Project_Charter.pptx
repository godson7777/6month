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5715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Project Charter/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is the background,</a:t>
              </a:r>
              <a:br>
                <a:rPr lang="en-US" sz="1600" b="1" dirty="0"/>
              </a:br>
              <a:r>
                <a:rPr lang="en-US" sz="1600" b="1" dirty="0"/>
                <a:t>the objective and the benefit?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42900" y="1428750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150" y="1457325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name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150" y="1704975"/>
            <a:ext cx="56197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Indonesia Folding Crane Market Strategy: one challenger crane for every tm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900" y="1914525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150" y="1943100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150" y="2190750"/>
            <a:ext cx="5619750" cy="537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Hyva has stopped making cranes: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102 Hyva cranes (Rp 36,1 Bio) sold in 2023 – 2026 need a new brand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Indonesia imports ~188 folding cranes a year (Rp 100,2 Bio) across all four classes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2900" y="2775871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150" y="2804446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Objective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" y="3052096"/>
            <a:ext cx="56197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4D2A"/>
                </a:solidFill>
                <a:latin typeface="Neue Haas Grotesk Text Pro"/>
              </a:rPr>
              <a:t>Sell 15 folding cranes by December 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150" y="3280696"/>
            <a:ext cx="5619750" cy="563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4C: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map all 636 imported folding cranes (Rp 321,8 Bio, 2023 – 2026) by class, brand, model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STP: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split into 16 tm classes and find the top 1 model in each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4P: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set a cheaper F.lli Ferrari or XCMG challenger per tm class (8 of 16 done)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2900" y="3891534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150" y="3920109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Scope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150" y="4167759"/>
            <a:ext cx="5619750" cy="375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In: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folding cranes, Light to Heavy; price and specification; imports 2023 – 2026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Out: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telescopic, grabber and forestry cranes; Hyva; Zoomlion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900" y="4590860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150" y="4619434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KPI / Metric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42900" y="4867084"/>
          <a:ext cx="5810250" cy="723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905000"/>
                <a:gridCol w="2476500"/>
              </a:tblGrid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Units sold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15 cranes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by Dec 2027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Revenue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≈ Rp 6,1 Bio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GP ≈ Rp 0,8 Bio (13,6%)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vs leader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Rp 21 – 625 Jt cheaper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per unit, in 8 of 16 tm classes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  <a:tr h="18097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Lead time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≤ 14 weeks</a:t>
                      </a:r>
                    </a:p>
                  </a:txBody>
                  <a:tcPr anchor="ctr" marL="76200" marT="0" marB="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stock in Malaysia (TBC)</a:t>
                      </a:r>
                    </a:p>
                  </a:txBody>
                  <a:tcPr anchor="ctr" marL="762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42900" y="5667184"/>
            <a:ext cx="581025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150" y="5695760"/>
            <a:ext cx="561975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Support Requirements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150" y="5943410"/>
            <a:ext cx="5619750" cy="375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Business Consultant: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leads, customer visits  ·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Marcom: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sales kit, exhibitions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Application Engineering: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tm class, specs  ·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UTPE: 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quotation, mounting, install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43650" y="1428750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38900" y="1457325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Timeframe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43650" y="1704975"/>
            <a:ext cx="1600200" cy="32385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Activity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43850" y="1704975"/>
            <a:ext cx="1431758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Neue Haas Grotesk Text Pro"/>
              </a:rPr>
              <a:t>2026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75608" y="1704975"/>
            <a:ext cx="2454442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Neue Haas Grotesk Text Pro"/>
              </a:rPr>
              <a:t>2027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43850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48387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52924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57461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61997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66534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071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375608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580145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784682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89218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93755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98292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02829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J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07366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011903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1216439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420976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625513" y="1866900"/>
            <a:ext cx="204537" cy="161925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0">
                <a:solidFill>
                  <a:srgbClr val="000000"/>
                </a:solidFill>
                <a:latin typeface="Neue Haas Grotesk Text Pro"/>
              </a:rPr>
              <a:t>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43650" y="202882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Market study (4C)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943850" y="20288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148387" y="20288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52924" y="20288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557461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761997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66534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71071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375608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80145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784682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89218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93755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98292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602829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07366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011903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16439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1420976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625513" y="20288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43650" y="2190750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STP &amp; challenger choice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943850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148387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352924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57461" y="21907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761997" y="21907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66534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171071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375608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580145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784682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989218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193755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98292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602829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807366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011903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216439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420976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625513" y="21907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43650" y="235267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Negotiate F.lli Ferrari &amp; XCMG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943850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148387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352924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557461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761997" y="235267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966534" y="235267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171071" y="235267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375608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80145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784682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989218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0193755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0398292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2829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0807366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011903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16439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420976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625513" y="23526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343650" y="2514600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Sales kit with Marcom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943850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48387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352924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557461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761997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66534" y="251460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171071" y="251460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375608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580145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9784682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989218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193755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398292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2829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807366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011903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216439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1420976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625513" y="251460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343650" y="267652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Exhibition &amp; customer visits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943850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148387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352924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557461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761997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966534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171071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375608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580145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9784682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989218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0193755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0398292" y="2676525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0602829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807366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1011903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1216439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420976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625513" y="267652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343650" y="2838450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Quotation → PO → delivery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943850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148387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52924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557461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761997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966534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9171071" y="2838450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9375608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580145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784682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989218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193755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0398292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0602829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0807366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1011903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1216439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1420976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625513" y="2838450"/>
            <a:ext cx="204537" cy="161925"/>
          </a:xfrm>
          <a:prstGeom prst="rect">
            <a:avLst/>
          </a:prstGeom>
          <a:solidFill>
            <a:srgbClr val="3CC46B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343650" y="3000375"/>
            <a:ext cx="160020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l"/>
            <a:r>
              <a:rPr sz="900" b="1">
                <a:solidFill>
                  <a:srgbClr val="0B4D2A"/>
                </a:solidFill>
                <a:latin typeface="Neue Haas Grotesk Text Pro"/>
              </a:rPr>
              <a:t>15 cranes sold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943850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148387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52924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557461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761997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966534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9171071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9375608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9580145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9784682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9989218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0193755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398292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0602829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807366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1011903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1216439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1420976" y="3000375"/>
            <a:ext cx="20453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625513" y="3000375"/>
            <a:ext cx="204537" cy="161925"/>
          </a:xfrm>
          <a:prstGeom prst="rect">
            <a:avLst/>
          </a:prstGeom>
          <a:solidFill>
            <a:srgbClr val="0B4D2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8575" rIns="28575" tIns="0" bIns="0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eue Haas Grotesk Text Pro"/>
              </a:rPr>
              <a:t>★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6343650" y="3238500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438900" y="3267075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Benefit of Project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38900" y="3514725"/>
            <a:ext cx="5295900" cy="750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≈ Rp 6,1 Bio revenue, Rp 0,8 Bio GP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from 15 cranes by end-2027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Replaces Hyva: ~33 cranes a year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get a new brand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Customers pay Rp 21 – 625 Jt less per unit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(≈ Rp 2,8 Bio on 15 cranes)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1E9E57"/>
                </a:solidFill>
                <a:latin typeface="Neue Haas Grotesk Text Pro"/>
              </a:rPr>
              <a:t>•  </a:t>
            </a:r>
            <a:r>
              <a:rPr sz="1050" b="1">
                <a:solidFill>
                  <a:srgbClr val="000000"/>
                </a:solidFill>
                <a:latin typeface="Neue Haas Grotesk Text Pro"/>
              </a:rPr>
              <a:t>Lead time ≤ 14 weeks</a:t>
            </a:r>
            <a:r>
              <a:rPr sz="1050" b="0">
                <a:solidFill>
                  <a:srgbClr val="000000"/>
                </a:solidFill>
                <a:latin typeface="Neue Haas Grotesk Text Pro"/>
              </a:rPr>
              <a:t> (China / Malaysia) vs 25 – 27 weeks (Italy / Brazil)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6343650" y="4313301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6438900" y="4341876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Team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438900" y="4589526"/>
            <a:ext cx="123825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Executive Sponsor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Advisor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Owner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Coordinator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Project Lead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Team Member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581900" y="4589526"/>
            <a:ext cx="41529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David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Ceisar Centiaga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Ricardo Tanada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Ignatius Indrawan Sumawinata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Tiberias Krisgaharu Simu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: Business Consultant, Application Engineering, Marcom, UTPE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6343650" y="5580126"/>
            <a:ext cx="5486400" cy="22860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438900" y="5608701"/>
            <a:ext cx="52959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eue Haas Grotesk Text Pro"/>
              </a:rPr>
              <a:t>Project Approval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634365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Lead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34365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34365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634365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34365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Tiberias K. Simu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45236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Coordinator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45236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745236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45236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5236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Ignatius Indrawan S.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856107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Owner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856107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856107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56107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56107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Ricardo Tanada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966978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Advisor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966978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66978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966978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966978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Ceisar Centiaga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778490" y="5856351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Executive Sponsor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10778490" y="5970651"/>
            <a:ext cx="1051560" cy="104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F7F7F"/>
                </a:solidFill>
                <a:latin typeface="Neue Haas Grotesk Text Pro"/>
              </a:rPr>
              <a:t>Date: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10778490" y="6094476"/>
            <a:ext cx="1051560" cy="2476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0778490" y="6361176"/>
            <a:ext cx="1051560" cy="152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10778490" y="6380226"/>
            <a:ext cx="1051560" cy="1238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David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42900" y="6667500"/>
            <a:ext cx="114871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7F7F7F"/>
                </a:solidFill>
                <a:latin typeface="Neue Haas Grotesk Text Pro"/>
              </a:rPr>
              <a:t>Revenue estimate: 15 cranes split over the 8 tm classes we win, in line with their import units; selling price = challenger price ÷ (1 − 13,6% TSP GP). Prices and units from the crane market slides (imports 2023 – 2026, F.lli Ferrari price list June 2026). Lead time per F.lli Ferrari price list; Malaysia stock to be confirmed.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