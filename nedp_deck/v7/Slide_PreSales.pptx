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Pre Sales/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What do I do before the PO comes in?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Before the PO, I check the demand, review the drawing and get the price from UTE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Three steps that turn a customer need into a quote the Business Consultant can send.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Pentagon 35"/>
          <p:cNvSpPr/>
          <p:nvPr/>
        </p:nvSpPr>
        <p:spPr>
          <a:xfrm>
            <a:off x="342900" y="2114550"/>
            <a:ext cx="3752850" cy="285750"/>
          </a:xfrm>
          <a:prstGeom prst="homePlat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1. Demand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Spot which demands are rising in PCR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Why the customer buys: expansion, new business or replacement (with the Business Consultant)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Project location, and whether the customer wants it fast or cheap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Expected price and when the PO may come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" y="3619500"/>
            <a:ext cx="3752850" cy="13335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c1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619500"/>
            <a:ext cx="2667000" cy="13335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0" name="Rectangle 39"/>
          <p:cNvSpPr/>
          <p:nvPr/>
        </p:nvSpPr>
        <p:spPr>
          <a:xfrm>
            <a:off x="342900" y="5010150"/>
            <a:ext cx="1847850" cy="144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c1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5041106"/>
            <a:ext cx="1847850" cy="1385888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2" name="Rectangle 41"/>
          <p:cNvSpPr/>
          <p:nvPr/>
        </p:nvSpPr>
        <p:spPr>
          <a:xfrm>
            <a:off x="2247900" y="5010150"/>
            <a:ext cx="1847850" cy="144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c1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861" y="5010150"/>
            <a:ext cx="1205928" cy="14478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4" name="Chevron 43"/>
          <p:cNvSpPr/>
          <p:nvPr/>
        </p:nvSpPr>
        <p:spPr>
          <a:xfrm>
            <a:off x="421005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2. Preliminary Drawing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815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What the unit does and how it works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Main parts that drive the price or the lead time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Details checked with Application Engineering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10050" y="36195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c2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3665870"/>
            <a:ext cx="1847850" cy="1297911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8" name="Rectangle 47"/>
          <p:cNvSpPr/>
          <p:nvPr/>
        </p:nvSpPr>
        <p:spPr>
          <a:xfrm>
            <a:off x="6115050" y="36195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c2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3666598"/>
            <a:ext cx="1847850" cy="1296454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0" name="Rectangle 49"/>
          <p:cNvSpPr/>
          <p:nvPr/>
        </p:nvSpPr>
        <p:spPr>
          <a:xfrm>
            <a:off x="4210050" y="50673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c2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050" y="5104809"/>
            <a:ext cx="1847850" cy="1315632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2" name="Rectangle 51"/>
          <p:cNvSpPr/>
          <p:nvPr/>
        </p:nvSpPr>
        <p:spPr>
          <a:xfrm>
            <a:off x="6115050" y="50673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c2_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5117718"/>
            <a:ext cx="1847850" cy="1289814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4" name="Chevron 53"/>
          <p:cNvSpPr/>
          <p:nvPr/>
        </p:nvSpPr>
        <p:spPr>
          <a:xfrm>
            <a:off x="807720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3. Request Quote to 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530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Drawing, target price, lead time, end customer and delivery date sent to UTE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Standard GP check (13.6%) before any negotiation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SLA tracked; escalated when it runs late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Quote result entered into PCR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77200" y="36195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3_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959" y="3619500"/>
            <a:ext cx="1468331" cy="13906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8" name="Rectangle 57"/>
          <p:cNvSpPr/>
          <p:nvPr/>
        </p:nvSpPr>
        <p:spPr>
          <a:xfrm>
            <a:off x="9982200" y="3619500"/>
            <a:ext cx="1847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sc3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6025" y="3619500"/>
            <a:ext cx="920200" cy="13906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60" name="Rectangle 59"/>
          <p:cNvSpPr/>
          <p:nvPr/>
        </p:nvSpPr>
        <p:spPr>
          <a:xfrm>
            <a:off x="8077200" y="5067300"/>
            <a:ext cx="3752850" cy="13906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c3_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1326" y="5067300"/>
            <a:ext cx="2364598" cy="139065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62" name="TextBox 61"/>
          <p:cNvSpPr txBox="1"/>
          <p:nvPr/>
        </p:nvSpPr>
        <p:spPr>
          <a:xfrm>
            <a:off x="342900" y="6457950"/>
            <a:ext cx="114871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6B6B6B"/>
                </a:solidFill>
                <a:latin typeface="Neue Haas Grotesk Text Pro"/>
              </a:rPr>
              <a:t>Photos: my own work files (PCR in CRM, unit drawings, quote request to UTE, price calculation).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