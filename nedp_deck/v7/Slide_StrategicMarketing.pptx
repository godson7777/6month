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Strategic Marketing/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Where am I involved in strategic marketing?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I turn market data into strategy, and learn the new products first hand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From data gathering to market analysis, backed by product training.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Pentagon 35"/>
          <p:cNvSpPr/>
          <p:nvPr/>
        </p:nvSpPr>
        <p:spPr>
          <a:xfrm>
            <a:off x="342900" y="2114550"/>
            <a:ext cx="3752850" cy="285750"/>
          </a:xfrm>
          <a:prstGeom prst="homePlat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1. Gathering &amp; Data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2457450"/>
            <a:ext cx="36766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Suppeq unit population at our sites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Historical sales: suppeq and crane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GAIKINDO data, 2014–2025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VOC on Eco Suppeq from the Sales Seminar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Folding crane imports in Indonesia, 2023–2025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" y="3448050"/>
            <a:ext cx="3752850" cy="1905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15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Coordination: </a:t>
            </a:r>
            <a:r>
              <a:rPr sz="950" b="0">
                <a:solidFill>
                  <a:srgbClr val="000000"/>
                </a:solidFill>
                <a:latin typeface="Neue Haas Grotesk Text Pro"/>
              </a:rPr>
              <a:t>BC · UTPE · ASC · MSH · CC · AE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" y="3714750"/>
            <a:ext cx="3752850" cy="144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1_import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01" y="3714750"/>
            <a:ext cx="2952649" cy="14478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1" name="Rectangle 40"/>
          <p:cNvSpPr/>
          <p:nvPr/>
        </p:nvSpPr>
        <p:spPr>
          <a:xfrm>
            <a:off x="342900" y="5219700"/>
            <a:ext cx="1847850" cy="11620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1_raw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5358513"/>
            <a:ext cx="1847850" cy="884425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3" name="Rectangle 42"/>
          <p:cNvSpPr/>
          <p:nvPr/>
        </p:nvSpPr>
        <p:spPr>
          <a:xfrm>
            <a:off x="2247900" y="5219700"/>
            <a:ext cx="1847850" cy="11620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m1_opportun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5281017"/>
            <a:ext cx="1847850" cy="1039416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5" name="Chevron 44"/>
          <p:cNvSpPr/>
          <p:nvPr/>
        </p:nvSpPr>
        <p:spPr>
          <a:xfrm>
            <a:off x="421005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2. Market Analysis &amp;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150" y="2457450"/>
            <a:ext cx="36766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Market size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STP and 4P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Competitor analysis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0050" y="3448050"/>
            <a:ext cx="3752850" cy="1905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15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Coordination: </a:t>
            </a:r>
            <a:r>
              <a:rPr sz="950" b="0">
                <a:solidFill>
                  <a:srgbClr val="000000"/>
                </a:solidFill>
                <a:latin typeface="Neue Haas Grotesk Text Pro"/>
              </a:rPr>
              <a:t>BC · UTPE · ASC · MSH · CC · 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0050" y="3714750"/>
            <a:ext cx="1847850" cy="8572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m2_marketsi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975" y="3714750"/>
            <a:ext cx="1524000" cy="8572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0" name="Rectangle 49"/>
          <p:cNvSpPr/>
          <p:nvPr/>
        </p:nvSpPr>
        <p:spPr>
          <a:xfrm>
            <a:off x="6115050" y="3714750"/>
            <a:ext cx="1847850" cy="8572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m2_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3714750"/>
            <a:ext cx="1524000" cy="8572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2" name="Rectangle 51"/>
          <p:cNvSpPr/>
          <p:nvPr/>
        </p:nvSpPr>
        <p:spPr>
          <a:xfrm>
            <a:off x="4210050" y="4619625"/>
            <a:ext cx="1847850" cy="8572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2_import20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4619625"/>
            <a:ext cx="1524000" cy="8572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4" name="Rectangle 53"/>
          <p:cNvSpPr/>
          <p:nvPr/>
        </p:nvSpPr>
        <p:spPr>
          <a:xfrm>
            <a:off x="6115050" y="4619625"/>
            <a:ext cx="1847850" cy="8572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2_4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4619625"/>
            <a:ext cx="1524000" cy="8572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6" name="Rectangle 55"/>
          <p:cNvSpPr/>
          <p:nvPr/>
        </p:nvSpPr>
        <p:spPr>
          <a:xfrm>
            <a:off x="4210050" y="5524500"/>
            <a:ext cx="3752850" cy="8572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m2_newec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4475" y="5524500"/>
            <a:ext cx="1524000" cy="8572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8" name="Chevron 57"/>
          <p:cNvSpPr/>
          <p:nvPr/>
        </p:nvSpPr>
        <p:spPr>
          <a:xfrm>
            <a:off x="807720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3. Innovation &amp; Development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15300" y="2457450"/>
            <a:ext cx="36766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Product knowledge training with F.lli Ferrari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PTO training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77200" y="3448050"/>
            <a:ext cx="3752850" cy="1905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15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Coordination: </a:t>
            </a:r>
            <a:r>
              <a:rPr sz="950" b="0">
                <a:solidFill>
                  <a:srgbClr val="000000"/>
                </a:solidFill>
                <a:latin typeface="Neue Haas Grotesk Text Pro"/>
              </a:rPr>
              <a:t>BC · UTPE · ASC · MSH · CC · AE · PDC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7200" y="3705225"/>
            <a:ext cx="3752850" cy="12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E9E57"/>
                </a:solidFill>
                <a:latin typeface="Neue Haas Grotesk Text Pro"/>
              </a:rPr>
              <a:t>F.lli Ferrari product training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77200" y="3848100"/>
            <a:ext cx="3752850" cy="1219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5_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892" y="3848100"/>
            <a:ext cx="2167467" cy="12192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64" name="TextBox 63"/>
          <p:cNvSpPr txBox="1"/>
          <p:nvPr/>
        </p:nvSpPr>
        <p:spPr>
          <a:xfrm>
            <a:off x="8077200" y="5114925"/>
            <a:ext cx="1847850" cy="12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E9E57"/>
                </a:solidFill>
                <a:latin typeface="Neue Haas Grotesk Text Pro"/>
              </a:rPr>
              <a:t>PTO training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77200" y="5257800"/>
            <a:ext cx="1847850" cy="11239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5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27" y="5257800"/>
            <a:ext cx="845597" cy="11239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67" name="Rectangle 66"/>
          <p:cNvSpPr/>
          <p:nvPr/>
        </p:nvSpPr>
        <p:spPr>
          <a:xfrm>
            <a:off x="9982200" y="5257800"/>
            <a:ext cx="1847850" cy="11239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5_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327" y="5257800"/>
            <a:ext cx="845597" cy="11239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69" name="TextBox 68"/>
          <p:cNvSpPr txBox="1"/>
          <p:nvPr/>
        </p:nvSpPr>
        <p:spPr>
          <a:xfrm>
            <a:off x="342900" y="6457950"/>
            <a:ext cx="114871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6B6B6B"/>
                </a:solidFill>
                <a:latin typeface="Neue Haas Grotesk Text Pro"/>
              </a:rPr>
              <a:t>Photos: my own work files and training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