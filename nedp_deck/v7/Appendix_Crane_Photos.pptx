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  <p:sldId id="15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Relationship Id="rId9" Type="http://schemas.openxmlformats.org/officeDocument/2006/relationships/image" Target="../media/image30.jpg"/><Relationship Id="rId10" Type="http://schemas.openxmlformats.org/officeDocument/2006/relationships/image" Target="../media/image3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Appendix: Crane Photos (1/2)/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What do the leader and</a:t>
              </a:r>
              <a:br>
                <a:rPr lang="en-US" sz="1600" b="1" dirty="0"/>
              </a:br>
              <a:r>
                <a:rPr lang="en-US" sz="1600" b="1" dirty="0"/>
                <a:t>our challenger look like?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Head to head: the class leader next to the crane we offer against 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Medium and Heavy tm classes where we have a challenger.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Light and Small photos not yet available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(models not in the photo library).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61950" y="2247900"/>
            <a:ext cx="2240280" cy="22860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950" y="2286000"/>
            <a:ext cx="22402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eue Haas Grotesk Text Pro"/>
              </a:rPr>
              <a:t>Medium 25–30 tm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1950" y="253365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mco_Veba_V8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40" y="2590800"/>
            <a:ext cx="1447101" cy="13144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19100" y="394335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Amco Veba V825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9100" y="411480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Leader · Rp 517 Jt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100" y="2590800"/>
            <a:ext cx="666750" cy="1524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LEADER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950" y="441960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_lli_Ferrari_268_A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4509047"/>
            <a:ext cx="2125980" cy="12498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19100" y="582930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258 A3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9100" y="600075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Rp 455 Jt · photo: 268 A4, same 8 Series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9100" y="4476750"/>
            <a:ext cx="666750" cy="1524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OUR CRANE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9380" y="2247900"/>
            <a:ext cx="2240280" cy="22860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9380" y="2286000"/>
            <a:ext cx="22402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eue Haas Grotesk Text Pro"/>
              </a:rPr>
              <a:t>Medium 30–35 tm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9380" y="253365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Hiab_X_CLX_38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158" y="2590800"/>
            <a:ext cx="2024725" cy="13144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716530" y="394335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HIAB X-CLX 388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16530" y="411480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Leader · Rp 762 Jt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16530" y="2590800"/>
            <a:ext cx="666750" cy="1524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LEADER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9380" y="441960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XCMG_SQZ325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295" y="4476750"/>
            <a:ext cx="1314450" cy="131445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716530" y="582930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XCMG SQZ325.4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16530" y="600075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Rp 484 Jt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16530" y="4476750"/>
            <a:ext cx="666750" cy="1524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OUR CRANE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810" y="2247900"/>
            <a:ext cx="2240280" cy="22860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56810" y="2286000"/>
            <a:ext cx="22402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eue Haas Grotesk Text Pro"/>
              </a:rPr>
              <a:t>Medium 35–40 tm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56810" y="253365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Palfinger_PK_410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3960" y="2716530"/>
            <a:ext cx="2125980" cy="106299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013960" y="394335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Palfinger PK 41002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3960" y="411480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Leader · Rp 1.103 Jt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13960" y="2590800"/>
            <a:ext cx="666750" cy="1524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LEADER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56810" y="441960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XCMG_KSQZ365_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9725" y="4476750"/>
            <a:ext cx="1314450" cy="131445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013960" y="582930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XCMG KSQZ365.4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13960" y="600075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Rp 478 Jt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13960" y="4476750"/>
            <a:ext cx="666750" cy="1524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OUR CRANE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4240" y="2247900"/>
            <a:ext cx="2240280" cy="22860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54240" y="2286000"/>
            <a:ext cx="22402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eue Haas Grotesk Text Pro"/>
              </a:rPr>
              <a:t>Heavy 45–50 tm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54240" y="253365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Amco_Veba_V95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155" y="2590800"/>
            <a:ext cx="1314450" cy="131445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7311390" y="394335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Amco Veba V950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1390" y="411480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Leader · Rp 1.575 Jt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1390" y="2590800"/>
            <a:ext cx="666750" cy="1524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LEADER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54240" y="441960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F_lli_Ferrari_FBR450R_A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8612" y="4476750"/>
            <a:ext cx="1731535" cy="131445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311390" y="582930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FBR450 A4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1390" y="600075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Rp 1.251 Jt · photo: FBR450R A4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1390" y="4476750"/>
            <a:ext cx="666750" cy="1524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OUR CRANE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51670" y="2247900"/>
            <a:ext cx="2240280" cy="228600"/>
          </a:xfrm>
          <a:prstGeom prst="rect">
            <a:avLst/>
          </a:prstGeom>
          <a:solidFill>
            <a:srgbClr val="0B4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551670" y="2286000"/>
            <a:ext cx="22402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eue Haas Grotesk Text Pro"/>
              </a:rPr>
              <a:t>Heavy 50–55 tm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51670" y="253365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Palfinger_PK_5300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4585" y="2590800"/>
            <a:ext cx="1314450" cy="131445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9608820" y="394335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Palfinger PK 53002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8820" y="411480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Leader · Rp 1.361 Jt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608820" y="2590800"/>
            <a:ext cx="666750" cy="1524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LEADER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51670" y="4419600"/>
            <a:ext cx="22402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F_lli_Ferrari_FBR450R_A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6042" y="4476750"/>
            <a:ext cx="1731535" cy="131445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9608820" y="5829300"/>
            <a:ext cx="212598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FBR450R A4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08820" y="6000750"/>
            <a:ext cx="21259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Rp 1.408 Jt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08820" y="4476750"/>
            <a:ext cx="666750" cy="152400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Neue Haas Grotesk Text Pro"/>
              </a:rPr>
              <a:t>OUR CRANE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2900" y="6324600"/>
            <a:ext cx="11487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F7F7F"/>
                </a:solidFill>
                <a:latin typeface="Neue Haas Grotesk Text Pro"/>
              </a:rPr>
              <a:t>Photos: brand brochures and websites, collected for the F.lli Ferrari market strategy deck. Prices per unit as on the class map slides (competitors = average import price × Rp 17.803/USD; F.lli Ferrari = price list June 2026, K − I, less 13.6% TSP GP).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482864" cy="587067"/>
            <a:chOff x="347225" y="685795"/>
            <a:chExt cx="11482864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81915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Appendix: Crane Photos (2/2)/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572500" y="685795"/>
              <a:ext cx="325755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other cranes</a:t>
              </a:r>
              <a:br>
                <a:rPr lang="en-US" sz="1600" b="1" dirty="0"/>
              </a:br>
              <a:r>
                <a:rPr lang="en-US" sz="1600" b="1" dirty="0"/>
                <a:t>did we look at?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Other class leaders, and F.lli Ferrari models we checked but did not pick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Leaders of classes with no cheaper challenger yet, and F.lli Ferrari models that are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more than 30% above the leader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in their class.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342900" y="2247900"/>
            <a:ext cx="571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4D2A"/>
                </a:solidFill>
                <a:latin typeface="Neue Haas Grotesk Text Pro"/>
              </a:rPr>
              <a:t>Class leaders with no challenger yet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" y="2457450"/>
            <a:ext cx="222123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any_Palfinger_SPK425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" y="2514600"/>
            <a:ext cx="1295400" cy="1295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00050" y="384810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Sany Palfinger SPK42502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0050" y="401955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Medium 40–45 tm · Rp 693 Jt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9380" y="2457450"/>
            <a:ext cx="222123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any_Palfinger_SPK615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445" y="2514600"/>
            <a:ext cx="1943100" cy="1295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716530" y="384810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Sany Palfinger SPK61502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16530" y="401955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Heavy 60–65 tm · Rp 1.235 Jt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75860" y="2457450"/>
            <a:ext cx="222123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alfinger_PK_76002_EH_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875" y="2514600"/>
            <a:ext cx="1727200" cy="1295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033010" y="384810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Palfinger PK 76002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3010" y="401955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Heavy 70–75 tm · Rp 1.918 Jt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92340" y="2457450"/>
            <a:ext cx="222123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alfinger_PK_88002_EH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490" y="2635568"/>
            <a:ext cx="2106930" cy="10534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349490" y="384810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Palfinger PK 88002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49490" y="401955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Heavy 80–85 tm · Rp 1.863 Jt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8820" y="2457450"/>
            <a:ext cx="222123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XCMG_GSQZ880_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735" y="2514600"/>
            <a:ext cx="1295400" cy="12954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665970" y="384810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eue Haas Grotesk Text Pro"/>
              </a:rPr>
              <a:t>XCMG GSQZ880.6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5970" y="401955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Heavy 85–90 tm · Rp 1.162 Jt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" y="4343400"/>
            <a:ext cx="571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B4D2A"/>
                </a:solidFill>
                <a:latin typeface="Neue Haas Grotesk Text Pro"/>
              </a:rPr>
              <a:t>F.lli Ferrari models checked, not picked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2900" y="4552950"/>
            <a:ext cx="222123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F_lli_Ferrari_FBR350R_A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" y="4610100"/>
            <a:ext cx="1200150" cy="120015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00050" y="584835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FBR350R A4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0050" y="601980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Medium 30–35 · +49% vs X-CLX 388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9380" y="4552950"/>
            <a:ext cx="222123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F_lli_Ferrari_746_A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3833" y="4610100"/>
            <a:ext cx="1292325" cy="120015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716530" y="584835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746 A4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16530" y="601980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Medium 40–45 · +113% vs SPK42502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75860" y="4552950"/>
            <a:ext cx="222123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F_lli_Ferrari_9601CR_A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3891" y="4610100"/>
            <a:ext cx="1285169" cy="120015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033010" y="584835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9601CR A8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33010" y="601980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Heavy 50–55 · +140% vs PK 53002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92340" y="4552950"/>
            <a:ext cx="222123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F_lli_Ferrari_FBR660R_A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9546" y="4610100"/>
            <a:ext cx="1286817" cy="120015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349490" y="584835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FBR660R A4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49490" y="601980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Heavy 55–60 · no import demand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08820" y="4552950"/>
            <a:ext cx="222123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F_lli_Ferrari_990R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6947" y="4610100"/>
            <a:ext cx="1084976" cy="120015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665970" y="5848350"/>
            <a:ext cx="210693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B4D2A"/>
                </a:solidFill>
                <a:latin typeface="Neue Haas Grotesk Text Pro"/>
              </a:rPr>
              <a:t>F.lli Ferrari 990R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65970" y="6019800"/>
            <a:ext cx="210693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Neue Haas Grotesk Text Pro"/>
              </a:rPr>
              <a:t>Heavy 70–75 · +121% vs PK 76002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2900" y="6343650"/>
            <a:ext cx="11487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7F7F7F"/>
                </a:solidFill>
                <a:latin typeface="Neue Haas Grotesk Text Pro"/>
              </a:rPr>
              <a:t>Photos: brand brochures and websites. Prices per unit as on the class map slides. % = F.lli Ferrari price vs the class leader (price list June 2026, K − I, less 13.6% TSP GP; 9601CR A8 = UTPE quote; 990R = TSP price less deck &amp; install, less 13.6%).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