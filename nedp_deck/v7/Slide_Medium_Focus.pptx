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6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8"/>
  </p:notesMasterIdLst>
  <p:handoutMasterIdLst>
    <p:handoutMasterId r:id="rId19"/>
  </p:handoutMasterIdLst>
  <p:sldIdLst>
    <p:sldId id="155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32" autoAdjust="0"/>
    <p:restoredTop sz="94702"/>
  </p:normalViewPr>
  <p:slideViewPr>
    <p:cSldViewPr snapToGrid="0">
      <p:cViewPr varScale="1">
        <p:scale>
          <a:sx n="70" d="100"/>
          <a:sy n="70" d="100"/>
        </p:scale>
        <p:origin x="4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5" Type="http://schemas.openxmlformats.org/officeDocument/2006/relationships/slide" Target="slides/slide1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26"/>
          <c:w val="0.96"/>
          <c:h val="0.5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Medium value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</c:spPr>
          </c:dPt>
          <c:dPt>
            <c:idx val="1"/>
            <c:spPr>
              <a:solidFill>
                <a:srgbClr val="1E9E57"/>
              </a:solidFill>
            </c:spPr>
          </c:dPt>
          <c:dPt>
            <c:idx val="2"/>
            <c:spPr>
              <a:solidFill>
                <a:srgbClr val="1E9E57"/>
              </a:solidFill>
            </c:spPr>
          </c:dPt>
          <c:dPt>
            <c:idx val="3"/>
            <c:spPr>
              <a:solidFill>
                <a:srgbClr val="BFBFBF"/>
              </a:solidFill>
            </c:spPr>
          </c:dPt>
          <c:cat>
            <c:strRef>
              <c:f>Sheet1!$A$2:$A$5</c:f>
              <c:strCache>
                <c:ptCount val="4"/>
                <c:pt idx="0">
                  <c:v>25–30 tm
V825</c:v>
                </c:pt>
                <c:pt idx="1">
                  <c:v>30–35 tm
X-CLX 388</c:v>
                </c:pt>
                <c:pt idx="2">
                  <c:v>35–40 tm
PK 41002</c:v>
                </c:pt>
                <c:pt idx="3">
                  <c:v>40–45 tm
SPK42502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0.1888</c:v>
                </c:pt>
                <c:pt idx="1">
                  <c:v>0.3448</c:v>
                </c:pt>
                <c:pt idx="2">
                  <c:v>0.3445</c:v>
                </c:pt>
                <c:pt idx="3">
                  <c:v>0.1219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>
                  <a:latin typeface="Neue Haas Grotesk Text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6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844775" cy="587067"/>
            <a:chOff x="347225" y="685795"/>
            <a:chExt cx="11844775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Medium Class: Where to Focus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191099" y="685795"/>
              <a:ext cx="400090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Which tiers hold the value? Which models do we fight?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38115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Medium: focus on 30–40 tm, where two tiers hold 69% of Medium value</a:t>
                      </a:r>
                      <a:r>
                        <a:rPr lang="en-US" sz="1800" b="1" dirty="0"/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Take on HIAB X-CLX 388 with FBR350R A4 and Palfinger PK 41002 with 7441C.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4290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6250" y="236220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69%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3100" y="232410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of Medium value sits in 30–35 tm (34%) and 35–40 tm (34%)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005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236220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14–25%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0250" y="232410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F.lli Ferrari is cheaper than the top 1 model in both tiers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720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0550" y="236220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7400" y="232410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models to beat, HIAB X-CLX 388 and Palfinger PK 41002, with equal or better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" y="3028950"/>
            <a:ext cx="4476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% of Medium import value by tier, and top 1 model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342900" y="3200400"/>
          <a:ext cx="4476750" cy="31813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" name="Left Brace 46"/>
          <p:cNvSpPr/>
          <p:nvPr/>
        </p:nvSpPr>
        <p:spPr>
          <a:xfrm rot="5400000">
            <a:off x="2486025" y="3185851"/>
            <a:ext cx="190500" cy="1822132"/>
          </a:xfrm>
          <a:prstGeom prst="lef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9209" y="3620667"/>
            <a:ext cx="2584132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69% of Medium value
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142 of 214 units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8250" y="3028950"/>
            <a:ext cx="67818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Head to head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048250" y="3200400"/>
          <a:ext cx="67818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/>
                <a:gridCol w="1295400"/>
                <a:gridCol w="1809750"/>
                <a:gridCol w="2476500"/>
              </a:tblGrid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Top 1 model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F.lli Ferrari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Equal features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Ferrari only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HIAB X-CLX 388 (34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1.460.000.000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FBR350R A4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1.090.000.000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25% cheaper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Radio remote control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Magic Touch auto fold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Dynamic Load Diagram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Double linkage, power boost*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Electronic control (HIAB: manual)</a:t>
                      </a:r>
                    </a:p>
                  </a:txBody>
                  <a:tcPr anchor="ctr" marL="76200" marR="76200" marT="38100" marB="38100">
                    <a:solidFill>
                      <a:srgbClr val="E1F9EC"/>
                    </a:solidFill>
                  </a:tcPr>
                </a:tc>
              </a:tr>
              <a:tr h="12763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 PK 41002 (38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1.440.000.000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7441C (44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1.240.000.000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14% cheaper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Double linkage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Power boost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Electronic control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Stability control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+6 tm capacity (44 vs 38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Magic Touch auto fold**</a:t>
                      </a:r>
                    </a:p>
                  </a:txBody>
                  <a:tcPr anchor="ctr" marL="76200" marR="76200" marT="38100" marB="38100">
                    <a:solidFill>
                      <a:srgbClr val="E1F9EC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342900" y="6457950"/>
            <a:ext cx="114871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Neue Haas Grotesk Text Pro"/>
              </a:rPr>
              <a:t>Source: Crane Market GVW Pairing v11 (Noir), Jan 2023 – 14 Aug 2026; Hyva excluded; tier by original max lifting moment. Prices as on the Medium table slide (Rp 17.803/USD, incl. duty and import tax; 7441C estimate). Features: Hiab, Palfinger and F.lli Ferrari product pages and brochures; HIAB X-CLX 388 is manual control with optional remote. *Not yet verified on the FBR350R A4 datasheet. **P-Fold not confirmed on PK 41002; if fitted, Magic Touch is an equal feature. Lifting capacity in max tm.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4038</TotalTime>
  <Words>2440</Words>
  <Application>Microsoft Office PowerPoint</Application>
  <PresentationFormat>Widescreen</PresentationFormat>
  <Paragraphs>532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4</cp:revision>
  <dcterms:created xsi:type="dcterms:W3CDTF">2026-10-16T02:49:26Z</dcterms:created>
  <dcterms:modified xsi:type="dcterms:W3CDTF">2026-10-18T22:11:43Z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