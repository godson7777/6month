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20"/>
  </p:notesMasterIdLst>
  <p:handoutMasterIdLst>
    <p:handoutMasterId r:id="rId21"/>
  </p:handoutMasterIdLst>
  <p:sldIdLst>
    <p:sldId id="1519" r:id="rId5"/>
    <p:sldId id="1541" r:id="rId6"/>
    <p:sldId id="1530" r:id="rId7"/>
    <p:sldId id="259" r:id="rId8"/>
    <p:sldId id="260" r:id="rId9"/>
    <p:sldId id="261" r:id="rId10"/>
    <p:sldId id="1532" r:id="rId11"/>
    <p:sldId id="1545" r:id="rId12"/>
    <p:sldId id="1550" r:id="rId13"/>
    <p:sldId id="1548" r:id="rId14"/>
    <p:sldId id="1551" r:id="rId15"/>
    <p:sldId id="263" r:id="rId16"/>
    <p:sldId id="1547" r:id="rId17"/>
    <p:sldId id="265" r:id="rId18"/>
    <p:sldId id="153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2"/>
  </p:normalViewPr>
  <p:slideViewPr>
    <p:cSldViewPr snapToGrid="0">
      <p:cViewPr varScale="1">
        <p:scale>
          <a:sx n="70" d="100"/>
          <a:sy n="70" d="100"/>
        </p:scale>
        <p:origin x="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Book3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1C8C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4D555C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49</c:v>
                </c:pt>
                <c:pt idx="2">
                  <c:v>49</c:v>
                </c:pt>
                <c:pt idx="3">
                  <c:v>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DCE-44B0-BA7F-FED634F5D5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88909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4D555C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</c:v>
                </c:pt>
                <c:pt idx="1">
                  <c:v>51</c:v>
                </c:pt>
                <c:pt idx="2">
                  <c:v>66</c:v>
                </c:pt>
                <c:pt idx="3">
                  <c:v>43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DCE-44B0-BA7F-FED634F5D5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22C96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4D555C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71</c:v>
                </c:pt>
                <c:pt idx="1">
                  <c:v>58</c:v>
                </c:pt>
                <c:pt idx="2">
                  <c:v>54</c:v>
                </c:pt>
                <c:pt idx="3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DCE-44B0-BA7F-FED634F5D5E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7693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defRPr sz="750">
                    <a:solidFill>
                      <a:srgbClr val="4D555C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</c:v>
                </c:pt>
                <c:pt idx="1">
                  <c:v>17</c:v>
                </c:pt>
                <c:pt idx="2">
                  <c:v>35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DCE-44B0-BA7F-FED634F5D5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7DBDF"/>
            </a:solidFill>
          </a:ln>
        </c:spPr>
        <c:txPr>
          <a:bodyPr/>
          <a:lstStyle/>
          <a:p>
            <a:pPr>
              <a:defRPr sz="900">
                <a:solidFill>
                  <a:srgbClr val="4D555C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697177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</a:t>
            </a:r>
            <a:r>
              <a:rPr lang="en-US" baseline="0" dirty="0"/>
              <a:t> Import Folding Crane in Indonesia</a:t>
            </a:r>
            <a:endParaRPr lang="en-ID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D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Light</c:v>
                </c:pt>
                <c:pt idx="1">
                  <c:v>Small</c:v>
                </c:pt>
                <c:pt idx="2">
                  <c:v>Medium</c:v>
                </c:pt>
                <c:pt idx="3">
                  <c:v>Heavy</c:v>
                </c:pt>
                <c:pt idx="4">
                  <c:v>Total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177</c:v>
                </c:pt>
                <c:pt idx="2">
                  <c:v>377</c:v>
                </c:pt>
                <c:pt idx="3">
                  <c:v>573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E8-4A56-A4F2-0DC5ECB43801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Bar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Light</c:v>
                </c:pt>
                <c:pt idx="1">
                  <c:v>Small</c:v>
                </c:pt>
                <c:pt idx="2">
                  <c:v>Medium</c:v>
                </c:pt>
                <c:pt idx="3">
                  <c:v>Heavy</c:v>
                </c:pt>
                <c:pt idx="4">
                  <c:v>Total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177</c:v>
                </c:pt>
                <c:pt idx="1">
                  <c:v>200</c:v>
                </c:pt>
                <c:pt idx="2">
                  <c:v>196</c:v>
                </c:pt>
                <c:pt idx="3">
                  <c:v>65</c:v>
                </c:pt>
                <c:pt idx="4">
                  <c:v>638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E8-4A56-A4F2-0DC5ECB438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7656975"/>
        <c:axId val="582086639"/>
      </c:barChart>
      <c:catAx>
        <c:axId val="1557656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086639"/>
        <c:crosses val="autoZero"/>
        <c:auto val="1"/>
        <c:lblAlgn val="ctr"/>
        <c:lblOffset val="100"/>
        <c:noMultiLvlLbl val="0"/>
      </c:catAx>
      <c:valAx>
        <c:axId val="5820866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656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8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Tanjung </a:t>
            </a:r>
            <a:r>
              <a:rPr lang="en-US" dirty="0" err="1"/>
              <a:t>Redep</a:t>
            </a:r>
            <a:r>
              <a:rPr lang="en-US" dirty="0"/>
              <a:t>: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 site operation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DEDBA-E14B-464A-AE62-5D2DB856F53D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7728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081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Project scope Adalah market study di area folding crane/knuckle boom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DEDBA-E14B-464A-AE62-5D2DB856F53D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457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jpeg"/><Relationship Id="rId5" Type="http://schemas.openxmlformats.org/officeDocument/2006/relationships/image" Target="../media/image3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Relationship Id="rId4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A057-FF69-DB4E-18F5-A26FC0C91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8" y="4325112"/>
            <a:ext cx="10683240" cy="894104"/>
          </a:xfrm>
        </p:spPr>
        <p:txBody>
          <a:bodyPr anchor="ctr">
            <a:normAutofit/>
          </a:bodyPr>
          <a:lstStyle/>
          <a:p>
            <a:pPr algn="ctr"/>
            <a:r>
              <a:rPr lang="en-US" sz="5000" dirty="0"/>
              <a:t>New Employee Development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F3FA-87A9-9163-3213-65A6A97B1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4" y="5219216"/>
            <a:ext cx="5086118" cy="480373"/>
          </a:xfrm>
        </p:spPr>
        <p:txBody>
          <a:bodyPr>
            <a:normAutofit/>
          </a:bodyPr>
          <a:lstStyle/>
          <a:p>
            <a:r>
              <a:rPr lang="en-ID" sz="2400" b="1" dirty="0"/>
              <a:t>MID YEAR REVIEW</a:t>
            </a:r>
            <a:r>
              <a:rPr lang="en-ID" sz="2400" dirty="0"/>
              <a:t>​</a:t>
            </a:r>
            <a:endParaRPr lang="en-US" sz="24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CC8E86-14E4-714A-1971-B223DC336448}"/>
              </a:ext>
            </a:extLst>
          </p:cNvPr>
          <p:cNvSpPr txBox="1">
            <a:spLocks/>
          </p:cNvSpPr>
          <p:nvPr/>
        </p:nvSpPr>
        <p:spPr>
          <a:xfrm>
            <a:off x="298174" y="5699589"/>
            <a:ext cx="5086118" cy="480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Neue Haas Grotesk Text Pro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Neue Haas Grotesk Text Pro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Neue Haas Grotesk Text Pro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Neue Haas Grotesk Text Pro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Tiberias </a:t>
            </a:r>
            <a:r>
              <a:rPr lang="en-US" sz="2400" dirty="0" err="1"/>
              <a:t>Krisgaharu</a:t>
            </a:r>
            <a:r>
              <a:rPr lang="en-US" sz="2400" dirty="0"/>
              <a:t> Simu (P0126010)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F690473-A235-9313-7573-1B02647587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3AD9-3EA1-A3B0-719C-0D712428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B22523-E20C-8F5D-10D1-E15B2711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81" y="305694"/>
            <a:ext cx="5391190" cy="1077286"/>
          </a:xfrm>
        </p:spPr>
        <p:txBody>
          <a:bodyPr/>
          <a:lstStyle/>
          <a:p>
            <a:pPr algn="ctr"/>
            <a:r>
              <a:rPr lang="en-US" sz="3600" b="1" dirty="0"/>
              <a:t>My Education &amp; Working Experience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92E31-C918-11AB-2F1E-EF06F9A7EEA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CDEB1EBB-CFF7-4B44-9AEA-316A6F2E08DB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572E-800B-CA9E-96BA-891AFF1B46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F1262-63BE-6958-087F-8979D22E81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07957" y="1693831"/>
            <a:ext cx="3035193" cy="1340989"/>
          </a:xfrm>
        </p:spPr>
        <p:txBody>
          <a:bodyPr/>
          <a:lstStyle/>
          <a:p>
            <a:pPr algn="ctr"/>
            <a:r>
              <a:rPr lang="en-US" dirty="0"/>
              <a:t>Holla! I’m Ibe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My position is </a:t>
            </a:r>
            <a:r>
              <a:rPr lang="en-ID" dirty="0">
                <a:solidFill>
                  <a:srgbClr val="11181C"/>
                </a:solidFill>
                <a:latin typeface="Neue Haas Grotesk Text Pro"/>
              </a:rPr>
              <a:t>Marketing Strategic 2 Associate, from Marketing Unit &amp; Strategic</a:t>
            </a:r>
          </a:p>
        </p:txBody>
      </p:sp>
      <p:pic>
        <p:nvPicPr>
          <p:cNvPr id="11" name="Picture 10" descr="f2_6.png">
            <a:extLst>
              <a:ext uri="{FF2B5EF4-FFF2-40B4-BE49-F238E27FC236}">
                <a16:creationId xmlns:a16="http://schemas.microsoft.com/office/drawing/2014/main" id="{00A06984-D16E-A808-698E-CA8A49448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8" r="1538"/>
          <a:stretch>
            <a:fillRect/>
          </a:stretch>
        </p:blipFill>
        <p:spPr>
          <a:xfrm>
            <a:off x="54925" y="1159864"/>
            <a:ext cx="3731011" cy="5774184"/>
          </a:xfrm>
          <a:prstGeom prst="roundRect">
            <a:avLst>
              <a:gd name="adj" fmla="val 4000"/>
            </a:avLst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0152DB-9DB0-B3CF-F662-C3FC04902082}"/>
              </a:ext>
            </a:extLst>
          </p:cNvPr>
          <p:cNvSpPr txBox="1"/>
          <p:nvPr/>
        </p:nvSpPr>
        <p:spPr>
          <a:xfrm>
            <a:off x="6267891" y="1691295"/>
            <a:ext cx="220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Education</a:t>
            </a:r>
            <a:endParaRPr lang="en-ID" dirty="0"/>
          </a:p>
        </p:txBody>
      </p:sp>
      <p:pic>
        <p:nvPicPr>
          <p:cNvPr id="21" name="Picture 20" descr="f2_1.png">
            <a:extLst>
              <a:ext uri="{FF2B5EF4-FFF2-40B4-BE49-F238E27FC236}">
                <a16:creationId xmlns:a16="http://schemas.microsoft.com/office/drawing/2014/main" id="{B71593F8-9595-848F-508C-B2F10AC90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78" y="2087118"/>
            <a:ext cx="793227" cy="77604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CCF9D6-870C-00F9-2F0C-CE6527A1422D}"/>
              </a:ext>
            </a:extLst>
          </p:cNvPr>
          <p:cNvSpPr txBox="1"/>
          <p:nvPr/>
        </p:nvSpPr>
        <p:spPr>
          <a:xfrm>
            <a:off x="7103205" y="2290472"/>
            <a:ext cx="462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Universitas </a:t>
            </a:r>
            <a:r>
              <a:rPr lang="en-ID" dirty="0" err="1"/>
              <a:t>Sanata</a:t>
            </a:r>
            <a:r>
              <a:rPr lang="en-ID" dirty="0"/>
              <a:t> Dharma, Yogyakarta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E2268-B7B4-3DAE-961A-0A468562BBE7}"/>
              </a:ext>
            </a:extLst>
          </p:cNvPr>
          <p:cNvCxnSpPr>
            <a:cxnSpLocks/>
          </p:cNvCxnSpPr>
          <p:nvPr/>
        </p:nvCxnSpPr>
        <p:spPr>
          <a:xfrm flipV="1">
            <a:off x="607855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7407171-0050-124C-39F3-8619AB27DC8A}"/>
              </a:ext>
            </a:extLst>
          </p:cNvPr>
          <p:cNvSpPr txBox="1"/>
          <p:nvPr/>
        </p:nvSpPr>
        <p:spPr>
          <a:xfrm>
            <a:off x="7103205" y="2595505"/>
            <a:ext cx="6103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Bachelor (S1) · Management · Faculty of Economics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111364-386F-C1C3-0537-2AE5198878B2}"/>
              </a:ext>
            </a:extLst>
          </p:cNvPr>
          <p:cNvSpPr txBox="1"/>
          <p:nvPr/>
        </p:nvSpPr>
        <p:spPr>
          <a:xfrm>
            <a:off x="6313967" y="3089212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Working Experiences</a:t>
            </a:r>
            <a:endParaRPr lang="en-ID" dirty="0"/>
          </a:p>
        </p:txBody>
      </p:sp>
      <p:pic>
        <p:nvPicPr>
          <p:cNvPr id="34" name="Picture 33" descr="f2_4.png">
            <a:extLst>
              <a:ext uri="{FF2B5EF4-FFF2-40B4-BE49-F238E27FC236}">
                <a16:creationId xmlns:a16="http://schemas.microsoft.com/office/drawing/2014/main" id="{89BA315C-7C57-B066-EEEE-AD83A5703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978" y="4826544"/>
            <a:ext cx="702595" cy="84194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FA50512-DD24-A1A4-4BF9-6B6495635C8A}"/>
              </a:ext>
            </a:extLst>
          </p:cNvPr>
          <p:cNvSpPr txBox="1"/>
          <p:nvPr/>
        </p:nvSpPr>
        <p:spPr>
          <a:xfrm>
            <a:off x="7498367" y="5080564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Krishma International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5302A1-0EE1-AE21-D4B7-55ECF9CF4FF6}"/>
              </a:ext>
            </a:extLst>
          </p:cNvPr>
          <p:cNvSpPr txBox="1"/>
          <p:nvPr/>
        </p:nvSpPr>
        <p:spPr>
          <a:xfrm>
            <a:off x="7564460" y="5353037"/>
            <a:ext cx="15620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Marketing Coordinator</a:t>
            </a:r>
          </a:p>
        </p:txBody>
      </p:sp>
      <p:pic>
        <p:nvPicPr>
          <p:cNvPr id="42" name="Picture 41" descr="f2_3.png">
            <a:extLst>
              <a:ext uri="{FF2B5EF4-FFF2-40B4-BE49-F238E27FC236}">
                <a16:creationId xmlns:a16="http://schemas.microsoft.com/office/drawing/2014/main" id="{88212FCB-8E30-5669-CAE1-6B0BEA931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982" y="4364121"/>
            <a:ext cx="1163248" cy="24622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B462883-025E-5943-99C0-4B2647AF8431}"/>
              </a:ext>
            </a:extLst>
          </p:cNvPr>
          <p:cNvSpPr txBox="1"/>
          <p:nvPr/>
        </p:nvSpPr>
        <p:spPr>
          <a:xfrm>
            <a:off x="7498368" y="4302482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Outlier</a:t>
            </a:r>
            <a:endParaRPr lang="en-ID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71639E-826F-C073-A716-01679F13413E}"/>
              </a:ext>
            </a:extLst>
          </p:cNvPr>
          <p:cNvSpPr txBox="1"/>
          <p:nvPr/>
        </p:nvSpPr>
        <p:spPr>
          <a:xfrm>
            <a:off x="7527427" y="4623385"/>
            <a:ext cx="1809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Team Lead Data Annotator</a:t>
            </a:r>
            <a:endParaRPr lang="en-ID" sz="1000" dirty="0"/>
          </a:p>
        </p:txBody>
      </p:sp>
      <p:pic>
        <p:nvPicPr>
          <p:cNvPr id="48" name="Picture 47" descr="f2_2.png">
            <a:extLst>
              <a:ext uri="{FF2B5EF4-FFF2-40B4-BE49-F238E27FC236}">
                <a16:creationId xmlns:a16="http://schemas.microsoft.com/office/drawing/2014/main" id="{C2223B3E-0CD8-541A-677E-61AB9F5A9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978" y="3563152"/>
            <a:ext cx="954176" cy="53911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1AEE781-1258-F311-FD78-2CD364FFFABA}"/>
              </a:ext>
            </a:extLst>
          </p:cNvPr>
          <p:cNvSpPr txBox="1"/>
          <p:nvPr/>
        </p:nvSpPr>
        <p:spPr>
          <a:xfrm>
            <a:off x="7498368" y="3492955"/>
            <a:ext cx="3330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PT </a:t>
            </a:r>
            <a:r>
              <a:rPr lang="en-US" dirty="0" err="1"/>
              <a:t>Triatra</a:t>
            </a:r>
            <a:r>
              <a:rPr lang="en-US" dirty="0"/>
              <a:t> </a:t>
            </a:r>
            <a:r>
              <a:rPr lang="en-US" dirty="0" err="1"/>
              <a:t>Sineria</a:t>
            </a:r>
            <a:r>
              <a:rPr lang="en-US" dirty="0"/>
              <a:t> Pratama</a:t>
            </a:r>
            <a:endParaRPr lang="en-ID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B0F668-1AE0-E5FF-A945-94F253DD9E80}"/>
              </a:ext>
            </a:extLst>
          </p:cNvPr>
          <p:cNvSpPr txBox="1"/>
          <p:nvPr/>
        </p:nvSpPr>
        <p:spPr>
          <a:xfrm>
            <a:off x="7527427" y="3813858"/>
            <a:ext cx="2573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>
                <a:solidFill>
                  <a:srgbClr val="697177"/>
                </a:solidFill>
                <a:latin typeface="Neue Haas Grotesk Text Pro"/>
              </a:rPr>
              <a:t>Marketing Strategic 2 Associate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4688D1F-B482-673B-CCAA-6B9A98333F45}"/>
              </a:ext>
            </a:extLst>
          </p:cNvPr>
          <p:cNvCxnSpPr>
            <a:cxnSpLocks/>
          </p:cNvCxnSpPr>
          <p:nvPr/>
        </p:nvCxnSpPr>
        <p:spPr>
          <a:xfrm>
            <a:off x="6096000" y="3032547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10EC39C-B600-C965-4416-31DEEB23005D}"/>
              </a:ext>
            </a:extLst>
          </p:cNvPr>
          <p:cNvCxnSpPr>
            <a:cxnSpLocks/>
          </p:cNvCxnSpPr>
          <p:nvPr/>
        </p:nvCxnSpPr>
        <p:spPr>
          <a:xfrm>
            <a:off x="6072345" y="5807206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DFDFB8F-D12D-5D33-271B-7374A61E838C}"/>
              </a:ext>
            </a:extLst>
          </p:cNvPr>
          <p:cNvSpPr txBox="1"/>
          <p:nvPr/>
        </p:nvSpPr>
        <p:spPr>
          <a:xfrm>
            <a:off x="6256481" y="5752230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Organization</a:t>
            </a:r>
            <a:endParaRPr lang="en-ID" dirty="0"/>
          </a:p>
        </p:txBody>
      </p:sp>
      <p:pic>
        <p:nvPicPr>
          <p:cNvPr id="67" name="Picture 66" descr="f2_5.png">
            <a:extLst>
              <a:ext uri="{FF2B5EF4-FFF2-40B4-BE49-F238E27FC236}">
                <a16:creationId xmlns:a16="http://schemas.microsoft.com/office/drawing/2014/main" id="{97191461-D450-B5DF-C275-FC55F3208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270" y="6134656"/>
            <a:ext cx="630433" cy="63253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0361D0A1-CAFE-5BAE-B20E-C32CA61A6003}"/>
              </a:ext>
            </a:extLst>
          </p:cNvPr>
          <p:cNvSpPr txBox="1"/>
          <p:nvPr/>
        </p:nvSpPr>
        <p:spPr>
          <a:xfrm>
            <a:off x="7527427" y="6049608"/>
            <a:ext cx="34241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dirty="0"/>
              <a:t>HMJM Universitas </a:t>
            </a:r>
            <a:r>
              <a:rPr lang="en-ID" sz="1600" dirty="0" err="1"/>
              <a:t>Sanata</a:t>
            </a:r>
            <a:r>
              <a:rPr lang="en-ID" sz="1600" dirty="0"/>
              <a:t> Dharma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710EF1-15B8-75A2-1E30-1A80623AB5D1}"/>
              </a:ext>
            </a:extLst>
          </p:cNvPr>
          <p:cNvSpPr txBox="1"/>
          <p:nvPr/>
        </p:nvSpPr>
        <p:spPr>
          <a:xfrm>
            <a:off x="7527427" y="6363964"/>
            <a:ext cx="12318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President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09DB22-8EC5-7F21-319F-2585AD3AAC53}"/>
              </a:ext>
            </a:extLst>
          </p:cNvPr>
          <p:cNvSpPr txBox="1"/>
          <p:nvPr/>
        </p:nvSpPr>
        <p:spPr>
          <a:xfrm>
            <a:off x="11076722" y="6141941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5517FE-2D1C-278A-D6EB-BB287D78351E}"/>
              </a:ext>
            </a:extLst>
          </p:cNvPr>
          <p:cNvSpPr txBox="1"/>
          <p:nvPr/>
        </p:nvSpPr>
        <p:spPr>
          <a:xfrm>
            <a:off x="11076721" y="520367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1A8BF5-B21E-01A4-02C4-91E94C1A21CB}"/>
              </a:ext>
            </a:extLst>
          </p:cNvPr>
          <p:cNvSpPr txBox="1"/>
          <p:nvPr/>
        </p:nvSpPr>
        <p:spPr>
          <a:xfrm>
            <a:off x="11076722" y="4377164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2023 - 2025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B847B1-F624-8688-D72F-AB4D344B0B17}"/>
              </a:ext>
            </a:extLst>
          </p:cNvPr>
          <p:cNvSpPr txBox="1"/>
          <p:nvPr/>
        </p:nvSpPr>
        <p:spPr>
          <a:xfrm>
            <a:off x="11081498" y="357012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2026 - now</a:t>
            </a:r>
          </a:p>
        </p:txBody>
      </p:sp>
    </p:spTree>
    <p:extLst>
      <p:ext uri="{BB962C8B-B14F-4D97-AF65-F5344CB8AC3E}">
        <p14:creationId xmlns:p14="http://schemas.microsoft.com/office/powerpoint/2010/main" val="201664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62593-EA21-D4FC-EC54-8ED29A39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E899B5B9-2F3B-AD4F-835E-3A2116EDDEA3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B2449-B8F6-300E-A693-94E263F7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7F2B4-4CDB-CC54-B53D-C2261D4E4C83}"/>
              </a:ext>
            </a:extLst>
          </p:cNvPr>
          <p:cNvSpPr txBox="1"/>
          <p:nvPr/>
        </p:nvSpPr>
        <p:spPr>
          <a:xfrm>
            <a:off x="109728" y="720886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Development program</a:t>
            </a:r>
            <a:endParaRPr lang="en-ID" sz="4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CFDC4-9677-B168-E2C3-BC11154BD315}"/>
              </a:ext>
            </a:extLst>
          </p:cNvPr>
          <p:cNvSpPr txBox="1"/>
          <p:nvPr/>
        </p:nvSpPr>
        <p:spPr>
          <a:xfrm>
            <a:off x="30480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ID" sz="2000" dirty="0">
                <a:solidFill>
                  <a:srgbClr val="000000"/>
                </a:solidFill>
              </a:rPr>
              <a:t>Basic Technical Course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CAAF7-15D8-8A98-4514-E6F424DA0869}"/>
              </a:ext>
            </a:extLst>
          </p:cNvPr>
          <p:cNvSpPr txBox="1"/>
          <p:nvPr/>
        </p:nvSpPr>
        <p:spPr>
          <a:xfrm>
            <a:off x="30480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B6AB0-A710-3D64-9876-20594EEBC95D}"/>
              </a:ext>
            </a:extLst>
          </p:cNvPr>
          <p:cNvSpPr txBox="1"/>
          <p:nvPr/>
        </p:nvSpPr>
        <p:spPr>
          <a:xfrm>
            <a:off x="30480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Engine basics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Electrical system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Axle, wheel and suspension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Final drive and undercarriage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104E47-FF09-585A-4315-2C2929CC674B}"/>
              </a:ext>
            </a:extLst>
          </p:cNvPr>
          <p:cNvSpPr txBox="1"/>
          <p:nvPr/>
        </p:nvSpPr>
        <p:spPr>
          <a:xfrm>
            <a:off x="363855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ID" dirty="0" sz="2000">
                <a:solidFill>
                  <a:srgbClr val="000000"/>
                </a:solidFill>
              </a:rPr>
              <a:t>B-One · Orientation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DA4B71-6109-2D37-CD04-71D16FD49521}"/>
              </a:ext>
            </a:extLst>
          </p:cNvPr>
          <p:cNvSpPr txBox="1"/>
          <p:nvPr/>
        </p:nvSpPr>
        <p:spPr>
          <a:xfrm>
            <a:off x="363855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436584-D6CE-FDAA-6A88-AD97DE0905BA}"/>
              </a:ext>
            </a:extLst>
          </p:cNvPr>
          <p:cNvSpPr txBox="1"/>
          <p:nvPr/>
        </p:nvSpPr>
        <p:spPr>
          <a:xfrm>
            <a:off x="363855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8 Astra competencies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AI at 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Teamwork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Corporate bootcamp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4CA8B7-8FC3-210F-ED63-418C4B2F2A6D}"/>
              </a:ext>
            </a:extLst>
          </p:cNvPr>
          <p:cNvSpPr txBox="1"/>
          <p:nvPr/>
        </p:nvSpPr>
        <p:spPr>
          <a:xfrm>
            <a:off x="697230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dirty="0" sz="1800">
                <a:solidFill>
                  <a:srgbClr val="000000"/>
                </a:solidFill>
              </a:rPr>
              <a:t>M</a:t>
            </a:r>
            <a:r>
              <a:rPr lang="en-ID" dirty="0" sz="1800">
                <a:solidFill>
                  <a:srgbClr val="000000"/>
                </a:solidFill>
              </a:rPr>
              <a:t>id Year Review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647B21-E133-5EAF-3C05-2BBDA2E6835E}"/>
              </a:ext>
            </a:extLst>
          </p:cNvPr>
          <p:cNvSpPr txBox="1"/>
          <p:nvPr/>
        </p:nvSpPr>
        <p:spPr>
          <a:xfrm>
            <a:off x="859155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ID" dirty="0" sz="1800">
                <a:solidFill>
                  <a:srgbClr val="6B6B6B"/>
                </a:solidFill>
              </a:rPr>
              <a:t>1 Year Review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A4997A-5F84-854E-0305-BFD199057773}"/>
              </a:ext>
            </a:extLst>
          </p:cNvPr>
          <p:cNvSpPr txBox="1"/>
          <p:nvPr/>
        </p:nvSpPr>
        <p:spPr>
          <a:xfrm>
            <a:off x="10210800" y="2362200"/>
            <a:ext cx="16383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ID" dirty="0" sz="1800">
                <a:solidFill>
                  <a:srgbClr val="6B6B6B"/>
                </a:solidFill>
              </a:rPr>
              <a:t>1,5 Year Review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5DF73F6-9699-FFA6-5269-9FA4350A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7" r="7067"/>
          <a:stretch>
            <a:fillRect/>
          </a:stretch>
        </p:blipFill>
        <p:spPr>
          <a:xfrm>
            <a:off x="342900" y="3924300"/>
            <a:ext cx="1533525" cy="23812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12A4447-8944-C58C-BE13-11470AE483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7" r="7067"/>
          <a:stretch>
            <a:fillRect/>
          </a:stretch>
        </p:blipFill>
        <p:spPr>
          <a:xfrm>
            <a:off x="1952625" y="3924300"/>
            <a:ext cx="1533525" cy="23812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EE50A79-53D8-E2E3-52CA-D11AB7157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3924300"/>
            <a:ext cx="3143250" cy="115252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758C3B2-074C-F8C2-B8C1-1B3F2553D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5153025"/>
            <a:ext cx="3143250" cy="115252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6B451D-E405-43A7-0024-9C82481B70E6}"/>
              </a:ext>
            </a:extLst>
          </p:cNvPr>
          <p:cNvSpPr txBox="1"/>
          <p:nvPr/>
        </p:nvSpPr>
        <p:spPr>
          <a:xfrm>
            <a:off x="342900" y="1524000"/>
            <a:ext cx="3810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My on boarding journey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2900" y="2038350"/>
            <a:ext cx="1150620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34290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2900" y="2209800"/>
            <a:ext cx="314325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59" name="Oval 58"/>
          <p:cNvSpPr/>
          <p:nvPr/>
        </p:nvSpPr>
        <p:spPr>
          <a:xfrm>
            <a:off x="367665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6650" y="2209800"/>
            <a:ext cx="314325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61" name="Oval 60"/>
          <p:cNvSpPr/>
          <p:nvPr/>
        </p:nvSpPr>
        <p:spPr>
          <a:xfrm>
            <a:off x="7010400" y="1933575"/>
            <a:ext cx="209550" cy="209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10400" y="22098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NOW</a:t>
            </a:r>
          </a:p>
        </p:txBody>
      </p:sp>
      <p:sp>
        <p:nvSpPr>
          <p:cNvPr id="63" name="Oval 62"/>
          <p:cNvSpPr/>
          <p:nvPr/>
        </p:nvSpPr>
        <p:spPr>
          <a:xfrm>
            <a:off x="862965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29650" y="22098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  <p:sp>
        <p:nvSpPr>
          <p:cNvPr id="65" name="Oval 64"/>
          <p:cNvSpPr/>
          <p:nvPr/>
        </p:nvSpPr>
        <p:spPr>
          <a:xfrm>
            <a:off x="1024890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48900" y="2209800"/>
            <a:ext cx="16002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075560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334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Neue Haas Grotesk Text Pro"/>
              </a:rPr>
              <a:t>CORPORATE ENTITY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16954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2" name="Picture 11" descr="f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83" y="1771650"/>
            <a:ext cx="93198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66900" y="17907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Neue Haas Grotesk Text Pro"/>
              </a:rPr>
              <a:t>Astra International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6900" y="19526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Neue Haas Grotesk Text Pro"/>
              </a:rPr>
              <a:t>Heavy Equipment, Mining, Construction and Energy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5150" y="21907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533400" y="236220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7" name="Picture 16" descr="f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507060"/>
            <a:ext cx="1047750" cy="2055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66900" y="245745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Neue Haas Grotesk Text Pro"/>
              </a:rPr>
              <a:t>United Tractors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900" y="261937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Neue Haas Grotesk Text Pro"/>
              </a:rPr>
              <a:t>Construction machinery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5150" y="285750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533400" y="30289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22" name="Picture 21" descr="f5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46" y="3105150"/>
            <a:ext cx="489857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66900" y="31242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Neue Haas Grotesk Text Pro"/>
              </a:rPr>
              <a:t>UTPE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6900" y="32861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Neue Haas Grotesk Text Pro"/>
              </a:rPr>
              <a:t>Engineering solution and marine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5150" y="35242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1390650" y="3810000"/>
            <a:ext cx="3429000" cy="0"/>
          </a:xfrm>
          <a:prstGeom prst="line">
            <a:avLst/>
          </a:prstGeom>
          <a:ln w="9525">
            <a:solidFill>
              <a:srgbClr val="D7DBDF"/>
            </a:solidFill>
          </a:ln>
        </p:spPr>
      </p:cxnSp>
      <p:sp>
        <p:nvSpPr>
          <p:cNvPr id="27" name="Rounded Rectangle 26"/>
          <p:cNvSpPr/>
          <p:nvPr/>
        </p:nvSpPr>
        <p:spPr>
          <a:xfrm>
            <a:off x="5334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E1F9EC"/>
          </a:solidFill>
          <a:ln w="15875">
            <a:solidFill>
              <a:srgbClr val="22C96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1550" y="3829050"/>
            <a:ext cx="762000" cy="152400"/>
          </a:xfrm>
          <a:prstGeom prst="roundRect">
            <a:avLst>
              <a:gd name="adj" fmla="val 50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1550" y="3829050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 spc="100">
                <a:solidFill>
                  <a:srgbClr val="FFFFFF"/>
                </a:solidFill>
                <a:latin typeface="Neue Haas Grotesk Text Pro"/>
              </a:rPr>
              <a:t>MY COMPANY</a:t>
            </a:r>
          </a:p>
        </p:txBody>
      </p:sp>
      <p:pic>
        <p:nvPicPr>
          <p:cNvPr id="30" name="Picture 29" descr="f5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75" y="4057650"/>
            <a:ext cx="708949" cy="4000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05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76932"/>
                </a:solidFill>
                <a:latin typeface="Neue Haas Grotesk Text Pro"/>
              </a:rPr>
              <a:t>Distribution and trading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3" name="Picture 32" descr="f5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641" y="4057650"/>
            <a:ext cx="809018" cy="4000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431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Neue Haas Grotesk Text Pro"/>
              </a:rPr>
              <a:t>Ship owner and operator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386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6" name="Picture 35" descr="f5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732" y="4057650"/>
            <a:ext cx="734037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0957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Neue Haas Grotesk Text Pro"/>
              </a:rPr>
              <a:t>Ship building and repair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4953000"/>
            <a:ext cx="5143500" cy="15240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750" y="5057775"/>
            <a:ext cx="4876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Neue Haas Grotesk Text Pro"/>
              </a:rPr>
              <a:t>WHAT TRIATRA DOES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50" y="5181600"/>
            <a:ext cx="4876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D555C"/>
                </a:solidFill>
                <a:latin typeface="Neue Haas Grotesk Text Pro"/>
              </a:rPr>
              <a:t>Distributor of PATRIA and ULTRA products for mining, construction, agriculture, forestry and maritime. Sells units and full after-sales support.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2" name="Picture 41" descr="f5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936119"/>
            <a:ext cx="762000" cy="1864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Neue Haas Grotesk Text Pro"/>
              </a:rPr>
              <a:t>Unit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6000750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Neue Haas Grotesk Text Pro"/>
              </a:rPr>
              <a:t>Trader of UTPE units, local and export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51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6" name="Picture 45" descr="f5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5916839"/>
            <a:ext cx="762000" cy="22497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0386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Neue Haas Grotesk Text Pro"/>
              </a:rPr>
              <a:t>Parts, components and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8600" y="6117197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97177"/>
                </a:solidFill>
                <a:latin typeface="Neue Haas Grotesk Text Pro"/>
              </a:rPr>
              <a:t>Maintenance and remanufacturing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Neue Haas Grotesk Text Pro"/>
              </a:rPr>
              <a:t>INDUSTRY COVERAGE</a:t>
            </a:r>
          </a:p>
        </p:txBody>
      </p:sp>
      <p:pic>
        <p:nvPicPr>
          <p:cNvPr id="50" name="Picture 49" descr="f5_9.png"/>
          <p:cNvPicPr>
            <a:picLocks noChangeAspect="1"/>
          </p:cNvPicPr>
          <p:nvPr/>
        </p:nvPicPr>
        <p:blipFill>
          <a:blip r:embed="rId11"/>
          <a:srcRect l="15530" r="15530"/>
          <a:stretch>
            <a:fillRect/>
          </a:stretch>
        </p:blipFill>
        <p:spPr>
          <a:xfrm>
            <a:off x="594360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1" name="Rectangle 50"/>
          <p:cNvSpPr/>
          <p:nvPr/>
        </p:nvSpPr>
        <p:spPr>
          <a:xfrm>
            <a:off x="594360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790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eue Haas Grotesk Text Pro"/>
              </a:rPr>
              <a:t>01   Coal and mineral mining</a:t>
            </a:r>
          </a:p>
        </p:txBody>
      </p:sp>
      <p:pic>
        <p:nvPicPr>
          <p:cNvPr id="53" name="Picture 52" descr="f5_10.png"/>
          <p:cNvPicPr>
            <a:picLocks noChangeAspect="1"/>
          </p:cNvPicPr>
          <p:nvPr/>
        </p:nvPicPr>
        <p:blipFill>
          <a:blip r:embed="rId12"/>
          <a:srcRect l="10868" r="10868"/>
          <a:stretch>
            <a:fillRect/>
          </a:stretch>
        </p:blipFill>
        <p:spPr>
          <a:xfrm>
            <a:off x="885825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4" name="Rectangle 53"/>
          <p:cNvSpPr/>
          <p:nvPr/>
        </p:nvSpPr>
        <p:spPr>
          <a:xfrm>
            <a:off x="885825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7255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eue Haas Grotesk Text Pro"/>
              </a:rPr>
              <a:t>02   Construction</a:t>
            </a:r>
          </a:p>
        </p:txBody>
      </p:sp>
      <p:pic>
        <p:nvPicPr>
          <p:cNvPr id="56" name="Picture 55" descr="f5_11.png"/>
          <p:cNvPicPr>
            <a:picLocks noChangeAspect="1"/>
          </p:cNvPicPr>
          <p:nvPr/>
        </p:nvPicPr>
        <p:blipFill>
          <a:blip r:embed="rId13"/>
          <a:srcRect l="22914" r="22914"/>
          <a:stretch>
            <a:fillRect/>
          </a:stretch>
        </p:blipFill>
        <p:spPr>
          <a:xfrm>
            <a:off x="594360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7" name="Rectangle 56"/>
          <p:cNvSpPr/>
          <p:nvPr/>
        </p:nvSpPr>
        <p:spPr>
          <a:xfrm>
            <a:off x="594360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790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eue Haas Grotesk Text Pro"/>
              </a:rPr>
              <a:t>03   Forestry and agro-industry</a:t>
            </a:r>
          </a:p>
        </p:txBody>
      </p:sp>
      <p:pic>
        <p:nvPicPr>
          <p:cNvPr id="59" name="Picture 58" descr="f5_12.png"/>
          <p:cNvPicPr>
            <a:picLocks noChangeAspect="1"/>
          </p:cNvPicPr>
          <p:nvPr/>
        </p:nvPicPr>
        <p:blipFill>
          <a:blip r:embed="rId14"/>
          <a:srcRect l="5764" r="5764"/>
          <a:stretch>
            <a:fillRect/>
          </a:stretch>
        </p:blipFill>
        <p:spPr>
          <a:xfrm>
            <a:off x="885825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60" name="Rectangle 59"/>
          <p:cNvSpPr/>
          <p:nvPr/>
        </p:nvSpPr>
        <p:spPr>
          <a:xfrm>
            <a:off x="885825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7255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Neue Haas Grotesk Text Pro"/>
              </a:rPr>
              <a:t>04   Maritime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01350" y="4229100"/>
            <a:ext cx="742950" cy="171450"/>
          </a:xfrm>
          <a:prstGeom prst="roundRect">
            <a:avLst>
              <a:gd name="adj" fmla="val 50000"/>
            </a:avLst>
          </a:prstGeom>
          <a:solidFill>
            <a:srgbClr val="22C96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801350" y="4229100"/>
            <a:ext cx="7429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Neue Haas Grotesk Text Pro"/>
              </a:rPr>
              <a:t>NEW · 2025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774598-75CA-6BE5-B859-10F795CD4E16}"/>
              </a:ext>
            </a:extLst>
          </p:cNvPr>
          <p:cNvSpPr txBox="1"/>
          <p:nvPr/>
        </p:nvSpPr>
        <p:spPr>
          <a:xfrm>
            <a:off x="390525" y="627014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Company profile</a:t>
            </a:r>
            <a:endParaRPr lang="en-ID" sz="4400" b="1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2900" y="552450"/>
            <a:ext cx="11496675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Neue Haas Grotesk Text Pro"/>
              </a:rPr>
              <a:t>Triatra serves customers from </a:t>
            </a:r>
            <a:r>
              <a:rPr sz="2600" b="1" i="0">
                <a:solidFill>
                  <a:srgbClr val="000000"/>
                </a:solidFill>
                <a:latin typeface="Neue Haas Grotesk Text Pro"/>
              </a:rPr>
              <a:t>16 points</a:t>
            </a:r>
            <a:r>
              <a:rPr sz="2600" b="1" i="0">
                <a:solidFill>
                  <a:srgbClr val="000000"/>
                </a:solidFill>
                <a:latin typeface="Neue Haas Grotesk Text Pro"/>
              </a:rPr>
              <a:t> across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23825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Neue Haas Grotesk Text Pro"/>
              </a:rPr>
              <a:t>Head Office in Jakarta, 6 Site Operations and 9 Site Representatives.</a:t>
            </a:r>
          </a:p>
        </p:txBody>
      </p:sp>
      <p:pic>
        <p:nvPicPr>
          <p:cNvPr id="11" name="Picture 10" descr="map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1525429"/>
            <a:ext cx="9334500" cy="3407093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807333" y="3931651"/>
            <a:ext cx="171450" cy="171450"/>
          </a:xfrm>
          <a:prstGeom prst="ellipse">
            <a:avLst/>
          </a:prstGeom>
          <a:solidFill>
            <a:srgbClr val="076932"/>
          </a:solidFill>
          <a:ln w="9525">
            <a:solidFill>
              <a:srgbClr val="076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eue Haas Grotesk Text Pro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3638379" y="3790938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eue Haas Grotesk Text Pro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3096044" y="3385494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11181C"/>
                </a:solidFill>
                <a:latin typeface="Neue Haas Grotesk Text Pro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2617184" y="2526566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11181C"/>
                </a:solidFill>
                <a:latin typeface="Neue Haas Grotesk Text Pro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5295252" y="3298273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11181C"/>
                </a:solidFill>
                <a:latin typeface="Neue Haas Grotesk Text Pro"/>
              </a:rPr>
              <a:t>5</a:t>
            </a:r>
          </a:p>
        </p:txBody>
      </p:sp>
      <p:sp>
        <p:nvSpPr>
          <p:cNvPr id="17" name="Oval 16"/>
          <p:cNvSpPr/>
          <p:nvPr/>
        </p:nvSpPr>
        <p:spPr>
          <a:xfrm>
            <a:off x="5473541" y="3381065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11181C"/>
                </a:solidFill>
                <a:latin typeface="Neue Haas Grotesk Text Pro"/>
              </a:rPr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5465140" y="3062843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eue Haas Grotesk Text Pro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5592089" y="2992657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11181C"/>
                </a:solidFill>
                <a:latin typeface="Neue Haas Grotesk Text Pro"/>
              </a:rPr>
              <a:t>8</a:t>
            </a:r>
          </a:p>
        </p:txBody>
      </p:sp>
      <p:sp>
        <p:nvSpPr>
          <p:cNvPr id="20" name="Oval 19"/>
          <p:cNvSpPr/>
          <p:nvPr/>
        </p:nvSpPr>
        <p:spPr>
          <a:xfrm>
            <a:off x="5355927" y="2820939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11181C"/>
                </a:solidFill>
                <a:latin typeface="Neue Haas Grotesk Text Pro"/>
              </a:rPr>
              <a:t>9</a:t>
            </a:r>
          </a:p>
        </p:txBody>
      </p:sp>
      <p:sp>
        <p:nvSpPr>
          <p:cNvPr id="21" name="Oval 20"/>
          <p:cNvSpPr/>
          <p:nvPr/>
        </p:nvSpPr>
        <p:spPr>
          <a:xfrm>
            <a:off x="5750776" y="2878519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eue Haas Grotesk Text Pro"/>
              </a:rPr>
              <a:t>10</a:t>
            </a:r>
          </a:p>
        </p:txBody>
      </p:sp>
      <p:sp>
        <p:nvSpPr>
          <p:cNvPr id="22" name="Oval 21"/>
          <p:cNvSpPr/>
          <p:nvPr/>
        </p:nvSpPr>
        <p:spPr>
          <a:xfrm>
            <a:off x="5547284" y="2675797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11181C"/>
                </a:solidFill>
                <a:latin typeface="Neue Haas Grotesk Text Pro"/>
              </a:rPr>
              <a:t>11</a:t>
            </a:r>
          </a:p>
        </p:txBody>
      </p:sp>
      <p:sp>
        <p:nvSpPr>
          <p:cNvPr id="23" name="Oval 22"/>
          <p:cNvSpPr/>
          <p:nvPr/>
        </p:nvSpPr>
        <p:spPr>
          <a:xfrm>
            <a:off x="5588356" y="2518049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11181C"/>
                </a:solidFill>
                <a:latin typeface="Neue Haas Grotesk Text Pro"/>
              </a:rPr>
              <a:t>12</a:t>
            </a:r>
          </a:p>
        </p:txBody>
      </p:sp>
      <p:sp>
        <p:nvSpPr>
          <p:cNvPr id="24" name="Oval 23"/>
          <p:cNvSpPr/>
          <p:nvPr/>
        </p:nvSpPr>
        <p:spPr>
          <a:xfrm>
            <a:off x="5886126" y="2195738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 dirty="0">
                <a:solidFill>
                  <a:schemeClr val="bg1"/>
                </a:solidFill>
                <a:latin typeface="Neue Haas Grotesk Text Pro"/>
              </a:rPr>
              <a:t>13</a:t>
            </a:r>
          </a:p>
        </p:txBody>
      </p:sp>
      <p:sp>
        <p:nvSpPr>
          <p:cNvPr id="25" name="Oval 24"/>
          <p:cNvSpPr/>
          <p:nvPr/>
        </p:nvSpPr>
        <p:spPr>
          <a:xfrm>
            <a:off x="5897328" y="2527929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 dirty="0">
                <a:solidFill>
                  <a:srgbClr val="FFFFFF"/>
                </a:solidFill>
                <a:latin typeface="Neue Haas Grotesk Text Pro"/>
              </a:rPr>
              <a:t>14</a:t>
            </a:r>
          </a:p>
        </p:txBody>
      </p:sp>
      <p:sp>
        <p:nvSpPr>
          <p:cNvPr id="26" name="Oval 25"/>
          <p:cNvSpPr/>
          <p:nvPr/>
        </p:nvSpPr>
        <p:spPr>
          <a:xfrm>
            <a:off x="6439662" y="4452596"/>
            <a:ext cx="171450" cy="1714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11181C"/>
                </a:solidFill>
                <a:latin typeface="Neue Haas Grotesk Text Pro"/>
              </a:rPr>
              <a:t>15</a:t>
            </a:r>
          </a:p>
        </p:txBody>
      </p:sp>
      <p:sp>
        <p:nvSpPr>
          <p:cNvPr id="27" name="Oval 26"/>
          <p:cNvSpPr/>
          <p:nvPr/>
        </p:nvSpPr>
        <p:spPr>
          <a:xfrm>
            <a:off x="9832753" y="3579699"/>
            <a:ext cx="171450" cy="1714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eue Haas Grotesk Text Pro"/>
              </a:rPr>
              <a:t>16</a:t>
            </a:r>
          </a:p>
        </p:txBody>
      </p:sp>
      <p:sp>
        <p:nvSpPr>
          <p:cNvPr id="28" name="Oval 27"/>
          <p:cNvSpPr/>
          <p:nvPr/>
        </p:nvSpPr>
        <p:spPr>
          <a:xfrm>
            <a:off x="8572500" y="1333500"/>
            <a:ext cx="95250" cy="95250"/>
          </a:xfrm>
          <a:prstGeom prst="ellipse">
            <a:avLst/>
          </a:prstGeom>
          <a:solidFill>
            <a:srgbClr val="076932"/>
          </a:solidFill>
          <a:ln w="9525">
            <a:solidFill>
              <a:srgbClr val="076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05850" y="131445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Neue Haas Grotesk Text Pro"/>
              </a:rPr>
              <a:t>Head Office</a:t>
            </a:r>
          </a:p>
        </p:txBody>
      </p:sp>
      <p:sp>
        <p:nvSpPr>
          <p:cNvPr id="30" name="Oval 29"/>
          <p:cNvSpPr/>
          <p:nvPr/>
        </p:nvSpPr>
        <p:spPr>
          <a:xfrm>
            <a:off x="9620250" y="1333500"/>
            <a:ext cx="95250" cy="952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53600" y="131445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Neue Haas Grotesk Text Pro"/>
              </a:rPr>
              <a:t>Site Operation</a:t>
            </a:r>
          </a:p>
        </p:txBody>
      </p:sp>
      <p:sp>
        <p:nvSpPr>
          <p:cNvPr id="32" name="Oval 31"/>
          <p:cNvSpPr/>
          <p:nvPr/>
        </p:nvSpPr>
        <p:spPr>
          <a:xfrm>
            <a:off x="10668000" y="1333500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801350" y="131445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Neue Haas Grotesk Text Pro"/>
              </a:rPr>
              <a:t>Site Representative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33400" y="5029200"/>
          <a:ext cx="5486401" cy="15484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#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SITE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TYPE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ADDRESS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1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Head Office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Head office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Raya Bekasi KM 22, Cakung, Jakarta Timur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2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Jakarta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Raya Bekasi KM 22, Cakung, Jakarta Timur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3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Tanjung Enim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Lingga Raya 10, Muara Enim, Sumatera Selatan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4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Pekanbaru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Soekarno Hatta KM 3,5 No. 151, Riau</a:t>
                      </a:r>
                      <a:endParaRPr sz="80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5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Banjarmasin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Ahmad Yani KM 13,5 Gambut, Kalimantan Selatan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6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Sungai Danau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Ds. Karang Indah, Angsana, Tanah Bumbu, Kalsel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7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Tanjung Tabalong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A. Yani KM 7,5 Maburai, Tabalong, Kalsel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8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Batu Kajang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Negara KM 140, Batu </a:t>
                      </a:r>
                      <a:r>
                        <a:rPr sz="800" b="0" dirty="0" err="1">
                          <a:solidFill>
                            <a:srgbClr val="11181C"/>
                          </a:solidFill>
                          <a:latin typeface="Neue Haas Grotesk Text Pro"/>
                        </a:rPr>
                        <a:t>Sopang</a:t>
                      </a:r>
                      <a:r>
                        <a:rPr sz="80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, Paser, </a:t>
                      </a:r>
                      <a:r>
                        <a:rPr sz="800" b="0" dirty="0" err="1">
                          <a:solidFill>
                            <a:srgbClr val="11181C"/>
                          </a:solidFill>
                          <a:latin typeface="Neue Haas Grotesk Text Pro"/>
                        </a:rPr>
                        <a:t>Kaltim</a:t>
                      </a:r>
                      <a:endParaRPr sz="80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72200" y="5029200"/>
          <a:ext cx="5486401" cy="15484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#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SITE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TYPE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700"/>
                      </a:pPr>
                      <a:r>
                        <a:rPr sz="70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ADDRESS</a:t>
                      </a:r>
                      <a:endParaRPr sz="7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9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Muara Teweh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Ahmad Yani No. 85, Barito Utara, Kalteng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10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Balikpapan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Jend. Sudirman No. 844, Balikpapan,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11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Melak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Hauling Road Trubaindo, Kutai Barat,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12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Tabang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Workshop Buma Km 6, Hauling Road,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13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Tanjung Redeb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lang="en-US" sz="80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Operation</a:t>
                      </a:r>
                      <a:r>
                        <a:rPr sz="80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.</a:t>
                      </a:r>
                      <a:endParaRPr sz="80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Gunung Panjang No. 101B, Berau,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14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Sangatta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HDRS Tango Delta KPC, Kutai Timur, Kaltim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15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Sumbawa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Rep.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Memco Area Tongo, Sekongkang, Sumbawa Barat, NTB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16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Timika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Operation</a:t>
                      </a:r>
                      <a:endParaRPr sz="80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800"/>
                      </a:pPr>
                      <a:r>
                        <a:rPr sz="80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Jl. Kuala </a:t>
                      </a:r>
                      <a:r>
                        <a:rPr sz="800" b="0" dirty="0" err="1">
                          <a:solidFill>
                            <a:srgbClr val="11181C"/>
                          </a:solidFill>
                          <a:latin typeface="Neue Haas Grotesk Text Pro"/>
                        </a:rPr>
                        <a:t>Tembaga</a:t>
                      </a:r>
                      <a:r>
                        <a:rPr sz="80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 E-4, Kuala </a:t>
                      </a:r>
                      <a:r>
                        <a:rPr sz="800" b="0" dirty="0" err="1">
                          <a:solidFill>
                            <a:srgbClr val="11181C"/>
                          </a:solidFill>
                          <a:latin typeface="Neue Haas Grotesk Text Pro"/>
                        </a:rPr>
                        <a:t>Kencana</a:t>
                      </a:r>
                      <a:r>
                        <a:rPr sz="80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, Papua</a:t>
                      </a:r>
                      <a:endParaRPr sz="80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36" name="Connector 35"/>
          <p:cNvCxnSpPr/>
          <p:nvPr/>
        </p:nvCxnSpPr>
        <p:spPr>
          <a:xfrm>
            <a:off x="342900" y="1181100"/>
            <a:ext cx="11496675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2900" y="552450"/>
            <a:ext cx="11496675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Neue Haas Grotesk Text Pro"/>
              </a:rPr>
              <a:t>Organization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8250" y="1390650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05400" y="1438275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eue Haas Grotesk Text Pro"/>
              </a:rPr>
              <a:t>Ceisar Centiaga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5400" y="1590675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Neue Haas Grotesk Text Pro"/>
              </a:rPr>
              <a:t>DIRECTOR IN CHARGE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6000" y="1771650"/>
            <a:ext cx="0" cy="1333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4" name="Rounded Rectangle 13"/>
          <p:cNvSpPr/>
          <p:nvPr/>
        </p:nvSpPr>
        <p:spPr>
          <a:xfrm>
            <a:off x="5048250" y="1905000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05400" y="1952625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eue Haas Grotesk Text Pro"/>
              </a:rPr>
              <a:t>Ricardo Tanada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5400" y="2105025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Neue Haas Grotesk Text Pro"/>
              </a:rPr>
              <a:t>MKT UNIT &amp; STRATEGIC DIV HEAD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2860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7143750" y="2095500"/>
            <a:ext cx="12382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9" name="Rounded Rectangle 18"/>
          <p:cNvSpPr/>
          <p:nvPr/>
        </p:nvSpPr>
        <p:spPr>
          <a:xfrm>
            <a:off x="8382000" y="1866900"/>
            <a:ext cx="32766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39150" y="1914525"/>
            <a:ext cx="3162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Marketing Communication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150" y="2066925"/>
            <a:ext cx="3162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Karina Audina E. · Adinda Siti K. (Marcomm) · Rahma (Graphic Designer)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00225" y="2438400"/>
            <a:ext cx="85915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1800225" y="24384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24" name="Rounded Rectangle 23"/>
          <p:cNvSpPr/>
          <p:nvPr/>
        </p:nvSpPr>
        <p:spPr>
          <a:xfrm>
            <a:off x="533400" y="2590800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0550" y="2638425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eue Haas Grotesk Text Pro"/>
              </a:rPr>
              <a:t>Kresnanto A.W.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790825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Neue Haas Grotesk Text Pro"/>
              </a:rPr>
              <a:t>MKT STRATEGIC 1 HEAD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8650" y="3009900"/>
            <a:ext cx="0" cy="8572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628650" y="33337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29" name="Rounded Rectangle 28"/>
          <p:cNvSpPr/>
          <p:nvPr/>
        </p:nvSpPr>
        <p:spPr>
          <a:xfrm>
            <a:off x="704850" y="31051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2000" y="31527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Satrio F.R.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33051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Big Suppeq, Big Vessel, Bucket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8650" y="38671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33" name="Rounded Rectangle 32"/>
          <p:cNvSpPr/>
          <p:nvPr/>
        </p:nvSpPr>
        <p:spPr>
          <a:xfrm>
            <a:off x="704850" y="36385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2000" y="36861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M. Fawwaz J.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38385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Cabin, Forestry, Agro, Forklift, Towerlamp, Pump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64075" y="24384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37" name="Rounded Rectangle 36"/>
          <p:cNvSpPr/>
          <p:nvPr/>
        </p:nvSpPr>
        <p:spPr>
          <a:xfrm>
            <a:off x="3340100" y="2533650"/>
            <a:ext cx="2647950" cy="3257550"/>
          </a:xfrm>
          <a:prstGeom prst="roundRect">
            <a:avLst>
              <a:gd name="adj" fmla="val 2877"/>
            </a:avLst>
          </a:prstGeom>
          <a:noFill/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397250" y="2590800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54400" y="2638425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eue Haas Grotesk Text Pro"/>
              </a:rPr>
              <a:t>Ignatius Indrawan 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4400" y="2790825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Neue Haas Grotesk Text Pro"/>
              </a:rPr>
              <a:t>MKT STRATEGIC 2 DEPUTY HEAD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492500" y="3009900"/>
            <a:ext cx="0" cy="24574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3492500" y="33337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43" name="Rounded Rectangle 42"/>
          <p:cNvSpPr/>
          <p:nvPr/>
        </p:nvSpPr>
        <p:spPr>
          <a:xfrm>
            <a:off x="3568700" y="31051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25850" y="31527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Ervin Bahar 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25850" y="33051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Medium Vessel, Man Hauler, Bus Scania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492500" y="38671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3568700" y="36385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E1F9EC"/>
          </a:solidFill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25850" y="36861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Tiberias K.S.  ◄ 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25850" y="38385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076932"/>
                </a:solidFill>
                <a:latin typeface="Neue Haas Grotesk Text Pro"/>
              </a:rPr>
              <a:t>Small Suppeq, Truck Others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92500" y="44005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1" name="Rounded Rectangle 50"/>
          <p:cNvSpPr/>
          <p:nvPr/>
        </p:nvSpPr>
        <p:spPr>
          <a:xfrm>
            <a:off x="3568700" y="41719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25850" y="42195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Eurico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25850" y="43719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Mining / Non-mining Trailer, Overseas Zone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492500" y="49339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5" name="Rounded Rectangle 54"/>
          <p:cNvSpPr/>
          <p:nvPr/>
        </p:nvSpPr>
        <p:spPr>
          <a:xfrm>
            <a:off x="3568700" y="47053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25850" y="47529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Nandu Narpati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25850" y="49053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Admin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492500" y="54673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9" name="Rounded Rectangle 58"/>
          <p:cNvSpPr/>
          <p:nvPr/>
        </p:nvSpPr>
        <p:spPr>
          <a:xfrm>
            <a:off x="3568700" y="52387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25850" y="52863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Fitri Royani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25850" y="54387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Admin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527925" y="24384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3" name="Rounded Rectangle 62"/>
          <p:cNvSpPr/>
          <p:nvPr/>
        </p:nvSpPr>
        <p:spPr>
          <a:xfrm>
            <a:off x="6261100" y="2590800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18250" y="2638425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eue Haas Grotesk Text Pro"/>
              </a:rPr>
              <a:t>Ugik Praseno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18250" y="2790825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Neue Haas Grotesk Text Pro"/>
              </a:rPr>
              <a:t>MKT STRATEGIC 3 HEAD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356350" y="3009900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67" name="Connector 66"/>
          <p:cNvCxnSpPr/>
          <p:nvPr/>
        </p:nvCxnSpPr>
        <p:spPr>
          <a:xfrm>
            <a:off x="6356350" y="33337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8" name="Rounded Rectangle 67"/>
          <p:cNvSpPr/>
          <p:nvPr/>
        </p:nvSpPr>
        <p:spPr>
          <a:xfrm>
            <a:off x="6432550" y="31051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89700" y="31527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Baihaqi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89700" y="33051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Mineral Processing, EPC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356350" y="38671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2" name="Rounded Rectangle 71"/>
          <p:cNvSpPr/>
          <p:nvPr/>
        </p:nvSpPr>
        <p:spPr>
          <a:xfrm>
            <a:off x="6432550" y="36385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89700" y="36861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Yuda Prana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89700" y="38385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Maritime, Renewable Energy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356350" y="44005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6" name="Rounded Rectangle 75"/>
          <p:cNvSpPr/>
          <p:nvPr/>
        </p:nvSpPr>
        <p:spPr>
          <a:xfrm>
            <a:off x="6432550" y="41719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489700" y="42195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Celine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89700" y="43719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Ultra Product Support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356350" y="49339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0" name="Rounded Rectangle 79"/>
          <p:cNvSpPr/>
          <p:nvPr/>
        </p:nvSpPr>
        <p:spPr>
          <a:xfrm>
            <a:off x="6432550" y="47053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89700" y="47529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Hanifa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89700" y="49053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Automation, EV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0391775" y="2438400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4" name="Rounded Rectangle 83"/>
          <p:cNvSpPr/>
          <p:nvPr/>
        </p:nvSpPr>
        <p:spPr>
          <a:xfrm>
            <a:off x="9124950" y="2590800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182100" y="2638425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eue Haas Grotesk Text Pro"/>
              </a:rPr>
              <a:t>Kresnanto A.W.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82100" y="2790825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Neue Haas Grotesk Text Pro"/>
              </a:rPr>
              <a:t>APPLICATION ENGINEERING HEAD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220200" y="3009900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88" name="Connector 87"/>
          <p:cNvCxnSpPr/>
          <p:nvPr/>
        </p:nvCxnSpPr>
        <p:spPr>
          <a:xfrm>
            <a:off x="9220200" y="33337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9" name="Rounded Rectangle 88"/>
          <p:cNvSpPr/>
          <p:nvPr/>
        </p:nvSpPr>
        <p:spPr>
          <a:xfrm>
            <a:off x="9296400" y="31051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353550" y="31527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Agi Yogiansyah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53550" y="33051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Offroad Trailer (SST, SDT, LBT), Big Vessel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220200" y="38671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3" name="Rounded Rectangle 92"/>
          <p:cNvSpPr/>
          <p:nvPr/>
        </p:nvSpPr>
        <p:spPr>
          <a:xfrm>
            <a:off x="9296400" y="36385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353550" y="36861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M. Sugeng Riadi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53550" y="38385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Supporting Equipment (WT, FT, LT), Mixer, EV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220200" y="44005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7" name="Rounded Rectangle 96"/>
          <p:cNvSpPr/>
          <p:nvPr/>
        </p:nvSpPr>
        <p:spPr>
          <a:xfrm>
            <a:off x="9296400" y="41719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353550" y="42195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Angger Suryo Prastowo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53550" y="43719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Manhauler, Towerlamp, Industrial (Crane truck, Tire handler)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9220200" y="4933950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1" name="Rounded Rectangle 100"/>
          <p:cNvSpPr/>
          <p:nvPr/>
        </p:nvSpPr>
        <p:spPr>
          <a:xfrm>
            <a:off x="9296400" y="4705350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353550" y="4752975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Neue Haas Grotesk Text Pro"/>
              </a:rPr>
              <a:t>Muhammad Fadlan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53550" y="4905375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Neue Haas Grotesk Text Pro"/>
              </a:rPr>
              <a:t>On-road Trailer (FBT, SCT), Medium Vessel, Crusher, Bucket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104" name="Connector 103"/>
          <p:cNvCxnSpPr/>
          <p:nvPr/>
        </p:nvCxnSpPr>
        <p:spPr>
          <a:xfrm>
            <a:off x="342900" y="1181100"/>
            <a:ext cx="11496675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2707DB-3353-ED5F-E91D-CA5058CA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866" y="5117083"/>
            <a:ext cx="6053559" cy="1618489"/>
          </a:xfrm>
        </p:spPr>
        <p:txBody>
          <a:bodyPr/>
          <a:lstStyle/>
          <a:p>
            <a:r>
              <a:rPr lang="en-ID" dirty="0">
                <a:solidFill>
                  <a:srgbClr val="11181C"/>
                </a:solidFill>
                <a:latin typeface="Neue Haas Grotesk Text Pro"/>
              </a:rPr>
              <a:t>Marketing Strategic 2 Associate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211C49-5E25-FC28-985E-29E441618F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A5118-7BE4-9A78-53C5-2713D8D935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E6F55-244D-8E3A-A5E5-F564560FFB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4" y="1040130"/>
            <a:ext cx="6089232" cy="3694174"/>
          </a:xfrm>
        </p:spPr>
        <p:txBody>
          <a:bodyPr/>
          <a:lstStyle/>
          <a:p>
            <a:r>
              <a:rPr lang="en-US" dirty="0"/>
              <a:t>“My Roles and</a:t>
            </a:r>
            <a:br>
              <a:rPr lang="en-US" dirty="0"/>
            </a:br>
            <a:r>
              <a:rPr lang="en-US" dirty="0"/>
              <a:t>My Responsibility.”</a:t>
            </a:r>
          </a:p>
        </p:txBody>
      </p:sp>
    </p:spTree>
    <p:extLst>
      <p:ext uri="{BB962C8B-B14F-4D97-AF65-F5344CB8AC3E}">
        <p14:creationId xmlns:p14="http://schemas.microsoft.com/office/powerpoint/2010/main" val="307449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8A27-E915-8349-B85E-411A4D2B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96DE2-E587-D86C-E638-9B5A932A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648D6-EABC-042F-690F-342D039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691FEC37-BBEF-26FB-0B99-C5AB4ECEC12E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A7F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1885BA02-907D-7765-50D7-BCC75703938A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E3C59D3C-2488-78B1-7E09-63E16DA4DF94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769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6467FF-F0BA-32A0-4161-A95C0DD2B6BF}"/>
              </a:ext>
            </a:extLst>
          </p:cNvPr>
          <p:cNvGrpSpPr/>
          <p:nvPr/>
        </p:nvGrpSpPr>
        <p:grpSpPr>
          <a:xfrm>
            <a:off x="347225" y="551089"/>
            <a:ext cx="9894054" cy="769441"/>
            <a:chOff x="347225" y="551089"/>
            <a:chExt cx="9894054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E4BFC4-9027-C061-9BA2-2FC78DDFBBDD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068985-D0C2-23CC-A5A4-8F8F423DE60D}"/>
                </a:ext>
              </a:extLst>
            </p:cNvPr>
            <p:cNvSpPr txBox="1"/>
            <p:nvPr/>
          </p:nvSpPr>
          <p:spPr>
            <a:xfrm>
              <a:off x="7561534" y="612643"/>
              <a:ext cx="26797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Supply Chain?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D22B19E-6B15-6F21-6EB3-95EB98DA50B6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1090A09D-477F-0B8A-AB07-E460885E6C4B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C5DD12-B30D-94D1-4F9A-8F5062685AC9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92476ED-26BA-763F-7855-FE985CDB7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50244"/>
              </p:ext>
            </p:extLst>
          </p:nvPr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769BCDB-3E5E-10BB-2E3C-9E75DF7EC1F9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2F7812C2-2BC6-B21E-9267-6A2656B76ADE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6D4168-DDE2-7B83-135D-5F120321A755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30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18FE-C1D7-93B6-117F-FC7F6A70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6ACDAEB-024A-95A3-78A3-11720CCF9826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A7F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5C2AAF66-C0E3-C538-71D3-CA133063F6E8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B49B0329-B00B-295D-00BC-4FF5C2A6E7D2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769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91F8C0-BE59-D820-9B67-3A64B3EF25E8}"/>
              </a:ext>
            </a:extLst>
          </p:cNvPr>
          <p:cNvGrpSpPr/>
          <p:nvPr/>
        </p:nvGrpSpPr>
        <p:grpSpPr>
          <a:xfrm>
            <a:off x="347225" y="551089"/>
            <a:ext cx="10664076" cy="769441"/>
            <a:chOff x="347225" y="551089"/>
            <a:chExt cx="10664076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04CF37-8964-EE83-0DF0-BD63B59E4CBB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D68BD8-979B-C3C7-D144-3B1418A733A5}"/>
                </a:ext>
              </a:extLst>
            </p:cNvPr>
            <p:cNvSpPr txBox="1"/>
            <p:nvPr/>
          </p:nvSpPr>
          <p:spPr>
            <a:xfrm>
              <a:off x="7561534" y="612643"/>
              <a:ext cx="34497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Strategic Marketing?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4633001-45FA-89F1-13C5-CA9D32088383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AEE1E97D-4A81-4F7A-60E4-0AB7ABADFBD1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EB224A-E8A4-4409-C293-C6228CD9934E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6FE5F233-39BB-46BF-CA57-557F0E8E3234}"/>
              </a:ext>
            </a:extLst>
          </p:cNvPr>
          <p:cNvGraphicFramePr>
            <a:graphicFrameLocks noGrp="1"/>
          </p:cNvGraphicFramePr>
          <p:nvPr/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5A2803E-1979-EDD9-06BB-8DDC07E80870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FC03A404-485A-5865-E97B-2E4B3397A5A9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B07288-EDD8-9472-D7FC-B7EFC0C7396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03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2BD4D-B974-407A-E557-749C6637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96AAB-6ECA-E3F7-853B-7B141ED7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0C0D8-3605-DE4B-F40A-5260933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5B0F1E-B326-3229-F035-53519993EB58}"/>
              </a:ext>
            </a:extLst>
          </p:cNvPr>
          <p:cNvGrpSpPr/>
          <p:nvPr/>
        </p:nvGrpSpPr>
        <p:grpSpPr>
          <a:xfrm>
            <a:off x="347225" y="551089"/>
            <a:ext cx="11493699" cy="769441"/>
            <a:chOff x="347225" y="551089"/>
            <a:chExt cx="11493699" cy="7694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49FF18-ADBA-D1BA-57CF-81E297B47C93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 </a:t>
              </a:r>
              <a:endParaRPr lang="en-ID" sz="4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3AF469-3025-894A-7D70-E89087A5D1AD}"/>
                </a:ext>
              </a:extLst>
            </p:cNvPr>
            <p:cNvSpPr txBox="1"/>
            <p:nvPr/>
          </p:nvSpPr>
          <p:spPr>
            <a:xfrm>
              <a:off x="7561534" y="612643"/>
              <a:ext cx="427939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</a:t>
              </a:r>
              <a:r>
                <a:rPr lang="en-US" b="1" u="sng" dirty="0"/>
                <a:t>Strategic marketing</a:t>
              </a:r>
              <a:r>
                <a:rPr lang="en-US" b="1" dirty="0"/>
                <a:t>?</a:t>
              </a:r>
              <a:endParaRPr lang="en-ID" b="1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9EB534-0DC3-10D9-24F4-A2E2D1F41AF1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1ED74BE-A839-4AC7-4237-5CC56ED6C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778981"/>
              </p:ext>
            </p:extLst>
          </p:nvPr>
        </p:nvGraphicFramePr>
        <p:xfrm>
          <a:off x="533400" y="1504950"/>
          <a:ext cx="11125200" cy="49101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2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0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Step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Item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Key point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Supporting data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4C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Change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HYVA has left; value sits in Medium + Heavy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Triatra has no crane brand since HYVA stopped. Medium + Heavy = 41% of units, 64% of value (2023 – 2026). Heavy units 12 → 17 → 35 (2023 – 2025).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Competitor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leaders, one per class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Medium: Sany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, 38% of value. Heavy: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, 66% of value; PK 53002 alone sold 39 of 65 units (2023 – 2026).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Customer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buys on price, Heavy buys on quality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China brands take 73% of Medium value; European brands take 85% of Heavy value. 88% go on trucks ≥ 24 t GVW (mining, construction).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Company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Partner two brands to serve both buyers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 for price-oriented buyers. F.lli Ferrari for quality-oriented buyers.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2"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STP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Segmentation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classes, ten 5-tm tiers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25 – 45 tm: 196 units, Rp 156 M. Heavy &gt; 45 tm: 65 units, Rp 115 M.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Targeting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Take share from the Top 1 model in each tier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Medium: Sany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SPK32080, SPK36080, SPK42502. Heavy: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Palfinger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PK 53002, PK 76002, PK 88002.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Positioning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clear promises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XCMG: same capacity, lower price (SQZ365.4 −9% vs SPK36080). Ferrari: European features, cheaper where it wins (−23% at 25 – 30 tm, −32% at 45 – 50 tm) and faster delivery from China stock (~14 weeks).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Product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Offer Ferrari models that beat the Top 1 on features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Red Power (more working range), SDV (less boom flex), Magic Touch (auto open/stow): Sany Palfinger has none. PB, RS, ECM: equal to Palfinger.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Price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a better price with Ferrari and XCMG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Ferrari: lower price on 746 A4 (+48%), 9601CR A8 (+85%), 990R (+79%). XCMG: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Triatra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special price on SQZ325.4 and SQZ365.4.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Place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stock to cut lead time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 stocks 268 A4 and FBR450R A4 in China (14-week lead time) and main components in Malaysia. XCMG via GM Tractors.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Promotion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Sell a ready-to-work package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Crane +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flatdeck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+ installation (+2-year warranty on Ferrari). Exhibitions and customer visits with a Marcom sales kit.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0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D8AA-F717-98D8-8022-160E0994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F18E-D0E4-93E4-EE3F-E00F2A39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960A-AF72-7958-D241-DA0E29BC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F818-2ACF-8945-030E-02EDCA3C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AA05396-1AC5-D059-7F16-4E058749C5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C2E0192-E597-E5FD-841C-3B146473E439}"/>
              </a:ext>
            </a:extLst>
          </p:cNvPr>
          <p:cNvGrpSpPr/>
          <p:nvPr/>
        </p:nvGrpSpPr>
        <p:grpSpPr>
          <a:xfrm>
            <a:off x="347225" y="688087"/>
            <a:ext cx="11292325" cy="584775"/>
            <a:chOff x="347225" y="688087"/>
            <a:chExt cx="11292325" cy="58477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474DA3-E0DC-49BF-5531-A70A57603B0A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Project Charter / 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866D00-9085-6DF0-9694-8D13B30AD59E}"/>
                </a:ext>
              </a:extLst>
            </p:cNvPr>
            <p:cNvSpPr txBox="1"/>
            <p:nvPr/>
          </p:nvSpPr>
          <p:spPr>
            <a:xfrm>
              <a:off x="3733800" y="809884"/>
              <a:ext cx="79057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What is the background, the objective and the benefit?</a:t>
              </a:r>
              <a:endParaRPr lang="en-ID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0AE484-CACB-D4CC-BB25-2023B0E8C340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7C5751-59D0-FAD7-A097-9DF345821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80749"/>
              </p:ext>
            </p:extLst>
          </p:nvPr>
        </p:nvGraphicFramePr>
        <p:xfrm>
          <a:off x="347225" y="1513612"/>
          <a:ext cx="5637684" cy="5125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7684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name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Indonesia Folding Crane Market Strategy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31480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Background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02051"/>
                  </a:ext>
                </a:extLst>
              </a:tr>
              <a:tr h="277033">
                <a:tc>
                  <a:txBody>
                    <a:bodyPr/>
                    <a:lstStyle/>
                    <a:p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Hyva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cranes has discontinued their crane production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5582453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Objective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70028"/>
                  </a:ext>
                </a:extLst>
              </a:tr>
              <a:tr h="1092941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8000"/>
                        </a:lnSpc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imported folding crane (2023 – 26) in Indonesia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Targeted on ton meter class that have the most value, knowing the competitor brands and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whics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is the best (4C)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Pick top 1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competittors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in every ton meter subclass (STP)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 Product, Price, Place and Promotion for challenger model (4P)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9961170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ID" sz="1300" b="1" dirty="0">
                          <a:solidFill>
                            <a:schemeClr val="bg1"/>
                          </a:solidFill>
                        </a:rPr>
                        <a:t>Project Scope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6821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For Indonesian Folding Crane specific on price and specification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61567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KPI / Metric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09817"/>
                  </a:ext>
                </a:extLst>
              </a:tr>
              <a:tr h="653115">
                <a:tc>
                  <a:txBody>
                    <a:bodyPr/>
                    <a:lstStyle/>
                    <a:p>
                      <a:pPr marL="28575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market size of Medium &amp; Heavy cranes by tm class, brand and model (2023 – 2026)</a:t>
                      </a:r>
                    </a:p>
                    <a:p>
                      <a:pPr marL="285750" indent="-285750">
                        <a:buFont typeface="Neue Haas Grotesk Text Pro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Competitive dynamics, stocking strategy, value differentiators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5861528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Support Requirements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082345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Business Consultant, Marketing Communication, Application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Enginnering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UTPE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387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820EFB-F47D-8D44-1620-0142B8070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408633"/>
              </p:ext>
            </p:extLst>
          </p:nvPr>
        </p:nvGraphicFramePr>
        <p:xfrm>
          <a:off x="6193349" y="1513611"/>
          <a:ext cx="5748777" cy="28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8115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Timeframe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51E054-C61E-5A23-B174-E56C8026D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22509"/>
              </p:ext>
            </p:extLst>
          </p:nvPr>
        </p:nvGraphicFramePr>
        <p:xfrm>
          <a:off x="6193349" y="1803171"/>
          <a:ext cx="5748777" cy="1442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60709">
                <a:tc rowSpan="2"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2026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2027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Jul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(4C)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STP and challenger choice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with Ferrari and XCMG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kit with Marcom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Exhibition and customer visits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Quotation → PO → first unit sold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78C2C9A-EB23-DC37-B009-AAB9CF978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470369"/>
              </p:ext>
            </p:extLst>
          </p:nvPr>
        </p:nvGraphicFramePr>
        <p:xfrm>
          <a:off x="6193348" y="3321745"/>
          <a:ext cx="5748777" cy="2362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Benefit of Project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443778">
                <a:tc>
                  <a:txBody>
                    <a:bodyPr/>
                    <a:lstStyle/>
                    <a:p>
                      <a:r>
                        <a:rPr lang="en-ID" sz="1300" dirty="0"/>
                        <a:t>Gives Managements and sales a clear answer per tm class: which brand, which model, at what price that have complete competitiveness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80542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Team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35125"/>
                  </a:ext>
                </a:extLst>
              </a:tr>
              <a:tr h="915293">
                <a:tc>
                  <a:txBody>
                    <a:bodyPr/>
                    <a:lstStyle/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Executive Sponsor	: David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Advisor	: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Ceisar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Centiaga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Neue Haas Grotesk Text Pro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Owner	: Ricardo Tanada</a:t>
                      </a: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Coordinator	:</a:t>
                      </a:r>
                      <a:r>
                        <a:rPr lang="id-ID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Ignatius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Indrawan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Sumawinata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Neue Haas Grotesk Text Pro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Project Lead	: Tiberias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Krisgaharu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 Simu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Neue Haas Grotesk Text Pro"/>
                          <a:ea typeface="+mn-ea"/>
                          <a:cs typeface="+mn-cs"/>
                        </a:rPr>
                        <a:t>Team Member	: Marketing Unit · Application Engineering, UTPE Business Consultant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383249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Approval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71447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A80A542D-0469-1EC4-A6FA-ECFEC63188F3}"/>
              </a:ext>
            </a:extLst>
          </p:cNvPr>
          <p:cNvGrpSpPr/>
          <p:nvPr/>
        </p:nvGrpSpPr>
        <p:grpSpPr>
          <a:xfrm>
            <a:off x="6193348" y="6000960"/>
            <a:ext cx="5719458" cy="639564"/>
            <a:chOff x="6194554" y="6108072"/>
            <a:chExt cx="5719458" cy="63956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1589C2-2AC1-355C-D59E-EE3A3F1CF77C}"/>
                </a:ext>
              </a:extLst>
            </p:cNvPr>
            <p:cNvSpPr/>
            <p:nvPr/>
          </p:nvSpPr>
          <p:spPr>
            <a:xfrm>
              <a:off x="6194554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9FACB7A-5EBD-F24B-3B1C-7612ADDFB709}"/>
                </a:ext>
              </a:extLst>
            </p:cNvPr>
            <p:cNvSpPr/>
            <p:nvPr/>
          </p:nvSpPr>
          <p:spPr>
            <a:xfrm>
              <a:off x="6194554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r>
                <a:rPr lang="en-ID" sz="800" dirty="0">
                  <a:solidFill>
                    <a:srgbClr val="11181C"/>
                  </a:solidFill>
                  <a:latin typeface="Neue Haas Grotesk Text Pro"/>
                </a:rPr>
                <a:t>Tiberias </a:t>
              </a:r>
              <a:r>
                <a:rPr lang="en-ID" sz="800" dirty="0" err="1">
                  <a:solidFill>
                    <a:srgbClr val="11181C"/>
                  </a:solidFill>
                  <a:latin typeface="Neue Haas Grotesk Text Pro"/>
                </a:rPr>
                <a:t>Krisgaharu</a:t>
              </a:r>
              <a:r>
                <a:rPr lang="en-ID" sz="800" dirty="0">
                  <a:solidFill>
                    <a:srgbClr val="11181C"/>
                  </a:solidFill>
                  <a:latin typeface="Neue Haas Grotesk Text Pro"/>
                </a:rPr>
                <a:t> Simu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A068A3B-74C0-1E97-D9EF-81F59BE8E459}"/>
                </a:ext>
              </a:extLst>
            </p:cNvPr>
            <p:cNvSpPr/>
            <p:nvPr/>
          </p:nvSpPr>
          <p:spPr>
            <a:xfrm>
              <a:off x="7651879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F851C0F-82B5-C0D3-ECCA-F5B89E42A796}"/>
                </a:ext>
              </a:extLst>
            </p:cNvPr>
            <p:cNvSpPr/>
            <p:nvPr/>
          </p:nvSpPr>
          <p:spPr>
            <a:xfrm>
              <a:off x="9109204" y="6110037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1153D0C-F741-BBE7-FD87-9531FAF197EE}"/>
                </a:ext>
              </a:extLst>
            </p:cNvPr>
            <p:cNvSpPr/>
            <p:nvPr/>
          </p:nvSpPr>
          <p:spPr>
            <a:xfrm>
              <a:off x="9109005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428EF34-1833-8B16-3995-D652C20F7C49}"/>
                </a:ext>
              </a:extLst>
            </p:cNvPr>
            <p:cNvSpPr/>
            <p:nvPr/>
          </p:nvSpPr>
          <p:spPr>
            <a:xfrm>
              <a:off x="10561462" y="6108072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8269B4C-3075-D578-C6A1-5DFD7A337D7E}"/>
                </a:ext>
              </a:extLst>
            </p:cNvPr>
            <p:cNvSpPr/>
            <p:nvPr/>
          </p:nvSpPr>
          <p:spPr>
            <a:xfrm>
              <a:off x="10561462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F2A1672-4A9D-C83A-D88C-4B7C238CDB3D}"/>
                </a:ext>
              </a:extLst>
            </p:cNvPr>
            <p:cNvSpPr/>
            <p:nvPr/>
          </p:nvSpPr>
          <p:spPr>
            <a:xfrm>
              <a:off x="7651879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2D519D6-941C-5D1F-6298-E65EB13884BB}"/>
                </a:ext>
              </a:extLst>
            </p:cNvPr>
            <p:cNvSpPr txBox="1"/>
            <p:nvPr/>
          </p:nvSpPr>
          <p:spPr>
            <a:xfrm>
              <a:off x="77420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Neue Haas Grotesk Text Pro"/>
                </a:rPr>
                <a:t>Ignatius </a:t>
              </a:r>
              <a:r>
                <a:rPr sz="850" b="0" i="0" dirty="0" err="1">
                  <a:solidFill>
                    <a:srgbClr val="11181C"/>
                  </a:solidFill>
                  <a:latin typeface="Neue Haas Grotesk Text Pro"/>
                </a:rPr>
                <a:t>Indrawan</a:t>
              </a:r>
              <a:endParaRPr sz="850" b="0" i="0" dirty="0">
                <a:solidFill>
                  <a:srgbClr val="11181C"/>
                </a:solidFill>
                <a:latin typeface="Neue Haas Grotesk Text Pro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ECE8B9F-E757-1914-57D0-B89F4465A6D3}"/>
                </a:ext>
              </a:extLst>
            </p:cNvPr>
            <p:cNvSpPr txBox="1"/>
            <p:nvPr/>
          </p:nvSpPr>
          <p:spPr>
            <a:xfrm>
              <a:off x="91517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Neue Haas Grotesk Text Pro"/>
                </a:rPr>
                <a:t>Ricardo Tanada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2975054-07A5-0E96-62EE-9D34BCE94BCB}"/>
                </a:ext>
              </a:extLst>
            </p:cNvPr>
            <p:cNvSpPr txBox="1"/>
            <p:nvPr/>
          </p:nvSpPr>
          <p:spPr>
            <a:xfrm>
              <a:off x="105614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>
                  <a:solidFill>
                    <a:srgbClr val="11181C"/>
                  </a:solidFill>
                  <a:latin typeface="Neue Haas Grotesk Text Pro"/>
                </a:rPr>
                <a:t>Ricardo Tanada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417B4D-2DF4-8419-BEA0-071739D30D31}"/>
              </a:ext>
            </a:extLst>
          </p:cNvPr>
          <p:cNvGrpSpPr/>
          <p:nvPr/>
        </p:nvGrpSpPr>
        <p:grpSpPr>
          <a:xfrm>
            <a:off x="6193348" y="5709818"/>
            <a:ext cx="5725555" cy="267465"/>
            <a:chOff x="6193348" y="5837087"/>
            <a:chExt cx="5725555" cy="26746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A2A7A31-52F1-2CC3-171D-23173A7F5301}"/>
                </a:ext>
              </a:extLst>
            </p:cNvPr>
            <p:cNvGrpSpPr/>
            <p:nvPr/>
          </p:nvGrpSpPr>
          <p:grpSpPr>
            <a:xfrm>
              <a:off x="7651879" y="5852749"/>
              <a:ext cx="1352550" cy="247650"/>
              <a:chOff x="7651879" y="5841175"/>
              <a:chExt cx="1352550" cy="247650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B929220-319C-01A8-8BA2-581322823D4E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Neue Haas Grotesk Text Pro"/>
                  </a:rPr>
                  <a:t>Coordinator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043C39E-3E67-C5C5-E68B-374F43B202C6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Neue Haas Grotesk Text Pro"/>
                  </a:rPr>
                  <a:t>Date: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A2CAB16F-4F2E-1AC0-D1F3-59A48974770E}"/>
                </a:ext>
              </a:extLst>
            </p:cNvPr>
            <p:cNvGrpSpPr/>
            <p:nvPr/>
          </p:nvGrpSpPr>
          <p:grpSpPr>
            <a:xfrm>
              <a:off x="9132712" y="5856902"/>
              <a:ext cx="1352550" cy="247650"/>
              <a:chOff x="9052054" y="5704781"/>
              <a:chExt cx="1352550" cy="247650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D1A8B4F-0639-180F-806F-13D28AE7D4A0}"/>
                  </a:ext>
                </a:extLst>
              </p:cNvPr>
              <p:cNvSpPr txBox="1"/>
              <p:nvPr/>
            </p:nvSpPr>
            <p:spPr>
              <a:xfrm>
                <a:off x="90520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Neue Haas Grotesk Text Pro"/>
                  </a:rPr>
                  <a:t>Advisor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9A830D-6059-2EB4-DDD9-122A86C368FF}"/>
                  </a:ext>
                </a:extLst>
              </p:cNvPr>
              <p:cNvSpPr txBox="1"/>
              <p:nvPr/>
            </p:nvSpPr>
            <p:spPr>
              <a:xfrm>
                <a:off x="90520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Neue Haas Grotesk Text Pro"/>
                  </a:rPr>
                  <a:t>Date:</a:t>
                </a: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A0ACF3C-EC80-4380-8D40-1F2771D21A43}"/>
                </a:ext>
              </a:extLst>
            </p:cNvPr>
            <p:cNvGrpSpPr/>
            <p:nvPr/>
          </p:nvGrpSpPr>
          <p:grpSpPr>
            <a:xfrm>
              <a:off x="10566353" y="5860690"/>
              <a:ext cx="1352550" cy="213817"/>
              <a:chOff x="10461754" y="5704781"/>
              <a:chExt cx="1352550" cy="247650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7BE0252-1F2F-F6D6-9B40-B39A54D430D0}"/>
                  </a:ext>
                </a:extLst>
              </p:cNvPr>
              <p:cNvSpPr txBox="1"/>
              <p:nvPr/>
            </p:nvSpPr>
            <p:spPr>
              <a:xfrm>
                <a:off x="104617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Neue Haas Grotesk Text Pro"/>
                  </a:rPr>
                  <a:t>Executive Sponsor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57D7EECD-AE8B-F26A-E397-49EC226EA517}"/>
                  </a:ext>
                </a:extLst>
              </p:cNvPr>
              <p:cNvSpPr txBox="1"/>
              <p:nvPr/>
            </p:nvSpPr>
            <p:spPr>
              <a:xfrm>
                <a:off x="104617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Neue Haas Grotesk Text Pro"/>
                  </a:rPr>
                  <a:t>Date: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FB18477-832C-2C6E-C96E-E2502B60BED0}"/>
                </a:ext>
              </a:extLst>
            </p:cNvPr>
            <p:cNvGrpSpPr/>
            <p:nvPr/>
          </p:nvGrpSpPr>
          <p:grpSpPr>
            <a:xfrm>
              <a:off x="6193348" y="5837087"/>
              <a:ext cx="1352550" cy="247650"/>
              <a:chOff x="7651879" y="5841175"/>
              <a:chExt cx="1352550" cy="24765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ECE4B-802C-9530-275A-107F973C2836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sz="900" b="1" i="0" dirty="0">
                    <a:solidFill>
                      <a:srgbClr val="11181C"/>
                    </a:solidFill>
                    <a:latin typeface="Neue Haas Grotesk Text Pro"/>
                  </a:rPr>
                  <a:t>Lead</a:t>
                </a:r>
                <a:endParaRPr sz="900" b="1" i="0" dirty="0">
                  <a:solidFill>
                    <a:srgbClr val="11181C"/>
                  </a:solidFill>
                  <a:latin typeface="Neue Haas Grotesk Text Pro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4185B5-592A-A981-4135-2DF5D916DA73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Neue Haas Grotesk Text Pro"/>
                  </a:rPr>
                  <a:t>Date: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193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2900" y="552450"/>
            <a:ext cx="11496675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Neue Haas Grotesk Text Pro"/>
              </a:rPr>
              <a:t>Partner </a:t>
            </a:r>
            <a:r>
              <a:rPr sz="2600" b="1" i="0">
                <a:solidFill>
                  <a:srgbClr val="000000"/>
                </a:solidFill>
                <a:latin typeface="Neue Haas Grotesk Text Pro"/>
              </a:rPr>
              <a:t>F.lli Ferrari</a:t>
            </a:r>
            <a:r>
              <a:rPr sz="2600" b="1" i="0">
                <a:solidFill>
                  <a:srgbClr val="000000"/>
                </a:solidFill>
                <a:latin typeface="Neue Haas Grotesk Text Pro"/>
              </a:rPr>
              <a:t> for quality buyers and </a:t>
            </a:r>
            <a:r>
              <a:rPr sz="2600" b="1" i="0">
                <a:solidFill>
                  <a:srgbClr val="000000"/>
                </a:solidFill>
                <a:latin typeface="Neue Haas Grotesk Text Pro"/>
              </a:rPr>
              <a:t>XCMG</a:t>
            </a:r>
            <a:r>
              <a:rPr sz="2600" b="1" i="0">
                <a:solidFill>
                  <a:srgbClr val="000000"/>
                </a:solidFill>
                <a:latin typeface="Neue Haas Grotesk Text Pro"/>
              </a:rPr>
              <a:t> for price buyers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3400" y="1504950"/>
          <a:ext cx="11125200" cy="49101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97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9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Step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Item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Key point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Supporting data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4C</a:t>
                      </a:r>
                      <a:endParaRPr sz="12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Change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HYVA has left; value sits in Medium + Heavy</a:t>
                      </a:r>
                      <a:endParaRPr sz="1000" dirty="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Triatra has no crane brand since HYVA stopped. Medium + Heavy = 41% of units, 64% of value (2023 – 2026). Heavy units 12 → 17 → 35 (2023 – 2025).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Competitor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Two leaders, one per class</a:t>
                      </a:r>
                      <a:endParaRPr sz="1000" dirty="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Medium: Sany Palfinger, 38% of value. Heavy: Palfinger, 66% of value; PK 53002 alone sold 39 of 65 units (2023 – 2026).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Customer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Medium buys on price, Heavy buys on quality</a:t>
                      </a:r>
                      <a:endParaRPr sz="1000" dirty="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China brands take 73% of Medium value; European brands take 85% of Heavy value. 88% go on trucks ≥ 24 t GVW (mining, construction).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Company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Partner two brands to serve both buyers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XCMG for price-oriented buyers. F.lli Ferrari for quality-oriented buyers.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2"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STP</a:t>
                      </a:r>
                      <a:endParaRPr sz="12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Segmentation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Two classes, ten 5-tm tiers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Medium 25 – 45 tm: 196 units, Rp 156 M. Heavy &gt; 45 tm: 65 units, Rp 115 M.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Targeting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Take share from the Top 1 model in each tier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Medium: Sany Palfinger SPK32080, SPK36080, SPK42502. Heavy: Palfinger PK 53002, PK 76002, PK 88002.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Positioning</a:t>
                      </a:r>
                      <a:endParaRPr sz="1000" dirty="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Two clear promises</a:t>
                      </a:r>
                      <a:endParaRPr sz="1000" dirty="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XCMG: same capacity, lower price (SQZ365.4 −9% vs SPK36080). Ferrari: European features, cheaper where it wins (−23% at 25 – 30 tm, −32% at 45 – 50 tm) and faster delivery from China stock (~14 weeks).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4P</a:t>
                      </a:r>
                      <a:endParaRPr sz="12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Product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Offer Ferrari models that beat the Top 1 on features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Red Power (more working range), SDV (less boom flex), Magic Touch (auto open/stow): Sany Palfinger has none. PB, RS, ECM: equal to Palfinger.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Price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Negotiate a better price with Ferrari and XCMG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Ferrari: lower price on 746 A4 (+48%), 9601CR A8 (+85%), 990R (+79%). XCMG: Triatra special price on SQZ325.4 and SQZ365.4.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Place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Negotiate stock to cut lead time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Ferrari stocks 268 A4 and FBR450R A4 in China (14-week lead time) and main components in Malaysia. XCMG via GM Tractors.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Promotion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Sell a ready-to-work package</a:t>
                      </a:r>
                      <a:endParaRPr sz="100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Crane +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"/>
                        </a:rPr>
                        <a:t>flatdeck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 + installation (+2-year warranty on Ferrari). Exhibitions and customer visits with a Marcom sales kit.</a:t>
                      </a:r>
                      <a:endParaRPr sz="950" dirty="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11" name="Connector 10"/>
          <p:cNvCxnSpPr/>
          <p:nvPr/>
        </p:nvCxnSpPr>
        <p:spPr>
          <a:xfrm>
            <a:off x="342900" y="1181100"/>
            <a:ext cx="11496675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DC9C-1D2B-8C47-A4E4-698104CFC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4AC4-E941-5477-C39A-F56153A8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729B5-0050-19E9-CEC7-F0981D63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AEF0-A42B-FAA1-7247-28BDA727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2E0E778-888F-C8CC-DAA8-42C5A1C360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F2B45F-A466-0490-7A51-91454D18DB93}"/>
              </a:ext>
            </a:extLst>
          </p:cNvPr>
          <p:cNvGrpSpPr/>
          <p:nvPr/>
        </p:nvGrpSpPr>
        <p:grpSpPr>
          <a:xfrm>
            <a:off x="347225" y="685795"/>
            <a:ext cx="11844775" cy="587067"/>
            <a:chOff x="347225" y="685795"/>
            <a:chExt cx="11844775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310B2C-28B2-F4E3-B6CD-CCFD797957EF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Indonesian Folding Crane Market Strategy 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8C4554-3A65-6F29-198C-FAE079CCCED8}"/>
                </a:ext>
              </a:extLst>
            </p:cNvPr>
            <p:cNvSpPr txBox="1"/>
            <p:nvPr/>
          </p:nvSpPr>
          <p:spPr>
            <a:xfrm>
              <a:off x="9125712" y="685795"/>
              <a:ext cx="306628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How big is it? </a:t>
              </a:r>
              <a:br>
                <a:rPr lang="en-US" sz="1600" b="1" dirty="0"/>
              </a:br>
              <a:r>
                <a:rPr lang="en-US" sz="1600" b="1" dirty="0"/>
                <a:t>And who's lead the market?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C0BEE0F-0E1F-ECC5-391D-02FE90787D2F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005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33400" y="142875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650" y="1428750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PROJECT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1657350"/>
            <a:ext cx="5391150" cy="2476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650" y="1704975"/>
            <a:ext cx="5200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 dirty="0">
                <a:solidFill>
                  <a:srgbClr val="11181C"/>
                </a:solidFill>
                <a:latin typeface="Neue Haas Grotesk Text Pro"/>
              </a:rPr>
              <a:t>Multi-brand Crane Challenger: </a:t>
            </a:r>
            <a:r>
              <a:rPr sz="1050" b="0" i="0" dirty="0" err="1">
                <a:solidFill>
                  <a:srgbClr val="11181C"/>
                </a:solidFill>
                <a:latin typeface="Neue Haas Grotesk Text Pro"/>
              </a:rPr>
              <a:t>F.lli</a:t>
            </a:r>
            <a:r>
              <a:rPr sz="1050" b="0" i="0" dirty="0">
                <a:solidFill>
                  <a:srgbClr val="11181C"/>
                </a:solidFill>
                <a:latin typeface="Neue Haas Grotesk Text Pro"/>
              </a:rPr>
              <a:t> Ferrari and XCMG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198120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" y="1981200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BACKGROUND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2209800"/>
            <a:ext cx="5391150" cy="8191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650" y="2257425"/>
            <a:ext cx="52006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 dirty="0">
                <a:solidFill>
                  <a:srgbClr val="11181C"/>
                </a:solidFill>
                <a:latin typeface="Neue Haas Grotesk Text Pro"/>
              </a:rPr>
              <a:t>HYVA stopped making cranes, so </a:t>
            </a:r>
            <a:r>
              <a:rPr sz="950" b="0" i="0" dirty="0" err="1">
                <a:solidFill>
                  <a:srgbClr val="11181C"/>
                </a:solidFill>
                <a:latin typeface="Neue Haas Grotesk Text Pro"/>
              </a:rPr>
              <a:t>Triatra</a:t>
            </a:r>
            <a:r>
              <a:rPr sz="950" b="0" i="0" dirty="0">
                <a:solidFill>
                  <a:srgbClr val="11181C"/>
                </a:solidFill>
                <a:latin typeface="Neue Haas Grotesk Text Pro"/>
              </a:rPr>
              <a:t> has no crane brand. From Jan 2023 to Aug 2026 Indonesia imported 638 knuckle boom cranes; Medium and Heavy (&gt; 25 tm) are 41% of units but 64% of value, led by Sany </a:t>
            </a:r>
            <a:r>
              <a:rPr sz="950" b="0" i="0" dirty="0" err="1">
                <a:solidFill>
                  <a:srgbClr val="11181C"/>
                </a:solidFill>
                <a:latin typeface="Neue Haas Grotesk Text Pro"/>
              </a:rPr>
              <a:t>Palfinger</a:t>
            </a:r>
            <a:r>
              <a:rPr sz="950" b="0" i="0" dirty="0">
                <a:solidFill>
                  <a:srgbClr val="11181C"/>
                </a:solidFill>
                <a:latin typeface="Neue Haas Grotesk Text Pro"/>
              </a:rPr>
              <a:t> (Medium) and </a:t>
            </a:r>
            <a:r>
              <a:rPr sz="950" b="0" i="0" dirty="0" err="1">
                <a:solidFill>
                  <a:srgbClr val="11181C"/>
                </a:solidFill>
                <a:latin typeface="Neue Haas Grotesk Text Pro"/>
              </a:rPr>
              <a:t>Palfinger</a:t>
            </a:r>
            <a:r>
              <a:rPr sz="950" b="0" i="0" dirty="0">
                <a:solidFill>
                  <a:srgbClr val="11181C"/>
                </a:solidFill>
                <a:latin typeface="Neue Haas Grotesk Text Pro"/>
              </a:rPr>
              <a:t> (Heavy). This project puts a challenger brand against the Top 1 of each tm tier.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308610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650" y="3086100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3314700"/>
            <a:ext cx="5391150" cy="571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8650" y="3362325"/>
            <a:ext cx="52006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Neue Haas Grotesk Text Pro"/>
              </a:rPr>
              <a:t>1. Map Medium and Heavy cranes by tm tier, brand and model (4C)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Neue Haas Grotesk Text Pro"/>
              </a:rPr>
              <a:t>2. Pick one challenger per tier: XCMG for price buyers, Ferrari for quality buyers (STP)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Neue Haas Grotesk Text Pro"/>
              </a:rPr>
              <a:t>3. Set Product, Price, Place and Promotion per tier and sell the first unit (4P)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394335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8650" y="3976858"/>
            <a:ext cx="520065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 dirty="0">
                <a:solidFill>
                  <a:srgbClr val="FFFFFF"/>
                </a:solidFill>
                <a:latin typeface="Neue Haas Grotesk Text Pro"/>
              </a:rPr>
              <a:t>PROJECT SCOPE · M</a:t>
            </a:r>
            <a:r>
              <a:rPr lang="en-US" sz="1050" b="1" spc="50" dirty="0">
                <a:solidFill>
                  <a:srgbClr val="FFFFFF"/>
                </a:solidFill>
                <a:latin typeface="Neue Haas Grotesk Text Pro"/>
              </a:rPr>
              <a:t>ARKET STUDY FOR INDONESIAN FOLDING CRANE</a:t>
            </a:r>
            <a:endParaRPr sz="1050" b="1" i="0" spc="50" dirty="0">
              <a:solidFill>
                <a:srgbClr val="FFFFFF"/>
              </a:solidFill>
              <a:latin typeface="Neue Haas Grotesk Text Pr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3400" y="4171950"/>
            <a:ext cx="5391150" cy="3619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650" y="4219575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 dirty="0">
                <a:solidFill>
                  <a:srgbClr val="11181C"/>
                </a:solidFill>
                <a:latin typeface="Neue Haas Grotesk Text Pro"/>
              </a:rPr>
              <a:t>1. </a:t>
            </a:r>
            <a:r>
              <a:rPr lang="en-US" sz="900" b="0" i="0" dirty="0">
                <a:solidFill>
                  <a:srgbClr val="11181C"/>
                </a:solidFill>
                <a:latin typeface="Neue Haas Grotesk Text Pro"/>
              </a:rPr>
              <a:t>Market Study For Indonesian Folding Crane </a:t>
            </a:r>
            <a:r>
              <a:rPr sz="900" b="0" i="0" dirty="0">
                <a:solidFill>
                  <a:srgbClr val="11181C"/>
                </a:solidFill>
                <a:latin typeface="Neue Haas Grotesk Text Pro"/>
              </a:rPr>
              <a:t>2. </a:t>
            </a:r>
            <a:r>
              <a:rPr lang="en-US" sz="900" dirty="0" err="1">
                <a:solidFill>
                  <a:srgbClr val="11181C"/>
                </a:solidFill>
                <a:latin typeface="Neue Haas Grotesk Text Pro"/>
              </a:rPr>
              <a:t>Compettitor</a:t>
            </a:r>
            <a:r>
              <a:rPr lang="en-US" sz="900" dirty="0">
                <a:solidFill>
                  <a:srgbClr val="11181C"/>
                </a:solidFill>
                <a:latin typeface="Neue Haas Grotesk Text Pro"/>
              </a:rPr>
              <a:t> Analysis </a:t>
            </a:r>
            <a:r>
              <a:rPr sz="900" b="0" i="0" dirty="0">
                <a:solidFill>
                  <a:srgbClr val="11181C"/>
                </a:solidFill>
                <a:latin typeface="Neue Haas Grotesk Text Pro"/>
              </a:rPr>
              <a:t>3. Feature and price comparison   </a:t>
            </a:r>
            <a:r>
              <a:rPr lang="en-US" sz="900" b="0" i="0" dirty="0">
                <a:solidFill>
                  <a:srgbClr val="11181C"/>
                </a:solidFill>
                <a:latin typeface="Neue Haas Grotesk Text Pro"/>
              </a:rPr>
              <a:t>4</a:t>
            </a:r>
            <a:r>
              <a:rPr sz="900" b="0" i="0" dirty="0">
                <a:solidFill>
                  <a:srgbClr val="11181C"/>
                </a:solidFill>
                <a:latin typeface="Neue Haas Grotesk Text Pro"/>
              </a:rPr>
              <a:t>. Sales kit, exhibition and first sale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4648200"/>
            <a:ext cx="39052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8650" y="4648200"/>
            <a:ext cx="37147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KPI / METRIC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5800" y="4648200"/>
            <a:ext cx="14287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1050" y="4648200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400" y="4876800"/>
            <a:ext cx="3905250" cy="87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8650" y="4924425"/>
            <a:ext cx="3714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Neue Haas Grotesk Text Pro"/>
              </a:rPr>
              <a:t>1. 4C, STP, 4P approved (Aug 2026)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Neue Haas Grotesk Text Pro"/>
              </a:rPr>
              <a:t>2. Ferrari and XCMG terms signed (Dec 2026)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Neue Haas Grotesk Text Pro"/>
              </a:rPr>
              <a:t>3. Sales kit ready (Dec 2026)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Neue Haas Grotesk Text Pro"/>
              </a:rPr>
              <a:t>4. Quotations sent (Feb 2027)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11181C"/>
                </a:solidFill>
                <a:latin typeface="Neue Haas Grotesk Text Pro"/>
              </a:rPr>
              <a:t>5. First unit sold (Mar 2027)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5800" y="4876800"/>
            <a:ext cx="1428750" cy="87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91050" y="4924425"/>
            <a:ext cx="1238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1181C"/>
                </a:solidFill>
                <a:latin typeface="Neue Haas Grotesk Text Pro"/>
              </a:rPr>
              <a:t>First Ferrari or XCMG challenger crane sold by March 2027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5810250"/>
            <a:ext cx="53911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8650" y="5810250"/>
            <a:ext cx="52006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SUPPORT REQUIRED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400" y="6038850"/>
            <a:ext cx="5391150" cy="24765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8650" y="6086475"/>
            <a:ext cx="5200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11181C"/>
                </a:solidFill>
                <a:latin typeface="Neue Haas Grotesk Text Pro"/>
              </a:rPr>
              <a:t>Marcom (sales kit, exhibition) · F.lli Ferrari (stock, parts, price) · XCMG (special price) · UTPE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76950" y="1428750"/>
            <a:ext cx="55816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1428750"/>
            <a:ext cx="53911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PROJECT TIMEFRAME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076950" y="1657350"/>
          <a:ext cx="5581650" cy="152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71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90500">
                <a:tc rowSpan="2"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Activity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2026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2027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Jun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Jul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Aug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Sep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Oct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Nov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Dec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Jan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Feb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Mar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Market study (4C)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STP and challenger choice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Negotiate with Ferrari and XCMG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Sales kit with Marcom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Exhibition and customer visits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Quotation → PO → first unit sold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dirty="0"/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6076950" y="3257550"/>
            <a:ext cx="55816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2200" y="3257550"/>
            <a:ext cx="53911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BENEFIT OF PROJECT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76950" y="3486150"/>
            <a:ext cx="5581650" cy="381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72200" y="3533775"/>
            <a:ext cx="5391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0" dirty="0" err="1">
                <a:solidFill>
                  <a:srgbClr val="11181C"/>
                </a:solidFill>
                <a:latin typeface="Neue Haas Grotesk Text Pro"/>
              </a:rPr>
              <a:t>Triatra</a:t>
            </a:r>
            <a:r>
              <a:rPr sz="950" b="0" i="0" dirty="0">
                <a:solidFill>
                  <a:srgbClr val="11181C"/>
                </a:solidFill>
                <a:latin typeface="Neue Haas Grotesk Text Pro"/>
              </a:rPr>
              <a:t> gets a crane brand for every Medium and Heavy tier again: XCMG for price buyers, Ferrari for quality buyers, with a clear 4P to win units from the Top 1.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76950" y="3943350"/>
            <a:ext cx="55816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72200" y="3943350"/>
            <a:ext cx="53911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PROJECT TEAM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76950" y="4171950"/>
            <a:ext cx="5581650" cy="87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72200" y="4210050"/>
            <a:ext cx="1333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Executive sponsor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05700" y="4210050"/>
            <a:ext cx="4057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: Ricardo Tanada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4371975"/>
            <a:ext cx="1333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Advisor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05700" y="4371975"/>
            <a:ext cx="4057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: Ricardo Tanada / Ignatius Indrawan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533900"/>
            <a:ext cx="1333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Coordinator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05700" y="4533900"/>
            <a:ext cx="4057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: Ignatius Indrawan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695825"/>
            <a:ext cx="1333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Project lead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05700" y="4695825"/>
            <a:ext cx="4057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: Tiberias Krisgaharu Simu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4857750"/>
            <a:ext cx="1333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Team members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05700" y="4857750"/>
            <a:ext cx="4057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1181C"/>
                </a:solidFill>
                <a:latin typeface="Neue Haas Grotesk Text Pro"/>
              </a:rPr>
              <a:t>: Marketing Unit · Application Engineering · UTPE · Business Consultant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76950" y="5105400"/>
            <a:ext cx="5581650" cy="228600"/>
          </a:xfrm>
          <a:prstGeom prst="rect">
            <a:avLst/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72200" y="5105400"/>
            <a:ext cx="53911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spc="50">
                <a:solidFill>
                  <a:srgbClr val="FFFFFF"/>
                </a:solidFill>
                <a:latin typeface="Neue Haas Grotesk Text Pro"/>
              </a:rPr>
              <a:t>PROJECT APPROVAL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15050" y="5372100"/>
            <a:ext cx="13525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1181C"/>
                </a:solidFill>
                <a:latin typeface="Neue Haas Grotesk Text Pro"/>
              </a:rPr>
              <a:t>Lead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15050" y="5505450"/>
            <a:ext cx="13525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Neue Haas Grotesk Text Pro"/>
              </a:rPr>
              <a:t>Date: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76950" y="5657850"/>
            <a:ext cx="13525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076950" y="6134100"/>
            <a:ext cx="1352550" cy="209550"/>
          </a:xfrm>
          <a:prstGeom prst="rect">
            <a:avLst/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34100" y="6134100"/>
            <a:ext cx="1276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11181C"/>
                </a:solidFill>
                <a:latin typeface="Neue Haas Grotesk Text Pro"/>
              </a:rPr>
              <a:t>Tiberias Krisgaharu Simu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4750" y="5372100"/>
            <a:ext cx="13525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1181C"/>
                </a:solidFill>
                <a:latin typeface="Neue Haas Grotesk Text Pro"/>
              </a:rPr>
              <a:t>Coordinator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4750" y="5505450"/>
            <a:ext cx="13525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Neue Haas Grotesk Text Pro"/>
              </a:rPr>
              <a:t>Date: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86650" y="5657850"/>
            <a:ext cx="13525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486650" y="6134100"/>
            <a:ext cx="1352550" cy="209550"/>
          </a:xfrm>
          <a:prstGeom prst="rect">
            <a:avLst/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43800" y="6134100"/>
            <a:ext cx="1276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11181C"/>
                </a:solidFill>
                <a:latin typeface="Neue Haas Grotesk Text Pro"/>
              </a:rPr>
              <a:t>Ignatius Indrawan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34450" y="5372100"/>
            <a:ext cx="13525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1181C"/>
                </a:solidFill>
                <a:latin typeface="Neue Haas Grotesk Text Pro"/>
              </a:rPr>
              <a:t>Advisor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34450" y="5505450"/>
            <a:ext cx="13525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Neue Haas Grotesk Text Pro"/>
              </a:rPr>
              <a:t>Date: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896350" y="5657850"/>
            <a:ext cx="13525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896350" y="6134100"/>
            <a:ext cx="1352550" cy="209550"/>
          </a:xfrm>
          <a:prstGeom prst="rect">
            <a:avLst/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953500" y="6134100"/>
            <a:ext cx="1276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11181C"/>
                </a:solidFill>
                <a:latin typeface="Neue Haas Grotesk Text Pro"/>
              </a:rPr>
              <a:t>Ricardo Tanada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44150" y="5372100"/>
            <a:ext cx="13525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11181C"/>
                </a:solidFill>
                <a:latin typeface="Neue Haas Grotesk Text Pro"/>
              </a:rPr>
              <a:t>Executive Sponsor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44150" y="5505450"/>
            <a:ext cx="13525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Neue Haas Grotesk Text Pro"/>
              </a:rPr>
              <a:t>Date: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306050" y="5657850"/>
            <a:ext cx="13525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306050" y="6134100"/>
            <a:ext cx="1352550" cy="209550"/>
          </a:xfrm>
          <a:prstGeom prst="rect">
            <a:avLst/>
          </a:prstGeom>
          <a:solidFill>
            <a:srgbClr val="F9FAFB"/>
          </a:solidFill>
          <a:ln w="9525">
            <a:solidFill>
              <a:srgbClr val="D7DBDF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363200" y="6134100"/>
            <a:ext cx="1276350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11181C"/>
                </a:solidFill>
                <a:latin typeface="Neue Haas Grotesk Text Pro"/>
              </a:rPr>
              <a:t>Ricardo Tanada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DD1CA39-2462-65AC-9478-EA9B600A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49" y="292290"/>
            <a:ext cx="10641693" cy="550382"/>
          </a:xfrm>
        </p:spPr>
        <p:txBody>
          <a:bodyPr>
            <a:noAutofit/>
          </a:bodyPr>
          <a:lstStyle/>
          <a:p>
            <a:r>
              <a:rPr lang="en-US" sz="4000" dirty="0"/>
              <a:t>Indonesian Folding Crane Market Size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872D36-34E4-3C95-E20D-11ECB313580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1120883"/>
            <a:ext cx="12192000" cy="58944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b">
            <a:normAutofit fontScale="92500"/>
          </a:bodyPr>
          <a:lstStyle/>
          <a:p>
            <a:r>
              <a:rPr lang="en-US" sz="1800" b="1" dirty="0" err="1"/>
              <a:t>Triatra</a:t>
            </a:r>
            <a:r>
              <a:rPr lang="en-US" sz="1800" b="1" dirty="0"/>
              <a:t> Need To Focus on Medium and Heavy class</a:t>
            </a:r>
          </a:p>
          <a:p>
            <a:r>
              <a:rPr lang="en-US" dirty="0"/>
              <a:t>Medium and Heavy class contribute 63% amount in total market size since 2023 – 2026 while the total transaction just </a:t>
            </a:r>
            <a:r>
              <a:rPr lang="en-ID" dirty="0"/>
              <a:t>41% from total imported qty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2DCD5-A6AA-1DC6-680C-C9342BF71D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27D8E62-C07F-45F5-8155-B6FEDE73AE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51534" y="4305864"/>
            <a:ext cx="4120983" cy="5761544"/>
          </a:xfrm>
        </p:spPr>
        <p:txBody>
          <a:bodyPr/>
          <a:lstStyle/>
          <a:p>
            <a:endParaRPr lang="en-ID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AE6E709-EC53-8E7B-A2EE-4F12738C81B4}"/>
              </a:ext>
            </a:extLst>
          </p:cNvPr>
          <p:cNvSpPr txBox="1">
            <a:spLocks/>
          </p:cNvSpPr>
          <p:nvPr/>
        </p:nvSpPr>
        <p:spPr>
          <a:xfrm>
            <a:off x="0" y="1880209"/>
            <a:ext cx="6400800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Neue Haas Grotesk Text Pro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Neue Haas Grotesk Text Pro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Neue Haas Grotesk Text Pro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Neue Haas Grotesk Text Pro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Neue Haas Grotesk Text Pro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Total Import Folding Crane in Indonesia since 2023 - 2026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D737772-DD1B-643F-EF97-8BE9FA1EBE49}"/>
              </a:ext>
            </a:extLst>
          </p:cNvPr>
          <p:cNvCxnSpPr>
            <a:cxnSpLocks/>
          </p:cNvCxnSpPr>
          <p:nvPr/>
        </p:nvCxnSpPr>
        <p:spPr>
          <a:xfrm>
            <a:off x="0" y="981777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C8EABB77-4D68-8076-4BAD-745AAD4A5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416090"/>
              </p:ext>
            </p:extLst>
          </p:nvPr>
        </p:nvGraphicFramePr>
        <p:xfrm>
          <a:off x="5939515" y="2224614"/>
          <a:ext cx="5675057" cy="20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7EDCCC71-22B1-6D50-A971-0019142BD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476594"/>
              </p:ext>
            </p:extLst>
          </p:nvPr>
        </p:nvGraphicFramePr>
        <p:xfrm>
          <a:off x="80849" y="2224614"/>
          <a:ext cx="5675058" cy="20812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1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8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875">
                <a:tc>
                  <a:txBody>
                    <a:bodyPr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CLASS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LIFTING MOMENT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UNITS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750"/>
                      </a:pPr>
                      <a:r>
                        <a:rPr sz="750" b="1" spc="50" dirty="0">
                          <a:solidFill>
                            <a:srgbClr val="697177"/>
                          </a:solidFill>
                          <a:latin typeface="Neue Haas Grotesk Text Pro"/>
                        </a:rPr>
                        <a:t>IMPORT VALUE (IDR)</a:t>
                      </a:r>
                      <a:endParaRPr sz="75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750"/>
                      </a:pPr>
                      <a:r>
                        <a:rPr sz="750" b="1" spc="50">
                          <a:solidFill>
                            <a:srgbClr val="697177"/>
                          </a:solidFill>
                          <a:latin typeface="Neue Haas Grotesk Text Pro"/>
                        </a:rPr>
                        <a:t>SHARE</a:t>
                      </a:r>
                      <a:endParaRPr sz="7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Light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≤ 8 tm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177</a:t>
                      </a:r>
                      <a:endParaRPr sz="95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Rp 40.118.000.000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12%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Small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8 – 25 tm</a:t>
                      </a:r>
                      <a:endParaRPr sz="95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200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"/>
                        </a:rPr>
                        <a:t>Rp 77.241.000.000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24%</a:t>
                      </a:r>
                      <a:endParaRPr sz="95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 dirty="0">
                          <a:solidFill>
                            <a:srgbClr val="076932"/>
                          </a:solidFill>
                          <a:latin typeface="Neue Haas Grotesk Text Pro"/>
                        </a:rPr>
                        <a:t>Medium</a:t>
                      </a:r>
                      <a:endParaRPr sz="95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 dirty="0">
                          <a:solidFill>
                            <a:srgbClr val="076932"/>
                          </a:solidFill>
                          <a:latin typeface="Neue Haas Grotesk Text Pro"/>
                        </a:rPr>
                        <a:t>25 – 45 tm</a:t>
                      </a:r>
                      <a:endParaRPr sz="95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196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Rp 118.328.000.000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36%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Heavy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&gt; 45 tm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65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Rp 91.154.000.000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076932"/>
                          </a:solidFill>
                          <a:latin typeface="Neue Haas Grotesk Text Pro"/>
                        </a:rPr>
                        <a:t>28%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Total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638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"/>
                        </a:rPr>
                        <a:t>Rp 326.841.000.000</a:t>
                      </a:r>
                      <a:endParaRPr sz="95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950"/>
                      </a:pPr>
                      <a:r>
                        <a:rPr sz="950" b="1" dirty="0">
                          <a:solidFill>
                            <a:srgbClr val="11181C"/>
                          </a:solidFill>
                          <a:latin typeface="Neue Haas Grotesk Text Pro"/>
                        </a:rPr>
                        <a:t>100%</a:t>
                      </a:r>
                      <a:endParaRPr sz="950" dirty="0"/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7D4BBCC8-D8BE-BB24-1AD9-6717C533A2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2056357"/>
              </p:ext>
            </p:extLst>
          </p:nvPr>
        </p:nvGraphicFramePr>
        <p:xfrm>
          <a:off x="4889500" y="3780980"/>
          <a:ext cx="3022600" cy="3077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0672604"/>
      </p:ext>
    </p:extLst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2049</TotalTime>
  <Words>2925</Words>
  <Application>Microsoft Office PowerPoint</Application>
  <PresentationFormat>Widescreen</PresentationFormat>
  <Paragraphs>575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Georgia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PowerPoint Presentation</vt:lpstr>
      <vt:lpstr>PowerPoint Presentation</vt:lpstr>
      <vt:lpstr>Marketing Strategic 2 Associate</vt:lpstr>
      <vt:lpstr>PowerPoint Presentation</vt:lpstr>
      <vt:lpstr>PowerPoint Presentation</vt:lpstr>
      <vt:lpstr>PowerPoint Presentation</vt:lpstr>
      <vt:lpstr>Quote</vt:lpstr>
      <vt:lpstr>PowerPoint Presentation</vt:lpstr>
      <vt:lpstr>Quote</vt:lpstr>
      <vt:lpstr>PowerPoint Presentation</vt:lpstr>
      <vt:lpstr>Indonesian Folding Crane Market Size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2</cp:revision>
  <dcterms:created xsi:type="dcterms:W3CDTF">2026-10-16T02:49:26Z</dcterms:created>
  <dcterms:modified xsi:type="dcterms:W3CDTF">2026-10-17T13:03:15Z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